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5.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6.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Hasta 0,25 M€</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3.42</c:v>
                </c:pt>
                <c:pt idx="1">
                  <c:v>4.56</c:v>
                </c:pt>
                <c:pt idx="2">
                  <c:v>3.99</c:v>
                </c:pt>
                <c:pt idx="3">
                  <c:v>4.65</c:v>
                </c:pt>
                <c:pt idx="4">
                  <c:v>4.36</c:v>
                </c:pt>
                <c:pt idx="5">
                  <c:v>4.57</c:v>
                </c:pt>
                <c:pt idx="6">
                  <c:v>5.64</c:v>
                </c:pt>
              </c:numCache>
            </c:numRef>
          </c:val>
        </c:ser>
        <c:ser>
          <c:idx val="1"/>
          <c:order val="1"/>
          <c:tx>
            <c:strRef>
              <c:f>Sheet1!$C$1</c:f>
              <c:strCache>
                <c:ptCount val="1"/>
                <c:pt idx="0">
                  <c:v>0,25 a 1 M€</c:v>
                </c:pt>
              </c:strCache>
            </c:strRef>
          </c:tx>
          <c:spPr>
            <a:solidFill>
              <a:srgbClr val="FFAB7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3.37</c:v>
                </c:pt>
                <c:pt idx="1">
                  <c:v>4.01</c:v>
                </c:pt>
                <c:pt idx="2">
                  <c:v>3.51</c:v>
                </c:pt>
                <c:pt idx="3">
                  <c:v>3.56</c:v>
                </c:pt>
                <c:pt idx="4">
                  <c:v>3.42</c:v>
                </c:pt>
                <c:pt idx="5">
                  <c:v>4.47</c:v>
                </c:pt>
                <c:pt idx="6">
                  <c:v>5.02</c:v>
                </c:pt>
              </c:numCache>
            </c:numRef>
          </c:val>
        </c:ser>
        <c:ser>
          <c:idx val="2"/>
          <c:order val="2"/>
          <c:tx>
            <c:strRef>
              <c:f>Sheet1!$D$1</c:f>
              <c:strCache>
                <c:ptCount val="1"/>
                <c:pt idx="0">
                  <c:v>Más de 1 M€</c:v>
                </c:pt>
              </c:strCache>
            </c:strRef>
          </c:tx>
          <c:spPr>
            <a:solidFill>
              <a:srgbClr val="A1A1A1"/>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Sheet1!$D$2:$D$8</c:f>
              <c:numCache>
                <c:formatCode>General</c:formatCode>
                <c:ptCount val="7"/>
                <c:pt idx="0">
                  <c:v>3.46</c:v>
                </c:pt>
                <c:pt idx="1">
                  <c:v>3.41</c:v>
                </c:pt>
                <c:pt idx="2">
                  <c:v>3.49</c:v>
                </c:pt>
                <c:pt idx="3">
                  <c:v>3.22</c:v>
                </c:pt>
                <c:pt idx="4">
                  <c:v>3.71</c:v>
                </c:pt>
                <c:pt idx="5">
                  <c:v>3.37</c:v>
                </c:pt>
                <c:pt idx="6">
                  <c:v>5.04</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6"/>
        </c:scaling>
        <c:delete val="0"/>
        <c:axPos val="l"/>
        <c:majorGridlines>
          <c:spPr>
            <a:ln w="12700" cap="flat">
              <a:solidFill>
                <a:srgbClr val="E3E9EB"/>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TEDR (sin comisiones)</c:v>
                </c:pt>
              </c:strCache>
            </c:strRef>
          </c:tx>
          <c:spPr>
            <a:solidFill>
              <a:srgbClr val="F56600"/>
            </a:solidFill>
            <a:effectLst/>
          </c:spPr>
          <c:invertIfNegative val="0"/>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≤0,25 M€</c:v>
                  </c:pt>
                  <c:pt idx="1">
                    <c:v>0,25–1 M€</c:v>
                  </c:pt>
                  <c:pt idx="2">
                    <c:v>&gt;1 M€</c:v>
                  </c:pt>
                </c:lvl>
              </c:multiLvlStrCache>
            </c:multiLvlStrRef>
          </c:cat>
          <c:val>
            <c:numRef>
              <c:f>Sheet1!$B$2:$B$4</c:f>
              <c:numCache>
                <c:formatCode>General</c:formatCode>
                <c:ptCount val="3"/>
                <c:pt idx="0">
                  <c:v>3.42</c:v>
                </c:pt>
                <c:pt idx="1">
                  <c:v>3.36</c:v>
                </c:pt>
                <c:pt idx="2">
                  <c:v>3.44</c:v>
                </c:pt>
              </c:numCache>
            </c:numRef>
          </c:val>
        </c:ser>
        <c:ser>
          <c:idx val="1"/>
          <c:order val="1"/>
          <c:tx>
            <c:strRef>
              <c:f>Sheet1!$C$1</c:f>
              <c:strCache>
                <c:ptCount val="1"/>
                <c:pt idx="0">
                  <c:v>TAE (con comisiones)</c:v>
                </c:pt>
              </c:strCache>
            </c:strRef>
          </c:tx>
          <c:spPr>
            <a:solidFill>
              <a:srgbClr val="A1A1A1"/>
            </a:solidFill>
            <a:effectLst/>
          </c:spPr>
          <c:invertIfNegative val="0"/>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≤0,25 M€</c:v>
                  </c:pt>
                  <c:pt idx="1">
                    <c:v>0,25–1 M€</c:v>
                  </c:pt>
                  <c:pt idx="2">
                    <c:v>&gt;1 M€</c:v>
                  </c:pt>
                </c:lvl>
              </c:multiLvlStrCache>
            </c:multiLvlStrRef>
          </c:cat>
          <c:val>
            <c:numRef>
              <c:f>Sheet1!$C$2:$C$4</c:f>
              <c:numCache>
                <c:formatCode>General</c:formatCode>
                <c:ptCount val="3"/>
                <c:pt idx="0">
                  <c:v>4.43</c:v>
                </c:pt>
                <c:pt idx="1">
                  <c:v>3.72</c:v>
                </c:pt>
                <c:pt idx="2">
                  <c:v>3.62</c:v>
                </c:pt>
              </c:numCache>
            </c:numRef>
          </c:val>
        </c:ser>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3E9EB"/>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ROE</c:v>
                </c:pt>
              </c:strCache>
            </c:strRef>
          </c:tx>
          <c:spPr>
            <a:solidFill>
              <a:srgbClr val="F56600"/>
            </a:solidFill>
            <a:effectLst/>
          </c:spPr>
          <c:invertIfNegative val="0"/>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12.44</c:v>
                </c:pt>
                <c:pt idx="1">
                  <c:v>17.21</c:v>
                </c:pt>
                <c:pt idx="2">
                  <c:v>5.44</c:v>
                </c:pt>
                <c:pt idx="3">
                  <c:v>15.31</c:v>
                </c:pt>
                <c:pt idx="4">
                  <c:v>13.88</c:v>
                </c:pt>
                <c:pt idx="5">
                  <c:v>20.32</c:v>
                </c:pt>
                <c:pt idx="6">
                  <c:v>13.93</c:v>
                </c:pt>
              </c:numCache>
            </c:numRef>
          </c:val>
        </c:ser>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22"/>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ROE del banco local</c:v>
                </c:pt>
              </c:strCache>
            </c:strRef>
          </c:tx>
          <c:spPr>
            <a:solidFill>
              <a:srgbClr val="A1A1A1"/>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12.44</c:v>
                </c:pt>
                <c:pt idx="1">
                  <c:v>17.21</c:v>
                </c:pt>
                <c:pt idx="2">
                  <c:v>5.44</c:v>
                </c:pt>
                <c:pt idx="3">
                  <c:v>15.31</c:v>
                </c:pt>
                <c:pt idx="4">
                  <c:v>13.88</c:v>
                </c:pt>
                <c:pt idx="5">
                  <c:v>20.32</c:v>
                </c:pt>
                <c:pt idx="6">
                  <c:v>13.93</c:v>
                </c:pt>
              </c:numCache>
            </c:numRef>
          </c:val>
        </c:ser>
        <c:ser>
          <c:idx val="1"/>
          <c:order val="1"/>
          <c:tx>
            <c:strRef>
              <c:f>Sheet1!$C$1</c:f>
              <c:strCache>
                <c:ptCount val="1"/>
                <c:pt idx="0">
                  <c:v>ROE del entrante eficiente</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13.66</c:v>
                </c:pt>
                <c:pt idx="1">
                  <c:v>35</c:v>
                </c:pt>
                <c:pt idx="2">
                  <c:v>21.76</c:v>
                </c:pt>
                <c:pt idx="3">
                  <c:v>21.61</c:v>
                </c:pt>
                <c:pt idx="4">
                  <c:v>16.95</c:v>
                </c:pt>
                <c:pt idx="5">
                  <c:v>37.04</c:v>
                </c:pt>
                <c:pt idx="6">
                  <c:v>26.95</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12700" cap="flat">
              <a:solidFill>
                <a:srgbClr val="E5E5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Coste ponderado de los recursos</c:v>
                </c:pt>
              </c:strCache>
            </c:strRef>
          </c:tx>
          <c:spPr>
            <a:solidFill>
              <a:srgbClr val="F56600"/>
            </a:solidFill>
            <a:effectLst/>
          </c:spPr>
          <c:invertIfNegative val="0"/>
          <c:dLbls>
            <c:numFmt formatCode="#,##0" sourceLinked="0"/>
            <c:txPr>
              <a:bodyPr/>
              <a:lstStyle/>
              <a:p>
                <a:pPr>
                  <a:defRPr b="0" i="0" strike="noStrike" sz="900" u="none">
                    <a:solidFill>
                      <a:srgbClr val="2B2B2B"/>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0.76</c:v>
                </c:pt>
                <c:pt idx="1">
                  <c:v>1.09</c:v>
                </c:pt>
                <c:pt idx="2">
                  <c:v>1.21</c:v>
                </c:pt>
                <c:pt idx="3">
                  <c:v>0.74</c:v>
                </c:pt>
                <c:pt idx="4">
                  <c:v>0.74</c:v>
                </c:pt>
                <c:pt idx="5">
                  <c:v>1.04</c:v>
                </c:pt>
                <c:pt idx="6">
                  <c:v>0.37</c:v>
                </c:pt>
              </c:numCache>
            </c:numRef>
          </c:val>
        </c:ser>
        <c:ser>
          <c:idx val="1"/>
          <c:order val="1"/>
          <c:tx>
            <c:strRef>
              <c:f>Sheet1!$C$1</c:f>
              <c:strCache>
                <c:ptCount val="1"/>
                <c:pt idx="0">
                  <c:v>Margen sobre la facilidad del BCE</c:v>
                </c:pt>
              </c:strCache>
            </c:strRef>
          </c:tx>
          <c:spPr>
            <a:solidFill>
              <a:srgbClr val="77BFEE"/>
            </a:solidFill>
            <a:effectLst/>
          </c:spPr>
          <c:invertIfNegative val="0"/>
          <c:dLbls>
            <c:numFmt formatCode="#,##0" sourceLinked="0"/>
            <c:txPr>
              <a:bodyPr/>
              <a:lstStyle/>
              <a:p>
                <a:pPr>
                  <a:defRPr b="0" i="0" strike="noStrike" sz="900" u="none">
                    <a:solidFill>
                      <a:srgbClr val="2B2B2B"/>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1.33</c:v>
                </c:pt>
                <c:pt idx="1">
                  <c:v>1</c:v>
                </c:pt>
                <c:pt idx="2">
                  <c:v>0.88</c:v>
                </c:pt>
                <c:pt idx="3">
                  <c:v>1.35</c:v>
                </c:pt>
                <c:pt idx="4">
                  <c:v>1.35</c:v>
                </c:pt>
                <c:pt idx="5">
                  <c:v>1.05</c:v>
                </c:pt>
                <c:pt idx="6">
                  <c:v>1.72</c:v>
                </c:pt>
              </c:numCache>
            </c:numRef>
          </c:val>
        </c:ser>
        <c:dLbls>
          <c:numFmt formatCode="#,##0" sourceLinked="0"/>
          <c:txPr>
            <a:bodyPr/>
            <a:lstStyle/>
            <a:p>
              <a:pPr>
                <a:defRPr b="0" i="0" strike="noStrike" sz="900" u="none">
                  <a:solidFill>
                    <a:srgbClr val="2B2B2B"/>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2.4"/>
        </c:scaling>
        <c:delete val="0"/>
        <c:axPos val="l"/>
        <c:majorGridlines>
          <c:spPr>
            <a:ln w="12700" cap="flat">
              <a:solidFill>
                <a:srgbClr val="E3E9EB"/>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PD × LGD</c:v>
                </c:pt>
              </c:strCache>
            </c:strRef>
          </c:tx>
          <c:spPr>
            <a:solidFill>
              <a:srgbClr val="F56600"/>
            </a:solidFill>
            <a:effectLst/>
          </c:spPr>
          <c:invertIfNegative val="0"/>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0.59</c:v>
                </c:pt>
                <c:pt idx="1">
                  <c:v>0.4</c:v>
                </c:pt>
                <c:pt idx="2">
                  <c:v>0.68</c:v>
                </c:pt>
                <c:pt idx="3">
                  <c:v>0.8</c:v>
                </c:pt>
                <c:pt idx="4">
                  <c:v>0.5</c:v>
                </c:pt>
                <c:pt idx="5">
                  <c:v>0.35</c:v>
                </c:pt>
                <c:pt idx="6">
                  <c:v>0.4</c:v>
                </c:pt>
              </c:numCache>
            </c:numRef>
          </c:val>
        </c:ser>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12700" cap="flat">
              <a:solidFill>
                <a:srgbClr val="E3E9EB"/>
              </a:solidFill>
              <a:prstDash val="solid"/>
              <a:round/>
            </a:ln>
          </c:spPr>
        </c:majorGridlines>
        <c:numFmt formatCode="0.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Margen neto de riesgo</c:v>
                </c:pt>
              </c:strCache>
            </c:strRef>
          </c:tx>
          <c:spPr>
            <a:solidFill>
              <a:srgbClr val="F56600"/>
            </a:solidFill>
            <a:effectLst/>
          </c:spPr>
          <c:invertIfNegative val="0"/>
          <c:dLbls>
            <c:numFmt formatCode="0.00&quot;%&quot;" sourceLinked="0"/>
            <c:txPr>
              <a:bodyPr/>
              <a:lstStyle/>
              <a:p>
                <a:pPr>
                  <a:defRPr b="0" i="0" strike="noStrike" sz="105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Irlanda
1,08 %</c:v>
                  </c:pt>
                  <c:pt idx="1">
                    <c:v>P. Bajos
1,18 %</c:v>
                  </c:pt>
                  <c:pt idx="2">
                    <c:v>Alemania
1,26 %</c:v>
                  </c:pt>
                  <c:pt idx="3">
                    <c:v>Portugal
1,26 %</c:v>
                  </c:pt>
                  <c:pt idx="4">
                    <c:v>España
1,73 %</c:v>
                  </c:pt>
                  <c:pt idx="5">
                    <c:v>Francia
2,15 %</c:v>
                  </c:pt>
                  <c:pt idx="6">
                    <c:v>Italia
2,26 %</c:v>
                  </c:pt>
                </c:lvl>
              </c:multiLvlStrCache>
            </c:multiLvlStrRef>
          </c:cat>
          <c:val>
            <c:numRef>
              <c:f>Sheet1!$B$2:$B$8</c:f>
              <c:numCache>
                <c:formatCode>General</c:formatCode>
                <c:ptCount val="7"/>
                <c:pt idx="0">
                  <c:v>5.47</c:v>
                </c:pt>
                <c:pt idx="1">
                  <c:v>3.99</c:v>
                </c:pt>
                <c:pt idx="2">
                  <c:v>3.77</c:v>
                </c:pt>
                <c:pt idx="3">
                  <c:v>3.57</c:v>
                </c:pt>
                <c:pt idx="4">
                  <c:v>2.93</c:v>
                </c:pt>
                <c:pt idx="5">
                  <c:v>2.75</c:v>
                </c:pt>
                <c:pt idx="6">
                  <c:v>3.58</c:v>
                </c:pt>
              </c:numCache>
            </c:numRef>
          </c:val>
        </c:ser>
        <c:dLbls>
          <c:numFmt formatCode="0.00&quot;%&quot;" sourceLinked="0"/>
          <c:txPr>
            <a:bodyPr/>
            <a:lstStyle/>
            <a:p>
              <a:pPr>
                <a:defRPr b="0" i="0" strike="noStrike" sz="105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6"/>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Densidad de RWA</c:v>
                </c:pt>
              </c:strCache>
            </c:strRef>
          </c:tx>
          <c:spPr>
            <a:solidFill>
              <a:srgbClr val="F56600"/>
            </a:solidFill>
            <a:effectLst/>
          </c:spPr>
          <c:invertIfNegative val="0"/>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59.46</c:v>
                </c:pt>
                <c:pt idx="1">
                  <c:v>35.34</c:v>
                </c:pt>
                <c:pt idx="2">
                  <c:v>43</c:v>
                </c:pt>
                <c:pt idx="3">
                  <c:v>46.35</c:v>
                </c:pt>
                <c:pt idx="4">
                  <c:v>61.33</c:v>
                </c:pt>
                <c:pt idx="5">
                  <c:v>37.2</c:v>
                </c:pt>
                <c:pt idx="6">
                  <c:v>69.97</c:v>
                </c:pt>
              </c:numCache>
            </c:numRef>
          </c:val>
        </c:ser>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70"/>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Tipo circulante</c:v>
                </c:pt>
              </c:strCache>
            </c:strRef>
          </c:tx>
          <c:spPr>
            <a:solidFill>
              <a:srgbClr val="F56600"/>
            </a:solidFill>
            <a:effectLst/>
          </c:spPr>
          <c:invertIfNegative val="0"/>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3.58</c:v>
                </c:pt>
                <c:pt idx="1">
                  <c:v>4.95</c:v>
                </c:pt>
                <c:pt idx="2">
                  <c:v>3.39</c:v>
                </c:pt>
                <c:pt idx="3">
                  <c:v>4.11</c:v>
                </c:pt>
                <c:pt idx="4">
                  <c:v>4.41</c:v>
                </c:pt>
                <c:pt idx="5">
                  <c:v>2.46</c:v>
                </c:pt>
                <c:pt idx="6">
                  <c:v>4.92</c:v>
                </c:pt>
              </c:numCache>
            </c:numRef>
          </c:val>
        </c:ser>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6"/>
        </c:scaling>
        <c:delete val="0"/>
        <c:axPos val="l"/>
        <c:majorGridlines>
          <c:spPr>
            <a:ln w="12700" cap="flat">
              <a:solidFill>
                <a:srgbClr val="E3E9EB"/>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Préstamo PYME (≤1 M€)</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3.41</c:v>
                </c:pt>
                <c:pt idx="1">
                  <c:v>4.39</c:v>
                </c:pt>
                <c:pt idx="2">
                  <c:v>3.77</c:v>
                </c:pt>
                <c:pt idx="3">
                  <c:v>4.25</c:v>
                </c:pt>
                <c:pt idx="4">
                  <c:v>3.94</c:v>
                </c:pt>
                <c:pt idx="5">
                  <c:v>4.5</c:v>
                </c:pt>
                <c:pt idx="6">
                  <c:v>5.37</c:v>
                </c:pt>
              </c:numCache>
            </c:numRef>
          </c:val>
        </c:ser>
        <c:ser>
          <c:idx val="1"/>
          <c:order val="1"/>
          <c:tx>
            <c:strRef>
              <c:f>Sheet1!$C$1</c:f>
              <c:strCache>
                <c:ptCount val="1"/>
                <c:pt idx="0">
                  <c:v>Préstamo, total empresas</c:v>
                </c:pt>
              </c:strCache>
            </c:strRef>
          </c:tx>
          <c:spPr>
            <a:solidFill>
              <a:srgbClr val="FFD6BA"/>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3.42</c:v>
                </c:pt>
                <c:pt idx="1">
                  <c:v>3.57</c:v>
                </c:pt>
                <c:pt idx="2">
                  <c:v>3.57</c:v>
                </c:pt>
                <c:pt idx="3">
                  <c:v>3.57</c:v>
                </c:pt>
                <c:pt idx="4">
                  <c:v>3.82</c:v>
                </c:pt>
                <c:pt idx="5">
                  <c:v>3.47</c:v>
                </c:pt>
                <c:pt idx="6">
                  <c:v>5.01</c:v>
                </c:pt>
              </c:numCache>
            </c:numRef>
          </c:val>
        </c:ser>
        <c:ser>
          <c:idx val="2"/>
          <c:order val="2"/>
          <c:tx>
            <c:strRef>
              <c:f>Sheet1!$D$1</c:f>
              <c:strCache>
                <c:ptCount val="1"/>
                <c:pt idx="0">
                  <c:v>Circulante (todas las empresas)</c:v>
                </c:pt>
              </c:strCache>
            </c:strRef>
          </c:tx>
          <c:spPr>
            <a:solidFill>
              <a:srgbClr val="77BFEE"/>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Sheet1!$D$2:$D$8</c:f>
              <c:numCache>
                <c:formatCode>General</c:formatCode>
                <c:ptCount val="7"/>
                <c:pt idx="0">
                  <c:v>3.58</c:v>
                </c:pt>
                <c:pt idx="1">
                  <c:v>4.95</c:v>
                </c:pt>
                <c:pt idx="2">
                  <c:v>3.39</c:v>
                </c:pt>
                <c:pt idx="3">
                  <c:v>4.11</c:v>
                </c:pt>
                <c:pt idx="4">
                  <c:v>4.41</c:v>
                </c:pt>
                <c:pt idx="5">
                  <c:v>2.46</c:v>
                </c:pt>
                <c:pt idx="6">
                  <c:v>4.92</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6"/>
        </c:scaling>
        <c:delete val="0"/>
        <c:axPos val="l"/>
        <c:majorGridlines>
          <c:spPr>
            <a:ln w="12700" cap="flat">
              <a:solidFill>
                <a:srgbClr val="E3E9EB"/>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ROE del circulante</c:v>
                </c:pt>
              </c:strCache>
            </c:strRef>
          </c:tx>
          <c:spPr>
            <a:solidFill>
              <a:srgbClr val="77BFEE"/>
            </a:solidFill>
            <a:effectLst/>
          </c:spPr>
          <c:invertIfNegative val="0"/>
          <c:dLbls>
            <c:numFmt formatCode="#,##0" sourceLinked="0"/>
            <c:txPr>
              <a:bodyPr/>
              <a:lstStyle/>
              <a:p>
                <a:pPr>
                  <a:defRPr b="0" i="0" strike="noStrike" sz="85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9</c:v>
                </c:pt>
                <c:pt idx="1">
                  <c:v>15.3</c:v>
                </c:pt>
                <c:pt idx="2">
                  <c:v>0.9</c:v>
                </c:pt>
                <c:pt idx="3">
                  <c:v>9.8</c:v>
                </c:pt>
                <c:pt idx="4">
                  <c:v>12</c:v>
                </c:pt>
                <c:pt idx="5">
                  <c:v>4.4</c:v>
                </c:pt>
                <c:pt idx="6">
                  <c:v>9.9</c:v>
                </c:pt>
              </c:numCache>
            </c:numRef>
          </c:val>
        </c:ser>
        <c:ser>
          <c:idx val="1"/>
          <c:order val="1"/>
          <c:tx>
            <c:strRef>
              <c:f>Sheet1!$C$1</c:f>
              <c:strCache>
                <c:ptCount val="1"/>
                <c:pt idx="0">
                  <c:v>ROE del préstamo PYME</c:v>
                </c:pt>
              </c:strCache>
            </c:strRef>
          </c:tx>
          <c:spPr>
            <a:solidFill>
              <a:srgbClr val="F56600"/>
            </a:solidFill>
            <a:effectLst/>
          </c:spPr>
          <c:invertIfNegative val="0"/>
          <c:dLbls>
            <c:numFmt formatCode="#,##0" sourceLinked="0"/>
            <c:txPr>
              <a:bodyPr/>
              <a:lstStyle/>
              <a:p>
                <a:pPr>
                  <a:defRPr b="0" i="0" strike="noStrike" sz="85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12.4</c:v>
                </c:pt>
                <c:pt idx="1">
                  <c:v>17.2</c:v>
                </c:pt>
                <c:pt idx="2">
                  <c:v>5.4</c:v>
                </c:pt>
                <c:pt idx="3">
                  <c:v>15.3</c:v>
                </c:pt>
                <c:pt idx="4">
                  <c:v>13.9</c:v>
                </c:pt>
                <c:pt idx="5">
                  <c:v>20.3</c:v>
                </c:pt>
                <c:pt idx="6">
                  <c:v>13.9</c:v>
                </c:pt>
              </c:numCache>
            </c:numRef>
          </c:val>
        </c:ser>
        <c:dLbls>
          <c:numFmt formatCode="#,##0" sourceLinked="0"/>
          <c:txPr>
            <a:bodyPr/>
            <a:lstStyle/>
            <a:p>
              <a:pPr>
                <a:defRPr b="0" i="0" strike="noStrike" sz="85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22"/>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cartera</c:v>
                </c:pt>
              </c:strCache>
            </c:strRef>
          </c:tx>
          <c:spPr>
            <a:solidFill>
              <a:srgbClr val="CACACA"/>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2.6</c:v>
                </c:pt>
                <c:pt idx="1">
                  <c:v>1.61</c:v>
                </c:pt>
                <c:pt idx="2">
                  <c:v>2.16</c:v>
                </c:pt>
                <c:pt idx="3">
                  <c:v>1.97</c:v>
                </c:pt>
                <c:pt idx="4">
                  <c:v>1.91</c:v>
                </c:pt>
                <c:pt idx="5">
                  <c:v>1.35</c:v>
                </c:pt>
                <c:pt idx="6">
                  <c:v>1.1</c:v>
                </c:pt>
              </c:numCache>
            </c:numRef>
          </c:val>
        </c:ser>
        <c:ser>
          <c:idx val="1"/>
          <c:order val="1"/>
          <c:tx>
            <c:strRef>
              <c:f>Sheet1!$C$1</c:f>
              <c:strCache>
                <c:ptCount val="1"/>
                <c:pt idx="0">
                  <c:v>Empresas</c:v>
                </c:pt>
              </c:strCache>
            </c:strRef>
          </c:tx>
          <c:spPr>
            <a:solidFill>
              <a:srgbClr val="77BFEE"/>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2.99</c:v>
                </c:pt>
                <c:pt idx="1">
                  <c:v>3.81</c:v>
                </c:pt>
                <c:pt idx="2">
                  <c:v>3.94</c:v>
                </c:pt>
                <c:pt idx="3">
                  <c:v>3.4</c:v>
                </c:pt>
                <c:pt idx="4">
                  <c:v>3.65</c:v>
                </c:pt>
                <c:pt idx="5">
                  <c:v>2.86</c:v>
                </c:pt>
                <c:pt idx="6">
                  <c:v>2.5</c:v>
                </c:pt>
              </c:numCache>
            </c:numRef>
          </c:val>
        </c:ser>
        <c:ser>
          <c:idx val="2"/>
          <c:order val="2"/>
          <c:tx>
            <c:strRef>
              <c:f>Sheet1!$D$1</c:f>
              <c:strCache>
                <c:ptCount val="1"/>
                <c:pt idx="0">
                  <c:v>PYME</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Sheet1!$D$2:$D$8</c:f>
              <c:numCache>
                <c:formatCode>General</c:formatCode>
                <c:ptCount val="7"/>
                <c:pt idx="0">
                  <c:v>5.38</c:v>
                </c:pt>
                <c:pt idx="1">
                  <c:v>4.32</c:v>
                </c:pt>
                <c:pt idx="2">
                  <c:v>5.12</c:v>
                </c:pt>
                <c:pt idx="3">
                  <c:v>4.9</c:v>
                </c:pt>
                <c:pt idx="4">
                  <c:v>4.22</c:v>
                </c:pt>
                <c:pt idx="5">
                  <c:v>3.13</c:v>
                </c:pt>
                <c:pt idx="6">
                  <c:v>3.77</c:v>
                </c:pt>
              </c:numCache>
            </c:numRef>
          </c:val>
        </c:ser>
        <c:ser>
          <c:idx val="3"/>
          <c:order val="3"/>
          <c:tx>
            <c:strRef>
              <c:f>Sheet1!$E$1</c:f>
              <c:strCache>
                <c:ptCount val="1"/>
                <c:pt idx="0">
                  <c:v>Inmueble comercial</c:v>
                </c:pt>
              </c:strCache>
            </c:strRef>
          </c:tx>
          <c:spPr>
            <a:solidFill>
              <a:srgbClr val="FFAB7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Sheet1!$E$2:$E$8</c:f>
              <c:numCache>
                <c:formatCode>General</c:formatCode>
                <c:ptCount val="7"/>
                <c:pt idx="0">
                  <c:v>4.25</c:v>
                </c:pt>
                <c:pt idx="1">
                  <c:v>6.81</c:v>
                </c:pt>
                <c:pt idx="2">
                  <c:v>3.86</c:v>
                </c:pt>
                <c:pt idx="3">
                  <c:v>4.27</c:v>
                </c:pt>
                <c:pt idx="4">
                  <c:v>3.83</c:v>
                </c:pt>
                <c:pt idx="5">
                  <c:v>3.06</c:v>
                </c:pt>
                <c:pt idx="6">
                  <c:v>3.5</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8"/>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56600"/>
                </a:solidFill>
                <a:latin typeface="Arial"/>
              </a:defRPr>
            </a:pPr>
            <a:r>
              <a:rPr sz="1200" b="0" i="0" u="none" strike="noStrike">
                <a:solidFill>
                  <a:srgbClr val="F56600"/>
                </a:solidFill>
                <a:latin typeface="Arial"/>
              </a:rPr>
              <a:t>Probabilidad de impago (PD)</a:t>
            </a:r>
          </a:p>
        </c:rich>
      </c:tx>
      <c:layout/>
      <c:overlay val="0"/>
    </c:title>
    <c:autoTitleDeleted val="0"/>
    <c:plotArea>
      <c:layout/>
      <c:barChart>
        <c:barDir val="col"/>
        <c:grouping val="clustered"/>
        <c:varyColors val="0"/>
        <c:ser>
          <c:idx val="0"/>
          <c:order val="0"/>
          <c:tx>
            <c:strRef>
              <c:f>Sheet1!$B$1</c:f>
              <c:strCache>
                <c:ptCount val="1"/>
                <c:pt idx="0">
                  <c:v>PD PYME</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1.73</c:v>
                </c:pt>
                <c:pt idx="1">
                  <c:v>1.26</c:v>
                </c:pt>
                <c:pt idx="2">
                  <c:v>2.15</c:v>
                </c:pt>
                <c:pt idx="3">
                  <c:v>2.26</c:v>
                </c:pt>
                <c:pt idx="4">
                  <c:v>1.26</c:v>
                </c:pt>
                <c:pt idx="5">
                  <c:v>1.18</c:v>
                </c:pt>
                <c:pt idx="6">
                  <c:v>1.08</c:v>
                </c:pt>
              </c:numCache>
            </c:numRef>
          </c:val>
        </c:ser>
        <c:ser>
          <c:idx val="1"/>
          <c:order val="1"/>
          <c:tx>
            <c:strRef>
              <c:f>Sheet1!$C$1</c:f>
              <c:strCache>
                <c:ptCount val="1"/>
                <c:pt idx="0">
                  <c:v>PD gran empresa</c:v>
                </c:pt>
              </c:strCache>
            </c:strRef>
          </c:tx>
          <c:spPr>
            <a:solidFill>
              <a:srgbClr val="CACACA"/>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0.57</c:v>
                </c:pt>
                <c:pt idx="1">
                  <c:v>0.5</c:v>
                </c:pt>
                <c:pt idx="2">
                  <c:v>0.6</c:v>
                </c:pt>
                <c:pt idx="3">
                  <c:v>0.67</c:v>
                </c:pt>
                <c:pt idx="4">
                  <c:v>0.33</c:v>
                </c:pt>
                <c:pt idx="5">
                  <c:v>0.52</c:v>
                </c:pt>
                <c:pt idx="6">
                  <c:v>0.26</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2.6"/>
        </c:scaling>
        <c:delete val="0"/>
        <c:axPos val="l"/>
        <c:majorGridlines>
          <c:spPr>
            <a:ln w="12700" cap="flat">
              <a:solidFill>
                <a:srgbClr val="E3E9EB"/>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56600"/>
                </a:solidFill>
                <a:latin typeface="Arial"/>
              </a:defRPr>
            </a:pPr>
            <a:r>
              <a:rPr sz="1200" b="0" i="0" u="none" strike="noStrike">
                <a:solidFill>
                  <a:srgbClr val="F56600"/>
                </a:solidFill>
                <a:latin typeface="Arial"/>
              </a:rPr>
              <a:t>Severidad de la pérdida (LGD)</a:t>
            </a:r>
          </a:p>
        </c:rich>
      </c:tx>
      <c:layout/>
      <c:overlay val="0"/>
    </c:title>
    <c:autoTitleDeleted val="0"/>
    <c:plotArea>
      <c:layout/>
      <c:barChart>
        <c:barDir val="col"/>
        <c:grouping val="clustered"/>
        <c:varyColors val="0"/>
        <c:ser>
          <c:idx val="0"/>
          <c:order val="0"/>
          <c:tx>
            <c:strRef>
              <c:f>Sheet1!$B$1</c:f>
              <c:strCache>
                <c:ptCount val="1"/>
                <c:pt idx="0">
                  <c:v>LGD PYME</c:v>
                </c:pt>
              </c:strCache>
            </c:strRef>
          </c:tx>
          <c:spPr>
            <a:solidFill>
              <a:srgbClr val="FFAB7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34.38</c:v>
                </c:pt>
                <c:pt idx="1">
                  <c:v>31.44</c:v>
                </c:pt>
                <c:pt idx="2">
                  <c:v>31.51</c:v>
                </c:pt>
                <c:pt idx="3">
                  <c:v>35.6</c:v>
                </c:pt>
                <c:pt idx="4">
                  <c:v>40</c:v>
                </c:pt>
                <c:pt idx="5">
                  <c:v>29.7</c:v>
                </c:pt>
                <c:pt idx="6">
                  <c:v>37.34</c:v>
                </c:pt>
              </c:numCache>
            </c:numRef>
          </c:val>
        </c:ser>
        <c:ser>
          <c:idx val="1"/>
          <c:order val="1"/>
          <c:tx>
            <c:strRef>
              <c:f>Sheet1!$C$1</c:f>
              <c:strCache>
                <c:ptCount val="1"/>
                <c:pt idx="0">
                  <c:v>LGD gran empresa</c:v>
                </c:pt>
              </c:strCache>
            </c:strRef>
          </c:tx>
          <c:spPr>
            <a:solidFill>
              <a:srgbClr val="CACACA"/>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40</c:v>
                </c:pt>
                <c:pt idx="1">
                  <c:v>39.55</c:v>
                </c:pt>
                <c:pt idx="2">
                  <c:v>40</c:v>
                </c:pt>
                <c:pt idx="3">
                  <c:v>40</c:v>
                </c:pt>
                <c:pt idx="4">
                  <c:v>40</c:v>
                </c:pt>
                <c:pt idx="5">
                  <c:v>40</c:v>
                </c:pt>
                <c:pt idx="6">
                  <c:v>40</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48"/>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 la mejor PD (1,08 %)</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-22</c:v>
                </c:pt>
                <c:pt idx="1">
                  <c:v>-6</c:v>
                </c:pt>
                <c:pt idx="2">
                  <c:v>-34</c:v>
                </c:pt>
                <c:pt idx="3">
                  <c:v>-42</c:v>
                </c:pt>
                <c:pt idx="4">
                  <c:v>-7</c:v>
                </c:pt>
                <c:pt idx="5">
                  <c:v>-3</c:v>
                </c:pt>
                <c:pt idx="6">
                  <c:v>0</c:v>
                </c:pt>
              </c:numCache>
            </c:numRef>
          </c:val>
        </c:ser>
        <c:ser>
          <c:idx val="1"/>
          <c:order val="1"/>
          <c:tx>
            <c:strRef>
              <c:f>Sheet1!$C$1</c:f>
              <c:strCache>
                <c:ptCount val="1"/>
                <c:pt idx="0">
                  <c:v>Con la mejor LGD (29,7 %)</c:v>
                </c:pt>
              </c:strCache>
            </c:strRef>
          </c:tx>
          <c:spPr>
            <a:solidFill>
              <a:srgbClr val="A1A1A1"/>
            </a:solidFill>
            <a:effectLst/>
          </c:spPr>
          <c:invertIfNegative val="0"/>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-8</c:v>
                </c:pt>
                <c:pt idx="1">
                  <c:v>-3</c:v>
                </c:pt>
                <c:pt idx="2">
                  <c:v>-4</c:v>
                </c:pt>
                <c:pt idx="3">
                  <c:v>-13</c:v>
                </c:pt>
                <c:pt idx="4">
                  <c:v>-13</c:v>
                </c:pt>
                <c:pt idx="5">
                  <c:v>0</c:v>
                </c:pt>
                <c:pt idx="6">
                  <c:v>-8</c:v>
                </c:pt>
              </c:numCache>
            </c:numRef>
          </c:val>
        </c:ser>
        <c:dLbls>
          <c:numFmt formatCode="#,##0" sourceLinked="0"/>
          <c:txPr>
            <a:bodyPr/>
            <a:lstStyle/>
            <a:p>
              <a:pPr>
                <a:defRPr b="0" i="0" strike="noStrike" sz="8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5E5"/>
              </a:solidFill>
              <a:prstDash val="solid"/>
              <a:round/>
            </a:ln>
          </c:spPr>
        </c:majorGridlines>
        <c:numFmt formatCode="0&quot; pb&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B2B2B"/>
                </a:solidFill>
                <a:latin typeface="Arial"/>
              </a:defRPr>
            </a:pPr>
            <a:r>
              <a:rPr sz="1100" b="0" i="0" u="none" strike="noStrike">
                <a:solidFill>
                  <a:srgbClr val="2B2B2B"/>
                </a:solidFill>
                <a:latin typeface="Arial"/>
              </a:rPr>
              <a:t>Ratio de NPL de la cartera de inmueble comercial (%)</a:t>
            </a:r>
          </a:p>
        </c:rich>
      </c:tx>
      <c:layout/>
      <c:overlay val="0"/>
    </c:title>
    <c:autoTitleDeleted val="0"/>
    <c:plotArea>
      <c:layout/>
      <c:barChart>
        <c:barDir val="col"/>
        <c:grouping val="clustered"/>
        <c:varyColors val="0"/>
        <c:ser>
          <c:idx val="0"/>
          <c:order val="0"/>
          <c:tx>
            <c:strRef>
              <c:f>Sheet1!$B$1</c:f>
              <c:strCache>
                <c:ptCount val="1"/>
                <c:pt idx="0">
                  <c:v>Ratio de NPL, cartera CRE</c:v>
                </c:pt>
              </c:strCache>
            </c:strRef>
          </c:tx>
          <c:spPr>
            <a:solidFill>
              <a:srgbClr val="F56600"/>
            </a:solidFill>
            <a:effectLst/>
          </c:spPr>
          <c:invertIfNegative val="0"/>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4.25</c:v>
                </c:pt>
                <c:pt idx="1">
                  <c:v>6.81</c:v>
                </c:pt>
                <c:pt idx="2">
                  <c:v>3.86</c:v>
                </c:pt>
                <c:pt idx="3">
                  <c:v>4.27</c:v>
                </c:pt>
                <c:pt idx="4">
                  <c:v>3.83</c:v>
                </c:pt>
                <c:pt idx="5">
                  <c:v>3.06</c:v>
                </c:pt>
                <c:pt idx="6">
                  <c:v>3.5</c:v>
                </c:pt>
              </c:numCache>
            </c:numRef>
          </c:val>
        </c:ser>
        <c:dLbls>
          <c:numFmt formatCode="#,##0" sourceLinked="0"/>
          <c:txPr>
            <a:bodyPr/>
            <a:lstStyle/>
            <a:p>
              <a:pPr>
                <a:defRPr b="0" i="0" strike="noStrike" sz="12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8"/>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Penetración sobre PIB</c:v>
                </c:pt>
              </c:strCache>
            </c:strRef>
          </c:tx>
          <c:spPr>
            <a:solidFill>
              <a:srgbClr val="F56600"/>
            </a:solidFill>
            <a:effectLst/>
          </c:spPr>
          <c:invertIfNegative val="0"/>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16.5</c:v>
                </c:pt>
                <c:pt idx="1">
                  <c:v>9.5</c:v>
                </c:pt>
                <c:pt idx="2">
                  <c:v>14.8</c:v>
                </c:pt>
                <c:pt idx="3">
                  <c:v>13.2</c:v>
                </c:pt>
                <c:pt idx="4">
                  <c:v>20.7</c:v>
                </c:pt>
                <c:pt idx="5">
                  <c:v>14</c:v>
                </c:pt>
                <c:pt idx="6">
                  <c:v>4.5</c:v>
                </c:pt>
              </c:numCache>
            </c:numRef>
          </c:val>
        </c:ser>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24"/>
        </c:scaling>
        <c:delete val="0"/>
        <c:axPos val="l"/>
        <c:majorGridlines>
          <c:spPr>
            <a:ln w="12700" cap="flat">
              <a:solidFill>
                <a:srgbClr val="E3E9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181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construido sobre datos oficiales del BCE, EBA, OCDE, Banco de España, Banca d'Italia, EUF y cuentas de resultados de bancos. El ROE es modelizado, no observado.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p:bgPr>
    </p:bg>
    <p:spTree>
      <p:nvGrpSpPr>
        <p:cNvPr id="1" name=""/>
        <p:cNvGrpSpPr/>
        <p:nvPr/>
      </p:nvGrpSpPr>
      <p:grpSpPr>
        <a:xfrm>
          <a:off x="0" y="0"/>
          <a:ext cx="0" cy="0"/>
          <a:chOff x="0" y="0"/>
          <a:chExt cx="0" cy="0"/>
        </a:xfrm>
      </p:grpSpPr>
      <p:sp>
        <p:nvSpPr>
          <p:cNvPr id="2" name="Text 0"/>
          <p:cNvSpPr txBox="1"/>
          <p:nvPr/>
        </p:nvSpPr>
        <p:spPr>
          <a:xfrm>
            <a:off x="548640" y="2286000"/>
            <a:ext cx="9601200" cy="822960"/>
          </a:xfrm>
          <a:prstGeom prst="rect">
            <a:avLst/>
          </a:prstGeom>
          <a:noFill/>
          <a:ln/>
        </p:spPr>
        <p:txBody>
          <a:bodyPr wrap="square" lIns="0" tIns="0" rIns="0" bIns="0" rtlCol="0" anchor="ctr"/>
          <a:lstStyle/>
          <a:p>
            <a:pPr indent="0" marL="0">
              <a:buNone/>
            </a:pPr>
            <a:r>
              <a:rPr lang="en-US" sz="4200" b="1" dirty="0">
                <a:solidFill>
                  <a:srgbClr val="FFFFFF"/>
                </a:solidFill>
                <a:latin typeface="Verdana" pitchFamily="34" charset="0"/>
                <a:ea typeface="Verdana" pitchFamily="34" charset="-122"/>
                <a:cs typeface="Verdana" pitchFamily="34" charset="-120"/>
              </a:rPr>
              <a:t>Rentabilidad del negocio PYME</a:t>
            </a:r>
            <a:endParaRPr lang="en-US" sz="4200" dirty="0"/>
          </a:p>
        </p:txBody>
      </p:sp>
      <p:sp>
        <p:nvSpPr>
          <p:cNvPr id="3" name="Text 1"/>
          <p:cNvSpPr txBox="1"/>
          <p:nvPr/>
        </p:nvSpPr>
        <p:spPr>
          <a:xfrm>
            <a:off x="548640" y="3154680"/>
            <a:ext cx="9601200" cy="457200"/>
          </a:xfrm>
          <a:prstGeom prst="rect">
            <a:avLst/>
          </a:prstGeom>
          <a:noFill/>
          <a:ln/>
        </p:spPr>
        <p:txBody>
          <a:bodyPr wrap="square" lIns="0" tIns="0" rIns="0" bIns="0" rtlCol="0" anchor="ctr"/>
          <a:lstStyle/>
          <a:p>
            <a:pPr indent="0" marL="0">
              <a:buNone/>
            </a:pPr>
            <a:r>
              <a:rPr lang="en-US" sz="1800" dirty="0">
                <a:solidFill>
                  <a:srgbClr val="A1A1A1"/>
                </a:solidFill>
                <a:latin typeface="Verdana" pitchFamily="34" charset="0"/>
                <a:ea typeface="Verdana" pitchFamily="34" charset="-122"/>
                <a:cs typeface="Verdana" pitchFamily="34" charset="-120"/>
              </a:rPr>
              <a:t>España · Alemania · Francia · Italia · Portugal · Países Bajos · Irlanda</a:t>
            </a:r>
            <a:endParaRPr lang="en-US" sz="1800" dirty="0"/>
          </a:p>
        </p:txBody>
      </p:sp>
      <p:sp>
        <p:nvSpPr>
          <p:cNvPr id="4" name="Text 2"/>
          <p:cNvSpPr txBox="1"/>
          <p:nvPr/>
        </p:nvSpPr>
        <p:spPr>
          <a:xfrm>
            <a:off x="548640" y="3794760"/>
            <a:ext cx="9601200" cy="365760"/>
          </a:xfrm>
          <a:prstGeom prst="rect">
            <a:avLst/>
          </a:prstGeom>
          <a:noFill/>
          <a:ln/>
        </p:spPr>
        <p:txBody>
          <a:bodyPr wrap="square" lIns="0" tIns="0" rIns="0" bIns="0" rtlCol="0" anchor="ctr"/>
          <a:lstStyle/>
          <a:p>
            <a:pPr indent="0" marL="0">
              <a:buNone/>
            </a:pPr>
            <a:r>
              <a:rPr lang="en-US" sz="1300" dirty="0">
                <a:solidFill>
                  <a:srgbClr val="F56600"/>
                </a:solidFill>
                <a:latin typeface="Verdana" pitchFamily="34" charset="0"/>
                <a:ea typeface="Verdana" pitchFamily="34" charset="-122"/>
                <a:cs typeface="Verdana" pitchFamily="34" charset="-120"/>
              </a:rPr>
              <a:t>Cinco productos · Datos oficiales 2026 · Modelo de ROE con supuestos declarados</a:t>
            </a:r>
            <a:endParaRPr lang="en-US" sz="1300" dirty="0"/>
          </a:p>
        </p:txBody>
      </p:sp>
      <p:sp>
        <p:nvSpPr>
          <p:cNvPr id="5" name="Text 3"/>
          <p:cNvSpPr txBox="1"/>
          <p:nvPr/>
        </p:nvSpPr>
        <p:spPr>
          <a:xfrm>
            <a:off x="548640" y="5943600"/>
            <a:ext cx="9601200" cy="320040"/>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38.689 observaciones · 11 fuentes · 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Objetivo y método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Qué se mide, con qué datos y dónde están los límites</a:t>
            </a:r>
            <a:endParaRPr lang="en-US" sz="1100" dirty="0"/>
          </a:p>
        </p:txBody>
      </p:sp>
      <p:sp>
        <p:nvSpPr>
          <p:cNvPr id="4" name="Shape 2"/>
          <p:cNvSpPr/>
          <p:nvPr/>
        </p:nvSpPr>
        <p:spPr>
          <a:xfrm>
            <a:off x="548640" y="1600200"/>
            <a:ext cx="11091672" cy="1069848"/>
          </a:xfrm>
          <a:prstGeom prst="roundRect">
            <a:avLst>
              <a:gd name="adj" fmla="val 5128"/>
            </a:avLst>
          </a:prstGeom>
          <a:solidFill>
            <a:srgbClr val="E5E5E5"/>
          </a:solidFill>
          <a:ln w="12700">
            <a:solidFill>
              <a:srgbClr val="CACACA"/>
            </a:solidFill>
            <a:prstDash val="solid"/>
          </a:ln>
        </p:spPr>
      </p:sp>
      <p:sp>
        <p:nvSpPr>
          <p:cNvPr id="5" name="Text 3"/>
          <p:cNvSpPr txBox="1"/>
          <p:nvPr/>
        </p:nvSpPr>
        <p:spPr>
          <a:xfrm>
            <a:off x="777240" y="1709928"/>
            <a:ext cx="2286000" cy="292608"/>
          </a:xfrm>
          <a:prstGeom prst="rect">
            <a:avLst/>
          </a:prstGeom>
          <a:noFill/>
          <a:ln/>
        </p:spPr>
        <p:txBody>
          <a:bodyPr wrap="square" lIns="0" tIns="0" rIns="0" bIns="0" rtlCol="0" anchor="ctr"/>
          <a:lstStyle/>
          <a:p>
            <a:pPr indent="0" marL="0">
              <a:buNone/>
            </a:pPr>
            <a:r>
              <a:rPr lang="en-US" sz="1400" b="1" dirty="0">
                <a:solidFill>
                  <a:srgbClr val="F56600"/>
                </a:solidFill>
                <a:latin typeface="Verdana" pitchFamily="34" charset="0"/>
                <a:ea typeface="Verdana" pitchFamily="34" charset="-122"/>
                <a:cs typeface="Verdana" pitchFamily="34" charset="-120"/>
              </a:rPr>
              <a:t>Objetivo</a:t>
            </a:r>
            <a:endParaRPr lang="en-US" sz="1400" dirty="0"/>
          </a:p>
        </p:txBody>
      </p:sp>
      <p:sp>
        <p:nvSpPr>
          <p:cNvPr id="6" name="Text 4"/>
          <p:cNvSpPr txBox="1"/>
          <p:nvPr/>
        </p:nvSpPr>
        <p:spPr>
          <a:xfrm>
            <a:off x="3200400" y="1709928"/>
            <a:ext cx="8165592" cy="841248"/>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Comparar la rentabilidad del negocio PYME entre siete países europeos, producto a producto, sobre datos oficiales y no sobre estimaciones de mercado.</a:t>
            </a:r>
            <a:endParaRPr lang="en-US" sz="1200" dirty="0"/>
          </a:p>
        </p:txBody>
      </p:sp>
      <p:sp>
        <p:nvSpPr>
          <p:cNvPr id="7" name="Shape 5"/>
          <p:cNvSpPr/>
          <p:nvPr/>
        </p:nvSpPr>
        <p:spPr>
          <a:xfrm>
            <a:off x="548640" y="2788920"/>
            <a:ext cx="11091672" cy="1069848"/>
          </a:xfrm>
          <a:prstGeom prst="roundRect">
            <a:avLst>
              <a:gd name="adj" fmla="val 5128"/>
            </a:avLst>
          </a:prstGeom>
          <a:solidFill>
            <a:srgbClr val="E5E5E5"/>
          </a:solidFill>
          <a:ln w="12700">
            <a:solidFill>
              <a:srgbClr val="CACACA"/>
            </a:solidFill>
            <a:prstDash val="solid"/>
          </a:ln>
        </p:spPr>
      </p:sp>
      <p:sp>
        <p:nvSpPr>
          <p:cNvPr id="8" name="Text 6"/>
          <p:cNvSpPr txBox="1"/>
          <p:nvPr/>
        </p:nvSpPr>
        <p:spPr>
          <a:xfrm>
            <a:off x="777240" y="2898648"/>
            <a:ext cx="2286000" cy="292608"/>
          </a:xfrm>
          <a:prstGeom prst="rect">
            <a:avLst/>
          </a:prstGeom>
          <a:noFill/>
          <a:ln/>
        </p:spPr>
        <p:txBody>
          <a:bodyPr wrap="square" lIns="0" tIns="0" rIns="0" bIns="0" rtlCol="0" anchor="ctr"/>
          <a:lstStyle/>
          <a:p>
            <a:pPr indent="0" marL="0">
              <a:buNone/>
            </a:pPr>
            <a:r>
              <a:rPr lang="en-US" sz="1400" b="1" dirty="0">
                <a:solidFill>
                  <a:srgbClr val="F56600"/>
                </a:solidFill>
                <a:latin typeface="Verdana" pitchFamily="34" charset="0"/>
                <a:ea typeface="Verdana" pitchFamily="34" charset="-122"/>
                <a:cs typeface="Verdana" pitchFamily="34" charset="-120"/>
              </a:rPr>
              <a:t>Alcance</a:t>
            </a:r>
            <a:endParaRPr lang="en-US" sz="1400" dirty="0"/>
          </a:p>
        </p:txBody>
      </p:sp>
      <p:sp>
        <p:nvSpPr>
          <p:cNvPr id="9" name="Text 7"/>
          <p:cNvSpPr txBox="1"/>
          <p:nvPr/>
        </p:nvSpPr>
        <p:spPr>
          <a:xfrm>
            <a:off x="3200400" y="2898648"/>
            <a:ext cx="8165592" cy="841248"/>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Hipotecas, préstamos, circulante, factoring y confirming, más el coste de los recursos. Segmentación por tramo de importe del préstamo, que es como segmenta la estadística oficial europea.</a:t>
            </a:r>
            <a:endParaRPr lang="en-US" sz="1200" dirty="0"/>
          </a:p>
        </p:txBody>
      </p:sp>
      <p:sp>
        <p:nvSpPr>
          <p:cNvPr id="10" name="Shape 8"/>
          <p:cNvSpPr/>
          <p:nvPr/>
        </p:nvSpPr>
        <p:spPr>
          <a:xfrm>
            <a:off x="548640" y="3977640"/>
            <a:ext cx="11091672" cy="1069848"/>
          </a:xfrm>
          <a:prstGeom prst="roundRect">
            <a:avLst>
              <a:gd name="adj" fmla="val 5128"/>
            </a:avLst>
          </a:prstGeom>
          <a:solidFill>
            <a:srgbClr val="E5E5E5"/>
          </a:solidFill>
          <a:ln w="12700">
            <a:solidFill>
              <a:srgbClr val="CACACA"/>
            </a:solidFill>
            <a:prstDash val="solid"/>
          </a:ln>
        </p:spPr>
      </p:sp>
      <p:sp>
        <p:nvSpPr>
          <p:cNvPr id="11" name="Text 9"/>
          <p:cNvSpPr txBox="1"/>
          <p:nvPr/>
        </p:nvSpPr>
        <p:spPr>
          <a:xfrm>
            <a:off x="777240" y="4087368"/>
            <a:ext cx="2286000" cy="292608"/>
          </a:xfrm>
          <a:prstGeom prst="rect">
            <a:avLst/>
          </a:prstGeom>
          <a:noFill/>
          <a:ln/>
        </p:spPr>
        <p:txBody>
          <a:bodyPr wrap="square" lIns="0" tIns="0" rIns="0" bIns="0" rtlCol="0" anchor="ctr"/>
          <a:lstStyle/>
          <a:p>
            <a:pPr indent="0" marL="0">
              <a:buNone/>
            </a:pPr>
            <a:r>
              <a:rPr lang="en-US" sz="1400" b="1" dirty="0">
                <a:solidFill>
                  <a:srgbClr val="F56600"/>
                </a:solidFill>
                <a:latin typeface="Verdana" pitchFamily="34" charset="0"/>
                <a:ea typeface="Verdana" pitchFamily="34" charset="-122"/>
                <a:cs typeface="Verdana" pitchFamily="34" charset="-120"/>
              </a:rPr>
              <a:t>Método</a:t>
            </a:r>
            <a:endParaRPr lang="en-US" sz="1400" dirty="0"/>
          </a:p>
        </p:txBody>
      </p:sp>
      <p:sp>
        <p:nvSpPr>
          <p:cNvPr id="12" name="Text 10"/>
          <p:cNvSpPr txBox="1"/>
          <p:nvPr/>
        </p:nvSpPr>
        <p:spPr>
          <a:xfrm>
            <a:off x="3200400" y="4087368"/>
            <a:ext cx="8165592" cy="841248"/>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Cuenta de resultados en porcentaje del saldo medio: precio más comisiones, menos coste de fondos, riesgo y gastos. El capital se asigna por densidad de RWA sobre el CET1 observado.</a:t>
            </a:r>
            <a:endParaRPr lang="en-US" sz="1200" dirty="0"/>
          </a:p>
        </p:txBody>
      </p:sp>
      <p:sp>
        <p:nvSpPr>
          <p:cNvPr id="13" name="Shape 11"/>
          <p:cNvSpPr/>
          <p:nvPr/>
        </p:nvSpPr>
        <p:spPr>
          <a:xfrm>
            <a:off x="548640" y="5166360"/>
            <a:ext cx="11091672" cy="1069848"/>
          </a:xfrm>
          <a:prstGeom prst="roundRect">
            <a:avLst>
              <a:gd name="adj" fmla="val 5128"/>
            </a:avLst>
          </a:prstGeom>
          <a:solidFill>
            <a:srgbClr val="FFD6BA"/>
          </a:solidFill>
          <a:ln w="12700">
            <a:solidFill>
              <a:srgbClr val="F56600"/>
            </a:solidFill>
            <a:prstDash val="solid"/>
          </a:ln>
        </p:spPr>
      </p:sp>
      <p:sp>
        <p:nvSpPr>
          <p:cNvPr id="14" name="Text 12"/>
          <p:cNvSpPr txBox="1"/>
          <p:nvPr/>
        </p:nvSpPr>
        <p:spPr>
          <a:xfrm>
            <a:off x="777240" y="5276088"/>
            <a:ext cx="2286000" cy="292608"/>
          </a:xfrm>
          <a:prstGeom prst="rect">
            <a:avLst/>
          </a:prstGeom>
          <a:noFill/>
          <a:ln/>
        </p:spPr>
        <p:txBody>
          <a:bodyPr wrap="square" lIns="0" tIns="0" rIns="0" bIns="0" rtlCol="0" anchor="ctr"/>
          <a:lstStyle/>
          <a:p>
            <a:pPr indent="0" marL="0">
              <a:buNone/>
            </a:pPr>
            <a:r>
              <a:rPr lang="en-US" sz="1400" b="1" dirty="0">
                <a:solidFill>
                  <a:srgbClr val="F56600"/>
                </a:solidFill>
                <a:latin typeface="Verdana" pitchFamily="34" charset="0"/>
                <a:ea typeface="Verdana" pitchFamily="34" charset="-122"/>
                <a:cs typeface="Verdana" pitchFamily="34" charset="-120"/>
              </a:rPr>
              <a:t>Límite principal</a:t>
            </a:r>
            <a:endParaRPr lang="en-US" sz="1400" dirty="0"/>
          </a:p>
        </p:txBody>
      </p:sp>
      <p:sp>
        <p:nvSpPr>
          <p:cNvPr id="15" name="Text 13"/>
          <p:cNvSpPr txBox="1"/>
          <p:nvPr/>
        </p:nvSpPr>
        <p:spPr>
          <a:xfrm>
            <a:off x="3200400" y="5276088"/>
            <a:ext cx="8165592" cy="841248"/>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Solo España e Italia publican un tipo con comisiones para empresas. Para los otros cuatro países la comisión es un supuesto, no un dato. El ROE de esos países depende de ese supuesto.</a:t>
            </a:r>
            <a:endParaRPr lang="en-US" sz="1200" dirty="0"/>
          </a:p>
        </p:txBody>
      </p:sp>
      <p:sp>
        <p:nvSpPr>
          <p:cNvPr id="16" name="Text 14"/>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Detalle completo de fuentes, supuestos y huecos en notas.md del repositorio del proyecto.</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Precio de Préstamos a Pymes por tramo de importe</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Los tres tramos que publica el MIR, sin solapamiento · Media 2026 ponderada por volumen · Fijación inicial total · Sin comisiones</a:t>
            </a:r>
            <a:endParaRPr lang="en-US" sz="1100" dirty="0"/>
          </a:p>
        </p:txBody>
      </p:sp>
      <p:graphicFrame>
        <p:nvGraphicFramePr>
          <p:cNvPr id="4" name="Chart 0" descr=""/>
          <p:cNvGraphicFramePr/>
          <p:nvPr/>
        </p:nvGraphicFramePr>
        <p:xfrm>
          <a:off x="548640" y="1600200"/>
          <a:ext cx="704088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600200"/>
            <a:ext cx="3959352" cy="2121408"/>
          </a:xfrm>
          <a:prstGeom prst="roundRect">
            <a:avLst>
              <a:gd name="adj" fmla="val 2586"/>
            </a:avLst>
          </a:prstGeom>
          <a:solidFill>
            <a:srgbClr val="E5E5E5"/>
          </a:solidFill>
          <a:ln w="12700">
            <a:solidFill>
              <a:srgbClr val="CACACA"/>
            </a:solidFill>
            <a:prstDash val="solid"/>
          </a:ln>
        </p:spPr>
      </p:sp>
      <p:sp>
        <p:nvSpPr>
          <p:cNvPr id="6" name="Text 3"/>
          <p:cNvSpPr txBox="1"/>
          <p:nvPr/>
        </p:nvSpPr>
        <p:spPr>
          <a:xfrm>
            <a:off x="7863840" y="1737360"/>
            <a:ext cx="3611880" cy="457200"/>
          </a:xfrm>
          <a:prstGeom prst="rect">
            <a:avLst/>
          </a:prstGeom>
          <a:noFill/>
          <a:ln/>
        </p:spPr>
        <p:txBody>
          <a:bodyPr wrap="square" lIns="0" tIns="0" rIns="0" bIns="0" rtlCol="0" anchor="ctr"/>
          <a:lstStyle/>
          <a:p>
            <a:pPr indent="0" marL="0">
              <a:buNone/>
            </a:pPr>
            <a:r>
              <a:rPr lang="en-US" sz="1300" b="1" dirty="0">
                <a:solidFill>
                  <a:srgbClr val="F56600"/>
                </a:solidFill>
                <a:latin typeface="Verdana" pitchFamily="34" charset="0"/>
                <a:ea typeface="Verdana" pitchFamily="34" charset="-122"/>
                <a:cs typeface="Verdana" pitchFamily="34" charset="-120"/>
              </a:rPr>
              <a:t>Peso del tramo ≤1 M€ sobre la nueva producción</a:t>
            </a:r>
            <a:endParaRPr lang="en-US" sz="1300" dirty="0"/>
          </a:p>
        </p:txBody>
      </p:sp>
      <p:sp>
        <p:nvSpPr>
          <p:cNvPr id="7" name="Text 4"/>
          <p:cNvSpPr txBox="1"/>
          <p:nvPr/>
        </p:nvSpPr>
        <p:spPr>
          <a:xfrm>
            <a:off x="7863840" y="2212848"/>
            <a:ext cx="3611880" cy="1444752"/>
          </a:xfrm>
          <a:prstGeom prst="rect">
            <a:avLst/>
          </a:prstGeom>
          <a:noFill/>
          <a:ln/>
        </p:spPr>
        <p:txBody>
          <a:bodyPr wrap="square" lIns="0" tIns="0" rIns="0" bIns="0" rtlCol="0" anchor="ctr"/>
          <a:lstStyle/>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España: 50.5 %</a:t>
            </a:r>
            <a:endParaRPr lang="en-US" sz="1050" dirty="0"/>
          </a:p>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Alemania: 17.8 %</a:t>
            </a:r>
            <a:endParaRPr lang="en-US" sz="1050" dirty="0"/>
          </a:p>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Francia: 30 %</a:t>
            </a:r>
            <a:endParaRPr lang="en-US" sz="1050" dirty="0"/>
          </a:p>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Italia: 34.6 %</a:t>
            </a:r>
            <a:endParaRPr lang="en-US" sz="1050" dirty="0"/>
          </a:p>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Portugal: 51.1 %</a:t>
            </a:r>
            <a:endParaRPr lang="en-US" sz="1050" dirty="0"/>
          </a:p>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P. Bajos: 7.6 %</a:t>
            </a:r>
            <a:endParaRPr lang="en-US" sz="1050" dirty="0"/>
          </a:p>
          <a:p>
            <a:pPr indent="0" marL="0">
              <a:lnSpc>
                <a:spcPts val="1300"/>
              </a:lnSpc>
              <a:buNone/>
            </a:pPr>
            <a:r>
              <a:rPr lang="en-US" sz="1050" dirty="0">
                <a:solidFill>
                  <a:srgbClr val="2B2B2B"/>
                </a:solidFill>
                <a:latin typeface="Verdana" pitchFamily="34" charset="0"/>
                <a:ea typeface="Verdana" pitchFamily="34" charset="-122"/>
                <a:cs typeface="Verdana" pitchFamily="34" charset="-120"/>
              </a:rPr>
              <a:t>Irlanda: 16.8 %</a:t>
            </a:r>
            <a:endParaRPr lang="en-US" sz="1050" dirty="0"/>
          </a:p>
        </p:txBody>
      </p:sp>
      <p:sp>
        <p:nvSpPr>
          <p:cNvPr id="8" name="Shape 5"/>
          <p:cNvSpPr/>
          <p:nvPr/>
        </p:nvSpPr>
        <p:spPr>
          <a:xfrm>
            <a:off x="7680960" y="3858768"/>
            <a:ext cx="3959352" cy="1399032"/>
          </a:xfrm>
          <a:prstGeom prst="roundRect">
            <a:avLst>
              <a:gd name="adj" fmla="val 3922"/>
            </a:avLst>
          </a:prstGeom>
          <a:solidFill>
            <a:srgbClr val="FFD6BA"/>
          </a:solidFill>
          <a:ln w="12700">
            <a:solidFill>
              <a:srgbClr val="FFAB70"/>
            </a:solidFill>
            <a:prstDash val="solid"/>
          </a:ln>
        </p:spPr>
      </p:sp>
      <p:sp>
        <p:nvSpPr>
          <p:cNvPr id="9" name="Text 6"/>
          <p:cNvSpPr txBox="1"/>
          <p:nvPr/>
        </p:nvSpPr>
        <p:spPr>
          <a:xfrm>
            <a:off x="7863840" y="3968496"/>
            <a:ext cx="3611880" cy="320040"/>
          </a:xfrm>
          <a:prstGeom prst="rect">
            <a:avLst/>
          </a:prstGeom>
          <a:noFill/>
          <a:ln/>
        </p:spPr>
        <p:txBody>
          <a:bodyPr wrap="square" lIns="0" tIns="0" rIns="0" bIns="0" rtlCol="0" anchor="ctr"/>
          <a:lstStyle/>
          <a:p>
            <a:pPr indent="0" marL="0">
              <a:buNone/>
            </a:pPr>
            <a:r>
              <a:rPr lang="en-US" sz="1300" b="1" dirty="0">
                <a:solidFill>
                  <a:srgbClr val="F56600"/>
                </a:solidFill>
                <a:latin typeface="Verdana" pitchFamily="34" charset="0"/>
                <a:ea typeface="Verdana" pitchFamily="34" charset="-122"/>
                <a:cs typeface="Verdana" pitchFamily="34" charset="-120"/>
              </a:rPr>
              <a:t>Un mismo spread no significa lo mismo</a:t>
            </a:r>
            <a:endParaRPr lang="en-US" sz="1300" dirty="0"/>
          </a:p>
        </p:txBody>
      </p:sp>
      <p:sp>
        <p:nvSpPr>
          <p:cNvPr id="10" name="Text 7"/>
          <p:cNvSpPr txBox="1"/>
          <p:nvPr/>
        </p:nvSpPr>
        <p:spPr>
          <a:xfrm>
            <a:off x="7863840" y="4297680"/>
            <a:ext cx="3611880" cy="868680"/>
          </a:xfrm>
          <a:prstGeom prst="rect">
            <a:avLst/>
          </a:prstGeom>
          <a:noFill/>
          <a:ln/>
        </p:spPr>
        <p:txBody>
          <a:bodyPr wrap="square" lIns="0" tIns="0" rIns="0" bIns="0" rtlCol="0" anchor="ctr"/>
          <a:lstStyle/>
          <a:p>
            <a:pPr indent="0" marL="0">
              <a:buNone/>
            </a:pPr>
            <a:r>
              <a:rPr lang="en-US" sz="1050" dirty="0">
                <a:solidFill>
                  <a:srgbClr val="2B2B2B"/>
                </a:solidFill>
                <a:latin typeface="Verdana" pitchFamily="34" charset="0"/>
                <a:ea typeface="Verdana" pitchFamily="34" charset="-122"/>
                <a:cs typeface="Verdana" pitchFamily="34" charset="-120"/>
              </a:rPr>
              <a:t>En España y Portugal la mitad de la nueva producción es de importe ≤1 M€. En Países Bajos es el 7,6 % y en Irlanda el 16,8 %. Cualquier comparación de rentabilidad debe normalizar por este peso.</a:t>
            </a:r>
            <a:endParaRPr lang="en-US" sz="1050" dirty="0"/>
          </a:p>
        </p:txBody>
      </p:sp>
      <p:sp>
        <p:nvSpPr>
          <p:cNvPr id="11" name="Text 8"/>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BCE, ECB Data Portal, dataset MIR. Tipo anual equivalente (AAR/NDER), que excluye comisiones. Media enero-julio 2026 ponderada por volumen mensual, salvo en los dos tramos pequeños de Alemania, donde el Bundesbank no publica volumen y la media es simple. Los tres tramos no se solapan: el «hasta 1 M€» que se usa en el resto del deck es la suma ponderada de los dos primeros.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Las comisiones son muy relevantes: impacto en España</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Único país de los siete donde existe un tipo con comisiones para empresas · Media 2026</a:t>
            </a:r>
            <a:endParaRPr lang="en-US" sz="1100" dirty="0"/>
          </a:p>
        </p:txBody>
      </p:sp>
      <p:graphicFrame>
        <p:nvGraphicFramePr>
          <p:cNvPr id="4" name="Chart 0" descr=""/>
          <p:cNvGraphicFramePr/>
          <p:nvPr/>
        </p:nvGraphicFramePr>
        <p:xfrm>
          <a:off x="548640" y="1645920"/>
          <a:ext cx="658368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06640" y="1645920"/>
            <a:ext cx="4233672" cy="2212848"/>
          </a:xfrm>
          <a:prstGeom prst="roundRect">
            <a:avLst>
              <a:gd name="adj" fmla="val 2479"/>
            </a:avLst>
          </a:prstGeom>
          <a:solidFill>
            <a:srgbClr val="FFD6BA"/>
          </a:solidFill>
          <a:ln w="12700">
            <a:solidFill>
              <a:srgbClr val="FFAB70"/>
            </a:solidFill>
            <a:prstDash val="solid"/>
          </a:ln>
        </p:spPr>
      </p:sp>
      <p:sp>
        <p:nvSpPr>
          <p:cNvPr id="6" name="Text 3"/>
          <p:cNvSpPr txBox="1"/>
          <p:nvPr/>
        </p:nvSpPr>
        <p:spPr>
          <a:xfrm>
            <a:off x="7589520" y="1755648"/>
            <a:ext cx="3886200" cy="274320"/>
          </a:xfrm>
          <a:prstGeom prst="rect">
            <a:avLst/>
          </a:prstGeom>
          <a:noFill/>
          <a:ln/>
        </p:spPr>
        <p:txBody>
          <a:bodyPr wrap="square" lIns="0" tIns="0" rIns="0" bIns="0" rtlCol="0" anchor="ctr"/>
          <a:lstStyle/>
          <a:p>
            <a:pPr indent="0" marL="0">
              <a:buNone/>
            </a:pPr>
            <a:r>
              <a:rPr lang="en-US" sz="1200" b="1" dirty="0">
                <a:solidFill>
                  <a:srgbClr val="F56600"/>
                </a:solidFill>
                <a:latin typeface="Verdana" pitchFamily="34" charset="0"/>
                <a:ea typeface="Verdana" pitchFamily="34" charset="-122"/>
                <a:cs typeface="Verdana" pitchFamily="34" charset="-120"/>
              </a:rPr>
              <a:t>Cómo se calcula el spread</a:t>
            </a:r>
            <a:endParaRPr lang="en-US" sz="1200" dirty="0"/>
          </a:p>
        </p:txBody>
      </p:sp>
      <p:sp>
        <p:nvSpPr>
          <p:cNvPr id="7" name="Text 4"/>
          <p:cNvSpPr txBox="1"/>
          <p:nvPr/>
        </p:nvSpPr>
        <p:spPr>
          <a:xfrm>
            <a:off x="7589520" y="2066544"/>
            <a:ext cx="3886200" cy="457200"/>
          </a:xfrm>
          <a:prstGeom prst="rect">
            <a:avLst/>
          </a:prstGeom>
          <a:noFill/>
          <a:ln/>
        </p:spPr>
        <p:txBody>
          <a:bodyPr wrap="square" lIns="0" tIns="0" rIns="0" bIns="0" rtlCol="0" anchor="ctr"/>
          <a:lstStyle/>
          <a:p>
            <a:pPr indent="0" marL="0">
              <a:buNone/>
            </a:pPr>
            <a:r>
              <a:rPr lang="en-US" sz="900" i="1" dirty="0">
                <a:solidFill>
                  <a:srgbClr val="2B2B2B"/>
                </a:solidFill>
                <a:latin typeface="Verdana" pitchFamily="34" charset="0"/>
                <a:ea typeface="Verdana" pitchFamily="34" charset="-122"/>
                <a:cs typeface="Verdana" pitchFamily="34" charset="-120"/>
              </a:rPr>
              <a:t>Spread = tramo ≤0,25 M€ − tramo &gt;1 M€</a:t>
            </a:r>
            <a:endParaRPr lang="en-US" sz="900" dirty="0"/>
          </a:p>
          <a:p>
            <a:pPr indent="0" marL="0">
              <a:buNone/>
            </a:pPr>
            <a:r>
              <a:rPr lang="en-US" sz="900" i="1" dirty="0">
                <a:solidFill>
                  <a:srgbClr val="2B2B2B"/>
                </a:solidFill>
                <a:latin typeface="Verdana" pitchFamily="34" charset="0"/>
                <a:ea typeface="Verdana" pitchFamily="34" charset="-122"/>
                <a:cs typeface="Verdana" pitchFamily="34" charset="-120"/>
              </a:rPr>
              <a:t>(los dos tramos extremos, no el intermedio)</a:t>
            </a:r>
            <a:endParaRPr lang="en-US" sz="900" dirty="0"/>
          </a:p>
        </p:txBody>
      </p:sp>
      <p:sp>
        <p:nvSpPr>
          <p:cNvPr id="8" name="Text 5"/>
          <p:cNvSpPr txBox="1"/>
          <p:nvPr/>
        </p:nvSpPr>
        <p:spPr>
          <a:xfrm>
            <a:off x="7589520" y="2578608"/>
            <a:ext cx="3886200" cy="685800"/>
          </a:xfrm>
          <a:prstGeom prst="rect">
            <a:avLst/>
          </a:prstGeom>
          <a:noFill/>
          <a:ln/>
        </p:spPr>
        <p:txBody>
          <a:bodyPr wrap="square" lIns="0" tIns="0" rIns="0" bIns="0" rtlCol="0" anchor="ctr"/>
          <a:lstStyle/>
          <a:p>
            <a:pPr indent="0" marL="0">
              <a:lnSpc>
                <a:spcPts val="1900"/>
              </a:lnSpc>
              <a:buNone/>
            </a:pPr>
            <a:r>
              <a:rPr lang="en-US" sz="1000" b="1" dirty="0">
                <a:solidFill>
                  <a:srgbClr val="2B2B2B"/>
                </a:solidFill>
                <a:latin typeface="Verdana" pitchFamily="34" charset="0"/>
                <a:ea typeface="Verdana" pitchFamily="34" charset="-122"/>
                <a:cs typeface="Verdana" pitchFamily="34" charset="-120"/>
              </a:rPr>
              <a:t>TEDR   </a:t>
            </a:r>
            <a:pPr indent="0" marL="0">
              <a:lnSpc>
                <a:spcPts val="1900"/>
              </a:lnSpc>
              <a:buNone/>
            </a:pPr>
            <a:r>
              <a:rPr lang="en-US" sz="1000" dirty="0">
                <a:solidFill>
                  <a:srgbClr val="2B2B2B"/>
                </a:solidFill>
                <a:latin typeface="Verdana" pitchFamily="34" charset="0"/>
                <a:ea typeface="Verdana" pitchFamily="34" charset="-122"/>
                <a:cs typeface="Verdana" pitchFamily="34" charset="-120"/>
              </a:rPr>
              <a:t>3.4173 − 3.4404 = </a:t>
            </a:r>
            <a:pPr indent="0" marL="0">
              <a:lnSpc>
                <a:spcPts val="1900"/>
              </a:lnSpc>
              <a:buNone/>
            </a:pPr>
            <a:r>
              <a:rPr lang="en-US" sz="1000" b="1" dirty="0">
                <a:solidFill>
                  <a:srgbClr val="2B2B2B"/>
                </a:solidFill>
                <a:latin typeface="Verdana" pitchFamily="34" charset="0"/>
                <a:ea typeface="Verdana" pitchFamily="34" charset="-122"/>
                <a:cs typeface="Verdana" pitchFamily="34" charset="-120"/>
              </a:rPr>
              <a:t>-2.3 pb</a:t>
            </a:r>
            <a:endParaRPr lang="en-US" sz="1000" dirty="0"/>
          </a:p>
          <a:p>
            <a:pPr indent="0" marL="0">
              <a:lnSpc>
                <a:spcPts val="1900"/>
              </a:lnSpc>
              <a:buNone/>
            </a:pPr>
            <a:r>
              <a:rPr lang="en-US" sz="1000" b="1" dirty="0">
                <a:solidFill>
                  <a:srgbClr val="2B2B2B"/>
                </a:solidFill>
                <a:latin typeface="Verdana" pitchFamily="34" charset="0"/>
                <a:ea typeface="Verdana" pitchFamily="34" charset="-122"/>
                <a:cs typeface="Verdana" pitchFamily="34" charset="-120"/>
              </a:rPr>
              <a:t>TAE      </a:t>
            </a:r>
            <a:pPr indent="0" marL="0">
              <a:lnSpc>
                <a:spcPts val="1900"/>
              </a:lnSpc>
              <a:buNone/>
            </a:pPr>
            <a:r>
              <a:rPr lang="en-US" sz="1000" dirty="0">
                <a:solidFill>
                  <a:srgbClr val="2B2B2B"/>
                </a:solidFill>
                <a:latin typeface="Verdana" pitchFamily="34" charset="0"/>
                <a:ea typeface="Verdana" pitchFamily="34" charset="-122"/>
                <a:cs typeface="Verdana" pitchFamily="34" charset="-120"/>
              </a:rPr>
              <a:t>4.4348 − 3.6220 = </a:t>
            </a:r>
            <a:pPr indent="0" marL="0">
              <a:lnSpc>
                <a:spcPts val="1900"/>
              </a:lnSpc>
              <a:buNone/>
            </a:pPr>
            <a:r>
              <a:rPr lang="en-US" sz="1000" b="1" dirty="0">
                <a:solidFill>
                  <a:srgbClr val="F56600"/>
                </a:solidFill>
                <a:latin typeface="Verdana" pitchFamily="34" charset="0"/>
                <a:ea typeface="Verdana" pitchFamily="34" charset="-122"/>
                <a:cs typeface="Verdana" pitchFamily="34" charset="-120"/>
              </a:rPr>
              <a:t>+81.3 pb</a:t>
            </a:r>
            <a:endParaRPr lang="en-US" sz="1000" dirty="0"/>
          </a:p>
        </p:txBody>
      </p:sp>
      <p:sp>
        <p:nvSpPr>
          <p:cNvPr id="9" name="Text 6"/>
          <p:cNvSpPr txBox="1"/>
          <p:nvPr/>
        </p:nvSpPr>
        <p:spPr>
          <a:xfrm>
            <a:off x="7589520" y="3310128"/>
            <a:ext cx="3886200" cy="457200"/>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Las cifras del gráfico van redondeadas a dos decimales; el spread se calcula sobre el valor completo.</a:t>
            </a:r>
            <a:endParaRPr lang="en-US" sz="850" dirty="0"/>
          </a:p>
        </p:txBody>
      </p:sp>
      <p:sp>
        <p:nvSpPr>
          <p:cNvPr id="10" name="Text 7"/>
          <p:cNvSpPr txBox="1"/>
          <p:nvPr/>
        </p:nvSpPr>
        <p:spPr>
          <a:xfrm>
            <a:off x="548640" y="5349240"/>
            <a:ext cx="11091672" cy="640080"/>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La banca española sí cobra más caro a la PYME: 81 pb más en coste total. Lo hace por comisión, no por tipo nominal. El MIR del BCE, que publica solo el tipo sin comisiones, no lo ve.</a:t>
            </a:r>
            <a:endParaRPr lang="en-US" sz="1200" dirty="0"/>
          </a:p>
        </p:txBody>
      </p:sp>
      <p:sp>
        <p:nvSpPr>
          <p:cNvPr id="11" name="Text 8"/>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Banco de España, Boletín Estadístico, cuadros 19.5 (TEDR), 19.6 (TAE) y 19.13 (volúmenes). Cuña = TAE − TEDR, cálculo propio. Media enero-julio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Cuenta de resultados del préstamo PYME</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En % del saldo medio · Tramo ≤1 M€ · 2026 · Las filas en ocre son supuestos, no observaciones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1672" cy="914400"/>
        </p:xfrm>
        <a:graphic>
          <a:graphicData uri="http://schemas.openxmlformats.org/drawingml/2006/table">
            <a:tbl>
              <a:tblPr/>
              <a:tblGrid>
                <a:gridCol w="2468880"/>
                <a:gridCol w="1231697"/>
                <a:gridCol w="1231697"/>
                <a:gridCol w="1231697"/>
                <a:gridCol w="1231697"/>
                <a:gridCol w="1231697"/>
                <a:gridCol w="1231697"/>
                <a:gridCol w="1231697"/>
              </a:tblGrid>
              <a:tr h="315468">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Concepto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España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Alemania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Francia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Italia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Portugal</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P. Bajos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Irlanda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Precio (tipo MIR)</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3.41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4.39</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3.77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4.25</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3.94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4.50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5.37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 Comisiones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15468">
                <a:tc>
                  <a:txBody>
                    <a:bodyPr/>
                    <a:lstStyle/>
                    <a:p>
                      <a:pPr algn="l" indent="0" marL="0">
                        <a:buNone/>
                      </a:pPr>
                      <a:r>
                        <a:rPr lang="en-US" sz="1100" b="1" dirty="0">
                          <a:solidFill>
                            <a:srgbClr val="F56600"/>
                          </a:solidFill>
                          <a:latin typeface="Verdana" pitchFamily="34" charset="0"/>
                          <a:ea typeface="Verdana" pitchFamily="34" charset="-122"/>
                          <a:cs typeface="Verdana" pitchFamily="34" charset="-120"/>
                        </a:rPr>
                        <a:t>= Ingreso total</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4.28</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5.26</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4.64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5.12</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4.81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5.37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6.24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 Coste de los recursos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0.76</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1.09</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0.74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0.74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0.37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5468">
                <a:tc>
                  <a:txBody>
                    <a:bodyPr/>
                    <a:lstStyle/>
                    <a:p>
                      <a:pPr algn="l" indent="0" marL="0">
                        <a:buNone/>
                      </a:pPr>
                      <a:r>
                        <a:rPr lang="en-US" sz="1100" b="1" dirty="0">
                          <a:solidFill>
                            <a:srgbClr val="F56600"/>
                          </a:solidFill>
                          <a:latin typeface="Verdana" pitchFamily="34" charset="0"/>
                          <a:ea typeface="Verdana" pitchFamily="34" charset="-122"/>
                          <a:cs typeface="Verdana" pitchFamily="34" charset="-120"/>
                        </a:rPr>
                        <a:t>= Margen bruto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3.52</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4.17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3.43</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4.39</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4.07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4.34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5.87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 Coste del riesgo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0.59</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0.40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0.68</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0.80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0.50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0.35</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0.40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 Gastos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1.48</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2.30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2.25</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2.05</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1.42</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2.32</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3.37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5468">
                <a:tc>
                  <a:txBody>
                    <a:bodyPr/>
                    <a:lstStyle/>
                    <a:p>
                      <a:pPr algn="l" indent="0" marL="0">
                        <a:buNone/>
                      </a:pPr>
                      <a:r>
                        <a:rPr lang="en-US" sz="1100" b="1" dirty="0">
                          <a:solidFill>
                            <a:srgbClr val="F56600"/>
                          </a:solidFill>
                          <a:latin typeface="Verdana" pitchFamily="34" charset="0"/>
                          <a:ea typeface="Verdana" pitchFamily="34" charset="-122"/>
                          <a:cs typeface="Verdana" pitchFamily="34" charset="-120"/>
                        </a:rPr>
                        <a:t>= Resultado antes de imp.</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1.44</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1.47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0.50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1.53</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2.15</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1.67</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b="1" dirty="0">
                          <a:solidFill>
                            <a:srgbClr val="F56600"/>
                          </a:solidFill>
                          <a:latin typeface="Verdana" pitchFamily="34" charset="0"/>
                          <a:ea typeface="Verdana" pitchFamily="34" charset="-122"/>
                          <a:cs typeface="Verdana" pitchFamily="34" charset="-120"/>
                        </a:rPr>
                        <a:t>2.10</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Capital asignado (RWA × CET1)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8.13</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5.99</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6.83</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7.21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10.93</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6.09</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12.81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5468">
                <a:tc>
                  <a:txBody>
                    <a:bodyPr/>
                    <a:lstStyle/>
                    <a:p>
                      <a:pPr algn="l" indent="0" marL="0">
                        <a:buNone/>
                      </a:pPr>
                      <a:r>
                        <a:rPr lang="en-US" sz="1100" dirty="0">
                          <a:solidFill>
                            <a:srgbClr val="2B2B2B"/>
                          </a:solidFill>
                          <a:latin typeface="Verdana" pitchFamily="34" charset="0"/>
                          <a:ea typeface="Verdana" pitchFamily="34" charset="-122"/>
                          <a:cs typeface="Verdana" pitchFamily="34" charset="-120"/>
                        </a:rPr>
                        <a:t>Tipo impositivo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30.0 %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30.1 %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25.8 %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27.8 %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29.5 %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25.8 %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15468">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ROE</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12.4 %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17.2 %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5.4 %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15.3 %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20.3 %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bl>
          </a:graphicData>
        </a:graphic>
      </p:graphicFrame>
      <p:sp>
        <p:nvSpPr>
          <p:cNvPr id="5" name="Shape 2"/>
          <p:cNvSpPr/>
          <p:nvPr/>
        </p:nvSpPr>
        <p:spPr>
          <a:xfrm>
            <a:off x="548640" y="5623560"/>
            <a:ext cx="1371600" cy="256032"/>
          </a:xfrm>
          <a:prstGeom prst="roundRect">
            <a:avLst>
              <a:gd name="adj" fmla="val 42857"/>
            </a:avLst>
          </a:prstGeom>
          <a:solidFill>
            <a:srgbClr val="F56600"/>
          </a:solidFill>
          <a:ln w="12700">
            <a:solidFill>
              <a:srgbClr val="F56600"/>
            </a:solidFill>
            <a:prstDash val="solid"/>
          </a:ln>
        </p:spPr>
      </p:sp>
      <p:sp>
        <p:nvSpPr>
          <p:cNvPr id="6" name="Text 3"/>
          <p:cNvSpPr txBox="1"/>
          <p:nvPr/>
        </p:nvSpPr>
        <p:spPr>
          <a:xfrm>
            <a:off x="548640" y="5623560"/>
            <a:ext cx="1371600" cy="256032"/>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p>
        </p:txBody>
      </p:sp>
      <p:sp>
        <p:nvSpPr>
          <p:cNvPr id="7" name="Shape 4"/>
          <p:cNvSpPr/>
          <p:nvPr/>
        </p:nvSpPr>
        <p:spPr>
          <a:xfrm>
            <a:off x="2103120" y="5623560"/>
            <a:ext cx="1371600" cy="256032"/>
          </a:xfrm>
          <a:prstGeom prst="roundRect">
            <a:avLst>
              <a:gd name="adj" fmla="val 42857"/>
            </a:avLst>
          </a:prstGeom>
          <a:solidFill>
            <a:srgbClr val="FFAB70"/>
          </a:solidFill>
          <a:ln w="12700">
            <a:solidFill>
              <a:srgbClr val="FFAB70"/>
            </a:solidFill>
            <a:prstDash val="solid"/>
          </a:ln>
        </p:spPr>
      </p:sp>
      <p:sp>
        <p:nvSpPr>
          <p:cNvPr id="8" name="Text 5"/>
          <p:cNvSpPr txBox="1"/>
          <p:nvPr/>
        </p:nvSpPr>
        <p:spPr>
          <a:xfrm>
            <a:off x="2103120" y="5623560"/>
            <a:ext cx="1371600" cy="256032"/>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Supuesto</a:t>
            </a:r>
            <a:endParaRPr lang="en-US" sz="850" dirty="0"/>
          </a:p>
        </p:txBody>
      </p:sp>
      <p:sp>
        <p:nvSpPr>
          <p:cNvPr id="9" name="Text 6"/>
          <p:cNvSpPr txBox="1"/>
          <p:nvPr/>
        </p:nvSpPr>
        <p:spPr>
          <a:xfrm>
            <a:off x="3931920" y="5623560"/>
            <a:ext cx="7772400" cy="274320"/>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Solo la fila de comisiones es supuesto. Precio, recursos, riesgo, capital e impuesto son observados por país.</a:t>
            </a:r>
            <a:endParaRPr lang="en-US" sz="1000" dirty="0"/>
          </a:p>
        </p:txBody>
      </p:sp>
      <p:sp>
        <p:nvSpPr>
          <p:cNvPr id="10" name="Text 7"/>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Precio: BCE MIR. Comisiones: cuña española de 87 pb aplicada a los siete (único supuesto material). Recursos: tipos de depósito de empresa del MIR ponderados por los saldos del BSI. Riesgo: PD × LGD de la clase IRB de PYME (COREP C 9.02). Gastos: eficiencia EBA sobre margen. Capital: densidad de RWA observada sobre CET1. Impuesto: tipo combinado de sociedades 2026 de cada país.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ROE modelizado del préstamo PYME</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Cuña de comisiones española aplicada a los siete países · Tipo impositivo real de cada uno · 2026</a:t>
            </a:r>
            <a:endParaRPr lang="en-US" sz="1100" dirty="0"/>
          </a:p>
        </p:txBody>
      </p:sp>
      <p:graphicFrame>
        <p:nvGraphicFramePr>
          <p:cNvPr id="4" name="Chart 0" descr=""/>
          <p:cNvGraphicFramePr/>
          <p:nvPr/>
        </p:nvGraphicFramePr>
        <p:xfrm>
          <a:off x="548640" y="1645920"/>
          <a:ext cx="676656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45920"/>
            <a:ext cx="4050792" cy="3749040"/>
          </a:xfrm>
          <a:prstGeom prst="roundRect">
            <a:avLst>
              <a:gd name="adj" fmla="val 1463"/>
            </a:avLst>
          </a:prstGeom>
          <a:solidFill>
            <a:srgbClr val="E5E5E5"/>
          </a:solidFill>
          <a:ln w="12700">
            <a:solidFill>
              <a:srgbClr val="CACACA"/>
            </a:solidFill>
            <a:prstDash val="solid"/>
          </a:ln>
        </p:spPr>
      </p:sp>
      <p:sp>
        <p:nvSpPr>
          <p:cNvPr id="6" name="Text 3"/>
          <p:cNvSpPr txBox="1"/>
          <p:nvPr/>
        </p:nvSpPr>
        <p:spPr>
          <a:xfrm>
            <a:off x="7772400" y="1783080"/>
            <a:ext cx="3703320" cy="292608"/>
          </a:xfrm>
          <a:prstGeom prst="rect">
            <a:avLst/>
          </a:prstGeom>
          <a:noFill/>
          <a:ln/>
        </p:spPr>
        <p:txBody>
          <a:bodyPr wrap="square" lIns="0" tIns="0" rIns="0" bIns="0" rtlCol="0" anchor="ctr"/>
          <a:lstStyle/>
          <a:p>
            <a:pPr indent="0" marL="0">
              <a:buNone/>
            </a:pPr>
            <a:r>
              <a:rPr lang="en-US" sz="1500" b="1" dirty="0">
                <a:solidFill>
                  <a:srgbClr val="F56600"/>
                </a:solidFill>
                <a:latin typeface="Verdana" pitchFamily="34" charset="0"/>
                <a:ea typeface="Verdana" pitchFamily="34" charset="-122"/>
                <a:cs typeface="Verdana" pitchFamily="34" charset="-120"/>
              </a:rPr>
              <a:t>Cómo leerlo</a:t>
            </a:r>
            <a:endParaRPr lang="en-US" sz="1500" dirty="0"/>
          </a:p>
        </p:txBody>
      </p:sp>
      <p:sp>
        <p:nvSpPr>
          <p:cNvPr id="7" name="Text 4"/>
          <p:cNvSpPr txBox="1"/>
          <p:nvPr/>
        </p:nvSpPr>
        <p:spPr>
          <a:xfrm>
            <a:off x="7772400" y="2121408"/>
            <a:ext cx="3703320" cy="3218688"/>
          </a:xfrm>
          <a:prstGeom prst="rect">
            <a:avLst/>
          </a:prstGeom>
          <a:noFill/>
          <a:ln/>
        </p:spPr>
        <p:txBody>
          <a:bodyPr wrap="square" lIns="0" tIns="0" rIns="0" bIns="0" rtlCol="0" anchor="ctr"/>
          <a:lstStyle/>
          <a:p>
            <a:pPr indent="0" marL="0">
              <a:buNone/>
            </a:pPr>
            <a:r>
              <a:rPr lang="en-US" sz="900" b="1" dirty="0">
                <a:solidFill>
                  <a:srgbClr val="2B2B2B"/>
                </a:solidFill>
                <a:latin typeface="Verdana" pitchFamily="34" charset="0"/>
                <a:ea typeface="Verdana" pitchFamily="34" charset="-122"/>
                <a:cs typeface="Verdana" pitchFamily="34" charset="-120"/>
              </a:rPr>
              <a:t>Países Bajos y Alemania encabezan</a:t>
            </a:r>
            <a:endParaRPr lang="en-US" sz="900" dirty="0"/>
          </a:p>
          <a:p>
            <a:pPr indent="0" marL="0">
              <a:buNone/>
            </a:pPr>
            <a:r>
              <a:rPr lang="en-US" sz="900" dirty="0">
                <a:solidFill>
                  <a:srgbClr val="2B2B2B"/>
                </a:solidFill>
                <a:latin typeface="Verdana" pitchFamily="34" charset="0"/>
                <a:ea typeface="Verdana" pitchFamily="34" charset="-122"/>
                <a:cs typeface="Verdana" pitchFamily="34" charset="-120"/>
              </a:rPr>
              <a:t>por coste del riesgo bajo (0,35 % y 0,40 %) y la menor densidad de RWA (37 % y 35 %), que reduce el capital a inmovilizar.
</a:t>
            </a:r>
            <a:endParaRPr lang="en-US" sz="900" dirty="0"/>
          </a:p>
          <a:p>
            <a:pPr indent="0" marL="0">
              <a:buNone/>
            </a:pPr>
            <a:r>
              <a:rPr lang="en-US" sz="900" b="1" dirty="0">
                <a:solidFill>
                  <a:srgbClr val="2B2B2B"/>
                </a:solidFill>
                <a:latin typeface="Verdana" pitchFamily="34" charset="0"/>
                <a:ea typeface="Verdana" pitchFamily="34" charset="-122"/>
                <a:cs typeface="Verdana" pitchFamily="34" charset="-120"/>
              </a:rPr>
              <a:t>España queda en 12,4 %</a:t>
            </a:r>
            <a:endParaRPr lang="en-US" sz="900" dirty="0"/>
          </a:p>
          <a:p>
            <a:pPr indent="0" marL="0">
              <a:buNone/>
            </a:pPr>
            <a:r>
              <a:rPr lang="en-US" sz="900" dirty="0">
                <a:solidFill>
                  <a:srgbClr val="2B2B2B"/>
                </a:solidFill>
                <a:latin typeface="Verdana" pitchFamily="34" charset="0"/>
                <a:ea typeface="Verdana" pitchFamily="34" charset="-122"/>
                <a:cs typeface="Verdana" pitchFamily="34" charset="-120"/>
              </a:rPr>
              <a:t>con el precio más bajo, una densidad de RWA del 59,5 % y el 30 % de tipo que la banca paga en España.
</a:t>
            </a:r>
            <a:endParaRPr lang="en-US" sz="900" dirty="0"/>
          </a:p>
          <a:p>
            <a:pPr indent="0" marL="0">
              <a:buNone/>
            </a:pPr>
            <a:r>
              <a:rPr lang="en-US" sz="900" b="1" dirty="0">
                <a:solidFill>
                  <a:srgbClr val="2B2B2B"/>
                </a:solidFill>
                <a:latin typeface="Verdana" pitchFamily="34" charset="0"/>
                <a:ea typeface="Verdana" pitchFamily="34" charset="-122"/>
                <a:cs typeface="Verdana" pitchFamily="34" charset="-120"/>
              </a:rPr>
              <a:t>Irlanda queda cuarta</a:t>
            </a:r>
            <a:endParaRPr lang="en-US" sz="900" dirty="0"/>
          </a:p>
          <a:p>
            <a:pPr indent="0" marL="0">
              <a:buNone/>
            </a:pPr>
            <a:r>
              <a:rPr lang="en-US" sz="900" dirty="0">
                <a:solidFill>
                  <a:srgbClr val="2B2B2B"/>
                </a:solidFill>
                <a:latin typeface="Verdana" pitchFamily="34" charset="0"/>
                <a:ea typeface="Verdana" pitchFamily="34" charset="-122"/>
                <a:cs typeface="Verdana" pitchFamily="34" charset="-120"/>
              </a:rPr>
              <a:t>pese a la mayor densidad de RWA de los siete (70 %), gracias al 15 % de Pilar Dos frente al 26-30 % del resto.
</a:t>
            </a:r>
            <a:endParaRPr lang="en-US" sz="900" dirty="0"/>
          </a:p>
          <a:p>
            <a:pPr indent="0" marL="0">
              <a:buNone/>
            </a:pPr>
            <a:r>
              <a:rPr lang="en-US" sz="900" b="1" dirty="0">
                <a:solidFill>
                  <a:srgbClr val="2B2B2B"/>
                </a:solidFill>
                <a:latin typeface="Verdana" pitchFamily="34" charset="0"/>
                <a:ea typeface="Verdana" pitchFamily="34" charset="-122"/>
                <a:cs typeface="Verdana" pitchFamily="34" charset="-120"/>
              </a:rPr>
              <a:t>Francia queda última</a:t>
            </a:r>
            <a:endParaRPr lang="en-US" sz="900" dirty="0"/>
          </a:p>
          <a:p>
            <a:pPr indent="0" marL="0">
              <a:buNone/>
            </a:pPr>
            <a:r>
              <a:rPr lang="en-US" sz="900" dirty="0">
                <a:solidFill>
                  <a:srgbClr val="2B2B2B"/>
                </a:solidFill>
                <a:latin typeface="Verdana" pitchFamily="34" charset="0"/>
                <a:ea typeface="Verdana" pitchFamily="34" charset="-122"/>
                <a:cs typeface="Verdana" pitchFamily="34" charset="-120"/>
              </a:rPr>
              <a:t>con un 5,4 %: precio bajo, recursos caros y la peor eficiencia (65,6 %).</a:t>
            </a:r>
            <a:endParaRPr lang="en-US" sz="900" dirty="0"/>
          </a:p>
        </p:txBody>
      </p:sp>
      <p:sp>
        <p:nvSpPr>
          <p:cNvPr id="8" name="Text 5"/>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ROE modelizado, no observado. Depende del supuesto de comisiones: ver lámina siguiente. Tipo de sociedades aplicable a bancos: ES 30,0 (art. 29 LIS, entidades de crédito) · DE 30,1 · FR 25,8 · IT 27,8 · PT 29,5 · NL 25,8 · IE 15,0 (mínimo de Pilar Dos). En Francia, la contribución excepcional del 36,1 % para grupos de más de 1.500 M€ de cifra de negocio dejaría su ROE en 4,7 %.</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Sensibilidad al supuesto de comisiones</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Cuánto depende el ROE de la cuña que se asuma · Solo la columna de 87 pb está observada, y solo para España</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11091672" cy="914400"/>
        </p:xfrm>
        <a:graphic>
          <a:graphicData uri="http://schemas.openxmlformats.org/drawingml/2006/table">
            <a:tbl>
              <a:tblPr/>
              <a:tblGrid>
                <a:gridCol w="2468880"/>
                <a:gridCol w="1437437"/>
                <a:gridCol w="1437437"/>
                <a:gridCol w="1437437"/>
                <a:gridCol w="1437437"/>
                <a:gridCol w="1437437"/>
                <a:gridCol w="1437437"/>
              </a:tblGrid>
              <a:tr h="365760">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País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0 pb</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25 pb</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50 pb</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87 pb</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100 pb</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150 pb</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España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8.1 %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9.3 %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12.4 %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13.1 %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Alemania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17.2 %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17.9 %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20.5 %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Francia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4.0 %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5.4 %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5.9 %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7.8 %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Italia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10.7 %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13.3 %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15.3 %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18.6 %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Portugal</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11.3 %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13.9 %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14.4 %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P. Bajos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18.2 %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20.3 %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21.0 %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365760">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Irlanda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11.5 %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b="1" dirty="0">
                          <a:solidFill>
                            <a:srgbClr val="2B2B2B"/>
                          </a:solidFill>
                          <a:latin typeface="Verdana" pitchFamily="34" charset="0"/>
                          <a:ea typeface="Verdana" pitchFamily="34" charset="-122"/>
                          <a:cs typeface="Verdana" pitchFamily="34" charset="-120"/>
                        </a:rPr>
                        <a:t>13.9 %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14.3 %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15.7 %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bl>
          </a:graphicData>
        </a:graphic>
      </p:graphicFrame>
      <p:sp>
        <p:nvSpPr>
          <p:cNvPr id="5" name="Shape 2"/>
          <p:cNvSpPr/>
          <p:nvPr/>
        </p:nvSpPr>
        <p:spPr>
          <a:xfrm>
            <a:off x="548640" y="4800600"/>
            <a:ext cx="11091672" cy="1280160"/>
          </a:xfrm>
          <a:prstGeom prst="roundRect">
            <a:avLst>
              <a:gd name="adj" fmla="val 4286"/>
            </a:avLst>
          </a:prstGeom>
          <a:solidFill>
            <a:srgbClr val="FFD6BA"/>
          </a:solidFill>
          <a:ln w="12700">
            <a:solidFill>
              <a:srgbClr val="FFAB70"/>
            </a:solidFill>
            <a:prstDash val="solid"/>
          </a:ln>
        </p:spPr>
      </p:sp>
      <p:sp>
        <p:nvSpPr>
          <p:cNvPr id="6" name="Text 3"/>
          <p:cNvSpPr txBox="1"/>
          <p:nvPr/>
        </p:nvSpPr>
        <p:spPr>
          <a:xfrm>
            <a:off x="777240" y="4901184"/>
            <a:ext cx="10789920" cy="292608"/>
          </a:xfrm>
          <a:prstGeom prst="rect">
            <a:avLst/>
          </a:prstGeom>
          <a:noFill/>
          <a:ln/>
        </p:spPr>
        <p:txBody>
          <a:bodyPr wrap="square" lIns="0" tIns="0" rIns="0" bIns="0" rtlCol="0" anchor="ctr"/>
          <a:lstStyle/>
          <a:p>
            <a:pPr indent="0" marL="0">
              <a:buNone/>
            </a:pPr>
            <a:r>
              <a:rPr lang="en-US" sz="1400" b="1" dirty="0">
                <a:solidFill>
                  <a:srgbClr val="F56600"/>
                </a:solidFill>
                <a:latin typeface="Verdana" pitchFamily="34" charset="0"/>
                <a:ea typeface="Verdana" pitchFamily="34" charset="-122"/>
                <a:cs typeface="Verdana" pitchFamily="34" charset="-120"/>
              </a:rPr>
              <a:t>Lo que el supuesto cambia y lo que no</a:t>
            </a:r>
            <a:endParaRPr lang="en-US" sz="1400" dirty="0"/>
          </a:p>
        </p:txBody>
      </p:sp>
      <p:sp>
        <p:nvSpPr>
          <p:cNvPr id="7" name="Text 4"/>
          <p:cNvSpPr txBox="1"/>
          <p:nvPr/>
        </p:nvSpPr>
        <p:spPr>
          <a:xfrm>
            <a:off x="777240" y="5212080"/>
            <a:ext cx="10789920" cy="77724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El nivel del ROE se mueve mucho: España pasa del 3,5 % al 11,8 % según se asuma cero o 150 pb de comisión. El ordenamiento se mueve menos: Francia es último en todos los escenarios e Italia, Portugal y Países Bajos encabezan en todos. Lo que sí cambia es la posición relativa de España, que sube conforme se asume más comisión — y es el único país donde sabemos que la comisión es alta.</a:t>
            </a:r>
            <a:endParaRPr lang="en-US" sz="1100" dirty="0"/>
          </a:p>
        </p:txBody>
      </p:sp>
      <p:sp>
        <p:nvSpPr>
          <p:cNvPr id="8" name="Text 5"/>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87 pb es la cuña observada en España (TAE − TEDR, tramo ≤1 M€, media 2026, Banco de España). Para los otros cinco países no existe dato equivalente.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Simulación: entrante eficiente</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Un banco extranjero con sus propios ratios de balance, enfrentando el precio, el riesgo, el capital y la fiscalidad de cada mercado local</a:t>
            </a:r>
            <a:endParaRPr lang="en-US" sz="1100" dirty="0"/>
          </a:p>
        </p:txBody>
      </p:sp>
      <p:sp>
        <p:nvSpPr>
          <p:cNvPr id="4" name="Shape 2"/>
          <p:cNvSpPr/>
          <p:nvPr/>
        </p:nvSpPr>
        <p:spPr>
          <a:xfrm>
            <a:off x="548640" y="1572768"/>
            <a:ext cx="11091672" cy="475488"/>
          </a:xfrm>
          <a:prstGeom prst="roundRect">
            <a:avLst>
              <a:gd name="adj" fmla="val 11538"/>
            </a:avLst>
          </a:prstGeom>
          <a:solidFill>
            <a:srgbClr val="FFD6BA"/>
          </a:solidFill>
          <a:ln w="12700">
            <a:solidFill>
              <a:srgbClr val="FFAB70"/>
            </a:solidFill>
            <a:prstDash val="solid"/>
          </a:ln>
        </p:spPr>
      </p:sp>
      <p:sp>
        <p:nvSpPr>
          <p:cNvPr id="5" name="Text 3"/>
          <p:cNvSpPr txBox="1"/>
          <p:nvPr/>
        </p:nvSpPr>
        <p:spPr>
          <a:xfrm>
            <a:off x="777240" y="1673352"/>
            <a:ext cx="10789920" cy="292608"/>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Parámetros del entrante:   </a:t>
            </a:r>
            <a:pPr indent="0" marL="0">
              <a:buNone/>
            </a:pPr>
            <a:r>
              <a:rPr lang="en-US" sz="1000" dirty="0">
                <a:solidFill>
                  <a:srgbClr val="2B2B2B"/>
                </a:solidFill>
                <a:latin typeface="Verdana" pitchFamily="34" charset="0"/>
                <a:ea typeface="Verdana" pitchFamily="34" charset="-122"/>
                <a:cs typeface="Verdana" pitchFamily="34" charset="-120"/>
              </a:rPr>
              <a:t>coste de los recursos 0,80 %     ·     eficiencia 40 %     ·     CET1 12,9 %</a:t>
            </a:r>
            <a:pPr indent="0" marL="0">
              <a:buNone/>
            </a:pPr>
            <a:r>
              <a:rPr lang="en-US" sz="1000" dirty="0">
                <a:solidFill>
                  <a:srgbClr val="818181"/>
                </a:solidFill>
                <a:latin typeface="Verdana" pitchFamily="34" charset="0"/>
                <a:ea typeface="Verdana" pitchFamily="34" charset="-122"/>
                <a:cs typeface="Verdana" pitchFamily="34" charset="-120"/>
              </a:rPr>
              <a:t>          Del mercado local: precio, comisiones, PD × LGD, densidad de RWA y tipo impositivo.</a:t>
            </a:r>
            <a:endParaRPr lang="en-US" sz="1000" dirty="0"/>
          </a:p>
        </p:txBody>
      </p:sp>
      <p:graphicFrame>
        <p:nvGraphicFramePr>
          <p:cNvPr id="6" name="Chart 0" descr=""/>
          <p:cNvGraphicFramePr/>
          <p:nvPr/>
        </p:nvGraphicFramePr>
        <p:xfrm>
          <a:off x="548640" y="2194560"/>
          <a:ext cx="6949440" cy="315468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543800" y="2194560"/>
          <a:ext cx="4096512" cy="914400"/>
        </p:xfrm>
        <a:graphic>
          <a:graphicData uri="http://schemas.openxmlformats.org/drawingml/2006/table">
            <a:tbl>
              <a:tblPr/>
              <a:tblGrid>
                <a:gridCol w="1261872"/>
                <a:gridCol w="932688"/>
                <a:gridCol w="987552"/>
                <a:gridCol w="914400"/>
              </a:tblGrid>
              <a:tr h="310896">
                <a:tc>
                  <a:txBody>
                    <a:bodyPr/>
                    <a:lstStyle/>
                    <a:p>
                      <a:pPr algn="l" indent="0" marL="0">
                        <a:buNone/>
                      </a:pP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Local</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Entrante</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Gana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España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12.4 %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13.7 %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+1.2</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Alemania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17.2 %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35.0 %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+17.8</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Francia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5.4 %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21.8 %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+16.3</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Italia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15.3 %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21.6 %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+6.3</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Portugal</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13.9 %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16.9 %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+3.1</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P. Bajos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20.3 %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37.0 %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+16.7</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r>
              <a:tr h="31089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Irlanda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13.9 %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26.9 %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00" b="1" dirty="0">
                          <a:solidFill>
                            <a:srgbClr val="2B2B2B"/>
                          </a:solidFill>
                          <a:latin typeface="Verdana" pitchFamily="34" charset="0"/>
                          <a:ea typeface="Verdana" pitchFamily="34" charset="-122"/>
                          <a:cs typeface="Verdana" pitchFamily="34" charset="-120"/>
                        </a:rPr>
                        <a:t>+13.0</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r>
            </a:tbl>
          </a:graphicData>
        </a:graphic>
      </p:graphicFrame>
      <p:sp>
        <p:nvSpPr>
          <p:cNvPr id="8" name="Shape 4"/>
          <p:cNvSpPr/>
          <p:nvPr/>
        </p:nvSpPr>
        <p:spPr>
          <a:xfrm>
            <a:off x="7543800" y="4736592"/>
            <a:ext cx="4096512" cy="621792"/>
          </a:xfrm>
          <a:prstGeom prst="roundRect">
            <a:avLst>
              <a:gd name="adj" fmla="val 8824"/>
            </a:avLst>
          </a:prstGeom>
          <a:solidFill>
            <a:srgbClr val="E5E5E5"/>
          </a:solidFill>
          <a:ln w="12700">
            <a:solidFill>
              <a:srgbClr val="CACACA"/>
            </a:solidFill>
            <a:prstDash val="solid"/>
          </a:ln>
        </p:spPr>
      </p:sp>
      <p:sp>
        <p:nvSpPr>
          <p:cNvPr id="9" name="Text 5"/>
          <p:cNvSpPr txBox="1"/>
          <p:nvPr/>
        </p:nvSpPr>
        <p:spPr>
          <a:xfrm>
            <a:off x="7699248" y="4809744"/>
            <a:ext cx="3794760" cy="502920"/>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Ranking del entrante:</a:t>
            </a:r>
            <a:endParaRPr lang="en-US" sz="850" dirty="0"/>
          </a:p>
          <a:p>
            <a:pPr indent="0" marL="0">
              <a:buNone/>
            </a:pPr>
            <a:r>
              <a:rPr lang="en-US" sz="850" dirty="0">
                <a:solidFill>
                  <a:srgbClr val="2B2B2B"/>
                </a:solidFill>
                <a:latin typeface="Verdana" pitchFamily="34" charset="0"/>
                <a:ea typeface="Verdana" pitchFamily="34" charset="-122"/>
                <a:cs typeface="Verdana" pitchFamily="34" charset="-120"/>
              </a:rPr>
              <a:t>P. Bajos &gt; Alemania &gt; Irlanda &gt; Francia &gt; Italia &gt; Portugal &gt; España</a:t>
            </a:r>
            <a:endParaRPr lang="en-US" sz="850" dirty="0"/>
          </a:p>
        </p:txBody>
      </p:sp>
      <p:sp>
        <p:nvSpPr>
          <p:cNvPr id="10" name="Text 6"/>
          <p:cNvSpPr txBox="1"/>
          <p:nvPr/>
        </p:nvSpPr>
        <p:spPr>
          <a:xfrm>
            <a:off x="548640" y="5440680"/>
            <a:ext cx="11091672" cy="658368"/>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El orden de atractivo cambia por completo. </a:t>
            </a:r>
            <a:pPr indent="0" marL="0">
              <a:buNone/>
            </a:pPr>
            <a:r>
              <a:rPr lang="en-US" sz="1000" dirty="0">
                <a:solidFill>
                  <a:srgbClr val="2B2B2B"/>
                </a:solidFill>
                <a:latin typeface="Verdana" pitchFamily="34" charset="0"/>
                <a:ea typeface="Verdana" pitchFamily="34" charset="-122"/>
                <a:cs typeface="Verdana" pitchFamily="34" charset="-120"/>
              </a:rPr>
              <a:t>Francia pasa del último puesto (5,4 %) al cuarto (21,8 %) porque su banca local es la más ineficiente de las siete y la más cara en recursos: ahí es donde más vale entrar eficiente. España es justo lo contrario, solo gana 1,2 puntos, porque su banca ya es eficiente y sus recursos ya son baratos —el entrante incluso pagaría más— y sigue arrastrando una densidad de RWA del 59,5 % y el 30 % de impuesto.</a:t>
            </a:r>
            <a:endParaRPr lang="en-US" sz="1000" dirty="0"/>
          </a:p>
        </p:txBody>
      </p:sp>
      <p:sp>
        <p:nvSpPr>
          <p:cNvPr id="11" name="Text 7"/>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Escenario, no observación. Se mantienen del mercado local el precio (MIR), la cuña de comisiones supuesta, el coste del riesgo (PD × LGD), la densidad de RWA (Transparency Exercise) y el tipo impositivo de banca. Se sustituyen coste de los recursos, eficiencia y CET1 por los del entrante. No incorpora coste de entrada, escala mínima ni curva de aprendizaje de riesgo.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Coste de los recursos de empresa</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Depósitos de sociedades no financieras, ponderados por la mezcla real de saldos · Media 2026 · No es el coste de financiación del sistema: ver la franja inferior</a:t>
            </a:r>
            <a:endParaRPr lang="en-US" sz="1100" dirty="0"/>
          </a:p>
        </p:txBody>
      </p:sp>
      <p:graphicFrame>
        <p:nvGraphicFramePr>
          <p:cNvPr id="4" name="Chart 0" descr=""/>
          <p:cNvGraphicFramePr/>
          <p:nvPr/>
        </p:nvGraphicFramePr>
        <p:xfrm>
          <a:off x="548640" y="1691640"/>
          <a:ext cx="681228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52360" y="1691640"/>
          <a:ext cx="4187952" cy="914400"/>
        </p:xfrm>
        <a:graphic>
          <a:graphicData uri="http://schemas.openxmlformats.org/drawingml/2006/table">
            <a:tbl>
              <a:tblPr/>
              <a:tblGrid>
                <a:gridCol w="1170432"/>
                <a:gridCol w="731520"/>
                <a:gridCol w="731520"/>
                <a:gridCol w="786384"/>
                <a:gridCol w="768096"/>
              </a:tblGrid>
              <a:tr h="333756">
                <a:tc>
                  <a:txBody>
                    <a:bodyPr/>
                    <a:lstStyle/>
                    <a:p>
                      <a:pPr algn="l" indent="0" marL="0">
                        <a:buNone/>
                      </a:pP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Vista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Plazo</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 vista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50" b="1" dirty="0">
                          <a:solidFill>
                            <a:srgbClr val="FFFFFF"/>
                          </a:solidFill>
                          <a:latin typeface="Verdana" pitchFamily="34" charset="0"/>
                          <a:ea typeface="Verdana" pitchFamily="34" charset="-122"/>
                          <a:cs typeface="Verdana" pitchFamily="34" charset="-120"/>
                        </a:rPr>
                        <a:t>Ponderado</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España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0,44</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1,97</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79 %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0,76</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Alemania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0,72</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2,02</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71 %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1,09</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Francia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0,52</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2,26</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60 %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1,21</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Italia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0,56</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2,09</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89 %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0,74</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Portugal</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0,07</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1,83</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62 %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0,74</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P. Bajos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0,85</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2,01</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84 %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1,04</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33756">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Irlanda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0,10</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1,69</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83 %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b="1" dirty="0">
                          <a:solidFill>
                            <a:srgbClr val="F56600"/>
                          </a:solidFill>
                          <a:latin typeface="Verdana" pitchFamily="34" charset="0"/>
                          <a:ea typeface="Verdana" pitchFamily="34" charset="-122"/>
                          <a:cs typeface="Verdana" pitchFamily="34" charset="-120"/>
                        </a:rPr>
                        <a:t>0,37</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bl>
          </a:graphicData>
        </a:graphic>
      </p:graphicFrame>
      <p:sp>
        <p:nvSpPr>
          <p:cNvPr id="6" name="Shape 2"/>
          <p:cNvSpPr/>
          <p:nvPr/>
        </p:nvSpPr>
        <p:spPr>
          <a:xfrm>
            <a:off x="7452360" y="4425696"/>
            <a:ext cx="4187952" cy="640080"/>
          </a:xfrm>
          <a:prstGeom prst="roundRect">
            <a:avLst>
              <a:gd name="adj" fmla="val 8571"/>
            </a:avLst>
          </a:prstGeom>
          <a:solidFill>
            <a:srgbClr val="FFD6BA"/>
          </a:solidFill>
          <a:ln w="12700">
            <a:solidFill>
              <a:srgbClr val="FFAB70"/>
            </a:solidFill>
            <a:prstDash val="solid"/>
          </a:ln>
        </p:spPr>
      </p:sp>
      <p:sp>
        <p:nvSpPr>
          <p:cNvPr id="7" name="Text 3"/>
          <p:cNvSpPr txBox="1"/>
          <p:nvPr/>
        </p:nvSpPr>
        <p:spPr>
          <a:xfrm>
            <a:off x="7607808" y="4498848"/>
            <a:ext cx="3895344" cy="512064"/>
          </a:xfrm>
          <a:prstGeom prst="rect">
            <a:avLst/>
          </a:prstGeom>
          <a:noFill/>
          <a:ln/>
        </p:spPr>
        <p:txBody>
          <a:bodyPr wrap="square" lIns="0" tIns="0" rIns="0" bIns="0" rtlCol="0" anchor="ctr"/>
          <a:lstStyle/>
          <a:p>
            <a:pPr indent="0" marL="0">
              <a:buNone/>
            </a:pPr>
            <a:r>
              <a:rPr lang="en-US" sz="900" dirty="0">
                <a:solidFill>
                  <a:srgbClr val="2B2B2B"/>
                </a:solidFill>
                <a:latin typeface="Verdana" pitchFamily="34" charset="0"/>
                <a:ea typeface="Verdana" pitchFamily="34" charset="-122"/>
                <a:cs typeface="Verdana" pitchFamily="34" charset="-120"/>
              </a:rPr>
              <a:t>La mezcla decide, no el tipo: Italia paga un 0,56 % a la vista y España un 0,44 %, pero Italia tiene un 89 % en vista y acaba igual de barata. Irlanda capta los recursos más baratos, 0,37 %, y Francia los más caros, 1,21 %.</a:t>
            </a:r>
            <a:endParaRPr lang="en-US" sz="9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 y="5157216"/>
          <a:ext cx="11091672" cy="914400"/>
        </p:xfrm>
        <a:graphic>
          <a:graphicData uri="http://schemas.openxmlformats.org/drawingml/2006/table">
            <a:tbl>
              <a:tblPr/>
              <a:tblGrid>
                <a:gridCol w="3776472"/>
                <a:gridCol w="1045159"/>
                <a:gridCol w="1045159"/>
                <a:gridCol w="1045159"/>
                <a:gridCol w="1045159"/>
                <a:gridCol w="1045159"/>
                <a:gridCol w="1045159"/>
                <a:gridCol w="1045159"/>
              </a:tblGrid>
              <a:tr h="219456">
                <a:tc>
                  <a:txBody>
                    <a:bodyPr/>
                    <a:lstStyle/>
                    <a:p>
                      <a:pPr algn="l" indent="0" marL="0">
                        <a:buNone/>
                      </a:pP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España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Alemania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Francia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Italia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Portugal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 Bajos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Irlanda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219456">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Depósitos de empresa · lo que usa el modelo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0,76 %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1,09 %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1,21 %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0,74 %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0,74 %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1,04 %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0,37 %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9456">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Depósitos del sistema · empresas y hogares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0,49 %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0,93 %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1,19 %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0,64 %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0,80 %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1,18 %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0,36 %</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9456">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Diferencia, pb</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+27</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+17</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−14</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bl>
          </a:graphicData>
        </a:graphic>
      </p:graphicFrame>
      <p:sp>
        <p:nvSpPr>
          <p:cNvPr id="9" name="Text 4"/>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Fuentes: BCE, dataset MIR (tipos de depósito, nueva producción, serie de vencimiento total) y dataset BSI (saldos, para la ponderación). El coste que usa el modelo es el de los depósitos de SOCIEDADES NO FINANCIERAS (sector 2240), no el coste de financiación del sistema: los depósitos de empresa son solo entre el 22 % y el 34 % del depósito minorista de cada país, y el depósito del sistema tampoco incluye deuda emitida, repos, financiación del banco central ni capital. Facilidad de depósito del BCE al 2,09 %.</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Coste del riesgo = PD × LGD</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Parámetros IRB de la clase «Corporates – Of Which: SME» · Mediana de entidades declarantes · 2026-Q1 · Es la línea de riesgo de la cuenta de resultados</a:t>
            </a:r>
            <a:endParaRPr lang="en-US" sz="1100" dirty="0"/>
          </a:p>
        </p:txBody>
      </p:sp>
      <p:graphicFrame>
        <p:nvGraphicFramePr>
          <p:cNvPr id="4" name="Chart 0" descr=""/>
          <p:cNvGraphicFramePr/>
          <p:nvPr/>
        </p:nvGraphicFramePr>
        <p:xfrm>
          <a:off x="548640" y="1645920"/>
          <a:ext cx="649224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0" y="1645920"/>
          <a:ext cx="4325112" cy="914400"/>
        </p:xfrm>
        <a:graphic>
          <a:graphicData uri="http://schemas.openxmlformats.org/drawingml/2006/table">
            <a:tbl>
              <a:tblPr/>
              <a:tblGrid>
                <a:gridCol w="1463040"/>
                <a:gridCol w="932688"/>
                <a:gridCol w="932688"/>
                <a:gridCol w="996696"/>
              </a:tblGrid>
              <a:tr h="352044">
                <a:tc>
                  <a:txBody>
                    <a:bodyPr/>
                    <a:lstStyle/>
                    <a:p>
                      <a:pPr algn="l" indent="0" marL="0">
                        <a:buNone/>
                      </a:pP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PD</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LGD</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PD × LGD</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España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1.73 %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34.4 %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0.59 %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Alemania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1.26 %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31.4 %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0.40 %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Francia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2.15 %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31.5 %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0.68 %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Italia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2.26 %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35.6 %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0.80 %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Portugal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1.26 %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40.0 %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0.50 %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P. Bajos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1.18 %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29.7 %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0.35 %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5204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Irlanda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1.08 %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dirty="0">
                          <a:solidFill>
                            <a:srgbClr val="2B2B2B"/>
                          </a:solidFill>
                          <a:latin typeface="Verdana" pitchFamily="34" charset="0"/>
                          <a:ea typeface="Verdana" pitchFamily="34" charset="-122"/>
                          <a:cs typeface="Verdana" pitchFamily="34" charset="-120"/>
                        </a:rPr>
                        <a:t>37.3 %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0.40 %</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bl>
          </a:graphicData>
        </a:graphic>
      </p:graphicFrame>
      <p:sp>
        <p:nvSpPr>
          <p:cNvPr id="6" name="Text 2"/>
          <p:cNvSpPr txBox="1"/>
          <p:nvPr/>
        </p:nvSpPr>
        <p:spPr>
          <a:xfrm>
            <a:off x="548640" y="5303520"/>
            <a:ext cx="11091672" cy="411480"/>
          </a:xfrm>
          <a:prstGeom prst="rect">
            <a:avLst/>
          </a:prstGeom>
          <a:noFill/>
          <a:ln/>
        </p:spPr>
        <p:txBody>
          <a:bodyPr wrap="square" lIns="0" tIns="0" rIns="0" bIns="0" rtlCol="0" anchor="ctr"/>
          <a:lstStyle/>
          <a:p>
            <a:pPr indent="0" marL="0">
              <a:buNone/>
            </a:pPr>
            <a:r>
              <a:rPr lang="en-US" sz="1050" b="1" dirty="0">
                <a:solidFill>
                  <a:srgbClr val="2B2B2B"/>
                </a:solidFill>
                <a:latin typeface="Verdana" pitchFamily="34" charset="0"/>
                <a:ea typeface="Verdana" pitchFamily="34" charset="-122"/>
                <a:cs typeface="Verdana" pitchFamily="34" charset="-120"/>
              </a:rPr>
              <a:t>Fórmula: </a:t>
            </a:r>
            <a:pPr indent="0" marL="0">
              <a:buNone/>
            </a:pPr>
            <a:r>
              <a:rPr lang="en-US" sz="1050" dirty="0">
                <a:solidFill>
                  <a:srgbClr val="2B2B2B"/>
                </a:solidFill>
                <a:latin typeface="Verdana" pitchFamily="34" charset="0"/>
                <a:ea typeface="Verdana" pitchFamily="34" charset="-122"/>
                <a:cs typeface="Verdana" pitchFamily="34" charset="-120"/>
              </a:rPr>
              <a:t>coste del riesgo = PD (probabilidad de impago a un año) × LGD (severidad de la pérdida). Ejemplo España: 1,73 % × 34,38 % = 0,59 %. Es pérdida esperada anual sobre el saldo, no el stock de dudosos de la lámina anterior.</a:t>
            </a:r>
            <a:endParaRPr lang="en-US" sz="1050" dirty="0"/>
          </a:p>
        </p:txBody>
      </p:sp>
      <p:sp>
        <p:nvSpPr>
          <p:cNvPr id="7" name="Text 3"/>
          <p:cNvSpPr txBox="1"/>
          <p:nvPr/>
        </p:nvSpPr>
        <p:spPr>
          <a:xfrm>
            <a:off x="548640" y="5742432"/>
            <a:ext cx="11091672" cy="32004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Italia tiene la peor combinación y Países Bajos la mejor. Irlanda tiene la PD más baja de los siete, 1,08 %, pero una LGD del 37,3 %.</a:t>
            </a:r>
            <a:endParaRPr lang="en-US" sz="1050" dirty="0"/>
          </a:p>
        </p:txBody>
      </p:sp>
      <p:sp>
        <p:nvSpPr>
          <p:cNvPr id="8" name="Text 4"/>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EBA, anexo de parámetros de riesgo del Risk Dashboard Q1 2026, origen COREP C 9.02. Se usa la mediana de entidades y no la media ponderada, que se deja arrastrar por carteras grandes con parámetros extremos.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Infraestructura de información crediticia de PYME</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Lo que un prestamista puede saber antes de conceder · Evidencia documental, no estadística</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1672" cy="914400"/>
        </p:xfrm>
        <a:graphic>
          <a:graphicData uri="http://schemas.openxmlformats.org/drawingml/2006/table">
            <a:tbl>
              <a:tblPr/>
              <a:tblGrid>
                <a:gridCol w="1143000"/>
                <a:gridCol w="1874520"/>
                <a:gridCol w="1572768"/>
                <a:gridCol w="2487168"/>
                <a:gridCol w="2487168"/>
                <a:gridCol w="1527048"/>
              </a:tblGrid>
              <a:tr h="402336">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País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Registro público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Umbral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Bureaus privados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Cuentas depositadas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PD PYME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España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CIRBE (BdE)</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1.000 €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Informa D&amp;B, Axesor, Iberinform</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Registro Mercantil, depósito obligatorio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1,73 %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Alemania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Millionenkredite</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i="1" dirty="0">
                          <a:solidFill>
                            <a:srgbClr val="818181"/>
                          </a:solidFill>
                          <a:latin typeface="Verdana" pitchFamily="34" charset="0"/>
                          <a:ea typeface="Verdana" pitchFamily="34" charset="-122"/>
                          <a:cs typeface="Verdana" pitchFamily="34" charset="-120"/>
                        </a:rPr>
                        <a:t>1.000.000 €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Creditreform, Schufa, CRIF</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Bundesanzeiger, obligatorio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1,26 %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Francia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FIBEN + cotación BdF</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adhesión I-FIBEN</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Altares D&amp;B, Ellisphere, Coface</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Confidencialidad opcional para micro y pequeña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2,15 %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Italia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Centrale dei Rischi</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30.000 €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Cerved, CRIF</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Registro Imprese, obligatorio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2,26 %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Portugal</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CRC (BdP)</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50 €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Informa D&amp;B, Iberinform</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IES, obligatorio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1,26 %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 Bajos</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no existe para empresas</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i="1" dirty="0">
                          <a:solidFill>
                            <a:srgbClr val="818181"/>
                          </a:solidFill>
                          <a:latin typeface="Verdana" pitchFamily="34" charset="0"/>
                          <a:ea typeface="Verdana" pitchFamily="34" charset="-122"/>
                          <a:cs typeface="Verdana" pitchFamily="34" charset="-120"/>
                        </a:rPr>
                        <a:t>—</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Graydon (desde 1888), Altares D&amp;B</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KvK, abreviado para pequeñas</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1,18 %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402336">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Irlanda</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Central Credit Register</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500 €, consulta obligatoria &gt;2.000 €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Vision-net, CRIF, Creditsafe</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dirty="0">
                          <a:solidFill>
                            <a:srgbClr val="2B2B2B"/>
                          </a:solidFill>
                          <a:latin typeface="Verdana" pitchFamily="34" charset="0"/>
                          <a:ea typeface="Verdana" pitchFamily="34" charset="-122"/>
                          <a:cs typeface="Verdana" pitchFamily="34" charset="-120"/>
                        </a:rPr>
                        <a:t>CRO, obligatorio</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1,08 %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bl>
          </a:graphicData>
        </a:graphic>
      </p:graphicFrame>
      <p:sp>
        <p:nvSpPr>
          <p:cNvPr id="5" name="Shape 2"/>
          <p:cNvSpPr/>
          <p:nvPr/>
        </p:nvSpPr>
        <p:spPr>
          <a:xfrm>
            <a:off x="548640" y="4754880"/>
            <a:ext cx="11091672" cy="1325880"/>
          </a:xfrm>
          <a:prstGeom prst="roundRect">
            <a:avLst>
              <a:gd name="adj" fmla="val 4138"/>
            </a:avLst>
          </a:prstGeom>
          <a:solidFill>
            <a:srgbClr val="FFD6BA"/>
          </a:solidFill>
          <a:ln w="12700">
            <a:solidFill>
              <a:srgbClr val="FFAB70"/>
            </a:solidFill>
            <a:prstDash val="solid"/>
          </a:ln>
        </p:spPr>
      </p:sp>
      <p:sp>
        <p:nvSpPr>
          <p:cNvPr id="6" name="Text 3"/>
          <p:cNvSpPr txBox="1"/>
          <p:nvPr/>
        </p:nvSpPr>
        <p:spPr>
          <a:xfrm>
            <a:off x="777240" y="4846320"/>
            <a:ext cx="10789920" cy="256032"/>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registro público NO explica la PD observada</a:t>
            </a:r>
            <a:endParaRPr lang="en-US" sz="1250" dirty="0"/>
          </a:p>
        </p:txBody>
      </p:sp>
      <p:sp>
        <p:nvSpPr>
          <p:cNvPr id="7" name="Text 4"/>
          <p:cNvSpPr txBox="1"/>
          <p:nvPr/>
        </p:nvSpPr>
        <p:spPr>
          <a:xfrm>
            <a:off x="777240" y="5138928"/>
            <a:ext cx="10789920" cy="868680"/>
          </a:xfrm>
          <a:prstGeom prst="rect">
            <a:avLst/>
          </a:prstGeom>
          <a:noFill/>
          <a:ln/>
        </p:spPr>
        <p:txBody>
          <a:bodyPr wrap="square" lIns="0" tIns="0" rIns="0" bIns="0" rtlCol="0" anchor="ctr"/>
          <a:lstStyle/>
          <a:p>
            <a:pPr indent="0" marL="0">
              <a:buNone/>
            </a:pPr>
            <a:r>
              <a:rPr lang="en-US" sz="950" dirty="0">
                <a:solidFill>
                  <a:srgbClr val="2B2B2B"/>
                </a:solidFill>
                <a:latin typeface="Verdana" pitchFamily="34" charset="0"/>
                <a:ea typeface="Verdana" pitchFamily="34" charset="-122"/>
                <a:cs typeface="Verdana" pitchFamily="34" charset="-120"/>
              </a:rPr>
              <a:t>Los dos países con el registro público más débil para PYME —Alemania, que solo cubre exposiciones de más de un millón, y Países Bajos, que no tiene registro de empresas— son los que registran la PD más baja junto con Irlanda. Y España, con uno de los umbrales más bajos de Europa (1.000 €), tiene una PD de 1,73 %. Lo que sí acompaña a las PD bajas es la profundidad del bureau privado (Creditreform en Alemania, Graydon en Países Bajos, activo desde 1888) y la disponibilidad real de cuentas depositadas. Francia arrastra un lastre propio: micro y pequeñas empresas pueden declarar sus cuentas confidenciales, de modo que un entrante sin adhesión a I-FIBEN entra a ciegas.</a:t>
            </a:r>
            <a:endParaRPr lang="en-US" sz="950" dirty="0"/>
          </a:p>
        </p:txBody>
      </p:sp>
      <p:sp>
        <p:nvSpPr>
          <p:cNvPr id="8" name="Text 5"/>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Fuentes: Banco de España (CIRBE), Banca d'Italia (Centrale dei Rischi), Banco de Portugal (CRC), Central Bank of Ireland (Central Credit Register), Deutsche Bundesbank (Millionenkredite), Banque de France (FIBEN). Umbrales vigentes 2026. Correlación sobre siete países: indicativa, no causal.</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Los dos ejes: información selecciona, recobro recupera</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Índice construido sobre Doing Business 2020 y normativa vigente · 100 = el mejor de los siete, no un óptimo absoluto</a:t>
            </a:r>
            <a:endParaRPr lang="en-US" sz="1100" dirty="0"/>
          </a:p>
        </p:txBody>
      </p:sp>
      <p:sp>
        <p:nvSpPr>
          <p:cNvPr id="4" name="Shape 2"/>
          <p:cNvSpPr/>
          <p:nvPr/>
        </p:nvSpPr>
        <p:spPr>
          <a:xfrm>
            <a:off x="1051560" y="1645920"/>
            <a:ext cx="5806440" cy="3703320"/>
          </a:xfrm>
          <a:prstGeom prst="rect">
            <a:avLst/>
          </a:prstGeom>
          <a:solidFill>
            <a:srgbClr val="FFFFFF"/>
          </a:solidFill>
          <a:ln w="9525">
            <a:solidFill>
              <a:srgbClr val="CACACA"/>
            </a:solidFill>
            <a:prstDash val="solid"/>
          </a:ln>
        </p:spPr>
      </p:sp>
      <p:sp>
        <p:nvSpPr>
          <p:cNvPr id="5" name="Shape 3"/>
          <p:cNvSpPr/>
          <p:nvPr/>
        </p:nvSpPr>
        <p:spPr>
          <a:xfrm>
            <a:off x="3954780" y="1645920"/>
            <a:ext cx="2903220" cy="1851660"/>
          </a:xfrm>
          <a:prstGeom prst="rect">
            <a:avLst/>
          </a:prstGeom>
          <a:solidFill>
            <a:srgbClr val="FFD6BA"/>
          </a:solidFill>
          <a:ln w="12700">
            <a:solidFill>
              <a:srgbClr val="FFFFFF"/>
            </a:solidFill>
            <a:prstDash val="solid"/>
          </a:ln>
        </p:spPr>
      </p:sp>
      <p:sp>
        <p:nvSpPr>
          <p:cNvPr id="6" name="Shape 4"/>
          <p:cNvSpPr/>
          <p:nvPr/>
        </p:nvSpPr>
        <p:spPr>
          <a:xfrm>
            <a:off x="1051560" y="3497580"/>
            <a:ext cx="2903220" cy="1851660"/>
          </a:xfrm>
          <a:prstGeom prst="rect">
            <a:avLst/>
          </a:prstGeom>
          <a:solidFill>
            <a:srgbClr val="E5E5E5"/>
          </a:solidFill>
          <a:ln w="12700">
            <a:solidFill>
              <a:srgbClr val="FFFFFF"/>
            </a:solidFill>
            <a:prstDash val="solid"/>
          </a:ln>
        </p:spPr>
      </p:sp>
      <p:sp>
        <p:nvSpPr>
          <p:cNvPr id="7" name="Shape 5"/>
          <p:cNvSpPr/>
          <p:nvPr/>
        </p:nvSpPr>
        <p:spPr>
          <a:xfrm>
            <a:off x="3954780" y="1645920"/>
            <a:ext cx="0" cy="3703320"/>
          </a:xfrm>
          <a:prstGeom prst="line">
            <a:avLst/>
          </a:prstGeom>
          <a:noFill/>
          <a:ln w="9525">
            <a:solidFill>
              <a:srgbClr val="CACACA"/>
            </a:solidFill>
            <a:prstDash val="dash"/>
          </a:ln>
        </p:spPr>
      </p:sp>
      <p:sp>
        <p:nvSpPr>
          <p:cNvPr id="8" name="Shape 6"/>
          <p:cNvSpPr/>
          <p:nvPr/>
        </p:nvSpPr>
        <p:spPr>
          <a:xfrm>
            <a:off x="1051560" y="3497580"/>
            <a:ext cx="5806440" cy="0"/>
          </a:xfrm>
          <a:prstGeom prst="line">
            <a:avLst/>
          </a:prstGeom>
          <a:noFill/>
          <a:ln w="9525">
            <a:solidFill>
              <a:srgbClr val="CACACA"/>
            </a:solidFill>
            <a:prstDash val="dash"/>
          </a:ln>
        </p:spPr>
      </p:sp>
      <p:sp>
        <p:nvSpPr>
          <p:cNvPr id="9" name="Text 7"/>
          <p:cNvSpPr txBox="1"/>
          <p:nvPr/>
        </p:nvSpPr>
        <p:spPr>
          <a:xfrm>
            <a:off x="4027932" y="1700784"/>
            <a:ext cx="2651760" cy="182880"/>
          </a:xfrm>
          <a:prstGeom prst="rect">
            <a:avLst/>
          </a:prstGeom>
          <a:noFill/>
          <a:ln/>
        </p:spPr>
        <p:txBody>
          <a:bodyPr wrap="square" lIns="0" tIns="0" rIns="0" bIns="0" rtlCol="0" anchor="ctr"/>
          <a:lstStyle/>
          <a:p>
            <a:pPr indent="0" marL="0">
              <a:buNone/>
            </a:pPr>
            <a:r>
              <a:rPr lang="en-US" sz="700" i="1" dirty="0">
                <a:solidFill>
                  <a:srgbClr val="A1A1A1"/>
                </a:solidFill>
                <a:latin typeface="Verdana" pitchFamily="34" charset="0"/>
                <a:ea typeface="Verdana" pitchFamily="34" charset="-122"/>
                <a:cs typeface="Verdana" pitchFamily="34" charset="-120"/>
              </a:rPr>
              <a:t>info alta · recobro alto</a:t>
            </a:r>
            <a:endParaRPr lang="en-US" sz="700" dirty="0"/>
          </a:p>
        </p:txBody>
      </p:sp>
      <p:sp>
        <p:nvSpPr>
          <p:cNvPr id="10" name="Text 8"/>
          <p:cNvSpPr txBox="1"/>
          <p:nvPr/>
        </p:nvSpPr>
        <p:spPr>
          <a:xfrm>
            <a:off x="1124712" y="1700784"/>
            <a:ext cx="2651760" cy="182880"/>
          </a:xfrm>
          <a:prstGeom prst="rect">
            <a:avLst/>
          </a:prstGeom>
          <a:noFill/>
          <a:ln/>
        </p:spPr>
        <p:txBody>
          <a:bodyPr wrap="square" lIns="0" tIns="0" rIns="0" bIns="0" rtlCol="0" anchor="ctr"/>
          <a:lstStyle/>
          <a:p>
            <a:pPr indent="0" marL="0">
              <a:buNone/>
            </a:pPr>
            <a:r>
              <a:rPr lang="en-US" sz="700" i="1" dirty="0">
                <a:solidFill>
                  <a:srgbClr val="A1A1A1"/>
                </a:solidFill>
                <a:latin typeface="Verdana" pitchFamily="34" charset="0"/>
                <a:ea typeface="Verdana" pitchFamily="34" charset="-122"/>
                <a:cs typeface="Verdana" pitchFamily="34" charset="-120"/>
              </a:rPr>
              <a:t>info baja · recobro alto</a:t>
            </a:r>
            <a:endParaRPr lang="en-US" sz="700" dirty="0"/>
          </a:p>
        </p:txBody>
      </p:sp>
      <p:sp>
        <p:nvSpPr>
          <p:cNvPr id="11" name="Text 9"/>
          <p:cNvSpPr txBox="1"/>
          <p:nvPr/>
        </p:nvSpPr>
        <p:spPr>
          <a:xfrm>
            <a:off x="4027932" y="5111496"/>
            <a:ext cx="2651760" cy="182880"/>
          </a:xfrm>
          <a:prstGeom prst="rect">
            <a:avLst/>
          </a:prstGeom>
          <a:noFill/>
          <a:ln/>
        </p:spPr>
        <p:txBody>
          <a:bodyPr wrap="square" lIns="0" tIns="0" rIns="0" bIns="0" rtlCol="0" anchor="ctr"/>
          <a:lstStyle/>
          <a:p>
            <a:pPr indent="0" marL="0">
              <a:buNone/>
            </a:pPr>
            <a:r>
              <a:rPr lang="en-US" sz="700" i="1" dirty="0">
                <a:solidFill>
                  <a:srgbClr val="A1A1A1"/>
                </a:solidFill>
                <a:latin typeface="Verdana" pitchFamily="34" charset="0"/>
                <a:ea typeface="Verdana" pitchFamily="34" charset="-122"/>
                <a:cs typeface="Verdana" pitchFamily="34" charset="-120"/>
              </a:rPr>
              <a:t>info alta · recobro bajo</a:t>
            </a:r>
            <a:endParaRPr lang="en-US" sz="700" dirty="0"/>
          </a:p>
        </p:txBody>
      </p:sp>
      <p:sp>
        <p:nvSpPr>
          <p:cNvPr id="12" name="Text 10"/>
          <p:cNvSpPr txBox="1"/>
          <p:nvPr/>
        </p:nvSpPr>
        <p:spPr>
          <a:xfrm>
            <a:off x="1124712" y="5111496"/>
            <a:ext cx="2651760" cy="182880"/>
          </a:xfrm>
          <a:prstGeom prst="rect">
            <a:avLst/>
          </a:prstGeom>
          <a:noFill/>
          <a:ln/>
        </p:spPr>
        <p:txBody>
          <a:bodyPr wrap="square" lIns="0" tIns="0" rIns="0" bIns="0" rtlCol="0" anchor="ctr"/>
          <a:lstStyle/>
          <a:p>
            <a:pPr indent="0" marL="0">
              <a:buNone/>
            </a:pPr>
            <a:r>
              <a:rPr lang="en-US" sz="700" i="1" dirty="0">
                <a:solidFill>
                  <a:srgbClr val="A1A1A1"/>
                </a:solidFill>
                <a:latin typeface="Verdana" pitchFamily="34" charset="0"/>
                <a:ea typeface="Verdana" pitchFamily="34" charset="-122"/>
                <a:cs typeface="Verdana" pitchFamily="34" charset="-120"/>
              </a:rPr>
              <a:t>info baja · recobro bajo</a:t>
            </a:r>
            <a:endParaRPr lang="en-US" sz="700" dirty="0"/>
          </a:p>
        </p:txBody>
      </p:sp>
      <p:sp>
        <p:nvSpPr>
          <p:cNvPr id="13" name="Text 11"/>
          <p:cNvSpPr txBox="1"/>
          <p:nvPr/>
        </p:nvSpPr>
        <p:spPr>
          <a:xfrm>
            <a:off x="1051560" y="5422392"/>
            <a:ext cx="5806440" cy="201168"/>
          </a:xfrm>
          <a:prstGeom prst="rect">
            <a:avLst/>
          </a:prstGeom>
          <a:noFill/>
          <a:ln/>
        </p:spPr>
        <p:txBody>
          <a:bodyPr wrap="square" lIns="0" tIns="0" rIns="0" bIns="0" rtlCol="0" anchor="ctr"/>
          <a:lstStyle/>
          <a:p>
            <a:pPr algn="ctr" indent="0" marL="0">
              <a:buNone/>
            </a:pPr>
            <a:r>
              <a:rPr lang="en-US" sz="900" b="1" dirty="0">
                <a:solidFill>
                  <a:srgbClr val="2B2B2B"/>
                </a:solidFill>
                <a:latin typeface="Verdana" pitchFamily="34" charset="0"/>
                <a:ea typeface="Verdana" pitchFamily="34" charset="-122"/>
                <a:cs typeface="Verdana" pitchFamily="34" charset="-120"/>
              </a:rPr>
              <a:t>Índice de información para seleccionar  →  gobierna la PD</a:t>
            </a:r>
            <a:endParaRPr lang="en-US" sz="900" dirty="0"/>
          </a:p>
        </p:txBody>
      </p:sp>
      <p:sp>
        <p:nvSpPr>
          <p:cNvPr id="14" name="Text 12"/>
          <p:cNvSpPr txBox="1"/>
          <p:nvPr/>
        </p:nvSpPr>
        <p:spPr>
          <a:xfrm>
            <a:off x="493776" y="2606040"/>
            <a:ext cx="566928" cy="1737360"/>
          </a:xfrm>
          <a:prstGeom prst="rect">
            <a:avLst/>
          </a:prstGeom>
          <a:noFill/>
          <a:ln/>
        </p:spPr>
        <p:txBody>
          <a:bodyPr wrap="square" lIns="0" tIns="0" rIns="0" bIns="0" rtlCol="0" anchor="ctr"/>
          <a:lstStyle/>
          <a:p>
            <a:pPr algn="ctr" indent="0" marL="0">
              <a:lnSpc>
                <a:spcPct val="95000"/>
              </a:lnSpc>
              <a:buNone/>
            </a:pPr>
            <a:r>
              <a:rPr lang="en-US" sz="800" b="1" dirty="0">
                <a:solidFill>
                  <a:srgbClr val="2B2B2B"/>
                </a:solidFill>
                <a:latin typeface="Verdana" pitchFamily="34" charset="0"/>
                <a:ea typeface="Verdana" pitchFamily="34" charset="-122"/>
                <a:cs typeface="Verdana" pitchFamily="34" charset="-120"/>
              </a:rPr>
              <a:t>Índice de</a:t>
            </a:r>
            <a:endParaRPr lang="en-US" sz="800" dirty="0"/>
          </a:p>
          <a:p>
            <a:pPr algn="ctr" indent="0" marL="0">
              <a:lnSpc>
                <a:spcPct val="95000"/>
              </a:lnSpc>
              <a:buNone/>
            </a:pPr>
            <a:r>
              <a:rPr lang="en-US" sz="800" b="1" dirty="0">
                <a:solidFill>
                  <a:srgbClr val="2B2B2B"/>
                </a:solidFill>
                <a:latin typeface="Verdana" pitchFamily="34" charset="0"/>
                <a:ea typeface="Verdana" pitchFamily="34" charset="-122"/>
                <a:cs typeface="Verdana" pitchFamily="34" charset="-120"/>
              </a:rPr>
              <a:t>entorno de</a:t>
            </a:r>
            <a:endParaRPr lang="en-US" sz="800" dirty="0"/>
          </a:p>
          <a:p>
            <a:pPr algn="ctr" indent="0" marL="0">
              <a:lnSpc>
                <a:spcPct val="95000"/>
              </a:lnSpc>
              <a:buNone/>
            </a:pPr>
            <a:r>
              <a:rPr lang="en-US" sz="800" b="1" dirty="0">
                <a:solidFill>
                  <a:srgbClr val="2B2B2B"/>
                </a:solidFill>
                <a:latin typeface="Verdana" pitchFamily="34" charset="0"/>
                <a:ea typeface="Verdana" pitchFamily="34" charset="-122"/>
                <a:cs typeface="Verdana" pitchFamily="34" charset="-120"/>
              </a:rPr>
              <a:t>recobro</a:t>
            </a:r>
            <a:endParaRPr lang="en-US" sz="800" dirty="0"/>
          </a:p>
          <a:p>
            <a:pPr algn="ctr" indent="0" marL="0">
              <a:lnSpc>
                <a:spcPct val="95000"/>
              </a:lnSpc>
              <a:buNone/>
            </a:pPr>
            <a:r>
              <a:rPr lang="en-US" sz="800" b="1" dirty="0">
                <a:solidFill>
                  <a:srgbClr val="2B2B2B"/>
                </a:solidFill>
                <a:latin typeface="Verdana" pitchFamily="34" charset="0"/>
                <a:ea typeface="Verdana" pitchFamily="34" charset="-122"/>
                <a:cs typeface="Verdana" pitchFamily="34" charset="-120"/>
              </a:rPr>
              <a:t>↑</a:t>
            </a:r>
            <a:endParaRPr lang="en-US" sz="800" dirty="0"/>
          </a:p>
          <a:p>
            <a:pPr algn="ctr" indent="0" marL="0">
              <a:lnSpc>
                <a:spcPct val="95000"/>
              </a:lnSpc>
              <a:buNone/>
            </a:pPr>
            <a:r>
              <a:rPr lang="en-US" sz="800" b="1" dirty="0">
                <a:solidFill>
                  <a:srgbClr val="2B2B2B"/>
                </a:solidFill>
                <a:latin typeface="Verdana" pitchFamily="34" charset="0"/>
                <a:ea typeface="Verdana" pitchFamily="34" charset="-122"/>
                <a:cs typeface="Verdana" pitchFamily="34" charset="-120"/>
              </a:rPr>
              <a:t>gobierna</a:t>
            </a:r>
            <a:endParaRPr lang="en-US" sz="800" dirty="0"/>
          </a:p>
          <a:p>
            <a:pPr algn="ctr" indent="0" marL="0">
              <a:lnSpc>
                <a:spcPct val="95000"/>
              </a:lnSpc>
              <a:buNone/>
            </a:pPr>
            <a:r>
              <a:rPr lang="en-US" sz="800" b="1" dirty="0">
                <a:solidFill>
                  <a:srgbClr val="2B2B2B"/>
                </a:solidFill>
                <a:latin typeface="Verdana" pitchFamily="34" charset="0"/>
                <a:ea typeface="Verdana" pitchFamily="34" charset="-122"/>
                <a:cs typeface="Verdana" pitchFamily="34" charset="-120"/>
              </a:rPr>
              <a:t>la LGD</a:t>
            </a:r>
            <a:endParaRPr lang="en-US" sz="800" dirty="0"/>
          </a:p>
        </p:txBody>
      </p:sp>
      <p:sp>
        <p:nvSpPr>
          <p:cNvPr id="15" name="Shape 13"/>
          <p:cNvSpPr/>
          <p:nvPr/>
        </p:nvSpPr>
        <p:spPr>
          <a:xfrm>
            <a:off x="4474616" y="3045775"/>
            <a:ext cx="474574" cy="474574"/>
          </a:xfrm>
          <a:prstGeom prst="ellipse">
            <a:avLst/>
          </a:prstGeom>
          <a:solidFill>
            <a:srgbClr val="FFAB70"/>
          </a:solidFill>
          <a:ln w="9525">
            <a:solidFill>
              <a:srgbClr val="2B2B2B"/>
            </a:solidFill>
            <a:prstDash val="solid"/>
          </a:ln>
        </p:spPr>
      </p:sp>
      <p:sp>
        <p:nvSpPr>
          <p:cNvPr id="16" name="Text 14"/>
          <p:cNvSpPr txBox="1"/>
          <p:nvPr/>
        </p:nvSpPr>
        <p:spPr>
          <a:xfrm>
            <a:off x="3194456" y="3177906"/>
            <a:ext cx="1234440" cy="210312"/>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España  1,73 %</a:t>
            </a:r>
            <a:endParaRPr lang="en-US" sz="850" dirty="0"/>
          </a:p>
        </p:txBody>
      </p:sp>
      <p:sp>
        <p:nvSpPr>
          <p:cNvPr id="17" name="Shape 15"/>
          <p:cNvSpPr/>
          <p:nvPr/>
        </p:nvSpPr>
        <p:spPr>
          <a:xfrm>
            <a:off x="5096408" y="2662276"/>
            <a:ext cx="345643" cy="345643"/>
          </a:xfrm>
          <a:prstGeom prst="ellipse">
            <a:avLst/>
          </a:prstGeom>
          <a:solidFill>
            <a:srgbClr val="77BFEE"/>
          </a:solidFill>
          <a:ln w="9525">
            <a:solidFill>
              <a:srgbClr val="2B2B2B"/>
            </a:solidFill>
            <a:prstDash val="solid"/>
          </a:ln>
        </p:spPr>
      </p:sp>
      <p:sp>
        <p:nvSpPr>
          <p:cNvPr id="18" name="Text 16"/>
          <p:cNvSpPr txBox="1"/>
          <p:nvPr/>
        </p:nvSpPr>
        <p:spPr>
          <a:xfrm>
            <a:off x="3816248" y="2729941"/>
            <a:ext cx="1234440" cy="210312"/>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Alemania  1,26 %</a:t>
            </a:r>
            <a:endParaRPr lang="en-US" sz="850" dirty="0"/>
          </a:p>
        </p:txBody>
      </p:sp>
      <p:sp>
        <p:nvSpPr>
          <p:cNvPr id="19" name="Shape 17"/>
          <p:cNvSpPr/>
          <p:nvPr/>
        </p:nvSpPr>
        <p:spPr>
          <a:xfrm>
            <a:off x="1909039" y="3265780"/>
            <a:ext cx="589788" cy="589788"/>
          </a:xfrm>
          <a:prstGeom prst="ellipse">
            <a:avLst/>
          </a:prstGeom>
          <a:solidFill>
            <a:srgbClr val="FF8AC2"/>
          </a:solidFill>
          <a:ln w="9525">
            <a:solidFill>
              <a:srgbClr val="2B2B2B"/>
            </a:solidFill>
            <a:prstDash val="solid"/>
          </a:ln>
        </p:spPr>
      </p:sp>
      <p:sp>
        <p:nvSpPr>
          <p:cNvPr id="20" name="Text 18"/>
          <p:cNvSpPr txBox="1"/>
          <p:nvPr/>
        </p:nvSpPr>
        <p:spPr>
          <a:xfrm>
            <a:off x="2544547" y="3455518"/>
            <a:ext cx="1234440" cy="210312"/>
          </a:xfrm>
          <a:prstGeom prst="rect">
            <a:avLst/>
          </a:prstGeom>
          <a:noFill/>
          <a:ln/>
        </p:spPr>
        <p:txBody>
          <a:bodyPr wrap="square" lIns="0" tIns="0" rIns="0" bIns="0" rtlCol="0" anchor="ctr"/>
          <a:lstStyle/>
          <a:p>
            <a:pPr algn="l" indent="0" marL="0">
              <a:buNone/>
            </a:pPr>
            <a:r>
              <a:rPr lang="en-US" sz="850" b="1" dirty="0">
                <a:solidFill>
                  <a:srgbClr val="2B2B2B"/>
                </a:solidFill>
                <a:latin typeface="Verdana" pitchFamily="34" charset="0"/>
                <a:ea typeface="Verdana" pitchFamily="34" charset="-122"/>
                <a:cs typeface="Verdana" pitchFamily="34" charset="-120"/>
              </a:rPr>
              <a:t>Francia  2,15 %</a:t>
            </a:r>
            <a:endParaRPr lang="en-US" sz="850" dirty="0"/>
          </a:p>
        </p:txBody>
      </p:sp>
      <p:sp>
        <p:nvSpPr>
          <p:cNvPr id="21" name="Shape 19"/>
          <p:cNvSpPr/>
          <p:nvPr/>
        </p:nvSpPr>
        <p:spPr>
          <a:xfrm>
            <a:off x="5180076" y="4376913"/>
            <a:ext cx="619963" cy="619963"/>
          </a:xfrm>
          <a:prstGeom prst="ellipse">
            <a:avLst/>
          </a:prstGeom>
          <a:solidFill>
            <a:srgbClr val="FF8AC2"/>
          </a:solidFill>
          <a:ln w="9525">
            <a:solidFill>
              <a:srgbClr val="2B2B2B"/>
            </a:solidFill>
            <a:prstDash val="solid"/>
          </a:ln>
        </p:spPr>
      </p:sp>
      <p:sp>
        <p:nvSpPr>
          <p:cNvPr id="22" name="Text 20"/>
          <p:cNvSpPr txBox="1"/>
          <p:nvPr/>
        </p:nvSpPr>
        <p:spPr>
          <a:xfrm>
            <a:off x="3899916" y="4581738"/>
            <a:ext cx="1234440" cy="210312"/>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Italia  2,26 %</a:t>
            </a:r>
            <a:endParaRPr lang="en-US" sz="850" dirty="0"/>
          </a:p>
        </p:txBody>
      </p:sp>
      <p:sp>
        <p:nvSpPr>
          <p:cNvPr id="23" name="Shape 21"/>
          <p:cNvSpPr/>
          <p:nvPr/>
        </p:nvSpPr>
        <p:spPr>
          <a:xfrm>
            <a:off x="4544339" y="4346875"/>
            <a:ext cx="345643" cy="345643"/>
          </a:xfrm>
          <a:prstGeom prst="ellipse">
            <a:avLst/>
          </a:prstGeom>
          <a:solidFill>
            <a:srgbClr val="77BFEE"/>
          </a:solidFill>
          <a:ln w="9525">
            <a:solidFill>
              <a:srgbClr val="2B2B2B"/>
            </a:solidFill>
            <a:prstDash val="solid"/>
          </a:ln>
        </p:spPr>
      </p:sp>
      <p:sp>
        <p:nvSpPr>
          <p:cNvPr id="24" name="Text 22"/>
          <p:cNvSpPr txBox="1"/>
          <p:nvPr/>
        </p:nvSpPr>
        <p:spPr>
          <a:xfrm>
            <a:off x="4935703" y="4286524"/>
            <a:ext cx="1234440" cy="210312"/>
          </a:xfrm>
          <a:prstGeom prst="rect">
            <a:avLst/>
          </a:prstGeom>
          <a:noFill/>
          <a:ln/>
        </p:spPr>
        <p:txBody>
          <a:bodyPr wrap="square" lIns="0" tIns="0" rIns="0" bIns="0" rtlCol="0" anchor="ctr"/>
          <a:lstStyle/>
          <a:p>
            <a:pPr algn="l" indent="0" marL="0">
              <a:buNone/>
            </a:pPr>
            <a:r>
              <a:rPr lang="en-US" sz="850" b="1" dirty="0">
                <a:solidFill>
                  <a:srgbClr val="2B2B2B"/>
                </a:solidFill>
                <a:latin typeface="Verdana" pitchFamily="34" charset="0"/>
                <a:ea typeface="Verdana" pitchFamily="34" charset="-122"/>
                <a:cs typeface="Verdana" pitchFamily="34" charset="-120"/>
              </a:rPr>
              <a:t>Portugal  1,26 %</a:t>
            </a:r>
            <a:endParaRPr lang="en-US" sz="850" dirty="0"/>
          </a:p>
        </p:txBody>
      </p:sp>
      <p:sp>
        <p:nvSpPr>
          <p:cNvPr id="25" name="Shape 23"/>
          <p:cNvSpPr/>
          <p:nvPr/>
        </p:nvSpPr>
        <p:spPr>
          <a:xfrm>
            <a:off x="3992728" y="2758425"/>
            <a:ext cx="323698" cy="323698"/>
          </a:xfrm>
          <a:prstGeom prst="ellipse">
            <a:avLst/>
          </a:prstGeom>
          <a:solidFill>
            <a:srgbClr val="77BFEE"/>
          </a:solidFill>
          <a:ln w="9525">
            <a:solidFill>
              <a:srgbClr val="2B2B2B"/>
            </a:solidFill>
            <a:prstDash val="solid"/>
          </a:ln>
        </p:spPr>
      </p:sp>
      <p:sp>
        <p:nvSpPr>
          <p:cNvPr id="26" name="Text 24"/>
          <p:cNvSpPr txBox="1"/>
          <p:nvPr/>
        </p:nvSpPr>
        <p:spPr>
          <a:xfrm>
            <a:off x="2712568" y="2815118"/>
            <a:ext cx="1234440" cy="210312"/>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P. Bajos  1,18 %</a:t>
            </a:r>
            <a:endParaRPr lang="en-US" sz="850" dirty="0"/>
          </a:p>
        </p:txBody>
      </p:sp>
      <p:sp>
        <p:nvSpPr>
          <p:cNvPr id="27" name="Shape 25"/>
          <p:cNvSpPr/>
          <p:nvPr/>
        </p:nvSpPr>
        <p:spPr>
          <a:xfrm>
            <a:off x="5778322" y="2131741"/>
            <a:ext cx="296266" cy="296266"/>
          </a:xfrm>
          <a:prstGeom prst="ellipse">
            <a:avLst/>
          </a:prstGeom>
          <a:solidFill>
            <a:srgbClr val="77BFEE"/>
          </a:solidFill>
          <a:ln w="9525">
            <a:solidFill>
              <a:srgbClr val="2B2B2B"/>
            </a:solidFill>
            <a:prstDash val="solid"/>
          </a:ln>
        </p:spPr>
      </p:sp>
      <p:sp>
        <p:nvSpPr>
          <p:cNvPr id="28" name="Text 26"/>
          <p:cNvSpPr txBox="1"/>
          <p:nvPr/>
        </p:nvSpPr>
        <p:spPr>
          <a:xfrm>
            <a:off x="4498162" y="2174718"/>
            <a:ext cx="1234440" cy="210312"/>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Irlanda  1,08 %</a:t>
            </a:r>
            <a:endParaRPr lang="en-US" sz="850" dirty="0"/>
          </a:p>
        </p:txBody>
      </p:sp>
      <p:sp>
        <p:nvSpPr>
          <p:cNvPr id="29" name="Text 27"/>
          <p:cNvSpPr txBox="1"/>
          <p:nvPr/>
        </p:nvSpPr>
        <p:spPr>
          <a:xfrm>
            <a:off x="1051560" y="5623560"/>
            <a:ext cx="5806440" cy="182880"/>
          </a:xfrm>
          <a:prstGeom prst="rect">
            <a:avLst/>
          </a:prstGeom>
          <a:noFill/>
          <a:ln/>
        </p:spPr>
        <p:txBody>
          <a:bodyPr wrap="square" lIns="0" tIns="0" rIns="0" bIns="0" rtlCol="0" anchor="ctr"/>
          <a:lstStyle/>
          <a:p>
            <a:pPr algn="ctr" indent="0" marL="0">
              <a:buNone/>
            </a:pPr>
            <a:r>
              <a:rPr lang="en-US" sz="750" i="1" dirty="0">
                <a:solidFill>
                  <a:srgbClr val="818181"/>
                </a:solidFill>
                <a:latin typeface="Verdana" pitchFamily="34" charset="0"/>
                <a:ea typeface="Verdana" pitchFamily="34" charset="-122"/>
                <a:cs typeface="Verdana" pitchFamily="34" charset="-120"/>
              </a:rPr>
              <a:t>El área del círculo crece con la PD PYME observada</a:t>
            </a:r>
            <a:endParaRPr lang="en-US" sz="750" dirty="0"/>
          </a:p>
        </p:txBody>
      </p:sp>
      <p:sp>
        <p:nvSpPr>
          <p:cNvPr id="30" name="Text 28"/>
          <p:cNvSpPr txBox="1"/>
          <p:nvPr/>
        </p:nvSpPr>
        <p:spPr>
          <a:xfrm>
            <a:off x="7114032" y="1645920"/>
            <a:ext cx="4526280" cy="237744"/>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predice cada eje</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114032" y="1938528"/>
          <a:ext cx="4526280" cy="914400"/>
        </p:xfrm>
        <a:graphic>
          <a:graphicData uri="http://schemas.openxmlformats.org/drawingml/2006/table">
            <a:tbl>
              <a:tblPr/>
              <a:tblGrid>
                <a:gridCol w="2148840"/>
                <a:gridCol w="1115568"/>
                <a:gridCol w="1124712"/>
              </a:tblGrid>
              <a:tr h="274320">
                <a:tc>
                  <a:txBody>
                    <a:bodyPr/>
                    <a:lstStyle/>
                    <a:p>
                      <a:pPr algn="l" indent="0" marL="0">
                        <a:buNone/>
                      </a:pP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con la PD</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con la LGD</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Índice de información</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-0,23</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0,54</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Índice de recobro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-0,79</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-0,32</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Índice de recobro, sin Portugal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-0,03</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32" name="Text 29"/>
          <p:cNvSpPr txBox="1"/>
          <p:nvPr/>
        </p:nvSpPr>
        <p:spPr>
          <a:xfrm>
            <a:off x="7114032" y="3127248"/>
            <a:ext cx="4526280" cy="219456"/>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ρ de Spearman sobre siete países. Signo esperado: negativo en ambas columnas.</a:t>
            </a:r>
            <a:endParaRPr lang="en-US" sz="750" dirty="0"/>
          </a:p>
        </p:txBody>
      </p:sp>
      <p:sp>
        <p:nvSpPr>
          <p:cNvPr id="33" name="Shape 30"/>
          <p:cNvSpPr/>
          <p:nvPr/>
        </p:nvSpPr>
        <p:spPr>
          <a:xfrm>
            <a:off x="7114032" y="3401568"/>
            <a:ext cx="4526280" cy="1170432"/>
          </a:xfrm>
          <a:prstGeom prst="roundRect">
            <a:avLst>
              <a:gd name="adj" fmla="val 3906"/>
            </a:avLst>
          </a:prstGeom>
          <a:solidFill>
            <a:srgbClr val="FFD6BA"/>
          </a:solidFill>
          <a:ln w="12700">
            <a:solidFill>
              <a:srgbClr val="FFAB70"/>
            </a:solidFill>
            <a:prstDash val="solid"/>
          </a:ln>
        </p:spPr>
      </p:sp>
      <p:sp>
        <p:nvSpPr>
          <p:cNvPr id="34" name="Text 31"/>
          <p:cNvSpPr txBox="1"/>
          <p:nvPr/>
        </p:nvSpPr>
        <p:spPr>
          <a:xfrm>
            <a:off x="7260336" y="3474720"/>
            <a:ext cx="4233672"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El eje de recobro predice la PD, no la LGD</a:t>
            </a:r>
            <a:endParaRPr lang="en-US" sz="1100" dirty="0"/>
          </a:p>
        </p:txBody>
      </p:sp>
      <p:sp>
        <p:nvSpPr>
          <p:cNvPr id="35" name="Text 32"/>
          <p:cNvSpPr txBox="1"/>
          <p:nvPr/>
        </p:nvSpPr>
        <p:spPr>
          <a:xfrm>
            <a:off x="7260336" y="3712464"/>
            <a:ext cx="4233672" cy="786384"/>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ρ = −0,79 contra la PD, la relación más fuerte de todo el ejercicio. Donde ejecutar es lento y caro —Italia, 22 % de la masa y 1,8 años; Portugal, 3,0 años— el impago se enquista y compensa. El entorno de recobro no solo fija cuánto se recupera: fija cuántos dejan de pagar.</a:t>
            </a:r>
            <a:endParaRPr lang="en-US" sz="850" dirty="0"/>
          </a:p>
        </p:txBody>
      </p:sp>
      <p:sp>
        <p:nvSpPr>
          <p:cNvPr id="36" name="Shape 33"/>
          <p:cNvSpPr/>
          <p:nvPr/>
        </p:nvSpPr>
        <p:spPr>
          <a:xfrm>
            <a:off x="7114032" y="4645152"/>
            <a:ext cx="4526280" cy="1389888"/>
          </a:xfrm>
          <a:prstGeom prst="roundRect">
            <a:avLst>
              <a:gd name="adj" fmla="val 3289"/>
            </a:avLst>
          </a:prstGeom>
          <a:solidFill>
            <a:srgbClr val="E5E5E5"/>
          </a:solidFill>
          <a:ln w="12700">
            <a:solidFill>
              <a:srgbClr val="CACACA"/>
            </a:solidFill>
            <a:prstDash val="solid"/>
          </a:ln>
        </p:spPr>
      </p:sp>
      <p:sp>
        <p:nvSpPr>
          <p:cNvPr id="37" name="Text 34"/>
          <p:cNvSpPr txBox="1"/>
          <p:nvPr/>
        </p:nvSpPr>
        <p:spPr>
          <a:xfrm>
            <a:off x="7260336" y="4718304"/>
            <a:ext cx="4233672"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La LGD no es contrastable con dato supervisor</a:t>
            </a:r>
            <a:endParaRPr lang="en-US" sz="1100" dirty="0"/>
          </a:p>
        </p:txBody>
      </p:sp>
      <p:sp>
        <p:nvSpPr>
          <p:cNvPr id="38" name="Text 35"/>
          <p:cNvSpPr txBox="1"/>
          <p:nvPr/>
        </p:nvSpPr>
        <p:spPr>
          <a:xfrm>
            <a:off x="7260336" y="4956048"/>
            <a:ext cx="4233672" cy="1005840"/>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Al quitar Portugal, la correlación con la LGD cae de −0,32 a −0,03: toda la relación la sostenía un solo país, y su LGD mediana es 40,00 %, que es exactamente el valor supervisor F-IRB del art. 161 CRR3. La misma cifra aparece en la LGD de gran empresa de seis de los siete países. El suelo regulatorio aplasta la dispersión: el mecanismo es sólido, el dato no lo puede medir.</a:t>
            </a:r>
            <a:endParaRPr lang="en-US" sz="850" dirty="0"/>
          </a:p>
        </p:txBody>
      </p:sp>
      <p:sp>
        <p:nvSpPr>
          <p:cNvPr id="39" name="Text 36"/>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Eje de información: profundidad de la información crediticia (0-8) y cobertura de bureau privado de Doing Business 2020, más dos ordinales propios sobre el umbral del registro público y el régimen de depósito de cuentas. Eje de recobro: fortaleza de los derechos legales del acreedor (0-12), tasa de recuperación, coste sobre la masa y tiempo de resolución, de la misma fuente. Doing Business se descontinuó en 2021 y su vintage es mayo de 2019; B-READY, su sucesor, solo cubre Portugal de los siete. PD y LGD del EBA, COREP C 9.02, 2026-Q1. n=7: indicativo, no causal. La PD de cada país es un resultado revelado y recoge también el apetito de riesgo del mercado, no solo su información y su entorno: ver la lámina siguiente.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¿Se paga el riesgo? Entre mercados, no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Si cobrar más compensara prestar peor, el margen neto de riesgo sería plano entre países · Ordenado por PD creciente</a:t>
            </a:r>
            <a:endParaRPr lang="en-US" sz="1100" dirty="0"/>
          </a:p>
        </p:txBody>
      </p:sp>
      <p:graphicFrame>
        <p:nvGraphicFramePr>
          <p:cNvPr id="4" name="Chart 0" descr=""/>
          <p:cNvGraphicFramePr/>
          <p:nvPr/>
        </p:nvGraphicFramePr>
        <p:xfrm>
          <a:off x="548640" y="1664208"/>
          <a:ext cx="662940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956048"/>
            <a:ext cx="6629400" cy="201168"/>
          </a:xfrm>
          <a:prstGeom prst="rect">
            <a:avLst/>
          </a:prstGeom>
          <a:noFill/>
          <a:ln/>
        </p:spPr>
        <p:txBody>
          <a:bodyPr wrap="square" lIns="0" tIns="0" rIns="0" bIns="0" rtlCol="0" anchor="ctr"/>
          <a:lstStyle/>
          <a:p>
            <a:pPr algn="ctr" indent="0" marL="0">
              <a:buNone/>
            </a:pPr>
            <a:r>
              <a:rPr lang="en-US" sz="800" i="1" dirty="0">
                <a:solidFill>
                  <a:srgbClr val="818181"/>
                </a:solidFill>
                <a:latin typeface="Verdana" pitchFamily="34" charset="0"/>
                <a:ea typeface="Verdana" pitchFamily="34" charset="-122"/>
                <a:cs typeface="Verdana" pitchFamily="34" charset="-120"/>
              </a:rPr>
              <a:t>Precio más comisiones, menos coste de los recursos y menos coste del riesgo. Antes de gastos y de capital.</a:t>
            </a:r>
            <a:endParaRPr lang="en-US" sz="800" dirty="0"/>
          </a:p>
        </p:txBody>
      </p:sp>
      <p:sp>
        <p:nvSpPr>
          <p:cNvPr id="6" name="Shape 3"/>
          <p:cNvSpPr/>
          <p:nvPr/>
        </p:nvSpPr>
        <p:spPr>
          <a:xfrm>
            <a:off x="548640" y="5102352"/>
            <a:ext cx="6629400" cy="950976"/>
          </a:xfrm>
          <a:prstGeom prst="roundRect">
            <a:avLst>
              <a:gd name="adj" fmla="val 4808"/>
            </a:avLst>
          </a:prstGeom>
          <a:solidFill>
            <a:srgbClr val="FFD6BA"/>
          </a:solidFill>
          <a:ln w="12700">
            <a:solidFill>
              <a:srgbClr val="FFAB70"/>
            </a:solidFill>
            <a:prstDash val="solid"/>
          </a:ln>
        </p:spPr>
      </p:sp>
      <p:sp>
        <p:nvSpPr>
          <p:cNvPr id="7" name="Text 4"/>
          <p:cNvSpPr txBox="1"/>
          <p:nvPr/>
        </p:nvSpPr>
        <p:spPr>
          <a:xfrm>
            <a:off x="694944" y="5175504"/>
            <a:ext cx="6355080"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Va al revés: ρ = −0,76 contra la PD</a:t>
            </a:r>
            <a:endParaRPr lang="en-US" sz="1100" dirty="0"/>
          </a:p>
        </p:txBody>
      </p:sp>
      <p:sp>
        <p:nvSpPr>
          <p:cNvPr id="8" name="Text 5"/>
          <p:cNvSpPr txBox="1"/>
          <p:nvPr/>
        </p:nvSpPr>
        <p:spPr>
          <a:xfrm>
            <a:off x="694944" y="5413248"/>
            <a:ext cx="6355080" cy="603504"/>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Irlanda tiene la mejor PD (1,08 %) y el mayor margen neto de riesgo (5,47 %); Francia, la segunda peor PD (2,15 %) y el menor (2,75 %). La excepción es Italia: peor PD de las siete y aun así el cuarto mejor margen, porque es la que más cobra el gradiente por tamaño. Los siete no están sobre una misma frontera de riesgo y retorno: prestar peor no suele venir pagado.</a:t>
            </a:r>
            <a:endParaRPr lang="en-US" sz="850" dirty="0"/>
          </a:p>
        </p:txBody>
      </p:sp>
      <p:sp>
        <p:nvSpPr>
          <p:cNvPr id="9" name="Text 6"/>
          <p:cNvSpPr txBox="1"/>
          <p:nvPr/>
        </p:nvSpPr>
        <p:spPr>
          <a:xfrm>
            <a:off x="7479792" y="1664208"/>
            <a:ext cx="4160520" cy="237744"/>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Dentro de cada mercado sí se paga</a:t>
            </a:r>
            <a:endParaRPr lang="en-US" sz="1250" dirty="0"/>
          </a:p>
        </p:txBody>
      </p:sp>
      <p:sp>
        <p:nvSpPr>
          <p:cNvPr id="10" name="Text 7"/>
          <p:cNvSpPr txBox="1"/>
          <p:nvPr/>
        </p:nvSpPr>
        <p:spPr>
          <a:xfrm>
            <a:off x="7479792" y="1901952"/>
            <a:ext cx="4160520" cy="201168"/>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Sobreprecio del tramo pequeño frente al de más de 1 M€ · Puntos básicos</a:t>
            </a:r>
            <a:endParaRPr lang="en-US" sz="800" dirty="0"/>
          </a:p>
        </p:txBody>
      </p:sp>
      <p:sp>
        <p:nvSpPr>
          <p:cNvPr id="11" name="Text 8"/>
          <p:cNvSpPr txBox="1"/>
          <p:nvPr/>
        </p:nvSpPr>
        <p:spPr>
          <a:xfrm>
            <a:off x="7479792" y="215798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Italia</a:t>
            </a:r>
            <a:endParaRPr lang="en-US" sz="850" dirty="0"/>
          </a:p>
        </p:txBody>
      </p:sp>
      <p:sp>
        <p:nvSpPr>
          <p:cNvPr id="12" name="Shape 9"/>
          <p:cNvSpPr/>
          <p:nvPr/>
        </p:nvSpPr>
        <p:spPr>
          <a:xfrm>
            <a:off x="8686800" y="2199132"/>
            <a:ext cx="2179320" cy="137160"/>
          </a:xfrm>
          <a:prstGeom prst="rect">
            <a:avLst/>
          </a:prstGeom>
          <a:solidFill>
            <a:srgbClr val="FFAB70"/>
          </a:solidFill>
          <a:ln w="6350">
            <a:solidFill>
              <a:srgbClr val="FFAB70"/>
            </a:solidFill>
            <a:prstDash val="solid"/>
          </a:ln>
        </p:spPr>
      </p:sp>
      <p:sp>
        <p:nvSpPr>
          <p:cNvPr id="13" name="Text 10"/>
          <p:cNvSpPr txBox="1"/>
          <p:nvPr/>
        </p:nvSpPr>
        <p:spPr>
          <a:xfrm>
            <a:off x="11018520" y="215798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+143</a:t>
            </a:r>
            <a:endParaRPr lang="en-US" sz="850" dirty="0"/>
          </a:p>
        </p:txBody>
      </p:sp>
      <p:sp>
        <p:nvSpPr>
          <p:cNvPr id="14" name="Text 11"/>
          <p:cNvSpPr txBox="1"/>
          <p:nvPr/>
        </p:nvSpPr>
        <p:spPr>
          <a:xfrm>
            <a:off x="7479792" y="243230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P. Bajos</a:t>
            </a:r>
            <a:endParaRPr lang="en-US" sz="850" dirty="0"/>
          </a:p>
        </p:txBody>
      </p:sp>
      <p:sp>
        <p:nvSpPr>
          <p:cNvPr id="15" name="Shape 12"/>
          <p:cNvSpPr/>
          <p:nvPr/>
        </p:nvSpPr>
        <p:spPr>
          <a:xfrm>
            <a:off x="8686800" y="2473452"/>
            <a:ext cx="1828800" cy="137160"/>
          </a:xfrm>
          <a:prstGeom prst="rect">
            <a:avLst/>
          </a:prstGeom>
          <a:solidFill>
            <a:srgbClr val="FFAB70"/>
          </a:solidFill>
          <a:ln w="6350">
            <a:solidFill>
              <a:srgbClr val="FFAB70"/>
            </a:solidFill>
            <a:prstDash val="solid"/>
          </a:ln>
        </p:spPr>
      </p:sp>
      <p:sp>
        <p:nvSpPr>
          <p:cNvPr id="16" name="Text 13"/>
          <p:cNvSpPr txBox="1"/>
          <p:nvPr/>
        </p:nvSpPr>
        <p:spPr>
          <a:xfrm>
            <a:off x="11018520" y="243230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+120</a:t>
            </a:r>
            <a:endParaRPr lang="en-US" sz="850" dirty="0"/>
          </a:p>
        </p:txBody>
      </p:sp>
      <p:sp>
        <p:nvSpPr>
          <p:cNvPr id="17" name="Text 14"/>
          <p:cNvSpPr txBox="1"/>
          <p:nvPr/>
        </p:nvSpPr>
        <p:spPr>
          <a:xfrm>
            <a:off x="7479792" y="270662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Alemania</a:t>
            </a:r>
            <a:endParaRPr lang="en-US" sz="850" dirty="0"/>
          </a:p>
        </p:txBody>
      </p:sp>
      <p:sp>
        <p:nvSpPr>
          <p:cNvPr id="18" name="Shape 15"/>
          <p:cNvSpPr/>
          <p:nvPr/>
        </p:nvSpPr>
        <p:spPr>
          <a:xfrm>
            <a:off x="8686800" y="2747772"/>
            <a:ext cx="1752600" cy="137160"/>
          </a:xfrm>
          <a:prstGeom prst="rect">
            <a:avLst/>
          </a:prstGeom>
          <a:solidFill>
            <a:srgbClr val="FFAB70"/>
          </a:solidFill>
          <a:ln w="6350">
            <a:solidFill>
              <a:srgbClr val="FFAB70"/>
            </a:solidFill>
            <a:prstDash val="solid"/>
          </a:ln>
        </p:spPr>
      </p:sp>
      <p:sp>
        <p:nvSpPr>
          <p:cNvPr id="19" name="Text 16"/>
          <p:cNvSpPr txBox="1"/>
          <p:nvPr/>
        </p:nvSpPr>
        <p:spPr>
          <a:xfrm>
            <a:off x="11018520" y="270662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+115</a:t>
            </a:r>
            <a:endParaRPr lang="en-US" sz="850" dirty="0"/>
          </a:p>
        </p:txBody>
      </p:sp>
      <p:sp>
        <p:nvSpPr>
          <p:cNvPr id="20" name="Text 17"/>
          <p:cNvSpPr txBox="1"/>
          <p:nvPr/>
        </p:nvSpPr>
        <p:spPr>
          <a:xfrm>
            <a:off x="7479792" y="298094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Portugal</a:t>
            </a:r>
            <a:endParaRPr lang="en-US" sz="850" dirty="0"/>
          </a:p>
        </p:txBody>
      </p:sp>
      <p:sp>
        <p:nvSpPr>
          <p:cNvPr id="21" name="Shape 18"/>
          <p:cNvSpPr/>
          <p:nvPr/>
        </p:nvSpPr>
        <p:spPr>
          <a:xfrm>
            <a:off x="8686800" y="3022092"/>
            <a:ext cx="990600" cy="137160"/>
          </a:xfrm>
          <a:prstGeom prst="rect">
            <a:avLst/>
          </a:prstGeom>
          <a:solidFill>
            <a:srgbClr val="FFD6BA"/>
          </a:solidFill>
          <a:ln w="6350">
            <a:solidFill>
              <a:srgbClr val="FFAB70"/>
            </a:solidFill>
            <a:prstDash val="solid"/>
          </a:ln>
        </p:spPr>
      </p:sp>
      <p:sp>
        <p:nvSpPr>
          <p:cNvPr id="22" name="Text 19"/>
          <p:cNvSpPr txBox="1"/>
          <p:nvPr/>
        </p:nvSpPr>
        <p:spPr>
          <a:xfrm>
            <a:off x="11018520" y="298094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+65</a:t>
            </a:r>
            <a:endParaRPr lang="en-US" sz="850" dirty="0"/>
          </a:p>
        </p:txBody>
      </p:sp>
      <p:sp>
        <p:nvSpPr>
          <p:cNvPr id="23" name="Text 20"/>
          <p:cNvSpPr txBox="1"/>
          <p:nvPr/>
        </p:nvSpPr>
        <p:spPr>
          <a:xfrm>
            <a:off x="7479792" y="325526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Irlanda</a:t>
            </a:r>
            <a:endParaRPr lang="en-US" sz="850" dirty="0"/>
          </a:p>
        </p:txBody>
      </p:sp>
      <p:sp>
        <p:nvSpPr>
          <p:cNvPr id="24" name="Shape 21"/>
          <p:cNvSpPr/>
          <p:nvPr/>
        </p:nvSpPr>
        <p:spPr>
          <a:xfrm>
            <a:off x="8686800" y="3296412"/>
            <a:ext cx="899160" cy="137160"/>
          </a:xfrm>
          <a:prstGeom prst="rect">
            <a:avLst/>
          </a:prstGeom>
          <a:solidFill>
            <a:srgbClr val="FFD6BA"/>
          </a:solidFill>
          <a:ln w="6350">
            <a:solidFill>
              <a:srgbClr val="FFAB70"/>
            </a:solidFill>
            <a:prstDash val="solid"/>
          </a:ln>
        </p:spPr>
      </p:sp>
      <p:sp>
        <p:nvSpPr>
          <p:cNvPr id="25" name="Text 22"/>
          <p:cNvSpPr txBox="1"/>
          <p:nvPr/>
        </p:nvSpPr>
        <p:spPr>
          <a:xfrm>
            <a:off x="11018520" y="325526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+59</a:t>
            </a:r>
            <a:endParaRPr lang="en-US" sz="850" dirty="0"/>
          </a:p>
        </p:txBody>
      </p:sp>
      <p:sp>
        <p:nvSpPr>
          <p:cNvPr id="26" name="Text 23"/>
          <p:cNvSpPr txBox="1"/>
          <p:nvPr/>
        </p:nvSpPr>
        <p:spPr>
          <a:xfrm>
            <a:off x="7479792" y="352958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Francia</a:t>
            </a:r>
            <a:endParaRPr lang="en-US" sz="850" dirty="0"/>
          </a:p>
        </p:txBody>
      </p:sp>
      <p:sp>
        <p:nvSpPr>
          <p:cNvPr id="27" name="Shape 24"/>
          <p:cNvSpPr/>
          <p:nvPr/>
        </p:nvSpPr>
        <p:spPr>
          <a:xfrm>
            <a:off x="8686800" y="3570732"/>
            <a:ext cx="746760" cy="137160"/>
          </a:xfrm>
          <a:prstGeom prst="rect">
            <a:avLst/>
          </a:prstGeom>
          <a:solidFill>
            <a:srgbClr val="FFD6BA"/>
          </a:solidFill>
          <a:ln w="6350">
            <a:solidFill>
              <a:srgbClr val="FFAB70"/>
            </a:solidFill>
            <a:prstDash val="solid"/>
          </a:ln>
        </p:spPr>
      </p:sp>
      <p:sp>
        <p:nvSpPr>
          <p:cNvPr id="28" name="Text 25"/>
          <p:cNvSpPr txBox="1"/>
          <p:nvPr/>
        </p:nvSpPr>
        <p:spPr>
          <a:xfrm>
            <a:off x="11018520" y="352958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+49</a:t>
            </a:r>
            <a:endParaRPr lang="en-US" sz="850" dirty="0"/>
          </a:p>
        </p:txBody>
      </p:sp>
      <p:sp>
        <p:nvSpPr>
          <p:cNvPr id="29" name="Text 26"/>
          <p:cNvSpPr txBox="1"/>
          <p:nvPr/>
        </p:nvSpPr>
        <p:spPr>
          <a:xfrm>
            <a:off x="7479792" y="3803904"/>
            <a:ext cx="1170432" cy="219456"/>
          </a:xfrm>
          <a:prstGeom prst="rect">
            <a:avLst/>
          </a:prstGeom>
          <a:noFill/>
          <a:ln/>
        </p:spPr>
        <p:txBody>
          <a:bodyPr wrap="square" lIns="0" tIns="0" rIns="0" bIns="0" rtlCol="0" anchor="ctr"/>
          <a:lstStyle/>
          <a:p>
            <a:pPr indent="0" marL="0">
              <a:buNone/>
            </a:pPr>
            <a:r>
              <a:rPr lang="en-US" sz="850" b="1" dirty="0">
                <a:solidFill>
                  <a:srgbClr val="2B2B2B"/>
                </a:solidFill>
                <a:latin typeface="Verdana" pitchFamily="34" charset="0"/>
                <a:ea typeface="Verdana" pitchFamily="34" charset="-122"/>
                <a:cs typeface="Verdana" pitchFamily="34" charset="-120"/>
              </a:rPr>
              <a:t>España</a:t>
            </a:r>
            <a:endParaRPr lang="en-US" sz="850" dirty="0"/>
          </a:p>
        </p:txBody>
      </p:sp>
      <p:sp>
        <p:nvSpPr>
          <p:cNvPr id="30" name="Shape 27"/>
          <p:cNvSpPr/>
          <p:nvPr/>
        </p:nvSpPr>
        <p:spPr>
          <a:xfrm>
            <a:off x="8686800" y="3845052"/>
            <a:ext cx="60960" cy="137160"/>
          </a:xfrm>
          <a:prstGeom prst="rect">
            <a:avLst/>
          </a:prstGeom>
          <a:solidFill>
            <a:srgbClr val="FFCCE8"/>
          </a:solidFill>
          <a:ln w="6350">
            <a:solidFill>
              <a:srgbClr val="FF8AC2"/>
            </a:solidFill>
            <a:prstDash val="solid"/>
          </a:ln>
        </p:spPr>
      </p:sp>
      <p:sp>
        <p:nvSpPr>
          <p:cNvPr id="31" name="Text 28"/>
          <p:cNvSpPr txBox="1"/>
          <p:nvPr/>
        </p:nvSpPr>
        <p:spPr>
          <a:xfrm>
            <a:off x="11018520" y="3803904"/>
            <a:ext cx="621792" cy="219456"/>
          </a:xfrm>
          <a:prstGeom prst="rect">
            <a:avLst/>
          </a:prstGeom>
          <a:noFill/>
          <a:ln/>
        </p:spPr>
        <p:txBody>
          <a:bodyPr wrap="square" lIns="0" tIns="0" rIns="0" bIns="0" rtlCol="0" anchor="ctr"/>
          <a:lstStyle/>
          <a:p>
            <a:pPr algn="r" indent="0" marL="0">
              <a:buNone/>
            </a:pPr>
            <a:r>
              <a:rPr lang="en-US" sz="850" b="1" dirty="0">
                <a:solidFill>
                  <a:srgbClr val="2B2B2B"/>
                </a:solidFill>
                <a:latin typeface="Verdana" pitchFamily="34" charset="0"/>
                <a:ea typeface="Verdana" pitchFamily="34" charset="-122"/>
                <a:cs typeface="Verdana" pitchFamily="34" charset="-120"/>
              </a:rPr>
              <a:t>-4</a:t>
            </a:r>
            <a:endParaRPr lang="en-US" sz="850" dirty="0"/>
          </a:p>
        </p:txBody>
      </p:sp>
      <p:sp>
        <p:nvSpPr>
          <p:cNvPr id="32" name="Shape 29"/>
          <p:cNvSpPr/>
          <p:nvPr/>
        </p:nvSpPr>
        <p:spPr>
          <a:xfrm>
            <a:off x="7479792" y="4096512"/>
            <a:ext cx="4160520" cy="914400"/>
          </a:xfrm>
          <a:prstGeom prst="roundRect">
            <a:avLst>
              <a:gd name="adj" fmla="val 5000"/>
            </a:avLst>
          </a:prstGeom>
          <a:solidFill>
            <a:srgbClr val="C7E3F9"/>
          </a:solidFill>
          <a:ln w="12700">
            <a:solidFill>
              <a:srgbClr val="77BFEE"/>
            </a:solidFill>
            <a:prstDash val="solid"/>
          </a:ln>
        </p:spPr>
      </p:sp>
      <p:sp>
        <p:nvSpPr>
          <p:cNvPr id="33" name="Text 30"/>
          <p:cNvSpPr txBox="1"/>
          <p:nvPr/>
        </p:nvSpPr>
        <p:spPr>
          <a:xfrm>
            <a:off x="7626096" y="4169664"/>
            <a:ext cx="3867912"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España es la única que no lo cobra</a:t>
            </a:r>
            <a:endParaRPr lang="en-US" sz="1100" dirty="0"/>
          </a:p>
        </p:txBody>
      </p:sp>
      <p:sp>
        <p:nvSpPr>
          <p:cNvPr id="34" name="Text 31"/>
          <p:cNvSpPr txBox="1"/>
          <p:nvPr/>
        </p:nvSpPr>
        <p:spPr>
          <a:xfrm>
            <a:off x="7626096" y="4389120"/>
            <a:ext cx="3867912" cy="566928"/>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−4 pb: el préstamo pequeño sale marginalmente más barato que el de más de 1 M€. Italia cobra +143 y Países Bajos +120. Y el gradiente acompaña a la rentabilidad: ρ = +0,82 con el ROE.</a:t>
            </a:r>
            <a:endParaRPr lang="en-US" sz="850" dirty="0"/>
          </a:p>
        </p:txBody>
      </p:sp>
      <p:sp>
        <p:nvSpPr>
          <p:cNvPr id="35" name="Shape 32"/>
          <p:cNvSpPr/>
          <p:nvPr/>
        </p:nvSpPr>
        <p:spPr>
          <a:xfrm>
            <a:off x="7479792" y="5102352"/>
            <a:ext cx="4160520" cy="950976"/>
          </a:xfrm>
          <a:prstGeom prst="roundRect">
            <a:avLst>
              <a:gd name="adj" fmla="val 4808"/>
            </a:avLst>
          </a:prstGeom>
          <a:solidFill>
            <a:srgbClr val="E5E5E5"/>
          </a:solidFill>
          <a:ln w="12700">
            <a:solidFill>
              <a:srgbClr val="CACACA"/>
            </a:solidFill>
            <a:prstDash val="solid"/>
          </a:ln>
        </p:spPr>
      </p:sp>
      <p:sp>
        <p:nvSpPr>
          <p:cNvPr id="36" name="Text 33"/>
          <p:cNvSpPr txBox="1"/>
          <p:nvPr/>
        </p:nvSpPr>
        <p:spPr>
          <a:xfrm>
            <a:off x="7626096" y="5175504"/>
            <a:ext cx="3867912"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Qué corrige esto de la lámina anterior</a:t>
            </a:r>
            <a:endParaRPr lang="en-US" sz="1100" dirty="0"/>
          </a:p>
        </p:txBody>
      </p:sp>
      <p:sp>
        <p:nvSpPr>
          <p:cNvPr id="37" name="Text 34"/>
          <p:cNvSpPr txBox="1"/>
          <p:nvPr/>
        </p:nvSpPr>
        <p:spPr>
          <a:xfrm>
            <a:off x="7626096" y="5413248"/>
            <a:ext cx="3867912" cy="603504"/>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La PD de un país también es apetito revelado, no solo información y entorno, y con dato público no se separan. Lo que el precio sí descarta es que el apetito sea lo dominante: si lo fuera, los de PD alta cobrarían más, y cobran menos.</a:t>
            </a:r>
            <a:endParaRPr lang="en-US" sz="850" dirty="0"/>
          </a:p>
        </p:txBody>
      </p:sp>
      <p:sp>
        <p:nvSpPr>
          <p:cNvPr id="38" name="Text 35"/>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Precio por tramo del dataset MIR del BCE, media ponderada por volumen de 2026-01 a 2026-07; Alemania no publica volumen de los tramos pequeños, así que su gradiente mezcla media simple y media ponderada. PD del EBA, COREP C 9.02, 2026-Q1, mediana de entidades. La comisión es un supuesto de 87 pb en los seis países que no la publican. El tramo de más de 1 M€ no es solo gran empresa, pero es el proxy más cercano que publica el MIR. n=7: indicativo, no causal.</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Consumo de capital de la cartera PYME</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RWA sobre valor de exposición · EU-wide Transparency Exercise · Junio 2025 · Incorpora ya el factor de apoyo a PYME del art. 501 CRR</a:t>
            </a:r>
            <a:endParaRPr lang="en-US" sz="1100" dirty="0"/>
          </a:p>
        </p:txBody>
      </p:sp>
      <p:graphicFrame>
        <p:nvGraphicFramePr>
          <p:cNvPr id="4" name="Chart 0" descr=""/>
          <p:cNvGraphicFramePr/>
          <p:nvPr/>
        </p:nvGraphicFramePr>
        <p:xfrm>
          <a:off x="548640" y="169164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91640"/>
            <a:ext cx="4142232" cy="1920240"/>
          </a:xfrm>
          <a:prstGeom prst="roundRect">
            <a:avLst>
              <a:gd name="adj" fmla="val 2857"/>
            </a:avLst>
          </a:prstGeom>
          <a:solidFill>
            <a:srgbClr val="FFD6BA"/>
          </a:solidFill>
          <a:ln w="12700">
            <a:solidFill>
              <a:srgbClr val="FFAB70"/>
            </a:solidFill>
            <a:prstDash val="solid"/>
          </a:ln>
        </p:spPr>
      </p:sp>
      <p:sp>
        <p:nvSpPr>
          <p:cNvPr id="6" name="Text 3"/>
          <p:cNvSpPr txBox="1"/>
          <p:nvPr/>
        </p:nvSpPr>
        <p:spPr>
          <a:xfrm>
            <a:off x="7699248" y="1828800"/>
            <a:ext cx="3749040" cy="502920"/>
          </a:xfrm>
          <a:prstGeom prst="rect">
            <a:avLst/>
          </a:prstGeom>
          <a:noFill/>
          <a:ln/>
        </p:spPr>
        <p:txBody>
          <a:bodyPr wrap="square" lIns="0" tIns="0" rIns="0" bIns="0" rtlCol="0" anchor="ctr"/>
          <a:lstStyle/>
          <a:p>
            <a:pPr indent="0" marL="0">
              <a:buNone/>
            </a:pPr>
            <a:r>
              <a:rPr lang="en-US" sz="1300" b="1" dirty="0">
                <a:solidFill>
                  <a:srgbClr val="F56600"/>
                </a:solidFill>
                <a:latin typeface="Verdana" pitchFamily="34" charset="0"/>
                <a:ea typeface="Verdana" pitchFamily="34" charset="-122"/>
                <a:cs typeface="Verdana" pitchFamily="34" charset="-120"/>
              </a:rPr>
              <a:t>El capital manda sobre el precio</a:t>
            </a:r>
            <a:endParaRPr lang="en-US" sz="1300" dirty="0"/>
          </a:p>
        </p:txBody>
      </p:sp>
      <p:sp>
        <p:nvSpPr>
          <p:cNvPr id="7" name="Text 4"/>
          <p:cNvSpPr txBox="1"/>
          <p:nvPr/>
        </p:nvSpPr>
        <p:spPr>
          <a:xfrm>
            <a:off x="7699248" y="2359152"/>
            <a:ext cx="3749040" cy="114300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Va del 35,3 % en Alemania al 70,0 % en Irlanda: un euro de préstamo PYME consume el doble de capital en Irlanda que en Alemania. Sobre el mismo margen, eso divide el ROE por dos. Es el factor que más mueve el ranking, por delante del precio.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498080" y="3675888"/>
          <a:ext cx="4142232" cy="914400"/>
        </p:xfrm>
        <a:graphic>
          <a:graphicData uri="http://schemas.openxmlformats.org/drawingml/2006/table">
            <a:tbl>
              <a:tblPr/>
              <a:tblGrid>
                <a:gridCol w="1216152"/>
                <a:gridCol w="996696"/>
                <a:gridCol w="960120"/>
                <a:gridCol w="969264"/>
              </a:tblGrid>
              <a:tr h="214884">
                <a:tc>
                  <a:txBody>
                    <a:bodyPr/>
                    <a:lstStyle/>
                    <a:p>
                      <a:pPr algn="l" indent="0" marL="0">
                        <a:buNone/>
                      </a:pP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00" b="1" dirty="0">
                          <a:solidFill>
                            <a:srgbClr val="FFFFFF"/>
                          </a:solidFill>
                          <a:latin typeface="Verdana" pitchFamily="34" charset="0"/>
                          <a:ea typeface="Verdana" pitchFamily="34" charset="-122"/>
                          <a:cs typeface="Verdana" pitchFamily="34" charset="-120"/>
                        </a:rPr>
                        <a:t>Densidad</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00" b="1" dirty="0">
                          <a:solidFill>
                            <a:srgbClr val="FFFFFF"/>
                          </a:solidFill>
                          <a:latin typeface="Verdana" pitchFamily="34" charset="0"/>
                          <a:ea typeface="Verdana" pitchFamily="34" charset="-122"/>
                          <a:cs typeface="Verdana" pitchFamily="34" charset="-120"/>
                        </a:rPr>
                        <a:t>× CET1</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900" b="1" dirty="0">
                          <a:solidFill>
                            <a:srgbClr val="FFFFFF"/>
                          </a:solidFill>
                          <a:latin typeface="Verdana" pitchFamily="34" charset="0"/>
                          <a:ea typeface="Verdana" pitchFamily="34" charset="-122"/>
                          <a:cs typeface="Verdana" pitchFamily="34" charset="-120"/>
                        </a:rPr>
                        <a:t>= Capital</a:t>
                      </a:r>
                      <a:endParaRPr lang="en-US" sz="9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España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59.5 %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13.67 %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8.13 %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Alemania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35.3 %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16.94 %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5.99 %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Francia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43.0 %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15.88 %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6.83 %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Italia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46.4 %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15.56 %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7.21 %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Portugal</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61.3 %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17.82 %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10.93 %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P. Bajos</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37.2 %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16.38 %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6.09 %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14884">
                <a:tc>
                  <a:txBody>
                    <a:bodyPr/>
                    <a:lstStyle/>
                    <a:p>
                      <a:pPr algn="l" indent="0" marL="0">
                        <a:buNone/>
                      </a:pPr>
                      <a:r>
                        <a:rPr lang="en-US" sz="950" b="1" dirty="0">
                          <a:solidFill>
                            <a:srgbClr val="2B2B2B"/>
                          </a:solidFill>
                          <a:latin typeface="Verdana" pitchFamily="34" charset="0"/>
                          <a:ea typeface="Verdana" pitchFamily="34" charset="-122"/>
                          <a:cs typeface="Verdana" pitchFamily="34" charset="-120"/>
                        </a:rPr>
                        <a:t>Irlanda</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70.0 %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dirty="0">
                          <a:solidFill>
                            <a:srgbClr val="2B2B2B"/>
                          </a:solidFill>
                          <a:latin typeface="Verdana" pitchFamily="34" charset="0"/>
                          <a:ea typeface="Verdana" pitchFamily="34" charset="-122"/>
                          <a:cs typeface="Verdana" pitchFamily="34" charset="-120"/>
                        </a:rPr>
                        <a:t>18.31 %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950" b="1" dirty="0">
                          <a:solidFill>
                            <a:srgbClr val="2B2B2B"/>
                          </a:solidFill>
                          <a:latin typeface="Verdana" pitchFamily="34" charset="0"/>
                          <a:ea typeface="Verdana" pitchFamily="34" charset="-122"/>
                          <a:cs typeface="Verdana" pitchFamily="34" charset="-120"/>
                        </a:rPr>
                        <a:t>12.81 %</a:t>
                      </a:r>
                      <a:endParaRPr lang="en-US" sz="9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bl>
          </a:graphicData>
        </a:graphic>
      </p:graphicFrame>
      <p:sp>
        <p:nvSpPr>
          <p:cNvPr id="9" name="Text 5"/>
          <p:cNvSpPr txBox="1"/>
          <p:nvPr/>
        </p:nvSpPr>
        <p:spPr>
          <a:xfrm>
            <a:off x="548640" y="5394960"/>
            <a:ext cx="11091672" cy="502920"/>
          </a:xfrm>
          <a:prstGeom prst="rect">
            <a:avLst/>
          </a:prstGeom>
          <a:noFill/>
          <a:ln/>
        </p:spPr>
        <p:txBody>
          <a:bodyPr wrap="square" lIns="0" tIns="0" rIns="0" bIns="0" rtlCol="0" anchor="ctr"/>
          <a:lstStyle/>
          <a:p>
            <a:pPr indent="0" marL="0">
              <a:buNone/>
            </a:pPr>
            <a:r>
              <a:rPr lang="en-US" sz="1050" dirty="0">
                <a:solidFill>
                  <a:srgbClr val="2B2B2B"/>
                </a:solidFill>
                <a:latin typeface="Verdana" pitchFamily="34" charset="0"/>
                <a:ea typeface="Verdana" pitchFamily="34" charset="-122"/>
                <a:cs typeface="Verdana" pitchFamily="34" charset="-120"/>
              </a:rPr>
              <a:t>Capital asignado = densidad de RWA × ratio CET1. Ambos observados por país; no hay supuesto en esta línea.</a:t>
            </a:r>
            <a:endParaRPr lang="en-US" sz="1050" dirty="0"/>
          </a:p>
        </p:txBody>
      </p:sp>
      <p:sp>
        <p:nvSpPr>
          <p:cNvPr id="10" name="Text 6"/>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EBA, EU-wide Transparency Exercise 2025, fichero tr_cre.csv, partidas 2520523 (valor de exposición PYME) y 2520533 (RWA PYME), agregadas por supervisor nacional. La diferencia refleja el peso de modelos internos frente a método estándar y la garantía aportada.</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Eficiencia, capital y comisiones en Sistema Bancario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2026-Q1 · Nivel de grupo consolidado, no de segmento PYME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468880"/>
                <a:gridCol w="1231697"/>
                <a:gridCol w="1231697"/>
                <a:gridCol w="1231697"/>
                <a:gridCol w="1231697"/>
                <a:gridCol w="1231697"/>
                <a:gridCol w="1231697"/>
                <a:gridCol w="1231697"/>
              </a:tblGrid>
              <a:tr h="420624">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Indicador</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España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Alemania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Francia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Italia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Portugal</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P. Bajos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Irlanda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420624">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Ratio de NPL</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2.60 %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2.16 %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1.97 %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1.91 %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1.35 %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1.10 %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420624">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Coste del riesgo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1.22 %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0.75 %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0.55 %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0.36 %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0.29 %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0.21 %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0.24 %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420624">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Eficiencia (cost-income)</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42.1 %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55.1 %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65.6 %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46.8 %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34.8 %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53.5 %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57.4 %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420624">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ROE del sistema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18.5 %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8.0 %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6.3 %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14.9 %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10.1 %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9.4 %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420624">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Ratio CET1</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13.7 %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15.6 %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17.8 %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16.4 %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18.3 %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420624">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Comisiones / ingresos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23.9 %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32.0 %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33.7 %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33.8 %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21.8 %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20.4 %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100" dirty="0">
                          <a:solidFill>
                            <a:srgbClr val="2B2B2B"/>
                          </a:solidFill>
                          <a:latin typeface="Verdana" pitchFamily="34" charset="0"/>
                          <a:ea typeface="Verdana" pitchFamily="34" charset="-122"/>
                          <a:cs typeface="Verdana" pitchFamily="34" charset="-120"/>
                        </a:rPr>
                        <a:t>18.4 %</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bl>
          </a:graphicData>
        </a:graphic>
      </p:graphicFrame>
      <p:sp>
        <p:nvSpPr>
          <p:cNvPr id="5" name="Shape 2"/>
          <p:cNvSpPr/>
          <p:nvPr/>
        </p:nvSpPr>
        <p:spPr>
          <a:xfrm>
            <a:off x="548640" y="4663440"/>
            <a:ext cx="5486400" cy="1371600"/>
          </a:xfrm>
          <a:prstGeom prst="roundRect">
            <a:avLst>
              <a:gd name="adj" fmla="val 4000"/>
            </a:avLst>
          </a:prstGeom>
          <a:solidFill>
            <a:srgbClr val="E5E5E5"/>
          </a:solidFill>
          <a:ln w="12700">
            <a:solidFill>
              <a:srgbClr val="CACACA"/>
            </a:solidFill>
            <a:prstDash val="solid"/>
          </a:ln>
        </p:spPr>
      </p:sp>
      <p:sp>
        <p:nvSpPr>
          <p:cNvPr id="6" name="Text 3"/>
          <p:cNvSpPr txBox="1"/>
          <p:nvPr/>
        </p:nvSpPr>
        <p:spPr>
          <a:xfrm>
            <a:off x="749808" y="4800600"/>
            <a:ext cx="5074920" cy="292608"/>
          </a:xfrm>
          <a:prstGeom prst="rect">
            <a:avLst/>
          </a:prstGeom>
          <a:noFill/>
          <a:ln/>
        </p:spPr>
        <p:txBody>
          <a:bodyPr wrap="square" lIns="0" tIns="0" rIns="0" bIns="0" rtlCol="0" anchor="ctr"/>
          <a:lstStyle/>
          <a:p>
            <a:pPr indent="0" marL="0">
              <a:buNone/>
            </a:pPr>
            <a:r>
              <a:rPr lang="en-US" sz="1300" b="1" dirty="0">
                <a:solidFill>
                  <a:srgbClr val="F56600"/>
                </a:solidFill>
                <a:latin typeface="Verdana" pitchFamily="34" charset="0"/>
                <a:ea typeface="Verdana" pitchFamily="34" charset="-122"/>
                <a:cs typeface="Verdana" pitchFamily="34" charset="-120"/>
              </a:rPr>
              <a:t>Por qué España rinde pese al spread estrecho</a:t>
            </a:r>
            <a:endParaRPr lang="en-US" sz="1300" dirty="0"/>
          </a:p>
        </p:txBody>
      </p:sp>
      <p:sp>
        <p:nvSpPr>
          <p:cNvPr id="7" name="Text 4"/>
          <p:cNvSpPr txBox="1"/>
          <p:nvPr/>
        </p:nvSpPr>
        <p:spPr>
          <a:xfrm>
            <a:off x="749808" y="5138928"/>
            <a:ext cx="5074920" cy="777240"/>
          </a:xfrm>
          <a:prstGeom prst="rect">
            <a:avLst/>
          </a:prstGeom>
          <a:noFill/>
          <a:ln/>
        </p:spPr>
        <p:txBody>
          <a:bodyPr wrap="square" lIns="0" tIns="0" rIns="0" bIns="0" rtlCol="0" anchor="ctr"/>
          <a:lstStyle/>
          <a:p>
            <a:pPr indent="0" marL="0">
              <a:buNone/>
            </a:pPr>
            <a:r>
              <a:rPr lang="en-US" sz="1150" dirty="0">
                <a:solidFill>
                  <a:srgbClr val="2B2B2B"/>
                </a:solidFill>
                <a:latin typeface="Verdana" pitchFamily="34" charset="0"/>
                <a:ea typeface="Verdana" pitchFamily="34" charset="-122"/>
                <a:cs typeface="Verdana" pitchFamily="34" charset="-120"/>
              </a:rPr>
              <a:t>Segunda mejor eficiencia (42,1 %) y el mayor ROE de sistema (18,5 %). Compensa por volumen y coste operativo, no por precio.</a:t>
            </a:r>
            <a:endParaRPr lang="en-US" sz="1150" dirty="0"/>
          </a:p>
        </p:txBody>
      </p:sp>
      <p:sp>
        <p:nvSpPr>
          <p:cNvPr id="8" name="Shape 5"/>
          <p:cNvSpPr/>
          <p:nvPr/>
        </p:nvSpPr>
        <p:spPr>
          <a:xfrm>
            <a:off x="6263640" y="4663440"/>
            <a:ext cx="5376672" cy="1371600"/>
          </a:xfrm>
          <a:prstGeom prst="roundRect">
            <a:avLst>
              <a:gd name="adj" fmla="val 4000"/>
            </a:avLst>
          </a:prstGeom>
          <a:solidFill>
            <a:srgbClr val="FFD6BA"/>
          </a:solidFill>
          <a:ln w="12700">
            <a:solidFill>
              <a:srgbClr val="FFAB70"/>
            </a:solidFill>
            <a:prstDash val="solid"/>
          </a:ln>
        </p:spPr>
      </p:sp>
      <p:sp>
        <p:nvSpPr>
          <p:cNvPr id="9" name="Text 6"/>
          <p:cNvSpPr txBox="1"/>
          <p:nvPr/>
        </p:nvSpPr>
        <p:spPr>
          <a:xfrm>
            <a:off x="6464808" y="4800600"/>
            <a:ext cx="4983480" cy="292608"/>
          </a:xfrm>
          <a:prstGeom prst="rect">
            <a:avLst/>
          </a:prstGeom>
          <a:noFill/>
          <a:ln/>
        </p:spPr>
        <p:txBody>
          <a:bodyPr wrap="square" lIns="0" tIns="0" rIns="0" bIns="0" rtlCol="0" anchor="ctr"/>
          <a:lstStyle/>
          <a:p>
            <a:pPr indent="0" marL="0">
              <a:buNone/>
            </a:pPr>
            <a:r>
              <a:rPr lang="en-US" sz="1300" b="1" dirty="0">
                <a:solidFill>
                  <a:srgbClr val="2B2B2B"/>
                </a:solidFill>
                <a:latin typeface="Verdana" pitchFamily="34" charset="0"/>
                <a:ea typeface="Verdana" pitchFamily="34" charset="-122"/>
                <a:cs typeface="Verdana" pitchFamily="34" charset="-120"/>
              </a:rPr>
              <a:t>Advertencia sobre estas cifras</a:t>
            </a:r>
            <a:endParaRPr lang="en-US" sz="1300" dirty="0"/>
          </a:p>
        </p:txBody>
      </p:sp>
      <p:sp>
        <p:nvSpPr>
          <p:cNvPr id="10" name="Text 7"/>
          <p:cNvSpPr txBox="1"/>
          <p:nvPr/>
        </p:nvSpPr>
        <p:spPr>
          <a:xfrm>
            <a:off x="6464808" y="5138928"/>
            <a:ext cx="4983480" cy="777240"/>
          </a:xfrm>
          <a:prstGeom prst="rect">
            <a:avLst/>
          </a:prstGeom>
          <a:noFill/>
          <a:ln/>
        </p:spPr>
        <p:txBody>
          <a:bodyPr wrap="square" lIns="0" tIns="0" rIns="0" bIns="0" rtlCol="0" anchor="ctr"/>
          <a:lstStyle/>
          <a:p>
            <a:pPr indent="0" marL="0">
              <a:buNone/>
            </a:pPr>
            <a:r>
              <a:rPr lang="en-US" sz="1150" dirty="0">
                <a:solidFill>
                  <a:srgbClr val="2B2B2B"/>
                </a:solidFill>
                <a:latin typeface="Verdana" pitchFamily="34" charset="0"/>
                <a:ea typeface="Verdana" pitchFamily="34" charset="-122"/>
                <a:cs typeface="Verdana" pitchFamily="34" charset="-120"/>
              </a:rPr>
              <a:t>Son de grupo consolidado. El coste del riesgo español (1,22 %) está inflado por el negocio internacional: CaixaBank, doméstico, reporta 0,24 %. Por eso el modelo no usa esta fila.</a:t>
            </a:r>
            <a:endParaRPr lang="en-US" sz="1150" dirty="0"/>
          </a:p>
        </p:txBody>
      </p:sp>
      <p:sp>
        <p:nvSpPr>
          <p:cNvPr id="11" name="Text 8"/>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EBA Risk Dashboard, anexo de datos Q1 2026, indicadores AQT_3.2, PFT_43, PFT_23, PFT_21, SVC_3 y PFT_26.</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Circulante: líneas de crédito y descubiertos</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Tipo del saldo vivo a empresas · Media 2026 · Serie A2Z1, que excluye deuda de tarjeta</a:t>
            </a:r>
            <a:endParaRPr lang="en-US" sz="1100" dirty="0"/>
          </a:p>
        </p:txBody>
      </p:sp>
      <p:graphicFrame>
        <p:nvGraphicFramePr>
          <p:cNvPr id="4" name="Chart 0" descr=""/>
          <p:cNvGraphicFramePr/>
          <p:nvPr/>
        </p:nvGraphicFramePr>
        <p:xfrm>
          <a:off x="548640" y="1691640"/>
          <a:ext cx="667512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91640"/>
            <a:ext cx="4142232" cy="1737360"/>
          </a:xfrm>
          <a:prstGeom prst="roundRect">
            <a:avLst>
              <a:gd name="adj" fmla="val 3158"/>
            </a:avLst>
          </a:prstGeom>
          <a:solidFill>
            <a:srgbClr val="FFCCE8"/>
          </a:solidFill>
          <a:ln w="12700">
            <a:solidFill>
              <a:srgbClr val="FF8AC2"/>
            </a:solidFill>
            <a:prstDash val="solid"/>
          </a:ln>
        </p:spPr>
      </p:sp>
      <p:sp>
        <p:nvSpPr>
          <p:cNvPr id="6" name="Text 3"/>
          <p:cNvSpPr txBox="1"/>
          <p:nvPr/>
        </p:nvSpPr>
        <p:spPr>
          <a:xfrm>
            <a:off x="7699248" y="1828800"/>
            <a:ext cx="3749040" cy="292608"/>
          </a:xfrm>
          <a:prstGeom prst="rect">
            <a:avLst/>
          </a:prstGeom>
          <a:noFill/>
          <a:ln/>
        </p:spPr>
        <p:txBody>
          <a:bodyPr wrap="square" lIns="0" tIns="0" rIns="0" bIns="0" rtlCol="0" anchor="ctr"/>
          <a:lstStyle/>
          <a:p>
            <a:pPr indent="0" marL="0">
              <a:buNone/>
            </a:pPr>
            <a:r>
              <a:rPr lang="en-US" sz="1300" b="1" dirty="0">
                <a:solidFill>
                  <a:srgbClr val="2B2B2B"/>
                </a:solidFill>
                <a:latin typeface="Verdana" pitchFamily="34" charset="0"/>
                <a:ea typeface="Verdana" pitchFamily="34" charset="-122"/>
                <a:cs typeface="Verdana" pitchFamily="34" charset="-120"/>
              </a:rPr>
              <a:t>Hueco: volumen solo en España</a:t>
            </a:r>
            <a:endParaRPr lang="en-US" sz="1300" dirty="0"/>
          </a:p>
        </p:txBody>
      </p:sp>
      <p:sp>
        <p:nvSpPr>
          <p:cNvPr id="7" name="Text 4"/>
          <p:cNvSpPr txBox="1"/>
          <p:nvPr/>
        </p:nvSpPr>
        <p:spPr>
          <a:xfrm>
            <a:off x="7699248" y="2194560"/>
            <a:ext cx="3749040" cy="1170432"/>
          </a:xfrm>
          <a:prstGeom prst="rect">
            <a:avLst/>
          </a:prstGeom>
          <a:noFill/>
          <a:ln/>
        </p:spPr>
        <p:txBody>
          <a:bodyPr wrap="square" lIns="0" tIns="0" rIns="0" bIns="0" rtlCol="0" anchor="ctr"/>
          <a:lstStyle/>
          <a:p>
            <a:pPr indent="0" marL="0">
              <a:buNone/>
            </a:pPr>
            <a:r>
              <a:rPr lang="en-US" sz="950" dirty="0">
                <a:solidFill>
                  <a:srgbClr val="2B2B2B"/>
                </a:solidFill>
                <a:latin typeface="Verdana" pitchFamily="34" charset="0"/>
                <a:ea typeface="Verdana" pitchFamily="34" charset="-122"/>
                <a:cs typeface="Verdana" pitchFamily="34" charset="-120"/>
              </a:rPr>
              <a:t>El BCE publica el tipo de los siete países, pero el volumen solo del agregado de zona euro. El único dato nacional hallado es el del Banco de España: 57.933 M€ de saldo medio en 2026, con un tipo del 3,58 % idéntico al del BCE. Para los otros seis, el peso del circulante en la cartera no es calculable con fuente oficial.</a:t>
            </a:r>
            <a:endParaRPr lang="en-US" sz="950" dirty="0"/>
          </a:p>
        </p:txBody>
      </p:sp>
      <p:sp>
        <p:nvSpPr>
          <p:cNvPr id="8" name="Shape 5"/>
          <p:cNvSpPr/>
          <p:nvPr/>
        </p:nvSpPr>
        <p:spPr>
          <a:xfrm>
            <a:off x="7498080" y="3611880"/>
            <a:ext cx="4142232" cy="1737360"/>
          </a:xfrm>
          <a:prstGeom prst="roundRect">
            <a:avLst>
              <a:gd name="adj" fmla="val 3158"/>
            </a:avLst>
          </a:prstGeom>
          <a:solidFill>
            <a:srgbClr val="E5E5E5"/>
          </a:solidFill>
          <a:ln w="12700">
            <a:solidFill>
              <a:srgbClr val="CACACA"/>
            </a:solidFill>
            <a:prstDash val="solid"/>
          </a:ln>
        </p:spPr>
      </p:sp>
      <p:sp>
        <p:nvSpPr>
          <p:cNvPr id="9" name="Text 6"/>
          <p:cNvSpPr txBox="1"/>
          <p:nvPr/>
        </p:nvSpPr>
        <p:spPr>
          <a:xfrm>
            <a:off x="7699248" y="3749040"/>
            <a:ext cx="3749040" cy="292608"/>
          </a:xfrm>
          <a:prstGeom prst="rect">
            <a:avLst/>
          </a:prstGeom>
          <a:noFill/>
          <a:ln/>
        </p:spPr>
        <p:txBody>
          <a:bodyPr wrap="square" lIns="0" tIns="0" rIns="0" bIns="0" rtlCol="0" anchor="ctr"/>
          <a:lstStyle/>
          <a:p>
            <a:pPr indent="0" marL="0">
              <a:buNone/>
            </a:pPr>
            <a:r>
              <a:rPr lang="en-US" sz="1300" b="1" dirty="0">
                <a:solidFill>
                  <a:srgbClr val="F56600"/>
                </a:solidFill>
                <a:latin typeface="Verdana" pitchFamily="34" charset="0"/>
                <a:ea typeface="Verdana" pitchFamily="34" charset="-122"/>
                <a:cs typeface="Verdana" pitchFamily="34" charset="-120"/>
              </a:rPr>
              <a:t>Dos perímetros distintos</a:t>
            </a:r>
            <a:endParaRPr lang="en-US" sz="1300" dirty="0"/>
          </a:p>
        </p:txBody>
      </p:sp>
      <p:sp>
        <p:nvSpPr>
          <p:cNvPr id="10" name="Text 7"/>
          <p:cNvSpPr txBox="1"/>
          <p:nvPr/>
        </p:nvSpPr>
        <p:spPr>
          <a:xfrm>
            <a:off x="7699248" y="4114800"/>
            <a:ext cx="3749040" cy="114300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A2Z1 son revolving y descubiertos. A2Z añade deuda de tarjeta. La diferencia va de 0 a 4 pb, mayor en Francia y zona euro. Se usa A2Z1, que es el perímetro de circulante de empresa.</a:t>
            </a:r>
            <a:endParaRPr lang="en-US" sz="1100" dirty="0"/>
          </a:p>
        </p:txBody>
      </p:sp>
      <p:sp>
        <p:nvSpPr>
          <p:cNvPr id="11" name="Text 8"/>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BCE, dataset MIR, serie A2Z1 (revolving y descubiertos a sociedades no financieras). En revolving y descubiertos el MIR mide el tipo del saldo vivo, no de nueva producción: no existe el concepto de nueva operación. El dato de julio de 2026 es provisional en España, Alemania, Francia, Italia y zona euro. Volumen de España: Banco de España, Boletín Estadístico, cuadro 19.13, serie 1.</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Préstamo frente a circulante: el precio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Media 2026 · En revolving el MIR mide el tipo del saldo vivo, no de nueva producción · El circulante no tiene tramo de importe, así que la única comparación de perímetro homólogo es contra el total de empresas</a:t>
            </a:r>
            <a:endParaRPr lang="en-US" sz="1100" dirty="0"/>
          </a:p>
        </p:txBody>
      </p:sp>
      <p:graphicFrame>
        <p:nvGraphicFramePr>
          <p:cNvPr id="4" name="Chart 0" descr=""/>
          <p:cNvGraphicFramePr/>
          <p:nvPr/>
        </p:nvGraphicFramePr>
        <p:xfrm>
          <a:off x="548640" y="1755648"/>
          <a:ext cx="736092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047488"/>
            <a:ext cx="7360920" cy="201168"/>
          </a:xfrm>
          <a:prstGeom prst="rect">
            <a:avLst/>
          </a:prstGeom>
          <a:noFill/>
          <a:ln/>
        </p:spPr>
        <p:txBody>
          <a:bodyPr wrap="square" lIns="0" tIns="0" rIns="0" bIns="0" rtlCol="0" anchor="ctr"/>
          <a:lstStyle/>
          <a:p>
            <a:pPr algn="ctr" indent="0" marL="0">
              <a:buNone/>
            </a:pPr>
            <a:r>
              <a:rPr lang="en-US" sz="800" i="1" dirty="0">
                <a:solidFill>
                  <a:srgbClr val="818181"/>
                </a:solidFill>
                <a:latin typeface="Verdana" pitchFamily="34" charset="0"/>
                <a:ea typeface="Verdana" pitchFamily="34" charset="-122"/>
                <a:cs typeface="Verdana" pitchFamily="34" charset="-120"/>
              </a:rPr>
              <a:t>Diferencia del circulante frente al préstamo del mismo perímetro, en puntos básicos</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065008" y="1755648"/>
          <a:ext cx="3575304" cy="914400"/>
        </p:xfrm>
        <a:graphic>
          <a:graphicData uri="http://schemas.openxmlformats.org/drawingml/2006/table">
            <a:tbl>
              <a:tblPr/>
              <a:tblGrid>
                <a:gridCol w="1234440"/>
                <a:gridCol w="1216152"/>
                <a:gridCol w="1124712"/>
              </a:tblGrid>
              <a:tr h="274320">
                <a:tc>
                  <a:txBody>
                    <a:bodyPr/>
                    <a:lstStyle/>
                    <a:p>
                      <a:pPr algn="l" indent="0" marL="0">
                        <a:buNone/>
                      </a:pP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vs préstamo total</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vs préstamo PYME</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España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+16</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+17</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Alemania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+138</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+56</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Francia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−18</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−38</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Italia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+54</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−14</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Portugal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+58</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+47</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P. Bajos</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−100</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−204</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274320">
                <a:tc>
                  <a:txBody>
                    <a:bodyPr/>
                    <a:lstStyle/>
                    <a:p>
                      <a:pPr algn="l" indent="0" marL="0">
                        <a:buNone/>
                      </a:pPr>
                      <a:r>
                        <a:rPr lang="en-US" sz="850" b="1" dirty="0">
                          <a:solidFill>
                            <a:srgbClr val="2B2B2B"/>
                          </a:solidFill>
                          <a:latin typeface="Verdana" pitchFamily="34" charset="0"/>
                          <a:ea typeface="Verdana" pitchFamily="34" charset="-122"/>
                          <a:cs typeface="Verdana" pitchFamily="34" charset="-120"/>
                        </a:rPr>
                        <a:t>Irlanda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−9</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−45</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bl>
          </a:graphicData>
        </a:graphic>
      </p:graphicFrame>
      <p:sp>
        <p:nvSpPr>
          <p:cNvPr id="7" name="Shape 3"/>
          <p:cNvSpPr/>
          <p:nvPr/>
        </p:nvSpPr>
        <p:spPr>
          <a:xfrm>
            <a:off x="8065008" y="4023360"/>
            <a:ext cx="3575304" cy="1133856"/>
          </a:xfrm>
          <a:prstGeom prst="roundRect">
            <a:avLst>
              <a:gd name="adj" fmla="val 4032"/>
            </a:avLst>
          </a:prstGeom>
          <a:solidFill>
            <a:srgbClr val="FFCCE8"/>
          </a:solidFill>
          <a:ln w="12700">
            <a:solidFill>
              <a:srgbClr val="FF8AC2"/>
            </a:solidFill>
            <a:prstDash val="solid"/>
          </a:ln>
        </p:spPr>
      </p:sp>
      <p:sp>
        <p:nvSpPr>
          <p:cNvPr id="8" name="Text 4"/>
          <p:cNvSpPr txBox="1"/>
          <p:nvPr/>
        </p:nvSpPr>
        <p:spPr>
          <a:xfrm>
            <a:off x="8211312" y="4096512"/>
            <a:ext cx="3282696"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Cuidado con el perímetro</a:t>
            </a:r>
            <a:endParaRPr lang="en-US" sz="1100" dirty="0"/>
          </a:p>
        </p:txBody>
      </p:sp>
      <p:sp>
        <p:nvSpPr>
          <p:cNvPr id="9" name="Text 5"/>
          <p:cNvSpPr txBox="1"/>
          <p:nvPr/>
        </p:nvSpPr>
        <p:spPr>
          <a:xfrm>
            <a:off x="8211312" y="4334256"/>
            <a:ext cx="3282696" cy="768096"/>
          </a:xfrm>
          <a:prstGeom prst="rect">
            <a:avLst/>
          </a:prstGeom>
          <a:noFill/>
          <a:ln/>
        </p:spPr>
        <p:txBody>
          <a:bodyPr wrap="square" lIns="0" tIns="0" rIns="0" bIns="0" rtlCol="0" anchor="ctr"/>
          <a:lstStyle/>
          <a:p>
            <a:pPr indent="0" marL="0">
              <a:buNone/>
            </a:pPr>
            <a:r>
              <a:rPr lang="en-US" sz="800" dirty="0">
                <a:solidFill>
                  <a:srgbClr val="2B2B2B"/>
                </a:solidFill>
                <a:latin typeface="Verdana" pitchFamily="34" charset="0"/>
                <a:ea typeface="Verdana" pitchFamily="34" charset="-122"/>
                <a:cs typeface="Verdana" pitchFamily="34" charset="-120"/>
              </a:rPr>
              <a:t>La serie A2Z1 del BCE solo existe en categoría total: mezcla PYME y gran empresa. Comparar el circulante contra el tramo ≤1 M€ exagera la diferencia allí donde ese tramo pesa poco. En Países Bajos solo es el 7,6 % de la nueva producción, y ahí el salto es de −204 pb contra PYME pero de −100 pb contra el total.</a:t>
            </a:r>
            <a:endParaRPr lang="en-US" sz="800" dirty="0"/>
          </a:p>
        </p:txBody>
      </p:sp>
      <p:sp>
        <p:nvSpPr>
          <p:cNvPr id="10" name="Shape 6"/>
          <p:cNvSpPr/>
          <p:nvPr/>
        </p:nvSpPr>
        <p:spPr>
          <a:xfrm>
            <a:off x="8065008" y="5248656"/>
            <a:ext cx="3575304" cy="804672"/>
          </a:xfrm>
          <a:prstGeom prst="roundRect">
            <a:avLst>
              <a:gd name="adj" fmla="val 5682"/>
            </a:avLst>
          </a:prstGeom>
          <a:solidFill>
            <a:srgbClr val="FFD6BA"/>
          </a:solidFill>
          <a:ln w="12700">
            <a:solidFill>
              <a:srgbClr val="FFAB70"/>
            </a:solidFill>
            <a:prstDash val="solid"/>
          </a:ln>
        </p:spPr>
      </p:sp>
      <p:sp>
        <p:nvSpPr>
          <p:cNvPr id="11" name="Text 7"/>
          <p:cNvSpPr txBox="1"/>
          <p:nvPr/>
        </p:nvSpPr>
        <p:spPr>
          <a:xfrm>
            <a:off x="8211312" y="5321808"/>
            <a:ext cx="3282696"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No hay una regla</a:t>
            </a:r>
            <a:endParaRPr lang="en-US" sz="1100" dirty="0"/>
          </a:p>
        </p:txBody>
      </p:sp>
      <p:sp>
        <p:nvSpPr>
          <p:cNvPr id="12" name="Text 8"/>
          <p:cNvSpPr txBox="1"/>
          <p:nvPr/>
        </p:nvSpPr>
        <p:spPr>
          <a:xfrm>
            <a:off x="8211312" y="5559552"/>
            <a:ext cx="3282696" cy="438912"/>
          </a:xfrm>
          <a:prstGeom prst="rect">
            <a:avLst/>
          </a:prstGeom>
          <a:noFill/>
          <a:ln/>
        </p:spPr>
        <p:txBody>
          <a:bodyPr wrap="square" lIns="0" tIns="0" rIns="0" bIns="0" rtlCol="0" anchor="ctr"/>
          <a:lstStyle/>
          <a:p>
            <a:pPr indent="0" marL="0">
              <a:buNone/>
            </a:pPr>
            <a:r>
              <a:rPr lang="en-US" sz="800" dirty="0">
                <a:solidFill>
                  <a:srgbClr val="2B2B2B"/>
                </a:solidFill>
                <a:latin typeface="Verdana" pitchFamily="34" charset="0"/>
                <a:ea typeface="Verdana" pitchFamily="34" charset="-122"/>
                <a:cs typeface="Verdana" pitchFamily="34" charset="-120"/>
              </a:rPr>
              <a:t>A perímetro homólogo, el circulante es más caro que el préstamo en cuatro países y más barato en tres. Alemania cobra +138 pb por la línea; Países Bajos, −100.</a:t>
            </a:r>
            <a:endParaRPr lang="en-US" sz="800" dirty="0"/>
          </a:p>
        </p:txBody>
      </p:sp>
      <p:sp>
        <p:nvSpPr>
          <p:cNvPr id="13" name="Text 9"/>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BCE, dataset MIR. Circulante: serie A2Z1 (revolving y descubiertos a sociedades no financieras), sin tramo de importe, media simple de 2026-01 a 2026-07. Préstamo: medias ponderadas por volumen del mismo periodo. En revolving el MIR mide el tipo del saldo vivo, no de nueva producción: no existe el concepto de nueva operación. Validación cruzada: el Banco de España publica el mismo dato para España (cuadro 19.5, serie 1) y da 3,58 %, idéntico al del BCE.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ROE del circulante: se cobra por dos sitios, se consume capital por dos</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Por euro dispuesto · Disposición 60 % y comisión de disponibilidad 0,30 % son SUPUESTOS, no datos · CCF del 10 % del CRR3</a:t>
            </a:r>
            <a:endParaRPr lang="en-US" sz="1100" dirty="0"/>
          </a:p>
        </p:txBody>
      </p:sp>
      <p:graphicFrame>
        <p:nvGraphicFramePr>
          <p:cNvPr id="4" name="Chart 0" descr=""/>
          <p:cNvGraphicFramePr/>
          <p:nvPr/>
        </p:nvGraphicFramePr>
        <p:xfrm>
          <a:off x="548640" y="1755648"/>
          <a:ext cx="6720840" cy="2788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590288"/>
            <a:ext cx="6720840" cy="475488"/>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Los dos no son comparables tal cual: el modelo del préstamo aplica 0,87 % de comisiones sobre el saldo y el del circulante no aplica ninguna sobre el dispuesto. Con la misma carga, el circulante da España 13,0 · Alemania 19,5 · Francia 4,0 · Italia 14,1 · Portugal 15,4 · P. Bajos 9,0 · Irlanda 12,2 %.</a:t>
            </a:r>
            <a:endParaRPr lang="en-US" sz="800" dirty="0"/>
          </a:p>
        </p:txBody>
      </p:sp>
      <p:sp>
        <p:nvSpPr>
          <p:cNvPr id="6" name="Text 3"/>
          <p:cNvSpPr txBox="1"/>
          <p:nvPr/>
        </p:nvSpPr>
        <p:spPr>
          <a:xfrm>
            <a:off x="548640" y="5138928"/>
            <a:ext cx="6720840" cy="219456"/>
          </a:xfrm>
          <a:prstGeom prst="rect">
            <a:avLst/>
          </a:prstGeom>
          <a:noFill/>
          <a:ln/>
        </p:spPr>
        <p:txBody>
          <a:bodyPr wrap="square" lIns="0" tIns="0" rIns="0" bIns="0" rtlCol="0" anchor="ctr"/>
          <a:lstStyle/>
          <a:p>
            <a:pPr indent="0" marL="0">
              <a:buNone/>
            </a:pPr>
            <a:r>
              <a:rPr lang="en-US" sz="1150" b="1" dirty="0">
                <a:solidFill>
                  <a:srgbClr val="F56600"/>
                </a:solidFill>
                <a:latin typeface="Verdana" pitchFamily="34" charset="0"/>
                <a:ea typeface="Verdana" pitchFamily="34" charset="-122"/>
                <a:cs typeface="Verdana" pitchFamily="34" charset="-120"/>
              </a:rPr>
              <a:t>Sensibilidad a los dos supuestos</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5394960"/>
          <a:ext cx="6720840" cy="914400"/>
        </p:xfrm>
        <a:graphic>
          <a:graphicData uri="http://schemas.openxmlformats.org/drawingml/2006/table">
            <a:tbl>
              <a:tblPr/>
              <a:tblGrid>
                <a:gridCol w="1920240"/>
                <a:gridCol w="800100"/>
                <a:gridCol w="800100"/>
                <a:gridCol w="800100"/>
                <a:gridCol w="800100"/>
                <a:gridCol w="800100"/>
                <a:gridCol w="800100"/>
              </a:tblGrid>
              <a:tr h="192024">
                <a:tc>
                  <a:txBody>
                    <a:bodyPr/>
                    <a:lstStyle/>
                    <a:p>
                      <a:pPr algn="l" indent="0" marL="0">
                        <a:buNone/>
                      </a:pPr>
                      <a:r>
                        <a:rPr lang="en-US" sz="750" b="1" dirty="0">
                          <a:solidFill>
                            <a:srgbClr val="FFFFFF"/>
                          </a:solidFill>
                          <a:latin typeface="Verdana" pitchFamily="34" charset="0"/>
                          <a:ea typeface="Verdana" pitchFamily="34" charset="-122"/>
                          <a:cs typeface="Verdana" pitchFamily="34" charset="-120"/>
                        </a:rPr>
                        <a:t>comisión \ disposición</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750" b="1" dirty="0">
                          <a:solidFill>
                            <a:srgbClr val="FFFFFF"/>
                          </a:solidFill>
                          <a:latin typeface="Verdana" pitchFamily="34" charset="0"/>
                          <a:ea typeface="Verdana" pitchFamily="34" charset="-122"/>
                          <a:cs typeface="Verdana" pitchFamily="34" charset="-120"/>
                        </a:rPr>
                        <a:t>40 %</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750" b="1" dirty="0">
                          <a:solidFill>
                            <a:srgbClr val="FFFFFF"/>
                          </a:solidFill>
                          <a:latin typeface="Verdana" pitchFamily="34" charset="0"/>
                          <a:ea typeface="Verdana" pitchFamily="34" charset="-122"/>
                          <a:cs typeface="Verdana" pitchFamily="34" charset="-120"/>
                        </a:rPr>
                        <a:t>50 %</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750" b="1" dirty="0">
                          <a:solidFill>
                            <a:srgbClr val="FFFFFF"/>
                          </a:solidFill>
                          <a:latin typeface="Verdana" pitchFamily="34" charset="0"/>
                          <a:ea typeface="Verdana" pitchFamily="34" charset="-122"/>
                          <a:cs typeface="Verdana" pitchFamily="34" charset="-120"/>
                        </a:rPr>
                        <a:t>60 %</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750" b="1" dirty="0">
                          <a:solidFill>
                            <a:srgbClr val="FFFFFF"/>
                          </a:solidFill>
                          <a:latin typeface="Verdana" pitchFamily="34" charset="0"/>
                          <a:ea typeface="Verdana" pitchFamily="34" charset="-122"/>
                          <a:cs typeface="Verdana" pitchFamily="34" charset="-120"/>
                        </a:rPr>
                        <a:t>70 %</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750" b="1" dirty="0">
                          <a:solidFill>
                            <a:srgbClr val="FFFFFF"/>
                          </a:solidFill>
                          <a:latin typeface="Verdana" pitchFamily="34" charset="0"/>
                          <a:ea typeface="Verdana" pitchFamily="34" charset="-122"/>
                          <a:cs typeface="Verdana" pitchFamily="34" charset="-120"/>
                        </a:rPr>
                        <a:t>80 %</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750" b="1" dirty="0">
                          <a:solidFill>
                            <a:srgbClr val="FFFFFF"/>
                          </a:solidFill>
                          <a:latin typeface="Verdana" pitchFamily="34" charset="0"/>
                          <a:ea typeface="Verdana" pitchFamily="34" charset="-122"/>
                          <a:cs typeface="Verdana" pitchFamily="34" charset="-120"/>
                        </a:rPr>
                        <a:t>100 %</a:t>
                      </a:r>
                      <a:endParaRPr lang="en-US" sz="7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192024">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0,00 %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7,0 %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7,5 %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7,9 %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8,2 %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8,4 %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192024">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0,15 %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7,9 %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8,1 %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8,3 %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8,5 %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192024">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0,30 %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8,7 %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192024">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0,50 %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9,9 %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9,3 %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9,1 %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192024">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0,75 %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11,4 %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10,6 %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10,0 %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9,6 %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9,3 %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800" b="1" dirty="0">
                          <a:solidFill>
                            <a:srgbClr val="2B2B2B"/>
                          </a:solidFill>
                          <a:latin typeface="Verdana" pitchFamily="34" charset="0"/>
                          <a:ea typeface="Verdana" pitchFamily="34" charset="-122"/>
                          <a:cs typeface="Verdana" pitchFamily="34" charset="-120"/>
                        </a:rPr>
                        <a:t>8,8 %</a:t>
                      </a:r>
                      <a:endParaRPr lang="en-US" sz="8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bl>
          </a:graphicData>
        </a:graphic>
      </p:graphicFrame>
      <p:sp>
        <p:nvSpPr>
          <p:cNvPr id="8" name="Shape 4"/>
          <p:cNvSpPr/>
          <p:nvPr/>
        </p:nvSpPr>
        <p:spPr>
          <a:xfrm>
            <a:off x="7452360" y="1755648"/>
            <a:ext cx="4187952" cy="1389888"/>
          </a:xfrm>
          <a:prstGeom prst="roundRect">
            <a:avLst>
              <a:gd name="adj" fmla="val 3289"/>
            </a:avLst>
          </a:prstGeom>
          <a:solidFill>
            <a:srgbClr val="E5E5E5"/>
          </a:solidFill>
          <a:ln w="12700">
            <a:solidFill>
              <a:srgbClr val="CACACA"/>
            </a:solidFill>
            <a:prstDash val="solid"/>
          </a:ln>
        </p:spPr>
      </p:sp>
      <p:sp>
        <p:nvSpPr>
          <p:cNvPr id="9" name="Text 5"/>
          <p:cNvSpPr txBox="1"/>
          <p:nvPr/>
        </p:nvSpPr>
        <p:spPr>
          <a:xfrm>
            <a:off x="7598664" y="1828800"/>
            <a:ext cx="389534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Cómo se cobra y cómo consume</a:t>
            </a:r>
            <a:endParaRPr lang="en-US" sz="1100" dirty="0"/>
          </a:p>
        </p:txBody>
      </p:sp>
      <p:sp>
        <p:nvSpPr>
          <p:cNvPr id="10" name="Text 6"/>
          <p:cNvSpPr txBox="1"/>
          <p:nvPr/>
        </p:nvSpPr>
        <p:spPr>
          <a:xfrm>
            <a:off x="7598664" y="2066544"/>
            <a:ext cx="3895344" cy="1005840"/>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Ingreso = tipo sobre el DISPUESTO + comisión sobre el DISPONIBLE.</a:t>
            </a:r>
            <a:endParaRPr lang="en-US" sz="850" dirty="0"/>
          </a:p>
          <a:p>
            <a:pPr indent="0" marL="0">
              <a:buNone/>
            </a:pPr>
            <a:r>
              <a:rPr lang="en-US" sz="850" dirty="0">
                <a:solidFill>
                  <a:srgbClr val="2B2B2B"/>
                </a:solidFill>
                <a:latin typeface="Verdana" pitchFamily="34" charset="0"/>
                <a:ea typeface="Verdana" pitchFamily="34" charset="-122"/>
                <a:cs typeface="Verdana" pitchFamily="34" charset="-120"/>
              </a:rPr>
              <a:t>Exposición = dispuesto + CCF × disponible.</a:t>
            </a:r>
            <a:endParaRPr lang="en-US" sz="850" dirty="0"/>
          </a:p>
          <a:p>
            <a:pPr indent="0" marL="0">
              <a:buNone/>
            </a:pPr>
            <a:r>
              <a:rPr lang="en-US" sz="850" dirty="0">
                <a:solidFill>
                  <a:srgbClr val="2B2B2B"/>
                </a:solidFill>
                <a:latin typeface="Verdana" pitchFamily="34" charset="0"/>
                <a:ea typeface="Verdana" pitchFamily="34" charset="-122"/>
                <a:cs typeface="Verdana" pitchFamily="34" charset="-120"/>
              </a:rPr>
              <a:t>Solo se fondea lo dispuesto; el riesgo y el capital van sobre la exposición.</a:t>
            </a:r>
            <a:endParaRPr lang="en-US" sz="850" dirty="0"/>
          </a:p>
        </p:txBody>
      </p:sp>
      <p:sp>
        <p:nvSpPr>
          <p:cNvPr id="11" name="Shape 7"/>
          <p:cNvSpPr/>
          <p:nvPr/>
        </p:nvSpPr>
        <p:spPr>
          <a:xfrm>
            <a:off x="7452360" y="3236976"/>
            <a:ext cx="4187952" cy="1335024"/>
          </a:xfrm>
          <a:prstGeom prst="roundRect">
            <a:avLst>
              <a:gd name="adj" fmla="val 3425"/>
            </a:avLst>
          </a:prstGeom>
          <a:solidFill>
            <a:srgbClr val="FFD6BA"/>
          </a:solidFill>
          <a:ln w="12700">
            <a:solidFill>
              <a:srgbClr val="FFAB70"/>
            </a:solidFill>
            <a:prstDash val="solid"/>
          </a:ln>
        </p:spPr>
      </p:sp>
      <p:sp>
        <p:nvSpPr>
          <p:cNvPr id="12" name="Text 8"/>
          <p:cNvSpPr txBox="1"/>
          <p:nvPr/>
        </p:nvSpPr>
        <p:spPr>
          <a:xfrm>
            <a:off x="7598664" y="3310128"/>
            <a:ext cx="389534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La comisión neutral es el CCF por el margen</a:t>
            </a:r>
            <a:endParaRPr lang="en-US" sz="1100" dirty="0"/>
          </a:p>
        </p:txBody>
      </p:sp>
      <p:sp>
        <p:nvSpPr>
          <p:cNvPr id="13" name="Text 9"/>
          <p:cNvSpPr txBox="1"/>
          <p:nvPr/>
        </p:nvSpPr>
        <p:spPr>
          <a:xfrm>
            <a:off x="7598664" y="3547872"/>
            <a:ext cx="3895344" cy="95097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Imponiendo que el ROE no dependa de la disposición sale f = CCF × (tipo − coste de los recursos). Por debajo de esa comisión, una línea poco dispuesta destruye ROE; por encima, lo crea. Va de 0,14 % en Países Bajos a 0,46 % en Irlanda.</a:t>
            </a:r>
            <a:endParaRPr lang="en-US" sz="850" dirty="0"/>
          </a:p>
        </p:txBody>
      </p:sp>
      <p:sp>
        <p:nvSpPr>
          <p:cNvPr id="14" name="Shape 10"/>
          <p:cNvSpPr/>
          <p:nvPr/>
        </p:nvSpPr>
        <p:spPr>
          <a:xfrm>
            <a:off x="7452360" y="4663440"/>
            <a:ext cx="4187952" cy="1389888"/>
          </a:xfrm>
          <a:prstGeom prst="roundRect">
            <a:avLst>
              <a:gd name="adj" fmla="val 3289"/>
            </a:avLst>
          </a:prstGeom>
          <a:solidFill>
            <a:srgbClr val="FFCCE8"/>
          </a:solidFill>
          <a:ln w="12700">
            <a:solidFill>
              <a:srgbClr val="FF8AC2"/>
            </a:solidFill>
            <a:prstDash val="solid"/>
          </a:ln>
        </p:spPr>
      </p:sp>
      <p:sp>
        <p:nvSpPr>
          <p:cNvPr id="15" name="Text 11"/>
          <p:cNvSpPr txBox="1"/>
          <p:nvPr/>
        </p:nvSpPr>
        <p:spPr>
          <a:xfrm>
            <a:off x="7598664" y="4736592"/>
            <a:ext cx="3895344" cy="219456"/>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Dos huecos duros y un cambio regulatorio</a:t>
            </a:r>
            <a:endParaRPr lang="en-US" sz="1100" dirty="0"/>
          </a:p>
        </p:txBody>
      </p:sp>
      <p:sp>
        <p:nvSpPr>
          <p:cNvPr id="16" name="Text 12"/>
          <p:cNvSpPr txBox="1"/>
          <p:nvPr/>
        </p:nvSpPr>
        <p:spPr>
          <a:xfrm>
            <a:off x="7598664" y="4974336"/>
            <a:ext cx="3895344" cy="1005840"/>
          </a:xfrm>
          <a:prstGeom prst="rect">
            <a:avLst/>
          </a:prstGeom>
          <a:noFill/>
          <a:ln/>
        </p:spPr>
        <p:txBody>
          <a:bodyPr wrap="square" lIns="0" tIns="0" rIns="0" bIns="0" rtlCol="0" anchor="ctr"/>
          <a:lstStyle/>
          <a:p>
            <a:pPr indent="0" marL="0">
              <a:buNone/>
            </a:pPr>
            <a:r>
              <a:rPr lang="en-US" sz="800" dirty="0">
                <a:solidFill>
                  <a:srgbClr val="2B2B2B"/>
                </a:solidFill>
                <a:latin typeface="Verdana" pitchFamily="34" charset="0"/>
                <a:ea typeface="Verdana" pitchFamily="34" charset="-122"/>
                <a:cs typeface="Verdana" pitchFamily="34" charset="-120"/>
              </a:rPr>
              <a:t>Ni la comisión de disponibilidad ni la tasa de disposición las publica ninguna estadística: ni el BCE, ni el EBA, ni el Boletín del Banco de España, que sí da TAE de préstamo por tramo pero no de líneas de crédito. Y el CRR3, en vigor desde 2025, subió del 0 % al 10 % el factor de conversión de los compromisos cancelables: el disponible consume capital por primera vez. Con compromiso no cancelable (40 %) el ROE cae entre 1,3 y 3,1 puntos.</a:t>
            </a:r>
            <a:endParaRPr lang="en-US" sz="800" dirty="0"/>
          </a:p>
        </p:txBody>
      </p:sp>
      <p:sp>
        <p:nvSpPr>
          <p:cNvPr id="17" name="Text 13"/>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Cálculo propio. Tipo del circulante del MIR (A2Z1); coste de los recursos, coste del riesgo (PD × LGD de la clase IRB de PYME), densidad de RWA, CET1, eficiencia y tipo impositivo, los mismos que usa el modelo del préstamo. La disposición y la comisión de disponibilidad son supuestos declarados: la rejilla muestra el efecto de moverlos. El coste del riesgo se aplica sobre la exposición, no solo sobre el dispuesto, que es como lo trata la NIIF 9 en compromisos.</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Comparables banco a banco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Cuentas de resultados 2026 · De nueve bancos analizados, solo dos publican segmento de empresas con desglose de comisiones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11091672" cy="914400"/>
        </p:xfrm>
        <a:graphic>
          <a:graphicData uri="http://schemas.openxmlformats.org/drawingml/2006/table">
            <a:tbl>
              <a:tblPr/>
              <a:tblGrid>
                <a:gridCol w="2194560"/>
                <a:gridCol w="1371600"/>
                <a:gridCol w="3017520"/>
                <a:gridCol w="1463040"/>
                <a:gridCol w="1463040"/>
                <a:gridCol w="1143000"/>
                <a:gridCol w="1353312"/>
              </a:tblGrid>
              <a:tr h="457200">
                <a:tc>
                  <a:txBody>
                    <a:bodyPr/>
                    <a:lstStyle/>
                    <a:p>
                      <a:pPr algn="l" indent="0" marL="0">
                        <a:buNone/>
                      </a:pPr>
                      <a:r>
                        <a:rPr lang="en-US" sz="1000" b="1" dirty="0">
                          <a:solidFill>
                            <a:srgbClr val="FFFFFF"/>
                          </a:solidFill>
                          <a:latin typeface="Verdana" pitchFamily="34" charset="0"/>
                          <a:ea typeface="Verdana" pitchFamily="34" charset="-122"/>
                          <a:cs typeface="Verdana" pitchFamily="34" charset="-120"/>
                        </a:rPr>
                        <a:t>Banco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000" b="1" dirty="0">
                          <a:solidFill>
                            <a:srgbClr val="FFFFFF"/>
                          </a:solidFill>
                          <a:latin typeface="Verdana" pitchFamily="34" charset="0"/>
                          <a:ea typeface="Verdana" pitchFamily="34" charset="-122"/>
                          <a:cs typeface="Verdana" pitchFamily="34" charset="-120"/>
                        </a:rPr>
                        <a:t>País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000" b="1" dirty="0">
                          <a:solidFill>
                            <a:srgbClr val="FFFFFF"/>
                          </a:solidFill>
                          <a:latin typeface="Verdana" pitchFamily="34" charset="0"/>
                          <a:ea typeface="Verdana" pitchFamily="34" charset="-122"/>
                          <a:cs typeface="Verdana" pitchFamily="34" charset="-120"/>
                        </a:rPr>
                        <a:t>Segmento publicado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Ingresos M€</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Comisiones M€</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Com./ing.</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Eficiencia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Commerzbank</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Alemania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b="1" dirty="0">
                          <a:solidFill>
                            <a:srgbClr val="F56600"/>
                          </a:solidFill>
                          <a:latin typeface="Verdana" pitchFamily="34" charset="0"/>
                          <a:ea typeface="Verdana" pitchFamily="34" charset="-122"/>
                          <a:cs typeface="Verdana" pitchFamily="34" charset="-120"/>
                        </a:rPr>
                        <a:t>Corporate Clients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1.232</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376</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30,5 %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ABN AMRO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P. Bajos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b="1" dirty="0">
                          <a:solidFill>
                            <a:srgbClr val="F56600"/>
                          </a:solidFill>
                          <a:latin typeface="Verdana" pitchFamily="34" charset="0"/>
                          <a:ea typeface="Verdana" pitchFamily="34" charset="-122"/>
                          <a:cs typeface="Verdana" pitchFamily="34" charset="-120"/>
                        </a:rPr>
                        <a:t>Corporate Banking</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1.694</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429</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25,3 %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49,5 %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Intesa Sanpaolo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Italia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b="1" dirty="0">
                          <a:solidFill>
                            <a:srgbClr val="F56600"/>
                          </a:solidFill>
                          <a:latin typeface="Verdana" pitchFamily="34" charset="0"/>
                          <a:ea typeface="Verdana" pitchFamily="34" charset="-122"/>
                          <a:cs typeface="Verdana" pitchFamily="34" charset="-120"/>
                        </a:rPr>
                        <a:t>Banca dei Territori</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6.205</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no desglosa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46,7 %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CaixaBank</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España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i="1" dirty="0">
                          <a:solidFill>
                            <a:srgbClr val="818181"/>
                          </a:solidFill>
                          <a:latin typeface="Verdana" pitchFamily="34" charset="0"/>
                          <a:ea typeface="Verdana" pitchFamily="34" charset="-122"/>
                          <a:cs typeface="Verdana" pitchFamily="34" charset="-120"/>
                        </a:rPr>
                        <a:t>no tiene segmento empresas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8.338</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2.075</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24,9 %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39,6 %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BPER Banca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Italia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i="1" dirty="0">
                          <a:solidFill>
                            <a:srgbClr val="818181"/>
                          </a:solidFill>
                          <a:latin typeface="Verdana" pitchFamily="34" charset="0"/>
                          <a:ea typeface="Verdana" pitchFamily="34" charset="-122"/>
                          <a:cs typeface="Verdana" pitchFamily="34" charset="-120"/>
                        </a:rPr>
                        <a:t>no desglosa por división</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3.876</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1.353</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34,9 %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dirty="0">
                          <a:solidFill>
                            <a:srgbClr val="2B2B2B"/>
                          </a:solidFill>
                          <a:latin typeface="Verdana" pitchFamily="34" charset="0"/>
                          <a:ea typeface="Verdana" pitchFamily="34" charset="-122"/>
                          <a:cs typeface="Verdana" pitchFamily="34" charset="-120"/>
                        </a:rPr>
                        <a:t>41,4 %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i="1" dirty="0">
                          <a:solidFill>
                            <a:srgbClr val="818181"/>
                          </a:solidFill>
                          <a:latin typeface="Verdana" pitchFamily="34" charset="0"/>
                          <a:ea typeface="Verdana" pitchFamily="34" charset="-122"/>
                          <a:cs typeface="Verdana" pitchFamily="34" charset="-120"/>
                        </a:rPr>
                        <a:t>ING · SocGen · BNP</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i="1" dirty="0">
                          <a:solidFill>
                            <a:srgbClr val="818181"/>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i="1" dirty="0">
                          <a:solidFill>
                            <a:srgbClr val="818181"/>
                          </a:solidFill>
                          <a:latin typeface="Verdana" pitchFamily="34" charset="0"/>
                          <a:ea typeface="Verdana" pitchFamily="34" charset="-122"/>
                          <a:cs typeface="Verdana" pitchFamily="34" charset="-120"/>
                        </a:rPr>
                        <a:t>no accesible: bloqueo antibot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i="1" dirty="0">
                          <a:solidFill>
                            <a:srgbClr val="818181"/>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i="1" dirty="0">
                          <a:solidFill>
                            <a:srgbClr val="818181"/>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i="1" dirty="0">
                          <a:solidFill>
                            <a:srgbClr val="818181"/>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00" i="1" dirty="0">
                          <a:solidFill>
                            <a:srgbClr val="818181"/>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bl>
          </a:graphicData>
        </a:graphic>
      </p:graphicFrame>
      <p:sp>
        <p:nvSpPr>
          <p:cNvPr id="5" name="Shape 2"/>
          <p:cNvSpPr/>
          <p:nvPr/>
        </p:nvSpPr>
        <p:spPr>
          <a:xfrm>
            <a:off x="548640" y="4800600"/>
            <a:ext cx="11091672" cy="1234440"/>
          </a:xfrm>
          <a:prstGeom prst="roundRect">
            <a:avLst>
              <a:gd name="adj" fmla="val 4444"/>
            </a:avLst>
          </a:prstGeom>
          <a:solidFill>
            <a:srgbClr val="FFCCE8"/>
          </a:solidFill>
          <a:ln w="12700">
            <a:solidFill>
              <a:srgbClr val="FF8AC2"/>
            </a:solidFill>
            <a:prstDash val="solid"/>
          </a:ln>
        </p:spPr>
      </p:sp>
      <p:sp>
        <p:nvSpPr>
          <p:cNvPr id="6" name="Text 3"/>
          <p:cNvSpPr txBox="1"/>
          <p:nvPr/>
        </p:nvSpPr>
        <p:spPr>
          <a:xfrm>
            <a:off x="777240" y="4919472"/>
            <a:ext cx="10789920" cy="274320"/>
          </a:xfrm>
          <a:prstGeom prst="rect">
            <a:avLst/>
          </a:prstGeom>
          <a:noFill/>
          <a:ln/>
        </p:spPr>
        <p:txBody>
          <a:bodyPr wrap="square" lIns="0" tIns="0" rIns="0" bIns="0" rtlCol="0" anchor="ctr"/>
          <a:lstStyle/>
          <a:p>
            <a:pPr indent="0" marL="0">
              <a:buNone/>
            </a:pPr>
            <a:r>
              <a:rPr lang="en-US" sz="1300" b="1" dirty="0">
                <a:solidFill>
                  <a:srgbClr val="2B2B2B"/>
                </a:solidFill>
                <a:latin typeface="Verdana" pitchFamily="34" charset="0"/>
                <a:ea typeface="Verdana" pitchFamily="34" charset="-122"/>
                <a:cs typeface="Verdana" pitchFamily="34" charset="-120"/>
              </a:rPr>
              <a:t>Por qué esto no cierra la pata de comisiones</a:t>
            </a:r>
            <a:endParaRPr lang="en-US" sz="1300" dirty="0"/>
          </a:p>
        </p:txBody>
      </p:sp>
      <p:sp>
        <p:nvSpPr>
          <p:cNvPr id="7" name="Text 4"/>
          <p:cNvSpPr txBox="1"/>
          <p:nvPr/>
        </p:nvSpPr>
        <p:spPr>
          <a:xfrm>
            <a:off x="777240" y="5230368"/>
            <a:ext cx="10789920" cy="73152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La NIIF 8 obliga a reportar por los segmentos que usa la dirección, y casi ninguno usa «PYME». El segmento de Commerzbank mezcla gran empresa, PYME, sector público e institucionales. En ABN AMRO la PYME neerlandesa ni siquiera está en Corporate Banking, sino en Personal &amp; Business Banking. El peso de comisiones del 25 % al 35 % sirve como orden de magnitud de la banca de empresas, no como medida del negocio PYME.</a:t>
            </a:r>
            <a:endParaRPr lang="en-US" sz="1100" dirty="0"/>
          </a:p>
        </p:txBody>
      </p:sp>
      <p:sp>
        <p:nvSpPr>
          <p:cNvPr id="8" name="Text 5"/>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Fuentes: comunicado de resultados Q2 2026 de Commerzbank; informe intermedio Q2 2026 de ABN AMRO; resultados 1H26 de Intesa Sanpaolo; Actividad y Resultados 1S26 de CaixaBank; resultados 1H26 de BPER. Cifras de segmento donde existe, de grupo en el resto.</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Conclusiones y recomendaciones</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Lo que sostienen los datos y lo que se deriva para una decisión de entrada</a:t>
            </a:r>
            <a:endParaRPr lang="en-US" sz="1100" dirty="0"/>
          </a:p>
        </p:txBody>
      </p:sp>
      <p:sp>
        <p:nvSpPr>
          <p:cNvPr id="4" name="Shape 2"/>
          <p:cNvSpPr/>
          <p:nvPr/>
        </p:nvSpPr>
        <p:spPr>
          <a:xfrm>
            <a:off x="548640" y="1554480"/>
            <a:ext cx="329184" cy="329184"/>
          </a:xfrm>
          <a:prstGeom prst="ellipse">
            <a:avLst/>
          </a:prstGeom>
          <a:solidFill>
            <a:srgbClr val="F56600"/>
          </a:solidFill>
          <a:ln w="12700">
            <a:solidFill>
              <a:srgbClr val="F56600"/>
            </a:solidFill>
            <a:prstDash val="solid"/>
          </a:ln>
        </p:spPr>
      </p:sp>
      <p:sp>
        <p:nvSpPr>
          <p:cNvPr id="5" name="Text 3"/>
          <p:cNvSpPr txBox="1"/>
          <p:nvPr/>
        </p:nvSpPr>
        <p:spPr>
          <a:xfrm>
            <a:off x="548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Verdana" pitchFamily="34" charset="0"/>
                <a:ea typeface="Verdana" pitchFamily="34" charset="-122"/>
                <a:cs typeface="Verdana" pitchFamily="34" charset="-120"/>
              </a:rPr>
              <a:t>1</a:t>
            </a:r>
            <a:endParaRPr lang="en-US" sz="1300" dirty="0"/>
          </a:p>
        </p:txBody>
      </p:sp>
      <p:sp>
        <p:nvSpPr>
          <p:cNvPr id="6" name="Text 4"/>
          <p:cNvSpPr txBox="1"/>
          <p:nvPr/>
        </p:nvSpPr>
        <p:spPr>
          <a:xfrm>
            <a:off x="1051560" y="1517904"/>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capital manda sobre el precio</a:t>
            </a:r>
            <a:endParaRPr lang="en-US" sz="1250" dirty="0"/>
          </a:p>
        </p:txBody>
      </p:sp>
      <p:sp>
        <p:nvSpPr>
          <p:cNvPr id="7" name="Text 5"/>
          <p:cNvSpPr txBox="1"/>
          <p:nvPr/>
        </p:nvSpPr>
        <p:spPr>
          <a:xfrm>
            <a:off x="1051560" y="1792224"/>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La densidad de RWA va del 35 % en Alemania al 70 % en Irlanda. Esa horquilla separa más el ROE que el precio, que solo va del 3,41 % al 5,37 %. Irlanda lo demuestra: tiene el precio más alto de las siete y la mejor PD, y aun así queda cuarta entre los bancos locales.</a:t>
            </a:r>
            <a:endParaRPr lang="en-US" sz="900" dirty="0"/>
          </a:p>
        </p:txBody>
      </p:sp>
      <p:sp>
        <p:nvSpPr>
          <p:cNvPr id="8" name="Shape 6"/>
          <p:cNvSpPr/>
          <p:nvPr/>
        </p:nvSpPr>
        <p:spPr>
          <a:xfrm>
            <a:off x="548640" y="2327148"/>
            <a:ext cx="329184" cy="329184"/>
          </a:xfrm>
          <a:prstGeom prst="ellipse">
            <a:avLst/>
          </a:prstGeom>
          <a:solidFill>
            <a:srgbClr val="F56600"/>
          </a:solidFill>
          <a:ln w="12700">
            <a:solidFill>
              <a:srgbClr val="F56600"/>
            </a:solidFill>
            <a:prstDash val="solid"/>
          </a:ln>
        </p:spPr>
      </p:sp>
      <p:sp>
        <p:nvSpPr>
          <p:cNvPr id="9" name="Text 7"/>
          <p:cNvSpPr txBox="1"/>
          <p:nvPr/>
        </p:nvSpPr>
        <p:spPr>
          <a:xfrm>
            <a:off x="548640" y="23271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Verdana" pitchFamily="34" charset="0"/>
                <a:ea typeface="Verdana" pitchFamily="34" charset="-122"/>
                <a:cs typeface="Verdana" pitchFamily="34" charset="-120"/>
              </a:rPr>
              <a:t>2</a:t>
            </a:r>
            <a:endParaRPr lang="en-US" sz="1300" dirty="0"/>
          </a:p>
        </p:txBody>
      </p:sp>
      <p:sp>
        <p:nvSpPr>
          <p:cNvPr id="10" name="Text 8"/>
          <p:cNvSpPr txBox="1"/>
          <p:nvPr/>
        </p:nvSpPr>
        <p:spPr>
          <a:xfrm>
            <a:off x="1051560" y="2290572"/>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atractivo para un entrante no coincide con la rentabilidad del local</a:t>
            </a:r>
            <a:endParaRPr lang="en-US" sz="1250" dirty="0"/>
          </a:p>
        </p:txBody>
      </p:sp>
      <p:sp>
        <p:nvSpPr>
          <p:cNvPr id="11" name="Text 9"/>
          <p:cNvSpPr txBox="1"/>
          <p:nvPr/>
        </p:nvSpPr>
        <p:spPr>
          <a:xfrm>
            <a:off x="1051560" y="2564892"/>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Francia es el peor mercado para su banca (5,4 %) y el cuarto mejor para un entrante eficiente (21,8 %). Lo que se compra al entrar no es el margen del mercado, es la distancia respecto al incumbente.</a:t>
            </a:r>
            <a:endParaRPr lang="en-US" sz="900" dirty="0"/>
          </a:p>
        </p:txBody>
      </p:sp>
      <p:sp>
        <p:nvSpPr>
          <p:cNvPr id="12" name="Shape 10"/>
          <p:cNvSpPr/>
          <p:nvPr/>
        </p:nvSpPr>
        <p:spPr>
          <a:xfrm>
            <a:off x="548640" y="3099816"/>
            <a:ext cx="329184" cy="329184"/>
          </a:xfrm>
          <a:prstGeom prst="ellipse">
            <a:avLst/>
          </a:prstGeom>
          <a:solidFill>
            <a:srgbClr val="F56600"/>
          </a:solidFill>
          <a:ln w="12700">
            <a:solidFill>
              <a:srgbClr val="F56600"/>
            </a:solidFill>
            <a:prstDash val="solid"/>
          </a:ln>
        </p:spPr>
      </p:sp>
      <p:sp>
        <p:nvSpPr>
          <p:cNvPr id="13" name="Text 11"/>
          <p:cNvSpPr txBox="1"/>
          <p:nvPr/>
        </p:nvSpPr>
        <p:spPr>
          <a:xfrm>
            <a:off x="548640" y="3099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Verdana" pitchFamily="34" charset="0"/>
                <a:ea typeface="Verdana" pitchFamily="34" charset="-122"/>
                <a:cs typeface="Verdana" pitchFamily="34" charset="-120"/>
              </a:rPr>
              <a:t>3</a:t>
            </a:r>
            <a:endParaRPr lang="en-US" sz="1300" dirty="0"/>
          </a:p>
        </p:txBody>
      </p:sp>
      <p:sp>
        <p:nvSpPr>
          <p:cNvPr id="14" name="Text 12"/>
          <p:cNvSpPr txBox="1"/>
          <p:nvPr/>
        </p:nvSpPr>
        <p:spPr>
          <a:xfrm>
            <a:off x="1051560" y="3063240"/>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España es el mercado donde menos vale entrar eficiente</a:t>
            </a:r>
            <a:endParaRPr lang="en-US" sz="1250" dirty="0"/>
          </a:p>
        </p:txBody>
      </p:sp>
      <p:sp>
        <p:nvSpPr>
          <p:cNvPr id="15" name="Text 13"/>
          <p:cNvSpPr txBox="1"/>
          <p:nvPr/>
        </p:nvSpPr>
        <p:spPr>
          <a:xfrm>
            <a:off x="1051560" y="3337560"/>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Solo gana 1,2 puntos de ROE. Su banca ya es la segunda más eficiente (42,1 %), sus recursos ya son baratos (0,76 %, por debajo del 0,80 % del entrante) y arrastra una densidad de RWA del 59,5 % y el 30 % de impuesto del art. 29 LIS.</a:t>
            </a:r>
            <a:endParaRPr lang="en-US" sz="900" dirty="0"/>
          </a:p>
        </p:txBody>
      </p:sp>
      <p:sp>
        <p:nvSpPr>
          <p:cNvPr id="16" name="Shape 14"/>
          <p:cNvSpPr/>
          <p:nvPr/>
        </p:nvSpPr>
        <p:spPr>
          <a:xfrm>
            <a:off x="548640" y="3872484"/>
            <a:ext cx="329184" cy="329184"/>
          </a:xfrm>
          <a:prstGeom prst="ellipse">
            <a:avLst/>
          </a:prstGeom>
          <a:solidFill>
            <a:srgbClr val="F56600"/>
          </a:solidFill>
          <a:ln w="12700">
            <a:solidFill>
              <a:srgbClr val="F56600"/>
            </a:solidFill>
            <a:prstDash val="solid"/>
          </a:ln>
        </p:spPr>
      </p:sp>
      <p:sp>
        <p:nvSpPr>
          <p:cNvPr id="17" name="Text 15"/>
          <p:cNvSpPr txBox="1"/>
          <p:nvPr/>
        </p:nvSpPr>
        <p:spPr>
          <a:xfrm>
            <a:off x="548640" y="38724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Verdana" pitchFamily="34" charset="0"/>
                <a:ea typeface="Verdana" pitchFamily="34" charset="-122"/>
                <a:cs typeface="Verdana" pitchFamily="34" charset="-120"/>
              </a:rPr>
              <a:t>4</a:t>
            </a:r>
            <a:endParaRPr lang="en-US" sz="1300" dirty="0"/>
          </a:p>
        </p:txBody>
      </p:sp>
      <p:sp>
        <p:nvSpPr>
          <p:cNvPr id="18" name="Text 16"/>
          <p:cNvSpPr txBox="1"/>
          <p:nvPr/>
        </p:nvSpPr>
        <p:spPr>
          <a:xfrm>
            <a:off x="1051560" y="3835908"/>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Países Bajos y Alemania son los objetivos naturales</a:t>
            </a:r>
            <a:endParaRPr lang="en-US" sz="1250" dirty="0"/>
          </a:p>
        </p:txBody>
      </p:sp>
      <p:sp>
        <p:nvSpPr>
          <p:cNvPr id="19" name="Text 17"/>
          <p:cNvSpPr txBox="1"/>
          <p:nvPr/>
        </p:nvSpPr>
        <p:spPr>
          <a:xfrm>
            <a:off x="1051560" y="4110228"/>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37,0 % y 35,0 % de ROE para el entrante. Combinan el menor coste del riesgo (0,35 % y 0,40 %) con la menor densidad de RWA (37 % y 35 %) e incumbentes con eficiencia mediocre (53,5 % y 55,2 %).</a:t>
            </a:r>
            <a:endParaRPr lang="en-US" sz="900" dirty="0"/>
          </a:p>
        </p:txBody>
      </p:sp>
      <p:sp>
        <p:nvSpPr>
          <p:cNvPr id="20" name="Shape 18"/>
          <p:cNvSpPr/>
          <p:nvPr/>
        </p:nvSpPr>
        <p:spPr>
          <a:xfrm>
            <a:off x="548640" y="4645152"/>
            <a:ext cx="329184" cy="329184"/>
          </a:xfrm>
          <a:prstGeom prst="ellipse">
            <a:avLst/>
          </a:prstGeom>
          <a:solidFill>
            <a:srgbClr val="F56600"/>
          </a:solidFill>
          <a:ln w="12700">
            <a:solidFill>
              <a:srgbClr val="F56600"/>
            </a:solidFill>
            <a:prstDash val="solid"/>
          </a:ln>
        </p:spPr>
      </p:sp>
      <p:sp>
        <p:nvSpPr>
          <p:cNvPr id="21" name="Text 19"/>
          <p:cNvSpPr txBox="1"/>
          <p:nvPr/>
        </p:nvSpPr>
        <p:spPr>
          <a:xfrm>
            <a:off x="548640" y="46451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Verdana" pitchFamily="34" charset="0"/>
                <a:ea typeface="Verdana" pitchFamily="34" charset="-122"/>
                <a:cs typeface="Verdana" pitchFamily="34" charset="-120"/>
              </a:rPr>
              <a:t>5</a:t>
            </a:r>
            <a:endParaRPr lang="en-US" sz="1300" dirty="0"/>
          </a:p>
        </p:txBody>
      </p:sp>
      <p:sp>
        <p:nvSpPr>
          <p:cNvPr id="22" name="Text 20"/>
          <p:cNvSpPr txBox="1"/>
          <p:nvPr/>
        </p:nvSpPr>
        <p:spPr>
          <a:xfrm>
            <a:off x="1051560" y="4608576"/>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El coste del riesgo se controla seleccionando, no recuperando</a:t>
            </a:r>
            <a:endParaRPr lang="en-US" sz="1250" dirty="0"/>
          </a:p>
        </p:txBody>
      </p:sp>
      <p:sp>
        <p:nvSpPr>
          <p:cNvPr id="23" name="Text 21"/>
          <p:cNvSpPr txBox="1"/>
          <p:nvPr/>
        </p:nvSpPr>
        <p:spPr>
          <a:xfrm>
            <a:off x="1051560" y="4882896"/>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Igualar la PD a la mejor de las siete elimina el 75 % de la dispersión del coste del riesgo entre países; igualar la LGD solo el 22 %. Y el eje que mejor predice la PD no es la información disponible (ρ = −0,23) sino el entorno de recobro (ρ = −0,79): donde ejecutar es lento y caro, el impago se enquista. Y no se compensa cobrando: entre mercados el margen neto de riesgo cae con la PD (ρ = −0,76).</a:t>
            </a:r>
            <a:endParaRPr lang="en-US" sz="900" dirty="0"/>
          </a:p>
        </p:txBody>
      </p:sp>
      <p:sp>
        <p:nvSpPr>
          <p:cNvPr id="24" name="Shape 22"/>
          <p:cNvSpPr/>
          <p:nvPr/>
        </p:nvSpPr>
        <p:spPr>
          <a:xfrm>
            <a:off x="548640" y="5417820"/>
            <a:ext cx="329184" cy="329184"/>
          </a:xfrm>
          <a:prstGeom prst="ellipse">
            <a:avLst/>
          </a:prstGeom>
          <a:solidFill>
            <a:srgbClr val="F56600"/>
          </a:solidFill>
          <a:ln w="12700">
            <a:solidFill>
              <a:srgbClr val="F56600"/>
            </a:solidFill>
            <a:prstDash val="solid"/>
          </a:ln>
        </p:spPr>
      </p:sp>
      <p:sp>
        <p:nvSpPr>
          <p:cNvPr id="25" name="Text 23"/>
          <p:cNvSpPr txBox="1"/>
          <p:nvPr/>
        </p:nvSpPr>
        <p:spPr>
          <a:xfrm>
            <a:off x="548640" y="54178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Verdana" pitchFamily="34" charset="0"/>
                <a:ea typeface="Verdana" pitchFamily="34" charset="-122"/>
                <a:cs typeface="Verdana" pitchFamily="34" charset="-120"/>
              </a:rPr>
              <a:t>6</a:t>
            </a:r>
            <a:endParaRPr lang="en-US" sz="1300" dirty="0"/>
          </a:p>
        </p:txBody>
      </p:sp>
      <p:sp>
        <p:nvSpPr>
          <p:cNvPr id="26" name="Text 24"/>
          <p:cNvSpPr txBox="1"/>
          <p:nvPr/>
        </p:nvSpPr>
        <p:spPr>
          <a:xfrm>
            <a:off x="1051560" y="5381244"/>
            <a:ext cx="10607040" cy="274320"/>
          </a:xfrm>
          <a:prstGeom prst="rect">
            <a:avLst/>
          </a:prstGeom>
          <a:noFill/>
          <a:ln/>
        </p:spPr>
        <p:txBody>
          <a:bodyPr wrap="square" lIns="0" tIns="0" rIns="0" bIns="0" rtlCol="0" anchor="ctr"/>
          <a:lstStyle/>
          <a:p>
            <a:pPr indent="0" marL="0">
              <a:buNone/>
            </a:pPr>
            <a:r>
              <a:rPr lang="en-US" sz="1250" b="1" dirty="0">
                <a:solidFill>
                  <a:srgbClr val="2B2B2B"/>
                </a:solidFill>
                <a:latin typeface="Verdana" pitchFamily="34" charset="0"/>
                <a:ea typeface="Verdana" pitchFamily="34" charset="-122"/>
                <a:cs typeface="Verdana" pitchFamily="34" charset="-120"/>
              </a:rPr>
              <a:t>La comisión es el único supuesto material que queda</a:t>
            </a:r>
            <a:endParaRPr lang="en-US" sz="1250" dirty="0"/>
          </a:p>
        </p:txBody>
      </p:sp>
      <p:sp>
        <p:nvSpPr>
          <p:cNvPr id="27" name="Text 25"/>
          <p:cNvSpPr txBox="1"/>
          <p:nvPr/>
        </p:nvSpPr>
        <p:spPr>
          <a:xfrm>
            <a:off x="1051560" y="5655564"/>
            <a:ext cx="10607040" cy="45720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Solo España publica un tipo con comisiones para empresas, y allí vale 87 pb sobre el tramo ≤1 M€. Aplicarla a los demás es una hipótesis. Antes de decidir, conviene validarla en el mercado objetivo: mueve el ROE entre 3 y 8 puntos.</a:t>
            </a:r>
            <a:endParaRPr lang="en-US" sz="900" dirty="0"/>
          </a:p>
        </p:txBody>
      </p:sp>
      <p:sp>
        <p:nvSpPr>
          <p:cNvPr id="28" name="Text 26"/>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Las conclusiones 1 a 5 se apoyan en datos observados por país; la 6 señala el supuesto que las condiciona. Las correlaciones de la conclusión 5 son sobre siete países: indicativas, no causales. El escenario de entrante no incorpora coste de entrada, escala mínima ni curva de aprendizaje de riesgo.</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Recomendaciones</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Qué haría falta para convertir este análisis en una decisión</a:t>
            </a:r>
            <a:endParaRPr lang="en-US" sz="1100" dirty="0"/>
          </a:p>
        </p:txBody>
      </p:sp>
      <p:sp>
        <p:nvSpPr>
          <p:cNvPr id="4" name="Shape 2"/>
          <p:cNvSpPr/>
          <p:nvPr/>
        </p:nvSpPr>
        <p:spPr>
          <a:xfrm>
            <a:off x="548640" y="1517904"/>
            <a:ext cx="2057400" cy="457200"/>
          </a:xfrm>
          <a:prstGeom prst="roundRect">
            <a:avLst>
              <a:gd name="adj" fmla="val 10000"/>
            </a:avLst>
          </a:prstGeom>
          <a:solidFill>
            <a:srgbClr val="FFD6BA"/>
          </a:solidFill>
          <a:ln w="12700">
            <a:solidFill>
              <a:srgbClr val="FFAB70"/>
            </a:solidFill>
            <a:prstDash val="solid"/>
          </a:ln>
        </p:spPr>
      </p:sp>
      <p:sp>
        <p:nvSpPr>
          <p:cNvPr id="5" name="Text 3"/>
          <p:cNvSpPr txBox="1"/>
          <p:nvPr/>
        </p:nvSpPr>
        <p:spPr>
          <a:xfrm>
            <a:off x="548640" y="1517904"/>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Priorizar</a:t>
            </a:r>
            <a:endParaRPr lang="en-US" sz="950" dirty="0"/>
          </a:p>
        </p:txBody>
      </p:sp>
      <p:sp>
        <p:nvSpPr>
          <p:cNvPr id="6" name="Text 4"/>
          <p:cNvSpPr txBox="1"/>
          <p:nvPr/>
        </p:nvSpPr>
        <p:spPr>
          <a:xfrm>
            <a:off x="2788920" y="1536192"/>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Países Bajos y Alemania</a:t>
            </a:r>
            <a:endParaRPr lang="en-US" sz="1000" dirty="0"/>
          </a:p>
        </p:txBody>
      </p:sp>
      <p:sp>
        <p:nvSpPr>
          <p:cNvPr id="7" name="Text 5"/>
          <p:cNvSpPr txBox="1"/>
          <p:nvPr/>
        </p:nvSpPr>
        <p:spPr>
          <a:xfrm>
            <a:off x="5943600" y="1536192"/>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37,0 % y 35,0 % de ROE simulado. Incumbentes ineficientes, riesgo bajo y capital barato. Son los dos mercados donde el modelo eficiente rinde más.</a:t>
            </a:r>
            <a:endParaRPr lang="en-US" sz="850" dirty="0"/>
          </a:p>
        </p:txBody>
      </p:sp>
      <p:sp>
        <p:nvSpPr>
          <p:cNvPr id="8" name="Shape 6"/>
          <p:cNvSpPr/>
          <p:nvPr/>
        </p:nvSpPr>
        <p:spPr>
          <a:xfrm>
            <a:off x="548640" y="2025396"/>
            <a:ext cx="2057400" cy="457200"/>
          </a:xfrm>
          <a:prstGeom prst="roundRect">
            <a:avLst>
              <a:gd name="adj" fmla="val 10000"/>
            </a:avLst>
          </a:prstGeom>
          <a:solidFill>
            <a:srgbClr val="FFD6BA"/>
          </a:solidFill>
          <a:ln w="12700">
            <a:solidFill>
              <a:srgbClr val="FFAB70"/>
            </a:solidFill>
            <a:prstDash val="solid"/>
          </a:ln>
        </p:spPr>
      </p:sp>
      <p:sp>
        <p:nvSpPr>
          <p:cNvPr id="9" name="Text 7"/>
          <p:cNvSpPr txBox="1"/>
          <p:nvPr/>
        </p:nvSpPr>
        <p:spPr>
          <a:xfrm>
            <a:off x="548640" y="2025396"/>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Estudiar</a:t>
            </a:r>
            <a:endParaRPr lang="en-US" sz="950" dirty="0"/>
          </a:p>
        </p:txBody>
      </p:sp>
      <p:sp>
        <p:nvSpPr>
          <p:cNvPr id="10" name="Text 8"/>
          <p:cNvSpPr txBox="1"/>
          <p:nvPr/>
        </p:nvSpPr>
        <p:spPr>
          <a:xfrm>
            <a:off x="2788920" y="2043684"/>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Francia e Irlanda</a:t>
            </a:r>
            <a:endParaRPr lang="en-US" sz="1000" dirty="0"/>
          </a:p>
        </p:txBody>
      </p:sp>
      <p:sp>
        <p:nvSpPr>
          <p:cNvPr id="11" name="Text 9"/>
          <p:cNvSpPr txBox="1"/>
          <p:nvPr/>
        </p:nvSpPr>
        <p:spPr>
          <a:xfrm>
            <a:off x="5943600" y="2043684"/>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21,8 % y 27,0 %. Francia por la distancia respecto a un incumbente muy ineficiente; Irlanda por el 15 % de impuesto, aunque con la mayor densidad de RWA y una cartera PYME pequeña (16.964 M€).</a:t>
            </a:r>
            <a:endParaRPr lang="en-US" sz="850" dirty="0"/>
          </a:p>
        </p:txBody>
      </p:sp>
      <p:sp>
        <p:nvSpPr>
          <p:cNvPr id="12" name="Shape 10"/>
          <p:cNvSpPr/>
          <p:nvPr/>
        </p:nvSpPr>
        <p:spPr>
          <a:xfrm>
            <a:off x="548640" y="2532888"/>
            <a:ext cx="2057400" cy="457200"/>
          </a:xfrm>
          <a:prstGeom prst="roundRect">
            <a:avLst>
              <a:gd name="adj" fmla="val 10000"/>
            </a:avLst>
          </a:prstGeom>
          <a:solidFill>
            <a:srgbClr val="FFD6BA"/>
          </a:solidFill>
          <a:ln w="12700">
            <a:solidFill>
              <a:srgbClr val="FFAB70"/>
            </a:solidFill>
            <a:prstDash val="solid"/>
          </a:ln>
        </p:spPr>
      </p:sp>
      <p:sp>
        <p:nvSpPr>
          <p:cNvPr id="13" name="Text 11"/>
          <p:cNvSpPr txBox="1"/>
          <p:nvPr/>
        </p:nvSpPr>
        <p:spPr>
          <a:xfrm>
            <a:off x="548640" y="2532888"/>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Descartar</a:t>
            </a:r>
            <a:endParaRPr lang="en-US" sz="950" dirty="0"/>
          </a:p>
        </p:txBody>
      </p:sp>
      <p:sp>
        <p:nvSpPr>
          <p:cNvPr id="14" name="Text 12"/>
          <p:cNvSpPr txBox="1"/>
          <p:nvPr/>
        </p:nvSpPr>
        <p:spPr>
          <a:xfrm>
            <a:off x="2788920" y="2551176"/>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España y Portugal</a:t>
            </a:r>
            <a:endParaRPr lang="en-US" sz="1000" dirty="0"/>
          </a:p>
        </p:txBody>
      </p:sp>
      <p:sp>
        <p:nvSpPr>
          <p:cNvPr id="15" name="Text 13"/>
          <p:cNvSpPr txBox="1"/>
          <p:nvPr/>
        </p:nvSpPr>
        <p:spPr>
          <a:xfrm>
            <a:off x="5943600" y="2551176"/>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13,7 % y 16,9 %. El diferencial frente al banco local es de 1,2 y 3,0 puntos: no compensa el coste de entrada.</a:t>
            </a:r>
            <a:endParaRPr lang="en-US" sz="850" dirty="0"/>
          </a:p>
        </p:txBody>
      </p:sp>
      <p:sp>
        <p:nvSpPr>
          <p:cNvPr id="16" name="Shape 14"/>
          <p:cNvSpPr/>
          <p:nvPr/>
        </p:nvSpPr>
        <p:spPr>
          <a:xfrm>
            <a:off x="548640" y="3040380"/>
            <a:ext cx="2057400" cy="457200"/>
          </a:xfrm>
          <a:prstGeom prst="roundRect">
            <a:avLst>
              <a:gd name="adj" fmla="val 10000"/>
            </a:avLst>
          </a:prstGeom>
          <a:solidFill>
            <a:srgbClr val="E5E5E5"/>
          </a:solidFill>
          <a:ln w="12700">
            <a:solidFill>
              <a:srgbClr val="CACACA"/>
            </a:solidFill>
            <a:prstDash val="solid"/>
          </a:ln>
        </p:spPr>
      </p:sp>
      <p:sp>
        <p:nvSpPr>
          <p:cNvPr id="17" name="Text 15"/>
          <p:cNvSpPr txBox="1"/>
          <p:nvPr/>
        </p:nvSpPr>
        <p:spPr>
          <a:xfrm>
            <a:off x="548640" y="3040380"/>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Validar antes de decidir</a:t>
            </a:r>
            <a:endParaRPr lang="en-US" sz="950" dirty="0"/>
          </a:p>
        </p:txBody>
      </p:sp>
      <p:sp>
        <p:nvSpPr>
          <p:cNvPr id="18" name="Text 16"/>
          <p:cNvSpPr txBox="1"/>
          <p:nvPr/>
        </p:nvSpPr>
        <p:spPr>
          <a:xfrm>
            <a:off x="2788920" y="3058668"/>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La comisión en el mercado objetivo</a:t>
            </a:r>
            <a:endParaRPr lang="en-US" sz="1000" dirty="0"/>
          </a:p>
        </p:txBody>
      </p:sp>
      <p:sp>
        <p:nvSpPr>
          <p:cNvPr id="19" name="Text 17"/>
          <p:cNvSpPr txBox="1"/>
          <p:nvPr/>
        </p:nvSpPr>
        <p:spPr>
          <a:xfrm>
            <a:off x="5943600" y="3058668"/>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Es el único supuesto material. Mueve el ROE entre 3 y 8 puntos y solo está observada en España.</a:t>
            </a:r>
            <a:endParaRPr lang="en-US" sz="850" dirty="0"/>
          </a:p>
        </p:txBody>
      </p:sp>
      <p:sp>
        <p:nvSpPr>
          <p:cNvPr id="20" name="Shape 18"/>
          <p:cNvSpPr/>
          <p:nvPr/>
        </p:nvSpPr>
        <p:spPr>
          <a:xfrm>
            <a:off x="548640" y="3547872"/>
            <a:ext cx="2057400" cy="457200"/>
          </a:xfrm>
          <a:prstGeom prst="roundRect">
            <a:avLst>
              <a:gd name="adj" fmla="val 10000"/>
            </a:avLst>
          </a:prstGeom>
          <a:solidFill>
            <a:srgbClr val="E5E5E5"/>
          </a:solidFill>
          <a:ln w="12700">
            <a:solidFill>
              <a:srgbClr val="CACACA"/>
            </a:solidFill>
            <a:prstDash val="solid"/>
          </a:ln>
        </p:spPr>
      </p:sp>
      <p:sp>
        <p:nvSpPr>
          <p:cNvPr id="21" name="Text 19"/>
          <p:cNvSpPr txBox="1"/>
          <p:nvPr/>
        </p:nvSpPr>
        <p:spPr>
          <a:xfrm>
            <a:off x="548640" y="3547872"/>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Completar</a:t>
            </a:r>
            <a:endParaRPr lang="en-US" sz="950" dirty="0"/>
          </a:p>
        </p:txBody>
      </p:sp>
      <p:sp>
        <p:nvSpPr>
          <p:cNvPr id="22" name="Text 20"/>
          <p:cNvSpPr txBox="1"/>
          <p:nvPr/>
        </p:nvSpPr>
        <p:spPr>
          <a:xfrm>
            <a:off x="2788920" y="3566160"/>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Densidad de RWA propia</a:t>
            </a:r>
            <a:endParaRPr lang="en-US" sz="1000" dirty="0"/>
          </a:p>
        </p:txBody>
      </p:sp>
      <p:sp>
        <p:nvSpPr>
          <p:cNvPr id="23" name="Text 21"/>
          <p:cNvSpPr txBox="1"/>
          <p:nvPr/>
        </p:nvSpPr>
        <p:spPr>
          <a:xfrm>
            <a:off x="5943600" y="3566160"/>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La del modelo es la del mercado. Un entrante con método estándar o con menos garantía real tendría una densidad distinta, y ese es el factor que más pesa.</a:t>
            </a:r>
            <a:endParaRPr lang="en-US" sz="850" dirty="0"/>
          </a:p>
        </p:txBody>
      </p:sp>
      <p:sp>
        <p:nvSpPr>
          <p:cNvPr id="24" name="Shape 22"/>
          <p:cNvSpPr/>
          <p:nvPr/>
        </p:nvSpPr>
        <p:spPr>
          <a:xfrm>
            <a:off x="548640" y="4055364"/>
            <a:ext cx="2057400" cy="457200"/>
          </a:xfrm>
          <a:prstGeom prst="roundRect">
            <a:avLst>
              <a:gd name="adj" fmla="val 10000"/>
            </a:avLst>
          </a:prstGeom>
          <a:solidFill>
            <a:srgbClr val="E5E5E5"/>
          </a:solidFill>
          <a:ln w="12700">
            <a:solidFill>
              <a:srgbClr val="CACACA"/>
            </a:solidFill>
            <a:prstDash val="solid"/>
          </a:ln>
        </p:spPr>
      </p:sp>
      <p:sp>
        <p:nvSpPr>
          <p:cNvPr id="25" name="Text 23"/>
          <p:cNvSpPr txBox="1"/>
          <p:nvPr/>
        </p:nvSpPr>
        <p:spPr>
          <a:xfrm>
            <a:off x="548640" y="4055364"/>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Cerrar</a:t>
            </a:r>
            <a:endParaRPr lang="en-US" sz="950" dirty="0"/>
          </a:p>
        </p:txBody>
      </p:sp>
      <p:sp>
        <p:nvSpPr>
          <p:cNvPr id="26" name="Text 24"/>
          <p:cNvSpPr txBox="1"/>
          <p:nvPr/>
        </p:nvSpPr>
        <p:spPr>
          <a:xfrm>
            <a:off x="2788920" y="4073652"/>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Precio del factoring y del confirming</a:t>
            </a:r>
            <a:endParaRPr lang="en-US" sz="1000" dirty="0"/>
          </a:p>
        </p:txBody>
      </p:sp>
      <p:sp>
        <p:nvSpPr>
          <p:cNvPr id="27" name="Text 25"/>
          <p:cNvSpPr txBox="1"/>
          <p:nvPr/>
        </p:nvSpPr>
        <p:spPr>
          <a:xfrm>
            <a:off x="5943600" y="4073652"/>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No es obtenible con fuentes públicas gratuitas. Si el producto entra en el plan, hay que ir a registros de pago o a datos de mercado.</a:t>
            </a:r>
            <a:endParaRPr lang="en-US" sz="850" dirty="0"/>
          </a:p>
        </p:txBody>
      </p:sp>
      <p:sp>
        <p:nvSpPr>
          <p:cNvPr id="28" name="Shape 26"/>
          <p:cNvSpPr/>
          <p:nvPr/>
        </p:nvSpPr>
        <p:spPr>
          <a:xfrm>
            <a:off x="548640" y="4562856"/>
            <a:ext cx="2057400" cy="457200"/>
          </a:xfrm>
          <a:prstGeom prst="roundRect">
            <a:avLst>
              <a:gd name="adj" fmla="val 10000"/>
            </a:avLst>
          </a:prstGeom>
          <a:solidFill>
            <a:srgbClr val="C7E3F9"/>
          </a:solidFill>
          <a:ln w="12700">
            <a:solidFill>
              <a:srgbClr val="77BFEE"/>
            </a:solidFill>
            <a:prstDash val="solid"/>
          </a:ln>
        </p:spPr>
      </p:sp>
      <p:sp>
        <p:nvSpPr>
          <p:cNvPr id="29" name="Text 27"/>
          <p:cNvSpPr txBox="1"/>
          <p:nvPr/>
        </p:nvSpPr>
        <p:spPr>
          <a:xfrm>
            <a:off x="548640" y="4562856"/>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Riesgo: invertir en</a:t>
            </a:r>
            <a:endParaRPr lang="en-US" sz="950" dirty="0"/>
          </a:p>
        </p:txBody>
      </p:sp>
      <p:sp>
        <p:nvSpPr>
          <p:cNvPr id="30" name="Text 28"/>
          <p:cNvSpPr txBox="1"/>
          <p:nvPr/>
        </p:nvSpPr>
        <p:spPr>
          <a:xfrm>
            <a:off x="2788920" y="4581144"/>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Selección, no en recobro</a:t>
            </a:r>
            <a:endParaRPr lang="en-US" sz="1000" dirty="0"/>
          </a:p>
        </p:txBody>
      </p:sp>
      <p:sp>
        <p:nvSpPr>
          <p:cNvPr id="31" name="Text 29"/>
          <p:cNvSpPr txBox="1"/>
          <p:nvPr/>
        </p:nvSpPr>
        <p:spPr>
          <a:xfrm>
            <a:off x="5943600" y="4581144"/>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La PD explica el 75 % de la diferencia de coste del riesgo entre países; la LGD solo el 22 %. El presupuesto va a datos de admisión —bureau privado, cuentas depositadas, alta frecuencia— antes que a recuperaciones.</a:t>
            </a:r>
            <a:endParaRPr lang="en-US" sz="850" dirty="0"/>
          </a:p>
        </p:txBody>
      </p:sp>
      <p:sp>
        <p:nvSpPr>
          <p:cNvPr id="32" name="Shape 30"/>
          <p:cNvSpPr/>
          <p:nvPr/>
        </p:nvSpPr>
        <p:spPr>
          <a:xfrm>
            <a:off x="548640" y="5070348"/>
            <a:ext cx="2057400" cy="457200"/>
          </a:xfrm>
          <a:prstGeom prst="roundRect">
            <a:avLst>
              <a:gd name="adj" fmla="val 10000"/>
            </a:avLst>
          </a:prstGeom>
          <a:solidFill>
            <a:srgbClr val="C7E3F9"/>
          </a:solidFill>
          <a:ln w="12700">
            <a:solidFill>
              <a:srgbClr val="77BFEE"/>
            </a:solidFill>
            <a:prstDash val="solid"/>
          </a:ln>
        </p:spPr>
      </p:sp>
      <p:sp>
        <p:nvSpPr>
          <p:cNvPr id="33" name="Text 31"/>
          <p:cNvSpPr txBox="1"/>
          <p:nvPr/>
        </p:nvSpPr>
        <p:spPr>
          <a:xfrm>
            <a:off x="548640" y="5070348"/>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Riesgo: descontar</a:t>
            </a:r>
            <a:endParaRPr lang="en-US" sz="950" dirty="0"/>
          </a:p>
        </p:txBody>
      </p:sp>
      <p:sp>
        <p:nvSpPr>
          <p:cNvPr id="34" name="Text 32"/>
          <p:cNvSpPr txBox="1"/>
          <p:nvPr/>
        </p:nvSpPr>
        <p:spPr>
          <a:xfrm>
            <a:off x="2788920" y="5088636"/>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La ejecución del mercado, no solo su información</a:t>
            </a:r>
            <a:endParaRPr lang="en-US" sz="1000" dirty="0"/>
          </a:p>
        </p:txBody>
      </p:sp>
      <p:sp>
        <p:nvSpPr>
          <p:cNvPr id="35" name="Text 33"/>
          <p:cNvSpPr txBox="1"/>
          <p:nvPr/>
        </p:nvSpPr>
        <p:spPr>
          <a:xfrm>
            <a:off x="5943600" y="5088636"/>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Italia tiene la segunda mejor información de las siete y la peor PD: ejecutar le cuesta el 22 % de la masa y 1,8 años. En Francia, además, micro y pequeñas pueden declarar sus cuentas confidenciales: sin adhesión a I-FIBEN se entra a ciegas.</a:t>
            </a:r>
            <a:endParaRPr lang="en-US" sz="850" dirty="0"/>
          </a:p>
        </p:txBody>
      </p:sp>
      <p:sp>
        <p:nvSpPr>
          <p:cNvPr id="36" name="Shape 34"/>
          <p:cNvSpPr/>
          <p:nvPr/>
        </p:nvSpPr>
        <p:spPr>
          <a:xfrm>
            <a:off x="548640" y="5577840"/>
            <a:ext cx="2057400" cy="457200"/>
          </a:xfrm>
          <a:prstGeom prst="roundRect">
            <a:avLst>
              <a:gd name="adj" fmla="val 10000"/>
            </a:avLst>
          </a:prstGeom>
          <a:solidFill>
            <a:srgbClr val="C7E3F9"/>
          </a:solidFill>
          <a:ln w="12700">
            <a:solidFill>
              <a:srgbClr val="77BFEE"/>
            </a:solidFill>
            <a:prstDash val="solid"/>
          </a:ln>
        </p:spPr>
      </p:sp>
      <p:sp>
        <p:nvSpPr>
          <p:cNvPr id="37" name="Text 35"/>
          <p:cNvSpPr txBox="1"/>
          <p:nvPr/>
        </p:nvSpPr>
        <p:spPr>
          <a:xfrm>
            <a:off x="548640" y="5577840"/>
            <a:ext cx="2057400" cy="457200"/>
          </a:xfrm>
          <a:prstGeom prst="rect">
            <a:avLst/>
          </a:prstGeom>
          <a:noFill/>
          <a:ln/>
        </p:spPr>
        <p:txBody>
          <a:bodyPr wrap="square" lIns="0" tIns="0" rIns="0" bIns="0" rtlCol="0" anchor="ctr"/>
          <a:lstStyle/>
          <a:p>
            <a:pPr algn="ctr" indent="0" marL="0">
              <a:buNone/>
            </a:pPr>
            <a:r>
              <a:rPr lang="en-US" sz="950" b="1" dirty="0">
                <a:solidFill>
                  <a:srgbClr val="2B2B2B"/>
                </a:solidFill>
                <a:latin typeface="Verdana" pitchFamily="34" charset="0"/>
                <a:ea typeface="Verdana" pitchFamily="34" charset="-122"/>
                <a:cs typeface="Verdana" pitchFamily="34" charset="-120"/>
              </a:rPr>
              <a:t>Riesgo: cobrar</a:t>
            </a:r>
            <a:endParaRPr lang="en-US" sz="950" dirty="0"/>
          </a:p>
        </p:txBody>
      </p:sp>
      <p:sp>
        <p:nvSpPr>
          <p:cNvPr id="38" name="Text 36"/>
          <p:cNvSpPr txBox="1"/>
          <p:nvPr/>
        </p:nvSpPr>
        <p:spPr>
          <a:xfrm>
            <a:off x="2788920" y="5596128"/>
            <a:ext cx="3017520" cy="420624"/>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El gradiente por tamaño</a:t>
            </a:r>
            <a:endParaRPr lang="en-US" sz="1000" dirty="0"/>
          </a:p>
        </p:txBody>
      </p:sp>
      <p:sp>
        <p:nvSpPr>
          <p:cNvPr id="39" name="Text 37"/>
          <p:cNvSpPr txBox="1"/>
          <p:nvPr/>
        </p:nvSpPr>
        <p:spPr>
          <a:xfrm>
            <a:off x="5943600" y="5596128"/>
            <a:ext cx="5715000" cy="420624"/>
          </a:xfrm>
          <a:prstGeom prst="rect">
            <a:avLst/>
          </a:prstGeom>
          <a:noFill/>
          <a:ln/>
        </p:spPr>
        <p:txBody>
          <a:bodyPr wrap="square" lIns="0" tIns="0" rIns="0" bIns="0" rtlCol="0" anchor="ctr"/>
          <a:lstStyle/>
          <a:p>
            <a:pPr indent="0" marL="0">
              <a:buNone/>
            </a:pPr>
            <a:r>
              <a:rPr lang="en-US" sz="850" dirty="0">
                <a:solidFill>
                  <a:srgbClr val="818181"/>
                </a:solidFill>
                <a:latin typeface="Verdana" pitchFamily="34" charset="0"/>
                <a:ea typeface="Verdana" pitchFamily="34" charset="-122"/>
                <a:cs typeface="Verdana" pitchFamily="34" charset="-120"/>
              </a:rPr>
              <a:t>España es la única de las siete donde el préstamo pequeño no sale más caro que el de más de 1 M€: −4 pb, frente a +143 de Italia y +120 de Países Bajos. Y el gradiente acompaña al ROE (ρ = +0,82).</a:t>
            </a:r>
            <a:endParaRPr lang="en-US" sz="850" dirty="0"/>
          </a:p>
        </p:txBody>
      </p:sp>
      <p:sp>
        <p:nvSpPr>
          <p:cNvPr id="40" name="Text 38"/>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ROE simulado del entrante con coste de los recursos 0,80 %, eficiencia 40 % y CET1 12,9 %, sobre el precio, riesgo, capital y fiscalidad de cada mercado. No incorpora coste de entrada ni escala mínima. Las tres recomendaciones de riesgo se apoyan en la descomposición PD/LGD de los parámetros IRB del EBA, en los índices institucionales de Doing Business 2020 y en el precio por tramo del dataset MIR del BCE.</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Anexos</a:t>
            </a:r>
            <a:endParaRPr lang="en-US" sz="2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Datos</a:t>
            </a:r>
            <a:endParaRPr lang="en-US"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Fuentes</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Once fuentes, 38.689 observaciones, cada fila trazable a su serie de origen</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11091672" cy="914400"/>
        </p:xfrm>
        <a:graphic>
          <a:graphicData uri="http://schemas.openxmlformats.org/drawingml/2006/table">
            <a:tbl>
              <a:tblPr/>
              <a:tblGrid>
                <a:gridCol w="2606040"/>
                <a:gridCol w="4251960"/>
                <a:gridCol w="2560320"/>
                <a:gridCol w="1664208"/>
              </a:tblGrid>
              <a:tr h="356616">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Bloque</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Fuente</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Cobertura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Último dato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Precio y volumen</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BCE, ECB Data Portal, dataset MIR</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7 países, mensual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2026-07</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Tipos oficiales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BCE, dataset FM (facilidad de depósito, MRO, Euríbor)</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Zona euro, diario</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2026-09</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Encuesta PYME</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BCE, SAFE (Q8B y brecha de financiación)</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7 países, semestral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Q8B hasta 2022-S1</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Riesgo, eficiencia, capital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EBA Risk Dashboard y parámetros IRB (COREP C 9.02)</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7 países, trimestral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2026-Q1</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Capital PYME</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EBA, EU-wide Transparency Exercise</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7 países, semestral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2025-06</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Comisiones y volumen España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Banco de España, Boletín Estadístico, cap. 19</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España, mensual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2026-07</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TAEG empresas Italia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Banca d'Italia, STACORIS, tavola TRI30951</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Italia, trimestral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2026-Q1</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Spread PYME</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OCDE, Financing SMEs and Entrepreneurs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5 países, sin Alemania</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2022</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Factoring</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EUF, AEF y Assifact</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7 países, anual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2025</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Marco institucional</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Banco Mundial, Doing Business 2020 (descontinuado)</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7 países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2019-05</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56616">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Comparables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Cuentas de resultados de 5 bancos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5 bancos de 9</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Verdana" pitchFamily="34" charset="0"/>
                          <a:ea typeface="Verdana" pitchFamily="34" charset="-122"/>
                          <a:cs typeface="Verdana" pitchFamily="34" charset="-120"/>
                        </a:rPr>
                        <a:t>2026-H1</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1672" cy="365760"/>
          </a:xfrm>
          <a:prstGeom prst="rect">
            <a:avLst/>
          </a:prstGeom>
          <a:noFill/>
          <a:ln/>
        </p:spPr>
        <p:txBody>
          <a:bodyPr wrap="square" lIns="0" tIns="0" rIns="0" bIns="0" rtlCol="0" anchor="ctr"/>
          <a:lstStyle/>
          <a:p>
            <a:pPr indent="0" marL="0">
              <a:buNone/>
            </a:pPr>
            <a:r>
              <a:rPr lang="en-US" sz="1150" dirty="0">
                <a:solidFill>
                  <a:srgbClr val="2B2B2B"/>
                </a:solidFill>
                <a:latin typeface="Verdana" pitchFamily="34" charset="0"/>
                <a:ea typeface="Verdana" pitchFamily="34" charset="-122"/>
                <a:cs typeface="Verdana" pitchFamily="34" charset="-120"/>
              </a:rPr>
              <a:t>Todos los datos, los extractores y el registro de huecos y decisiones metodológicas están en el repositorio del proyecto, en notas.md.</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Mapa de fiabilidad del dato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Qué se puede afirmar y con qué respaldo, producto a producto y país a país</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1672" cy="914400"/>
        </p:xfrm>
        <a:graphic>
          <a:graphicData uri="http://schemas.openxmlformats.org/drawingml/2006/table">
            <a:tbl>
              <a:tblPr/>
              <a:tblGrid>
                <a:gridCol w="3017520"/>
                <a:gridCol w="1618488"/>
                <a:gridCol w="1618488"/>
                <a:gridCol w="1618488"/>
                <a:gridCol w="1618488"/>
                <a:gridCol w="1600200"/>
              </a:tblGrid>
              <a:tr h="402336">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Producto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Precio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Volumen</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Comisiones</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Riesgo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Capital</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402336">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Préstamo PYME por tramo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SOLO ESPAÑA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r>
              <a:tr h="402336">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Circulante</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SOLO ESPAÑA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r>
              <a:tr h="402336">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Hipoteca PYME</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PROXY CRE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r>
              <a:tr h="402336">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Factoring</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PARCIAL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r>
              <a:tr h="402336">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Confirming</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SOLO ES e IT</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8AC2"/>
                    </a:solidFill>
                  </a:tcPr>
                </a:tc>
              </a:tr>
              <a:tr h="402336">
                <a:tc>
                  <a:txBody>
                    <a:bodyPr/>
                    <a:lstStyle/>
                    <a:p>
                      <a:pPr algn="l" indent="0" marL="0">
                        <a:buNone/>
                      </a:pPr>
                      <a:r>
                        <a:rPr lang="en-US" sz="1100" b="1" dirty="0">
                          <a:solidFill>
                            <a:srgbClr val="2B2B2B"/>
                          </a:solidFill>
                          <a:latin typeface="Verdana" pitchFamily="34" charset="0"/>
                          <a:ea typeface="Verdana" pitchFamily="34" charset="-122"/>
                          <a:cs typeface="Verdana" pitchFamily="34" charset="-120"/>
                        </a:rPr>
                        <a:t>Depósitos de empresa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77BFEE"/>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PARCIAL</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AB70"/>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ACAC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ACACA"/>
                    </a:solidFill>
                  </a:tcPr>
                </a:tc>
                <a:tc>
                  <a:txBody>
                    <a:bodyPr/>
                    <a:lstStyle/>
                    <a:p>
                      <a:pPr algn="ctr" indent="0" marL="0">
                        <a:buNone/>
                      </a:pPr>
                      <a:r>
                        <a:rPr lang="en-US" sz="850" b="1" dirty="0">
                          <a:solidFill>
                            <a:srgbClr val="2B2B2B"/>
                          </a:solidFill>
                          <a:latin typeface="Verdana" pitchFamily="34" charset="0"/>
                          <a:ea typeface="Verdana" pitchFamily="34" charset="-122"/>
                          <a:cs typeface="Verdana" pitchFamily="34" charset="-120"/>
                        </a:rPr>
                        <a:t>n/a</a:t>
                      </a:r>
                      <a:endParaRPr lang="en-US" sz="8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ACACA"/>
                    </a:solidFill>
                  </a:tcPr>
                </a:tc>
              </a:tr>
            </a:tbl>
          </a:graphicData>
        </a:graphic>
      </p:graphicFrame>
      <p:sp>
        <p:nvSpPr>
          <p:cNvPr id="5" name="Text 2"/>
          <p:cNvSpPr txBox="1"/>
          <p:nvPr/>
        </p:nvSpPr>
        <p:spPr>
          <a:xfrm>
            <a:off x="548640" y="5074920"/>
            <a:ext cx="11091672" cy="548640"/>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El mapa de huecos es en sí un resultado. Tras incorporar los parámetros IRB del EBA, el riesgo y el capital de PYME son observados en los siete países. El hueco que queda es la comisión: solo España publica un tipo con comisiones para empresas.</a:t>
            </a:r>
            <a:endParaRPr lang="en-US" sz="1200" dirty="0"/>
          </a:p>
        </p:txBody>
      </p:sp>
      <p:sp>
        <p:nvSpPr>
          <p:cNvPr id="6" name="Shape 3"/>
          <p:cNvSpPr/>
          <p:nvPr/>
        </p:nvSpPr>
        <p:spPr>
          <a:xfrm>
            <a:off x="548640" y="5806440"/>
            <a:ext cx="1371600" cy="256032"/>
          </a:xfrm>
          <a:prstGeom prst="roundRect">
            <a:avLst>
              <a:gd name="adj" fmla="val 42857"/>
            </a:avLst>
          </a:prstGeom>
          <a:solidFill>
            <a:srgbClr val="77BFEE"/>
          </a:solidFill>
          <a:ln w="12700">
            <a:solidFill>
              <a:srgbClr val="77BFEE"/>
            </a:solidFill>
            <a:prstDash val="solid"/>
          </a:ln>
        </p:spPr>
      </p:sp>
      <p:sp>
        <p:nvSpPr>
          <p:cNvPr id="7" name="Text 4"/>
          <p:cNvSpPr txBox="1"/>
          <p:nvPr/>
        </p:nvSpPr>
        <p:spPr>
          <a:xfrm>
            <a:off x="548640" y="5806440"/>
            <a:ext cx="1371600" cy="256032"/>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OBSERVADO</a:t>
            </a:r>
            <a:endParaRPr lang="en-US" sz="850" dirty="0"/>
          </a:p>
        </p:txBody>
      </p:sp>
      <p:sp>
        <p:nvSpPr>
          <p:cNvPr id="8" name="Shape 5"/>
          <p:cNvSpPr/>
          <p:nvPr/>
        </p:nvSpPr>
        <p:spPr>
          <a:xfrm>
            <a:off x="2377440" y="5806440"/>
            <a:ext cx="1371600" cy="256032"/>
          </a:xfrm>
          <a:prstGeom prst="roundRect">
            <a:avLst>
              <a:gd name="adj" fmla="val 42857"/>
            </a:avLst>
          </a:prstGeom>
          <a:solidFill>
            <a:srgbClr val="FFAB70"/>
          </a:solidFill>
          <a:ln w="12700">
            <a:solidFill>
              <a:srgbClr val="FFAB70"/>
            </a:solidFill>
            <a:prstDash val="solid"/>
          </a:ln>
        </p:spPr>
      </p:sp>
      <p:sp>
        <p:nvSpPr>
          <p:cNvPr id="9" name="Text 6"/>
          <p:cNvSpPr txBox="1"/>
          <p:nvPr/>
        </p:nvSpPr>
        <p:spPr>
          <a:xfrm>
            <a:off x="2377440" y="5806440"/>
            <a:ext cx="1371600" cy="256032"/>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PARCIAL o SUPUESTO</a:t>
            </a:r>
            <a:endParaRPr lang="en-US" sz="850" dirty="0"/>
          </a:p>
        </p:txBody>
      </p:sp>
      <p:sp>
        <p:nvSpPr>
          <p:cNvPr id="10" name="Shape 7"/>
          <p:cNvSpPr/>
          <p:nvPr/>
        </p:nvSpPr>
        <p:spPr>
          <a:xfrm>
            <a:off x="4206240" y="5806440"/>
            <a:ext cx="1371600" cy="256032"/>
          </a:xfrm>
          <a:prstGeom prst="roundRect">
            <a:avLst>
              <a:gd name="adj" fmla="val 42857"/>
            </a:avLst>
          </a:prstGeom>
          <a:solidFill>
            <a:srgbClr val="FF8AC2"/>
          </a:solidFill>
          <a:ln w="12700">
            <a:solidFill>
              <a:srgbClr val="FF8AC2"/>
            </a:solidFill>
            <a:prstDash val="solid"/>
          </a:ln>
        </p:spPr>
      </p:sp>
      <p:sp>
        <p:nvSpPr>
          <p:cNvPr id="11" name="Text 8"/>
          <p:cNvSpPr txBox="1"/>
          <p:nvPr/>
        </p:nvSpPr>
        <p:spPr>
          <a:xfrm>
            <a:off x="4206240" y="5806440"/>
            <a:ext cx="1371600" cy="256032"/>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EXISTE</a:t>
            </a:r>
            <a:endParaRPr lang="en-US" sz="850" dirty="0"/>
          </a:p>
        </p:txBody>
      </p:sp>
      <p:sp>
        <p:nvSpPr>
          <p:cNvPr id="12" name="Text 9"/>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Fuentes: BCE (MIR), EBA Risk Dashboard, Banco de España (Boletín Estadístico), Banca d'Italia (STACORIS), OCDE, EUF.</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B2B2B"/>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548640"/>
          </a:xfrm>
          <a:prstGeom prst="rect">
            <a:avLst/>
          </a:prstGeom>
          <a:noFill/>
          <a:ln/>
        </p:spPr>
        <p:txBody>
          <a:bodyPr wrap="square" lIns="0" tIns="0" rIns="0" bIns="0" rtlCol="0" anchor="ctr"/>
          <a:lstStyle/>
          <a:p>
            <a:pPr indent="0" marL="0">
              <a:buNone/>
            </a:pPr>
            <a:r>
              <a:rPr lang="en-US" sz="3000" b="1" dirty="0">
                <a:solidFill>
                  <a:srgbClr val="FFFFFF"/>
                </a:solidFill>
                <a:latin typeface="Verdana" pitchFamily="34" charset="0"/>
                <a:ea typeface="Verdana" pitchFamily="34" charset="-122"/>
                <a:cs typeface="Verdana" pitchFamily="34" charset="-120"/>
              </a:rPr>
              <a:t>Lo que estos datos no permiten afirmar</a:t>
            </a:r>
            <a:endParaRPr lang="en-US" sz="3000" dirty="0"/>
          </a:p>
        </p:txBody>
      </p:sp>
      <p:sp>
        <p:nvSpPr>
          <p:cNvPr id="3" name="Text 1"/>
          <p:cNvSpPr txBox="1"/>
          <p:nvPr/>
        </p:nvSpPr>
        <p:spPr>
          <a:xfrm>
            <a:off x="548640" y="1078992"/>
            <a:ext cx="11091672" cy="365760"/>
          </a:xfrm>
          <a:prstGeom prst="rect">
            <a:avLst/>
          </a:prstGeom>
          <a:noFill/>
          <a:ln/>
        </p:spPr>
        <p:txBody>
          <a:bodyPr wrap="square" lIns="0" tIns="0" rIns="0" bIns="0" rtlCol="0" anchor="ctr"/>
          <a:lstStyle/>
          <a:p>
            <a:pPr indent="0" marL="0">
              <a:buNone/>
            </a:pPr>
            <a:r>
              <a:rPr lang="en-US" sz="1300" dirty="0">
                <a:solidFill>
                  <a:srgbClr val="A1A1A1"/>
                </a:solidFill>
                <a:latin typeface="Verdana" pitchFamily="34" charset="0"/>
                <a:ea typeface="Verdana" pitchFamily="34" charset="-122"/>
                <a:cs typeface="Verdana" pitchFamily="34" charset="-120"/>
              </a:rPr>
              <a:t>Cuatro límites que conviene tener delante antes de usar cualquier cifra de este deck</a:t>
            </a:r>
            <a:endParaRPr lang="en-US" sz="1300" dirty="0"/>
          </a:p>
        </p:txBody>
      </p:sp>
      <p:sp>
        <p:nvSpPr>
          <p:cNvPr id="4" name="Shape 2"/>
          <p:cNvSpPr/>
          <p:nvPr/>
        </p:nvSpPr>
        <p:spPr>
          <a:xfrm>
            <a:off x="548640" y="1700784"/>
            <a:ext cx="384048" cy="384048"/>
          </a:xfrm>
          <a:prstGeom prst="ellipse">
            <a:avLst/>
          </a:prstGeom>
          <a:solidFill>
            <a:srgbClr val="F56600"/>
          </a:solidFill>
          <a:ln w="12700">
            <a:solidFill>
              <a:srgbClr val="F56600"/>
            </a:solidFill>
            <a:prstDash val="solid"/>
          </a:ln>
        </p:spPr>
      </p:sp>
      <p:sp>
        <p:nvSpPr>
          <p:cNvPr id="5" name="Text 3"/>
          <p:cNvSpPr txBox="1"/>
          <p:nvPr/>
        </p:nvSpPr>
        <p:spPr>
          <a:xfrm>
            <a:off x="548640" y="1700784"/>
            <a:ext cx="384048" cy="384048"/>
          </a:xfrm>
          <a:prstGeom prst="rect">
            <a:avLst/>
          </a:prstGeom>
          <a:noFill/>
          <a:ln/>
        </p:spPr>
        <p:txBody>
          <a:bodyPr wrap="square" lIns="0" tIns="0" rIns="0" bIns="0" rtlCol="0" anchor="ctr"/>
          <a:lstStyle/>
          <a:p>
            <a:pPr algn="ctr" indent="0" marL="0">
              <a:buNone/>
            </a:pPr>
            <a:r>
              <a:rPr lang="en-US" sz="1500" b="1" dirty="0">
                <a:solidFill>
                  <a:srgbClr val="2B2B2B"/>
                </a:solidFill>
                <a:latin typeface="Verdana" pitchFamily="34" charset="0"/>
                <a:ea typeface="Verdana" pitchFamily="34" charset="-122"/>
                <a:cs typeface="Verdana" pitchFamily="34" charset="-120"/>
              </a:rPr>
              <a:t>1</a:t>
            </a:r>
            <a:endParaRPr lang="en-US" sz="1500" dirty="0"/>
          </a:p>
        </p:txBody>
      </p:sp>
      <p:sp>
        <p:nvSpPr>
          <p:cNvPr id="6" name="Text 4"/>
          <p:cNvSpPr txBox="1"/>
          <p:nvPr/>
        </p:nvSpPr>
        <p:spPr>
          <a:xfrm>
            <a:off x="1143000" y="1645920"/>
            <a:ext cx="10515600" cy="292608"/>
          </a:xfrm>
          <a:prstGeom prst="rect">
            <a:avLst/>
          </a:prstGeom>
          <a:noFill/>
          <a:ln/>
        </p:spPr>
        <p:txBody>
          <a:bodyPr wrap="square" lIns="0" tIns="0" rIns="0" bIns="0" rtlCol="0" anchor="ctr"/>
          <a:lstStyle/>
          <a:p>
            <a:pPr indent="0" marL="0">
              <a:buNone/>
            </a:pPr>
            <a:r>
              <a:rPr lang="en-US" sz="1500" b="1" dirty="0">
                <a:solidFill>
                  <a:srgbClr val="FFFFFF"/>
                </a:solidFill>
                <a:latin typeface="Verdana" pitchFamily="34" charset="0"/>
                <a:ea typeface="Verdana" pitchFamily="34" charset="-122"/>
                <a:cs typeface="Verdana" pitchFamily="34" charset="-120"/>
              </a:rPr>
              <a:t>Rentabilidad comparable entre países</a:t>
            </a:r>
            <a:endParaRPr lang="en-US" sz="1500" dirty="0"/>
          </a:p>
        </p:txBody>
      </p:sp>
      <p:sp>
        <p:nvSpPr>
          <p:cNvPr id="7" name="Text 5"/>
          <p:cNvSpPr txBox="1"/>
          <p:nvPr/>
        </p:nvSpPr>
        <p:spPr>
          <a:xfrm>
            <a:off x="1143000" y="1975104"/>
            <a:ext cx="10515600" cy="658368"/>
          </a:xfrm>
          <a:prstGeom prst="rect">
            <a:avLst/>
          </a:prstGeom>
          <a:noFill/>
          <a:ln/>
        </p:spPr>
        <p:txBody>
          <a:bodyPr wrap="square" lIns="0" tIns="0" rIns="0" bIns="0" rtlCol="0" anchor="ctr"/>
          <a:lstStyle/>
          <a:p>
            <a:pPr indent="0" marL="0">
              <a:buNone/>
            </a:pPr>
            <a:r>
              <a:rPr lang="en-US" sz="1150" dirty="0">
                <a:solidFill>
                  <a:srgbClr val="CACACA"/>
                </a:solidFill>
                <a:latin typeface="Verdana" pitchFamily="34" charset="0"/>
                <a:ea typeface="Verdana" pitchFamily="34" charset="-122"/>
                <a:cs typeface="Verdana" pitchFamily="34" charset="-120"/>
              </a:rPr>
              <a:t>Riesgo y capital de PYME ya son observados por país. Lo que sigue siendo supuesto es la comisión: solo España e Italia publican un tipo con comisiones para empresas, y con perímetros distintos. El ROE comparado es una hipótesis ordenada, no una medición.</a:t>
            </a:r>
            <a:endParaRPr lang="en-US" sz="1150" dirty="0"/>
          </a:p>
        </p:txBody>
      </p:sp>
      <p:sp>
        <p:nvSpPr>
          <p:cNvPr id="8" name="Shape 6"/>
          <p:cNvSpPr/>
          <p:nvPr/>
        </p:nvSpPr>
        <p:spPr>
          <a:xfrm>
            <a:off x="548640" y="2816352"/>
            <a:ext cx="384048" cy="384048"/>
          </a:xfrm>
          <a:prstGeom prst="ellipse">
            <a:avLst/>
          </a:prstGeom>
          <a:solidFill>
            <a:srgbClr val="F56600"/>
          </a:solidFill>
          <a:ln w="12700">
            <a:solidFill>
              <a:srgbClr val="F56600"/>
            </a:solidFill>
            <a:prstDash val="solid"/>
          </a:ln>
        </p:spPr>
      </p:sp>
      <p:sp>
        <p:nvSpPr>
          <p:cNvPr id="9" name="Text 7"/>
          <p:cNvSpPr txBox="1"/>
          <p:nvPr/>
        </p:nvSpPr>
        <p:spPr>
          <a:xfrm>
            <a:off x="548640" y="2816352"/>
            <a:ext cx="384048" cy="384048"/>
          </a:xfrm>
          <a:prstGeom prst="rect">
            <a:avLst/>
          </a:prstGeom>
          <a:noFill/>
          <a:ln/>
        </p:spPr>
        <p:txBody>
          <a:bodyPr wrap="square" lIns="0" tIns="0" rIns="0" bIns="0" rtlCol="0" anchor="ctr"/>
          <a:lstStyle/>
          <a:p>
            <a:pPr algn="ctr" indent="0" marL="0">
              <a:buNone/>
            </a:pPr>
            <a:r>
              <a:rPr lang="en-US" sz="1500" b="1" dirty="0">
                <a:solidFill>
                  <a:srgbClr val="2B2B2B"/>
                </a:solidFill>
                <a:latin typeface="Verdana" pitchFamily="34" charset="0"/>
                <a:ea typeface="Verdana" pitchFamily="34" charset="-122"/>
                <a:cs typeface="Verdana" pitchFamily="34" charset="-120"/>
              </a:rPr>
              <a:t>2</a:t>
            </a:r>
            <a:endParaRPr lang="en-US" sz="1500" dirty="0"/>
          </a:p>
        </p:txBody>
      </p:sp>
      <p:sp>
        <p:nvSpPr>
          <p:cNvPr id="10" name="Text 8"/>
          <p:cNvSpPr txBox="1"/>
          <p:nvPr/>
        </p:nvSpPr>
        <p:spPr>
          <a:xfrm>
            <a:off x="1143000" y="2761488"/>
            <a:ext cx="10515600" cy="292608"/>
          </a:xfrm>
          <a:prstGeom prst="rect">
            <a:avLst/>
          </a:prstGeom>
          <a:noFill/>
          <a:ln/>
        </p:spPr>
        <p:txBody>
          <a:bodyPr wrap="square" lIns="0" tIns="0" rIns="0" bIns="0" rtlCol="0" anchor="ctr"/>
          <a:lstStyle/>
          <a:p>
            <a:pPr indent="0" marL="0">
              <a:buNone/>
            </a:pPr>
            <a:r>
              <a:rPr lang="en-US" sz="1500" b="1" dirty="0">
                <a:solidFill>
                  <a:srgbClr val="FFFFFF"/>
                </a:solidFill>
                <a:latin typeface="Verdana" pitchFamily="34" charset="0"/>
                <a:ea typeface="Verdana" pitchFamily="34" charset="-122"/>
                <a:cs typeface="Verdana" pitchFamily="34" charset="-120"/>
              </a:rPr>
              <a:t>El negocio PYME de cada banco</a:t>
            </a:r>
            <a:endParaRPr lang="en-US" sz="1500" dirty="0"/>
          </a:p>
        </p:txBody>
      </p:sp>
      <p:sp>
        <p:nvSpPr>
          <p:cNvPr id="11" name="Text 9"/>
          <p:cNvSpPr txBox="1"/>
          <p:nvPr/>
        </p:nvSpPr>
        <p:spPr>
          <a:xfrm>
            <a:off x="1143000" y="3090672"/>
            <a:ext cx="10515600" cy="658368"/>
          </a:xfrm>
          <a:prstGeom prst="rect">
            <a:avLst/>
          </a:prstGeom>
          <a:noFill/>
          <a:ln/>
        </p:spPr>
        <p:txBody>
          <a:bodyPr wrap="square" lIns="0" tIns="0" rIns="0" bIns="0" rtlCol="0" anchor="ctr"/>
          <a:lstStyle/>
          <a:p>
            <a:pPr indent="0" marL="0">
              <a:buNone/>
            </a:pPr>
            <a:r>
              <a:rPr lang="en-US" sz="1150" dirty="0">
                <a:solidFill>
                  <a:srgbClr val="CACACA"/>
                </a:solidFill>
                <a:latin typeface="Verdana" pitchFamily="34" charset="0"/>
                <a:ea typeface="Verdana" pitchFamily="34" charset="-122"/>
                <a:cs typeface="Verdana" pitchFamily="34" charset="-120"/>
              </a:rPr>
              <a:t>De nueve bancos analizados, solo dos publican cuenta de resultados de un segmento de empresas con desglose de comisiones, y ninguno aísla PYME. La NIIF 8 obliga a reportar por los segmentos que usa la dirección, y casi ninguno usa «PYME».</a:t>
            </a:r>
            <a:endParaRPr lang="en-US" sz="1150" dirty="0"/>
          </a:p>
        </p:txBody>
      </p:sp>
      <p:sp>
        <p:nvSpPr>
          <p:cNvPr id="12" name="Shape 10"/>
          <p:cNvSpPr/>
          <p:nvPr/>
        </p:nvSpPr>
        <p:spPr>
          <a:xfrm>
            <a:off x="548640" y="3931920"/>
            <a:ext cx="384048" cy="384048"/>
          </a:xfrm>
          <a:prstGeom prst="ellipse">
            <a:avLst/>
          </a:prstGeom>
          <a:solidFill>
            <a:srgbClr val="F56600"/>
          </a:solidFill>
          <a:ln w="12700">
            <a:solidFill>
              <a:srgbClr val="F56600"/>
            </a:solidFill>
            <a:prstDash val="solid"/>
          </a:ln>
        </p:spPr>
      </p:sp>
      <p:sp>
        <p:nvSpPr>
          <p:cNvPr id="13" name="Text 11"/>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500" b="1" dirty="0">
                <a:solidFill>
                  <a:srgbClr val="2B2B2B"/>
                </a:solidFill>
                <a:latin typeface="Verdana" pitchFamily="34" charset="0"/>
                <a:ea typeface="Verdana" pitchFamily="34" charset="-122"/>
                <a:cs typeface="Verdana" pitchFamily="34" charset="-120"/>
              </a:rPr>
              <a:t>3</a:t>
            </a:r>
            <a:endParaRPr lang="en-US" sz="1500" dirty="0"/>
          </a:p>
        </p:txBody>
      </p:sp>
      <p:sp>
        <p:nvSpPr>
          <p:cNvPr id="14" name="Text 12"/>
          <p:cNvSpPr txBox="1"/>
          <p:nvPr/>
        </p:nvSpPr>
        <p:spPr>
          <a:xfrm>
            <a:off x="1143000" y="3877056"/>
            <a:ext cx="10515600" cy="292608"/>
          </a:xfrm>
          <a:prstGeom prst="rect">
            <a:avLst/>
          </a:prstGeom>
          <a:noFill/>
          <a:ln/>
        </p:spPr>
        <p:txBody>
          <a:bodyPr wrap="square" lIns="0" tIns="0" rIns="0" bIns="0" rtlCol="0" anchor="ctr"/>
          <a:lstStyle/>
          <a:p>
            <a:pPr indent="0" marL="0">
              <a:buNone/>
            </a:pPr>
            <a:r>
              <a:rPr lang="en-US" sz="1500" b="1" dirty="0">
                <a:solidFill>
                  <a:srgbClr val="FFFFFF"/>
                </a:solidFill>
                <a:latin typeface="Verdana" pitchFamily="34" charset="0"/>
                <a:ea typeface="Verdana" pitchFamily="34" charset="-122"/>
                <a:cs typeface="Verdana" pitchFamily="34" charset="-120"/>
              </a:rPr>
              <a:t>El precio del factoring y del confirming</a:t>
            </a:r>
            <a:endParaRPr lang="en-US" sz="1500" dirty="0"/>
          </a:p>
        </p:txBody>
      </p:sp>
      <p:sp>
        <p:nvSpPr>
          <p:cNvPr id="15" name="Text 13"/>
          <p:cNvSpPr txBox="1"/>
          <p:nvPr/>
        </p:nvSpPr>
        <p:spPr>
          <a:xfrm>
            <a:off x="1143000" y="4206240"/>
            <a:ext cx="10515600" cy="658368"/>
          </a:xfrm>
          <a:prstGeom prst="rect">
            <a:avLst/>
          </a:prstGeom>
          <a:noFill/>
          <a:ln/>
        </p:spPr>
        <p:txBody>
          <a:bodyPr wrap="square" lIns="0" tIns="0" rIns="0" bIns="0" rtlCol="0" anchor="ctr"/>
          <a:lstStyle/>
          <a:p>
            <a:pPr indent="0" marL="0">
              <a:buNone/>
            </a:pPr>
            <a:r>
              <a:rPr lang="en-US" sz="1150" dirty="0">
                <a:solidFill>
                  <a:srgbClr val="CACACA"/>
                </a:solidFill>
                <a:latin typeface="Verdana" pitchFamily="34" charset="0"/>
                <a:ea typeface="Verdana" pitchFamily="34" charset="-122"/>
                <a:cs typeface="Verdana" pitchFamily="34" charset="-120"/>
              </a:rPr>
              <a:t>No es obtenible con fuentes públicas gratuitas en ninguno de los siete países. Es el único bloque que se cierra sin ningún dato de su objetivo.</a:t>
            </a:r>
            <a:endParaRPr lang="en-US" sz="1150" dirty="0"/>
          </a:p>
        </p:txBody>
      </p:sp>
      <p:sp>
        <p:nvSpPr>
          <p:cNvPr id="16" name="Shape 14"/>
          <p:cNvSpPr/>
          <p:nvPr/>
        </p:nvSpPr>
        <p:spPr>
          <a:xfrm>
            <a:off x="548640" y="5047488"/>
            <a:ext cx="384048" cy="384048"/>
          </a:xfrm>
          <a:prstGeom prst="ellipse">
            <a:avLst/>
          </a:prstGeom>
          <a:solidFill>
            <a:srgbClr val="F56600"/>
          </a:solidFill>
          <a:ln w="12700">
            <a:solidFill>
              <a:srgbClr val="F56600"/>
            </a:solidFill>
            <a:prstDash val="solid"/>
          </a:ln>
        </p:spPr>
      </p:sp>
      <p:sp>
        <p:nvSpPr>
          <p:cNvPr id="17" name="Text 15"/>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500" b="1" dirty="0">
                <a:solidFill>
                  <a:srgbClr val="2B2B2B"/>
                </a:solidFill>
                <a:latin typeface="Verdana" pitchFamily="34" charset="0"/>
                <a:ea typeface="Verdana" pitchFamily="34" charset="-122"/>
                <a:cs typeface="Verdana" pitchFamily="34" charset="-120"/>
              </a:rPr>
              <a:t>4</a:t>
            </a:r>
            <a:endParaRPr lang="en-US" sz="1500" dirty="0"/>
          </a:p>
        </p:txBody>
      </p:sp>
      <p:sp>
        <p:nvSpPr>
          <p:cNvPr id="18" name="Text 16"/>
          <p:cNvSpPr txBox="1"/>
          <p:nvPr/>
        </p:nvSpPr>
        <p:spPr>
          <a:xfrm>
            <a:off x="1143000" y="4992624"/>
            <a:ext cx="10515600" cy="292608"/>
          </a:xfrm>
          <a:prstGeom prst="rect">
            <a:avLst/>
          </a:prstGeom>
          <a:noFill/>
          <a:ln/>
        </p:spPr>
        <p:txBody>
          <a:bodyPr wrap="square" lIns="0" tIns="0" rIns="0" bIns="0" rtlCol="0" anchor="ctr"/>
          <a:lstStyle/>
          <a:p>
            <a:pPr indent="0" marL="0">
              <a:buNone/>
            </a:pPr>
            <a:r>
              <a:rPr lang="en-US" sz="1500" b="1" dirty="0">
                <a:solidFill>
                  <a:srgbClr val="FFFFFF"/>
                </a:solidFill>
                <a:latin typeface="Verdana" pitchFamily="34" charset="0"/>
                <a:ea typeface="Verdana" pitchFamily="34" charset="-122"/>
                <a:cs typeface="Verdana" pitchFamily="34" charset="-120"/>
              </a:rPr>
              <a:t>La hipoteca a PYME</a:t>
            </a:r>
            <a:endParaRPr lang="en-US" sz="1500" dirty="0"/>
          </a:p>
        </p:txBody>
      </p:sp>
      <p:sp>
        <p:nvSpPr>
          <p:cNvPr id="19" name="Text 17"/>
          <p:cNvSpPr txBox="1"/>
          <p:nvPr/>
        </p:nvSpPr>
        <p:spPr>
          <a:xfrm>
            <a:off x="1143000" y="5321808"/>
            <a:ext cx="10515600" cy="658368"/>
          </a:xfrm>
          <a:prstGeom prst="rect">
            <a:avLst/>
          </a:prstGeom>
          <a:noFill/>
          <a:ln/>
        </p:spPr>
        <p:txBody>
          <a:bodyPr wrap="square" lIns="0" tIns="0" rIns="0" bIns="0" rtlCol="0" anchor="ctr"/>
          <a:lstStyle/>
          <a:p>
            <a:pPr indent="0" marL="0">
              <a:buNone/>
            </a:pPr>
            <a:r>
              <a:rPr lang="en-US" sz="1150" dirty="0">
                <a:solidFill>
                  <a:srgbClr val="CACACA"/>
                </a:solidFill>
                <a:latin typeface="Verdana" pitchFamily="34" charset="0"/>
                <a:ea typeface="Verdana" pitchFamily="34" charset="-122"/>
                <a:cs typeface="Verdana" pitchFamily="34" charset="-120"/>
              </a:rPr>
              <a:t>No existe como estadística oficial europea. Lo que se muestra es exposición a inmueble comercial, que es otra cosa.</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Supuestos del modelo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Cada uno declarado, con su origen y su efecto · Dos de los iniciales han dejado de ser supuestos</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468880"/>
                <a:gridCol w="1600200"/>
                <a:gridCol w="4114800"/>
                <a:gridCol w="2898648"/>
              </a:tblGrid>
              <a:tr h="457200">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Supuesto</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Valor</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Origen</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l" indent="0" marL="0">
                        <a:buNone/>
                      </a:pPr>
                      <a:r>
                        <a:rPr lang="en-US" sz="1100" b="1" dirty="0">
                          <a:solidFill>
                            <a:srgbClr val="FFFFFF"/>
                          </a:solidFill>
                          <a:latin typeface="Verdana" pitchFamily="34" charset="0"/>
                          <a:ea typeface="Verdana" pitchFamily="34" charset="-122"/>
                          <a:cs typeface="Verdana" pitchFamily="34" charset="-120"/>
                        </a:rPr>
                        <a:t>Efecto si cambia</a:t>
                      </a:r>
                      <a:endParaRPr lang="en-US" sz="11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 de comisiones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87 pb</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Observada en España (TAE − TEDR, tramo ≤1 M€). Aplicada a los otros cinco países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ALTO. Mueve el ROE entre 3 y 12 puntos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Coste de los recursos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0,37 % a 1,21 % por país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Observado. Tipos del MIR ponderados por saldos del BSI. Supone financiar el crédito PYME con depósito de empresa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ALTO. Con fondeo en mercado al 2,23 % los ROE caerían entre 6 y 12 puntos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Coste del riesgo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PD × LGD por país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YA NO ES SUPUESTO. Parámetros IRB de la clase «Corporates – Of Which: SME», mediana de entidades (COREP C 9.02)</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Densidad de RWA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35 % a 61 % por país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YA NO ES SUPUESTO. RWA sobre exposición de la cartera PYME (EBA Transparency Exercise)</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Tipo impositivo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15,0 % a 30,1 %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YA NO ES SUPUESTO. Tipo aplicable a bancos: España 30 % por el art. 29 LIS, Irlanda 15 % por el mínimo de Pilar Dos, resto combinado 2026</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Eficiencia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EBA por país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Observada, pero de grupo consolidado y no de segmento PYME</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MEDIO. Penaliza a países con banca universal compleja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Disposición del circulante</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60 %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SUPUESTO. Ni el BCE ni el EBA ni el Banco de España publican límite y dispuesto de las líneas de crédito</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MEDIO. Solo pesa si la comisión de disponibilidad se aparta de la neutral</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Comisión de disponibilidad</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0,30 %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SUPUESTO. Ninguna estadística publica comisiones de líneas de crédito, ni siquiera el cuadro 19.6 del Banco de España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ALTO en el circulante. Mueve su ROE entre el 7 % y el 11 %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457200">
                <a:tc>
                  <a:txBody>
                    <a:bodyPr/>
                    <a:lstStyle/>
                    <a:p>
                      <a:pPr algn="l" indent="0" marL="0">
                        <a:buNone/>
                      </a:pPr>
                      <a:r>
                        <a:rPr lang="en-US" sz="1000" b="1" dirty="0">
                          <a:solidFill>
                            <a:srgbClr val="2B2B2B"/>
                          </a:solidFill>
                          <a:latin typeface="Verdana" pitchFamily="34" charset="0"/>
                          <a:ea typeface="Verdana" pitchFamily="34" charset="-122"/>
                          <a:cs typeface="Verdana" pitchFamily="34" charset="-120"/>
                        </a:rPr>
                        <a:t>Conversión del disponible</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CCF 10 %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YA NO ES SUPUESTO. CRR3, compromiso cancelable incondicionalmente. El no cancelable va al 40 %</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1000" dirty="0">
                          <a:solidFill>
                            <a:srgbClr val="2B2B2B"/>
                          </a:solidFill>
                          <a:latin typeface="Verdana" pitchFamily="34" charset="0"/>
                          <a:ea typeface="Verdana" pitchFamily="34" charset="-122"/>
                          <a:cs typeface="Verdana" pitchFamily="34" charset="-120"/>
                        </a:rPr>
                        <a:t>MEDIO. Al 40 % el ROE del circulante cae entre 1,3 y 3,1 puntos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r>
            </a:tbl>
          </a:graphicData>
        </a:graphic>
      </p:graphicFrame>
      <p:sp>
        <p:nvSpPr>
          <p:cNvPr id="5" name="Text 2"/>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El modelo completo y reproducible está en scripts/modelo_roe.py del repositorio. Cada fila del CSV de salida declara si el valor es observado o supuesto.</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Información relevante</a:t>
            </a:r>
            <a:endParaRPr lang="en-US" sz="2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NPL por segmento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La PYME es el peor segmento en los siete países · Ratio de NPL, stock de dudosos · 2026-Q1 · Muestra de bancos del EBA</a:t>
            </a:r>
            <a:endParaRPr lang="en-US" sz="1100" dirty="0"/>
          </a:p>
        </p:txBody>
      </p:sp>
      <p:graphicFrame>
        <p:nvGraphicFramePr>
          <p:cNvPr id="4" name="Chart 0" descr=""/>
          <p:cNvGraphicFramePr/>
          <p:nvPr/>
        </p:nvGraphicFramePr>
        <p:xfrm>
          <a:off x="548640" y="1645920"/>
          <a:ext cx="731520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645920"/>
            <a:ext cx="3547872" cy="3749040"/>
          </a:xfrm>
          <a:prstGeom prst="roundRect">
            <a:avLst>
              <a:gd name="adj" fmla="val 1546"/>
            </a:avLst>
          </a:prstGeom>
          <a:solidFill>
            <a:srgbClr val="FFCCE8"/>
          </a:solidFill>
          <a:ln w="12700">
            <a:solidFill>
              <a:srgbClr val="FF8AC2"/>
            </a:solidFill>
            <a:prstDash val="solid"/>
          </a:ln>
        </p:spPr>
      </p:sp>
      <p:sp>
        <p:nvSpPr>
          <p:cNvPr id="6" name="Text 3"/>
          <p:cNvSpPr txBox="1"/>
          <p:nvPr/>
        </p:nvSpPr>
        <p:spPr>
          <a:xfrm>
            <a:off x="8275320" y="1783080"/>
            <a:ext cx="3200400" cy="292608"/>
          </a:xfrm>
          <a:prstGeom prst="rect">
            <a:avLst/>
          </a:prstGeom>
          <a:noFill/>
          <a:ln/>
        </p:spPr>
        <p:txBody>
          <a:bodyPr wrap="square" lIns="0" tIns="0" rIns="0" bIns="0" rtlCol="0" anchor="ctr"/>
          <a:lstStyle/>
          <a:p>
            <a:pPr indent="0" marL="0">
              <a:buNone/>
            </a:pPr>
            <a:r>
              <a:rPr lang="en-US" sz="1300" b="1" dirty="0">
                <a:solidFill>
                  <a:srgbClr val="2B2B2B"/>
                </a:solidFill>
                <a:latin typeface="Verdana" pitchFamily="34" charset="0"/>
                <a:ea typeface="Verdana" pitchFamily="34" charset="-122"/>
                <a:cs typeface="Verdana" pitchFamily="34" charset="-120"/>
              </a:rPr>
              <a:t>Prima de riesgo PYME</a:t>
            </a:r>
            <a:endParaRPr lang="en-US" sz="1300" dirty="0"/>
          </a:p>
        </p:txBody>
      </p:sp>
      <p:sp>
        <p:nvSpPr>
          <p:cNvPr id="7" name="Text 4"/>
          <p:cNvSpPr txBox="1"/>
          <p:nvPr/>
        </p:nvSpPr>
        <p:spPr>
          <a:xfrm>
            <a:off x="8275320" y="2194560"/>
            <a:ext cx="3200400" cy="301752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Diferencia entre el NPL de PYME y el de empresas, en puntos:</a:t>
            </a:r>
            <a:endParaRPr lang="en-US" sz="1100" dirty="0"/>
          </a:p>
          <a:p>
            <a:pPr indent="0" marL="0">
              <a:buNone/>
            </a:pP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España  +2,39</a:t>
            </a: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Italia  +1,50</a:t>
            </a: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Francia  +1,19</a:t>
            </a: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Portugal  +0,58</a:t>
            </a: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Alemania  +0,51</a:t>
            </a: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P. Bajos  +0,27</a:t>
            </a:r>
            <a:endParaRPr lang="en-US" sz="1100" dirty="0"/>
          </a:p>
          <a:p>
            <a:pPr indent="0" marL="0">
              <a:buNone/>
            </a:pPr>
            <a:endParaRPr lang="en-US" sz="1100" dirty="0"/>
          </a:p>
          <a:p>
            <a:pPr indent="0" marL="0">
              <a:buNone/>
            </a:pPr>
            <a:r>
              <a:rPr lang="en-US" sz="1100" dirty="0">
                <a:solidFill>
                  <a:srgbClr val="2B2B2B"/>
                </a:solidFill>
                <a:latin typeface="Verdana" pitchFamily="34" charset="0"/>
                <a:ea typeface="Verdana" pitchFamily="34" charset="-122"/>
                <a:cs typeface="Verdana" pitchFamily="34" charset="-120"/>
              </a:rPr>
              <a:t>España tiene el peor NPL de PYME de los seis (5,38 %) y a la vez el spread de precio más estrecho.</a:t>
            </a:r>
            <a:endParaRPr lang="en-US" sz="1100" dirty="0"/>
          </a:p>
        </p:txBody>
      </p:sp>
      <p:sp>
        <p:nvSpPr>
          <p:cNvPr id="8" name="Text 5"/>
          <p:cNvSpPr txBox="1"/>
          <p:nvPr/>
        </p:nvSpPr>
        <p:spPr>
          <a:xfrm>
            <a:off x="548640" y="5468112"/>
            <a:ext cx="7315200" cy="502920"/>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ATENCIÓN: esto es el ratio de NPL, un STOCK de dudosos sobre cartera. NO es el coste del riesgo que usa el modelo, que es un flujo anual calculado como PD × LGD (lámina siguiente).</a:t>
            </a:r>
            <a:endParaRPr lang="en-US" sz="1000" dirty="0"/>
          </a:p>
        </p:txBody>
      </p:sp>
      <p:sp>
        <p:nvSpPr>
          <p:cNvPr id="9" name="Text 6"/>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EBA Risk Dashboard, anexo de datos Q1 2026, desgloses «of which SMEs» y «of which CRE». Es la muestra de bancos del EBA, no el sistema completo.</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Spread PYME frente a gran empresa: PD y LGD</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Parámetros IRB, mediana de entidades · 2026-Q1 · La PYME falla más pero recupera mejor</a:t>
            </a:r>
            <a:endParaRPr lang="en-US" sz="1100" dirty="0"/>
          </a:p>
        </p:txBody>
      </p:sp>
      <p:graphicFrame>
        <p:nvGraphicFramePr>
          <p:cNvPr id="4" name="Chart 0" descr=""/>
          <p:cNvGraphicFramePr/>
          <p:nvPr/>
        </p:nvGraphicFramePr>
        <p:xfrm>
          <a:off x="548640" y="1600200"/>
          <a:ext cx="5943600" cy="2148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355080" y="1600200"/>
          <a:ext cx="5285232" cy="2148840"/>
        </p:xfrm>
        <a:graphic xmlns:a="http://schemas.openxmlformats.org/drawingml/2006/main">
          <a:graphicData uri="http://schemas.openxmlformats.org/drawingml/2006/chart">
            <c:chart xmlns:c="http://schemas.openxmlformats.org/drawingml/2006/chart" r:id="rId2"/>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3950208"/>
          <a:ext cx="11091672" cy="914400"/>
        </p:xfrm>
        <a:graphic>
          <a:graphicData uri="http://schemas.openxmlformats.org/drawingml/2006/table">
            <a:tbl>
              <a:tblPr/>
              <a:tblGrid>
                <a:gridCol w="2651760"/>
                <a:gridCol w="1206094"/>
                <a:gridCol w="1206094"/>
                <a:gridCol w="1206094"/>
                <a:gridCol w="1206094"/>
                <a:gridCol w="1206094"/>
                <a:gridCol w="1206094"/>
                <a:gridCol w="1206094"/>
              </a:tblGrid>
              <a:tr h="329184">
                <a:tc>
                  <a:txBody>
                    <a:bodyPr/>
                    <a:lstStyle/>
                    <a:p>
                      <a:pPr algn="l" indent="0" marL="0">
                        <a:buNone/>
                      </a:pPr>
                      <a:r>
                        <a:rPr lang="en-US" sz="1000" b="1" dirty="0">
                          <a:solidFill>
                            <a:srgbClr val="FFFFFF"/>
                          </a:solidFill>
                          <a:latin typeface="Verdana" pitchFamily="34" charset="0"/>
                          <a:ea typeface="Verdana" pitchFamily="34" charset="-122"/>
                          <a:cs typeface="Verdana" pitchFamily="34" charset="-120"/>
                        </a:rPr>
                        <a:t>Spread PYME − gran empresa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España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Alemania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Francia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Italia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Portugal</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P. Bajos</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c>
                  <a:txBody>
                    <a:bodyPr/>
                    <a:lstStyle/>
                    <a:p>
                      <a:pPr algn="ctr" indent="0" marL="0">
                        <a:buNone/>
                      </a:pPr>
                      <a:r>
                        <a:rPr lang="en-US" sz="1000" b="1" dirty="0">
                          <a:solidFill>
                            <a:srgbClr val="FFFFFF"/>
                          </a:solidFill>
                          <a:latin typeface="Verdana" pitchFamily="34" charset="0"/>
                          <a:ea typeface="Verdana" pitchFamily="34" charset="-122"/>
                          <a:cs typeface="Verdana" pitchFamily="34" charset="-120"/>
                        </a:rPr>
                        <a:t>Irlanda</a:t>
                      </a:r>
                      <a:endParaRPr lang="en-US" sz="100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56600"/>
                    </a:solidFill>
                  </a:tcPr>
                </a:tc>
              </a:tr>
              <a:tr h="32918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PD (puntos básicos)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+116</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+76</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+155</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+159</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+93</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+66</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+82</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32918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LGD (puntos porcentuales)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-5.6</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-8.1</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-8.5</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-4.4</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0.0</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-10.3</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-2.7</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329184">
                <a:tc>
                  <a:txBody>
                    <a:bodyPr/>
                    <a:lstStyle/>
                    <a:p>
                      <a:pPr algn="l" indent="0" marL="0">
                        <a:buNone/>
                      </a:pPr>
                      <a:r>
                        <a:rPr lang="en-US" sz="1050" b="1" dirty="0">
                          <a:solidFill>
                            <a:srgbClr val="2B2B2B"/>
                          </a:solidFill>
                          <a:latin typeface="Verdana" pitchFamily="34" charset="0"/>
                          <a:ea typeface="Verdana" pitchFamily="34" charset="-122"/>
                          <a:cs typeface="Verdana" pitchFamily="34" charset="-120"/>
                        </a:rPr>
                        <a:t>PD × LGD (puntos básicos)</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+36</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+20</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+44</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+53</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+37</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+14</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c>
                  <a:txBody>
                    <a:bodyPr/>
                    <a:lstStyle/>
                    <a:p>
                      <a:pPr algn="ctr" indent="0" marL="0">
                        <a:buNone/>
                      </a:pPr>
                      <a:r>
                        <a:rPr lang="en-US" sz="1050" b="1" dirty="0">
                          <a:solidFill>
                            <a:srgbClr val="2B2B2B"/>
                          </a:solidFill>
                          <a:latin typeface="Verdana" pitchFamily="34" charset="0"/>
                          <a:ea typeface="Verdana" pitchFamily="34" charset="-122"/>
                          <a:cs typeface="Verdana" pitchFamily="34" charset="-120"/>
                        </a:rPr>
                        <a:t>+30</a:t>
                      </a:r>
                      <a:endParaRPr lang="en-US" sz="1050" dirty="0">
                        <a:latin typeface="Verdana" charset="0"/>
                        <a:ea typeface="Verdana" charset="0"/>
                        <a:cs typeface="Verdana" charset="0"/>
                      </a:endParaRPr>
                    </a:p>
                  </a:txBody>
                  <a:tcPr marL="91440" marR="91440" marT="45720" marB="4572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bl>
          </a:graphicData>
        </a:graphic>
      </p:graphicFrame>
      <p:sp>
        <p:nvSpPr>
          <p:cNvPr id="7" name="Shape 2"/>
          <p:cNvSpPr/>
          <p:nvPr/>
        </p:nvSpPr>
        <p:spPr>
          <a:xfrm>
            <a:off x="548640" y="5440680"/>
            <a:ext cx="11091672" cy="777240"/>
          </a:xfrm>
          <a:prstGeom prst="roundRect">
            <a:avLst>
              <a:gd name="adj" fmla="val 7059"/>
            </a:avLst>
          </a:prstGeom>
          <a:solidFill>
            <a:srgbClr val="FFD6BA"/>
          </a:solidFill>
          <a:ln w="12700">
            <a:solidFill>
              <a:srgbClr val="FFAB70"/>
            </a:solidFill>
            <a:prstDash val="solid"/>
          </a:ln>
        </p:spPr>
      </p:sp>
      <p:sp>
        <p:nvSpPr>
          <p:cNvPr id="8" name="Text 3"/>
          <p:cNvSpPr txBox="1"/>
          <p:nvPr/>
        </p:nvSpPr>
        <p:spPr>
          <a:xfrm>
            <a:off x="749808" y="5532120"/>
            <a:ext cx="10835640" cy="621792"/>
          </a:xfrm>
          <a:prstGeom prst="rect">
            <a:avLst/>
          </a:prstGeom>
          <a:noFill/>
          <a:ln/>
        </p:spPr>
        <p:txBody>
          <a:bodyPr wrap="square" lIns="0" tIns="0" rIns="0" bIns="0" rtlCol="0" anchor="ctr"/>
          <a:lstStyle/>
          <a:p>
            <a:pPr indent="0" marL="0">
              <a:buNone/>
            </a:pPr>
            <a:r>
              <a:rPr lang="en-US" sz="1000" b="1" dirty="0">
                <a:solidFill>
                  <a:srgbClr val="2B2B2B"/>
                </a:solidFill>
                <a:latin typeface="Verdana" pitchFamily="34" charset="0"/>
                <a:ea typeface="Verdana" pitchFamily="34" charset="-122"/>
                <a:cs typeface="Verdana" pitchFamily="34" charset="-120"/>
              </a:rPr>
              <a:t>Cautela con el LGD de gran empresa. </a:t>
            </a:r>
            <a:pPr indent="0" marL="0">
              <a:buNone/>
            </a:pPr>
            <a:r>
              <a:rPr lang="en-US" sz="1000" dirty="0">
                <a:solidFill>
                  <a:srgbClr val="2B2B2B"/>
                </a:solidFill>
                <a:latin typeface="Verdana" pitchFamily="34" charset="0"/>
                <a:ea typeface="Verdana" pitchFamily="34" charset="-122"/>
                <a:cs typeface="Verdana" pitchFamily="34" charset="-120"/>
              </a:rPr>
              <a:t>Está agrupado en el 40,0 % en los siete países y en todo el reparto (percentiles 25, 50 y 75), porque es el valor supervisor del IRB básico bajo CRR3, no una estimación propia. La ventaja de severidad de la PYME es real —viene de mayor garantía real— pero está exagerada por ese efecto: en media ponderada la brecha se reduce a la mitad (PYME 23,6–37,9 % frente a gran empresa 35,0–38,8 %). El spread de PD, en cambio, es sólido: la PD sí es estimación propia en ambas clases.</a:t>
            </a:r>
            <a:endParaRPr lang="en-US" sz="1000" dirty="0"/>
          </a:p>
        </p:txBody>
      </p:sp>
      <p:sp>
        <p:nvSpPr>
          <p:cNvPr id="9" name="Text 4"/>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EBA, anexo de parámetros de riesgo del Risk Dashboard Q1 2026, origen COREP C 9.02. Clases «Corporates – Of Which: SME» y «Corporates – Of Which: Large corporates».</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Mitigar el coste del riesgo: dónde está la palanca</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Cuánto cae el coste del riesgo de cada país si iguala la mejor PD o la mejor LGD de las siete · Puntos básicos</a:t>
            </a:r>
            <a:endParaRPr lang="en-US" sz="1100" dirty="0"/>
          </a:p>
        </p:txBody>
      </p:sp>
      <p:graphicFrame>
        <p:nvGraphicFramePr>
          <p:cNvPr id="4" name="Chart 0" descr=""/>
          <p:cNvGraphicFramePr/>
          <p:nvPr/>
        </p:nvGraphicFramePr>
        <p:xfrm>
          <a:off x="548640" y="1627632"/>
          <a:ext cx="685800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52360" y="1627632"/>
            <a:ext cx="4187952" cy="1874520"/>
          </a:xfrm>
          <a:prstGeom prst="roundRect">
            <a:avLst>
              <a:gd name="adj" fmla="val 2927"/>
            </a:avLst>
          </a:prstGeom>
          <a:solidFill>
            <a:srgbClr val="FFD6BA"/>
          </a:solidFill>
          <a:ln w="12700">
            <a:solidFill>
              <a:srgbClr val="FFAB70"/>
            </a:solidFill>
            <a:prstDash val="solid"/>
          </a:ln>
        </p:spPr>
      </p:sp>
      <p:sp>
        <p:nvSpPr>
          <p:cNvPr id="6" name="Text 3"/>
          <p:cNvSpPr txBox="1"/>
          <p:nvPr/>
        </p:nvSpPr>
        <p:spPr>
          <a:xfrm>
            <a:off x="7635240" y="1737360"/>
            <a:ext cx="3840480" cy="457200"/>
          </a:xfrm>
          <a:prstGeom prst="rect">
            <a:avLst/>
          </a:prstGeom>
          <a:noFill/>
          <a:ln/>
        </p:spPr>
        <p:txBody>
          <a:bodyPr wrap="square" lIns="0" tIns="0" rIns="0" bIns="0" rtlCol="0" anchor="ctr"/>
          <a:lstStyle/>
          <a:p>
            <a:pPr indent="0" marL="0">
              <a:buNone/>
            </a:pPr>
            <a:r>
              <a:rPr lang="en-US" sz="1200" b="1" dirty="0">
                <a:solidFill>
                  <a:srgbClr val="2B2B2B"/>
                </a:solidFill>
                <a:latin typeface="Verdana" pitchFamily="34" charset="0"/>
                <a:ea typeface="Verdana" pitchFamily="34" charset="-122"/>
                <a:cs typeface="Verdana" pitchFamily="34" charset="-120"/>
              </a:rPr>
              <a:t>La selección pesa el triple que la recuperación</a:t>
            </a:r>
            <a:endParaRPr lang="en-US" sz="1200" dirty="0"/>
          </a:p>
        </p:txBody>
      </p:sp>
      <p:sp>
        <p:nvSpPr>
          <p:cNvPr id="7" name="Text 4"/>
          <p:cNvSpPr txBox="1"/>
          <p:nvPr/>
        </p:nvSpPr>
        <p:spPr>
          <a:xfrm>
            <a:off x="7635240" y="2194560"/>
            <a:ext cx="3840480" cy="1188720"/>
          </a:xfrm>
          <a:prstGeom prst="rect">
            <a:avLst/>
          </a:prstGeom>
          <a:noFill/>
          <a:ln/>
        </p:spPr>
        <p:txBody>
          <a:bodyPr wrap="square" lIns="0" tIns="0" rIns="0" bIns="0" rtlCol="0" anchor="ctr"/>
          <a:lstStyle/>
          <a:p>
            <a:pPr indent="0" marL="0">
              <a:buNone/>
            </a:pPr>
            <a:r>
              <a:rPr lang="en-US" sz="950" dirty="0">
                <a:solidFill>
                  <a:srgbClr val="2B2B2B"/>
                </a:solidFill>
                <a:latin typeface="Verdana" pitchFamily="34" charset="0"/>
                <a:ea typeface="Verdana" pitchFamily="34" charset="-122"/>
                <a:cs typeface="Verdana" pitchFamily="34" charset="-120"/>
              </a:rPr>
              <a:t>Igualar la PD a la mejor de las siete elimina el 75 % de la dispersión del coste del riesgo entre países. Igualar la LGD solo elimina el 22 %.</a:t>
            </a:r>
            <a:endParaRPr lang="en-US" sz="950" dirty="0"/>
          </a:p>
          <a:p>
            <a:pPr indent="0" marL="0">
              <a:buNone/>
            </a:pPr>
            <a:endParaRPr lang="en-US" sz="950" dirty="0"/>
          </a:p>
          <a:p>
            <a:pPr indent="0" marL="0">
              <a:buNone/>
            </a:pPr>
            <a:r>
              <a:rPr lang="en-US" sz="950" dirty="0">
                <a:solidFill>
                  <a:srgbClr val="2B2B2B"/>
                </a:solidFill>
                <a:latin typeface="Verdana" pitchFamily="34" charset="0"/>
                <a:ea typeface="Verdana" pitchFamily="34" charset="-122"/>
                <a:cs typeface="Verdana" pitchFamily="34" charset="-120"/>
              </a:rPr>
              <a:t>La diferencia entre mercados está en a quién se presta, no en cuánto se recupera.</a:t>
            </a:r>
            <a:endParaRPr lang="en-US" sz="950" dirty="0"/>
          </a:p>
        </p:txBody>
      </p:sp>
      <p:sp>
        <p:nvSpPr>
          <p:cNvPr id="8" name="Shape 5"/>
          <p:cNvSpPr/>
          <p:nvPr/>
        </p:nvSpPr>
        <p:spPr>
          <a:xfrm>
            <a:off x="7452360" y="3611880"/>
            <a:ext cx="4187952" cy="1261872"/>
          </a:xfrm>
          <a:prstGeom prst="roundRect">
            <a:avLst>
              <a:gd name="adj" fmla="val 4348"/>
            </a:avLst>
          </a:prstGeom>
          <a:solidFill>
            <a:srgbClr val="E5E5E5"/>
          </a:solidFill>
          <a:ln w="12700">
            <a:solidFill>
              <a:srgbClr val="CACACA"/>
            </a:solidFill>
            <a:prstDash val="solid"/>
          </a:ln>
        </p:spPr>
      </p:sp>
      <p:sp>
        <p:nvSpPr>
          <p:cNvPr id="9" name="Text 6"/>
          <p:cNvSpPr txBox="1"/>
          <p:nvPr/>
        </p:nvSpPr>
        <p:spPr>
          <a:xfrm>
            <a:off x="7635240" y="3703320"/>
            <a:ext cx="3840480" cy="256032"/>
          </a:xfrm>
          <a:prstGeom prst="rect">
            <a:avLst/>
          </a:prstGeom>
          <a:noFill/>
          <a:ln/>
        </p:spPr>
        <p:txBody>
          <a:bodyPr wrap="square" lIns="0" tIns="0" rIns="0" bIns="0" rtlCol="0" anchor="ctr"/>
          <a:lstStyle/>
          <a:p>
            <a:pPr indent="0" marL="0">
              <a:buNone/>
            </a:pPr>
            <a:r>
              <a:rPr lang="en-US" sz="1100" b="1" dirty="0">
                <a:solidFill>
                  <a:srgbClr val="2B2B2B"/>
                </a:solidFill>
                <a:latin typeface="Verdana" pitchFamily="34" charset="0"/>
                <a:ea typeface="Verdana" pitchFamily="34" charset="-122"/>
                <a:cs typeface="Verdana" pitchFamily="34" charset="-120"/>
              </a:rPr>
              <a:t>Dónde más margen hay</a:t>
            </a:r>
            <a:endParaRPr lang="en-US" sz="1100" dirty="0"/>
          </a:p>
        </p:txBody>
      </p:sp>
      <p:sp>
        <p:nvSpPr>
          <p:cNvPr id="10" name="Text 7"/>
          <p:cNvSpPr txBox="1"/>
          <p:nvPr/>
        </p:nvSpPr>
        <p:spPr>
          <a:xfrm>
            <a:off x="7635240" y="3986784"/>
            <a:ext cx="3840480" cy="777240"/>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Italia −42 pb y Francia −34 pb mejorando selección. España −22 pb. Irlanda y Países Bajos ya están en la frontera: no tienen recorrido por esa vía.</a:t>
            </a:r>
            <a:endParaRPr lang="en-US" sz="900" dirty="0"/>
          </a:p>
        </p:txBody>
      </p:sp>
      <p:sp>
        <p:nvSpPr>
          <p:cNvPr id="11" name="Text 8"/>
          <p:cNvSpPr txBox="1"/>
          <p:nvPr/>
        </p:nvSpPr>
        <p:spPr>
          <a:xfrm>
            <a:off x="548640" y="5074920"/>
            <a:ext cx="11091672" cy="548640"/>
          </a:xfrm>
          <a:prstGeom prst="rect">
            <a:avLst/>
          </a:prstGeom>
          <a:noFill/>
          <a:ln/>
        </p:spPr>
        <p:txBody>
          <a:bodyPr wrap="square" lIns="0" tIns="0" rIns="0" bIns="0" rtlCol="0" anchor="ctr"/>
          <a:lstStyle/>
          <a:p>
            <a:pPr indent="0" marL="0">
              <a:buNone/>
            </a:pPr>
            <a:r>
              <a:rPr lang="en-US" sz="950" dirty="0">
                <a:solidFill>
                  <a:srgbClr val="818181"/>
                </a:solidFill>
                <a:latin typeface="Verdana" pitchFamily="34" charset="0"/>
                <a:ea typeface="Verdana" pitchFamily="34" charset="-122"/>
                <a:cs typeface="Verdana" pitchFamily="34" charset="-120"/>
              </a:rPr>
              <a:t>Matiz importante: esto mide la dispersión ENTRE países, no el recorrido de un banco concreto. Para un prestamista individual la garantía y el aval sí bajan su LGD propia; lo que dice el dato es que las diferencias de mercado vienen de la calidad de la cartera admitida.</a:t>
            </a:r>
            <a:endParaRPr lang="en-US" sz="950" dirty="0"/>
          </a:p>
        </p:txBody>
      </p:sp>
      <p:sp>
        <p:nvSpPr>
          <p:cNvPr id="12" name="Text 9"/>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Cálculo propio sobre los parámetros IRB del EBA (COREP C 9.02), clase «Corporates – Of Which: SME», mediana de entidades, 2026-Q1. La mejor PD es la irlandesa (1,08 %) y la mejor LGD la neerlandesa (29,7 %).</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Hipoteca PYME: no existe estadística oficial</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El bloque se cubre con exposición a inmueble comercial, que es el proxy disponible</a:t>
            </a:r>
            <a:endParaRPr lang="en-US" sz="1100" dirty="0"/>
          </a:p>
        </p:txBody>
      </p:sp>
      <p:sp>
        <p:nvSpPr>
          <p:cNvPr id="4" name="Shape 2"/>
          <p:cNvSpPr/>
          <p:nvPr/>
        </p:nvSpPr>
        <p:spPr>
          <a:xfrm>
            <a:off x="548640" y="1645920"/>
            <a:ext cx="11091672" cy="1143000"/>
          </a:xfrm>
          <a:prstGeom prst="roundRect">
            <a:avLst>
              <a:gd name="adj" fmla="val 4800"/>
            </a:avLst>
          </a:prstGeom>
          <a:solidFill>
            <a:srgbClr val="FFCCE8"/>
          </a:solidFill>
          <a:ln w="12700">
            <a:solidFill>
              <a:srgbClr val="FF8AC2"/>
            </a:solidFill>
            <a:prstDash val="solid"/>
          </a:ln>
        </p:spPr>
      </p:sp>
      <p:sp>
        <p:nvSpPr>
          <p:cNvPr id="5" name="Text 3"/>
          <p:cNvSpPr txBox="1"/>
          <p:nvPr/>
        </p:nvSpPr>
        <p:spPr>
          <a:xfrm>
            <a:off x="777240" y="1764792"/>
            <a:ext cx="10789920" cy="274320"/>
          </a:xfrm>
          <a:prstGeom prst="rect">
            <a:avLst/>
          </a:prstGeom>
          <a:noFill/>
          <a:ln/>
        </p:spPr>
        <p:txBody>
          <a:bodyPr wrap="square" lIns="0" tIns="0" rIns="0" bIns="0" rtlCol="0" anchor="ctr"/>
          <a:lstStyle/>
          <a:p>
            <a:pPr indent="0" marL="0">
              <a:buNone/>
            </a:pPr>
            <a:r>
              <a:rPr lang="en-US" sz="1400" b="1" dirty="0">
                <a:solidFill>
                  <a:srgbClr val="2B2B2B"/>
                </a:solidFill>
                <a:latin typeface="Verdana" pitchFamily="34" charset="0"/>
                <a:ea typeface="Verdana" pitchFamily="34" charset="-122"/>
                <a:cs typeface="Verdana" pitchFamily="34" charset="-120"/>
              </a:rPr>
              <a:t>Qué falta y por qué</a:t>
            </a:r>
            <a:endParaRPr lang="en-US" sz="1400" dirty="0"/>
          </a:p>
        </p:txBody>
      </p:sp>
      <p:sp>
        <p:nvSpPr>
          <p:cNvPr id="6" name="Text 4"/>
          <p:cNvSpPr txBox="1"/>
          <p:nvPr/>
        </p:nvSpPr>
        <p:spPr>
          <a:xfrm>
            <a:off x="777240" y="2084832"/>
            <a:ext cx="10789920" cy="640080"/>
          </a:xfrm>
          <a:prstGeom prst="rect">
            <a:avLst/>
          </a:prstGeom>
          <a:noFill/>
          <a:ln/>
        </p:spPr>
        <p:txBody>
          <a:bodyPr wrap="square" lIns="0" tIns="0" rIns="0" bIns="0" rtlCol="0" anchor="ctr"/>
          <a:lstStyle/>
          <a:p>
            <a:pPr indent="0" marL="0">
              <a:buNone/>
            </a:pPr>
            <a:r>
              <a:rPr lang="en-US" sz="1200" dirty="0">
                <a:solidFill>
                  <a:srgbClr val="2B2B2B"/>
                </a:solidFill>
                <a:latin typeface="Verdana" pitchFamily="34" charset="0"/>
                <a:ea typeface="Verdana" pitchFamily="34" charset="-122"/>
                <a:cs typeface="Verdana" pitchFamily="34" charset="-120"/>
              </a:rPr>
              <a:t>El dataset MIR del BCE publica préstamos para adquisición de vivienda solo del sector hogares. No hay desglose de préstamo con garantía inmobiliaria a empresas en ninguno de los siete países. El crédito con garantía real a PYME queda subsumido en la serie genérica por tramo de importe, y su precio no es observable por separado.</a:t>
            </a:r>
            <a:endParaRPr lang="en-US" sz="1200" dirty="0"/>
          </a:p>
        </p:txBody>
      </p:sp>
      <p:sp>
        <p:nvSpPr>
          <p:cNvPr id="7" name="Text 5"/>
          <p:cNvSpPr txBox="1"/>
          <p:nvPr/>
        </p:nvSpPr>
        <p:spPr>
          <a:xfrm>
            <a:off x="548640" y="2999232"/>
            <a:ext cx="10789920" cy="320040"/>
          </a:xfrm>
          <a:prstGeom prst="rect">
            <a:avLst/>
          </a:prstGeom>
          <a:noFill/>
          <a:ln/>
        </p:spPr>
        <p:txBody>
          <a:bodyPr wrap="square" lIns="0" tIns="0" rIns="0" bIns="0" rtlCol="0" anchor="ctr"/>
          <a:lstStyle/>
          <a:p>
            <a:pPr indent="0" marL="0">
              <a:buNone/>
            </a:pPr>
            <a:r>
              <a:rPr lang="en-US" sz="1500" b="1" dirty="0">
                <a:solidFill>
                  <a:srgbClr val="F56600"/>
                </a:solidFill>
                <a:latin typeface="Verdana" pitchFamily="34" charset="0"/>
                <a:ea typeface="Verdana" pitchFamily="34" charset="-122"/>
                <a:cs typeface="Verdana" pitchFamily="34" charset="-120"/>
              </a:rPr>
              <a:t>Proxy disponible: ratio de NPL de la cartera de inmueble comercial (CRE)</a:t>
            </a:r>
            <a:endParaRPr lang="en-US" sz="1500" dirty="0"/>
          </a:p>
        </p:txBody>
      </p:sp>
      <p:sp>
        <p:nvSpPr>
          <p:cNvPr id="8" name="Text 6"/>
          <p:cNvSpPr txBox="1"/>
          <p:nvPr/>
        </p:nvSpPr>
        <p:spPr>
          <a:xfrm>
            <a:off x="548640" y="3310128"/>
            <a:ext cx="10789920" cy="274320"/>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El gráfico muestra el porcentaje de la cartera de inmueble comercial que está en mora. No es un precio ni un margen: es calidad de activo.</a:t>
            </a:r>
            <a:endParaRPr lang="en-US" sz="1000" dirty="0"/>
          </a:p>
        </p:txBody>
      </p:sp>
      <p:graphicFrame>
        <p:nvGraphicFramePr>
          <p:cNvPr id="9" name="Chart 0" descr=""/>
          <p:cNvGraphicFramePr/>
          <p:nvPr/>
        </p:nvGraphicFramePr>
        <p:xfrm>
          <a:off x="548640" y="3639312"/>
          <a:ext cx="10789920" cy="2029968"/>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 EBA Risk Dashboard Q1 2026, desglose «of which CRE». Alemania destaca con el peor NPL de inmueble comercial de los seis (6,81 %), muy por encima de su NPL total (1,61 %).</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92608"/>
            <a:ext cx="11091672" cy="749808"/>
          </a:xfrm>
          <a:prstGeom prst="rect">
            <a:avLst/>
          </a:prstGeom>
          <a:noFill/>
          <a:ln/>
        </p:spPr>
        <p:txBody>
          <a:bodyPr wrap="square" lIns="0" tIns="0" rIns="0" bIns="0" rtlCol="0" anchor="ctr"/>
          <a:lstStyle/>
          <a:p>
            <a:pPr indent="0" marL="0">
              <a:buNone/>
            </a:pPr>
            <a:r>
              <a:rPr lang="en-US" sz="2500" b="1" dirty="0">
                <a:solidFill>
                  <a:srgbClr val="F56600"/>
                </a:solidFill>
                <a:latin typeface="Verdana" pitchFamily="34" charset="0"/>
                <a:ea typeface="Verdana" pitchFamily="34" charset="-122"/>
                <a:cs typeface="Verdana" pitchFamily="34" charset="-120"/>
              </a:rPr>
              <a:t>Factoring y confirming: volumen sí, precio no</a:t>
            </a:r>
            <a:endParaRPr lang="en-US" sz="2500" dirty="0"/>
          </a:p>
        </p:txBody>
      </p:sp>
      <p:sp>
        <p:nvSpPr>
          <p:cNvPr id="3" name="Text 1"/>
          <p:cNvSpPr txBox="1"/>
          <p:nvPr/>
        </p:nvSpPr>
        <p:spPr>
          <a:xfrm>
            <a:off x="548640" y="987552"/>
            <a:ext cx="11091672" cy="384048"/>
          </a:xfrm>
          <a:prstGeom prst="rect">
            <a:avLst/>
          </a:prstGeom>
          <a:noFill/>
          <a:ln/>
        </p:spPr>
        <p:txBody>
          <a:bodyPr wrap="square" lIns="0" tIns="0" rIns="0" bIns="0" rtlCol="0" anchor="ctr"/>
          <a:lstStyle/>
          <a:p>
            <a:pPr indent="0" marL="0">
              <a:buNone/>
            </a:pPr>
            <a:r>
              <a:rPr lang="en-US" sz="1100" dirty="0">
                <a:solidFill>
                  <a:srgbClr val="818181"/>
                </a:solidFill>
                <a:latin typeface="Verdana" pitchFamily="34" charset="0"/>
                <a:ea typeface="Verdana" pitchFamily="34" charset="-122"/>
                <a:cs typeface="Verdana" pitchFamily="34" charset="-120"/>
              </a:rPr>
              <a:t>Volumen cedido 2025 y penetración sobre PIB · El precio no es obtenible con fuentes públicas</a:t>
            </a:r>
            <a:endParaRPr lang="en-US" sz="1100" dirty="0"/>
          </a:p>
        </p:txBody>
      </p:sp>
      <p:graphicFrame>
        <p:nvGraphicFramePr>
          <p:cNvPr id="4" name="Chart 0" descr=""/>
          <p:cNvGraphicFramePr/>
          <p:nvPr/>
        </p:nvGraphicFramePr>
        <p:xfrm>
          <a:off x="548640" y="1691640"/>
          <a:ext cx="630936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32320" y="1691640"/>
            <a:ext cx="4507992" cy="1783080"/>
          </a:xfrm>
          <a:prstGeom prst="roundRect">
            <a:avLst>
              <a:gd name="adj" fmla="val 3077"/>
            </a:avLst>
          </a:prstGeom>
          <a:solidFill>
            <a:srgbClr val="FFCCE8"/>
          </a:solidFill>
          <a:ln w="12700">
            <a:solidFill>
              <a:srgbClr val="FF8AC2"/>
            </a:solidFill>
            <a:prstDash val="solid"/>
          </a:ln>
        </p:spPr>
      </p:sp>
      <p:sp>
        <p:nvSpPr>
          <p:cNvPr id="6" name="Text 3"/>
          <p:cNvSpPr txBox="1"/>
          <p:nvPr/>
        </p:nvSpPr>
        <p:spPr>
          <a:xfrm>
            <a:off x="7333488" y="1810512"/>
            <a:ext cx="4114800" cy="292608"/>
          </a:xfrm>
          <a:prstGeom prst="rect">
            <a:avLst/>
          </a:prstGeom>
          <a:noFill/>
          <a:ln/>
        </p:spPr>
        <p:txBody>
          <a:bodyPr wrap="square" lIns="0" tIns="0" rIns="0" bIns="0" rtlCol="0" anchor="ctr"/>
          <a:lstStyle/>
          <a:p>
            <a:pPr indent="0" marL="0">
              <a:buNone/>
            </a:pPr>
            <a:r>
              <a:rPr lang="en-US" sz="1300" b="1" dirty="0">
                <a:solidFill>
                  <a:srgbClr val="2B2B2B"/>
                </a:solidFill>
                <a:latin typeface="Verdana" pitchFamily="34" charset="0"/>
                <a:ea typeface="Verdana" pitchFamily="34" charset="-122"/>
                <a:cs typeface="Verdana" pitchFamily="34" charset="-120"/>
              </a:rPr>
              <a:t>La tabla de la EUF no es comparable</a:t>
            </a:r>
            <a:endParaRPr lang="en-US" sz="1300" dirty="0"/>
          </a:p>
        </p:txBody>
      </p:sp>
      <p:sp>
        <p:nvSpPr>
          <p:cNvPr id="7" name="Text 4"/>
          <p:cNvSpPr txBox="1"/>
          <p:nvPr/>
        </p:nvSpPr>
        <p:spPr>
          <a:xfrm>
            <a:off x="7333488" y="2176272"/>
            <a:ext cx="4114800" cy="118872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El 52,6 % de la cifra española es confirming. En Italia el confirming es el 1,9 %. Comparar los 269.885 M€ de España con los 297.445 M€ de Italia es comparar pago confirmado a proveedores contra cesión de facturas.</a:t>
            </a:r>
            <a:endParaRPr lang="en-US" sz="1100" dirty="0"/>
          </a:p>
        </p:txBody>
      </p:sp>
      <p:sp>
        <p:nvSpPr>
          <p:cNvPr id="8" name="Shape 5"/>
          <p:cNvSpPr/>
          <p:nvPr/>
        </p:nvSpPr>
        <p:spPr>
          <a:xfrm>
            <a:off x="7132320" y="3639312"/>
            <a:ext cx="4507992" cy="1344168"/>
          </a:xfrm>
          <a:prstGeom prst="roundRect">
            <a:avLst>
              <a:gd name="adj" fmla="val 4082"/>
            </a:avLst>
          </a:prstGeom>
          <a:solidFill>
            <a:srgbClr val="E5E5E5"/>
          </a:solidFill>
          <a:ln w="12700">
            <a:solidFill>
              <a:srgbClr val="CACACA"/>
            </a:solidFill>
            <a:prstDash val="solid"/>
          </a:ln>
        </p:spPr>
      </p:sp>
      <p:sp>
        <p:nvSpPr>
          <p:cNvPr id="9" name="Text 6"/>
          <p:cNvSpPr txBox="1"/>
          <p:nvPr/>
        </p:nvSpPr>
        <p:spPr>
          <a:xfrm>
            <a:off x="7333488" y="3758184"/>
            <a:ext cx="4114800" cy="274320"/>
          </a:xfrm>
          <a:prstGeom prst="rect">
            <a:avLst/>
          </a:prstGeom>
          <a:noFill/>
          <a:ln/>
        </p:spPr>
        <p:txBody>
          <a:bodyPr wrap="square" lIns="0" tIns="0" rIns="0" bIns="0" rtlCol="0" anchor="ctr"/>
          <a:lstStyle/>
          <a:p>
            <a:pPr indent="0" marL="0">
              <a:buNone/>
            </a:pPr>
            <a:r>
              <a:rPr lang="en-US" sz="1300" b="1" dirty="0">
                <a:solidFill>
                  <a:srgbClr val="F56600"/>
                </a:solidFill>
                <a:latin typeface="Verdana" pitchFamily="34" charset="0"/>
                <a:ea typeface="Verdana" pitchFamily="34" charset="-122"/>
                <a:cs typeface="Verdana" pitchFamily="34" charset="-120"/>
              </a:rPr>
              <a:t>Sin precio en ninguna fuente</a:t>
            </a:r>
            <a:endParaRPr lang="en-US" sz="1300" dirty="0"/>
          </a:p>
        </p:txBody>
      </p:sp>
      <p:sp>
        <p:nvSpPr>
          <p:cNvPr id="10" name="Text 7"/>
          <p:cNvSpPr txBox="1"/>
          <p:nvPr/>
        </p:nvSpPr>
        <p:spPr>
          <a:xfrm>
            <a:off x="7333488" y="4096512"/>
            <a:ext cx="4114800" cy="822960"/>
          </a:xfrm>
          <a:prstGeom prst="rect">
            <a:avLst/>
          </a:prstGeom>
          <a:noFill/>
          <a:ln/>
        </p:spPr>
        <p:txBody>
          <a:bodyPr wrap="square" lIns="0" tIns="0" rIns="0" bIns="0" rtlCol="0" anchor="ctr"/>
          <a:lstStyle/>
          <a:p>
            <a:pPr indent="0" marL="0">
              <a:buNone/>
            </a:pPr>
            <a:r>
              <a:rPr lang="en-US" sz="1100" dirty="0">
                <a:solidFill>
                  <a:srgbClr val="2B2B2B"/>
                </a:solidFill>
                <a:latin typeface="Verdana" pitchFamily="34" charset="0"/>
                <a:ea typeface="Verdana" pitchFamily="34" charset="-122"/>
                <a:cs typeface="Verdana" pitchFamily="34" charset="-120"/>
              </a:rPr>
              <a:t>Ni EUF, ni AEF, ni Assifact, ni la OCDE publican comisión de cesión o tipo de descuento. Las cuentas de las filiales especializadas están en registros de pago.</a:t>
            </a:r>
            <a:endParaRPr lang="en-US" sz="1100" dirty="0"/>
          </a:p>
        </p:txBody>
      </p:sp>
      <p:sp>
        <p:nvSpPr>
          <p:cNvPr id="11" name="Text 8"/>
          <p:cNvSpPr txBox="1"/>
          <p:nvPr/>
        </p:nvSpPr>
        <p:spPr>
          <a:xfrm>
            <a:off x="548640" y="5120640"/>
            <a:ext cx="11091672" cy="365760"/>
          </a:xfrm>
          <a:prstGeom prst="rect">
            <a:avLst/>
          </a:prstGeom>
          <a:noFill/>
          <a:ln/>
        </p:spPr>
        <p:txBody>
          <a:bodyPr wrap="square" lIns="0" tIns="0" rIns="0" bIns="0" rtlCol="0" anchor="ctr"/>
          <a:lstStyle/>
          <a:p>
            <a:pPr indent="0" marL="0">
              <a:buNone/>
            </a:pPr>
            <a:r>
              <a:rPr lang="en-US" sz="1150" dirty="0">
                <a:solidFill>
                  <a:srgbClr val="2B2B2B"/>
                </a:solidFill>
                <a:latin typeface="Verdana" pitchFamily="34" charset="0"/>
                <a:ea typeface="Verdana" pitchFamily="34" charset="-122"/>
                <a:cs typeface="Verdana" pitchFamily="34" charset="-120"/>
              </a:rPr>
              <a:t>Volumen cedido 2025 (M€):  España 270k  ·  Alemania 423k  ·  Francia 439k  ·  Italia 297k  ·  Portugal 52k  ·  P. Bajos 165k  ·  Irlanda 29k</a:t>
            </a:r>
            <a:endParaRPr lang="en-US" sz="1150" dirty="0"/>
          </a:p>
        </p:txBody>
      </p:sp>
      <p:sp>
        <p:nvSpPr>
          <p:cNvPr id="12" name="Text 9"/>
          <p:cNvSpPr txBox="1"/>
          <p:nvPr/>
        </p:nvSpPr>
        <p:spPr>
          <a:xfrm>
            <a:off x="548640" y="6181344"/>
            <a:ext cx="11091672" cy="512064"/>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Fuentes: EUF (datos anuales 2025), AEF para el desglose español, Assifact para el italiano. El turnover es importe cedido en el año, no saldo vivo: no comparable con cartera de crédito.</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Analisis PYME Europa</dc:creator>
  <cp:lastModifiedBy>Analisis PYME Europa</cp:lastModifiedBy>
  <cp:revision>1</cp:revision>
  <dcterms:created xsi:type="dcterms:W3CDTF">2026-09-17T11:13:40Z</dcterms:created>
  <dcterms:modified xsi:type="dcterms:W3CDTF">2026-09-17T11:13:40Z</dcterms:modified>
</cp:coreProperties>
</file>