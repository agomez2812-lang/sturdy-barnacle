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7.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8.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9.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de nueva producción</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FFAB70"/>
              </a:solidFill>
              <a:effectLst/>
            </c:spPr>
          </c:dPt>
          <c:dPt>
            <c:idx val="2"/>
            <c:invertIfNegative val="0"/>
            <c:bubble3D val="0"/>
            <c:spPr>
              <a:solidFill>
                <a:srgbClr val="77BFEE"/>
              </a:solidFill>
              <a:effectLst/>
            </c:spPr>
          </c:dPt>
          <c:dPt>
            <c:idx val="3"/>
            <c:invertIfNegative val="0"/>
            <c:bubble3D val="0"/>
            <c:spPr>
              <a:solidFill>
                <a:srgbClr val="77BFEE"/>
              </a:solidFill>
              <a:effectLst/>
            </c:spPr>
          </c:dPt>
          <c:dPt>
            <c:idx val="4"/>
            <c:invertIfNegative val="0"/>
            <c:bubble3D val="0"/>
            <c:spPr>
              <a:solidFill>
                <a:srgbClr val="77BFEE"/>
              </a:solidFill>
              <a:effectLst/>
            </c:spPr>
          </c:dPt>
          <c:cat>
            <c:multiLvlStrRef>
              <c:f>Sheet1!$A$2:$A$6</c:f>
              <c:multiLvlStrCache>
                <c:ptCount val="5"/>
                <c:lvl>
                  <c:pt idx="0">
                    <c:v>Autónomo
otros fines</c:v>
                  </c:pt>
                  <c:pt idx="1">
                    <c:v>Autónomo
hasta 1 año</c:v>
                  </c:pt>
                  <c:pt idx="2">
                    <c:v>Sociedad
≤0,25 M€</c:v>
                  </c:pt>
                  <c:pt idx="3">
                    <c:v>Sociedad
0,25-1 M€</c:v>
                  </c:pt>
                  <c:pt idx="4">
                    <c:v>Sociedad
&gt;1 M€</c:v>
                  </c:pt>
                </c:lvl>
              </c:multiLvlStrCache>
            </c:multiLvlStrRef>
          </c:cat>
          <c:val>
            <c:numRef>
              <c:f>Sheet1!$B$2:$B$6</c:f>
              <c:numCache>
                <c:formatCode>General</c:formatCode>
                <c:ptCount val="5"/>
                <c:pt idx="0">
                  <c:v>4.57</c:v>
                </c:pt>
                <c:pt idx="1">
                  <c:v>3.84</c:v>
                </c:pt>
                <c:pt idx="2">
                  <c:v>3.42</c:v>
                </c:pt>
                <c:pt idx="3">
                  <c:v>3.37</c:v>
                </c:pt>
                <c:pt idx="4">
                  <c:v>3.46</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38885 observaciones · 11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de Préstamos a Pymes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100" dirty="0"/>
          </a:p>
        </p:txBody>
      </p:sp>
      <p:graphicFrame>
        <p:nvGraphicFramePr>
          <p:cNvPr id="4" name="Chart 0" descr=""/>
          <p:cNvGraphicFramePr/>
          <p:nvPr/>
        </p:nvGraphicFramePr>
        <p:xfrm>
          <a:off x="548640"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autónomo paga 115 pb más que la sociedad pequeña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empresario individual es sector HOGARES en el SEC 2010, así que queda fuera de todas las series de sociedades no financieras · España · Media 2026</a:t>
            </a:r>
            <a:endParaRPr lang="en-US" sz="1100" dirty="0"/>
          </a:p>
        </p:txBody>
      </p:sp>
      <p:graphicFrame>
        <p:nvGraphicFramePr>
          <p:cNvPr id="4" name="Chart 0" descr=""/>
          <p:cNvGraphicFramePr/>
          <p:nvPr/>
        </p:nvGraphicFramePr>
        <p:xfrm>
          <a:off x="548640" y="1755648"/>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791456"/>
            <a:ext cx="6675120" cy="256032"/>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Cuadro 19.4 del Boletín, serie 16 (autónomos) y cuadro 19.5, series 3, 7 y 11 (sociedades). Todos son TEDR, sin comisiones.</a:t>
            </a:r>
            <a:endParaRPr lang="en-US" sz="750" dirty="0"/>
          </a:p>
        </p:txBody>
      </p:sp>
      <p:sp>
        <p:nvSpPr>
          <p:cNvPr id="6" name="Shape 3"/>
          <p:cNvSpPr/>
          <p:nvPr/>
        </p:nvSpPr>
        <p:spPr>
          <a:xfrm>
            <a:off x="548640" y="5084064"/>
            <a:ext cx="6675120" cy="969264"/>
          </a:xfrm>
          <a:prstGeom prst="roundRect">
            <a:avLst>
              <a:gd name="adj" fmla="val 4717"/>
            </a:avLst>
          </a:prstGeom>
          <a:solidFill>
            <a:srgbClr val="FFD6BA"/>
          </a:solidFill>
          <a:ln w="12700">
            <a:solidFill>
              <a:srgbClr val="FFAB70"/>
            </a:solidFill>
            <a:prstDash val="solid"/>
          </a:ln>
        </p:spPr>
      </p:sp>
      <p:sp>
        <p:nvSpPr>
          <p:cNvPr id="7" name="Text 4"/>
          <p:cNvSpPr txBox="1"/>
          <p:nvPr/>
        </p:nvSpPr>
        <p:spPr>
          <a:xfrm>
            <a:off x="694944" y="5157216"/>
            <a:ext cx="640080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modelo se queda corto en el micro</a:t>
            </a:r>
            <a:endParaRPr lang="en-US" sz="1100" dirty="0"/>
          </a:p>
        </p:txBody>
      </p:sp>
      <p:sp>
        <p:nvSpPr>
          <p:cNvPr id="8" name="Text 5"/>
          <p:cNvSpPr txBox="1"/>
          <p:nvPr/>
        </p:nvSpPr>
        <p:spPr>
          <a:xfrm>
            <a:off x="694944" y="5394960"/>
            <a:ext cx="6400800" cy="58521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precio que usa el modelo es el 3,41 % del tramo ≤1 M€ de sociedades. La financiación empresarial al autónomo se cobra al 4,57 %: 115 pb por encima del tramo ≤0,25 M€. Para el segmento más pequeño, el modelo infravalora el precio.</a:t>
            </a:r>
            <a:endParaRPr lang="en-US" sz="850" dirty="0"/>
          </a:p>
        </p:txBody>
      </p:sp>
      <p:sp>
        <p:nvSpPr>
          <p:cNvPr id="9" name="Shape 6"/>
          <p:cNvSpPr/>
          <p:nvPr/>
        </p:nvSpPr>
        <p:spPr>
          <a:xfrm>
            <a:off x="7406640" y="1755648"/>
            <a:ext cx="4233672" cy="1335024"/>
          </a:xfrm>
          <a:prstGeom prst="roundRect">
            <a:avLst>
              <a:gd name="adj" fmla="val 3425"/>
            </a:avLst>
          </a:prstGeom>
          <a:solidFill>
            <a:srgbClr val="C7E3F9"/>
          </a:solidFill>
          <a:ln w="12700">
            <a:solidFill>
              <a:srgbClr val="77BFEE"/>
            </a:solidFill>
            <a:prstDash val="solid"/>
          </a:ln>
        </p:spPr>
      </p:sp>
      <p:sp>
        <p:nvSpPr>
          <p:cNvPr id="10" name="Text 7"/>
          <p:cNvSpPr txBox="1"/>
          <p:nvPr/>
        </p:nvSpPr>
        <p:spPr>
          <a:xfrm>
            <a:off x="7552944" y="1828800"/>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Por qué no estaba en el análisis</a:t>
            </a:r>
            <a:endParaRPr lang="en-US" sz="1100" dirty="0"/>
          </a:p>
        </p:txBody>
      </p:sp>
      <p:sp>
        <p:nvSpPr>
          <p:cNvPr id="11" name="Text 8"/>
          <p:cNvSpPr txBox="1"/>
          <p:nvPr/>
        </p:nvSpPr>
        <p:spPr>
          <a:xfrm>
            <a:off x="7552944" y="2066544"/>
            <a:ext cx="3941064" cy="95097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SEC 2010 clasifica al empresario individual en el sector HOGARES (S.14), no en sociedades no financieras. Todo el crédito a autónomos queda por tanto fuera del dataset MIR de empresas, que es la espina dorsal del deck. La SAFE, en cambio, sí los cuenta como PYME: segmenta por empleados.</a:t>
            </a:r>
            <a:endParaRPr lang="en-US" sz="850" dirty="0"/>
          </a:p>
        </p:txBody>
      </p:sp>
      <p:sp>
        <p:nvSpPr>
          <p:cNvPr id="12" name="Shape 9"/>
          <p:cNvSpPr/>
          <p:nvPr/>
        </p:nvSpPr>
        <p:spPr>
          <a:xfrm>
            <a:off x="7406640" y="3182112"/>
            <a:ext cx="4233672" cy="1188720"/>
          </a:xfrm>
          <a:prstGeom prst="roundRect">
            <a:avLst>
              <a:gd name="adj" fmla="val 3846"/>
            </a:avLst>
          </a:prstGeom>
          <a:solidFill>
            <a:srgbClr val="E5E5E5"/>
          </a:solidFill>
          <a:ln w="12700">
            <a:solidFill>
              <a:srgbClr val="CACACA"/>
            </a:solidFill>
            <a:prstDash val="solid"/>
          </a:ln>
        </p:spPr>
      </p:sp>
      <p:sp>
        <p:nvSpPr>
          <p:cNvPr id="13" name="Text 10"/>
          <p:cNvSpPr txBox="1"/>
          <p:nvPr/>
        </p:nvSpPr>
        <p:spPr>
          <a:xfrm>
            <a:off x="7552944" y="3255264"/>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Cuánto pesa</a:t>
            </a:r>
            <a:endParaRPr lang="en-US" sz="1100" dirty="0"/>
          </a:p>
        </p:txBody>
      </p:sp>
      <p:sp>
        <p:nvSpPr>
          <p:cNvPr id="14" name="Text 11"/>
          <p:cNvSpPr txBox="1"/>
          <p:nvPr/>
        </p:nvSpPr>
        <p:spPr>
          <a:xfrm>
            <a:off x="7552944" y="3493008"/>
            <a:ext cx="3941064" cy="804672"/>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840 M€ al mes de nueva producción, frente a 15.111 M€ del tramo ≤0,25 M€ de sociedades. Es el 5 % del conjunto: no cambia el agregado, pero sí la lectura del segmento micro.</a:t>
            </a:r>
            <a:endParaRPr lang="en-US" sz="850" dirty="0"/>
          </a:p>
        </p:txBody>
      </p:sp>
      <p:sp>
        <p:nvSpPr>
          <p:cNvPr id="15" name="Shape 12"/>
          <p:cNvSpPr/>
          <p:nvPr/>
        </p:nvSpPr>
        <p:spPr>
          <a:xfrm>
            <a:off x="7406640" y="4462272"/>
            <a:ext cx="4233672" cy="1591056"/>
          </a:xfrm>
          <a:prstGeom prst="roundRect">
            <a:avLst>
              <a:gd name="adj" fmla="val 2874"/>
            </a:avLst>
          </a:prstGeom>
          <a:solidFill>
            <a:srgbClr val="FFCCE8"/>
          </a:solidFill>
          <a:ln w="12700">
            <a:solidFill>
              <a:srgbClr val="FF8AC2"/>
            </a:solidFill>
            <a:prstDash val="solid"/>
          </a:ln>
        </p:spPr>
      </p:sp>
      <p:sp>
        <p:nvSpPr>
          <p:cNvPr id="16" name="Text 13"/>
          <p:cNvSpPr txBox="1"/>
          <p:nvPr/>
        </p:nvSpPr>
        <p:spPr>
          <a:xfrm>
            <a:off x="7552944" y="4535424"/>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sigue sin existir</a:t>
            </a:r>
            <a:endParaRPr lang="en-US" sz="1100" dirty="0"/>
          </a:p>
        </p:txBody>
      </p:sp>
      <p:sp>
        <p:nvSpPr>
          <p:cNvPr id="17" name="Text 14"/>
          <p:cNvSpPr txBox="1"/>
          <p:nvPr/>
        </p:nvSpPr>
        <p:spPr>
          <a:xfrm>
            <a:off x="7552944" y="4773168"/>
            <a:ext cx="3941064" cy="120700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Boletín no publica TAE de autónomos. La única cuña cercana es la de hogares para otros fines, 59 pb (TAE 5,05 % contra TEDR 4,46 %), pero es de TODOS los hogares, no solo de empresarios. Y nada de esto está por entidad: la publicación por banco del Banco de España se apoya en la Circular 5/2012, que cubre comisiones de servicios y descubiertos de personas físicas, no precios de préstamo.</a:t>
            </a:r>
            <a:endParaRPr lang="en-US" sz="800" dirty="0"/>
          </a:p>
        </p:txBody>
      </p:sp>
      <p:sp>
        <p:nvSpPr>
          <p:cNvPr id="18" name="Text 1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capítulo 19. Autónomos: cuadro 19.4 serie 16, media 2026 ponderada por el volumen del cuadro 19.12 serie 16; el desglose hasta 1 año (serie 17) no tiene volumen publicado, así que su media es simple. Sociedades: cuadro 19.5, medias ponderadas por el cuadro 19.13. Todos los tipos son TEDR, es decir sin comisiones, de modo que la comparación entre autónomo y sociedad es homogénea en ese sentido.</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25696"/>
            <a:ext cx="4187952" cy="640080"/>
          </a:xfrm>
          <a:prstGeom prst="roundRect">
            <a:avLst>
              <a:gd name="adj" fmla="val 8571"/>
            </a:avLst>
          </a:prstGeom>
          <a:solidFill>
            <a:srgbClr val="FFD6BA"/>
          </a:solidFill>
          <a:ln w="12700">
            <a:solidFill>
              <a:srgbClr val="FFAB70"/>
            </a:solidFill>
            <a:prstDash val="solid"/>
          </a:ln>
        </p:spPr>
      </p:sp>
      <p:sp>
        <p:nvSpPr>
          <p:cNvPr id="7" name="Text 3"/>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48640" y="5157216"/>
          <a:ext cx="11091672"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7" name="Text 4"/>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Préstamo frente a circulante: 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100" dirty="0"/>
          </a:p>
        </p:txBody>
      </p:sp>
      <p:graphicFrame>
        <p:nvGraphicFramePr>
          <p:cNvPr id="4" name="Chart 0" descr=""/>
          <p:cNvGraphicFramePr/>
          <p:nvPr/>
        </p:nvGraphicFramePr>
        <p:xfrm>
          <a:off x="548640"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3"/>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9" name="Text 5"/>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0" name="Shape 6"/>
          <p:cNvSpPr/>
          <p:nvPr/>
        </p:nvSpPr>
        <p:spPr>
          <a:xfrm>
            <a:off x="8065008" y="5248656"/>
            <a:ext cx="3575304" cy="804672"/>
          </a:xfrm>
          <a:prstGeom prst="roundRect">
            <a:avLst>
              <a:gd name="adj" fmla="val 5682"/>
            </a:avLst>
          </a:prstGeom>
          <a:solidFill>
            <a:srgbClr val="FFD6BA"/>
          </a:solidFill>
          <a:ln w="12700">
            <a:solidFill>
              <a:srgbClr val="FFAB70"/>
            </a:solidFill>
            <a:prstDash val="solid"/>
          </a:ln>
        </p:spPr>
      </p:sp>
      <p:sp>
        <p:nvSpPr>
          <p:cNvPr id="11" name="Text 7"/>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2" name="Text 8"/>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del circulante: se cobra por dos sitios, se consume capital por dos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100" dirty="0"/>
          </a:p>
        </p:txBody>
      </p:sp>
      <p:graphicFrame>
        <p:nvGraphicFramePr>
          <p:cNvPr id="4" name="Chart 0" descr=""/>
          <p:cNvGraphicFramePr/>
          <p:nvPr/>
        </p:nvGraphicFramePr>
        <p:xfrm>
          <a:off x="548640"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6" name="Text 3"/>
          <p:cNvSpPr txBox="1"/>
          <p:nvPr/>
        </p:nvSpPr>
        <p:spPr>
          <a:xfrm>
            <a:off x="548640" y="5138928"/>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5394960"/>
          <a:ext cx="6720840" cy="914400"/>
        </p:xfrm>
        <a:graphic>
          <a:graphicData uri="http://schemas.openxmlformats.org/drawingml/2006/table">
            <a:tbl>
              <a:tblPr/>
              <a:tblGrid>
                <a:gridCol w="1920240"/>
                <a:gridCol w="800100"/>
                <a:gridCol w="800100"/>
                <a:gridCol w="800100"/>
                <a:gridCol w="800100"/>
                <a:gridCol w="800100"/>
                <a:gridCol w="800100"/>
              </a:tblGrid>
              <a:tr h="19202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Shape 4"/>
          <p:cNvSpPr/>
          <p:nvPr/>
        </p:nvSpPr>
        <p:spPr>
          <a:xfrm>
            <a:off x="7452360" y="1755648"/>
            <a:ext cx="4187952" cy="1024128"/>
          </a:xfrm>
          <a:prstGeom prst="roundRect">
            <a:avLst>
              <a:gd name="adj" fmla="val 4464"/>
            </a:avLst>
          </a:prstGeom>
          <a:solidFill>
            <a:srgbClr val="E5E5E5"/>
          </a:solidFill>
          <a:ln w="12700">
            <a:solidFill>
              <a:srgbClr val="CACACA"/>
            </a:solidFill>
            <a:prstDash val="solid"/>
          </a:ln>
        </p:spPr>
      </p:sp>
      <p:sp>
        <p:nvSpPr>
          <p:cNvPr id="9" name="Text 5"/>
          <p:cNvSpPr txBox="1"/>
          <p:nvPr/>
        </p:nvSpPr>
        <p:spPr>
          <a:xfrm>
            <a:off x="7598664" y="1828800"/>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0" name="Text 6"/>
          <p:cNvSpPr txBox="1"/>
          <p:nvPr/>
        </p:nvSpPr>
        <p:spPr>
          <a:xfrm>
            <a:off x="7598664" y="2066544"/>
            <a:ext cx="3895344"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1" name="Shape 7"/>
          <p:cNvSpPr/>
          <p:nvPr/>
        </p:nvSpPr>
        <p:spPr>
          <a:xfrm>
            <a:off x="7452360" y="2871216"/>
            <a:ext cx="4187952" cy="1188720"/>
          </a:xfrm>
          <a:prstGeom prst="roundRect">
            <a:avLst>
              <a:gd name="adj" fmla="val 3846"/>
            </a:avLst>
          </a:prstGeom>
          <a:solidFill>
            <a:srgbClr val="FFCCE8"/>
          </a:solidFill>
          <a:ln w="12700">
            <a:solidFill>
              <a:srgbClr val="FF8AC2"/>
            </a:solidFill>
            <a:prstDash val="solid"/>
          </a:ln>
        </p:spPr>
      </p:sp>
      <p:sp>
        <p:nvSpPr>
          <p:cNvPr id="12" name="Text 8"/>
          <p:cNvSpPr txBox="1"/>
          <p:nvPr/>
        </p:nvSpPr>
        <p:spPr>
          <a:xfrm>
            <a:off x="7598664" y="294436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3" name="Text 9"/>
          <p:cNvSpPr txBox="1"/>
          <p:nvPr/>
        </p:nvSpPr>
        <p:spPr>
          <a:xfrm>
            <a:off x="7598664" y="3182112"/>
            <a:ext cx="3895344"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4" name="Shape 10"/>
          <p:cNvSpPr/>
          <p:nvPr/>
        </p:nvSpPr>
        <p:spPr>
          <a:xfrm>
            <a:off x="7452360" y="4151376"/>
            <a:ext cx="4187952" cy="1133856"/>
          </a:xfrm>
          <a:prstGeom prst="roundRect">
            <a:avLst>
              <a:gd name="adj" fmla="val 4032"/>
            </a:avLst>
          </a:prstGeom>
          <a:solidFill>
            <a:srgbClr val="FFD6BA"/>
          </a:solidFill>
          <a:ln w="12700">
            <a:solidFill>
              <a:srgbClr val="FFAB70"/>
            </a:solidFill>
            <a:prstDash val="solid"/>
          </a:ln>
        </p:spPr>
      </p:sp>
      <p:sp>
        <p:nvSpPr>
          <p:cNvPr id="15" name="Text 11"/>
          <p:cNvSpPr txBox="1"/>
          <p:nvPr/>
        </p:nvSpPr>
        <p:spPr>
          <a:xfrm>
            <a:off x="7598664" y="422452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6" name="Text 12"/>
          <p:cNvSpPr txBox="1"/>
          <p:nvPr/>
        </p:nvSpPr>
        <p:spPr>
          <a:xfrm>
            <a:off x="7598664" y="4462272"/>
            <a:ext cx="3895344"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17" name="Shape 13"/>
          <p:cNvSpPr/>
          <p:nvPr/>
        </p:nvSpPr>
        <p:spPr>
          <a:xfrm>
            <a:off x="7452360" y="5376672"/>
            <a:ext cx="4187952" cy="676656"/>
          </a:xfrm>
          <a:prstGeom prst="roundRect">
            <a:avLst>
              <a:gd name="adj" fmla="val 6757"/>
            </a:avLst>
          </a:prstGeom>
          <a:solidFill>
            <a:srgbClr val="E5E5E5"/>
          </a:solidFill>
          <a:ln w="12700">
            <a:solidFill>
              <a:srgbClr val="CACACA"/>
            </a:solidFill>
            <a:prstDash val="solid"/>
          </a:ln>
        </p:spPr>
      </p:sp>
      <p:sp>
        <p:nvSpPr>
          <p:cNvPr id="18" name="Text 14"/>
          <p:cNvSpPr txBox="1"/>
          <p:nvPr/>
        </p:nvSpPr>
        <p:spPr>
          <a:xfrm>
            <a:off x="7598664" y="5431536"/>
            <a:ext cx="3895344"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19" name="Text 15"/>
          <p:cNvSpPr txBox="1"/>
          <p:nvPr/>
        </p:nvSpPr>
        <p:spPr>
          <a:xfrm>
            <a:off x="7598664" y="5632704"/>
            <a:ext cx="3895344"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0" name="Text 1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El coste del riesgo se aplica sobre la exposición, no solo sobre el dispuesto, que es como lo trata la NIIF 9 en compromisos.</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PYME de la banca española,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100" dirty="0"/>
          </a:p>
        </p:txBody>
      </p:sp>
      <p:graphicFrame>
        <p:nvGraphicFramePr>
          <p:cNvPr id="4" name="Chart 0" descr=""/>
          <p:cNvGraphicFramePr/>
          <p:nvPr/>
        </p:nvGraphicFramePr>
        <p:xfrm>
          <a:off x="548640"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4315968"/>
          <a:ext cx="11091672"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Text 2"/>
          <p:cNvSpPr txBox="1"/>
          <p:nvPr/>
        </p:nvSpPr>
        <p:spPr>
          <a:xfrm>
            <a:off x="548640" y="5907024"/>
            <a:ext cx="11091672" cy="274320"/>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7" name="Shape 3"/>
          <p:cNvSpPr/>
          <p:nvPr/>
        </p:nvSpPr>
        <p:spPr>
          <a:xfrm>
            <a:off x="7205472" y="1755648"/>
            <a:ext cx="4434840"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7351776" y="1828800"/>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9" name="Text 5"/>
          <p:cNvSpPr txBox="1"/>
          <p:nvPr/>
        </p:nvSpPr>
        <p:spPr>
          <a:xfrm>
            <a:off x="7351776" y="2066544"/>
            <a:ext cx="414223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0" name="Text 6"/>
          <p:cNvSpPr txBox="1"/>
          <p:nvPr/>
        </p:nvSpPr>
        <p:spPr>
          <a:xfrm>
            <a:off x="7205472" y="3017520"/>
            <a:ext cx="4434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1" name="Text 7"/>
          <p:cNvSpPr txBox="1"/>
          <p:nvPr/>
        </p:nvSpPr>
        <p:spPr>
          <a:xfrm>
            <a:off x="7205472" y="3236976"/>
            <a:ext cx="443484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434840"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3" name="Shape 8"/>
          <p:cNvSpPr/>
          <p:nvPr/>
        </p:nvSpPr>
        <p:spPr>
          <a:xfrm>
            <a:off x="7205472" y="4809744"/>
            <a:ext cx="4434840" cy="1097280"/>
          </a:xfrm>
          <a:prstGeom prst="roundRect">
            <a:avLst>
              <a:gd name="adj" fmla="val 4167"/>
            </a:avLst>
          </a:prstGeom>
          <a:solidFill>
            <a:srgbClr val="FFD6BA"/>
          </a:solidFill>
          <a:ln w="12700">
            <a:solidFill>
              <a:srgbClr val="FFAB70"/>
            </a:solidFill>
            <a:prstDash val="solid"/>
          </a:ln>
        </p:spPr>
      </p:sp>
      <p:sp>
        <p:nvSpPr>
          <p:cNvPr id="14" name="Text 9"/>
          <p:cNvSpPr txBox="1"/>
          <p:nvPr/>
        </p:nvSpPr>
        <p:spPr>
          <a:xfrm>
            <a:off x="7351776" y="4882896"/>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5" name="Text 10"/>
          <p:cNvSpPr txBox="1"/>
          <p:nvPr/>
        </p:nvSpPr>
        <p:spPr>
          <a:xfrm>
            <a:off x="7351776" y="5120640"/>
            <a:ext cx="4142232"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6"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5" name="Shape 2"/>
          <p:cNvSpPr/>
          <p:nvPr/>
        </p:nvSpPr>
        <p:spPr>
          <a:xfrm>
            <a:off x="548640" y="5760720"/>
            <a:ext cx="1371600" cy="256032"/>
          </a:xfrm>
          <a:prstGeom prst="roundRect">
            <a:avLst>
              <a:gd name="adj" fmla="val 42857"/>
            </a:avLst>
          </a:prstGeom>
          <a:solidFill>
            <a:srgbClr val="E5E5E5"/>
          </a:solidFill>
          <a:ln w="12700">
            <a:solidFill>
              <a:srgbClr val="E5E5E5"/>
            </a:solidFill>
            <a:prstDash val="solid"/>
          </a:ln>
        </p:spPr>
      </p:sp>
      <p:sp>
        <p:nvSpPr>
          <p:cNvPr id="6" name="Text 3"/>
          <p:cNvSpPr txBox="1"/>
          <p:nvPr/>
        </p:nvSpPr>
        <p:spPr>
          <a:xfrm>
            <a:off x="54864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7" name="Shape 4"/>
          <p:cNvSpPr/>
          <p:nvPr/>
        </p:nvSpPr>
        <p:spPr>
          <a:xfrm>
            <a:off x="2029968" y="5760720"/>
            <a:ext cx="1371600" cy="256032"/>
          </a:xfrm>
          <a:prstGeom prst="roundRect">
            <a:avLst>
              <a:gd name="adj" fmla="val 42857"/>
            </a:avLst>
          </a:prstGeom>
          <a:solidFill>
            <a:srgbClr val="C7E3F9"/>
          </a:solidFill>
          <a:ln w="12700">
            <a:solidFill>
              <a:srgbClr val="C7E3F9"/>
            </a:solidFill>
            <a:prstDash val="solid"/>
          </a:ln>
        </p:spPr>
      </p:sp>
      <p:sp>
        <p:nvSpPr>
          <p:cNvPr id="8" name="Text 5"/>
          <p:cNvSpPr txBox="1"/>
          <p:nvPr/>
        </p:nvSpPr>
        <p:spPr>
          <a:xfrm>
            <a:off x="202996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9" name="Shape 6"/>
          <p:cNvSpPr/>
          <p:nvPr/>
        </p:nvSpPr>
        <p:spPr>
          <a:xfrm>
            <a:off x="3511296" y="5760720"/>
            <a:ext cx="1371600" cy="256032"/>
          </a:xfrm>
          <a:prstGeom prst="roundRect">
            <a:avLst>
              <a:gd name="adj" fmla="val 42857"/>
            </a:avLst>
          </a:prstGeom>
          <a:solidFill>
            <a:srgbClr val="FFD6BA"/>
          </a:solidFill>
          <a:ln w="12700">
            <a:solidFill>
              <a:srgbClr val="FFD6BA"/>
            </a:solidFill>
            <a:prstDash val="solid"/>
          </a:ln>
        </p:spPr>
      </p:sp>
      <p:sp>
        <p:nvSpPr>
          <p:cNvPr id="10" name="Text 7"/>
          <p:cNvSpPr txBox="1"/>
          <p:nvPr/>
        </p:nvSpPr>
        <p:spPr>
          <a:xfrm>
            <a:off x="3511296"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5212080" y="5669280"/>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(0,76 %, por debajo del 0,80 % del entrante) y arrastra una densidad de RWA del 59,5 % y el 30 % de impuesto del art. 29 LIS.</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 22 %. Y el eje que mejor predice la PD no es la información disponible (ρ = −0,23) sino el entorno de recobro (ρ = −0,79): donde ejecutar es lento y caro, el impago se enquista. Y no se compensa cobrando: entre mercados el margen neto de riesgo cae con la PD (ρ = −0,76).</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de la conclusión 5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Anexos</a:t>
            </a:r>
            <a:endParaRPr lang="en-US" sz="2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Datos</a:t>
            </a:r>
            <a:endParaRPr lang="en-US" sz="2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Once fuentes, 38885 observaciones, cada fila trazable a su serie de origen</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5661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4" name="Shape 2"/>
          <p:cNvSpPr/>
          <p:nvPr/>
        </p:nvSpPr>
        <p:spPr>
          <a:xfrm>
            <a:off x="548640" y="1627632"/>
            <a:ext cx="347472" cy="347472"/>
          </a:xfrm>
          <a:prstGeom prst="ellipse">
            <a:avLst/>
          </a:prstGeom>
          <a:solidFill>
            <a:srgbClr val="F56600"/>
          </a:solidFill>
          <a:ln w="12700">
            <a:solidFill>
              <a:srgbClr val="F56600"/>
            </a:solidFill>
            <a:prstDash val="solid"/>
          </a:ln>
        </p:spPr>
      </p:sp>
      <p:sp>
        <p:nvSpPr>
          <p:cNvPr id="5" name="Text 3"/>
          <p:cNvSpPr txBox="1"/>
          <p:nvPr/>
        </p:nvSpPr>
        <p:spPr>
          <a:xfrm>
            <a:off x="548640"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6" name="Text 4"/>
          <p:cNvSpPr txBox="1"/>
          <p:nvPr/>
        </p:nvSpPr>
        <p:spPr>
          <a:xfrm>
            <a:off x="1097280"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7" name="Text 5"/>
          <p:cNvSpPr txBox="1"/>
          <p:nvPr/>
        </p:nvSpPr>
        <p:spPr>
          <a:xfrm>
            <a:off x="1097280"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8" name="Shape 6"/>
          <p:cNvSpPr/>
          <p:nvPr/>
        </p:nvSpPr>
        <p:spPr>
          <a:xfrm>
            <a:off x="548640" y="2532888"/>
            <a:ext cx="347472" cy="347472"/>
          </a:xfrm>
          <a:prstGeom prst="ellipse">
            <a:avLst/>
          </a:prstGeom>
          <a:solidFill>
            <a:srgbClr val="F56600"/>
          </a:solidFill>
          <a:ln w="12700">
            <a:solidFill>
              <a:srgbClr val="F56600"/>
            </a:solidFill>
            <a:prstDash val="solid"/>
          </a:ln>
        </p:spPr>
      </p:sp>
      <p:sp>
        <p:nvSpPr>
          <p:cNvPr id="9" name="Text 7"/>
          <p:cNvSpPr txBox="1"/>
          <p:nvPr/>
        </p:nvSpPr>
        <p:spPr>
          <a:xfrm>
            <a:off x="548640"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0" name="Text 8"/>
          <p:cNvSpPr txBox="1"/>
          <p:nvPr/>
        </p:nvSpPr>
        <p:spPr>
          <a:xfrm>
            <a:off x="1097280"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1" name="Text 9"/>
          <p:cNvSpPr txBox="1"/>
          <p:nvPr/>
        </p:nvSpPr>
        <p:spPr>
          <a:xfrm>
            <a:off x="1097280"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2" name="Shape 10"/>
          <p:cNvSpPr/>
          <p:nvPr/>
        </p:nvSpPr>
        <p:spPr>
          <a:xfrm>
            <a:off x="548640" y="3438144"/>
            <a:ext cx="347472" cy="347472"/>
          </a:xfrm>
          <a:prstGeom prst="ellipse">
            <a:avLst/>
          </a:prstGeom>
          <a:solidFill>
            <a:srgbClr val="F56600"/>
          </a:solidFill>
          <a:ln w="12700">
            <a:solidFill>
              <a:srgbClr val="F56600"/>
            </a:solidFill>
            <a:prstDash val="solid"/>
          </a:ln>
        </p:spPr>
      </p:sp>
      <p:sp>
        <p:nvSpPr>
          <p:cNvPr id="13" name="Text 11"/>
          <p:cNvSpPr txBox="1"/>
          <p:nvPr/>
        </p:nvSpPr>
        <p:spPr>
          <a:xfrm>
            <a:off x="548640"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4" name="Text 12"/>
          <p:cNvSpPr txBox="1"/>
          <p:nvPr/>
        </p:nvSpPr>
        <p:spPr>
          <a:xfrm>
            <a:off x="1097280"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5" name="Text 13"/>
          <p:cNvSpPr txBox="1"/>
          <p:nvPr/>
        </p:nvSpPr>
        <p:spPr>
          <a:xfrm>
            <a:off x="1097280"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6" name="Shape 14"/>
          <p:cNvSpPr/>
          <p:nvPr/>
        </p:nvSpPr>
        <p:spPr>
          <a:xfrm>
            <a:off x="548640" y="4343400"/>
            <a:ext cx="347472" cy="347472"/>
          </a:xfrm>
          <a:prstGeom prst="ellipse">
            <a:avLst/>
          </a:prstGeom>
          <a:solidFill>
            <a:srgbClr val="F56600"/>
          </a:solidFill>
          <a:ln w="12700">
            <a:solidFill>
              <a:srgbClr val="F56600"/>
            </a:solidFill>
            <a:prstDash val="solid"/>
          </a:ln>
        </p:spPr>
      </p:sp>
      <p:sp>
        <p:nvSpPr>
          <p:cNvPr id="17" name="Text 15"/>
          <p:cNvSpPr txBox="1"/>
          <p:nvPr/>
        </p:nvSpPr>
        <p:spPr>
          <a:xfrm>
            <a:off x="548640"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18" name="Text 16"/>
          <p:cNvSpPr txBox="1"/>
          <p:nvPr/>
        </p:nvSpPr>
        <p:spPr>
          <a:xfrm>
            <a:off x="1097280"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19" name="Text 17"/>
          <p:cNvSpPr txBox="1"/>
          <p:nvPr/>
        </p:nvSpPr>
        <p:spPr>
          <a:xfrm>
            <a:off x="1097280"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0" name="Shape 18"/>
          <p:cNvSpPr/>
          <p:nvPr/>
        </p:nvSpPr>
        <p:spPr>
          <a:xfrm>
            <a:off x="548640" y="5248656"/>
            <a:ext cx="347472" cy="347472"/>
          </a:xfrm>
          <a:prstGeom prst="ellipse">
            <a:avLst/>
          </a:prstGeom>
          <a:solidFill>
            <a:srgbClr val="F56600"/>
          </a:solidFill>
          <a:ln w="12700">
            <a:solidFill>
              <a:srgbClr val="F56600"/>
            </a:solidFill>
            <a:prstDash val="solid"/>
          </a:ln>
        </p:spPr>
      </p:sp>
      <p:sp>
        <p:nvSpPr>
          <p:cNvPr id="21" name="Text 19"/>
          <p:cNvSpPr txBox="1"/>
          <p:nvPr/>
        </p:nvSpPr>
        <p:spPr>
          <a:xfrm>
            <a:off x="548640"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2" name="Text 20"/>
          <p:cNvSpPr txBox="1"/>
          <p:nvPr/>
        </p:nvSpPr>
        <p:spPr>
          <a:xfrm>
            <a:off x="1097280"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3" name="Text 21"/>
          <p:cNvSpPr txBox="1"/>
          <p:nvPr/>
        </p:nvSpPr>
        <p:spPr>
          <a:xfrm>
            <a:off x="1097280"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Información relevante</a:t>
            </a:r>
            <a:endParaRPr lang="en-US" sz="2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2026-09-18T07:42:10Z</dcterms:created>
  <dcterms:modified xsi:type="dcterms:W3CDTF">2026-09-18T07:42:10Z</dcterms:modified>
</cp:coreProperties>
</file>