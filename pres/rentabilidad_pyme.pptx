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4.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39.508 observaciones · 13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Siete países · Precio, riesgo, capital y rentabilidad del préstamo PYME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Francia es la mitad, Irlanda es el 0,8 %</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de la banca supervisada en cada país y brecha de financiación declarada por las propias empresas</a:t>
            </a:r>
            <a:endParaRPr lang="en-US" sz="1100" dirty="0"/>
          </a:p>
        </p:txBody>
      </p:sp>
      <p:graphicFrame>
        <p:nvGraphicFramePr>
          <p:cNvPr id="4" name="Chart 0" descr=""/>
          <p:cNvGraphicFramePr/>
          <p:nvPr/>
        </p:nvGraphicFramePr>
        <p:xfrm>
          <a:off x="548640"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6" name="Text 3"/>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Brecha de financiación de la PYME, 2025-S1</a:t>
            </a:r>
            <a:endParaRPr lang="en-US" sz="1100" dirty="0"/>
          </a:p>
        </p:txBody>
      </p:sp>
      <p:graphicFrame>
        <p:nvGraphicFramePr>
          <p:cNvPr id="7"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6309360" y="4498848"/>
            <a:ext cx="5513832" cy="27432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Porcentaje NETO de encuesta: empresas que declaran más necesidad menos las que declaran más disponibilidad. Positivo = la necesidad no se cubre.</a:t>
            </a:r>
            <a:endParaRPr lang="en-US" sz="750" dirty="0"/>
          </a:p>
        </p:txBody>
      </p:sp>
      <p:sp>
        <p:nvSpPr>
          <p:cNvPr id="9" name="Text 5"/>
          <p:cNvSpPr txBox="1"/>
          <p:nvPr/>
        </p:nvSpPr>
        <p:spPr>
          <a:xfrm>
            <a:off x="548640"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0" name="Shape 6"/>
          <p:cNvSpPr/>
          <p:nvPr/>
        </p:nvSpPr>
        <p:spPr>
          <a:xfrm>
            <a:off x="548640" y="4882896"/>
            <a:ext cx="5577840" cy="1170432"/>
          </a:xfrm>
          <a:prstGeom prst="roundRect">
            <a:avLst>
              <a:gd name="adj" fmla="val 3906"/>
            </a:avLst>
          </a:prstGeom>
          <a:solidFill>
            <a:srgbClr val="FFD6BA"/>
          </a:solidFill>
          <a:ln w="12700">
            <a:solidFill>
              <a:srgbClr val="FFAB70"/>
            </a:solidFill>
            <a:prstDash val="solid"/>
          </a:ln>
        </p:spPr>
      </p:sp>
      <p:sp>
        <p:nvSpPr>
          <p:cNvPr id="11" name="Text 7"/>
          <p:cNvSpPr txBox="1"/>
          <p:nvPr/>
        </p:nvSpPr>
        <p:spPr>
          <a:xfrm>
            <a:off x="694944" y="4956048"/>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2" name="Text 8"/>
          <p:cNvSpPr txBox="1"/>
          <p:nvPr/>
        </p:nvSpPr>
        <p:spPr>
          <a:xfrm>
            <a:off x="694944" y="5193792"/>
            <a:ext cx="5285232"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900" dirty="0"/>
          </a:p>
        </p:txBody>
      </p:sp>
      <p:sp>
        <p:nvSpPr>
          <p:cNvPr id="13" name="Shape 9"/>
          <p:cNvSpPr/>
          <p:nvPr/>
        </p:nvSpPr>
        <p:spPr>
          <a:xfrm>
            <a:off x="6309360" y="4882896"/>
            <a:ext cx="5513832" cy="1170432"/>
          </a:xfrm>
          <a:prstGeom prst="roundRect">
            <a:avLst>
              <a:gd name="adj" fmla="val 3906"/>
            </a:avLst>
          </a:prstGeom>
          <a:solidFill>
            <a:srgbClr val="C7E3F9"/>
          </a:solidFill>
          <a:ln w="12700">
            <a:solidFill>
              <a:srgbClr val="77BFEE"/>
            </a:solidFill>
            <a:prstDash val="solid"/>
          </a:ln>
        </p:spPr>
      </p:sp>
      <p:sp>
        <p:nvSpPr>
          <p:cNvPr id="14" name="Text 10"/>
          <p:cNvSpPr txBox="1"/>
          <p:nvPr/>
        </p:nvSpPr>
        <p:spPr>
          <a:xfrm>
            <a:off x="6455664" y="4956048"/>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donde más falta hace es donde menos rinde</a:t>
            </a:r>
            <a:endParaRPr lang="en-US" sz="1150" dirty="0"/>
          </a:p>
        </p:txBody>
      </p:sp>
      <p:sp>
        <p:nvSpPr>
          <p:cNvPr id="15" name="Text 11"/>
          <p:cNvSpPr txBox="1"/>
          <p:nvPr/>
        </p:nvSpPr>
        <p:spPr>
          <a:xfrm>
            <a:off x="6455664" y="5193792"/>
            <a:ext cx="5221224"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Francia es el único de los siete con brecha claramente positiva (+6,3 %), y en su segmento micro llega a +12,4 %. Es el mercado más grande, el peor atendido por declaración de las propias empresas y el de peor ROE para su banca (5,4 %). Portugal está en el extremo contrario: -9,4 %.</a:t>
            </a:r>
            <a:endParaRPr lang="en-US" sz="900" dirty="0"/>
          </a:p>
        </p:txBody>
      </p:sp>
      <p:sp>
        <p:nvSpPr>
          <p:cNvPr id="16"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financing gap de la PYME de menos de 250 empleados, media ponderada de 2025-S1. Son dos magnitudes distintas y no se agregan: una es un importe y la otra un porcentaje neto de respuestas. La SAFE segmenta por EMPLEADOS y el Transparency Exercise por clase de exposición prudencial; el micro de la SAFE solo está publicado para cuatro de los siete países.</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España: mercado, productos y competidores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demanda, lo que puede pagar, los productos y los cinco grandes bancos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Qué pide la pyme española y qué le duele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100" dirty="0"/>
          </a:p>
        </p:txBody>
      </p:sp>
      <p:graphicFrame>
        <p:nvGraphicFramePr>
          <p:cNvPr id="4" name="Chart 0" descr=""/>
          <p:cNvGraphicFramePr/>
          <p:nvPr/>
        </p:nvGraphicFramePr>
        <p:xfrm>
          <a:off x="548640"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6" name="Text 3"/>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7"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114800"/>
            <a:ext cx="2697480" cy="932688"/>
          </a:xfrm>
          <a:prstGeom prst="roundRect">
            <a:avLst>
              <a:gd name="adj" fmla="val 4902"/>
            </a:avLst>
          </a:prstGeom>
          <a:solidFill>
            <a:srgbClr val="E5E5E5"/>
          </a:solidFill>
          <a:ln w="12700">
            <a:solidFill>
              <a:srgbClr val="CACACA"/>
            </a:solidFill>
            <a:prstDash val="solid"/>
          </a:ln>
        </p:spPr>
      </p:sp>
      <p:sp>
        <p:nvSpPr>
          <p:cNvPr id="9" name="Text 5"/>
          <p:cNvSpPr txBox="1"/>
          <p:nvPr/>
        </p:nvSpPr>
        <p:spPr>
          <a:xfrm>
            <a:off x="67665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0" name="Text 6"/>
          <p:cNvSpPr txBox="1"/>
          <p:nvPr/>
        </p:nvSpPr>
        <p:spPr>
          <a:xfrm>
            <a:off x="67665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1" name="Text 7"/>
          <p:cNvSpPr txBox="1"/>
          <p:nvPr/>
        </p:nvSpPr>
        <p:spPr>
          <a:xfrm>
            <a:off x="67665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2" name="Shape 8"/>
          <p:cNvSpPr/>
          <p:nvPr/>
        </p:nvSpPr>
        <p:spPr>
          <a:xfrm>
            <a:off x="3392424" y="4114800"/>
            <a:ext cx="2697480" cy="932688"/>
          </a:xfrm>
          <a:prstGeom prst="roundRect">
            <a:avLst>
              <a:gd name="adj" fmla="val 4902"/>
            </a:avLst>
          </a:prstGeom>
          <a:solidFill>
            <a:srgbClr val="E5E5E5"/>
          </a:solidFill>
          <a:ln w="12700">
            <a:solidFill>
              <a:srgbClr val="CACACA"/>
            </a:solidFill>
            <a:prstDash val="solid"/>
          </a:ln>
        </p:spPr>
      </p:sp>
      <p:sp>
        <p:nvSpPr>
          <p:cNvPr id="13" name="Text 9"/>
          <p:cNvSpPr txBox="1"/>
          <p:nvPr/>
        </p:nvSpPr>
        <p:spPr>
          <a:xfrm>
            <a:off x="352044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4" name="Text 10"/>
          <p:cNvSpPr txBox="1"/>
          <p:nvPr/>
        </p:nvSpPr>
        <p:spPr>
          <a:xfrm>
            <a:off x="352044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5" name="Text 11"/>
          <p:cNvSpPr txBox="1"/>
          <p:nvPr/>
        </p:nvSpPr>
        <p:spPr>
          <a:xfrm>
            <a:off x="352044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6" name="Shape 12"/>
          <p:cNvSpPr/>
          <p:nvPr/>
        </p:nvSpPr>
        <p:spPr>
          <a:xfrm>
            <a:off x="6236208" y="4114800"/>
            <a:ext cx="2697480" cy="932688"/>
          </a:xfrm>
          <a:prstGeom prst="roundRect">
            <a:avLst>
              <a:gd name="adj" fmla="val 4902"/>
            </a:avLst>
          </a:prstGeom>
          <a:solidFill>
            <a:srgbClr val="E5E5E5"/>
          </a:solidFill>
          <a:ln w="12700">
            <a:solidFill>
              <a:srgbClr val="CACACA"/>
            </a:solidFill>
            <a:prstDash val="solid"/>
          </a:ln>
        </p:spPr>
      </p:sp>
      <p:sp>
        <p:nvSpPr>
          <p:cNvPr id="17" name="Text 13"/>
          <p:cNvSpPr txBox="1"/>
          <p:nvPr/>
        </p:nvSpPr>
        <p:spPr>
          <a:xfrm>
            <a:off x="6364224"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18" name="Text 14"/>
          <p:cNvSpPr txBox="1"/>
          <p:nvPr/>
        </p:nvSpPr>
        <p:spPr>
          <a:xfrm>
            <a:off x="6364224"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19" name="Text 15"/>
          <p:cNvSpPr txBox="1"/>
          <p:nvPr/>
        </p:nvSpPr>
        <p:spPr>
          <a:xfrm>
            <a:off x="6364224"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0" name="Shape 16"/>
          <p:cNvSpPr/>
          <p:nvPr/>
        </p:nvSpPr>
        <p:spPr>
          <a:xfrm>
            <a:off x="9079992" y="4114800"/>
            <a:ext cx="2697480" cy="932688"/>
          </a:xfrm>
          <a:prstGeom prst="roundRect">
            <a:avLst>
              <a:gd name="adj" fmla="val 4902"/>
            </a:avLst>
          </a:prstGeom>
          <a:solidFill>
            <a:srgbClr val="E5E5E5"/>
          </a:solidFill>
          <a:ln w="12700">
            <a:solidFill>
              <a:srgbClr val="CACACA"/>
            </a:solidFill>
            <a:prstDash val="solid"/>
          </a:ln>
        </p:spPr>
      </p:sp>
      <p:sp>
        <p:nvSpPr>
          <p:cNvPr id="21" name="Text 17"/>
          <p:cNvSpPr txBox="1"/>
          <p:nvPr/>
        </p:nvSpPr>
        <p:spPr>
          <a:xfrm>
            <a:off x="92080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2" name="Text 18"/>
          <p:cNvSpPr txBox="1"/>
          <p:nvPr/>
        </p:nvSpPr>
        <p:spPr>
          <a:xfrm>
            <a:off x="92080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3" name="Text 19"/>
          <p:cNvSpPr txBox="1"/>
          <p:nvPr/>
        </p:nvSpPr>
        <p:spPr>
          <a:xfrm>
            <a:off x="92080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4" name="Shape 20"/>
          <p:cNvSpPr/>
          <p:nvPr/>
        </p:nvSpPr>
        <p:spPr>
          <a:xfrm>
            <a:off x="548640" y="5175504"/>
            <a:ext cx="11091672" cy="877824"/>
          </a:xfrm>
          <a:prstGeom prst="roundRect">
            <a:avLst>
              <a:gd name="adj" fmla="val 5208"/>
            </a:avLst>
          </a:prstGeom>
          <a:solidFill>
            <a:srgbClr val="FFD6BA"/>
          </a:solidFill>
          <a:ln w="12700">
            <a:solidFill>
              <a:srgbClr val="FFAB70"/>
            </a:solidFill>
            <a:prstDash val="solid"/>
          </a:ln>
        </p:spPr>
      </p:sp>
      <p:sp>
        <p:nvSpPr>
          <p:cNvPr id="25" name="Text 21"/>
          <p:cNvSpPr txBox="1"/>
          <p:nvPr/>
        </p:nvSpPr>
        <p:spPr>
          <a:xfrm>
            <a:off x="694944"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6" name="Text 22"/>
          <p:cNvSpPr txBox="1"/>
          <p:nvPr/>
        </p:nvSpPr>
        <p:spPr>
          <a:xfrm>
            <a:off x="694944"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7" name="Text 2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Cuánto puede pagar una pyme: el techo del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100" dirty="0"/>
          </a:p>
        </p:txBody>
      </p:sp>
      <p:graphicFrame>
        <p:nvGraphicFramePr>
          <p:cNvPr id="4" name="Chart 0" descr=""/>
          <p:cNvGraphicFramePr/>
          <p:nvPr/>
        </p:nvGraphicFramePr>
        <p:xfrm>
          <a:off x="548640"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2"/>
          <p:cNvSpPr/>
          <p:nvPr/>
        </p:nvSpPr>
        <p:spPr>
          <a:xfrm>
            <a:off x="7086600" y="1810512"/>
            <a:ext cx="4553712" cy="1444752"/>
          </a:xfrm>
          <a:prstGeom prst="roundRect">
            <a:avLst>
              <a:gd name="adj" fmla="val 3165"/>
            </a:avLst>
          </a:prstGeom>
          <a:solidFill>
            <a:srgbClr val="FFD6BA"/>
          </a:solidFill>
          <a:ln w="12700">
            <a:solidFill>
              <a:srgbClr val="FFAB70"/>
            </a:solidFill>
            <a:prstDash val="solid"/>
          </a:ln>
        </p:spPr>
      </p:sp>
      <p:sp>
        <p:nvSpPr>
          <p:cNvPr id="7" name="Text 3"/>
          <p:cNvSpPr txBox="1"/>
          <p:nvPr/>
        </p:nvSpPr>
        <p:spPr>
          <a:xfrm>
            <a:off x="7232904" y="188366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8" name="Text 4"/>
          <p:cNvSpPr txBox="1"/>
          <p:nvPr/>
        </p:nvSpPr>
        <p:spPr>
          <a:xfrm>
            <a:off x="7232904" y="2121408"/>
            <a:ext cx="4261104"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9" name="Shape 5"/>
          <p:cNvSpPr/>
          <p:nvPr/>
        </p:nvSpPr>
        <p:spPr>
          <a:xfrm>
            <a:off x="7086600" y="3346704"/>
            <a:ext cx="4553712" cy="1298448"/>
          </a:xfrm>
          <a:prstGeom prst="roundRect">
            <a:avLst>
              <a:gd name="adj" fmla="val 3521"/>
            </a:avLst>
          </a:prstGeom>
          <a:solidFill>
            <a:srgbClr val="C7E3F9"/>
          </a:solidFill>
          <a:ln w="12700">
            <a:solidFill>
              <a:srgbClr val="77BFEE"/>
            </a:solidFill>
            <a:prstDash val="solid"/>
          </a:ln>
        </p:spPr>
      </p:sp>
      <p:sp>
        <p:nvSpPr>
          <p:cNvPr id="10" name="Text 6"/>
          <p:cNvSpPr txBox="1"/>
          <p:nvPr/>
        </p:nvSpPr>
        <p:spPr>
          <a:xfrm>
            <a:off x="7232904" y="3419856"/>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1" name="Text 7"/>
          <p:cNvSpPr txBox="1"/>
          <p:nvPr/>
        </p:nvSpPr>
        <p:spPr>
          <a:xfrm>
            <a:off x="7232904" y="3657600"/>
            <a:ext cx="4261104"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2" name="Shape 8"/>
          <p:cNvSpPr/>
          <p:nvPr/>
        </p:nvSpPr>
        <p:spPr>
          <a:xfrm>
            <a:off x="7086600" y="4736592"/>
            <a:ext cx="4553712" cy="1316736"/>
          </a:xfrm>
          <a:prstGeom prst="roundRect">
            <a:avLst>
              <a:gd name="adj" fmla="val 3472"/>
            </a:avLst>
          </a:prstGeom>
          <a:solidFill>
            <a:srgbClr val="E5E5E5"/>
          </a:solidFill>
          <a:ln w="12700">
            <a:solidFill>
              <a:srgbClr val="CACACA"/>
            </a:solidFill>
            <a:prstDash val="solid"/>
          </a:ln>
        </p:spPr>
      </p:sp>
      <p:sp>
        <p:nvSpPr>
          <p:cNvPr id="13" name="Text 9"/>
          <p:cNvSpPr txBox="1"/>
          <p:nvPr/>
        </p:nvSpPr>
        <p:spPr>
          <a:xfrm>
            <a:off x="7232904" y="480974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4" name="Text 10"/>
          <p:cNvSpPr txBox="1"/>
          <p:nvPr/>
        </p:nvSpPr>
        <p:spPr>
          <a:xfrm>
            <a:off x="7232904" y="5047488"/>
            <a:ext cx="4261104"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5"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autónomo paga 115 pb más que la sociedad pequeña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100" dirty="0"/>
          </a:p>
        </p:txBody>
      </p:sp>
      <p:graphicFrame>
        <p:nvGraphicFramePr>
          <p:cNvPr id="4" name="Chart 0" descr=""/>
          <p:cNvGraphicFramePr/>
          <p:nvPr/>
        </p:nvGraphicFramePr>
        <p:xfrm>
          <a:off x="548640"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6" name="Shape 3"/>
          <p:cNvSpPr/>
          <p:nvPr/>
        </p:nvSpPr>
        <p:spPr>
          <a:xfrm>
            <a:off x="548640" y="5084064"/>
            <a:ext cx="6675120" cy="969264"/>
          </a:xfrm>
          <a:prstGeom prst="roundRect">
            <a:avLst>
              <a:gd name="adj" fmla="val 4717"/>
            </a:avLst>
          </a:prstGeom>
          <a:solidFill>
            <a:srgbClr val="FFD6BA"/>
          </a:solidFill>
          <a:ln w="12700">
            <a:solidFill>
              <a:srgbClr val="FFAB70"/>
            </a:solidFill>
            <a:prstDash val="solid"/>
          </a:ln>
        </p:spPr>
      </p:sp>
      <p:sp>
        <p:nvSpPr>
          <p:cNvPr id="7" name="Text 4"/>
          <p:cNvSpPr txBox="1"/>
          <p:nvPr/>
        </p:nvSpPr>
        <p:spPr>
          <a:xfrm>
            <a:off x="694944"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8" name="Text 5"/>
          <p:cNvSpPr txBox="1"/>
          <p:nvPr/>
        </p:nvSpPr>
        <p:spPr>
          <a:xfrm>
            <a:off x="694944"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9" name="Shape 6"/>
          <p:cNvSpPr/>
          <p:nvPr/>
        </p:nvSpPr>
        <p:spPr>
          <a:xfrm>
            <a:off x="7406640" y="1755648"/>
            <a:ext cx="4233672" cy="1335024"/>
          </a:xfrm>
          <a:prstGeom prst="roundRect">
            <a:avLst>
              <a:gd name="adj" fmla="val 3425"/>
            </a:avLst>
          </a:prstGeom>
          <a:solidFill>
            <a:srgbClr val="C7E3F9"/>
          </a:solidFill>
          <a:ln w="12700">
            <a:solidFill>
              <a:srgbClr val="77BFEE"/>
            </a:solidFill>
            <a:prstDash val="solid"/>
          </a:ln>
        </p:spPr>
      </p:sp>
      <p:sp>
        <p:nvSpPr>
          <p:cNvPr id="10" name="Text 7"/>
          <p:cNvSpPr txBox="1"/>
          <p:nvPr/>
        </p:nvSpPr>
        <p:spPr>
          <a:xfrm>
            <a:off x="7552944" y="1828800"/>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1" name="Text 8"/>
          <p:cNvSpPr txBox="1"/>
          <p:nvPr/>
        </p:nvSpPr>
        <p:spPr>
          <a:xfrm>
            <a:off x="7552944" y="2066544"/>
            <a:ext cx="3941064"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2" name="Shape 9"/>
          <p:cNvSpPr/>
          <p:nvPr/>
        </p:nvSpPr>
        <p:spPr>
          <a:xfrm>
            <a:off x="7406640" y="3182112"/>
            <a:ext cx="4233672" cy="1188720"/>
          </a:xfrm>
          <a:prstGeom prst="roundRect">
            <a:avLst>
              <a:gd name="adj" fmla="val 3846"/>
            </a:avLst>
          </a:prstGeom>
          <a:solidFill>
            <a:srgbClr val="E5E5E5"/>
          </a:solidFill>
          <a:ln w="12700">
            <a:solidFill>
              <a:srgbClr val="CACACA"/>
            </a:solidFill>
            <a:prstDash val="solid"/>
          </a:ln>
        </p:spPr>
      </p:sp>
      <p:sp>
        <p:nvSpPr>
          <p:cNvPr id="13" name="Text 10"/>
          <p:cNvSpPr txBox="1"/>
          <p:nvPr/>
        </p:nvSpPr>
        <p:spPr>
          <a:xfrm>
            <a:off x="7552944" y="325526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4" name="Text 11"/>
          <p:cNvSpPr txBox="1"/>
          <p:nvPr/>
        </p:nvSpPr>
        <p:spPr>
          <a:xfrm>
            <a:off x="7552944" y="3493008"/>
            <a:ext cx="3941064"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5" name="Shape 12"/>
          <p:cNvSpPr/>
          <p:nvPr/>
        </p:nvSpPr>
        <p:spPr>
          <a:xfrm>
            <a:off x="7406640" y="4462272"/>
            <a:ext cx="4233672" cy="1591056"/>
          </a:xfrm>
          <a:prstGeom prst="roundRect">
            <a:avLst>
              <a:gd name="adj" fmla="val 2874"/>
            </a:avLst>
          </a:prstGeom>
          <a:solidFill>
            <a:srgbClr val="FFCCE8"/>
          </a:solidFill>
          <a:ln w="12700">
            <a:solidFill>
              <a:srgbClr val="FF8AC2"/>
            </a:solidFill>
            <a:prstDash val="solid"/>
          </a:ln>
        </p:spPr>
      </p:sp>
      <p:sp>
        <p:nvSpPr>
          <p:cNvPr id="16" name="Text 13"/>
          <p:cNvSpPr txBox="1"/>
          <p:nvPr/>
        </p:nvSpPr>
        <p:spPr>
          <a:xfrm>
            <a:off x="7552944" y="453542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7" name="Text 14"/>
          <p:cNvSpPr txBox="1"/>
          <p:nvPr/>
        </p:nvSpPr>
        <p:spPr>
          <a:xfrm>
            <a:off x="7552944" y="4773168"/>
            <a:ext cx="3941064"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18" name="Text 1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circulante en España: el producto más pedido y el peor medido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100" dirty="0"/>
          </a:p>
        </p:txBody>
      </p:sp>
      <p:sp>
        <p:nvSpPr>
          <p:cNvPr id="4" name="Shape 2"/>
          <p:cNvSpPr/>
          <p:nvPr/>
        </p:nvSpPr>
        <p:spPr>
          <a:xfrm>
            <a:off x="548640" y="1737360"/>
            <a:ext cx="2697480" cy="987552"/>
          </a:xfrm>
          <a:prstGeom prst="roundRect">
            <a:avLst>
              <a:gd name="adj" fmla="val 4630"/>
            </a:avLst>
          </a:prstGeom>
          <a:solidFill>
            <a:srgbClr val="E5E5E5"/>
          </a:solidFill>
          <a:ln w="12700">
            <a:solidFill>
              <a:srgbClr val="CACACA"/>
            </a:solidFill>
            <a:prstDash val="solid"/>
          </a:ln>
        </p:spPr>
      </p:sp>
      <p:sp>
        <p:nvSpPr>
          <p:cNvPr id="5" name="Text 3"/>
          <p:cNvSpPr txBox="1"/>
          <p:nvPr/>
        </p:nvSpPr>
        <p:spPr>
          <a:xfrm>
            <a:off x="67665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6" name="Text 4"/>
          <p:cNvSpPr txBox="1"/>
          <p:nvPr/>
        </p:nvSpPr>
        <p:spPr>
          <a:xfrm>
            <a:off x="67665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7" name="Text 5"/>
          <p:cNvSpPr txBox="1"/>
          <p:nvPr/>
        </p:nvSpPr>
        <p:spPr>
          <a:xfrm>
            <a:off x="67665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8" name="Shape 6"/>
          <p:cNvSpPr/>
          <p:nvPr/>
        </p:nvSpPr>
        <p:spPr>
          <a:xfrm>
            <a:off x="3392424" y="1737360"/>
            <a:ext cx="2697480" cy="987552"/>
          </a:xfrm>
          <a:prstGeom prst="roundRect">
            <a:avLst>
              <a:gd name="adj" fmla="val 4630"/>
            </a:avLst>
          </a:prstGeom>
          <a:solidFill>
            <a:srgbClr val="E5E5E5"/>
          </a:solidFill>
          <a:ln w="12700">
            <a:solidFill>
              <a:srgbClr val="CACACA"/>
            </a:solidFill>
            <a:prstDash val="solid"/>
          </a:ln>
        </p:spPr>
      </p:sp>
      <p:sp>
        <p:nvSpPr>
          <p:cNvPr id="9" name="Text 7"/>
          <p:cNvSpPr txBox="1"/>
          <p:nvPr/>
        </p:nvSpPr>
        <p:spPr>
          <a:xfrm>
            <a:off x="352044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0" name="Text 8"/>
          <p:cNvSpPr txBox="1"/>
          <p:nvPr/>
        </p:nvSpPr>
        <p:spPr>
          <a:xfrm>
            <a:off x="352044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1" name="Text 9"/>
          <p:cNvSpPr txBox="1"/>
          <p:nvPr/>
        </p:nvSpPr>
        <p:spPr>
          <a:xfrm>
            <a:off x="352044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2" name="Shape 10"/>
          <p:cNvSpPr/>
          <p:nvPr/>
        </p:nvSpPr>
        <p:spPr>
          <a:xfrm>
            <a:off x="6236208" y="1737360"/>
            <a:ext cx="2697480" cy="987552"/>
          </a:xfrm>
          <a:prstGeom prst="roundRect">
            <a:avLst>
              <a:gd name="adj" fmla="val 4630"/>
            </a:avLst>
          </a:prstGeom>
          <a:solidFill>
            <a:srgbClr val="E5E5E5"/>
          </a:solidFill>
          <a:ln w="12700">
            <a:solidFill>
              <a:srgbClr val="CACACA"/>
            </a:solidFill>
            <a:prstDash val="solid"/>
          </a:ln>
        </p:spPr>
      </p:sp>
      <p:sp>
        <p:nvSpPr>
          <p:cNvPr id="13" name="Text 11"/>
          <p:cNvSpPr txBox="1"/>
          <p:nvPr/>
        </p:nvSpPr>
        <p:spPr>
          <a:xfrm>
            <a:off x="6364224"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4" name="Text 12"/>
          <p:cNvSpPr txBox="1"/>
          <p:nvPr/>
        </p:nvSpPr>
        <p:spPr>
          <a:xfrm>
            <a:off x="6364224"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5" name="Text 13"/>
          <p:cNvSpPr txBox="1"/>
          <p:nvPr/>
        </p:nvSpPr>
        <p:spPr>
          <a:xfrm>
            <a:off x="6364224"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6" name="Shape 14"/>
          <p:cNvSpPr/>
          <p:nvPr/>
        </p:nvSpPr>
        <p:spPr>
          <a:xfrm>
            <a:off x="9079992" y="1737360"/>
            <a:ext cx="2697480" cy="987552"/>
          </a:xfrm>
          <a:prstGeom prst="roundRect">
            <a:avLst>
              <a:gd name="adj" fmla="val 4630"/>
            </a:avLst>
          </a:prstGeom>
          <a:solidFill>
            <a:srgbClr val="E5E5E5"/>
          </a:solidFill>
          <a:ln w="12700">
            <a:solidFill>
              <a:srgbClr val="CACACA"/>
            </a:solidFill>
            <a:prstDash val="solid"/>
          </a:ln>
        </p:spPr>
      </p:sp>
      <p:sp>
        <p:nvSpPr>
          <p:cNvPr id="17" name="Text 15"/>
          <p:cNvSpPr txBox="1"/>
          <p:nvPr/>
        </p:nvSpPr>
        <p:spPr>
          <a:xfrm>
            <a:off x="92080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18" name="Text 16"/>
          <p:cNvSpPr txBox="1"/>
          <p:nvPr/>
        </p:nvSpPr>
        <p:spPr>
          <a:xfrm>
            <a:off x="92080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19" name="Text 17"/>
          <p:cNvSpPr txBox="1"/>
          <p:nvPr/>
        </p:nvSpPr>
        <p:spPr>
          <a:xfrm>
            <a:off x="92080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0" name="Chart 0" descr=""/>
          <p:cNvGraphicFramePr/>
          <p:nvPr/>
        </p:nvGraphicFramePr>
        <p:xfrm>
          <a:off x="548640"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2" name="Shape 19"/>
          <p:cNvSpPr/>
          <p:nvPr/>
        </p:nvSpPr>
        <p:spPr>
          <a:xfrm>
            <a:off x="7360920" y="2926080"/>
            <a:ext cx="4279392" cy="1481328"/>
          </a:xfrm>
          <a:prstGeom prst="roundRect">
            <a:avLst>
              <a:gd name="adj" fmla="val 3086"/>
            </a:avLst>
          </a:prstGeom>
          <a:solidFill>
            <a:srgbClr val="FFD6BA"/>
          </a:solidFill>
          <a:ln w="12700">
            <a:solidFill>
              <a:srgbClr val="FFAB70"/>
            </a:solidFill>
            <a:prstDash val="solid"/>
          </a:ln>
        </p:spPr>
      </p:sp>
      <p:sp>
        <p:nvSpPr>
          <p:cNvPr id="23" name="Text 20"/>
          <p:cNvSpPr txBox="1"/>
          <p:nvPr/>
        </p:nvSpPr>
        <p:spPr>
          <a:xfrm>
            <a:off x="7507224" y="2999232"/>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4" name="Text 21"/>
          <p:cNvSpPr txBox="1"/>
          <p:nvPr/>
        </p:nvSpPr>
        <p:spPr>
          <a:xfrm>
            <a:off x="7507224" y="3236976"/>
            <a:ext cx="3986784"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5" name="Shape 22"/>
          <p:cNvSpPr/>
          <p:nvPr/>
        </p:nvSpPr>
        <p:spPr>
          <a:xfrm>
            <a:off x="7360920" y="4517136"/>
            <a:ext cx="4279392" cy="1536192"/>
          </a:xfrm>
          <a:prstGeom prst="roundRect">
            <a:avLst>
              <a:gd name="adj" fmla="val 2976"/>
            </a:avLst>
          </a:prstGeom>
          <a:solidFill>
            <a:srgbClr val="C7E3F9"/>
          </a:solidFill>
          <a:ln w="12700">
            <a:solidFill>
              <a:srgbClr val="77BFEE"/>
            </a:solidFill>
            <a:prstDash val="solid"/>
          </a:ln>
        </p:spPr>
      </p:sp>
      <p:sp>
        <p:nvSpPr>
          <p:cNvPr id="26" name="Text 23"/>
          <p:cNvSpPr txBox="1"/>
          <p:nvPr/>
        </p:nvSpPr>
        <p:spPr>
          <a:xfrm>
            <a:off x="7507224" y="4590288"/>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7" name="Text 24"/>
          <p:cNvSpPr txBox="1"/>
          <p:nvPr/>
        </p:nvSpPr>
        <p:spPr>
          <a:xfrm>
            <a:off x="7507224" y="4828032"/>
            <a:ext cx="3986784"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28" name="Text 2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España es un caso aparte en Europa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100" dirty="0"/>
          </a:p>
        </p:txBody>
      </p:sp>
      <p:graphicFrame>
        <p:nvGraphicFramePr>
          <p:cNvPr id="4" name="Chart 0" descr=""/>
          <p:cNvGraphicFramePr/>
          <p:nvPr/>
        </p:nvGraphicFramePr>
        <p:xfrm>
          <a:off x="548640"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6" name="Shape 3"/>
          <p:cNvSpPr/>
          <p:nvPr/>
        </p:nvSpPr>
        <p:spPr>
          <a:xfrm>
            <a:off x="7296912" y="1810512"/>
            <a:ext cx="4343400" cy="1572768"/>
          </a:xfrm>
          <a:prstGeom prst="roundRect">
            <a:avLst>
              <a:gd name="adj" fmla="val 2907"/>
            </a:avLst>
          </a:prstGeom>
          <a:solidFill>
            <a:srgbClr val="FFCCE8"/>
          </a:solidFill>
          <a:ln w="12700">
            <a:solidFill>
              <a:srgbClr val="FF8AC2"/>
            </a:solidFill>
            <a:prstDash val="solid"/>
          </a:ln>
        </p:spPr>
      </p:sp>
      <p:sp>
        <p:nvSpPr>
          <p:cNvPr id="7" name="Text 4"/>
          <p:cNvSpPr txBox="1"/>
          <p:nvPr/>
        </p:nvSpPr>
        <p:spPr>
          <a:xfrm>
            <a:off x="7443216" y="1883664"/>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8" name="Text 5"/>
          <p:cNvSpPr txBox="1"/>
          <p:nvPr/>
        </p:nvSpPr>
        <p:spPr>
          <a:xfrm>
            <a:off x="7443216" y="2121408"/>
            <a:ext cx="4050792"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9" name="Shape 6"/>
          <p:cNvSpPr/>
          <p:nvPr/>
        </p:nvSpPr>
        <p:spPr>
          <a:xfrm>
            <a:off x="7296912" y="3493008"/>
            <a:ext cx="4343400" cy="1335024"/>
          </a:xfrm>
          <a:prstGeom prst="roundRect">
            <a:avLst>
              <a:gd name="adj" fmla="val 3425"/>
            </a:avLst>
          </a:prstGeom>
          <a:solidFill>
            <a:srgbClr val="E5E5E5"/>
          </a:solidFill>
          <a:ln w="12700">
            <a:solidFill>
              <a:srgbClr val="CACACA"/>
            </a:solidFill>
            <a:prstDash val="solid"/>
          </a:ln>
        </p:spPr>
      </p:sp>
      <p:sp>
        <p:nvSpPr>
          <p:cNvPr id="10" name="Text 7"/>
          <p:cNvSpPr txBox="1"/>
          <p:nvPr/>
        </p:nvSpPr>
        <p:spPr>
          <a:xfrm>
            <a:off x="7443216" y="356616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1" name="Text 8"/>
          <p:cNvSpPr txBox="1"/>
          <p:nvPr/>
        </p:nvSpPr>
        <p:spPr>
          <a:xfrm>
            <a:off x="7443216" y="3803904"/>
            <a:ext cx="4050792"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2" name="Shape 9"/>
          <p:cNvSpPr/>
          <p:nvPr/>
        </p:nvSpPr>
        <p:spPr>
          <a:xfrm>
            <a:off x="548640" y="4882896"/>
            <a:ext cx="11091672" cy="1170432"/>
          </a:xfrm>
          <a:prstGeom prst="roundRect">
            <a:avLst>
              <a:gd name="adj" fmla="val 3906"/>
            </a:avLst>
          </a:prstGeom>
          <a:solidFill>
            <a:srgbClr val="FFD6BA"/>
          </a:solidFill>
          <a:ln w="12700">
            <a:solidFill>
              <a:srgbClr val="FFAB70"/>
            </a:solidFill>
            <a:prstDash val="solid"/>
          </a:ln>
        </p:spPr>
      </p:sp>
      <p:sp>
        <p:nvSpPr>
          <p:cNvPr id="13" name="Text 10"/>
          <p:cNvSpPr txBox="1"/>
          <p:nvPr/>
        </p:nvSpPr>
        <p:spPr>
          <a:xfrm>
            <a:off x="694944"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4" name="Text 11"/>
          <p:cNvSpPr txBox="1"/>
          <p:nvPr/>
        </p:nvSpPr>
        <p:spPr>
          <a:xfrm>
            <a:off x="694944"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5"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142.000 M€ de cartera PYME entre los cinco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100" dirty="0"/>
          </a:p>
        </p:txBody>
      </p:sp>
      <p:graphicFrame>
        <p:nvGraphicFramePr>
          <p:cNvPr id="4" name="Chart 0" descr=""/>
          <p:cNvGraphicFramePr/>
          <p:nvPr/>
        </p:nvGraphicFramePr>
        <p:xfrm>
          <a:off x="548640"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3"/>
          <p:cNvSpPr/>
          <p:nvPr/>
        </p:nvSpPr>
        <p:spPr>
          <a:xfrm>
            <a:off x="7296912" y="4224528"/>
            <a:ext cx="4343400" cy="1042416"/>
          </a:xfrm>
          <a:prstGeom prst="roundRect">
            <a:avLst>
              <a:gd name="adj" fmla="val 4386"/>
            </a:avLst>
          </a:prstGeom>
          <a:solidFill>
            <a:srgbClr val="FFD6BA"/>
          </a:solidFill>
          <a:ln w="12700">
            <a:solidFill>
              <a:srgbClr val="FFAB70"/>
            </a:solidFill>
            <a:prstDash val="solid"/>
          </a:ln>
        </p:spPr>
      </p:sp>
      <p:sp>
        <p:nvSpPr>
          <p:cNvPr id="8" name="Text 4"/>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9" name="Text 5"/>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0" name="Shape 6"/>
          <p:cNvSpPr/>
          <p:nvPr/>
        </p:nvSpPr>
        <p:spPr>
          <a:xfrm>
            <a:off x="548640" y="4956048"/>
            <a:ext cx="6492240" cy="1097280"/>
          </a:xfrm>
          <a:prstGeom prst="roundRect">
            <a:avLst>
              <a:gd name="adj" fmla="val 4167"/>
            </a:avLst>
          </a:prstGeom>
          <a:solidFill>
            <a:srgbClr val="C7E3F9"/>
          </a:solidFill>
          <a:ln w="12700">
            <a:solidFill>
              <a:srgbClr val="77BFEE"/>
            </a:solidFill>
            <a:prstDash val="solid"/>
          </a:ln>
        </p:spPr>
      </p:sp>
      <p:sp>
        <p:nvSpPr>
          <p:cNvPr id="11" name="Text 7"/>
          <p:cNvSpPr txBox="1"/>
          <p:nvPr/>
        </p:nvSpPr>
        <p:spPr>
          <a:xfrm>
            <a:off x="694944"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2" name="Text 8"/>
          <p:cNvSpPr txBox="1"/>
          <p:nvPr/>
        </p:nvSpPr>
        <p:spPr>
          <a:xfrm>
            <a:off x="694944"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Mora y cobertura de la cartera PYME española, trimestre a trimestre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100" dirty="0"/>
          </a:p>
        </p:txBody>
      </p:sp>
      <p:graphicFrame>
        <p:nvGraphicFramePr>
          <p:cNvPr id="4" name="Chart 0" descr=""/>
          <p:cNvGraphicFramePr/>
          <p:nvPr/>
        </p:nvGraphicFramePr>
        <p:xfrm>
          <a:off x="548640"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6" name="Text 3"/>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7"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882896"/>
            <a:ext cx="3639312" cy="1170432"/>
          </a:xfrm>
          <a:prstGeom prst="roundRect">
            <a:avLst>
              <a:gd name="adj" fmla="val 3906"/>
            </a:avLst>
          </a:prstGeom>
          <a:solidFill>
            <a:srgbClr val="C7E3F9"/>
          </a:solidFill>
          <a:ln w="12700">
            <a:solidFill>
              <a:srgbClr val="77BFEE"/>
            </a:solidFill>
            <a:prstDash val="solid"/>
          </a:ln>
        </p:spPr>
      </p:sp>
      <p:sp>
        <p:nvSpPr>
          <p:cNvPr id="9" name="Text 5"/>
          <p:cNvSpPr txBox="1"/>
          <p:nvPr/>
        </p:nvSpPr>
        <p:spPr>
          <a:xfrm>
            <a:off x="67665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0" name="Text 6"/>
          <p:cNvSpPr txBox="1"/>
          <p:nvPr/>
        </p:nvSpPr>
        <p:spPr>
          <a:xfrm>
            <a:off x="67665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1" name="Shape 7"/>
          <p:cNvSpPr/>
          <p:nvPr/>
        </p:nvSpPr>
        <p:spPr>
          <a:xfrm>
            <a:off x="4352544" y="4882896"/>
            <a:ext cx="3639312" cy="1170432"/>
          </a:xfrm>
          <a:prstGeom prst="roundRect">
            <a:avLst>
              <a:gd name="adj" fmla="val 3906"/>
            </a:avLst>
          </a:prstGeom>
          <a:solidFill>
            <a:srgbClr val="FFCCE8"/>
          </a:solidFill>
          <a:ln w="12700">
            <a:solidFill>
              <a:srgbClr val="FF8AC2"/>
            </a:solidFill>
            <a:prstDash val="solid"/>
          </a:ln>
        </p:spPr>
      </p:sp>
      <p:sp>
        <p:nvSpPr>
          <p:cNvPr id="12" name="Text 8"/>
          <p:cNvSpPr txBox="1"/>
          <p:nvPr/>
        </p:nvSpPr>
        <p:spPr>
          <a:xfrm>
            <a:off x="4480560"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3" name="Text 9"/>
          <p:cNvSpPr txBox="1"/>
          <p:nvPr/>
        </p:nvSpPr>
        <p:spPr>
          <a:xfrm>
            <a:off x="4480560"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4" name="Shape 10"/>
          <p:cNvSpPr/>
          <p:nvPr/>
        </p:nvSpPr>
        <p:spPr>
          <a:xfrm>
            <a:off x="8156448" y="4882896"/>
            <a:ext cx="3639312" cy="1170432"/>
          </a:xfrm>
          <a:prstGeom prst="roundRect">
            <a:avLst>
              <a:gd name="adj" fmla="val 3906"/>
            </a:avLst>
          </a:prstGeom>
          <a:solidFill>
            <a:srgbClr val="FFD6BA"/>
          </a:solidFill>
          <a:ln w="12700">
            <a:solidFill>
              <a:srgbClr val="FFAB70"/>
            </a:solidFill>
            <a:prstDash val="solid"/>
          </a:ln>
        </p:spPr>
      </p:sp>
      <p:sp>
        <p:nvSpPr>
          <p:cNvPr id="15" name="Text 11"/>
          <p:cNvSpPr txBox="1"/>
          <p:nvPr/>
        </p:nvSpPr>
        <p:spPr>
          <a:xfrm>
            <a:off x="8284464"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6" name="Text 12"/>
          <p:cNvSpPr txBox="1"/>
          <p:nvPr/>
        </p:nvSpPr>
        <p:spPr>
          <a:xfrm>
            <a:off x="8284464"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7" name="Text 1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de los siete países</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con brecha de financiación positiva.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100" dirty="0"/>
          </a:p>
        </p:txBody>
      </p:sp>
      <p:sp>
        <p:nvSpPr>
          <p:cNvPr id="4" name="Shape 2"/>
          <p:cNvSpPr/>
          <p:nvPr/>
        </p:nvSpPr>
        <p:spPr>
          <a:xfrm>
            <a:off x="548640" y="1554480"/>
            <a:ext cx="329184" cy="329184"/>
          </a:xfrm>
          <a:prstGeom prst="ellipse">
            <a:avLst/>
          </a:prstGeom>
          <a:solidFill>
            <a:srgbClr val="77BFEE"/>
          </a:solidFill>
          <a:ln w="12700">
            <a:solidFill>
              <a:srgbClr val="77BFEE"/>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8" name="Shape 6"/>
          <p:cNvSpPr/>
          <p:nvPr/>
        </p:nvSpPr>
        <p:spPr>
          <a:xfrm>
            <a:off x="548640" y="2327148"/>
            <a:ext cx="329184" cy="329184"/>
          </a:xfrm>
          <a:prstGeom prst="ellipse">
            <a:avLst/>
          </a:prstGeom>
          <a:solidFill>
            <a:srgbClr val="77BFEE"/>
          </a:solidFill>
          <a:ln w="12700">
            <a:solidFill>
              <a:srgbClr val="77BFEE"/>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2" name="Shape 10"/>
          <p:cNvSpPr/>
          <p:nvPr/>
        </p:nvSpPr>
        <p:spPr>
          <a:xfrm>
            <a:off x="548640" y="3099816"/>
            <a:ext cx="329184" cy="329184"/>
          </a:xfrm>
          <a:prstGeom prst="ellipse">
            <a:avLst/>
          </a:prstGeom>
          <a:solidFill>
            <a:srgbClr val="77BFEE"/>
          </a:solidFill>
          <a:ln w="12700">
            <a:solidFill>
              <a:srgbClr val="77BFEE"/>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6" name="Shape 14"/>
          <p:cNvSpPr/>
          <p:nvPr/>
        </p:nvSpPr>
        <p:spPr>
          <a:xfrm>
            <a:off x="548640" y="3872484"/>
            <a:ext cx="329184" cy="329184"/>
          </a:xfrm>
          <a:prstGeom prst="ellipse">
            <a:avLst/>
          </a:prstGeom>
          <a:solidFill>
            <a:srgbClr val="77BFEE"/>
          </a:solidFill>
          <a:ln w="12700">
            <a:solidFill>
              <a:srgbClr val="77BFEE"/>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0" name="Shape 18"/>
          <p:cNvSpPr/>
          <p:nvPr/>
        </p:nvSpPr>
        <p:spPr>
          <a:xfrm>
            <a:off x="548640" y="4645152"/>
            <a:ext cx="329184" cy="329184"/>
          </a:xfrm>
          <a:prstGeom prst="ellipse">
            <a:avLst/>
          </a:prstGeom>
          <a:solidFill>
            <a:srgbClr val="77BFEE"/>
          </a:solidFill>
          <a:ln w="12700">
            <a:solidFill>
              <a:srgbClr val="77BFEE"/>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4" name="Shape 22"/>
          <p:cNvSpPr/>
          <p:nvPr/>
        </p:nvSpPr>
        <p:spPr>
          <a:xfrm>
            <a:off x="548640" y="5417820"/>
            <a:ext cx="329184" cy="329184"/>
          </a:xfrm>
          <a:prstGeom prst="ellipse">
            <a:avLst/>
          </a:prstGeom>
          <a:solidFill>
            <a:srgbClr val="77BFEE"/>
          </a:solidFill>
          <a:ln w="12700">
            <a:solidFill>
              <a:srgbClr val="77BFEE"/>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 entrada en 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un banco español con este análisis, hoy</a:t>
            </a:r>
            <a:endParaRPr lang="en-US" sz="1100" dirty="0"/>
          </a:p>
        </p:txBody>
      </p:sp>
      <p:sp>
        <p:nvSpPr>
          <p:cNvPr id="4" name="Shape 2"/>
          <p:cNvSpPr/>
          <p:nvPr/>
        </p:nvSpPr>
        <p:spPr>
          <a:xfrm>
            <a:off x="548640" y="1536192"/>
            <a:ext cx="2240280" cy="566928"/>
          </a:xfrm>
          <a:prstGeom prst="roundRect">
            <a:avLst>
              <a:gd name="adj" fmla="val 8065"/>
            </a:avLst>
          </a:prstGeom>
          <a:solidFill>
            <a:srgbClr val="C7E3F9"/>
          </a:solidFill>
          <a:ln w="12700">
            <a:solidFill>
              <a:srgbClr val="77BFEE"/>
            </a:solidFill>
            <a:prstDash val="solid"/>
          </a:ln>
        </p:spPr>
      </p:sp>
      <p:sp>
        <p:nvSpPr>
          <p:cNvPr id="5" name="Text 3"/>
          <p:cNvSpPr txBox="1"/>
          <p:nvPr/>
        </p:nvSpPr>
        <p:spPr>
          <a:xfrm>
            <a:off x="548640"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6" name="Text 4"/>
          <p:cNvSpPr txBox="1"/>
          <p:nvPr/>
        </p:nvSpPr>
        <p:spPr>
          <a:xfrm>
            <a:off x="2971800"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7" name="Text 5"/>
          <p:cNvSpPr txBox="1"/>
          <p:nvPr/>
        </p:nvSpPr>
        <p:spPr>
          <a:xfrm>
            <a:off x="6172200"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8" name="Shape 6"/>
          <p:cNvSpPr/>
          <p:nvPr/>
        </p:nvSpPr>
        <p:spPr>
          <a:xfrm>
            <a:off x="548640" y="2194560"/>
            <a:ext cx="2240280" cy="566928"/>
          </a:xfrm>
          <a:prstGeom prst="roundRect">
            <a:avLst>
              <a:gd name="adj" fmla="val 8065"/>
            </a:avLst>
          </a:prstGeom>
          <a:solidFill>
            <a:srgbClr val="C7E3F9"/>
          </a:solidFill>
          <a:ln w="12700">
            <a:solidFill>
              <a:srgbClr val="77BFEE"/>
            </a:solidFill>
            <a:prstDash val="solid"/>
          </a:ln>
        </p:spPr>
      </p:sp>
      <p:sp>
        <p:nvSpPr>
          <p:cNvPr id="9" name="Text 7"/>
          <p:cNvSpPr txBox="1"/>
          <p:nvPr/>
        </p:nvSpPr>
        <p:spPr>
          <a:xfrm>
            <a:off x="548640"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0" name="Text 8"/>
          <p:cNvSpPr txBox="1"/>
          <p:nvPr/>
        </p:nvSpPr>
        <p:spPr>
          <a:xfrm>
            <a:off x="2971800"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1" name="Text 9"/>
          <p:cNvSpPr txBox="1"/>
          <p:nvPr/>
        </p:nvSpPr>
        <p:spPr>
          <a:xfrm>
            <a:off x="6172200"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2" name="Shape 10"/>
          <p:cNvSpPr/>
          <p:nvPr/>
        </p:nvSpPr>
        <p:spPr>
          <a:xfrm>
            <a:off x="548640" y="2852928"/>
            <a:ext cx="2240280" cy="566928"/>
          </a:xfrm>
          <a:prstGeom prst="roundRect">
            <a:avLst>
              <a:gd name="adj" fmla="val 8065"/>
            </a:avLst>
          </a:prstGeom>
          <a:solidFill>
            <a:srgbClr val="C7E3F9"/>
          </a:solidFill>
          <a:ln w="12700">
            <a:solidFill>
              <a:srgbClr val="77BFEE"/>
            </a:solidFill>
            <a:prstDash val="solid"/>
          </a:ln>
        </p:spPr>
      </p:sp>
      <p:sp>
        <p:nvSpPr>
          <p:cNvPr id="13" name="Text 11"/>
          <p:cNvSpPr txBox="1"/>
          <p:nvPr/>
        </p:nvSpPr>
        <p:spPr>
          <a:xfrm>
            <a:off x="548640"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4" name="Text 12"/>
          <p:cNvSpPr txBox="1"/>
          <p:nvPr/>
        </p:nvSpPr>
        <p:spPr>
          <a:xfrm>
            <a:off x="2971800"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5" name="Text 13"/>
          <p:cNvSpPr txBox="1"/>
          <p:nvPr/>
        </p:nvSpPr>
        <p:spPr>
          <a:xfrm>
            <a:off x="6172200"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6" name="Shape 14"/>
          <p:cNvSpPr/>
          <p:nvPr/>
        </p:nvSpPr>
        <p:spPr>
          <a:xfrm>
            <a:off x="548640" y="3511296"/>
            <a:ext cx="2240280" cy="566928"/>
          </a:xfrm>
          <a:prstGeom prst="roundRect">
            <a:avLst>
              <a:gd name="adj" fmla="val 8065"/>
            </a:avLst>
          </a:prstGeom>
          <a:solidFill>
            <a:srgbClr val="E5E5E5"/>
          </a:solidFill>
          <a:ln w="12700">
            <a:solidFill>
              <a:srgbClr val="CACACA"/>
            </a:solidFill>
            <a:prstDash val="solid"/>
          </a:ln>
        </p:spPr>
      </p:sp>
      <p:sp>
        <p:nvSpPr>
          <p:cNvPr id="17" name="Text 15"/>
          <p:cNvSpPr txBox="1"/>
          <p:nvPr/>
        </p:nvSpPr>
        <p:spPr>
          <a:xfrm>
            <a:off x="548640"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18" name="Text 16"/>
          <p:cNvSpPr txBox="1"/>
          <p:nvPr/>
        </p:nvSpPr>
        <p:spPr>
          <a:xfrm>
            <a:off x="2971800"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19" name="Text 17"/>
          <p:cNvSpPr txBox="1"/>
          <p:nvPr/>
        </p:nvSpPr>
        <p:spPr>
          <a:xfrm>
            <a:off x="6172200"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0" name="Shape 18"/>
          <p:cNvSpPr/>
          <p:nvPr/>
        </p:nvSpPr>
        <p:spPr>
          <a:xfrm>
            <a:off x="548640" y="4169664"/>
            <a:ext cx="2240280" cy="566928"/>
          </a:xfrm>
          <a:prstGeom prst="roundRect">
            <a:avLst>
              <a:gd name="adj" fmla="val 8065"/>
            </a:avLst>
          </a:prstGeom>
          <a:solidFill>
            <a:srgbClr val="E5E5E5"/>
          </a:solidFill>
          <a:ln w="12700">
            <a:solidFill>
              <a:srgbClr val="CACACA"/>
            </a:solidFill>
            <a:prstDash val="solid"/>
          </a:ln>
        </p:spPr>
      </p:sp>
      <p:sp>
        <p:nvSpPr>
          <p:cNvPr id="21" name="Text 19"/>
          <p:cNvSpPr txBox="1"/>
          <p:nvPr/>
        </p:nvSpPr>
        <p:spPr>
          <a:xfrm>
            <a:off x="548640"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2" name="Text 20"/>
          <p:cNvSpPr txBox="1"/>
          <p:nvPr/>
        </p:nvSpPr>
        <p:spPr>
          <a:xfrm>
            <a:off x="2971800"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3" name="Text 21"/>
          <p:cNvSpPr txBox="1"/>
          <p:nvPr/>
        </p:nvSpPr>
        <p:spPr>
          <a:xfrm>
            <a:off x="6172200"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4" name="Shape 22"/>
          <p:cNvSpPr/>
          <p:nvPr/>
        </p:nvSpPr>
        <p:spPr>
          <a:xfrm>
            <a:off x="548640" y="4828032"/>
            <a:ext cx="2240280" cy="566928"/>
          </a:xfrm>
          <a:prstGeom prst="roundRect">
            <a:avLst>
              <a:gd name="adj" fmla="val 8065"/>
            </a:avLst>
          </a:prstGeom>
          <a:solidFill>
            <a:srgbClr val="E5E5E5"/>
          </a:solidFill>
          <a:ln w="12700">
            <a:solidFill>
              <a:srgbClr val="CACACA"/>
            </a:solidFill>
            <a:prstDash val="solid"/>
          </a:ln>
        </p:spPr>
      </p:sp>
      <p:sp>
        <p:nvSpPr>
          <p:cNvPr id="25" name="Text 23"/>
          <p:cNvSpPr txBox="1"/>
          <p:nvPr/>
        </p:nvSpPr>
        <p:spPr>
          <a:xfrm>
            <a:off x="548640"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6" name="Text 24"/>
          <p:cNvSpPr txBox="1"/>
          <p:nvPr/>
        </p:nvSpPr>
        <p:spPr>
          <a:xfrm>
            <a:off x="2971800"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7" name="Text 25"/>
          <p:cNvSpPr txBox="1"/>
          <p:nvPr/>
        </p:nvSpPr>
        <p:spPr>
          <a:xfrm>
            <a:off x="6172200"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Trece fuentes, 39.508 observaciones, cada fila trazable a su serie de origen</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4" name="Shape 2"/>
          <p:cNvSpPr/>
          <p:nvPr/>
        </p:nvSpPr>
        <p:spPr>
          <a:xfrm>
            <a:off x="548640" y="1627632"/>
            <a:ext cx="347472" cy="347472"/>
          </a:xfrm>
          <a:prstGeom prst="ellipse">
            <a:avLst/>
          </a:prstGeom>
          <a:solidFill>
            <a:srgbClr val="F56600"/>
          </a:solidFill>
          <a:ln w="12700">
            <a:solidFill>
              <a:srgbClr val="F56600"/>
            </a:solidFill>
            <a:prstDash val="solid"/>
          </a:ln>
        </p:spPr>
      </p:sp>
      <p:sp>
        <p:nvSpPr>
          <p:cNvPr id="5" name="Text 3"/>
          <p:cNvSpPr txBox="1"/>
          <p:nvPr/>
        </p:nvSpPr>
        <p:spPr>
          <a:xfrm>
            <a:off x="548640"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6" name="Text 4"/>
          <p:cNvSpPr txBox="1"/>
          <p:nvPr/>
        </p:nvSpPr>
        <p:spPr>
          <a:xfrm>
            <a:off x="1097280"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7" name="Text 5"/>
          <p:cNvSpPr txBox="1"/>
          <p:nvPr/>
        </p:nvSpPr>
        <p:spPr>
          <a:xfrm>
            <a:off x="1097280"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8" name="Shape 6"/>
          <p:cNvSpPr/>
          <p:nvPr/>
        </p:nvSpPr>
        <p:spPr>
          <a:xfrm>
            <a:off x="548640" y="2532888"/>
            <a:ext cx="347472" cy="347472"/>
          </a:xfrm>
          <a:prstGeom prst="ellipse">
            <a:avLst/>
          </a:prstGeom>
          <a:solidFill>
            <a:srgbClr val="F56600"/>
          </a:solidFill>
          <a:ln w="12700">
            <a:solidFill>
              <a:srgbClr val="F56600"/>
            </a:solidFill>
            <a:prstDash val="solid"/>
          </a:ln>
        </p:spPr>
      </p:sp>
      <p:sp>
        <p:nvSpPr>
          <p:cNvPr id="9" name="Text 7"/>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0" name="Text 8"/>
          <p:cNvSpPr txBox="1"/>
          <p:nvPr/>
        </p:nvSpPr>
        <p:spPr>
          <a:xfrm>
            <a:off x="1097280"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1" name="Text 9"/>
          <p:cNvSpPr txBox="1"/>
          <p:nvPr/>
        </p:nvSpPr>
        <p:spPr>
          <a:xfrm>
            <a:off x="1097280"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2" name="Shape 10"/>
          <p:cNvSpPr/>
          <p:nvPr/>
        </p:nvSpPr>
        <p:spPr>
          <a:xfrm>
            <a:off x="548640" y="3438144"/>
            <a:ext cx="347472" cy="347472"/>
          </a:xfrm>
          <a:prstGeom prst="ellipse">
            <a:avLst/>
          </a:prstGeom>
          <a:solidFill>
            <a:srgbClr val="F56600"/>
          </a:solidFill>
          <a:ln w="12700">
            <a:solidFill>
              <a:srgbClr val="F56600"/>
            </a:solidFill>
            <a:prstDash val="solid"/>
          </a:ln>
        </p:spPr>
      </p:sp>
      <p:sp>
        <p:nvSpPr>
          <p:cNvPr id="13" name="Text 11"/>
          <p:cNvSpPr txBox="1"/>
          <p:nvPr/>
        </p:nvSpPr>
        <p:spPr>
          <a:xfrm>
            <a:off x="548640"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4" name="Text 12"/>
          <p:cNvSpPr txBox="1"/>
          <p:nvPr/>
        </p:nvSpPr>
        <p:spPr>
          <a:xfrm>
            <a:off x="1097280"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5" name="Text 13"/>
          <p:cNvSpPr txBox="1"/>
          <p:nvPr/>
        </p:nvSpPr>
        <p:spPr>
          <a:xfrm>
            <a:off x="1097280"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6" name="Shape 14"/>
          <p:cNvSpPr/>
          <p:nvPr/>
        </p:nvSpPr>
        <p:spPr>
          <a:xfrm>
            <a:off x="548640" y="4343400"/>
            <a:ext cx="347472" cy="347472"/>
          </a:xfrm>
          <a:prstGeom prst="ellipse">
            <a:avLst/>
          </a:prstGeom>
          <a:solidFill>
            <a:srgbClr val="F56600"/>
          </a:solidFill>
          <a:ln w="12700">
            <a:solidFill>
              <a:srgbClr val="F56600"/>
            </a:solidFill>
            <a:prstDash val="solid"/>
          </a:ln>
        </p:spPr>
      </p:sp>
      <p:sp>
        <p:nvSpPr>
          <p:cNvPr id="17" name="Text 15"/>
          <p:cNvSpPr txBox="1"/>
          <p:nvPr/>
        </p:nvSpPr>
        <p:spPr>
          <a:xfrm>
            <a:off x="548640"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18" name="Text 16"/>
          <p:cNvSpPr txBox="1"/>
          <p:nvPr/>
        </p:nvSpPr>
        <p:spPr>
          <a:xfrm>
            <a:off x="1097280"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19" name="Text 17"/>
          <p:cNvSpPr txBox="1"/>
          <p:nvPr/>
        </p:nvSpPr>
        <p:spPr>
          <a:xfrm>
            <a:off x="1097280"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0" name="Shape 18"/>
          <p:cNvSpPr/>
          <p:nvPr/>
        </p:nvSpPr>
        <p:spPr>
          <a:xfrm>
            <a:off x="548640" y="5248656"/>
            <a:ext cx="347472" cy="347472"/>
          </a:xfrm>
          <a:prstGeom prst="ellipse">
            <a:avLst/>
          </a:prstGeom>
          <a:solidFill>
            <a:srgbClr val="F56600"/>
          </a:solidFill>
          <a:ln w="12700">
            <a:solidFill>
              <a:srgbClr val="F56600"/>
            </a:solidFill>
            <a:prstDash val="solid"/>
          </a:ln>
        </p:spPr>
      </p:sp>
      <p:sp>
        <p:nvSpPr>
          <p:cNvPr id="21" name="Text 19"/>
          <p:cNvSpPr txBox="1"/>
          <p:nvPr/>
        </p:nvSpPr>
        <p:spPr>
          <a:xfrm>
            <a:off x="548640"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2" name="Text 20"/>
          <p:cNvSpPr txBox="1"/>
          <p:nvPr/>
        </p:nvSpPr>
        <p:spPr>
          <a:xfrm>
            <a:off x="1097280"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3" name="Text 21"/>
          <p:cNvSpPr txBox="1"/>
          <p:nvPr/>
        </p:nvSpPr>
        <p:spPr>
          <a:xfrm>
            <a:off x="1097280"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2026-09-18T08:41:58Z</dcterms:created>
  <dcterms:modified xsi:type="dcterms:W3CDTF">2026-09-18T08:41:58Z</dcterms:modified>
</cp:coreProperties>
</file>