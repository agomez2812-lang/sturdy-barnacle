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0.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charts/chart24.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27.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8.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308378</c:v>
                </c:pt>
                <c:pt idx="1">
                  <c:v>316561</c:v>
                </c:pt>
                <c:pt idx="2">
                  <c:v>961184</c:v>
                </c:pt>
                <c:pt idx="3">
                  <c:v>252021</c:v>
                </c:pt>
                <c:pt idx="4">
                  <c:v>30452</c:v>
                </c:pt>
                <c:pt idx="5">
                  <c:v>259108</c:v>
                </c:pt>
                <c:pt idx="6">
                  <c:v>16964</c:v>
                </c:pt>
              </c:numCache>
            </c:numRef>
          </c:val>
        </c:ser>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Brecha</c:v>
                </c:pt>
              </c:strCache>
            </c:strRef>
          </c:tx>
          <c:spPr>
            <a:solidFill>
              <a:srgbClr val="77BFEE"/>
            </a:solidFill>
            <a:effectLst/>
          </c:spPr>
          <c:invertIfNegative val="0"/>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-1.3</c:v>
                </c:pt>
                <c:pt idx="1">
                  <c:v>2.3</c:v>
                </c:pt>
                <c:pt idx="2">
                  <c:v>6.3</c:v>
                </c:pt>
                <c:pt idx="3">
                  <c:v>-0.7</c:v>
                </c:pt>
                <c:pt idx="4">
                  <c:v>-9.4</c:v>
                </c:pt>
                <c:pt idx="5">
                  <c:v>-4</c:v>
                </c:pt>
                <c:pt idx="6">
                  <c:v>-2.1</c:v>
                </c:pt>
              </c:numCache>
            </c:numRef>
          </c:val>
        </c:ser>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4"/>
          <c:min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1.33</c:v>
                </c:pt>
                <c:pt idx="1">
                  <c:v>1</c:v>
                </c:pt>
                <c:pt idx="2">
                  <c:v>0.88</c:v>
                </c:pt>
                <c:pt idx="3">
                  <c:v>1.35</c:v>
                </c:pt>
                <c:pt idx="4">
                  <c:v>1.35</c:v>
                </c:pt>
                <c:pt idx="5">
                  <c:v>1.05</c:v>
                </c:pt>
                <c:pt idx="6">
                  <c:v>1.72</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5.47</c:v>
                </c:pt>
                <c:pt idx="1">
                  <c:v>3.99</c:v>
                </c:pt>
                <c:pt idx="2">
                  <c:v>3.77</c:v>
                </c:pt>
                <c:pt idx="3">
                  <c:v>3.57</c:v>
                </c:pt>
                <c:pt idx="4">
                  <c:v>2.93</c:v>
                </c:pt>
                <c:pt idx="5">
                  <c:v>2.75</c:v>
                </c:pt>
                <c:pt idx="6">
                  <c:v>3.58</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PYME (≤1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3.41</c:v>
                </c:pt>
                <c:pt idx="1">
                  <c:v>4.39</c:v>
                </c:pt>
                <c:pt idx="2">
                  <c:v>3.77</c:v>
                </c:pt>
                <c:pt idx="3">
                  <c:v>4.25</c:v>
                </c:pt>
                <c:pt idx="4">
                  <c:v>3.94</c:v>
                </c:pt>
                <c:pt idx="5">
                  <c:v>4.5</c:v>
                </c:pt>
                <c:pt idx="6">
                  <c:v>5.37</c:v>
                </c:pt>
              </c:numCache>
            </c:numRef>
          </c:val>
        </c:ser>
        <c:ser>
          <c:idx val="1"/>
          <c:order val="1"/>
          <c:tx>
            <c:strRef>
              <c:f>Sheet1!$C$1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ser>
          <c:idx val="2"/>
          <c:order val="2"/>
          <c:tx>
            <c:strRef>
              <c:f>Sheet1!$D$1</c:f>
              <c:strCache>
                <c:ptCount val="1"/>
                <c:pt idx="0">
                  <c:v>Circulante (todas las 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circulante</c:v>
                </c:pt>
              </c:strCache>
            </c:strRef>
          </c:tx>
          <c:spPr>
            <a:solidFill>
              <a:srgbClr val="77BFEE"/>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10.2</c:v>
                </c:pt>
                <c:pt idx="1">
                  <c:v>12.6</c:v>
                </c:pt>
                <c:pt idx="2">
                  <c:v>3.6</c:v>
                </c:pt>
                <c:pt idx="3">
                  <c:v>12.8</c:v>
                </c:pt>
                <c:pt idx="4">
                  <c:v>11.7</c:v>
                </c:pt>
                <c:pt idx="5">
                  <c:v>5.1</c:v>
                </c:pt>
                <c:pt idx="6">
                  <c:v>9.3</c:v>
                </c:pt>
              </c:numCache>
            </c:numRef>
          </c:val>
        </c:ser>
        <c:ser>
          <c:idx val="1"/>
          <c:order val="1"/>
          <c:tx>
            <c:strRef>
              <c:f>Sheet1!$C$1</c:f>
              <c:strCache>
                <c:ptCount val="1"/>
                <c:pt idx="0">
                  <c:v>ROE del préstamo PYME</c:v>
                </c:pt>
              </c:strCache>
            </c:strRef>
          </c:tx>
          <c:spPr>
            <a:solidFill>
              <a:srgbClr val="F56600"/>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12.4</c:v>
                </c:pt>
                <c:pt idx="1">
                  <c:v>17.2</c:v>
                </c:pt>
                <c:pt idx="2">
                  <c:v>5.4</c:v>
                </c:pt>
                <c:pt idx="3">
                  <c:v>15.3</c:v>
                </c:pt>
                <c:pt idx="4">
                  <c:v>13.9</c:v>
                </c:pt>
                <c:pt idx="5">
                  <c:v>20.3</c:v>
                </c:pt>
                <c:pt idx="6">
                  <c:v>13.9</c:v>
                </c:pt>
              </c:numCache>
            </c:numRef>
          </c:val>
        </c:ser>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 con necesidades</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Sheet1!$A$2:$A$5</c:f>
              <c:multiLvlStrCache>
                <c:ptCount val="4"/>
                <c:lvl>
                  <c:pt idx="0">
                    <c:v>Circulante</c:v>
                  </c:pt>
                  <c:pt idx="1">
                    <c:v>Equipo productivo</c:v>
                  </c:pt>
                  <c:pt idx="2">
                    <c:v>Inmuebles</c:v>
                  </c:pt>
                  <c:pt idx="3">
                    <c:v>Innovación</c:v>
                  </c:pt>
                </c:lvl>
              </c:multiLvlStrCache>
            </c:multiLvlStrRef>
          </c:cat>
          <c:val>
            <c:numRef>
              <c:f>Sheet1!$B$2:$B$5</c:f>
              <c:numCache>
                <c:formatCode>General</c:formatCode>
                <c:ptCount val="4"/>
                <c:pt idx="0">
                  <c:v>73</c:v>
                </c:pt>
                <c:pt idx="1">
                  <c:v>33.2</c:v>
                </c:pt>
                <c:pt idx="2">
                  <c:v>12</c:v>
                </c:pt>
                <c:pt idx="3">
                  <c:v>4.3</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Ninguno</c:v>
                  </c:pt>
                  <c:pt idx="1">
                    <c:v>El precio de la financiacion</c:v>
                  </c:pt>
                  <c:pt idx="2">
                    <c:v>Falta de comprension del negocio por la entidad</c:v>
                  </c:pt>
                  <c:pt idx="3">
                    <c:v>Tramites administrativos y otros</c:v>
                  </c:pt>
                  <c:pt idx="4">
                    <c:v>Escasez de financiacion disponible</c:v>
                  </c:pt>
                </c:lvl>
              </c:multiLvlStrCache>
            </c:multiLvlStrRef>
          </c:cat>
          <c:val>
            <c:numRef>
              <c:f>Sheet1!$B$2:$B$6</c:f>
              <c:numCache>
                <c:formatCode>General</c:formatCode>
                <c:ptCount val="5"/>
                <c:pt idx="0">
                  <c:v>49.2</c:v>
                </c:pt>
                <c:pt idx="1">
                  <c:v>21.6</c:v>
                </c:pt>
                <c:pt idx="2">
                  <c:v>10.5</c:v>
                </c:pt>
                <c:pt idx="3">
                  <c:v>8.6</c:v>
                </c:pt>
                <c:pt idx="4">
                  <c:v>5.7</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5"/>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Rentabilidad del activo neto</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Sheet1!$B$2:$B$4</c:f>
              <c:numCache>
                <c:formatCode>General</c:formatCode>
                <c:ptCount val="3"/>
                <c:pt idx="0">
                  <c:v>5.4</c:v>
                </c:pt>
                <c:pt idx="1">
                  <c:v>10.4</c:v>
                </c:pt>
                <c:pt idx="2">
                  <c:v>6.8</c:v>
                </c:pt>
              </c:numCache>
            </c:numRef>
          </c:val>
        </c:ser>
        <c:ser>
          <c:idx val="1"/>
          <c:order val="1"/>
          <c:tx>
            <c:strRef>
              <c:f>Sheet1!$C$1</c:f>
              <c:strCache>
                <c:ptCount val="1"/>
                <c:pt idx="0">
                  <c:v>Tipo efectivo pagado por su deuda</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Sheet1!$C$2:$C$4</c:f>
              <c:numCache>
                <c:formatCode>General</c:formatCode>
                <c:ptCount val="3"/>
                <c:pt idx="0">
                  <c:v>3.3</c:v>
                </c:pt>
                <c:pt idx="1">
                  <c:v>4.4</c:v>
                </c:pt>
                <c:pt idx="2">
                  <c:v>4.2</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de nueva producción</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FFAB70"/>
              </a:solidFill>
              <a:effectLst/>
            </c:spPr>
          </c:dPt>
          <c:dPt>
            <c:idx val="2"/>
            <c:invertIfNegative val="0"/>
            <c:bubble3D val="0"/>
            <c:spPr>
              <a:solidFill>
                <a:srgbClr val="77BFEE"/>
              </a:solidFill>
              <a:effectLst/>
            </c:spPr>
          </c:dPt>
          <c:dPt>
            <c:idx val="3"/>
            <c:invertIfNegative val="0"/>
            <c:bubble3D val="0"/>
            <c:spPr>
              <a:solidFill>
                <a:srgbClr val="77BFEE"/>
              </a:solidFill>
              <a:effectLst/>
            </c:spPr>
          </c:dPt>
          <c:dPt>
            <c:idx val="4"/>
            <c:invertIfNegative val="0"/>
            <c:bubble3D val="0"/>
            <c:spPr>
              <a:solidFill>
                <a:srgbClr val="77BFEE"/>
              </a:solidFill>
              <a:effectLst/>
            </c:spPr>
          </c:dPt>
          <c:cat>
            <c:multiLvlStrRef>
              <c:f>Sheet1!$A$2:$A$6</c:f>
              <c:multiLvlStrCache>
                <c:ptCount val="5"/>
                <c:lvl>
                  <c:pt idx="0">
                    <c:v>Autónomo
otros fines</c:v>
                  </c:pt>
                  <c:pt idx="1">
                    <c:v>Autónomo
hasta 1 año</c:v>
                  </c:pt>
                  <c:pt idx="2">
                    <c:v>Sociedad
≤0,25 M€</c:v>
                  </c:pt>
                  <c:pt idx="3">
                    <c:v>Sociedad
0,25-1 M€</c:v>
                  </c:pt>
                  <c:pt idx="4">
                    <c:v>Sociedad
&gt;1 M€</c:v>
                  </c:pt>
                </c:lvl>
              </c:multiLvlStrCache>
            </c:multiLvlStrRef>
          </c:cat>
          <c:val>
            <c:numRef>
              <c:f>Sheet1!$B$2:$B$6</c:f>
              <c:numCache>
                <c:formatCode>General</c:formatCode>
                <c:ptCount val="5"/>
                <c:pt idx="0">
                  <c:v>4.57</c:v>
                </c:pt>
                <c:pt idx="1">
                  <c:v>3.84</c:v>
                </c:pt>
                <c:pt idx="2">
                  <c:v>3.42</c:v>
                </c:pt>
                <c:pt idx="3">
                  <c:v>3.37</c:v>
                </c:pt>
                <c:pt idx="4">
                  <c:v>3.46</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3.57</c:v>
                </c:pt>
                <c:pt idx="2">
                  <c:v>3.57</c:v>
                </c:pt>
                <c:pt idx="3">
                  <c:v>3.57</c:v>
                </c:pt>
                <c:pt idx="4">
                  <c:v>3.82</c:v>
                </c:pt>
                <c:pt idx="5">
                  <c:v>3.47</c:v>
                </c:pt>
                <c:pt idx="6">
                  <c:v>5.01</c:v>
                </c:pt>
              </c:numCache>
            </c:numRef>
          </c:val>
        </c:ser>
        <c:ser>
          <c:idx val="1"/>
          <c:order val="1"/>
          <c:tx>
            <c:strRef>
              <c:f>Sheet1!$C$1</c:f>
              <c:strCache>
                <c:ptCount val="1"/>
                <c:pt idx="0">
                  <c:v>Circulante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Volumen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 en España</c:v>
                </c:pt>
              </c:strCache>
            </c:strRef>
          </c:tx>
          <c:spPr>
            <a:solidFill>
              <a:srgbClr val="F56600"/>
            </a:solidFill>
            <a:effectLst/>
          </c:spPr>
          <c:invertIfNegative val="0"/>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14553</c:v>
                </c:pt>
                <c:pt idx="1">
                  <c:v>22324</c:v>
                </c:pt>
                <c:pt idx="2">
                  <c:v>48736</c:v>
                </c:pt>
                <c:pt idx="3">
                  <c:v>24410</c:v>
                </c:pt>
                <c:pt idx="4">
                  <c:v>32325</c:v>
                </c:pt>
              </c:numCache>
            </c:numRef>
          </c:val>
        </c:ser>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2.51</c:v>
                </c:pt>
                <c:pt idx="1">
                  <c:v>2.76</c:v>
                </c:pt>
                <c:pt idx="2">
                  <c:v>2.92</c:v>
                </c:pt>
                <c:pt idx="3">
                  <c:v>2.34</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7.32</c:v>
                </c:pt>
                <c:pt idx="1">
                  <c:v>6.87</c:v>
                </c:pt>
                <c:pt idx="2">
                  <c:v>6.37</c:v>
                </c:pt>
                <c:pt idx="3">
                  <c:v>5.91</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5.29</c:v>
                </c:pt>
                <c:pt idx="1">
                  <c:v>5.18</c:v>
                </c:pt>
                <c:pt idx="2">
                  <c:v>4.75</c:v>
                </c:pt>
                <c:pt idx="3">
                  <c:v>5.3</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3.94</c:v>
                </c:pt>
                <c:pt idx="1">
                  <c:v>3.73</c:v>
                </c:pt>
                <c:pt idx="2">
                  <c:v>4.04</c:v>
                </c:pt>
                <c:pt idx="3">
                  <c:v>3.98</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7.6</c:v>
                </c:pt>
                <c:pt idx="1">
                  <c:v>8.58</c:v>
                </c:pt>
                <c:pt idx="2">
                  <c:v>8.51</c:v>
                </c:pt>
                <c:pt idx="3">
                  <c:v>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9"/>
          <c:min val="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56.11</c:v>
                </c:pt>
                <c:pt idx="1">
                  <c:v>51.94</c:v>
                </c:pt>
                <c:pt idx="2">
                  <c:v>53.18</c:v>
                </c:pt>
                <c:pt idx="3">
                  <c:v>74.1</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48.39</c:v>
                </c:pt>
                <c:pt idx="1">
                  <c:v>47.27</c:v>
                </c:pt>
                <c:pt idx="2">
                  <c:v>47.66</c:v>
                </c:pt>
                <c:pt idx="3">
                  <c:v>56.09</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64.43</c:v>
                </c:pt>
                <c:pt idx="1">
                  <c:v>61.37</c:v>
                </c:pt>
                <c:pt idx="2">
                  <c:v>62.17</c:v>
                </c:pt>
                <c:pt idx="3">
                  <c:v>53.65</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52.05</c:v>
                </c:pt>
                <c:pt idx="1">
                  <c:v>68.54</c:v>
                </c:pt>
                <c:pt idx="2">
                  <c:v>60.52</c:v>
                </c:pt>
                <c:pt idx="3">
                  <c:v>65.62</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43.22</c:v>
                </c:pt>
                <c:pt idx="1">
                  <c:v>41.1</c:v>
                </c:pt>
                <c:pt idx="2">
                  <c:v>37.28</c:v>
                </c:pt>
                <c:pt idx="3">
                  <c:v>36.54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min val="3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PYME modelizado</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20.7</c:v>
                </c:pt>
                <c:pt idx="1">
                  <c:v>20.2</c:v>
                </c:pt>
                <c:pt idx="2">
                  <c:v>17.7</c:v>
                </c:pt>
                <c:pt idx="3">
                  <c:v>13.2</c:v>
                </c:pt>
                <c:pt idx="4">
                  <c:v>14.2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A1A1A1"/>
                </a:solidFill>
                <a:latin typeface="Verdana" pitchFamily="34" charset="0"/>
                <a:ea typeface="Verdana" pitchFamily="34" charset="-122"/>
                <a:cs typeface="Verdana" pitchFamily="34" charset="-120"/>
              </a:rPr>
              <a:t>España · Alemania · Francia · Italia · Portugal · Países Bajos · Irlanda</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38885 observaciones · 11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CACACA"/>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CACACA"/>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CACACA"/>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FD6BA"/>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mercado europeo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Siete países · Precio, riesgo, capital y rentabilidad del préstamo PYME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mercado: Francia es la mitad, Irlanda es el 0,8 %</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Exposición a PYME de la banca supervisada en cada país y brecha de financiación declarada por las propias empresas</a:t>
            </a:r>
            <a:endParaRPr lang="en-US" sz="1100" dirty="0"/>
          </a:p>
        </p:txBody>
      </p:sp>
      <p:graphicFrame>
        <p:nvGraphicFramePr>
          <p:cNvPr id="4" name="Chart 0" descr=""/>
          <p:cNvGraphicFramePr/>
          <p:nvPr/>
        </p:nvGraphicFramePr>
        <p:xfrm>
          <a:off x="548640" y="1810512"/>
          <a:ext cx="5577840" cy="26517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1572768"/>
            <a:ext cx="557784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Cartera PYME, millones de euros</a:t>
            </a:r>
            <a:endParaRPr lang="en-US" sz="1100" dirty="0"/>
          </a:p>
        </p:txBody>
      </p:sp>
      <p:sp>
        <p:nvSpPr>
          <p:cNvPr id="6" name="Text 3"/>
          <p:cNvSpPr txBox="1"/>
          <p:nvPr/>
        </p:nvSpPr>
        <p:spPr>
          <a:xfrm>
            <a:off x="6309360" y="1572768"/>
            <a:ext cx="551383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Brecha de financiación de la PYME, 2025-S1</a:t>
            </a:r>
            <a:endParaRPr lang="en-US" sz="1100" dirty="0"/>
          </a:p>
        </p:txBody>
      </p:sp>
      <p:graphicFrame>
        <p:nvGraphicFramePr>
          <p:cNvPr id="7" name="Chart 1" descr=""/>
          <p:cNvGraphicFramePr/>
          <p:nvPr/>
        </p:nvGraphicFramePr>
        <p:xfrm>
          <a:off x="6309360" y="1810512"/>
          <a:ext cx="5513832" cy="2651760"/>
        </p:xfrm>
        <a:graphic xmlns:a="http://schemas.openxmlformats.org/drawingml/2006/main">
          <a:graphicData uri="http://schemas.openxmlformats.org/drawingml/2006/chart">
            <c:chart xmlns:c="http://schemas.openxmlformats.org/drawingml/2006/chart" r:id="rId2"/>
          </a:graphicData>
        </a:graphic>
      </p:graphicFrame>
      <p:sp>
        <p:nvSpPr>
          <p:cNvPr id="8" name="Text 4"/>
          <p:cNvSpPr txBox="1"/>
          <p:nvPr/>
        </p:nvSpPr>
        <p:spPr>
          <a:xfrm>
            <a:off x="6309360" y="4498848"/>
            <a:ext cx="5513832" cy="27432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Porcentaje NETO de encuesta: empresas que declaran más necesidad menos las que declaran más disponibilidad. Positivo = la necesidad no se cubre.</a:t>
            </a:r>
            <a:endParaRPr lang="en-US" sz="750" dirty="0"/>
          </a:p>
        </p:txBody>
      </p:sp>
      <p:sp>
        <p:nvSpPr>
          <p:cNvPr id="9" name="Text 5"/>
          <p:cNvSpPr txBox="1"/>
          <p:nvPr/>
        </p:nvSpPr>
        <p:spPr>
          <a:xfrm>
            <a:off x="548640" y="4498848"/>
            <a:ext cx="5577840" cy="219456"/>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Los siete suman 2,14 billones de euros. Francia sola es el 44,8 %.</a:t>
            </a:r>
            <a:endParaRPr lang="en-US" sz="800" dirty="0"/>
          </a:p>
        </p:txBody>
      </p:sp>
      <p:sp>
        <p:nvSpPr>
          <p:cNvPr id="10" name="Shape 6"/>
          <p:cNvSpPr/>
          <p:nvPr/>
        </p:nvSpPr>
        <p:spPr>
          <a:xfrm>
            <a:off x="548640" y="4882896"/>
            <a:ext cx="5577840" cy="1170432"/>
          </a:xfrm>
          <a:prstGeom prst="roundRect">
            <a:avLst>
              <a:gd name="adj" fmla="val 3906"/>
            </a:avLst>
          </a:prstGeom>
          <a:solidFill>
            <a:srgbClr val="FFD6BA"/>
          </a:solidFill>
          <a:ln w="12700">
            <a:solidFill>
              <a:srgbClr val="FFAB70"/>
            </a:solidFill>
            <a:prstDash val="solid"/>
          </a:ln>
        </p:spPr>
      </p:sp>
      <p:sp>
        <p:nvSpPr>
          <p:cNvPr id="11" name="Text 7"/>
          <p:cNvSpPr txBox="1"/>
          <p:nvPr/>
        </p:nvSpPr>
        <p:spPr>
          <a:xfrm>
            <a:off x="694944" y="4956048"/>
            <a:ext cx="52852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tamaño no se reparte como el PIB</a:t>
            </a:r>
            <a:endParaRPr lang="en-US" sz="1150" dirty="0"/>
          </a:p>
        </p:txBody>
      </p:sp>
      <p:sp>
        <p:nvSpPr>
          <p:cNvPr id="12" name="Text 8"/>
          <p:cNvSpPr txBox="1"/>
          <p:nvPr/>
        </p:nvSpPr>
        <p:spPr>
          <a:xfrm>
            <a:off x="694944" y="5193792"/>
            <a:ext cx="5285232" cy="78638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Francia tiene 57 veces la cartera PYME de Irlanda y tres veces la de España, muy por encima de lo que dice su economía. Conviene tenerlo delante al leer los ROE: un punto de ROE en Irlanda mueve una cartera de 16.964 M€ y en Francia, de 961.184 M€.</a:t>
            </a:r>
            <a:endParaRPr lang="en-US" sz="900" dirty="0"/>
          </a:p>
        </p:txBody>
      </p:sp>
      <p:sp>
        <p:nvSpPr>
          <p:cNvPr id="13" name="Shape 9"/>
          <p:cNvSpPr/>
          <p:nvPr/>
        </p:nvSpPr>
        <p:spPr>
          <a:xfrm>
            <a:off x="6309360" y="4882896"/>
            <a:ext cx="5513832" cy="1170432"/>
          </a:xfrm>
          <a:prstGeom prst="roundRect">
            <a:avLst>
              <a:gd name="adj" fmla="val 3906"/>
            </a:avLst>
          </a:prstGeom>
          <a:solidFill>
            <a:srgbClr val="C7E3F9"/>
          </a:solidFill>
          <a:ln w="12700">
            <a:solidFill>
              <a:srgbClr val="77BFEE"/>
            </a:solidFill>
            <a:prstDash val="solid"/>
          </a:ln>
        </p:spPr>
      </p:sp>
      <p:sp>
        <p:nvSpPr>
          <p:cNvPr id="14" name="Text 10"/>
          <p:cNvSpPr txBox="1"/>
          <p:nvPr/>
        </p:nvSpPr>
        <p:spPr>
          <a:xfrm>
            <a:off x="6455664" y="4956048"/>
            <a:ext cx="522122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donde más falta hace es donde menos rinde</a:t>
            </a:r>
            <a:endParaRPr lang="en-US" sz="1150" dirty="0"/>
          </a:p>
        </p:txBody>
      </p:sp>
      <p:sp>
        <p:nvSpPr>
          <p:cNvPr id="15" name="Text 11"/>
          <p:cNvSpPr txBox="1"/>
          <p:nvPr/>
        </p:nvSpPr>
        <p:spPr>
          <a:xfrm>
            <a:off x="6455664" y="5193792"/>
            <a:ext cx="5221224" cy="78638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Francia es el único de los siete con brecha claramente positiva (+6,3 %), y en su segmento micro llega a +12,4 %. Es el mercado más grande, el peor atendido por declaración de las propias empresas y el de peor ROE para su banca (5,4 %). Portugal está en el extremo contrario: -9,4 %.</a:t>
            </a:r>
            <a:endParaRPr lang="en-US" sz="900" dirty="0"/>
          </a:p>
        </p:txBody>
      </p:sp>
      <p:sp>
        <p:nvSpPr>
          <p:cNvPr id="16" name="Text 1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cartera PYME, EBA EU-wide Transparency Exercise, valor de exposición de la clase PYME de la banca supervisada en cada país, junio de 2025; brecha de financiación, BCE, encuesta SAFE, indicador financing gap de la PYME de menos de 250 empleados, media ponderada de 2025-S1. Son dos magnitudes distintas y no se agregan: una es un importe y la otra un porcentaje neto de respuestas. La SAFE segmenta por EMPLEADOS y el Transparency Exercise por clase de exposición prudencial; el micro de la SAFE solo está publicado para cuatro de los siete países.</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de Préstamos a Pymes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100" dirty="0"/>
          </a:p>
        </p:txBody>
      </p:sp>
      <p:graphicFrame>
        <p:nvGraphicFramePr>
          <p:cNvPr id="4" name="Chart 0" descr=""/>
          <p:cNvGraphicFramePr/>
          <p:nvPr/>
        </p:nvGraphicFramePr>
        <p:xfrm>
          <a:off x="548640"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FD6BA"/>
          </a:solidFill>
          <a:ln w="12700">
            <a:solidFill>
              <a:srgbClr val="FFAB7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4.07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7" name="Shape 4"/>
          <p:cNvSpPr/>
          <p:nvPr/>
        </p:nvSpPr>
        <p:spPr>
          <a:xfrm>
            <a:off x="2103120" y="5623560"/>
            <a:ext cx="1371600" cy="256032"/>
          </a:xfrm>
          <a:prstGeom prst="roundRect">
            <a:avLst>
              <a:gd name="adj" fmla="val 42857"/>
            </a:avLst>
          </a:prstGeom>
          <a:solidFill>
            <a:srgbClr val="FFAB70"/>
          </a:solidFill>
          <a:ln w="12700">
            <a:solidFill>
              <a:srgbClr val="FFAB7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5,4 %: precio bajo, recursos caros y la peor eficiencia (65,6 %).</a:t>
            </a:r>
            <a:endParaRPr lang="en-US" sz="9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4,7 %.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FD6BA"/>
          </a:solidFill>
          <a:ln w="12700">
            <a:solidFill>
              <a:srgbClr val="FFAB7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cinco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Simulación: entrante eficiente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100" dirty="0"/>
          </a:p>
        </p:txBody>
      </p:sp>
      <p:sp>
        <p:nvSpPr>
          <p:cNvPr id="4" name="Shape 2"/>
          <p:cNvSpPr/>
          <p:nvPr/>
        </p:nvSpPr>
        <p:spPr>
          <a:xfrm>
            <a:off x="548640" y="1572768"/>
            <a:ext cx="11091672" cy="475488"/>
          </a:xfrm>
          <a:prstGeom prst="roundRect">
            <a:avLst>
              <a:gd name="adj" fmla="val 11538"/>
            </a:avLst>
          </a:prstGeom>
          <a:solidFill>
            <a:srgbClr val="FFD6BA"/>
          </a:solidFill>
          <a:ln w="12700">
            <a:solidFill>
              <a:srgbClr val="FFAB70"/>
            </a:solidFill>
            <a:prstDash val="solid"/>
          </a:ln>
        </p:spPr>
      </p:sp>
      <p:sp>
        <p:nvSpPr>
          <p:cNvPr id="5" name="Text 3"/>
          <p:cNvSpPr txBox="1"/>
          <p:nvPr/>
        </p:nvSpPr>
        <p:spPr>
          <a:xfrm>
            <a:off x="777240"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6" name="Chart 0" descr=""/>
          <p:cNvGraphicFramePr/>
          <p:nvPr/>
        </p:nvGraphicFramePr>
        <p:xfrm>
          <a:off x="548640"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8" name="Shape 4"/>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9" name="Text 5"/>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0" name="Text 6"/>
          <p:cNvSpPr txBox="1"/>
          <p:nvPr/>
        </p:nvSpPr>
        <p:spPr>
          <a:xfrm>
            <a:off x="548640" y="5440680"/>
            <a:ext cx="11091672"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(5,4 %)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1"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Depósitos de sociedades no financieras, ponderados por la mezcla real de saldos · Media 2026 · No es el coste de financiación del sistema: ver la franja inferior</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1,21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1,83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0,37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25696"/>
            <a:ext cx="4187952" cy="640080"/>
          </a:xfrm>
          <a:prstGeom prst="roundRect">
            <a:avLst>
              <a:gd name="adj" fmla="val 8571"/>
            </a:avLst>
          </a:prstGeom>
          <a:solidFill>
            <a:srgbClr val="FFD6BA"/>
          </a:solidFill>
          <a:ln w="12700">
            <a:solidFill>
              <a:srgbClr val="FFAB70"/>
            </a:solidFill>
            <a:prstDash val="solid"/>
          </a:ln>
        </p:spPr>
      </p:sp>
      <p:sp>
        <p:nvSpPr>
          <p:cNvPr id="7" name="Text 3"/>
          <p:cNvSpPr txBox="1"/>
          <p:nvPr/>
        </p:nvSpPr>
        <p:spPr>
          <a:xfrm>
            <a:off x="7607808" y="4498848"/>
            <a:ext cx="3895344"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 Irlanda capta los recursos más baratos, 0,37 %, y Francia los más caros, 1,21 %.</a:t>
            </a:r>
            <a:endParaRPr lang="en-US" sz="9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48640" y="5157216"/>
          <a:ext cx="11091672" cy="914400"/>
        </p:xfrm>
        <a:graphic>
          <a:graphicData uri="http://schemas.openxmlformats.org/drawingml/2006/table">
            <a:tbl>
              <a:tblPr/>
              <a:tblGrid>
                <a:gridCol w="3776472"/>
                <a:gridCol w="1045159"/>
                <a:gridCol w="1045159"/>
                <a:gridCol w="1045159"/>
                <a:gridCol w="1045159"/>
                <a:gridCol w="1045159"/>
                <a:gridCol w="1045159"/>
                <a:gridCol w="1045159"/>
              </a:tblGrid>
              <a:tr h="219456">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 empresa · lo que usa el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del sistema · empresas y hogares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0,64 %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Diferencia, pb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nueva producción, serie de vencimiento total) y dataset BSI (saldos, para la ponderación). El coste que usa el modelo es el de los depósitos de SOCIEDADES NO FINANCIERAS (sector 2240), no el coste de financiación del sistema: los depósitos de empresa son solo entre el 22 % y el 34 % del depósito minorista de cada país, y el depósito del sistema tampoco incluye deuda emitida, repos, financiación del banco central ni capital. Facilidad de depósito del BCE al 2,09 %.</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Infraestructura de información crediticia de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5" name="Shape 2"/>
          <p:cNvSpPr/>
          <p:nvPr/>
        </p:nvSpPr>
        <p:spPr>
          <a:xfrm>
            <a:off x="548640" y="4754880"/>
            <a:ext cx="11091672" cy="1325880"/>
          </a:xfrm>
          <a:prstGeom prst="roundRect">
            <a:avLst>
              <a:gd name="adj" fmla="val 4138"/>
            </a:avLst>
          </a:prstGeom>
          <a:solidFill>
            <a:srgbClr val="FFD6BA"/>
          </a:solidFill>
          <a:ln w="12700">
            <a:solidFill>
              <a:srgbClr val="FFAB70"/>
            </a:solidFill>
            <a:prstDash val="solid"/>
          </a:ln>
        </p:spPr>
      </p:sp>
      <p:sp>
        <p:nvSpPr>
          <p:cNvPr id="6" name="Text 3"/>
          <p:cNvSpPr txBox="1"/>
          <p:nvPr/>
        </p:nvSpPr>
        <p:spPr>
          <a:xfrm>
            <a:off x="777240"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7" name="Text 4"/>
          <p:cNvSpPr txBox="1"/>
          <p:nvPr/>
        </p:nvSpPr>
        <p:spPr>
          <a:xfrm>
            <a:off x="777240"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Los dos ejes: información selecciona, recobro recupera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100" dirty="0"/>
          </a:p>
        </p:txBody>
      </p:sp>
      <p:sp>
        <p:nvSpPr>
          <p:cNvPr id="4" name="Shape 2"/>
          <p:cNvSpPr/>
          <p:nvPr/>
        </p:nvSpPr>
        <p:spPr>
          <a:xfrm>
            <a:off x="1051560" y="1645920"/>
            <a:ext cx="5806440" cy="3703320"/>
          </a:xfrm>
          <a:prstGeom prst="rect">
            <a:avLst/>
          </a:prstGeom>
          <a:solidFill>
            <a:srgbClr val="FFFFFF"/>
          </a:solidFill>
          <a:ln w="9525">
            <a:solidFill>
              <a:srgbClr val="CACACA"/>
            </a:solidFill>
            <a:prstDash val="solid"/>
          </a:ln>
        </p:spPr>
      </p:sp>
      <p:sp>
        <p:nvSpPr>
          <p:cNvPr id="5" name="Shape 3"/>
          <p:cNvSpPr/>
          <p:nvPr/>
        </p:nvSpPr>
        <p:spPr>
          <a:xfrm>
            <a:off x="3954780" y="1645920"/>
            <a:ext cx="2903220" cy="1851660"/>
          </a:xfrm>
          <a:prstGeom prst="rect">
            <a:avLst/>
          </a:prstGeom>
          <a:solidFill>
            <a:srgbClr val="FFD6BA"/>
          </a:solidFill>
          <a:ln w="12700">
            <a:solidFill>
              <a:srgbClr val="FFFFFF"/>
            </a:solidFill>
            <a:prstDash val="solid"/>
          </a:ln>
        </p:spPr>
      </p:sp>
      <p:sp>
        <p:nvSpPr>
          <p:cNvPr id="6" name="Shape 4"/>
          <p:cNvSpPr/>
          <p:nvPr/>
        </p:nvSpPr>
        <p:spPr>
          <a:xfrm>
            <a:off x="1051560" y="3497580"/>
            <a:ext cx="2903220" cy="1851660"/>
          </a:xfrm>
          <a:prstGeom prst="rect">
            <a:avLst/>
          </a:prstGeom>
          <a:solidFill>
            <a:srgbClr val="E5E5E5"/>
          </a:solidFill>
          <a:ln w="12700">
            <a:solidFill>
              <a:srgbClr val="FFFFFF"/>
            </a:solidFill>
            <a:prstDash val="solid"/>
          </a:ln>
        </p:spPr>
      </p:sp>
      <p:sp>
        <p:nvSpPr>
          <p:cNvPr id="7" name="Shape 5"/>
          <p:cNvSpPr/>
          <p:nvPr/>
        </p:nvSpPr>
        <p:spPr>
          <a:xfrm>
            <a:off x="3954780" y="1645920"/>
            <a:ext cx="0" cy="3703320"/>
          </a:xfrm>
          <a:prstGeom prst="line">
            <a:avLst/>
          </a:prstGeom>
          <a:noFill/>
          <a:ln w="9525">
            <a:solidFill>
              <a:srgbClr val="CACACA"/>
            </a:solidFill>
            <a:prstDash val="dash"/>
          </a:ln>
        </p:spPr>
      </p:sp>
      <p:sp>
        <p:nvSpPr>
          <p:cNvPr id="8" name="Shape 6"/>
          <p:cNvSpPr/>
          <p:nvPr/>
        </p:nvSpPr>
        <p:spPr>
          <a:xfrm>
            <a:off x="1051560" y="3497580"/>
            <a:ext cx="5806440" cy="0"/>
          </a:xfrm>
          <a:prstGeom prst="line">
            <a:avLst/>
          </a:prstGeom>
          <a:noFill/>
          <a:ln w="9525">
            <a:solidFill>
              <a:srgbClr val="CACACA"/>
            </a:solidFill>
            <a:prstDash val="dash"/>
          </a:ln>
        </p:spPr>
      </p:sp>
      <p:sp>
        <p:nvSpPr>
          <p:cNvPr id="9" name="Text 7"/>
          <p:cNvSpPr txBox="1"/>
          <p:nvPr/>
        </p:nvSpPr>
        <p:spPr>
          <a:xfrm>
            <a:off x="402793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0" name="Text 8"/>
          <p:cNvSpPr txBox="1"/>
          <p:nvPr/>
        </p:nvSpPr>
        <p:spPr>
          <a:xfrm>
            <a:off x="112471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1" name="Text 9"/>
          <p:cNvSpPr txBox="1"/>
          <p:nvPr/>
        </p:nvSpPr>
        <p:spPr>
          <a:xfrm>
            <a:off x="402793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2" name="Text 10"/>
          <p:cNvSpPr txBox="1"/>
          <p:nvPr/>
        </p:nvSpPr>
        <p:spPr>
          <a:xfrm>
            <a:off x="112471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3" name="Text 11"/>
          <p:cNvSpPr txBox="1"/>
          <p:nvPr/>
        </p:nvSpPr>
        <p:spPr>
          <a:xfrm>
            <a:off x="1051560"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4" name="Text 12"/>
          <p:cNvSpPr txBox="1"/>
          <p:nvPr/>
        </p:nvSpPr>
        <p:spPr>
          <a:xfrm>
            <a:off x="493776"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5" name="Shape 13"/>
          <p:cNvSpPr/>
          <p:nvPr/>
        </p:nvSpPr>
        <p:spPr>
          <a:xfrm>
            <a:off x="4474616" y="3045775"/>
            <a:ext cx="474574" cy="474574"/>
          </a:xfrm>
          <a:prstGeom prst="ellipse">
            <a:avLst/>
          </a:prstGeom>
          <a:solidFill>
            <a:srgbClr val="FFAB70"/>
          </a:solidFill>
          <a:ln w="9525">
            <a:solidFill>
              <a:srgbClr val="2B2B2B"/>
            </a:solidFill>
            <a:prstDash val="solid"/>
          </a:ln>
        </p:spPr>
      </p:sp>
      <p:sp>
        <p:nvSpPr>
          <p:cNvPr id="16" name="Text 14"/>
          <p:cNvSpPr txBox="1"/>
          <p:nvPr/>
        </p:nvSpPr>
        <p:spPr>
          <a:xfrm>
            <a:off x="3194456"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7" name="Shape 15"/>
          <p:cNvSpPr/>
          <p:nvPr/>
        </p:nvSpPr>
        <p:spPr>
          <a:xfrm>
            <a:off x="5096408" y="2662276"/>
            <a:ext cx="345643" cy="345643"/>
          </a:xfrm>
          <a:prstGeom prst="ellipse">
            <a:avLst/>
          </a:prstGeom>
          <a:solidFill>
            <a:srgbClr val="77BFEE"/>
          </a:solidFill>
          <a:ln w="9525">
            <a:solidFill>
              <a:srgbClr val="2B2B2B"/>
            </a:solidFill>
            <a:prstDash val="solid"/>
          </a:ln>
        </p:spPr>
      </p:sp>
      <p:sp>
        <p:nvSpPr>
          <p:cNvPr id="18" name="Text 16"/>
          <p:cNvSpPr txBox="1"/>
          <p:nvPr/>
        </p:nvSpPr>
        <p:spPr>
          <a:xfrm>
            <a:off x="3816248"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19" name="Shape 17"/>
          <p:cNvSpPr/>
          <p:nvPr/>
        </p:nvSpPr>
        <p:spPr>
          <a:xfrm>
            <a:off x="1909039" y="3265780"/>
            <a:ext cx="589788" cy="589788"/>
          </a:xfrm>
          <a:prstGeom prst="ellipse">
            <a:avLst/>
          </a:prstGeom>
          <a:solidFill>
            <a:srgbClr val="FF8AC2"/>
          </a:solidFill>
          <a:ln w="9525">
            <a:solidFill>
              <a:srgbClr val="2B2B2B"/>
            </a:solidFill>
            <a:prstDash val="solid"/>
          </a:ln>
        </p:spPr>
      </p:sp>
      <p:sp>
        <p:nvSpPr>
          <p:cNvPr id="20" name="Text 18"/>
          <p:cNvSpPr txBox="1"/>
          <p:nvPr/>
        </p:nvSpPr>
        <p:spPr>
          <a:xfrm>
            <a:off x="2544547"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1" name="Shape 19"/>
          <p:cNvSpPr/>
          <p:nvPr/>
        </p:nvSpPr>
        <p:spPr>
          <a:xfrm>
            <a:off x="5180076" y="4376913"/>
            <a:ext cx="619963" cy="619963"/>
          </a:xfrm>
          <a:prstGeom prst="ellipse">
            <a:avLst/>
          </a:prstGeom>
          <a:solidFill>
            <a:srgbClr val="FF8AC2"/>
          </a:solidFill>
          <a:ln w="9525">
            <a:solidFill>
              <a:srgbClr val="2B2B2B"/>
            </a:solidFill>
            <a:prstDash val="solid"/>
          </a:ln>
        </p:spPr>
      </p:sp>
      <p:sp>
        <p:nvSpPr>
          <p:cNvPr id="22" name="Text 20"/>
          <p:cNvSpPr txBox="1"/>
          <p:nvPr/>
        </p:nvSpPr>
        <p:spPr>
          <a:xfrm>
            <a:off x="3899916"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3" name="Shape 21"/>
          <p:cNvSpPr/>
          <p:nvPr/>
        </p:nvSpPr>
        <p:spPr>
          <a:xfrm>
            <a:off x="4544339" y="4346875"/>
            <a:ext cx="345643" cy="345643"/>
          </a:xfrm>
          <a:prstGeom prst="ellipse">
            <a:avLst/>
          </a:prstGeom>
          <a:solidFill>
            <a:srgbClr val="77BFEE"/>
          </a:solidFill>
          <a:ln w="9525">
            <a:solidFill>
              <a:srgbClr val="2B2B2B"/>
            </a:solidFill>
            <a:prstDash val="solid"/>
          </a:ln>
        </p:spPr>
      </p:sp>
      <p:sp>
        <p:nvSpPr>
          <p:cNvPr id="24" name="Text 22"/>
          <p:cNvSpPr txBox="1"/>
          <p:nvPr/>
        </p:nvSpPr>
        <p:spPr>
          <a:xfrm>
            <a:off x="4935703"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5" name="Shape 23"/>
          <p:cNvSpPr/>
          <p:nvPr/>
        </p:nvSpPr>
        <p:spPr>
          <a:xfrm>
            <a:off x="3992728" y="2758425"/>
            <a:ext cx="323698" cy="323698"/>
          </a:xfrm>
          <a:prstGeom prst="ellipse">
            <a:avLst/>
          </a:prstGeom>
          <a:solidFill>
            <a:srgbClr val="77BFEE"/>
          </a:solidFill>
          <a:ln w="9525">
            <a:solidFill>
              <a:srgbClr val="2B2B2B"/>
            </a:solidFill>
            <a:prstDash val="solid"/>
          </a:ln>
        </p:spPr>
      </p:sp>
      <p:sp>
        <p:nvSpPr>
          <p:cNvPr id="26" name="Text 24"/>
          <p:cNvSpPr txBox="1"/>
          <p:nvPr/>
        </p:nvSpPr>
        <p:spPr>
          <a:xfrm>
            <a:off x="2712568"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7" name="Shape 25"/>
          <p:cNvSpPr/>
          <p:nvPr/>
        </p:nvSpPr>
        <p:spPr>
          <a:xfrm>
            <a:off x="5778322" y="2131741"/>
            <a:ext cx="296266" cy="296266"/>
          </a:xfrm>
          <a:prstGeom prst="ellipse">
            <a:avLst/>
          </a:prstGeom>
          <a:solidFill>
            <a:srgbClr val="77BFEE"/>
          </a:solidFill>
          <a:ln w="9525">
            <a:solidFill>
              <a:srgbClr val="2B2B2B"/>
            </a:solidFill>
            <a:prstDash val="solid"/>
          </a:ln>
        </p:spPr>
      </p:sp>
      <p:sp>
        <p:nvSpPr>
          <p:cNvPr id="28" name="Text 26"/>
          <p:cNvSpPr txBox="1"/>
          <p:nvPr/>
        </p:nvSpPr>
        <p:spPr>
          <a:xfrm>
            <a:off x="4498162"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29" name="Text 27"/>
          <p:cNvSpPr txBox="1"/>
          <p:nvPr/>
        </p:nvSpPr>
        <p:spPr>
          <a:xfrm>
            <a:off x="1051560"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0" name="Text 28"/>
          <p:cNvSpPr txBox="1"/>
          <p:nvPr/>
        </p:nvSpPr>
        <p:spPr>
          <a:xfrm>
            <a:off x="7114032" y="1645920"/>
            <a:ext cx="452628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526280"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2" name="Text 29"/>
          <p:cNvSpPr txBox="1"/>
          <p:nvPr/>
        </p:nvSpPr>
        <p:spPr>
          <a:xfrm>
            <a:off x="7114032" y="3127248"/>
            <a:ext cx="452628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3" name="Shape 30"/>
          <p:cNvSpPr/>
          <p:nvPr/>
        </p:nvSpPr>
        <p:spPr>
          <a:xfrm>
            <a:off x="7114032" y="3401568"/>
            <a:ext cx="4526280" cy="1170432"/>
          </a:xfrm>
          <a:prstGeom prst="roundRect">
            <a:avLst>
              <a:gd name="adj" fmla="val 3906"/>
            </a:avLst>
          </a:prstGeom>
          <a:solidFill>
            <a:srgbClr val="FFD6BA"/>
          </a:solidFill>
          <a:ln w="12700">
            <a:solidFill>
              <a:srgbClr val="FFAB70"/>
            </a:solidFill>
            <a:prstDash val="solid"/>
          </a:ln>
        </p:spPr>
      </p:sp>
      <p:sp>
        <p:nvSpPr>
          <p:cNvPr id="34" name="Text 31"/>
          <p:cNvSpPr txBox="1"/>
          <p:nvPr/>
        </p:nvSpPr>
        <p:spPr>
          <a:xfrm>
            <a:off x="7260336" y="3474720"/>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5" name="Text 32"/>
          <p:cNvSpPr txBox="1"/>
          <p:nvPr/>
        </p:nvSpPr>
        <p:spPr>
          <a:xfrm>
            <a:off x="7260336" y="3712464"/>
            <a:ext cx="4233672"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6" name="Shape 33"/>
          <p:cNvSpPr/>
          <p:nvPr/>
        </p:nvSpPr>
        <p:spPr>
          <a:xfrm>
            <a:off x="7114032" y="4645152"/>
            <a:ext cx="4526280" cy="1389888"/>
          </a:xfrm>
          <a:prstGeom prst="roundRect">
            <a:avLst>
              <a:gd name="adj" fmla="val 3289"/>
            </a:avLst>
          </a:prstGeom>
          <a:solidFill>
            <a:srgbClr val="E5E5E5"/>
          </a:solidFill>
          <a:ln w="12700">
            <a:solidFill>
              <a:srgbClr val="CACACA"/>
            </a:solidFill>
            <a:prstDash val="solid"/>
          </a:ln>
        </p:spPr>
      </p:sp>
      <p:sp>
        <p:nvSpPr>
          <p:cNvPr id="37" name="Text 34"/>
          <p:cNvSpPr txBox="1"/>
          <p:nvPr/>
        </p:nvSpPr>
        <p:spPr>
          <a:xfrm>
            <a:off x="7260336" y="4718304"/>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38" name="Text 35"/>
          <p:cNvSpPr txBox="1"/>
          <p:nvPr/>
        </p:nvSpPr>
        <p:spPr>
          <a:xfrm>
            <a:off x="7260336" y="4956048"/>
            <a:ext cx="4233672"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39" name="Text 3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 paga el riesgo? Entre mercados,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100" dirty="0"/>
          </a:p>
        </p:txBody>
      </p:sp>
      <p:graphicFrame>
        <p:nvGraphicFramePr>
          <p:cNvPr id="4" name="Chart 0" descr=""/>
          <p:cNvGraphicFramePr/>
          <p:nvPr/>
        </p:nvGraphicFramePr>
        <p:xfrm>
          <a:off x="548640"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6" name="Shape 3"/>
          <p:cNvSpPr/>
          <p:nvPr/>
        </p:nvSpPr>
        <p:spPr>
          <a:xfrm>
            <a:off x="548640" y="5102352"/>
            <a:ext cx="6629400" cy="950976"/>
          </a:xfrm>
          <a:prstGeom prst="roundRect">
            <a:avLst>
              <a:gd name="adj" fmla="val 4808"/>
            </a:avLst>
          </a:prstGeom>
          <a:solidFill>
            <a:srgbClr val="FFD6BA"/>
          </a:solidFill>
          <a:ln w="12700">
            <a:solidFill>
              <a:srgbClr val="FFAB70"/>
            </a:solidFill>
            <a:prstDash val="solid"/>
          </a:ln>
        </p:spPr>
      </p:sp>
      <p:sp>
        <p:nvSpPr>
          <p:cNvPr id="7" name="Text 4"/>
          <p:cNvSpPr txBox="1"/>
          <p:nvPr/>
        </p:nvSpPr>
        <p:spPr>
          <a:xfrm>
            <a:off x="694944"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−0,76 contra la PD</a:t>
            </a:r>
            <a:endParaRPr lang="en-US" sz="1100" dirty="0"/>
          </a:p>
        </p:txBody>
      </p:sp>
      <p:sp>
        <p:nvSpPr>
          <p:cNvPr id="8" name="Text 5"/>
          <p:cNvSpPr txBox="1"/>
          <p:nvPr/>
        </p:nvSpPr>
        <p:spPr>
          <a:xfrm>
            <a:off x="694944"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(5,47 %); Francia, la segunda peor PD (2,15 %) y el menor (2,75 %).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9" name="Text 6"/>
          <p:cNvSpPr txBox="1"/>
          <p:nvPr/>
        </p:nvSpPr>
        <p:spPr>
          <a:xfrm>
            <a:off x="7479792" y="1664208"/>
            <a:ext cx="416052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0" name="Text 7"/>
          <p:cNvSpPr txBox="1"/>
          <p:nvPr/>
        </p:nvSpPr>
        <p:spPr>
          <a:xfrm>
            <a:off x="7479792" y="1901952"/>
            <a:ext cx="416052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1" name="Text 8"/>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2" name="Shape 9"/>
          <p:cNvSpPr/>
          <p:nvPr/>
        </p:nvSpPr>
        <p:spPr>
          <a:xfrm>
            <a:off x="8686800" y="2199132"/>
            <a:ext cx="2179320" cy="137160"/>
          </a:xfrm>
          <a:prstGeom prst="rect">
            <a:avLst/>
          </a:prstGeom>
          <a:solidFill>
            <a:srgbClr val="FFAB70"/>
          </a:solidFill>
          <a:ln w="6350">
            <a:solidFill>
              <a:srgbClr val="FFAB70"/>
            </a:solidFill>
            <a:prstDash val="solid"/>
          </a:ln>
        </p:spPr>
      </p:sp>
      <p:sp>
        <p:nvSpPr>
          <p:cNvPr id="13" name="Text 10"/>
          <p:cNvSpPr txBox="1"/>
          <p:nvPr/>
        </p:nvSpPr>
        <p:spPr>
          <a:xfrm>
            <a:off x="11018520"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4" name="Text 11"/>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5" name="Shape 12"/>
          <p:cNvSpPr/>
          <p:nvPr/>
        </p:nvSpPr>
        <p:spPr>
          <a:xfrm>
            <a:off x="8686800" y="2473452"/>
            <a:ext cx="1828800" cy="137160"/>
          </a:xfrm>
          <a:prstGeom prst="rect">
            <a:avLst/>
          </a:prstGeom>
          <a:solidFill>
            <a:srgbClr val="FFAB70"/>
          </a:solidFill>
          <a:ln w="6350">
            <a:solidFill>
              <a:srgbClr val="FFAB70"/>
            </a:solidFill>
            <a:prstDash val="solid"/>
          </a:ln>
        </p:spPr>
      </p:sp>
      <p:sp>
        <p:nvSpPr>
          <p:cNvPr id="16" name="Text 13"/>
          <p:cNvSpPr txBox="1"/>
          <p:nvPr/>
        </p:nvSpPr>
        <p:spPr>
          <a:xfrm>
            <a:off x="11018520"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7" name="Text 14"/>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18" name="Shape 15"/>
          <p:cNvSpPr/>
          <p:nvPr/>
        </p:nvSpPr>
        <p:spPr>
          <a:xfrm>
            <a:off x="8686800" y="2747772"/>
            <a:ext cx="1752600" cy="137160"/>
          </a:xfrm>
          <a:prstGeom prst="rect">
            <a:avLst/>
          </a:prstGeom>
          <a:solidFill>
            <a:srgbClr val="FFAB70"/>
          </a:solidFill>
          <a:ln w="6350">
            <a:solidFill>
              <a:srgbClr val="FFAB70"/>
            </a:solidFill>
            <a:prstDash val="solid"/>
          </a:ln>
        </p:spPr>
      </p:sp>
      <p:sp>
        <p:nvSpPr>
          <p:cNvPr id="19" name="Text 16"/>
          <p:cNvSpPr txBox="1"/>
          <p:nvPr/>
        </p:nvSpPr>
        <p:spPr>
          <a:xfrm>
            <a:off x="11018520"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0" name="Text 17"/>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1" name="Shape 18"/>
          <p:cNvSpPr/>
          <p:nvPr/>
        </p:nvSpPr>
        <p:spPr>
          <a:xfrm>
            <a:off x="8686800" y="3022092"/>
            <a:ext cx="990600" cy="137160"/>
          </a:xfrm>
          <a:prstGeom prst="rect">
            <a:avLst/>
          </a:prstGeom>
          <a:solidFill>
            <a:srgbClr val="FFD6BA"/>
          </a:solidFill>
          <a:ln w="6350">
            <a:solidFill>
              <a:srgbClr val="FFAB70"/>
            </a:solidFill>
            <a:prstDash val="solid"/>
          </a:ln>
        </p:spPr>
      </p:sp>
      <p:sp>
        <p:nvSpPr>
          <p:cNvPr id="22" name="Text 19"/>
          <p:cNvSpPr txBox="1"/>
          <p:nvPr/>
        </p:nvSpPr>
        <p:spPr>
          <a:xfrm>
            <a:off x="11018520"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3" name="Text 20"/>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4" name="Shape 21"/>
          <p:cNvSpPr/>
          <p:nvPr/>
        </p:nvSpPr>
        <p:spPr>
          <a:xfrm>
            <a:off x="8686800" y="3296412"/>
            <a:ext cx="899160" cy="137160"/>
          </a:xfrm>
          <a:prstGeom prst="rect">
            <a:avLst/>
          </a:prstGeom>
          <a:solidFill>
            <a:srgbClr val="FFD6BA"/>
          </a:solidFill>
          <a:ln w="6350">
            <a:solidFill>
              <a:srgbClr val="FFAB70"/>
            </a:solidFill>
            <a:prstDash val="solid"/>
          </a:ln>
        </p:spPr>
      </p:sp>
      <p:sp>
        <p:nvSpPr>
          <p:cNvPr id="25" name="Text 22"/>
          <p:cNvSpPr txBox="1"/>
          <p:nvPr/>
        </p:nvSpPr>
        <p:spPr>
          <a:xfrm>
            <a:off x="11018520"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6" name="Text 23"/>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7" name="Shape 24"/>
          <p:cNvSpPr/>
          <p:nvPr/>
        </p:nvSpPr>
        <p:spPr>
          <a:xfrm>
            <a:off x="8686800" y="3570732"/>
            <a:ext cx="746760" cy="137160"/>
          </a:xfrm>
          <a:prstGeom prst="rect">
            <a:avLst/>
          </a:prstGeom>
          <a:solidFill>
            <a:srgbClr val="FFD6BA"/>
          </a:solidFill>
          <a:ln w="6350">
            <a:solidFill>
              <a:srgbClr val="FFAB70"/>
            </a:solidFill>
            <a:prstDash val="solid"/>
          </a:ln>
        </p:spPr>
      </p:sp>
      <p:sp>
        <p:nvSpPr>
          <p:cNvPr id="28" name="Text 25"/>
          <p:cNvSpPr txBox="1"/>
          <p:nvPr/>
        </p:nvSpPr>
        <p:spPr>
          <a:xfrm>
            <a:off x="11018520"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29" name="Text 26"/>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0" name="Shape 27"/>
          <p:cNvSpPr/>
          <p:nvPr/>
        </p:nvSpPr>
        <p:spPr>
          <a:xfrm>
            <a:off x="8686800" y="3845052"/>
            <a:ext cx="60960" cy="137160"/>
          </a:xfrm>
          <a:prstGeom prst="rect">
            <a:avLst/>
          </a:prstGeom>
          <a:solidFill>
            <a:srgbClr val="FFCCE8"/>
          </a:solidFill>
          <a:ln w="6350">
            <a:solidFill>
              <a:srgbClr val="FF8AC2"/>
            </a:solidFill>
            <a:prstDash val="solid"/>
          </a:ln>
        </p:spPr>
      </p:sp>
      <p:sp>
        <p:nvSpPr>
          <p:cNvPr id="31" name="Text 28"/>
          <p:cNvSpPr txBox="1"/>
          <p:nvPr/>
        </p:nvSpPr>
        <p:spPr>
          <a:xfrm>
            <a:off x="11018520"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2" name="Shape 29"/>
          <p:cNvSpPr/>
          <p:nvPr/>
        </p:nvSpPr>
        <p:spPr>
          <a:xfrm>
            <a:off x="7479792" y="4096512"/>
            <a:ext cx="4160520" cy="914400"/>
          </a:xfrm>
          <a:prstGeom prst="roundRect">
            <a:avLst>
              <a:gd name="adj" fmla="val 5000"/>
            </a:avLst>
          </a:prstGeom>
          <a:solidFill>
            <a:srgbClr val="C7E3F9"/>
          </a:solidFill>
          <a:ln w="12700">
            <a:solidFill>
              <a:srgbClr val="77BFEE"/>
            </a:solidFill>
            <a:prstDash val="solid"/>
          </a:ln>
        </p:spPr>
      </p:sp>
      <p:sp>
        <p:nvSpPr>
          <p:cNvPr id="33" name="Text 30"/>
          <p:cNvSpPr txBox="1"/>
          <p:nvPr/>
        </p:nvSpPr>
        <p:spPr>
          <a:xfrm>
            <a:off x="7626096" y="41696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4" name="Text 31"/>
          <p:cNvSpPr txBox="1"/>
          <p:nvPr/>
        </p:nvSpPr>
        <p:spPr>
          <a:xfrm>
            <a:off x="7626096" y="4389120"/>
            <a:ext cx="3867912"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+0,82 con el ROE.</a:t>
            </a:r>
            <a:endParaRPr lang="en-US" sz="850" dirty="0"/>
          </a:p>
        </p:txBody>
      </p:sp>
      <p:sp>
        <p:nvSpPr>
          <p:cNvPr id="35" name="Shape 32"/>
          <p:cNvSpPr/>
          <p:nvPr/>
        </p:nvSpPr>
        <p:spPr>
          <a:xfrm>
            <a:off x="7479792" y="5102352"/>
            <a:ext cx="4160520" cy="950976"/>
          </a:xfrm>
          <a:prstGeom prst="roundRect">
            <a:avLst>
              <a:gd name="adj" fmla="val 4808"/>
            </a:avLst>
          </a:prstGeom>
          <a:solidFill>
            <a:srgbClr val="E5E5E5"/>
          </a:solidFill>
          <a:ln w="12700">
            <a:solidFill>
              <a:srgbClr val="CACACA"/>
            </a:solidFill>
            <a:prstDash val="solid"/>
          </a:ln>
        </p:spPr>
      </p:sp>
      <p:sp>
        <p:nvSpPr>
          <p:cNvPr id="36" name="Text 33"/>
          <p:cNvSpPr txBox="1"/>
          <p:nvPr/>
        </p:nvSpPr>
        <p:spPr>
          <a:xfrm>
            <a:off x="7626096" y="517550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7" name="Text 34"/>
          <p:cNvSpPr txBox="1"/>
          <p:nvPr/>
        </p:nvSpPr>
        <p:spPr>
          <a:xfrm>
            <a:off x="7626096" y="5413248"/>
            <a:ext cx="3867912"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38" name="Text 3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FD6BA"/>
          </a:solidFill>
          <a:ln w="12700">
            <a:solidFill>
              <a:srgbClr val="FFAB7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CACACA"/>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FD6BA"/>
          </a:solidFill>
          <a:ln w="12700">
            <a:solidFill>
              <a:srgbClr val="FFAB7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del saldo vivo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volumen solo en España</a:t>
            </a:r>
            <a:endParaRPr lang="en-US" sz="1300" dirty="0"/>
          </a:p>
        </p:txBody>
      </p:sp>
      <p:sp>
        <p:nvSpPr>
          <p:cNvPr id="7" name="Text 4"/>
          <p:cNvSpPr txBox="1"/>
          <p:nvPr/>
        </p:nvSpPr>
        <p:spPr>
          <a:xfrm>
            <a:off x="7699248" y="2194560"/>
            <a:ext cx="3749040" cy="11704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El BCE publica el tipo de los siete países, pero el volumen solo del agregado de zona euro. El único dato nacional hallado es el del Banco de España: 57.933 M€ de saldo medio en 2026, con un tipo del 3,58 % idéntico al del BCE. Para los otros seis, el peso del circulante en la cartera no es calculable con fuente oficial.</a:t>
            </a:r>
            <a:endParaRPr lang="en-US" sz="95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En revolving y descubiertos el MIR mide el tipo del saldo vivo, no de nueva producción: no existe el concepto de nueva operación. El dato de julio de 2026 es provisional en España, Alemania, Francia, Italia y zona euro. Volumen de España: Banco de España, Boletín Estadístico, cuadro 19.13, serie 1.</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Préstamo frente a circulante: el precio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Media 2026 · En revolving el MIR mide el tipo del saldo vivo, no de nueva producción · El circulante no tiene tramo de importe, así que la única comparación de perímetro homólogo es contra el total de empresas</a:t>
            </a:r>
            <a:endParaRPr lang="en-US" sz="1100" dirty="0"/>
          </a:p>
        </p:txBody>
      </p:sp>
      <p:graphicFrame>
        <p:nvGraphicFramePr>
          <p:cNvPr id="4" name="Chart 0" descr=""/>
          <p:cNvGraphicFramePr/>
          <p:nvPr/>
        </p:nvGraphicFramePr>
        <p:xfrm>
          <a:off x="548640" y="1755648"/>
          <a:ext cx="736092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047488"/>
            <a:ext cx="736092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Diferencia del circulante frente al préstamo del mismo perímetro, en puntos básicos</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065008" y="1755648"/>
          <a:ext cx="3575304" cy="914400"/>
        </p:xfrm>
        <a:graphic>
          <a:graphicData uri="http://schemas.openxmlformats.org/drawingml/2006/table">
            <a:tbl>
              <a:tblPr/>
              <a:tblGrid>
                <a:gridCol w="1234440"/>
                <a:gridCol w="1216152"/>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total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PYME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−204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7" name="Shape 3"/>
          <p:cNvSpPr/>
          <p:nvPr/>
        </p:nvSpPr>
        <p:spPr>
          <a:xfrm>
            <a:off x="8065008" y="4023360"/>
            <a:ext cx="3575304"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8211312" y="4096512"/>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Cuidado con el perímetro</a:t>
            </a:r>
            <a:endParaRPr lang="en-US" sz="1100" dirty="0"/>
          </a:p>
        </p:txBody>
      </p:sp>
      <p:sp>
        <p:nvSpPr>
          <p:cNvPr id="9" name="Text 5"/>
          <p:cNvSpPr txBox="1"/>
          <p:nvPr/>
        </p:nvSpPr>
        <p:spPr>
          <a:xfrm>
            <a:off x="8211312" y="4334256"/>
            <a:ext cx="3282696"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La serie A2Z1 del BCE solo existe en categoría total: mezcla PYME y gran empresa. Comparar el circulante contra el tramo ≤1 M€ exagera la diferencia allí donde ese tramo pesa poco. En Países Bajos solo es el 7,6 % de la nueva producción, y ahí el salto es de −204 pb contra PYME pero de −100 pb contra el total.</a:t>
            </a:r>
            <a:endParaRPr lang="en-US" sz="800" dirty="0"/>
          </a:p>
        </p:txBody>
      </p:sp>
      <p:sp>
        <p:nvSpPr>
          <p:cNvPr id="10" name="Shape 6"/>
          <p:cNvSpPr/>
          <p:nvPr/>
        </p:nvSpPr>
        <p:spPr>
          <a:xfrm>
            <a:off x="8065008" y="5248656"/>
            <a:ext cx="3575304" cy="804672"/>
          </a:xfrm>
          <a:prstGeom prst="roundRect">
            <a:avLst>
              <a:gd name="adj" fmla="val 5682"/>
            </a:avLst>
          </a:prstGeom>
          <a:solidFill>
            <a:srgbClr val="FFD6BA"/>
          </a:solidFill>
          <a:ln w="12700">
            <a:solidFill>
              <a:srgbClr val="FFAB70"/>
            </a:solidFill>
            <a:prstDash val="solid"/>
          </a:ln>
        </p:spPr>
      </p:sp>
      <p:sp>
        <p:nvSpPr>
          <p:cNvPr id="11" name="Text 7"/>
          <p:cNvSpPr txBox="1"/>
          <p:nvPr/>
        </p:nvSpPr>
        <p:spPr>
          <a:xfrm>
            <a:off x="8211312" y="5321808"/>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hay una regla</a:t>
            </a:r>
            <a:endParaRPr lang="en-US" sz="1100" dirty="0"/>
          </a:p>
        </p:txBody>
      </p:sp>
      <p:sp>
        <p:nvSpPr>
          <p:cNvPr id="12" name="Text 8"/>
          <p:cNvSpPr txBox="1"/>
          <p:nvPr/>
        </p:nvSpPr>
        <p:spPr>
          <a:xfrm>
            <a:off x="8211312" y="5559552"/>
            <a:ext cx="3282696" cy="43891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A perímetro homólogo, el circulante es más caro que el préstamo en cuatro países y más barato en tres. Alemania cobra +138 pb por la línea; Países Bajos, −100.</a:t>
            </a:r>
            <a:endParaRPr lang="en-US" sz="800" dirty="0"/>
          </a:p>
        </p:txBody>
      </p:sp>
      <p:sp>
        <p:nvSpPr>
          <p:cNvPr id="13"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Circulante: serie A2Z1 (revolving y descubiertos a sociedades no financieras), sin tramo de importe, media simple de 2026-01 a 2026-07. Préstamo: medias ponderadas por volumen del mismo periodo. En revolving el MIR mide el tipo del saldo vivo, no de nueva producción: no existe el concepto de nueva operación. Validación cruzada: el Banco de España publica el mismo dato para España (cuadro 19.5, serie 1) y da 3,58 %, idéntico al del BCE.</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del circulante: se cobra por dos sitios, se consume capital por dos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Perímetro: TOTAL DE EMPRESAS, no PYME · Por euro dispuesto · Disposición 60 % y comisión de disponibilidad 0,30 % son SUPUESTOS, no datos · CCF del 10 % del CRR3</a:t>
            </a:r>
            <a:endParaRPr lang="en-US" sz="1100" dirty="0"/>
          </a:p>
        </p:txBody>
      </p:sp>
      <p:graphicFrame>
        <p:nvGraphicFramePr>
          <p:cNvPr id="4" name="Chart 0" descr=""/>
          <p:cNvGraphicFramePr/>
          <p:nvPr/>
        </p:nvGraphicFramePr>
        <p:xfrm>
          <a:off x="548640" y="1755648"/>
          <a:ext cx="6720840" cy="2788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553712"/>
            <a:ext cx="6720840" cy="548640"/>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Las dos barras NO son el mismo negocio ni llevan las mismas comisiones: la izquierda es circulante a todas las empresas y la derecha préstamo a PYME, y el modelo del préstamo aplica 0,87 % de comisiones sobre el saldo mientras que el del circulante no aplica ninguna sobre el dispuesto. Con esa misma carga, el circulante daría España 14,0 · Alemania 16,0 · Francia 6,1 · Italia 16,7 · Portugal 14,6 · P. Bajos 9,7 · Irlanda 11,2 %.</a:t>
            </a:r>
            <a:endParaRPr lang="en-US" sz="800" dirty="0"/>
          </a:p>
        </p:txBody>
      </p:sp>
      <p:sp>
        <p:nvSpPr>
          <p:cNvPr id="6" name="Text 3"/>
          <p:cNvSpPr txBox="1"/>
          <p:nvPr/>
        </p:nvSpPr>
        <p:spPr>
          <a:xfrm>
            <a:off x="548640" y="5138928"/>
            <a:ext cx="6720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Sensibilidad a los dos supuestos</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5394960"/>
          <a:ext cx="6720840" cy="914400"/>
        </p:xfrm>
        <a:graphic>
          <a:graphicData uri="http://schemas.openxmlformats.org/drawingml/2006/table">
            <a:tbl>
              <a:tblPr/>
              <a:tblGrid>
                <a:gridCol w="1920240"/>
                <a:gridCol w="800100"/>
                <a:gridCol w="800100"/>
                <a:gridCol w="800100"/>
                <a:gridCol w="800100"/>
                <a:gridCol w="800100"/>
                <a:gridCol w="800100"/>
              </a:tblGrid>
              <a:tr h="192024">
                <a:tc>
                  <a:txBody>
                    <a:bodyPr/>
                    <a:lstStyle/>
                    <a:p>
                      <a:pPr algn="l" indent="0" marL="0">
                        <a:buNone/>
                      </a:pPr>
                      <a:r>
                        <a:rPr lang="en-US" sz="750" b="1" dirty="0">
                          <a:solidFill>
                            <a:srgbClr val="FFFFFF"/>
                          </a:solidFill>
                          <a:latin typeface="Verdana" pitchFamily="34" charset="0"/>
                          <a:ea typeface="Verdana" pitchFamily="34" charset="-122"/>
                          <a:cs typeface="Verdana" pitchFamily="34" charset="-120"/>
                        </a:rPr>
                        <a:t>comisión \ disposición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40 %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50 %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60 %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70 %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80 %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100 %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7,8 %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0,75 %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8" name="Shape 4"/>
          <p:cNvSpPr/>
          <p:nvPr/>
        </p:nvSpPr>
        <p:spPr>
          <a:xfrm>
            <a:off x="7452360" y="1755648"/>
            <a:ext cx="4187952" cy="1024128"/>
          </a:xfrm>
          <a:prstGeom prst="roundRect">
            <a:avLst>
              <a:gd name="adj" fmla="val 4464"/>
            </a:avLst>
          </a:prstGeom>
          <a:solidFill>
            <a:srgbClr val="E5E5E5"/>
          </a:solidFill>
          <a:ln w="12700">
            <a:solidFill>
              <a:srgbClr val="CACACA"/>
            </a:solidFill>
            <a:prstDash val="solid"/>
          </a:ln>
        </p:spPr>
      </p:sp>
      <p:sp>
        <p:nvSpPr>
          <p:cNvPr id="9" name="Text 5"/>
          <p:cNvSpPr txBox="1"/>
          <p:nvPr/>
        </p:nvSpPr>
        <p:spPr>
          <a:xfrm>
            <a:off x="7598664" y="1828800"/>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Cómo se cobra y cómo consume</a:t>
            </a:r>
            <a:endParaRPr lang="en-US" sz="1100" dirty="0"/>
          </a:p>
        </p:txBody>
      </p:sp>
      <p:sp>
        <p:nvSpPr>
          <p:cNvPr id="10" name="Text 6"/>
          <p:cNvSpPr txBox="1"/>
          <p:nvPr/>
        </p:nvSpPr>
        <p:spPr>
          <a:xfrm>
            <a:off x="7598664" y="2066544"/>
            <a:ext cx="3895344" cy="6583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Ingreso = tipo sobre el DISPUESTO + comisión sobre el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Exposición = dispuesto + CCF ×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Solo se fondea lo dispuesto; riesgo y capital van sobre la exposición.</a:t>
            </a:r>
            <a:endParaRPr lang="en-US" sz="850" dirty="0"/>
          </a:p>
        </p:txBody>
      </p:sp>
      <p:sp>
        <p:nvSpPr>
          <p:cNvPr id="11" name="Shape 7"/>
          <p:cNvSpPr/>
          <p:nvPr/>
        </p:nvSpPr>
        <p:spPr>
          <a:xfrm>
            <a:off x="7452360" y="2871216"/>
            <a:ext cx="4187952" cy="1188720"/>
          </a:xfrm>
          <a:prstGeom prst="roundRect">
            <a:avLst>
              <a:gd name="adj" fmla="val 3846"/>
            </a:avLst>
          </a:prstGeom>
          <a:solidFill>
            <a:srgbClr val="FFCCE8"/>
          </a:solidFill>
          <a:ln w="12700">
            <a:solidFill>
              <a:srgbClr val="FF8AC2"/>
            </a:solidFill>
            <a:prstDash val="solid"/>
          </a:ln>
        </p:spPr>
      </p:sp>
      <p:sp>
        <p:nvSpPr>
          <p:cNvPr id="12" name="Text 8"/>
          <p:cNvSpPr txBox="1"/>
          <p:nvPr/>
        </p:nvSpPr>
        <p:spPr>
          <a:xfrm>
            <a:off x="7598664" y="294436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es PYME: es total de empresas</a:t>
            </a:r>
            <a:endParaRPr lang="en-US" sz="1100" dirty="0"/>
          </a:p>
        </p:txBody>
      </p:sp>
      <p:sp>
        <p:nvSpPr>
          <p:cNvPr id="13" name="Text 9"/>
          <p:cNvSpPr txBox="1"/>
          <p:nvPr/>
        </p:nvSpPr>
        <p:spPr>
          <a:xfrm>
            <a:off x="7598664" y="3182112"/>
            <a:ext cx="3895344" cy="822960"/>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MIR no publica el circulante por tramo de importe, así que riesgo y capital se toman también del total de empresas para que el perímetro cierre: densidad de RWA del 63,9 % frente al 59,5 % de la cartera PYME en España. Con los parámetros de PYME el ROE se movería hasta 3 puntos (España 9,0 · Alemania 15,3 · Francia 0,9 · Italia 9,8 · Portugal 12,0 · P. Bajos 4,4 · Irlanda 9,9 %), pero eso mezclaría perímetros.</a:t>
            </a:r>
            <a:endParaRPr lang="en-US" sz="800" dirty="0"/>
          </a:p>
        </p:txBody>
      </p:sp>
      <p:sp>
        <p:nvSpPr>
          <p:cNvPr id="14" name="Shape 10"/>
          <p:cNvSpPr/>
          <p:nvPr/>
        </p:nvSpPr>
        <p:spPr>
          <a:xfrm>
            <a:off x="7452360" y="4151376"/>
            <a:ext cx="4187952" cy="1133856"/>
          </a:xfrm>
          <a:prstGeom prst="roundRect">
            <a:avLst>
              <a:gd name="adj" fmla="val 4032"/>
            </a:avLst>
          </a:prstGeom>
          <a:solidFill>
            <a:srgbClr val="FFD6BA"/>
          </a:solidFill>
          <a:ln w="12700">
            <a:solidFill>
              <a:srgbClr val="FFAB70"/>
            </a:solidFill>
            <a:prstDash val="solid"/>
          </a:ln>
        </p:spPr>
      </p:sp>
      <p:sp>
        <p:nvSpPr>
          <p:cNvPr id="15" name="Text 11"/>
          <p:cNvSpPr txBox="1"/>
          <p:nvPr/>
        </p:nvSpPr>
        <p:spPr>
          <a:xfrm>
            <a:off x="7598664" y="422452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neutral es el CCF por el margen</a:t>
            </a:r>
            <a:endParaRPr lang="en-US" sz="1100" dirty="0"/>
          </a:p>
        </p:txBody>
      </p:sp>
      <p:sp>
        <p:nvSpPr>
          <p:cNvPr id="16" name="Text 12"/>
          <p:cNvSpPr txBox="1"/>
          <p:nvPr/>
        </p:nvSpPr>
        <p:spPr>
          <a:xfrm>
            <a:off x="7598664" y="4462272"/>
            <a:ext cx="3895344"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Imponiendo que el ROE no dependa de la disposición sale f = CCF × (tipo − coste de los recursos). Por debajo de esa comisión, una línea poco dispuesta destruye ROE; por encima, lo crea. Va de 0,14 % en Países Bajos a 0,46 % en Irlanda.</a:t>
            </a:r>
            <a:endParaRPr lang="en-US" sz="800" dirty="0"/>
          </a:p>
        </p:txBody>
      </p:sp>
      <p:sp>
        <p:nvSpPr>
          <p:cNvPr id="17" name="Shape 13"/>
          <p:cNvSpPr/>
          <p:nvPr/>
        </p:nvSpPr>
        <p:spPr>
          <a:xfrm>
            <a:off x="7452360" y="5376672"/>
            <a:ext cx="4187952" cy="676656"/>
          </a:xfrm>
          <a:prstGeom prst="roundRect">
            <a:avLst>
              <a:gd name="adj" fmla="val 6757"/>
            </a:avLst>
          </a:prstGeom>
          <a:solidFill>
            <a:srgbClr val="E5E5E5"/>
          </a:solidFill>
          <a:ln w="12700">
            <a:solidFill>
              <a:srgbClr val="CACACA"/>
            </a:solidFill>
            <a:prstDash val="solid"/>
          </a:ln>
        </p:spPr>
      </p:sp>
      <p:sp>
        <p:nvSpPr>
          <p:cNvPr id="18" name="Text 14"/>
          <p:cNvSpPr txBox="1"/>
          <p:nvPr/>
        </p:nvSpPr>
        <p:spPr>
          <a:xfrm>
            <a:off x="7598664" y="5431536"/>
            <a:ext cx="3895344" cy="201168"/>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Dos huecos duros y un cambio regulatorio</a:t>
            </a:r>
            <a:endParaRPr lang="en-US" sz="1100" dirty="0"/>
          </a:p>
        </p:txBody>
      </p:sp>
      <p:sp>
        <p:nvSpPr>
          <p:cNvPr id="19" name="Text 15"/>
          <p:cNvSpPr txBox="1"/>
          <p:nvPr/>
        </p:nvSpPr>
        <p:spPr>
          <a:xfrm>
            <a:off x="7598664" y="5632704"/>
            <a:ext cx="3895344" cy="38404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Ni la comisión de disponibilidad ni la disposición las publica nadie. Y el CRR3 subió del 0 % al 10 % el factor de conversión del compromiso cancelable: al 40 % el ROE cae entre 1,1 y 2,5 puntos.</a:t>
            </a:r>
            <a:endParaRPr lang="en-US" sz="800" dirty="0"/>
          </a:p>
        </p:txBody>
      </p:sp>
      <p:sp>
        <p:nvSpPr>
          <p:cNvPr id="20" name="Text 1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Tipo del circulante del MIR (A2Z1, total de sociedades no financieras); coste del riesgo = PD × LGD de la clase IRB «Empresas, total» y densidad de RWA de la clase de exposición «Corporates» del Transparency Exercise, ambos del mismo perímetro que el precio; coste de los recursos, CET1, eficiencia y tipo impositivo, los mismos que usa el modelo del préstamo. La disposición y la comisión de disponibilidad son supuestos declarados: la rejilla muestra el efecto de moverlos. El coste del riesgo se aplica sobre la exposición, no solo sobre el dispuesto, que es como lo trata la NIIF 9 en compromisos.</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FCCE8"/>
          </a:solidFill>
          <a:ln w="12700">
            <a:solidFill>
              <a:srgbClr val="FF8AC2"/>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España: mercado, productos y competidores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demanda, lo que puede pagar, los productos y los cinco grandes bancos</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Qué pide la pyme española y qué le duele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Encuesta CESGAR a pymes · Resultados de 2025 · Porcentajes de EMPRESAS, no niveles de tipo ni volúmenes</a:t>
            </a:r>
            <a:endParaRPr lang="en-US" sz="1100" dirty="0"/>
          </a:p>
        </p:txBody>
      </p:sp>
      <p:graphicFrame>
        <p:nvGraphicFramePr>
          <p:cNvPr id="4" name="Chart 0" descr=""/>
          <p:cNvGraphicFramePr/>
          <p:nvPr/>
        </p:nvGraphicFramePr>
        <p:xfrm>
          <a:off x="548640" y="1810512"/>
          <a:ext cx="5532120" cy="2103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1572768"/>
            <a:ext cx="553212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Destino de la financiación</a:t>
            </a:r>
            <a:endParaRPr lang="en-US" sz="1150" dirty="0"/>
          </a:p>
        </p:txBody>
      </p:sp>
      <p:sp>
        <p:nvSpPr>
          <p:cNvPr id="6" name="Text 3"/>
          <p:cNvSpPr txBox="1"/>
          <p:nvPr/>
        </p:nvSpPr>
        <p:spPr>
          <a:xfrm>
            <a:off x="6263640" y="1572768"/>
            <a:ext cx="5559552"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Obstáculos encontrados</a:t>
            </a:r>
            <a:endParaRPr lang="en-US" sz="1150" dirty="0"/>
          </a:p>
        </p:txBody>
      </p:sp>
      <p:graphicFrame>
        <p:nvGraphicFramePr>
          <p:cNvPr id="7" name="Chart 1" descr=""/>
          <p:cNvGraphicFramePr/>
          <p:nvPr/>
        </p:nvGraphicFramePr>
        <p:xfrm>
          <a:off x="6263640" y="1810512"/>
          <a:ext cx="5559552" cy="210312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548640" y="4114800"/>
            <a:ext cx="2697480" cy="932688"/>
          </a:xfrm>
          <a:prstGeom prst="roundRect">
            <a:avLst>
              <a:gd name="adj" fmla="val 4902"/>
            </a:avLst>
          </a:prstGeom>
          <a:solidFill>
            <a:srgbClr val="E5E5E5"/>
          </a:solidFill>
          <a:ln w="12700">
            <a:solidFill>
              <a:srgbClr val="CACACA"/>
            </a:solidFill>
            <a:prstDash val="solid"/>
          </a:ln>
        </p:spPr>
      </p:sp>
      <p:sp>
        <p:nvSpPr>
          <p:cNvPr id="9" name="Text 5"/>
          <p:cNvSpPr txBox="1"/>
          <p:nvPr/>
        </p:nvSpPr>
        <p:spPr>
          <a:xfrm>
            <a:off x="676656"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51,2 %</a:t>
            </a:r>
            <a:endParaRPr lang="en-US" sz="1900" dirty="0"/>
          </a:p>
        </p:txBody>
      </p:sp>
      <p:sp>
        <p:nvSpPr>
          <p:cNvPr id="10" name="Text 6"/>
          <p:cNvSpPr txBox="1"/>
          <p:nvPr/>
        </p:nvSpPr>
        <p:spPr>
          <a:xfrm>
            <a:off x="676656"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Tuvo necesidad de financiar</a:t>
            </a:r>
            <a:endParaRPr lang="en-US" sz="950" dirty="0"/>
          </a:p>
        </p:txBody>
      </p:sp>
      <p:sp>
        <p:nvSpPr>
          <p:cNvPr id="11" name="Text 7"/>
          <p:cNvSpPr txBox="1"/>
          <p:nvPr/>
        </p:nvSpPr>
        <p:spPr>
          <a:xfrm>
            <a:off x="676656"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de las pymes españolas en 2025</a:t>
            </a:r>
            <a:endParaRPr lang="en-US" sz="800" dirty="0"/>
          </a:p>
        </p:txBody>
      </p:sp>
      <p:sp>
        <p:nvSpPr>
          <p:cNvPr id="12" name="Shape 8"/>
          <p:cNvSpPr/>
          <p:nvPr/>
        </p:nvSpPr>
        <p:spPr>
          <a:xfrm>
            <a:off x="3392424" y="4114800"/>
            <a:ext cx="2697480" cy="932688"/>
          </a:xfrm>
          <a:prstGeom prst="roundRect">
            <a:avLst>
              <a:gd name="adj" fmla="val 4902"/>
            </a:avLst>
          </a:prstGeom>
          <a:solidFill>
            <a:srgbClr val="E5E5E5"/>
          </a:solidFill>
          <a:ln w="12700">
            <a:solidFill>
              <a:srgbClr val="CACACA"/>
            </a:solidFill>
            <a:prstDash val="solid"/>
          </a:ln>
        </p:spPr>
      </p:sp>
      <p:sp>
        <p:nvSpPr>
          <p:cNvPr id="13" name="Text 9"/>
          <p:cNvSpPr txBox="1"/>
          <p:nvPr/>
        </p:nvSpPr>
        <p:spPr>
          <a:xfrm>
            <a:off x="3520440"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70,9 %</a:t>
            </a:r>
            <a:endParaRPr lang="en-US" sz="1900" dirty="0"/>
          </a:p>
        </p:txBody>
      </p:sp>
      <p:sp>
        <p:nvSpPr>
          <p:cNvPr id="14" name="Text 10"/>
          <p:cNvSpPr txBox="1"/>
          <p:nvPr/>
        </p:nvSpPr>
        <p:spPr>
          <a:xfrm>
            <a:off x="3520440"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Acudió al banco</a:t>
            </a:r>
            <a:endParaRPr lang="en-US" sz="950" dirty="0"/>
          </a:p>
        </p:txBody>
      </p:sp>
      <p:sp>
        <p:nvSpPr>
          <p:cNvPr id="15" name="Text 11"/>
          <p:cNvSpPr txBox="1"/>
          <p:nvPr/>
        </p:nvSpPr>
        <p:spPr>
          <a:xfrm>
            <a:off x="3520440"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bajando desde 76,5 % en 2024</a:t>
            </a:r>
            <a:endParaRPr lang="en-US" sz="800" dirty="0"/>
          </a:p>
        </p:txBody>
      </p:sp>
      <p:sp>
        <p:nvSpPr>
          <p:cNvPr id="16" name="Shape 12"/>
          <p:cNvSpPr/>
          <p:nvPr/>
        </p:nvSpPr>
        <p:spPr>
          <a:xfrm>
            <a:off x="6236208" y="4114800"/>
            <a:ext cx="2697480" cy="932688"/>
          </a:xfrm>
          <a:prstGeom prst="roundRect">
            <a:avLst>
              <a:gd name="adj" fmla="val 4902"/>
            </a:avLst>
          </a:prstGeom>
          <a:solidFill>
            <a:srgbClr val="E5E5E5"/>
          </a:solidFill>
          <a:ln w="12700">
            <a:solidFill>
              <a:srgbClr val="CACACA"/>
            </a:solidFill>
            <a:prstDash val="solid"/>
          </a:ln>
        </p:spPr>
      </p:sp>
      <p:sp>
        <p:nvSpPr>
          <p:cNvPr id="17" name="Text 13"/>
          <p:cNvSpPr txBox="1"/>
          <p:nvPr/>
        </p:nvSpPr>
        <p:spPr>
          <a:xfrm>
            <a:off x="6364224"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92,8 %</a:t>
            </a:r>
            <a:endParaRPr lang="en-US" sz="1900" dirty="0"/>
          </a:p>
        </p:txBody>
      </p:sp>
      <p:sp>
        <p:nvSpPr>
          <p:cNvPr id="18" name="Text 14"/>
          <p:cNvSpPr txBox="1"/>
          <p:nvPr/>
        </p:nvSpPr>
        <p:spPr>
          <a:xfrm>
            <a:off x="6364224"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Obtuvo y aceptó</a:t>
            </a:r>
            <a:endParaRPr lang="en-US" sz="950" dirty="0"/>
          </a:p>
        </p:txBody>
      </p:sp>
      <p:sp>
        <p:nvSpPr>
          <p:cNvPr id="19" name="Text 15"/>
          <p:cNvSpPr txBox="1"/>
          <p:nvPr/>
        </p:nvSpPr>
        <p:spPr>
          <a:xfrm>
            <a:off x="6364224"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máximo de los últimos tres años</a:t>
            </a:r>
            <a:endParaRPr lang="en-US" sz="800" dirty="0"/>
          </a:p>
        </p:txBody>
      </p:sp>
      <p:sp>
        <p:nvSpPr>
          <p:cNvPr id="20" name="Shape 16"/>
          <p:cNvSpPr/>
          <p:nvPr/>
        </p:nvSpPr>
        <p:spPr>
          <a:xfrm>
            <a:off x="9079992" y="4114800"/>
            <a:ext cx="2697480" cy="932688"/>
          </a:xfrm>
          <a:prstGeom prst="roundRect">
            <a:avLst>
              <a:gd name="adj" fmla="val 4902"/>
            </a:avLst>
          </a:prstGeom>
          <a:solidFill>
            <a:srgbClr val="E5E5E5"/>
          </a:solidFill>
          <a:ln w="12700">
            <a:solidFill>
              <a:srgbClr val="CACACA"/>
            </a:solidFill>
            <a:prstDash val="solid"/>
          </a:ln>
        </p:spPr>
      </p:sp>
      <p:sp>
        <p:nvSpPr>
          <p:cNvPr id="21" name="Text 17"/>
          <p:cNvSpPr txBox="1"/>
          <p:nvPr/>
        </p:nvSpPr>
        <p:spPr>
          <a:xfrm>
            <a:off x="9208008"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3,2 %</a:t>
            </a:r>
            <a:endParaRPr lang="en-US" sz="1900" dirty="0"/>
          </a:p>
        </p:txBody>
      </p:sp>
      <p:sp>
        <p:nvSpPr>
          <p:cNvPr id="22" name="Text 18"/>
          <p:cNvSpPr txBox="1"/>
          <p:nvPr/>
        </p:nvSpPr>
        <p:spPr>
          <a:xfrm>
            <a:off x="9208008"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No se le concedió</a:t>
            </a:r>
            <a:endParaRPr lang="en-US" sz="950" dirty="0"/>
          </a:p>
        </p:txBody>
      </p:sp>
      <p:sp>
        <p:nvSpPr>
          <p:cNvPr id="23" name="Text 19"/>
          <p:cNvSpPr txBox="1"/>
          <p:nvPr/>
        </p:nvSpPr>
        <p:spPr>
          <a:xfrm>
            <a:off x="9208008"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más un 2,7 % que rechazó las condiciones</a:t>
            </a:r>
            <a:endParaRPr lang="en-US" sz="800" dirty="0"/>
          </a:p>
        </p:txBody>
      </p:sp>
      <p:sp>
        <p:nvSpPr>
          <p:cNvPr id="24" name="Shape 20"/>
          <p:cNvSpPr/>
          <p:nvPr/>
        </p:nvSpPr>
        <p:spPr>
          <a:xfrm>
            <a:off x="548640" y="5175504"/>
            <a:ext cx="11091672" cy="877824"/>
          </a:xfrm>
          <a:prstGeom prst="roundRect">
            <a:avLst>
              <a:gd name="adj" fmla="val 5208"/>
            </a:avLst>
          </a:prstGeom>
          <a:solidFill>
            <a:srgbClr val="FFD6BA"/>
          </a:solidFill>
          <a:ln w="12700">
            <a:solidFill>
              <a:srgbClr val="FFAB70"/>
            </a:solidFill>
            <a:prstDash val="solid"/>
          </a:ln>
        </p:spPr>
      </p:sp>
      <p:sp>
        <p:nvSpPr>
          <p:cNvPr id="25" name="Text 21"/>
          <p:cNvSpPr txBox="1"/>
          <p:nvPr/>
        </p:nvSpPr>
        <p:spPr>
          <a:xfrm>
            <a:off x="694944" y="5248656"/>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precio es el obstáculo, y el destino es el circulante</a:t>
            </a:r>
            <a:endParaRPr lang="en-US" sz="1150" dirty="0"/>
          </a:p>
        </p:txBody>
      </p:sp>
      <p:sp>
        <p:nvSpPr>
          <p:cNvPr id="26" name="Text 22"/>
          <p:cNvSpPr txBox="1"/>
          <p:nvPr/>
        </p:nvSpPr>
        <p:spPr>
          <a:xfrm>
            <a:off x="694944" y="5486400"/>
            <a:ext cx="10789920"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73,0 % de las pymes que necesitan financiación la quiere para circulante, frente al 64,6 % de 2024: es el uso que más crece y el producto cuyo precio peor se conoce. Entre las que sí ven obstáculos, el primero es el precio (21,6 %), muy por delante de la falta de comprensión del negocio por la entidad (10,5 %). El crédito se concede: el problema no es el acceso, es a cuánto.</a:t>
            </a:r>
            <a:endParaRPr lang="en-US" sz="900" dirty="0"/>
          </a:p>
        </p:txBody>
      </p:sp>
      <p:sp>
        <p:nvSpPr>
          <p:cNvPr id="27" name="Text 23"/>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CESGAR, XV Informe «La financiación de la pyme en España», resultados anuales de 2025, elaborado con Abay Analistas Económicos. Gráficos 9, 10, 13, 17 y 18. Son porcentajes de empresas encuestadas: no deben agregarse ni compararse con los niveles de tipo del MIR ni con volúmenes. Los porcentajes de destino y de uso de productos no suman 100 porque una misma empresa puede señalar varios.</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Cuánto puede pagar una pyme: el techo del precio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Central de Balances del Banco de España · Ejercicio 2024 · Clasificación por tamaño de la Recomendación 2003/361/CE</a:t>
            </a:r>
            <a:endParaRPr lang="en-US" sz="1100" dirty="0"/>
          </a:p>
        </p:txBody>
      </p:sp>
      <p:graphicFrame>
        <p:nvGraphicFramePr>
          <p:cNvPr id="4" name="Chart 0" descr=""/>
          <p:cNvGraphicFramePr/>
          <p:nvPr/>
        </p:nvGraphicFramePr>
        <p:xfrm>
          <a:off x="548640" y="1810512"/>
          <a:ext cx="635508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4773168"/>
          <a:ext cx="6355080" cy="914400"/>
        </p:xfrm>
        <a:graphic>
          <a:graphicData uri="http://schemas.openxmlformats.org/drawingml/2006/table">
            <a:tbl>
              <a:tblPr/>
              <a:tblGrid>
                <a:gridCol w="2788920"/>
                <a:gridCol w="1188720"/>
                <a:gridCol w="1188720"/>
                <a:gridCol w="1188720"/>
              </a:tblGrid>
              <a:tr h="246888">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Pequeñas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Medianas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Grandes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del activo (R.1)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pagado por la deuda (R.2)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Colchón, R.1 − R.2 (R.4)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 recursos propios (R.3)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Margen de explotación (R.5)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6" name="Shape 2"/>
          <p:cNvSpPr/>
          <p:nvPr/>
        </p:nvSpPr>
        <p:spPr>
          <a:xfrm>
            <a:off x="7086600" y="1810512"/>
            <a:ext cx="4553712" cy="1444752"/>
          </a:xfrm>
          <a:prstGeom prst="roundRect">
            <a:avLst>
              <a:gd name="adj" fmla="val 3165"/>
            </a:avLst>
          </a:prstGeom>
          <a:solidFill>
            <a:srgbClr val="FFD6BA"/>
          </a:solidFill>
          <a:ln w="12700">
            <a:solidFill>
              <a:srgbClr val="FFAB70"/>
            </a:solidFill>
            <a:prstDash val="solid"/>
          </a:ln>
        </p:spPr>
      </p:sp>
      <p:sp>
        <p:nvSpPr>
          <p:cNvPr id="7" name="Text 3"/>
          <p:cNvSpPr txBox="1"/>
          <p:nvPr/>
        </p:nvSpPr>
        <p:spPr>
          <a:xfrm>
            <a:off x="7232904" y="1883664"/>
            <a:ext cx="426110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pequeña tiene 2,1 puntos de colchón</a:t>
            </a:r>
            <a:endParaRPr lang="en-US" sz="1150" dirty="0"/>
          </a:p>
        </p:txBody>
      </p:sp>
      <p:sp>
        <p:nvSpPr>
          <p:cNvPr id="8" name="Text 4"/>
          <p:cNvSpPr txBox="1"/>
          <p:nvPr/>
        </p:nvSpPr>
        <p:spPr>
          <a:xfrm>
            <a:off x="7232904" y="2121408"/>
            <a:ext cx="4261104" cy="106070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Gana un 5,4 % con su activo y paga un 3,3 % por su deuda. Ese margen de 2,1 puntos es el techo: si el precio del crédito sube por encima, endeudarse deja de crear valor para el cliente y la demanda se corta sola. La mediana tiene 6,1 puntos, casi el triple de recorrido.</a:t>
            </a:r>
            <a:endParaRPr lang="en-US" sz="900" dirty="0"/>
          </a:p>
        </p:txBody>
      </p:sp>
      <p:sp>
        <p:nvSpPr>
          <p:cNvPr id="9" name="Shape 5"/>
          <p:cNvSpPr/>
          <p:nvPr/>
        </p:nvSpPr>
        <p:spPr>
          <a:xfrm>
            <a:off x="7086600" y="3346704"/>
            <a:ext cx="4553712" cy="1298448"/>
          </a:xfrm>
          <a:prstGeom prst="roundRect">
            <a:avLst>
              <a:gd name="adj" fmla="val 3521"/>
            </a:avLst>
          </a:prstGeom>
          <a:solidFill>
            <a:srgbClr val="C7E3F9"/>
          </a:solidFill>
          <a:ln w="12700">
            <a:solidFill>
              <a:srgbClr val="77BFEE"/>
            </a:solidFill>
            <a:prstDash val="solid"/>
          </a:ln>
        </p:spPr>
      </p:sp>
      <p:sp>
        <p:nvSpPr>
          <p:cNvPr id="10" name="Text 6"/>
          <p:cNvSpPr txBox="1"/>
          <p:nvPr/>
        </p:nvSpPr>
        <p:spPr>
          <a:xfrm>
            <a:off x="7232904" y="3419856"/>
            <a:ext cx="426110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valida el precio por otra vía</a:t>
            </a:r>
            <a:endParaRPr lang="en-US" sz="1150" dirty="0"/>
          </a:p>
        </p:txBody>
      </p:sp>
      <p:sp>
        <p:nvSpPr>
          <p:cNvPr id="11" name="Text 7"/>
          <p:cNvSpPr txBox="1"/>
          <p:nvPr/>
        </p:nvSpPr>
        <p:spPr>
          <a:xfrm>
            <a:off x="7232904" y="3657600"/>
            <a:ext cx="4261104" cy="9144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3,3 % que paga la empresa pequeña es muy cercano al 3,41 % del tramo ≤1 M€ del MIR que usa el modelo. No son lo mismo —el MIR es nueva producción y esto es el coste medio del saldo vivo— pero que dos fuentes independientes den lo mismo es la mejor validación que tiene el deck.</a:t>
            </a:r>
            <a:endParaRPr lang="en-US" sz="900" dirty="0"/>
          </a:p>
        </p:txBody>
      </p:sp>
      <p:sp>
        <p:nvSpPr>
          <p:cNvPr id="12" name="Shape 8"/>
          <p:cNvSpPr/>
          <p:nvPr/>
        </p:nvSpPr>
        <p:spPr>
          <a:xfrm>
            <a:off x="7086600" y="4736592"/>
            <a:ext cx="4553712" cy="1316736"/>
          </a:xfrm>
          <a:prstGeom prst="roundRect">
            <a:avLst>
              <a:gd name="adj" fmla="val 3472"/>
            </a:avLst>
          </a:prstGeom>
          <a:solidFill>
            <a:srgbClr val="E5E5E5"/>
          </a:solidFill>
          <a:ln w="12700">
            <a:solidFill>
              <a:srgbClr val="CACACA"/>
            </a:solidFill>
            <a:prstDash val="solid"/>
          </a:ln>
        </p:spPr>
      </p:sp>
      <p:sp>
        <p:nvSpPr>
          <p:cNvPr id="13" name="Text 9"/>
          <p:cNvSpPr txBox="1"/>
          <p:nvPr/>
        </p:nvSpPr>
        <p:spPr>
          <a:xfrm>
            <a:off x="7232904" y="4809744"/>
            <a:ext cx="426110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Lo que no encaja</a:t>
            </a:r>
            <a:endParaRPr lang="en-US" sz="1150" dirty="0"/>
          </a:p>
        </p:txBody>
      </p:sp>
      <p:sp>
        <p:nvSpPr>
          <p:cNvPr id="14" name="Text 10"/>
          <p:cNvSpPr txBox="1"/>
          <p:nvPr/>
        </p:nvSpPr>
        <p:spPr>
          <a:xfrm>
            <a:off x="7232904" y="5047488"/>
            <a:ext cx="4261104" cy="93268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pequeña paga MENOS que la mediana (3,3 % frente a 4,4 %), al revés de lo que dice el riesgo. La Central de Balances no lo explica; las hipótesis razonables son más peso de deuda antigua a tipo fijo y más financiación ICO o avalada. Queda como observación, no como conclusión.</a:t>
            </a:r>
            <a:endParaRPr lang="en-US" sz="900" dirty="0"/>
          </a:p>
        </p:txBody>
      </p:sp>
      <p:sp>
        <p:nvSpPr>
          <p:cNvPr id="15" name="Text 11"/>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Central de Balances Integrada, conjunto cal_ucb_cbl002, ratios R.1 a R.5 del ejercicio 2024. Más de un millón de empresas. R.2 es el tipo efectivamente pagado sobre el saldo de recursos ajenos con coste, no el de nueva producción. El colchón de la empresa pequeña ha ido de −0,2 puntos en 2015 a 2,1 en 2024.</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FD6BA"/>
          </a:solidFill>
          <a:ln w="12700">
            <a:solidFill>
              <a:srgbClr val="FFAB7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autónomo paga 115 pb más que la sociedad pequeña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empresario individual es sector HOGARES en el SEC 2010, así que queda fuera de todas las series de sociedades no financieras · España · Media 2026</a:t>
            </a:r>
            <a:endParaRPr lang="en-US" sz="1100" dirty="0"/>
          </a:p>
        </p:txBody>
      </p:sp>
      <p:graphicFrame>
        <p:nvGraphicFramePr>
          <p:cNvPr id="4" name="Chart 0" descr=""/>
          <p:cNvGraphicFramePr/>
          <p:nvPr/>
        </p:nvGraphicFramePr>
        <p:xfrm>
          <a:off x="548640" y="1755648"/>
          <a:ext cx="6675120" cy="3017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791456"/>
            <a:ext cx="6675120" cy="256032"/>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Cuadro 19.4 del Boletín, serie 16 (autónomos) y cuadro 19.5, series 3, 7 y 11 (sociedades). Todos son TEDR, sin comisiones.</a:t>
            </a:r>
            <a:endParaRPr lang="en-US" sz="750" dirty="0"/>
          </a:p>
        </p:txBody>
      </p:sp>
      <p:sp>
        <p:nvSpPr>
          <p:cNvPr id="6" name="Shape 3"/>
          <p:cNvSpPr/>
          <p:nvPr/>
        </p:nvSpPr>
        <p:spPr>
          <a:xfrm>
            <a:off x="548640" y="5084064"/>
            <a:ext cx="6675120" cy="969264"/>
          </a:xfrm>
          <a:prstGeom prst="roundRect">
            <a:avLst>
              <a:gd name="adj" fmla="val 4717"/>
            </a:avLst>
          </a:prstGeom>
          <a:solidFill>
            <a:srgbClr val="FFD6BA"/>
          </a:solidFill>
          <a:ln w="12700">
            <a:solidFill>
              <a:srgbClr val="FFAB70"/>
            </a:solidFill>
            <a:prstDash val="solid"/>
          </a:ln>
        </p:spPr>
      </p:sp>
      <p:sp>
        <p:nvSpPr>
          <p:cNvPr id="7" name="Text 4"/>
          <p:cNvSpPr txBox="1"/>
          <p:nvPr/>
        </p:nvSpPr>
        <p:spPr>
          <a:xfrm>
            <a:off x="694944" y="5157216"/>
            <a:ext cx="640080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modelo se queda corto en el micro</a:t>
            </a:r>
            <a:endParaRPr lang="en-US" sz="1100" dirty="0"/>
          </a:p>
        </p:txBody>
      </p:sp>
      <p:sp>
        <p:nvSpPr>
          <p:cNvPr id="8" name="Text 5"/>
          <p:cNvSpPr txBox="1"/>
          <p:nvPr/>
        </p:nvSpPr>
        <p:spPr>
          <a:xfrm>
            <a:off x="694944" y="5394960"/>
            <a:ext cx="6400800" cy="58521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precio que usa el modelo es el 3,41 % del tramo ≤1 M€ de sociedades. La financiación empresarial al autónomo se cobra al 4,57 %: 115 pb por encima del tramo ≤0,25 M€. Para el segmento más pequeño, el modelo infravalora el precio.</a:t>
            </a:r>
            <a:endParaRPr lang="en-US" sz="850" dirty="0"/>
          </a:p>
        </p:txBody>
      </p:sp>
      <p:sp>
        <p:nvSpPr>
          <p:cNvPr id="9" name="Shape 6"/>
          <p:cNvSpPr/>
          <p:nvPr/>
        </p:nvSpPr>
        <p:spPr>
          <a:xfrm>
            <a:off x="7406640" y="1755648"/>
            <a:ext cx="4233672" cy="1335024"/>
          </a:xfrm>
          <a:prstGeom prst="roundRect">
            <a:avLst>
              <a:gd name="adj" fmla="val 3425"/>
            </a:avLst>
          </a:prstGeom>
          <a:solidFill>
            <a:srgbClr val="C7E3F9"/>
          </a:solidFill>
          <a:ln w="12700">
            <a:solidFill>
              <a:srgbClr val="77BFEE"/>
            </a:solidFill>
            <a:prstDash val="solid"/>
          </a:ln>
        </p:spPr>
      </p:sp>
      <p:sp>
        <p:nvSpPr>
          <p:cNvPr id="10" name="Text 7"/>
          <p:cNvSpPr txBox="1"/>
          <p:nvPr/>
        </p:nvSpPr>
        <p:spPr>
          <a:xfrm>
            <a:off x="7552944" y="1828800"/>
            <a:ext cx="39410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Por qué no estaba en el análisis</a:t>
            </a:r>
            <a:endParaRPr lang="en-US" sz="1100" dirty="0"/>
          </a:p>
        </p:txBody>
      </p:sp>
      <p:sp>
        <p:nvSpPr>
          <p:cNvPr id="11" name="Text 8"/>
          <p:cNvSpPr txBox="1"/>
          <p:nvPr/>
        </p:nvSpPr>
        <p:spPr>
          <a:xfrm>
            <a:off x="7552944" y="2066544"/>
            <a:ext cx="3941064" cy="95097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SEC 2010 clasifica al empresario individual en el sector HOGARES (S.14), no en sociedades no financieras. Todo el crédito a autónomos queda por tanto fuera del dataset MIR de empresas, que es la espina dorsal del deck. La SAFE, en cambio, sí los cuenta como PYME: segmenta por empleados.</a:t>
            </a:r>
            <a:endParaRPr lang="en-US" sz="850" dirty="0"/>
          </a:p>
        </p:txBody>
      </p:sp>
      <p:sp>
        <p:nvSpPr>
          <p:cNvPr id="12" name="Shape 9"/>
          <p:cNvSpPr/>
          <p:nvPr/>
        </p:nvSpPr>
        <p:spPr>
          <a:xfrm>
            <a:off x="7406640" y="3182112"/>
            <a:ext cx="4233672" cy="1188720"/>
          </a:xfrm>
          <a:prstGeom prst="roundRect">
            <a:avLst>
              <a:gd name="adj" fmla="val 3846"/>
            </a:avLst>
          </a:prstGeom>
          <a:solidFill>
            <a:srgbClr val="E5E5E5"/>
          </a:solidFill>
          <a:ln w="12700">
            <a:solidFill>
              <a:srgbClr val="CACACA"/>
            </a:solidFill>
            <a:prstDash val="solid"/>
          </a:ln>
        </p:spPr>
      </p:sp>
      <p:sp>
        <p:nvSpPr>
          <p:cNvPr id="13" name="Text 10"/>
          <p:cNvSpPr txBox="1"/>
          <p:nvPr/>
        </p:nvSpPr>
        <p:spPr>
          <a:xfrm>
            <a:off x="7552944" y="3255264"/>
            <a:ext cx="39410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Cuánto pesa</a:t>
            </a:r>
            <a:endParaRPr lang="en-US" sz="1100" dirty="0"/>
          </a:p>
        </p:txBody>
      </p:sp>
      <p:sp>
        <p:nvSpPr>
          <p:cNvPr id="14" name="Text 11"/>
          <p:cNvSpPr txBox="1"/>
          <p:nvPr/>
        </p:nvSpPr>
        <p:spPr>
          <a:xfrm>
            <a:off x="7552944" y="3493008"/>
            <a:ext cx="3941064" cy="804672"/>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840 M€ al mes de nueva producción, frente a 15.111 M€ del tramo ≤0,25 M€ de sociedades. Es el 5 % del conjunto: no cambia el agregado, pero sí la lectura del segmento micro.</a:t>
            </a:r>
            <a:endParaRPr lang="en-US" sz="850" dirty="0"/>
          </a:p>
        </p:txBody>
      </p:sp>
      <p:sp>
        <p:nvSpPr>
          <p:cNvPr id="15" name="Shape 12"/>
          <p:cNvSpPr/>
          <p:nvPr/>
        </p:nvSpPr>
        <p:spPr>
          <a:xfrm>
            <a:off x="7406640" y="4462272"/>
            <a:ext cx="4233672" cy="1591056"/>
          </a:xfrm>
          <a:prstGeom prst="roundRect">
            <a:avLst>
              <a:gd name="adj" fmla="val 2874"/>
            </a:avLst>
          </a:prstGeom>
          <a:solidFill>
            <a:srgbClr val="FFCCE8"/>
          </a:solidFill>
          <a:ln w="12700">
            <a:solidFill>
              <a:srgbClr val="FF8AC2"/>
            </a:solidFill>
            <a:prstDash val="solid"/>
          </a:ln>
        </p:spPr>
      </p:sp>
      <p:sp>
        <p:nvSpPr>
          <p:cNvPr id="16" name="Text 13"/>
          <p:cNvSpPr txBox="1"/>
          <p:nvPr/>
        </p:nvSpPr>
        <p:spPr>
          <a:xfrm>
            <a:off x="7552944" y="4535424"/>
            <a:ext cx="39410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 que sigue sin existir</a:t>
            </a:r>
            <a:endParaRPr lang="en-US" sz="1100" dirty="0"/>
          </a:p>
        </p:txBody>
      </p:sp>
      <p:sp>
        <p:nvSpPr>
          <p:cNvPr id="17" name="Text 14"/>
          <p:cNvSpPr txBox="1"/>
          <p:nvPr/>
        </p:nvSpPr>
        <p:spPr>
          <a:xfrm>
            <a:off x="7552944" y="4773168"/>
            <a:ext cx="3941064" cy="120700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Boletín no publica TAE de autónomos. La única cuña cercana es la de hogares para otros fines, 59 pb (TAE 5,05 % contra TEDR 4,46 %), pero es de TODOS los hogares, no solo de empresarios. Y nada de esto está por entidad: la publicación por banco del Banco de España se apoya en la Circular 5/2012, que cubre comisiones de servicios y descubiertos de personas físicas, no precios de préstamo.</a:t>
            </a:r>
            <a:endParaRPr lang="en-US" sz="800" dirty="0"/>
          </a:p>
        </p:txBody>
      </p:sp>
      <p:sp>
        <p:nvSpPr>
          <p:cNvPr id="18" name="Text 1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capítulo 19. Autónomos: cuadro 19.4 serie 16, media 2026 ponderada por el volumen del cuadro 19.12 serie 16; el desglose hasta 1 año (serie 17) no tiene volumen publicado, así que su media es simple. Sociedades: cuadro 19.5, medias ponderadas por el cuadro 19.13. Todos los tipos son TEDR, es decir sin comisiones, de modo que la comparación entre autónomo y sociedad es homogénea en ese sentido.</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circulante en España: el producto más pedido y el peor medido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Serie A2Z1 del BCE validada contra el Boletín del Banco de España · Media 2026</a:t>
            </a:r>
            <a:endParaRPr lang="en-US" sz="1100" dirty="0"/>
          </a:p>
        </p:txBody>
      </p:sp>
      <p:sp>
        <p:nvSpPr>
          <p:cNvPr id="4" name="Shape 2"/>
          <p:cNvSpPr/>
          <p:nvPr/>
        </p:nvSpPr>
        <p:spPr>
          <a:xfrm>
            <a:off x="548640" y="1737360"/>
            <a:ext cx="2697480" cy="987552"/>
          </a:xfrm>
          <a:prstGeom prst="roundRect">
            <a:avLst>
              <a:gd name="adj" fmla="val 4630"/>
            </a:avLst>
          </a:prstGeom>
          <a:solidFill>
            <a:srgbClr val="E5E5E5"/>
          </a:solidFill>
          <a:ln w="12700">
            <a:solidFill>
              <a:srgbClr val="CACACA"/>
            </a:solidFill>
            <a:prstDash val="solid"/>
          </a:ln>
        </p:spPr>
      </p:sp>
      <p:sp>
        <p:nvSpPr>
          <p:cNvPr id="5" name="Text 3"/>
          <p:cNvSpPr txBox="1"/>
          <p:nvPr/>
        </p:nvSpPr>
        <p:spPr>
          <a:xfrm>
            <a:off x="676656"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3,58 %</a:t>
            </a:r>
            <a:endParaRPr lang="en-US" sz="2000" dirty="0"/>
          </a:p>
        </p:txBody>
      </p:sp>
      <p:sp>
        <p:nvSpPr>
          <p:cNvPr id="6" name="Text 4"/>
          <p:cNvSpPr txBox="1"/>
          <p:nvPr/>
        </p:nvSpPr>
        <p:spPr>
          <a:xfrm>
            <a:off x="676656"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Tipo del circulante</a:t>
            </a:r>
            <a:endParaRPr lang="en-US" sz="950" dirty="0"/>
          </a:p>
        </p:txBody>
      </p:sp>
      <p:sp>
        <p:nvSpPr>
          <p:cNvPr id="7" name="Text 5"/>
          <p:cNvSpPr txBox="1"/>
          <p:nvPr/>
        </p:nvSpPr>
        <p:spPr>
          <a:xfrm>
            <a:off x="676656"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BCE y Banco de España dan el mismo dato</a:t>
            </a:r>
            <a:endParaRPr lang="en-US" sz="800" dirty="0"/>
          </a:p>
        </p:txBody>
      </p:sp>
      <p:sp>
        <p:nvSpPr>
          <p:cNvPr id="8" name="Shape 6"/>
          <p:cNvSpPr/>
          <p:nvPr/>
        </p:nvSpPr>
        <p:spPr>
          <a:xfrm>
            <a:off x="3392424" y="1737360"/>
            <a:ext cx="2697480" cy="987552"/>
          </a:xfrm>
          <a:prstGeom prst="roundRect">
            <a:avLst>
              <a:gd name="adj" fmla="val 4630"/>
            </a:avLst>
          </a:prstGeom>
          <a:solidFill>
            <a:srgbClr val="E5E5E5"/>
          </a:solidFill>
          <a:ln w="12700">
            <a:solidFill>
              <a:srgbClr val="CACACA"/>
            </a:solidFill>
            <a:prstDash val="solid"/>
          </a:ln>
        </p:spPr>
      </p:sp>
      <p:sp>
        <p:nvSpPr>
          <p:cNvPr id="9" name="Text 7"/>
          <p:cNvSpPr txBox="1"/>
          <p:nvPr/>
        </p:nvSpPr>
        <p:spPr>
          <a:xfrm>
            <a:off x="3520440"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57.933 M€</a:t>
            </a:r>
            <a:endParaRPr lang="en-US" sz="2000" dirty="0"/>
          </a:p>
        </p:txBody>
      </p:sp>
      <p:sp>
        <p:nvSpPr>
          <p:cNvPr id="10" name="Text 8"/>
          <p:cNvSpPr txBox="1"/>
          <p:nvPr/>
        </p:nvSpPr>
        <p:spPr>
          <a:xfrm>
            <a:off x="3520440"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Saldo vivo en España</a:t>
            </a:r>
            <a:endParaRPr lang="en-US" sz="950" dirty="0"/>
          </a:p>
        </p:txBody>
      </p:sp>
      <p:sp>
        <p:nvSpPr>
          <p:cNvPr id="11" name="Text 9"/>
          <p:cNvSpPr txBox="1"/>
          <p:nvPr/>
        </p:nvSpPr>
        <p:spPr>
          <a:xfrm>
            <a:off x="3520440"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único volumen por país que existe</a:t>
            </a:r>
            <a:endParaRPr lang="en-US" sz="800" dirty="0"/>
          </a:p>
        </p:txBody>
      </p:sp>
      <p:sp>
        <p:nvSpPr>
          <p:cNvPr id="12" name="Shape 10"/>
          <p:cNvSpPr/>
          <p:nvPr/>
        </p:nvSpPr>
        <p:spPr>
          <a:xfrm>
            <a:off x="6236208" y="1737360"/>
            <a:ext cx="2697480" cy="987552"/>
          </a:xfrm>
          <a:prstGeom prst="roundRect">
            <a:avLst>
              <a:gd name="adj" fmla="val 4630"/>
            </a:avLst>
          </a:prstGeom>
          <a:solidFill>
            <a:srgbClr val="E5E5E5"/>
          </a:solidFill>
          <a:ln w="12700">
            <a:solidFill>
              <a:srgbClr val="CACACA"/>
            </a:solidFill>
            <a:prstDash val="solid"/>
          </a:ln>
        </p:spPr>
      </p:sp>
      <p:sp>
        <p:nvSpPr>
          <p:cNvPr id="13" name="Text 11"/>
          <p:cNvSpPr txBox="1"/>
          <p:nvPr/>
        </p:nvSpPr>
        <p:spPr>
          <a:xfrm>
            <a:off x="6364224"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73,0 %</a:t>
            </a:r>
            <a:endParaRPr lang="en-US" sz="2000" dirty="0"/>
          </a:p>
        </p:txBody>
      </p:sp>
      <p:sp>
        <p:nvSpPr>
          <p:cNvPr id="14" name="Text 12"/>
          <p:cNvSpPr txBox="1"/>
          <p:nvPr/>
        </p:nvSpPr>
        <p:spPr>
          <a:xfrm>
            <a:off x="6364224"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De las pymes lo pide</a:t>
            </a:r>
            <a:endParaRPr lang="en-US" sz="950" dirty="0"/>
          </a:p>
        </p:txBody>
      </p:sp>
      <p:sp>
        <p:nvSpPr>
          <p:cNvPr id="15" name="Text 13"/>
          <p:cNvSpPr txBox="1"/>
          <p:nvPr/>
        </p:nvSpPr>
        <p:spPr>
          <a:xfrm>
            <a:off x="6364224"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para circulante, frente al 64,6 % de 2024</a:t>
            </a:r>
            <a:endParaRPr lang="en-US" sz="800" dirty="0"/>
          </a:p>
        </p:txBody>
      </p:sp>
      <p:sp>
        <p:nvSpPr>
          <p:cNvPr id="16" name="Shape 14"/>
          <p:cNvSpPr/>
          <p:nvPr/>
        </p:nvSpPr>
        <p:spPr>
          <a:xfrm>
            <a:off x="9079992" y="1737360"/>
            <a:ext cx="2697480" cy="987552"/>
          </a:xfrm>
          <a:prstGeom prst="roundRect">
            <a:avLst>
              <a:gd name="adj" fmla="val 4630"/>
            </a:avLst>
          </a:prstGeom>
          <a:solidFill>
            <a:srgbClr val="E5E5E5"/>
          </a:solidFill>
          <a:ln w="12700">
            <a:solidFill>
              <a:srgbClr val="CACACA"/>
            </a:solidFill>
            <a:prstDash val="solid"/>
          </a:ln>
        </p:spPr>
      </p:sp>
      <p:sp>
        <p:nvSpPr>
          <p:cNvPr id="17" name="Text 15"/>
          <p:cNvSpPr txBox="1"/>
          <p:nvPr/>
        </p:nvSpPr>
        <p:spPr>
          <a:xfrm>
            <a:off x="9208008"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22 %</a:t>
            </a:r>
            <a:endParaRPr lang="en-US" sz="2000" dirty="0"/>
          </a:p>
        </p:txBody>
      </p:sp>
      <p:sp>
        <p:nvSpPr>
          <p:cNvPr id="18" name="Text 16"/>
          <p:cNvSpPr txBox="1"/>
          <p:nvPr/>
        </p:nvSpPr>
        <p:spPr>
          <a:xfrm>
            <a:off x="9208008"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Usa línea de crédito</a:t>
            </a:r>
            <a:endParaRPr lang="en-US" sz="950" dirty="0"/>
          </a:p>
        </p:txBody>
      </p:sp>
      <p:sp>
        <p:nvSpPr>
          <p:cNvPr id="19" name="Text 17"/>
          <p:cNvSpPr txBox="1"/>
          <p:nvPr/>
        </p:nvSpPr>
        <p:spPr>
          <a:xfrm>
            <a:off x="9208008"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el instrumento más utilizado, junto al préstamo</a:t>
            </a:r>
            <a:endParaRPr lang="en-US" sz="800" dirty="0"/>
          </a:p>
        </p:txBody>
      </p:sp>
      <p:graphicFrame>
        <p:nvGraphicFramePr>
          <p:cNvPr id="20" name="Chart 0" descr=""/>
          <p:cNvGraphicFramePr/>
          <p:nvPr/>
        </p:nvGraphicFramePr>
        <p:xfrm>
          <a:off x="548640" y="2926080"/>
          <a:ext cx="6583680" cy="2212848"/>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5157216"/>
            <a:ext cx="658368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es de los pocos donde el circulante se cobra por encima del préstamo, y solo por 16 pb</a:t>
            </a:r>
            <a:endParaRPr lang="en-US" sz="800" dirty="0"/>
          </a:p>
        </p:txBody>
      </p:sp>
      <p:sp>
        <p:nvSpPr>
          <p:cNvPr id="22" name="Shape 19"/>
          <p:cNvSpPr/>
          <p:nvPr/>
        </p:nvSpPr>
        <p:spPr>
          <a:xfrm>
            <a:off x="7360920" y="2926080"/>
            <a:ext cx="4279392" cy="1481328"/>
          </a:xfrm>
          <a:prstGeom prst="roundRect">
            <a:avLst>
              <a:gd name="adj" fmla="val 3086"/>
            </a:avLst>
          </a:prstGeom>
          <a:solidFill>
            <a:srgbClr val="FFD6BA"/>
          </a:solidFill>
          <a:ln w="12700">
            <a:solidFill>
              <a:srgbClr val="FFAB70"/>
            </a:solidFill>
            <a:prstDash val="solid"/>
          </a:ln>
        </p:spPr>
      </p:sp>
      <p:sp>
        <p:nvSpPr>
          <p:cNvPr id="23" name="Text 20"/>
          <p:cNvSpPr txBox="1"/>
          <p:nvPr/>
        </p:nvSpPr>
        <p:spPr>
          <a:xfrm>
            <a:off x="7507224" y="2999232"/>
            <a:ext cx="398678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demanda va donde el dato no llega</a:t>
            </a:r>
            <a:endParaRPr lang="en-US" sz="1150" dirty="0"/>
          </a:p>
        </p:txBody>
      </p:sp>
      <p:sp>
        <p:nvSpPr>
          <p:cNvPr id="24" name="Text 21"/>
          <p:cNvSpPr txBox="1"/>
          <p:nvPr/>
        </p:nvSpPr>
        <p:spPr>
          <a:xfrm>
            <a:off x="7507224" y="3236976"/>
            <a:ext cx="3986784" cy="109728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Tres de cada cuatro pymes que necesitan financiación la quieren para circulante, y es el destino que más crece. Pero de este producto no existe ni comisión de disponibilidad ni tasa de disposición en ninguna estadística, y el tipo que publica el BCE no tiene tramo de importe: mezcla la póliza de la pyme con la línea del corporativo.</a:t>
            </a:r>
            <a:endParaRPr lang="en-US" sz="900" dirty="0"/>
          </a:p>
        </p:txBody>
      </p:sp>
      <p:sp>
        <p:nvSpPr>
          <p:cNvPr id="25" name="Shape 22"/>
          <p:cNvSpPr/>
          <p:nvPr/>
        </p:nvSpPr>
        <p:spPr>
          <a:xfrm>
            <a:off x="7360920" y="4517136"/>
            <a:ext cx="4279392" cy="1536192"/>
          </a:xfrm>
          <a:prstGeom prst="roundRect">
            <a:avLst>
              <a:gd name="adj" fmla="val 2976"/>
            </a:avLst>
          </a:prstGeom>
          <a:solidFill>
            <a:srgbClr val="C7E3F9"/>
          </a:solidFill>
          <a:ln w="12700">
            <a:solidFill>
              <a:srgbClr val="77BFEE"/>
            </a:solidFill>
            <a:prstDash val="solid"/>
          </a:ln>
        </p:spPr>
      </p:sp>
      <p:sp>
        <p:nvSpPr>
          <p:cNvPr id="26" name="Text 23"/>
          <p:cNvSpPr txBox="1"/>
          <p:nvPr/>
        </p:nvSpPr>
        <p:spPr>
          <a:xfrm>
            <a:off x="7507224" y="4590288"/>
            <a:ext cx="398678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Validación cruzada del precio</a:t>
            </a:r>
            <a:endParaRPr lang="en-US" sz="1150" dirty="0"/>
          </a:p>
        </p:txBody>
      </p:sp>
      <p:sp>
        <p:nvSpPr>
          <p:cNvPr id="27" name="Text 24"/>
          <p:cNvSpPr txBox="1"/>
          <p:nvPr/>
        </p:nvSpPr>
        <p:spPr>
          <a:xfrm>
            <a:off x="7507224" y="4828032"/>
            <a:ext cx="3986784" cy="115214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Boletín del Banco de España publica el mismo dato por vía nacional, cuadro 19.5 serie 1, y da 3,58 %: idéntico al del BCE. Es la única serie del deck que se ha podido contrastar contra una fuente independiente, y cuadra. El volumen, 57.933 M€ de saldo medio, solo lo publica España.</a:t>
            </a:r>
            <a:endParaRPr lang="en-US" sz="900" dirty="0"/>
          </a:p>
        </p:txBody>
      </p:sp>
      <p:sp>
        <p:nvSpPr>
          <p:cNvPr id="28" name="Text 2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serie A2Z1 (revolving y descubiertos a sociedades no financieras), media 2026; Banco de España, Boletín Estadístico, cuadros 19.5 y 19.13, serie 1; CESGAR, XV Informe, gráficos 9 y 13. En revolving el MIR mide el tipo del saldo vivo, no de nueva producción. Los porcentajes de CESGAR son de empresas encuestadas y no se agregan con los tipos.</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España es un caso aparte en Europa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anual sobre PIB · European Union Federation for Factoring · 2025</a:t>
            </a:r>
            <a:endParaRPr lang="en-US" sz="1100" dirty="0"/>
          </a:p>
        </p:txBody>
      </p:sp>
      <p:graphicFrame>
        <p:nvGraphicFramePr>
          <p:cNvPr id="4" name="Chart 0" descr=""/>
          <p:cNvGraphicFramePr/>
          <p:nvPr/>
        </p:nvGraphicFramePr>
        <p:xfrm>
          <a:off x="548640" y="1810512"/>
          <a:ext cx="6492240" cy="27432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590288"/>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mueve 269.885 M€ al año, el 16,5 % del PIB: el segundo de los siete por intensidad, detrás de Portugal</a:t>
            </a:r>
            <a:endParaRPr lang="en-US" sz="800" dirty="0"/>
          </a:p>
        </p:txBody>
      </p:sp>
      <p:sp>
        <p:nvSpPr>
          <p:cNvPr id="6" name="Shape 3"/>
          <p:cNvSpPr/>
          <p:nvPr/>
        </p:nvSpPr>
        <p:spPr>
          <a:xfrm>
            <a:off x="7296912" y="1810512"/>
            <a:ext cx="4343400" cy="1572768"/>
          </a:xfrm>
          <a:prstGeom prst="roundRect">
            <a:avLst>
              <a:gd name="adj" fmla="val 2907"/>
            </a:avLst>
          </a:prstGeom>
          <a:solidFill>
            <a:srgbClr val="FFCCE8"/>
          </a:solidFill>
          <a:ln w="12700">
            <a:solidFill>
              <a:srgbClr val="FF8AC2"/>
            </a:solidFill>
            <a:prstDash val="solid"/>
          </a:ln>
        </p:spPr>
      </p:sp>
      <p:sp>
        <p:nvSpPr>
          <p:cNvPr id="7" name="Text 4"/>
          <p:cNvSpPr txBox="1"/>
          <p:nvPr/>
        </p:nvSpPr>
        <p:spPr>
          <a:xfrm>
            <a:off x="7443216" y="1883664"/>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52,6 % español es confirming</a:t>
            </a:r>
            <a:endParaRPr lang="en-US" sz="1150" dirty="0"/>
          </a:p>
        </p:txBody>
      </p:sp>
      <p:sp>
        <p:nvSpPr>
          <p:cNvPr id="8" name="Text 5"/>
          <p:cNvSpPr txBox="1"/>
          <p:nvPr/>
        </p:nvSpPr>
        <p:spPr>
          <a:xfrm>
            <a:off x="7443216" y="2121408"/>
            <a:ext cx="4050792" cy="118872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En Italia es el 1,9 %. España y Portugal son los dos mercados europeos donde el pago confirmado a proveedores domina sobre el factoring clásico. Por eso los totales de la federación europea NO son comparables entre países: se está sumando un producto de financiación de clientes con otro de pago a proveedores.</a:t>
            </a:r>
            <a:endParaRPr lang="en-US" sz="900" dirty="0"/>
          </a:p>
        </p:txBody>
      </p:sp>
      <p:sp>
        <p:nvSpPr>
          <p:cNvPr id="9" name="Shape 6"/>
          <p:cNvSpPr/>
          <p:nvPr/>
        </p:nvSpPr>
        <p:spPr>
          <a:xfrm>
            <a:off x="7296912" y="3493008"/>
            <a:ext cx="4343400" cy="1335024"/>
          </a:xfrm>
          <a:prstGeom prst="roundRect">
            <a:avLst>
              <a:gd name="adj" fmla="val 3425"/>
            </a:avLst>
          </a:prstGeom>
          <a:solidFill>
            <a:srgbClr val="E5E5E5"/>
          </a:solidFill>
          <a:ln w="12700">
            <a:solidFill>
              <a:srgbClr val="CACACA"/>
            </a:solidFill>
            <a:prstDash val="solid"/>
          </a:ln>
        </p:spPr>
      </p:sp>
      <p:sp>
        <p:nvSpPr>
          <p:cNvPr id="10" name="Text 7"/>
          <p:cNvSpPr txBox="1"/>
          <p:nvPr/>
        </p:nvSpPr>
        <p:spPr>
          <a:xfrm>
            <a:off x="7443216" y="3566160"/>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la pyme lo usa poco</a:t>
            </a:r>
            <a:endParaRPr lang="en-US" sz="1150" dirty="0"/>
          </a:p>
        </p:txBody>
      </p:sp>
      <p:sp>
        <p:nvSpPr>
          <p:cNvPr id="11" name="Text 8"/>
          <p:cNvSpPr txBox="1"/>
          <p:nvPr/>
        </p:nvSpPr>
        <p:spPr>
          <a:xfrm>
            <a:off x="7443216" y="3803904"/>
            <a:ext cx="4050792" cy="950976"/>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CESGAR lo sitúa por debajo del leasing (11 %) y de las líneas ICO (13 %) en penetración entre pymes. El volumen agregado es grande porque lo mueven las grandes empresas y sus cadenas de proveedores, no porque la pyme lo contrate.</a:t>
            </a:r>
            <a:endParaRPr lang="en-US" sz="900" dirty="0"/>
          </a:p>
        </p:txBody>
      </p:sp>
      <p:sp>
        <p:nvSpPr>
          <p:cNvPr id="12" name="Shape 9"/>
          <p:cNvSpPr/>
          <p:nvPr/>
        </p:nvSpPr>
        <p:spPr>
          <a:xfrm>
            <a:off x="548640" y="4882896"/>
            <a:ext cx="11091672" cy="1170432"/>
          </a:xfrm>
          <a:prstGeom prst="roundRect">
            <a:avLst>
              <a:gd name="adj" fmla="val 3906"/>
            </a:avLst>
          </a:prstGeom>
          <a:solidFill>
            <a:srgbClr val="FFD6BA"/>
          </a:solidFill>
          <a:ln w="12700">
            <a:solidFill>
              <a:srgbClr val="FFAB70"/>
            </a:solidFill>
            <a:prstDash val="solid"/>
          </a:ln>
        </p:spPr>
      </p:sp>
      <p:sp>
        <p:nvSpPr>
          <p:cNvPr id="13" name="Text 10"/>
          <p:cNvSpPr txBox="1"/>
          <p:nvPr/>
        </p:nvSpPr>
        <p:spPr>
          <a:xfrm>
            <a:off x="694944" y="4956048"/>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Volumen sí, precio no: es el único bloque del encargo que se cierra sin ningún dato de su objetivo</a:t>
            </a:r>
            <a:endParaRPr lang="en-US" sz="1150" dirty="0"/>
          </a:p>
        </p:txBody>
      </p:sp>
      <p:sp>
        <p:nvSpPr>
          <p:cNvPr id="14" name="Text 11"/>
          <p:cNvSpPr txBox="1"/>
          <p:nvPr/>
        </p:nvSpPr>
        <p:spPr>
          <a:xfrm>
            <a:off x="694944" y="5193792"/>
            <a:ext cx="10789920" cy="78638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Ni el BCE, ni el Banco de España, ni la federación europea, ni las asociaciones nacionales publican un precio del factoring o del confirming. Se buscó en las nueve fuentes del encargo y en las memorias de Santander Factoring y Confirming, BNP Paribas Factor y Eurofactor. El precio de estos productos solo existe en registros de pago o en datos de mercado, y por tanto no entra en el modelo de rentabilidad: cualquier ROE de factoring de este deck sería inventado.</a:t>
            </a:r>
            <a:endParaRPr lang="en-US" sz="900" dirty="0"/>
          </a:p>
        </p:txBody>
      </p:sp>
      <p:sp>
        <p:nvSpPr>
          <p:cNvPr id="15" name="Text 1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 Federation for Factoring and Commercial Finance y asociaciones nacionales (AEF en España, Assifact en Italia); CESGAR, XV Informe, gráfico 9. El reparto entre factoring y confirming procede de las asociaciones nacionales y no está armonizado.</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mercado: 142.000 M€ de cartera PYME entre los cinco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Exposición a PYME con contraparte española · EU-wide Transparency Exercise del EBA · Junio 2025</a:t>
            </a:r>
            <a:endParaRPr lang="en-US" sz="1100" dirty="0"/>
          </a:p>
        </p:txBody>
      </p:sp>
      <p:graphicFrame>
        <p:nvGraphicFramePr>
          <p:cNvPr id="4" name="Chart 0" descr=""/>
          <p:cNvGraphicFramePr/>
          <p:nvPr/>
        </p:nvGraphicFramePr>
        <p:xfrm>
          <a:off x="548640" y="1810512"/>
          <a:ext cx="6492240" cy="2788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626864"/>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Millones de euros de valor de exposición</a:t>
            </a:r>
            <a:endParaRPr lang="en-US" sz="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296912" y="1810512"/>
          <a:ext cx="4343400" cy="914400"/>
        </p:xfrm>
        <a:graphic>
          <a:graphicData uri="http://schemas.openxmlformats.org/drawingml/2006/table">
            <a:tbl>
              <a:tblPr/>
              <a:tblGrid>
                <a:gridCol w="1051560"/>
                <a:gridCol w="1051560"/>
                <a:gridCol w="1097280"/>
                <a:gridCol w="960120"/>
                <a:gridCol w="1097280"/>
              </a:tblGrid>
              <a:tr h="384048">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Banco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Cartera PYME,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Cuota entre los cinco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 de RWA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RWA,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14.553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7757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22.324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15,7 %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8327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48.736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23.978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24.410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17.331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32.325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7" name="Shape 3"/>
          <p:cNvSpPr/>
          <p:nvPr/>
        </p:nvSpPr>
        <p:spPr>
          <a:xfrm>
            <a:off x="7296912" y="4224528"/>
            <a:ext cx="4343400" cy="1042416"/>
          </a:xfrm>
          <a:prstGeom prst="roundRect">
            <a:avLst>
              <a:gd name="adj" fmla="val 4386"/>
            </a:avLst>
          </a:prstGeom>
          <a:solidFill>
            <a:srgbClr val="FFD6BA"/>
          </a:solidFill>
          <a:ln w="12700">
            <a:solidFill>
              <a:srgbClr val="FFAB70"/>
            </a:solidFill>
            <a:prstDash val="solid"/>
          </a:ln>
        </p:spPr>
      </p:sp>
      <p:sp>
        <p:nvSpPr>
          <p:cNvPr id="8" name="Text 4"/>
          <p:cNvSpPr txBox="1"/>
          <p:nvPr/>
        </p:nvSpPr>
        <p:spPr>
          <a:xfrm>
            <a:off x="7443216" y="4297680"/>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Concentración moderada</a:t>
            </a:r>
            <a:endParaRPr lang="en-US" sz="1150" dirty="0"/>
          </a:p>
        </p:txBody>
      </p:sp>
      <p:sp>
        <p:nvSpPr>
          <p:cNvPr id="9" name="Text 5"/>
          <p:cNvSpPr txBox="1"/>
          <p:nvPr/>
        </p:nvSpPr>
        <p:spPr>
          <a:xfrm>
            <a:off x="7443216" y="4535424"/>
            <a:ext cx="4050792" cy="65836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CaixaBank tiene el 34,2 % de la cartera PYME de los cinco, más que Santander y BBVA juntos en este segmento, pese a ser menor que ambos por balance total. El negocio PYME español no se reparte como el balance.</a:t>
            </a:r>
            <a:endParaRPr lang="en-US" sz="900" dirty="0"/>
          </a:p>
        </p:txBody>
      </p:sp>
      <p:sp>
        <p:nvSpPr>
          <p:cNvPr id="10" name="Shape 6"/>
          <p:cNvSpPr/>
          <p:nvPr/>
        </p:nvSpPr>
        <p:spPr>
          <a:xfrm>
            <a:off x="548640" y="4956048"/>
            <a:ext cx="6492240" cy="1097280"/>
          </a:xfrm>
          <a:prstGeom prst="roundRect">
            <a:avLst>
              <a:gd name="adj" fmla="val 4167"/>
            </a:avLst>
          </a:prstGeom>
          <a:solidFill>
            <a:srgbClr val="C7E3F9"/>
          </a:solidFill>
          <a:ln w="12700">
            <a:solidFill>
              <a:srgbClr val="77BFEE"/>
            </a:solidFill>
            <a:prstDash val="solid"/>
          </a:ln>
        </p:spPr>
      </p:sp>
      <p:sp>
        <p:nvSpPr>
          <p:cNvPr id="11" name="Text 7"/>
          <p:cNvSpPr txBox="1"/>
          <p:nvPr/>
        </p:nvSpPr>
        <p:spPr>
          <a:xfrm>
            <a:off x="694944" y="5029200"/>
            <a:ext cx="6199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Es el perímetro que se puede medir, no todo el mercado</a:t>
            </a:r>
            <a:endParaRPr lang="en-US" sz="1150" dirty="0"/>
          </a:p>
        </p:txBody>
      </p:sp>
      <p:sp>
        <p:nvSpPr>
          <p:cNvPr id="12" name="Text 8"/>
          <p:cNvSpPr txBox="1"/>
          <p:nvPr/>
        </p:nvSpPr>
        <p:spPr>
          <a:xfrm>
            <a:off x="694944" y="5266944"/>
            <a:ext cx="6199632" cy="713232"/>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Son los cinco bancos del ejercicio de transparencia con cartera PYME española relevante. Fuera quedan las entidades no supervisadas directamente, las cooperativas de crédito, los EFC y la financiación no bancaria, que según CESGAR pesa: el crédito de proveedores lo usa el 16 % de las pymes.</a:t>
            </a:r>
            <a:endParaRPr lang="en-US" sz="900" dirty="0"/>
          </a:p>
        </p:txBody>
      </p:sp>
      <p:sp>
        <p:nvSpPr>
          <p:cNvPr id="13"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 2520523 (valor de exposición de PYME) y 2520533 (RWA), con contraparte de Country = 28 (España), junio de 2025. La clase PYME agrega Corporates-SME, Retail-SME y Secured by mortgages-SME. La cuota es sobre el total de estos cinco bancos, no sobre el mercado español de crédito a PYME, que es mayor.</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Mora y cobertura de la cartera PYME española, trimestre a trimestre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nivel de un trimestre dice poco; la tendencia dice bastante más · EU-wide Transparency Exercise del EBA</a:t>
            </a:r>
            <a:endParaRPr lang="en-US" sz="1100" dirty="0"/>
          </a:p>
        </p:txBody>
      </p:sp>
      <p:graphicFrame>
        <p:nvGraphicFramePr>
          <p:cNvPr id="4" name="Chart 0" descr=""/>
          <p:cNvGraphicFramePr/>
          <p:nvPr/>
        </p:nvGraphicFramePr>
        <p:xfrm>
          <a:off x="548640" y="1828800"/>
          <a:ext cx="553212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1591056"/>
            <a:ext cx="553212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Mora: exposición en default sobre exposición original</a:t>
            </a:r>
            <a:endParaRPr lang="en-US" sz="1100" dirty="0"/>
          </a:p>
        </p:txBody>
      </p:sp>
      <p:sp>
        <p:nvSpPr>
          <p:cNvPr id="6" name="Text 3"/>
          <p:cNvSpPr txBox="1"/>
          <p:nvPr/>
        </p:nvSpPr>
        <p:spPr>
          <a:xfrm>
            <a:off x="6263640" y="1591056"/>
            <a:ext cx="555955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Cobertura: provisiones sobre exposición en default</a:t>
            </a:r>
            <a:endParaRPr lang="en-US" sz="1100" dirty="0"/>
          </a:p>
        </p:txBody>
      </p:sp>
      <p:graphicFrame>
        <p:nvGraphicFramePr>
          <p:cNvPr id="7" name="Chart 1" descr=""/>
          <p:cNvGraphicFramePr/>
          <p:nvPr/>
        </p:nvGraphicFramePr>
        <p:xfrm>
          <a:off x="6263640" y="1828800"/>
          <a:ext cx="5559552" cy="288036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548640" y="4882896"/>
            <a:ext cx="3639312" cy="1170432"/>
          </a:xfrm>
          <a:prstGeom prst="roundRect">
            <a:avLst>
              <a:gd name="adj" fmla="val 3906"/>
            </a:avLst>
          </a:prstGeom>
          <a:solidFill>
            <a:srgbClr val="C7E3F9"/>
          </a:solidFill>
          <a:ln w="12700">
            <a:solidFill>
              <a:srgbClr val="77BFEE"/>
            </a:solidFill>
            <a:prstDash val="solid"/>
          </a:ln>
        </p:spPr>
      </p:sp>
      <p:sp>
        <p:nvSpPr>
          <p:cNvPr id="9" name="Text 5"/>
          <p:cNvSpPr txBox="1"/>
          <p:nvPr/>
        </p:nvSpPr>
        <p:spPr>
          <a:xfrm>
            <a:off x="676656"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Sabadell limpia, y se nota</a:t>
            </a:r>
            <a:endParaRPr lang="en-US" sz="1050" dirty="0"/>
          </a:p>
        </p:txBody>
      </p:sp>
      <p:sp>
        <p:nvSpPr>
          <p:cNvPr id="10" name="Text 6"/>
          <p:cNvSpPr txBox="1"/>
          <p:nvPr/>
        </p:nvSpPr>
        <p:spPr>
          <a:xfrm>
            <a:off x="676656"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mora PYME baja de 7,32 % a 5,91 % en cuatro trimestres, la mejora más clara de los cinco, y además sube cobertura. Es coherente con su densidad de RWA, la más baja del grupo.</a:t>
            </a:r>
            <a:endParaRPr lang="en-US" sz="800" dirty="0"/>
          </a:p>
        </p:txBody>
      </p:sp>
      <p:sp>
        <p:nvSpPr>
          <p:cNvPr id="11" name="Shape 7"/>
          <p:cNvSpPr/>
          <p:nvPr/>
        </p:nvSpPr>
        <p:spPr>
          <a:xfrm>
            <a:off x="4352544" y="4882896"/>
            <a:ext cx="3639312" cy="1170432"/>
          </a:xfrm>
          <a:prstGeom prst="roundRect">
            <a:avLst>
              <a:gd name="adj" fmla="val 3906"/>
            </a:avLst>
          </a:prstGeom>
          <a:solidFill>
            <a:srgbClr val="FFCCE8"/>
          </a:solidFill>
          <a:ln w="12700">
            <a:solidFill>
              <a:srgbClr val="FF8AC2"/>
            </a:solidFill>
            <a:prstDash val="solid"/>
          </a:ln>
        </p:spPr>
      </p:sp>
      <p:sp>
        <p:nvSpPr>
          <p:cNvPr id="12" name="Text 8"/>
          <p:cNvSpPr txBox="1"/>
          <p:nvPr/>
        </p:nvSpPr>
        <p:spPr>
          <a:xfrm>
            <a:off x="4480560"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Santander provisiona cada vez menos</a:t>
            </a:r>
            <a:endParaRPr lang="en-US" sz="1050" dirty="0"/>
          </a:p>
        </p:txBody>
      </p:sp>
      <p:sp>
        <p:nvSpPr>
          <p:cNvPr id="13" name="Text 9"/>
          <p:cNvSpPr txBox="1"/>
          <p:nvPr/>
        </p:nvSpPr>
        <p:spPr>
          <a:xfrm>
            <a:off x="4480560"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cae de 43,2 % a 36,5 % mientras mantiene la peor mora. Puede ser cartera más garantizada o puede ser infraprovisión: con dato público no se distingue, y conviene mirarlo.</a:t>
            </a:r>
            <a:endParaRPr lang="en-US" sz="800" dirty="0"/>
          </a:p>
        </p:txBody>
      </p:sp>
      <p:sp>
        <p:nvSpPr>
          <p:cNvPr id="14" name="Shape 10"/>
          <p:cNvSpPr/>
          <p:nvPr/>
        </p:nvSpPr>
        <p:spPr>
          <a:xfrm>
            <a:off x="8156448" y="4882896"/>
            <a:ext cx="3639312" cy="1170432"/>
          </a:xfrm>
          <a:prstGeom prst="roundRect">
            <a:avLst>
              <a:gd name="adj" fmla="val 3906"/>
            </a:avLst>
          </a:prstGeom>
          <a:solidFill>
            <a:srgbClr val="FFD6BA"/>
          </a:solidFill>
          <a:ln w="12700">
            <a:solidFill>
              <a:srgbClr val="FFAB70"/>
            </a:solidFill>
            <a:prstDash val="solid"/>
          </a:ln>
        </p:spPr>
      </p:sp>
      <p:sp>
        <p:nvSpPr>
          <p:cNvPr id="15" name="Text 11"/>
          <p:cNvSpPr txBox="1"/>
          <p:nvPr/>
        </p:nvSpPr>
        <p:spPr>
          <a:xfrm>
            <a:off x="8284464"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Ojo con el último dato de Bankinter</a:t>
            </a:r>
            <a:endParaRPr lang="en-US" sz="1050" dirty="0"/>
          </a:p>
        </p:txBody>
      </p:sp>
      <p:sp>
        <p:nvSpPr>
          <p:cNvPr id="16" name="Text 12"/>
          <p:cNvSpPr txBox="1"/>
          <p:nvPr/>
        </p:nvSpPr>
        <p:spPr>
          <a:xfrm>
            <a:off x="8284464"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salta a 74,1 % desde una banda de 51,9–56,1 %. El modelo de las láminas siguientes usa ese trimestre, así que su LGD sale alta; con la media de los cuatro su ROE saldría algo mejor, no peor.</a:t>
            </a:r>
            <a:endParaRPr lang="en-US" sz="800" dirty="0"/>
          </a:p>
        </p:txBody>
      </p:sp>
      <p:sp>
        <p:nvSpPr>
          <p:cNvPr id="17" name="Text 13"/>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partidas 2520503, 2520513 y 2520553 con contraparte de Country = 28 (España). La mora es un ratio de stock, no una PD de flujo. La cobertura incluye provisiones de las fases 1 y 2, así que sobreestima la cobertura del default en sí; el sesgo es el mismo para los cinco, de modo que sirve para comparar entre bancos y no como nivel absoluto.</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PYME de la banca española,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Modelizado, no publicado: ningún banco reporta un segmento PYME · Solo cambia entre bancos lo que cada uno sí publica · Junio 2025</a:t>
            </a:r>
            <a:endParaRPr lang="en-US" sz="1100" dirty="0"/>
          </a:p>
        </p:txBody>
      </p:sp>
      <p:graphicFrame>
        <p:nvGraphicFramePr>
          <p:cNvPr id="4" name="Chart 0" descr=""/>
          <p:cNvGraphicFramePr/>
          <p:nvPr/>
        </p:nvGraphicFramePr>
        <p:xfrm>
          <a:off x="548640" y="1755648"/>
          <a:ext cx="6446520" cy="2395728"/>
        </p:xfrm>
        <a:graphic xmlns:a="http://schemas.openxmlformats.org/drawingml/2006/main">
          <a:graphicData uri="http://schemas.openxmlformats.org/drawingml/2006/chart">
            <c:chart xmlns:c="http://schemas.openxmlformats.org/drawingml/2006/chart" r:id="rId1"/>
          </a:graphicData>
        </a:graphic>
      </p:graphicFrame>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4315968"/>
          <a:ext cx="11091672" cy="914400"/>
        </p:xfrm>
        <a:graphic>
          <a:graphicData uri="http://schemas.openxmlformats.org/drawingml/2006/table">
            <a:tbl>
              <a:tblPr/>
              <a:tblGrid>
                <a:gridCol w="1170432"/>
                <a:gridCol w="1298448"/>
                <a:gridCol w="1097280"/>
                <a:gridCol w="859536"/>
                <a:gridCol w="1051560"/>
                <a:gridCol w="859536"/>
                <a:gridCol w="896112"/>
                <a:gridCol w="896112"/>
                <a:gridCol w="932688"/>
                <a:gridCol w="822960"/>
                <a:gridCol w="1207008"/>
              </a:tblGrid>
              <a:tr h="274320">
                <a:tc>
                  <a:txBody>
                    <a:bodyPr/>
                    <a:lstStyle/>
                    <a:p>
                      <a:pPr algn="l" indent="0" marL="0">
                        <a:buNone/>
                      </a:pP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Cartera PYME</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en España, M€</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Densidad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RWA 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Mora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Cobertura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PD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LGD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CoR</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CET1</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Efic.</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ROE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Bankinter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14.553</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74,1 %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0,74 %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46,9 %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0,35 %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33,7 %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Sabadell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22.324</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56,1 %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35,5 %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0,67 %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13,06 %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CaixaBank</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48.736</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1,68 %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12,25 %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BBVA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24.410</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65,6 %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13,2 %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Santander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32.325</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7,80 %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36,5 %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14,2 %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Text 2"/>
          <p:cNvSpPr txBox="1"/>
          <p:nvPr/>
        </p:nvSpPr>
        <p:spPr>
          <a:xfrm>
            <a:off x="548640" y="5907024"/>
            <a:ext cx="11091672" cy="274320"/>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En azul, lo que sale de la cartera PYME ESPAÑOLA de cada banco: exposición, densidad, mora, cobertura y, a partir de ellas, PD, LGD y coste del riesgo. CET1 y eficiencia son de grupo consolidado, que es lo único que publica el ejercicio.</a:t>
            </a:r>
            <a:endParaRPr lang="en-US" sz="750" dirty="0"/>
          </a:p>
        </p:txBody>
      </p:sp>
      <p:sp>
        <p:nvSpPr>
          <p:cNvPr id="7" name="Shape 3"/>
          <p:cNvSpPr/>
          <p:nvPr/>
        </p:nvSpPr>
        <p:spPr>
          <a:xfrm>
            <a:off x="7205472" y="1755648"/>
            <a:ext cx="4434840"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7351776" y="1828800"/>
            <a:ext cx="414223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riesgo sí es de PYME; el precio no existe</a:t>
            </a:r>
            <a:endParaRPr lang="en-US" sz="1100" dirty="0"/>
          </a:p>
        </p:txBody>
      </p:sp>
      <p:sp>
        <p:nvSpPr>
          <p:cNvPr id="9" name="Text 5"/>
          <p:cNvSpPr txBox="1"/>
          <p:nvPr/>
        </p:nvSpPr>
        <p:spPr>
          <a:xfrm>
            <a:off x="7351776" y="2066544"/>
            <a:ext cx="4142232"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riesgo ya no es un escalado: PD y LGD se construyen con la mora y la cobertura de la cartera PYME española de cada banco. Lo que sigue sin existir en fuente pública es el PRECIO de PYME por banco, y por eso es común a los cinco.</a:t>
            </a:r>
            <a:endParaRPr lang="en-US" sz="800" dirty="0"/>
          </a:p>
        </p:txBody>
      </p:sp>
      <p:sp>
        <p:nvSpPr>
          <p:cNvPr id="10" name="Text 6"/>
          <p:cNvSpPr txBox="1"/>
          <p:nvPr/>
        </p:nvSpPr>
        <p:spPr>
          <a:xfrm>
            <a:off x="7205472" y="3017520"/>
            <a:ext cx="4434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Qué le falta a cada uno para llegar a Bankinter</a:t>
            </a:r>
            <a:endParaRPr lang="en-US" sz="1150" dirty="0"/>
          </a:p>
        </p:txBody>
      </p:sp>
      <p:sp>
        <p:nvSpPr>
          <p:cNvPr id="11" name="Text 7"/>
          <p:cNvSpPr txBox="1"/>
          <p:nvPr/>
        </p:nvSpPr>
        <p:spPr>
          <a:xfrm>
            <a:off x="7205472" y="3236976"/>
            <a:ext cx="443484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Puntos de ROE que ganaría igualando cada palanca al mejor de los cinco</a:t>
            </a:r>
            <a:endParaRPr lang="en-US" sz="7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7205472" y="3474720"/>
          <a:ext cx="4434840" cy="914400"/>
        </p:xfrm>
        <a:graphic>
          <a:graphicData uri="http://schemas.openxmlformats.org/drawingml/2006/table">
            <a:tbl>
              <a:tblPr/>
              <a:tblGrid>
                <a:gridCol w="1554480"/>
                <a:gridCol w="960120"/>
                <a:gridCol w="960120"/>
                <a:gridCol w="960120"/>
              </a:tblGrid>
              <a:tr h="246888">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Riesgo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Capital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Gastos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Sabadell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CaixaBank</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BBVA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Santander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3" name="Shape 8"/>
          <p:cNvSpPr/>
          <p:nvPr/>
        </p:nvSpPr>
        <p:spPr>
          <a:xfrm>
            <a:off x="7205472" y="4809744"/>
            <a:ext cx="4434840" cy="1097280"/>
          </a:xfrm>
          <a:prstGeom prst="roundRect">
            <a:avLst>
              <a:gd name="adj" fmla="val 4167"/>
            </a:avLst>
          </a:prstGeom>
          <a:solidFill>
            <a:srgbClr val="FFD6BA"/>
          </a:solidFill>
          <a:ln w="12700">
            <a:solidFill>
              <a:srgbClr val="FFAB70"/>
            </a:solidFill>
            <a:prstDash val="solid"/>
          </a:ln>
        </p:spPr>
      </p:sp>
      <p:sp>
        <p:nvSpPr>
          <p:cNvPr id="14" name="Text 9"/>
          <p:cNvSpPr txBox="1"/>
          <p:nvPr/>
        </p:nvSpPr>
        <p:spPr>
          <a:xfrm>
            <a:off x="7351776" y="4882896"/>
            <a:ext cx="414223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Sabadell y BBVA son el contraste</a:t>
            </a:r>
            <a:endParaRPr lang="en-US" sz="1100" dirty="0"/>
          </a:p>
        </p:txBody>
      </p:sp>
      <p:sp>
        <p:nvSpPr>
          <p:cNvPr id="15" name="Text 10"/>
          <p:cNvSpPr txBox="1"/>
          <p:nvPr/>
        </p:nvSpPr>
        <p:spPr>
          <a:xfrm>
            <a:off x="7351776" y="5120640"/>
            <a:ext cx="4142232" cy="71323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Sabadell tiene la peor eficiencia y aun así queda segundo, por la densidad de RWA más baja (37,3 %). Y Santander compensa la peor mora PYME (7,80 %) con la menor cobertura (36,5 %): más impagos, pero menos provisionados, así que su coste del riesgo acaba en la media.</a:t>
            </a:r>
            <a:endParaRPr lang="en-US" sz="800" dirty="0"/>
          </a:p>
        </p:txBody>
      </p:sp>
      <p:sp>
        <p:nvSpPr>
          <p:cNvPr id="16" name="Text 11"/>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Cálculo propio. Cartera PYME, densidad de RWA, mora y provisiones: EBA, EU-wide Transparency Exercise, partidas 2520503 a 2520553 con contraparte de Country = 28 (España), junio de 2025, el dato armonizado más reciente. PD del banco = PD PYME de España por su mora relativa; LGD del banco = LGD PYME de España por su cobertura relativa: el nivel lo ancla el parámetro IRB de PYME de España (COREP C 9.02) y la dispersión entre bancos la fijan sus dos magnitudes de PYME observadas. No es la PD/LGD interna de cada banco, que solo está en su Pilar 3. La cobertura incluye provisiones de fases 1 y 2, así que sirve para comparar entre bancos, no como nivel absoluto de LGD. CET1 y eficiencia son de GRUPO consolidado; igualar la eficiencia de Santander y BBVA a la del mejor movería su ROE 1,0 y 0,2 puntos, así que no altera el orden. Tipo impositivo del 30 % (art. 29 LIS) para los cinco.</a:t>
            </a:r>
            <a:endParaRPr lang="en-US" sz="6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Junio 2025 · El riesgo y el capital salen de la cartera PYME española de cada banco; el precio y las comisiones no existen por banco en ninguna fuente pública</a:t>
            </a:r>
            <a:endParaRPr lang="en-US" sz="11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834640"/>
                <a:gridCol w="1097280"/>
                <a:gridCol w="1431950"/>
                <a:gridCol w="1431950"/>
                <a:gridCol w="1431950"/>
                <a:gridCol w="1431950"/>
                <a:gridCol w="1431950"/>
              </a:tblGrid>
              <a:tr h="29718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Concepto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Ámbito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Precio (tipo MIR de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Comisiones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Ingreso total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 los recursos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Margen bruto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del riesgo (PD × LGD)</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0,35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0,67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Gastos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Resultado antes de imp.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1,99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1,64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Capital asignado (RWA PYME × CET1)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6,71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4,88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9,47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8,14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Tipo impositivo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FFFFF"/>
                          </a:solidFill>
                          <a:latin typeface="Verdana" pitchFamily="34" charset="0"/>
                          <a:ea typeface="Verdana" pitchFamily="34" charset="-122"/>
                          <a:cs typeface="Verdana" pitchFamily="34" charset="-120"/>
                        </a:rPr>
                        <a:t>ROE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17,7 %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14,2 %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necesario para un ROE del 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2,58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5" name="Shape 2"/>
          <p:cNvSpPr/>
          <p:nvPr/>
        </p:nvSpPr>
        <p:spPr>
          <a:xfrm>
            <a:off x="548640" y="5760720"/>
            <a:ext cx="1371600" cy="256032"/>
          </a:xfrm>
          <a:prstGeom prst="roundRect">
            <a:avLst>
              <a:gd name="adj" fmla="val 42857"/>
            </a:avLst>
          </a:prstGeom>
          <a:solidFill>
            <a:srgbClr val="E5E5E5"/>
          </a:solidFill>
          <a:ln w="12700">
            <a:solidFill>
              <a:srgbClr val="E5E5E5"/>
            </a:solidFill>
            <a:prstDash val="solid"/>
          </a:ln>
        </p:spPr>
      </p:sp>
      <p:sp>
        <p:nvSpPr>
          <p:cNvPr id="6" name="Text 3"/>
          <p:cNvSpPr txBox="1"/>
          <p:nvPr/>
        </p:nvSpPr>
        <p:spPr>
          <a:xfrm>
            <a:off x="548640"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Común a los cinco</a:t>
            </a:r>
            <a:endParaRPr lang="en-US" sz="850" dirty="0"/>
          </a:p>
        </p:txBody>
      </p:sp>
      <p:sp>
        <p:nvSpPr>
          <p:cNvPr id="7" name="Shape 4"/>
          <p:cNvSpPr/>
          <p:nvPr/>
        </p:nvSpPr>
        <p:spPr>
          <a:xfrm>
            <a:off x="2029968" y="5760720"/>
            <a:ext cx="1371600" cy="256032"/>
          </a:xfrm>
          <a:prstGeom prst="roundRect">
            <a:avLst>
              <a:gd name="adj" fmla="val 42857"/>
            </a:avLst>
          </a:prstGeom>
          <a:solidFill>
            <a:srgbClr val="C7E3F9"/>
          </a:solidFill>
          <a:ln w="12700">
            <a:solidFill>
              <a:srgbClr val="C7E3F9"/>
            </a:solidFill>
            <a:prstDash val="solid"/>
          </a:ln>
        </p:spPr>
      </p:sp>
      <p:sp>
        <p:nvSpPr>
          <p:cNvPr id="8" name="Text 5"/>
          <p:cNvSpPr txBox="1"/>
          <p:nvPr/>
        </p:nvSpPr>
        <p:spPr>
          <a:xfrm>
            <a:off x="2029968"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PYME del banco</a:t>
            </a:r>
            <a:endParaRPr lang="en-US" sz="850" dirty="0"/>
          </a:p>
        </p:txBody>
      </p:sp>
      <p:sp>
        <p:nvSpPr>
          <p:cNvPr id="9" name="Shape 6"/>
          <p:cNvSpPr/>
          <p:nvPr/>
        </p:nvSpPr>
        <p:spPr>
          <a:xfrm>
            <a:off x="3511296" y="5760720"/>
            <a:ext cx="1371600" cy="256032"/>
          </a:xfrm>
          <a:prstGeom prst="roundRect">
            <a:avLst>
              <a:gd name="adj" fmla="val 42857"/>
            </a:avLst>
          </a:prstGeom>
          <a:solidFill>
            <a:srgbClr val="FFD6BA"/>
          </a:solidFill>
          <a:ln w="12700">
            <a:solidFill>
              <a:srgbClr val="FFD6BA"/>
            </a:solidFill>
            <a:prstDash val="solid"/>
          </a:ln>
        </p:spPr>
      </p:sp>
      <p:sp>
        <p:nvSpPr>
          <p:cNvPr id="10" name="Text 7"/>
          <p:cNvSpPr txBox="1"/>
          <p:nvPr/>
        </p:nvSpPr>
        <p:spPr>
          <a:xfrm>
            <a:off x="3511296"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1" name="Text 8"/>
          <p:cNvSpPr txBox="1"/>
          <p:nvPr/>
        </p:nvSpPr>
        <p:spPr>
          <a:xfrm>
            <a:off x="5212080" y="5669280"/>
            <a:ext cx="6492240" cy="512064"/>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 última fila da la vuelta a la pregunta: con su propio riesgo, capital, gastos y fondeo, qué precio necesitaría cada banco para un ROE del 15 %. Ese número no depende del precio de PYME, que no es obtenible, y mide la capacidad competitiva de cada uno: Bankinter puede vender 119 pb más barato que BBVA y ganar lo mismo.</a:t>
            </a:r>
            <a:endParaRPr lang="en-US" sz="80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comisiones y coste de los recursos: los de España del modelo de países, comunes a los cinco. Coste del riesgo: PD × LGD, con la PD escalada por la mora PYME española del banco y la LGD por su cobertura PYME, las dos observadas. Gastos: eficiencia del banco sobre el margen. Capital: densidad de RWA de su cartera PYME española por su ratio CET1, ambos del EU-wide Transparency Exercise del EBA con contraparte de Country = 28, junio de 2025. Eficiencia y CET1 son de grupo consolidado. Impuesto del 30 % (art. 29 LIS) para los cinco.</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el mercado europeo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sostienen los datos de los siete países</a:t>
            </a:r>
            <a:endParaRPr lang="en-US" sz="1100" dirty="0"/>
          </a:p>
        </p:txBody>
      </p:sp>
      <p:sp>
        <p:nvSpPr>
          <p:cNvPr id="4" name="Shape 2"/>
          <p:cNvSpPr/>
          <p:nvPr/>
        </p:nvSpPr>
        <p:spPr>
          <a:xfrm>
            <a:off x="548640" y="1554480"/>
            <a:ext cx="329184" cy="329184"/>
          </a:xfrm>
          <a:prstGeom prst="ellipse">
            <a:avLst/>
          </a:prstGeom>
          <a:solidFill>
            <a:srgbClr val="F56600"/>
          </a:solidFill>
          <a:ln w="12700">
            <a:solidFill>
              <a:srgbClr val="F56600"/>
            </a:solidFill>
            <a:prstDash val="solid"/>
          </a:ln>
        </p:spPr>
      </p:sp>
      <p:sp>
        <p:nvSpPr>
          <p:cNvPr id="5" name="Text 3"/>
          <p:cNvSpPr txBox="1"/>
          <p:nvPr/>
        </p:nvSpPr>
        <p:spPr>
          <a:xfrm>
            <a:off x="548640"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7" name="Text 5"/>
          <p:cNvSpPr txBox="1"/>
          <p:nvPr/>
        </p:nvSpPr>
        <p:spPr>
          <a:xfrm>
            <a:off x="1051560"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cuarta entre los bancos locales.</a:t>
            </a:r>
            <a:endParaRPr lang="en-US" sz="900" dirty="0"/>
          </a:p>
        </p:txBody>
      </p:sp>
      <p:sp>
        <p:nvSpPr>
          <p:cNvPr id="8" name="Shape 6"/>
          <p:cNvSpPr/>
          <p:nvPr/>
        </p:nvSpPr>
        <p:spPr>
          <a:xfrm>
            <a:off x="548640" y="2327148"/>
            <a:ext cx="329184" cy="329184"/>
          </a:xfrm>
          <a:prstGeom prst="ellipse">
            <a:avLst/>
          </a:prstGeom>
          <a:solidFill>
            <a:srgbClr val="F56600"/>
          </a:solidFill>
          <a:ln w="12700">
            <a:solidFill>
              <a:srgbClr val="F56600"/>
            </a:solidFill>
            <a:prstDash val="solid"/>
          </a:ln>
        </p:spPr>
      </p:sp>
      <p:sp>
        <p:nvSpPr>
          <p:cNvPr id="9" name="Text 7"/>
          <p:cNvSpPr txBox="1"/>
          <p:nvPr/>
        </p:nvSpPr>
        <p:spPr>
          <a:xfrm>
            <a:off x="548640"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1" name="Text 9"/>
          <p:cNvSpPr txBox="1"/>
          <p:nvPr/>
        </p:nvSpPr>
        <p:spPr>
          <a:xfrm>
            <a:off x="1051560"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(5,4 %) y el cuarto mejor para un entrante eficiente (21,8 %). Y es además el más grande (44,8 % de la cartera PYME de los siete) y el único con brecha de financiación positiva. Lo que se compra al entrar no es el margen del mercado, es la distancia respecto al incumbente.</a:t>
            </a:r>
            <a:endParaRPr lang="en-US" sz="900" dirty="0"/>
          </a:p>
        </p:txBody>
      </p:sp>
      <p:sp>
        <p:nvSpPr>
          <p:cNvPr id="12" name="Shape 10"/>
          <p:cNvSpPr/>
          <p:nvPr/>
        </p:nvSpPr>
        <p:spPr>
          <a:xfrm>
            <a:off x="548640" y="3099816"/>
            <a:ext cx="329184" cy="329184"/>
          </a:xfrm>
          <a:prstGeom prst="ellipse">
            <a:avLst/>
          </a:prstGeom>
          <a:solidFill>
            <a:srgbClr val="F56600"/>
          </a:solidFill>
          <a:ln w="12700">
            <a:solidFill>
              <a:srgbClr val="F56600"/>
            </a:solidFill>
            <a:prstDash val="solid"/>
          </a:ln>
        </p:spPr>
      </p:sp>
      <p:sp>
        <p:nvSpPr>
          <p:cNvPr id="13" name="Text 11"/>
          <p:cNvSpPr txBox="1"/>
          <p:nvPr/>
        </p:nvSpPr>
        <p:spPr>
          <a:xfrm>
            <a:off x="548640"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5" name="Text 13"/>
          <p:cNvSpPr txBox="1"/>
          <p:nvPr/>
        </p:nvSpPr>
        <p:spPr>
          <a:xfrm>
            <a:off x="1051560"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16" name="Shape 14"/>
          <p:cNvSpPr/>
          <p:nvPr/>
        </p:nvSpPr>
        <p:spPr>
          <a:xfrm>
            <a:off x="548640" y="3872484"/>
            <a:ext cx="329184" cy="329184"/>
          </a:xfrm>
          <a:prstGeom prst="ellipse">
            <a:avLst/>
          </a:prstGeom>
          <a:solidFill>
            <a:srgbClr val="F56600"/>
          </a:solidFill>
          <a:ln w="12700">
            <a:solidFill>
              <a:srgbClr val="F56600"/>
            </a:solidFill>
            <a:prstDash val="solid"/>
          </a:ln>
        </p:spPr>
      </p:sp>
      <p:sp>
        <p:nvSpPr>
          <p:cNvPr id="17" name="Text 15"/>
          <p:cNvSpPr txBox="1"/>
          <p:nvPr/>
        </p:nvSpPr>
        <p:spPr>
          <a:xfrm>
            <a:off x="548640"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19" name="Text 17"/>
          <p:cNvSpPr txBox="1"/>
          <p:nvPr/>
        </p:nvSpPr>
        <p:spPr>
          <a:xfrm>
            <a:off x="1051560"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igualar la LGD solo el 22 %. Y el eje que mejor predice la PD no es la información (ρ = −0,23) sino el entorno de recobro (ρ = −0,79): donde ejecutar es lento y caro, el impago se enquista.</a:t>
            </a:r>
            <a:endParaRPr lang="en-US" sz="900" dirty="0"/>
          </a:p>
        </p:txBody>
      </p:sp>
      <p:sp>
        <p:nvSpPr>
          <p:cNvPr id="20" name="Shape 18"/>
          <p:cNvSpPr/>
          <p:nvPr/>
        </p:nvSpPr>
        <p:spPr>
          <a:xfrm>
            <a:off x="548640" y="4645152"/>
            <a:ext cx="329184" cy="329184"/>
          </a:xfrm>
          <a:prstGeom prst="ellipse">
            <a:avLst/>
          </a:prstGeom>
          <a:solidFill>
            <a:srgbClr val="F56600"/>
          </a:solidFill>
          <a:ln w="12700">
            <a:solidFill>
              <a:srgbClr val="F56600"/>
            </a:solidFill>
            <a:prstDash val="solid"/>
          </a:ln>
        </p:spPr>
      </p:sp>
      <p:sp>
        <p:nvSpPr>
          <p:cNvPr id="21" name="Text 19"/>
          <p:cNvSpPr txBox="1"/>
          <p:nvPr/>
        </p:nvSpPr>
        <p:spPr>
          <a:xfrm>
            <a:off x="548640"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Prestar peor no viene pagado</a:t>
            </a:r>
            <a:endParaRPr lang="en-US" sz="1250" dirty="0"/>
          </a:p>
        </p:txBody>
      </p:sp>
      <p:sp>
        <p:nvSpPr>
          <p:cNvPr id="23" name="Text 21"/>
          <p:cNvSpPr txBox="1"/>
          <p:nvPr/>
        </p:nvSpPr>
        <p:spPr>
          <a:xfrm>
            <a:off x="1051560"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Entre mercados el margen neto de riesgo cae con la PD (ρ = −0,76): los países que prestan peor son los que menos cobran. Dentro de cada mercado sí se paga, vía tramo de importe, y ahí España es la única de las siete sin gradiente.</a:t>
            </a:r>
            <a:endParaRPr lang="en-US" sz="900" dirty="0"/>
          </a:p>
        </p:txBody>
      </p:sp>
      <p:sp>
        <p:nvSpPr>
          <p:cNvPr id="24" name="Shape 22"/>
          <p:cNvSpPr/>
          <p:nvPr/>
        </p:nvSpPr>
        <p:spPr>
          <a:xfrm>
            <a:off x="548640" y="5417820"/>
            <a:ext cx="329184" cy="329184"/>
          </a:xfrm>
          <a:prstGeom prst="ellipse">
            <a:avLst/>
          </a:prstGeom>
          <a:solidFill>
            <a:srgbClr val="F56600"/>
          </a:solidFill>
          <a:ln w="12700">
            <a:solidFill>
              <a:srgbClr val="F56600"/>
            </a:solidFill>
            <a:prstDash val="solid"/>
          </a:ln>
        </p:spPr>
      </p:sp>
      <p:sp>
        <p:nvSpPr>
          <p:cNvPr id="25" name="Text 23"/>
          <p:cNvSpPr txBox="1"/>
          <p:nvPr/>
        </p:nvSpPr>
        <p:spPr>
          <a:xfrm>
            <a:off x="548640"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6" name="Text 24"/>
          <p:cNvSpPr txBox="1"/>
          <p:nvPr/>
        </p:nvSpPr>
        <p:spPr>
          <a:xfrm>
            <a:off x="1051560"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7" name="Text 25"/>
          <p:cNvSpPr txBox="1"/>
          <p:nvPr/>
        </p:nvSpPr>
        <p:spPr>
          <a:xfrm>
            <a:off x="1051560"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Mueve el ROE entre 3 y 8 puntos.</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añade el bloque español, que no se ve en el agregado europeo</a:t>
            </a:r>
            <a:endParaRPr lang="en-US" sz="1100" dirty="0"/>
          </a:p>
        </p:txBody>
      </p:sp>
      <p:sp>
        <p:nvSpPr>
          <p:cNvPr id="4" name="Shape 2"/>
          <p:cNvSpPr/>
          <p:nvPr/>
        </p:nvSpPr>
        <p:spPr>
          <a:xfrm>
            <a:off x="548640" y="1554480"/>
            <a:ext cx="329184" cy="329184"/>
          </a:xfrm>
          <a:prstGeom prst="ellipse">
            <a:avLst/>
          </a:prstGeom>
          <a:solidFill>
            <a:srgbClr val="77BFEE"/>
          </a:solidFill>
          <a:ln w="12700">
            <a:solidFill>
              <a:srgbClr val="77BFEE"/>
            </a:solidFill>
            <a:prstDash val="solid"/>
          </a:ln>
        </p:spPr>
      </p:sp>
      <p:sp>
        <p:nvSpPr>
          <p:cNvPr id="5" name="Text 3"/>
          <p:cNvSpPr txBox="1"/>
          <p:nvPr/>
        </p:nvSpPr>
        <p:spPr>
          <a:xfrm>
            <a:off x="548640" y="155448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problema no es el acceso, es el precio</a:t>
            </a:r>
            <a:endParaRPr lang="en-US" sz="1250" dirty="0"/>
          </a:p>
        </p:txBody>
      </p:sp>
      <p:sp>
        <p:nvSpPr>
          <p:cNvPr id="7" name="Text 5"/>
          <p:cNvSpPr txBox="1"/>
          <p:nvPr/>
        </p:nvSpPr>
        <p:spPr>
          <a:xfrm>
            <a:off x="1051560"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92,8 % de las pymes que pide financiación la obtiene y la acepta, y solo al 3,2 % no se le concede. Entre las que sí ven obstáculos, el primero es el precio (21,6 %). Un entrante que compita por disponibilidad se equivoca de eje.</a:t>
            </a:r>
            <a:endParaRPr lang="en-US" sz="900" dirty="0"/>
          </a:p>
        </p:txBody>
      </p:sp>
      <p:sp>
        <p:nvSpPr>
          <p:cNvPr id="8" name="Shape 6"/>
          <p:cNvSpPr/>
          <p:nvPr/>
        </p:nvSpPr>
        <p:spPr>
          <a:xfrm>
            <a:off x="548640" y="2327148"/>
            <a:ext cx="329184" cy="329184"/>
          </a:xfrm>
          <a:prstGeom prst="ellipse">
            <a:avLst/>
          </a:prstGeom>
          <a:solidFill>
            <a:srgbClr val="77BFEE"/>
          </a:solidFill>
          <a:ln w="12700">
            <a:solidFill>
              <a:srgbClr val="77BFEE"/>
            </a:solidFill>
            <a:prstDash val="solid"/>
          </a:ln>
        </p:spPr>
      </p:sp>
      <p:sp>
        <p:nvSpPr>
          <p:cNvPr id="9" name="Text 7"/>
          <p:cNvSpPr txBox="1"/>
          <p:nvPr/>
        </p:nvSpPr>
        <p:spPr>
          <a:xfrm>
            <a:off x="548640" y="2327148"/>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pyme pequeña tiene 2,1 puntos de colchón, y ese es el techo</a:t>
            </a:r>
            <a:endParaRPr lang="en-US" sz="1250" dirty="0"/>
          </a:p>
        </p:txBody>
      </p:sp>
      <p:sp>
        <p:nvSpPr>
          <p:cNvPr id="11" name="Text 9"/>
          <p:cNvSpPr txBox="1"/>
          <p:nvPr/>
        </p:nvSpPr>
        <p:spPr>
          <a:xfrm>
            <a:off x="1051560"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Gana un 5,4 % con su activo y paga un 3,3 % por su deuda. Por encima de esa diferencia, endeudarse deja de crearle valor y la demanda se corta sola. La mediana tiene 6,1 puntos: es otro cliente, no el mismo más grande.</a:t>
            </a:r>
            <a:endParaRPr lang="en-US" sz="900" dirty="0"/>
          </a:p>
        </p:txBody>
      </p:sp>
      <p:sp>
        <p:nvSpPr>
          <p:cNvPr id="12" name="Shape 10"/>
          <p:cNvSpPr/>
          <p:nvPr/>
        </p:nvSpPr>
        <p:spPr>
          <a:xfrm>
            <a:off x="548640" y="3099816"/>
            <a:ext cx="329184" cy="329184"/>
          </a:xfrm>
          <a:prstGeom prst="ellipse">
            <a:avLst/>
          </a:prstGeom>
          <a:solidFill>
            <a:srgbClr val="77BFEE"/>
          </a:solidFill>
          <a:ln w="12700">
            <a:solidFill>
              <a:srgbClr val="77BFEE"/>
            </a:solidFill>
            <a:prstDash val="solid"/>
          </a:ln>
        </p:spPr>
      </p:sp>
      <p:sp>
        <p:nvSpPr>
          <p:cNvPr id="13" name="Text 11"/>
          <p:cNvSpPr txBox="1"/>
          <p:nvPr/>
        </p:nvSpPr>
        <p:spPr>
          <a:xfrm>
            <a:off x="548640" y="3099816"/>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demanda va al circulante, que es el producto peor medido</a:t>
            </a:r>
            <a:endParaRPr lang="en-US" sz="1250" dirty="0"/>
          </a:p>
        </p:txBody>
      </p:sp>
      <p:sp>
        <p:nvSpPr>
          <p:cNvPr id="15" name="Text 13"/>
          <p:cNvSpPr txBox="1"/>
          <p:nvPr/>
        </p:nvSpPr>
        <p:spPr>
          <a:xfrm>
            <a:off x="1051560"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73,0 % de las pymes con necesidades lo quiere para circulante, frente al 64,6 % de 2024. De ese producto no existe comisión de disponibilidad ni tasa de disposición en ninguna estadística, y el tipo del BCE ni siquiera tiene tramo de importe.</a:t>
            </a:r>
            <a:endParaRPr lang="en-US" sz="900" dirty="0"/>
          </a:p>
        </p:txBody>
      </p:sp>
      <p:sp>
        <p:nvSpPr>
          <p:cNvPr id="16" name="Shape 14"/>
          <p:cNvSpPr/>
          <p:nvPr/>
        </p:nvSpPr>
        <p:spPr>
          <a:xfrm>
            <a:off x="548640" y="3872484"/>
            <a:ext cx="329184" cy="329184"/>
          </a:xfrm>
          <a:prstGeom prst="ellipse">
            <a:avLst/>
          </a:prstGeom>
          <a:solidFill>
            <a:srgbClr val="77BFEE"/>
          </a:solidFill>
          <a:ln w="12700">
            <a:solidFill>
              <a:srgbClr val="77BFEE"/>
            </a:solidFill>
            <a:prstDash val="solid"/>
          </a:ln>
        </p:spPr>
      </p:sp>
      <p:sp>
        <p:nvSpPr>
          <p:cNvPr id="17" name="Text 15"/>
          <p:cNvSpPr txBox="1"/>
          <p:nvPr/>
        </p:nvSpPr>
        <p:spPr>
          <a:xfrm>
            <a:off x="548640" y="3872484"/>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bancos españoles manda el capital, no la eficiencia</a:t>
            </a:r>
            <a:endParaRPr lang="en-US" sz="1250" dirty="0"/>
          </a:p>
        </p:txBody>
      </p:sp>
      <p:sp>
        <p:nvSpPr>
          <p:cNvPr id="19" name="Text 17"/>
          <p:cNvSpPr txBox="1"/>
          <p:nvPr/>
        </p:nvSpPr>
        <p:spPr>
          <a:xfrm>
            <a:off x="1051560"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Sabadell tiene la peor eficiencia de los cinco (41,0 %) y queda segundo en ROE, por una densidad de RWA del 37,3 %. BBVA tiene la segunda mejor eficiencia (34,3 %) y queda cuarto, con una densidad del 71,0 %. Misma conclusión que en Europa, pero aquí sin diferencias de mercado que la expliquen.</a:t>
            </a:r>
            <a:endParaRPr lang="en-US" sz="900" dirty="0"/>
          </a:p>
        </p:txBody>
      </p:sp>
      <p:sp>
        <p:nvSpPr>
          <p:cNvPr id="20" name="Shape 18"/>
          <p:cNvSpPr/>
          <p:nvPr/>
        </p:nvSpPr>
        <p:spPr>
          <a:xfrm>
            <a:off x="548640" y="4645152"/>
            <a:ext cx="329184" cy="329184"/>
          </a:xfrm>
          <a:prstGeom prst="ellipse">
            <a:avLst/>
          </a:prstGeom>
          <a:solidFill>
            <a:srgbClr val="77BFEE"/>
          </a:solidFill>
          <a:ln w="12700">
            <a:solidFill>
              <a:srgbClr val="77BFEE"/>
            </a:solidFill>
            <a:prstDash val="solid"/>
          </a:ln>
        </p:spPr>
      </p:sp>
      <p:sp>
        <p:nvSpPr>
          <p:cNvPr id="21" name="Text 19"/>
          <p:cNvSpPr txBox="1"/>
          <p:nvPr/>
        </p:nvSpPr>
        <p:spPr>
          <a:xfrm>
            <a:off x="548640" y="4645152"/>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capacidad competitiva se mide en precio, no en ROE</a:t>
            </a:r>
            <a:endParaRPr lang="en-US" sz="1250" dirty="0"/>
          </a:p>
        </p:txBody>
      </p:sp>
      <p:sp>
        <p:nvSpPr>
          <p:cNvPr id="23" name="Text 21"/>
          <p:cNvSpPr txBox="1"/>
          <p:nvPr/>
        </p:nvSpPr>
        <p:spPr>
          <a:xfrm>
            <a:off x="1051560"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Con su propio riesgo, capital y gastos, Bankinter necesita un 2,58 % para un ROE del 15 % y BBVA un 3,77 %. Son 119 pb de margen de maniobra en precio, que es lo que de verdad se puede usar para ganar cliente.</a:t>
            </a:r>
            <a:endParaRPr lang="en-US" sz="900" dirty="0"/>
          </a:p>
        </p:txBody>
      </p:sp>
      <p:sp>
        <p:nvSpPr>
          <p:cNvPr id="24" name="Shape 22"/>
          <p:cNvSpPr/>
          <p:nvPr/>
        </p:nvSpPr>
        <p:spPr>
          <a:xfrm>
            <a:off x="548640" y="5417820"/>
            <a:ext cx="329184" cy="329184"/>
          </a:xfrm>
          <a:prstGeom prst="ellipse">
            <a:avLst/>
          </a:prstGeom>
          <a:solidFill>
            <a:srgbClr val="77BFEE"/>
          </a:solidFill>
          <a:ln w="12700">
            <a:solidFill>
              <a:srgbClr val="77BFEE"/>
            </a:solidFill>
            <a:prstDash val="solid"/>
          </a:ln>
        </p:spPr>
      </p:sp>
      <p:sp>
        <p:nvSpPr>
          <p:cNvPr id="25" name="Text 23"/>
          <p:cNvSpPr txBox="1"/>
          <p:nvPr/>
        </p:nvSpPr>
        <p:spPr>
          <a:xfrm>
            <a:off x="548640" y="541782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6</a:t>
            </a:r>
            <a:endParaRPr lang="en-US" sz="1300" dirty="0"/>
          </a:p>
        </p:txBody>
      </p:sp>
      <p:sp>
        <p:nvSpPr>
          <p:cNvPr id="26" name="Text 24"/>
          <p:cNvSpPr txBox="1"/>
          <p:nvPr/>
        </p:nvSpPr>
        <p:spPr>
          <a:xfrm>
            <a:off x="1051560"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autónomo es un segmento aparte que la estadística esconde</a:t>
            </a:r>
            <a:endParaRPr lang="en-US" sz="1250" dirty="0"/>
          </a:p>
        </p:txBody>
      </p:sp>
      <p:sp>
        <p:nvSpPr>
          <p:cNvPr id="27" name="Text 25"/>
          <p:cNvSpPr txBox="1"/>
          <p:nvPr/>
        </p:nvSpPr>
        <p:spPr>
          <a:xfrm>
            <a:off x="1051560"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Paga un 4,57 %, 115 pb más que la sociedad del tramo ≤0,25 M€, y el SEC 2010 lo clasifica en hogares, así que no aparece en ninguna serie de empresas. Son 840 M€ al mes de nueva producción.</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y 3 salen de la encuesta CESGAR y son porcentajes de empresas, no niveles. La 2 sale de la Central de Balances del Banco de España, ejercicio 2024. Las 4 y 5 salen del modelo por banco, cuyo precio y comisiones son comunes a los cinco porque ninguno los publica por segmento: comparan estructura de riesgo, capital y coste, no habilidad comercial.</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 entrada en el mercado europeo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falta para convertir el bloque europeo en una decisión</a:t>
            </a:r>
            <a:endParaRPr lang="en-US" sz="1100" dirty="0"/>
          </a:p>
        </p:txBody>
      </p:sp>
      <p:sp>
        <p:nvSpPr>
          <p:cNvPr id="4" name="Shape 2"/>
          <p:cNvSpPr/>
          <p:nvPr/>
        </p:nvSpPr>
        <p:spPr>
          <a:xfrm>
            <a:off x="548640" y="1517904"/>
            <a:ext cx="2057400" cy="457200"/>
          </a:xfrm>
          <a:prstGeom prst="roundRect">
            <a:avLst>
              <a:gd name="adj" fmla="val 10000"/>
            </a:avLst>
          </a:prstGeom>
          <a:solidFill>
            <a:srgbClr val="FFD6BA"/>
          </a:solidFill>
          <a:ln w="12700">
            <a:solidFill>
              <a:srgbClr val="FFAB70"/>
            </a:solidFill>
            <a:prstDash val="solid"/>
          </a:ln>
        </p:spPr>
      </p:sp>
      <p:sp>
        <p:nvSpPr>
          <p:cNvPr id="5" name="Text 3"/>
          <p:cNvSpPr txBox="1"/>
          <p:nvPr/>
        </p:nvSpPr>
        <p:spPr>
          <a:xfrm>
            <a:off x="548640"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6" name="Text 4"/>
          <p:cNvSpPr txBox="1"/>
          <p:nvPr/>
        </p:nvSpPr>
        <p:spPr>
          <a:xfrm>
            <a:off x="2788920"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7" name="Text 5"/>
          <p:cNvSpPr txBox="1"/>
          <p:nvPr/>
        </p:nvSpPr>
        <p:spPr>
          <a:xfrm>
            <a:off x="5943600"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8" name="Shape 6"/>
          <p:cNvSpPr/>
          <p:nvPr/>
        </p:nvSpPr>
        <p:spPr>
          <a:xfrm>
            <a:off x="548640" y="2025396"/>
            <a:ext cx="2057400" cy="457200"/>
          </a:xfrm>
          <a:prstGeom prst="roundRect">
            <a:avLst>
              <a:gd name="adj" fmla="val 10000"/>
            </a:avLst>
          </a:prstGeom>
          <a:solidFill>
            <a:srgbClr val="FFD6BA"/>
          </a:solidFill>
          <a:ln w="12700">
            <a:solidFill>
              <a:srgbClr val="FFAB70"/>
            </a:solidFill>
            <a:prstDash val="solid"/>
          </a:ln>
        </p:spPr>
      </p:sp>
      <p:sp>
        <p:nvSpPr>
          <p:cNvPr id="9" name="Text 7"/>
          <p:cNvSpPr txBox="1"/>
          <p:nvPr/>
        </p:nvSpPr>
        <p:spPr>
          <a:xfrm>
            <a:off x="548640"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0" name="Text 8"/>
          <p:cNvSpPr txBox="1"/>
          <p:nvPr/>
        </p:nvSpPr>
        <p:spPr>
          <a:xfrm>
            <a:off x="2788920"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1" name="Text 9"/>
          <p:cNvSpPr txBox="1"/>
          <p:nvPr/>
        </p:nvSpPr>
        <p:spPr>
          <a:xfrm>
            <a:off x="5943600"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2" name="Shape 10"/>
          <p:cNvSpPr/>
          <p:nvPr/>
        </p:nvSpPr>
        <p:spPr>
          <a:xfrm>
            <a:off x="548640" y="2532888"/>
            <a:ext cx="2057400" cy="457200"/>
          </a:xfrm>
          <a:prstGeom prst="roundRect">
            <a:avLst>
              <a:gd name="adj" fmla="val 10000"/>
            </a:avLst>
          </a:prstGeom>
          <a:solidFill>
            <a:srgbClr val="FFD6BA"/>
          </a:solidFill>
          <a:ln w="12700">
            <a:solidFill>
              <a:srgbClr val="FFAB70"/>
            </a:solidFill>
            <a:prstDash val="solid"/>
          </a:ln>
        </p:spPr>
      </p:sp>
      <p:sp>
        <p:nvSpPr>
          <p:cNvPr id="13" name="Text 11"/>
          <p:cNvSpPr txBox="1"/>
          <p:nvPr/>
        </p:nvSpPr>
        <p:spPr>
          <a:xfrm>
            <a:off x="548640"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4" name="Text 12"/>
          <p:cNvSpPr txBox="1"/>
          <p:nvPr/>
        </p:nvSpPr>
        <p:spPr>
          <a:xfrm>
            <a:off x="2788920"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5" name="Text 13"/>
          <p:cNvSpPr txBox="1"/>
          <p:nvPr/>
        </p:nvSpPr>
        <p:spPr>
          <a:xfrm>
            <a:off x="5943600"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6" name="Shape 14"/>
          <p:cNvSpPr/>
          <p:nvPr/>
        </p:nvSpPr>
        <p:spPr>
          <a:xfrm>
            <a:off x="548640" y="3040380"/>
            <a:ext cx="2057400" cy="457200"/>
          </a:xfrm>
          <a:prstGeom prst="roundRect">
            <a:avLst>
              <a:gd name="adj" fmla="val 10000"/>
            </a:avLst>
          </a:prstGeom>
          <a:solidFill>
            <a:srgbClr val="E5E5E5"/>
          </a:solidFill>
          <a:ln w="12700">
            <a:solidFill>
              <a:srgbClr val="CACACA"/>
            </a:solidFill>
            <a:prstDash val="solid"/>
          </a:ln>
        </p:spPr>
      </p:sp>
      <p:sp>
        <p:nvSpPr>
          <p:cNvPr id="17" name="Text 15"/>
          <p:cNvSpPr txBox="1"/>
          <p:nvPr/>
        </p:nvSpPr>
        <p:spPr>
          <a:xfrm>
            <a:off x="548640"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18" name="Text 16"/>
          <p:cNvSpPr txBox="1"/>
          <p:nvPr/>
        </p:nvSpPr>
        <p:spPr>
          <a:xfrm>
            <a:off x="2788920"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19" name="Text 17"/>
          <p:cNvSpPr txBox="1"/>
          <p:nvPr/>
        </p:nvSpPr>
        <p:spPr>
          <a:xfrm>
            <a:off x="5943600"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0" name="Shape 18"/>
          <p:cNvSpPr/>
          <p:nvPr/>
        </p:nvSpPr>
        <p:spPr>
          <a:xfrm>
            <a:off x="548640" y="3547872"/>
            <a:ext cx="2057400" cy="457200"/>
          </a:xfrm>
          <a:prstGeom prst="roundRect">
            <a:avLst>
              <a:gd name="adj" fmla="val 10000"/>
            </a:avLst>
          </a:prstGeom>
          <a:solidFill>
            <a:srgbClr val="E5E5E5"/>
          </a:solidFill>
          <a:ln w="12700">
            <a:solidFill>
              <a:srgbClr val="CACACA"/>
            </a:solidFill>
            <a:prstDash val="solid"/>
          </a:ln>
        </p:spPr>
      </p:sp>
      <p:sp>
        <p:nvSpPr>
          <p:cNvPr id="21" name="Text 19"/>
          <p:cNvSpPr txBox="1"/>
          <p:nvPr/>
        </p:nvSpPr>
        <p:spPr>
          <a:xfrm>
            <a:off x="548640"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2" name="Text 20"/>
          <p:cNvSpPr txBox="1"/>
          <p:nvPr/>
        </p:nvSpPr>
        <p:spPr>
          <a:xfrm>
            <a:off x="2788920"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3" name="Text 21"/>
          <p:cNvSpPr txBox="1"/>
          <p:nvPr/>
        </p:nvSpPr>
        <p:spPr>
          <a:xfrm>
            <a:off x="5943600"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4" name="Shape 22"/>
          <p:cNvSpPr/>
          <p:nvPr/>
        </p:nvSpPr>
        <p:spPr>
          <a:xfrm>
            <a:off x="548640" y="4055364"/>
            <a:ext cx="2057400" cy="457200"/>
          </a:xfrm>
          <a:prstGeom prst="roundRect">
            <a:avLst>
              <a:gd name="adj" fmla="val 10000"/>
            </a:avLst>
          </a:prstGeom>
          <a:solidFill>
            <a:srgbClr val="E5E5E5"/>
          </a:solidFill>
          <a:ln w="12700">
            <a:solidFill>
              <a:srgbClr val="CACACA"/>
            </a:solidFill>
            <a:prstDash val="solid"/>
          </a:ln>
        </p:spPr>
      </p:sp>
      <p:sp>
        <p:nvSpPr>
          <p:cNvPr id="25" name="Text 23"/>
          <p:cNvSpPr txBox="1"/>
          <p:nvPr/>
        </p:nvSpPr>
        <p:spPr>
          <a:xfrm>
            <a:off x="548640"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6" name="Text 24"/>
          <p:cNvSpPr txBox="1"/>
          <p:nvPr/>
        </p:nvSpPr>
        <p:spPr>
          <a:xfrm>
            <a:off x="2788920"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7" name="Text 25"/>
          <p:cNvSpPr txBox="1"/>
          <p:nvPr/>
        </p:nvSpPr>
        <p:spPr>
          <a:xfrm>
            <a:off x="5943600"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28" name="Shape 26"/>
          <p:cNvSpPr/>
          <p:nvPr/>
        </p:nvSpPr>
        <p:spPr>
          <a:xfrm>
            <a:off x="548640" y="4562856"/>
            <a:ext cx="2057400" cy="457200"/>
          </a:xfrm>
          <a:prstGeom prst="roundRect">
            <a:avLst>
              <a:gd name="adj" fmla="val 10000"/>
            </a:avLst>
          </a:prstGeom>
          <a:solidFill>
            <a:srgbClr val="C7E3F9"/>
          </a:solidFill>
          <a:ln w="12700">
            <a:solidFill>
              <a:srgbClr val="77BFEE"/>
            </a:solidFill>
            <a:prstDash val="solid"/>
          </a:ln>
        </p:spPr>
      </p:sp>
      <p:sp>
        <p:nvSpPr>
          <p:cNvPr id="29" name="Text 27"/>
          <p:cNvSpPr txBox="1"/>
          <p:nvPr/>
        </p:nvSpPr>
        <p:spPr>
          <a:xfrm>
            <a:off x="548640"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0" name="Text 28"/>
          <p:cNvSpPr txBox="1"/>
          <p:nvPr/>
        </p:nvSpPr>
        <p:spPr>
          <a:xfrm>
            <a:off x="2788920"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1" name="Text 29"/>
          <p:cNvSpPr txBox="1"/>
          <p:nvPr/>
        </p:nvSpPr>
        <p:spPr>
          <a:xfrm>
            <a:off x="5943600"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2" name="Shape 30"/>
          <p:cNvSpPr/>
          <p:nvPr/>
        </p:nvSpPr>
        <p:spPr>
          <a:xfrm>
            <a:off x="548640" y="5070348"/>
            <a:ext cx="2057400" cy="457200"/>
          </a:xfrm>
          <a:prstGeom prst="roundRect">
            <a:avLst>
              <a:gd name="adj" fmla="val 10000"/>
            </a:avLst>
          </a:prstGeom>
          <a:solidFill>
            <a:srgbClr val="C7E3F9"/>
          </a:solidFill>
          <a:ln w="12700">
            <a:solidFill>
              <a:srgbClr val="77BFEE"/>
            </a:solidFill>
            <a:prstDash val="solid"/>
          </a:ln>
        </p:spPr>
      </p:sp>
      <p:sp>
        <p:nvSpPr>
          <p:cNvPr id="33" name="Text 31"/>
          <p:cNvSpPr txBox="1"/>
          <p:nvPr/>
        </p:nvSpPr>
        <p:spPr>
          <a:xfrm>
            <a:off x="548640"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4" name="Text 32"/>
          <p:cNvSpPr txBox="1"/>
          <p:nvPr/>
        </p:nvSpPr>
        <p:spPr>
          <a:xfrm>
            <a:off x="2788920"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5" name="Text 33"/>
          <p:cNvSpPr txBox="1"/>
          <p:nvPr/>
        </p:nvSpPr>
        <p:spPr>
          <a:xfrm>
            <a:off x="5943600"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6" name="Shape 34"/>
          <p:cNvSpPr/>
          <p:nvPr/>
        </p:nvSpPr>
        <p:spPr>
          <a:xfrm>
            <a:off x="548640" y="5577840"/>
            <a:ext cx="2057400" cy="457200"/>
          </a:xfrm>
          <a:prstGeom prst="roundRect">
            <a:avLst>
              <a:gd name="adj" fmla="val 10000"/>
            </a:avLst>
          </a:prstGeom>
          <a:solidFill>
            <a:srgbClr val="C7E3F9"/>
          </a:solidFill>
          <a:ln w="12700">
            <a:solidFill>
              <a:srgbClr val="77BFEE"/>
            </a:solidFill>
            <a:prstDash val="solid"/>
          </a:ln>
        </p:spPr>
      </p:sp>
      <p:sp>
        <p:nvSpPr>
          <p:cNvPr id="37" name="Text 35"/>
          <p:cNvSpPr txBox="1"/>
          <p:nvPr/>
        </p:nvSpPr>
        <p:spPr>
          <a:xfrm>
            <a:off x="548640"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38" name="Text 36"/>
          <p:cNvSpPr txBox="1"/>
          <p:nvPr/>
        </p:nvSpPr>
        <p:spPr>
          <a:xfrm>
            <a:off x="2788920"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39" name="Text 37"/>
          <p:cNvSpPr txBox="1"/>
          <p:nvPr/>
        </p:nvSpPr>
        <p:spPr>
          <a:xfrm>
            <a:off x="5943600"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+0,82).</a:t>
            </a:r>
            <a:endParaRPr lang="en-US" sz="850" dirty="0"/>
          </a:p>
        </p:txBody>
      </p:sp>
      <p:sp>
        <p:nvSpPr>
          <p:cNvPr id="40" name="Text 3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un banco español con este análisis, hoy</a:t>
            </a:r>
            <a:endParaRPr lang="en-US" sz="1100" dirty="0"/>
          </a:p>
        </p:txBody>
      </p:sp>
      <p:sp>
        <p:nvSpPr>
          <p:cNvPr id="4" name="Shape 2"/>
          <p:cNvSpPr/>
          <p:nvPr/>
        </p:nvSpPr>
        <p:spPr>
          <a:xfrm>
            <a:off x="548640" y="1536192"/>
            <a:ext cx="2240280" cy="566928"/>
          </a:xfrm>
          <a:prstGeom prst="roundRect">
            <a:avLst>
              <a:gd name="adj" fmla="val 8065"/>
            </a:avLst>
          </a:prstGeom>
          <a:solidFill>
            <a:srgbClr val="C7E3F9"/>
          </a:solidFill>
          <a:ln w="12700">
            <a:solidFill>
              <a:srgbClr val="77BFEE"/>
            </a:solidFill>
            <a:prstDash val="solid"/>
          </a:ln>
        </p:spPr>
      </p:sp>
      <p:sp>
        <p:nvSpPr>
          <p:cNvPr id="5" name="Text 3"/>
          <p:cNvSpPr txBox="1"/>
          <p:nvPr/>
        </p:nvSpPr>
        <p:spPr>
          <a:xfrm>
            <a:off x="548640" y="153619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Atacar</a:t>
            </a:r>
            <a:endParaRPr lang="en-US" sz="1100" dirty="0"/>
          </a:p>
        </p:txBody>
      </p:sp>
      <p:sp>
        <p:nvSpPr>
          <p:cNvPr id="6" name="Text 4"/>
          <p:cNvSpPr txBox="1"/>
          <p:nvPr/>
        </p:nvSpPr>
        <p:spPr>
          <a:xfrm>
            <a:off x="2971800" y="156362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circulante, por precio y por comisión</a:t>
            </a:r>
            <a:endParaRPr lang="en-US" sz="1050" dirty="0"/>
          </a:p>
        </p:txBody>
      </p:sp>
      <p:sp>
        <p:nvSpPr>
          <p:cNvPr id="7" name="Text 5"/>
          <p:cNvSpPr txBox="1"/>
          <p:nvPr/>
        </p:nvSpPr>
        <p:spPr>
          <a:xfrm>
            <a:off x="6172200" y="156362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destino del 73,0 % de la demanda y el producto del que nadie publica precio de disponibilidad. La comisión neutral —la que hace el ROE indiferente a la disposición— es el CCF por el margen: 0,28 % en España. Por debajo de eso, cada línea poco dispuesta destruye ROE.</a:t>
            </a:r>
            <a:endParaRPr lang="en-US" sz="850" dirty="0"/>
          </a:p>
        </p:txBody>
      </p:sp>
      <p:sp>
        <p:nvSpPr>
          <p:cNvPr id="8" name="Shape 6"/>
          <p:cNvSpPr/>
          <p:nvPr/>
        </p:nvSpPr>
        <p:spPr>
          <a:xfrm>
            <a:off x="548640" y="2194560"/>
            <a:ext cx="2240280" cy="566928"/>
          </a:xfrm>
          <a:prstGeom prst="roundRect">
            <a:avLst>
              <a:gd name="adj" fmla="val 8065"/>
            </a:avLst>
          </a:prstGeom>
          <a:solidFill>
            <a:srgbClr val="C7E3F9"/>
          </a:solidFill>
          <a:ln w="12700">
            <a:solidFill>
              <a:srgbClr val="77BFEE"/>
            </a:solidFill>
            <a:prstDash val="solid"/>
          </a:ln>
        </p:spPr>
      </p:sp>
      <p:sp>
        <p:nvSpPr>
          <p:cNvPr id="9" name="Text 7"/>
          <p:cNvSpPr txBox="1"/>
          <p:nvPr/>
        </p:nvSpPr>
        <p:spPr>
          <a:xfrm>
            <a:off x="548640" y="2194560"/>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Repreciar</a:t>
            </a:r>
            <a:endParaRPr lang="en-US" sz="1100" dirty="0"/>
          </a:p>
        </p:txBody>
      </p:sp>
      <p:sp>
        <p:nvSpPr>
          <p:cNvPr id="10" name="Text 8"/>
          <p:cNvSpPr txBox="1"/>
          <p:nvPr/>
        </p:nvSpPr>
        <p:spPr>
          <a:xfrm>
            <a:off x="2971800" y="2221992"/>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tramo pequeño y el autónomo</a:t>
            </a:r>
            <a:endParaRPr lang="en-US" sz="1050" dirty="0"/>
          </a:p>
        </p:txBody>
      </p:sp>
      <p:sp>
        <p:nvSpPr>
          <p:cNvPr id="11" name="Text 9"/>
          <p:cNvSpPr txBox="1"/>
          <p:nvPr/>
        </p:nvSpPr>
        <p:spPr>
          <a:xfrm>
            <a:off x="6172200" y="2221992"/>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sin gradiente de precio por tamaño (−4 pb frente a +143 de Italia), y el gradiente acompaña al ROE (ρ = +0,82). El autónomo ya paga 115 pb más: la disposición a pagar del micro existe y no se está cobrando en sociedades.</a:t>
            </a:r>
            <a:endParaRPr lang="en-US" sz="850" dirty="0"/>
          </a:p>
        </p:txBody>
      </p:sp>
      <p:sp>
        <p:nvSpPr>
          <p:cNvPr id="12" name="Shape 10"/>
          <p:cNvSpPr/>
          <p:nvPr/>
        </p:nvSpPr>
        <p:spPr>
          <a:xfrm>
            <a:off x="548640" y="2852928"/>
            <a:ext cx="2240280" cy="566928"/>
          </a:xfrm>
          <a:prstGeom prst="roundRect">
            <a:avLst>
              <a:gd name="adj" fmla="val 8065"/>
            </a:avLst>
          </a:prstGeom>
          <a:solidFill>
            <a:srgbClr val="C7E3F9"/>
          </a:solidFill>
          <a:ln w="12700">
            <a:solidFill>
              <a:srgbClr val="77BFEE"/>
            </a:solidFill>
            <a:prstDash val="solid"/>
          </a:ln>
        </p:spPr>
      </p:sp>
      <p:sp>
        <p:nvSpPr>
          <p:cNvPr id="13" name="Text 11"/>
          <p:cNvSpPr txBox="1"/>
          <p:nvPr/>
        </p:nvSpPr>
        <p:spPr>
          <a:xfrm>
            <a:off x="548640" y="2852928"/>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No pasar de</a:t>
            </a:r>
            <a:endParaRPr lang="en-US" sz="1100" dirty="0"/>
          </a:p>
        </p:txBody>
      </p:sp>
      <p:sp>
        <p:nvSpPr>
          <p:cNvPr id="14" name="Text 12"/>
          <p:cNvSpPr txBox="1"/>
          <p:nvPr/>
        </p:nvSpPr>
        <p:spPr>
          <a:xfrm>
            <a:off x="2971800" y="2880360"/>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Los 2,1 puntos de colchón de la pyme pequeña</a:t>
            </a:r>
            <a:endParaRPr lang="en-US" sz="1050" dirty="0"/>
          </a:p>
        </p:txBody>
      </p:sp>
      <p:sp>
        <p:nvSpPr>
          <p:cNvPr id="15" name="Text 13"/>
          <p:cNvSpPr txBox="1"/>
          <p:nvPr/>
        </p:nvSpPr>
        <p:spPr>
          <a:xfrm>
            <a:off x="6172200" y="2880360"/>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límite duro que marca la Central de Balances: rentabilidad del activo 5,4 % menos coste de la deuda 3,3 %. Subir precio por encima no encuentra demanda, encuentra sustitución por crédito de proveedores, que ya usa el 16 % de las pymes.</a:t>
            </a:r>
            <a:endParaRPr lang="en-US" sz="850" dirty="0"/>
          </a:p>
        </p:txBody>
      </p:sp>
      <p:sp>
        <p:nvSpPr>
          <p:cNvPr id="16" name="Shape 14"/>
          <p:cNvSpPr/>
          <p:nvPr/>
        </p:nvSpPr>
        <p:spPr>
          <a:xfrm>
            <a:off x="548640" y="3511296"/>
            <a:ext cx="2240280" cy="566928"/>
          </a:xfrm>
          <a:prstGeom prst="roundRect">
            <a:avLst>
              <a:gd name="adj" fmla="val 8065"/>
            </a:avLst>
          </a:prstGeom>
          <a:solidFill>
            <a:srgbClr val="E5E5E5"/>
          </a:solidFill>
          <a:ln w="12700">
            <a:solidFill>
              <a:srgbClr val="CACACA"/>
            </a:solidFill>
            <a:prstDash val="solid"/>
          </a:ln>
        </p:spPr>
      </p:sp>
      <p:sp>
        <p:nvSpPr>
          <p:cNvPr id="17" name="Text 15"/>
          <p:cNvSpPr txBox="1"/>
          <p:nvPr/>
        </p:nvSpPr>
        <p:spPr>
          <a:xfrm>
            <a:off x="548640" y="3511296"/>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Priorizar</a:t>
            </a:r>
            <a:endParaRPr lang="en-US" sz="1100" dirty="0"/>
          </a:p>
        </p:txBody>
      </p:sp>
      <p:sp>
        <p:nvSpPr>
          <p:cNvPr id="18" name="Text 16"/>
          <p:cNvSpPr txBox="1"/>
          <p:nvPr/>
        </p:nvSpPr>
        <p:spPr>
          <a:xfrm>
            <a:off x="2971800" y="3538728"/>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Densidad de RWA sobre eficiencia</a:t>
            </a:r>
            <a:endParaRPr lang="en-US" sz="1050" dirty="0"/>
          </a:p>
        </p:txBody>
      </p:sp>
      <p:sp>
        <p:nvSpPr>
          <p:cNvPr id="19" name="Text 17"/>
          <p:cNvSpPr txBox="1"/>
          <p:nvPr/>
        </p:nvSpPr>
        <p:spPr>
          <a:xfrm>
            <a:off x="6172200" y="3538728"/>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Sabadell gana 4,9 puntos de ROE a BBVA con un resultado antes de impuestos MENOR, solo por capital (37,3 % frente a 71,0 %). Garantía real, aval SGR e ICO mueven más el ROE que un plan de eficiencia.</a:t>
            </a:r>
            <a:endParaRPr lang="en-US" sz="850" dirty="0"/>
          </a:p>
        </p:txBody>
      </p:sp>
      <p:sp>
        <p:nvSpPr>
          <p:cNvPr id="20" name="Shape 18"/>
          <p:cNvSpPr/>
          <p:nvPr/>
        </p:nvSpPr>
        <p:spPr>
          <a:xfrm>
            <a:off x="548640" y="4169664"/>
            <a:ext cx="2240280" cy="566928"/>
          </a:xfrm>
          <a:prstGeom prst="roundRect">
            <a:avLst>
              <a:gd name="adj" fmla="val 8065"/>
            </a:avLst>
          </a:prstGeom>
          <a:solidFill>
            <a:srgbClr val="E5E5E5"/>
          </a:solidFill>
          <a:ln w="12700">
            <a:solidFill>
              <a:srgbClr val="CACACA"/>
            </a:solidFill>
            <a:prstDash val="solid"/>
          </a:ln>
        </p:spPr>
      </p:sp>
      <p:sp>
        <p:nvSpPr>
          <p:cNvPr id="21" name="Text 19"/>
          <p:cNvSpPr txBox="1"/>
          <p:nvPr/>
        </p:nvSpPr>
        <p:spPr>
          <a:xfrm>
            <a:off x="548640" y="4169664"/>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Medir</a:t>
            </a:r>
            <a:endParaRPr lang="en-US" sz="1100" dirty="0"/>
          </a:p>
        </p:txBody>
      </p:sp>
      <p:sp>
        <p:nvSpPr>
          <p:cNvPr id="22" name="Text 20"/>
          <p:cNvSpPr txBox="1"/>
          <p:nvPr/>
        </p:nvSpPr>
        <p:spPr>
          <a:xfrm>
            <a:off x="2971800" y="4197096"/>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La cobertura, no solo la mora</a:t>
            </a:r>
            <a:endParaRPr lang="en-US" sz="1050" dirty="0"/>
          </a:p>
        </p:txBody>
      </p:sp>
      <p:sp>
        <p:nvSpPr>
          <p:cNvPr id="23" name="Text 21"/>
          <p:cNvSpPr txBox="1"/>
          <p:nvPr/>
        </p:nvSpPr>
        <p:spPr>
          <a:xfrm>
            <a:off x="6172200" y="4197096"/>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Santander lleva cuatro trimestres bajando cobertura de PYME (43,2 % a 36,5 %) con la peor mora. Es el indicador que antes avisa, y el único de riesgo que el ejercicio de transparencia da por banco y por trimestre.</a:t>
            </a:r>
            <a:endParaRPr lang="en-US" sz="850" dirty="0"/>
          </a:p>
        </p:txBody>
      </p:sp>
      <p:sp>
        <p:nvSpPr>
          <p:cNvPr id="24" name="Shape 22"/>
          <p:cNvSpPr/>
          <p:nvPr/>
        </p:nvSpPr>
        <p:spPr>
          <a:xfrm>
            <a:off x="548640" y="4828032"/>
            <a:ext cx="2240280" cy="566928"/>
          </a:xfrm>
          <a:prstGeom prst="roundRect">
            <a:avLst>
              <a:gd name="adj" fmla="val 8065"/>
            </a:avLst>
          </a:prstGeom>
          <a:solidFill>
            <a:srgbClr val="E5E5E5"/>
          </a:solidFill>
          <a:ln w="12700">
            <a:solidFill>
              <a:srgbClr val="CACACA"/>
            </a:solidFill>
            <a:prstDash val="solid"/>
          </a:ln>
        </p:spPr>
      </p:sp>
      <p:sp>
        <p:nvSpPr>
          <p:cNvPr id="25" name="Text 23"/>
          <p:cNvSpPr txBox="1"/>
          <p:nvPr/>
        </p:nvSpPr>
        <p:spPr>
          <a:xfrm>
            <a:off x="548640" y="482803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Cerrar antes de decidir</a:t>
            </a:r>
            <a:endParaRPr lang="en-US" sz="1100" dirty="0"/>
          </a:p>
        </p:txBody>
      </p:sp>
      <p:sp>
        <p:nvSpPr>
          <p:cNvPr id="26" name="Text 24"/>
          <p:cNvSpPr txBox="1"/>
          <p:nvPr/>
        </p:nvSpPr>
        <p:spPr>
          <a:xfrm>
            <a:off x="2971800" y="485546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precio de PYME por banco</a:t>
            </a:r>
            <a:endParaRPr lang="en-US" sz="1050" dirty="0"/>
          </a:p>
        </p:txBody>
      </p:sp>
      <p:sp>
        <p:nvSpPr>
          <p:cNvPr id="27" name="Text 25"/>
          <p:cNvSpPr txBox="1"/>
          <p:nvPr/>
        </p:nvSpPr>
        <p:spPr>
          <a:xfrm>
            <a:off x="6172200" y="485546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existe en fuente pública: la publicación por entidad del Banco de España se apoya en la Circular 5/2012, limitada a personas físicas. Solo sale con dato interno o comercial. Es el único hueco que impide comparar habilidad comercial y no solo estructura.</a:t>
            </a:r>
            <a:endParaRPr lang="en-US" sz="85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tres primeras recomendaciones se apoyan en la demanda (CESGAR) y en la capacidad de pago (Central de Balances); las tres últimas, en el modelo por banco sobre el EU-wide Transparency Exercise. El modelo compara estructura de riesgo, capital y coste, no habilidad comercial: el precio y las comisiones son comunes a los cinco porque ninguno los publica por segmento.</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Anexos</a:t>
            </a:r>
            <a:endParaRPr lang="en-US" sz="2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Datos</a:t>
            </a:r>
            <a:endParaRPr lang="en-US" sz="2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Once fuentes, 38885 observaciones, cada fila trazable a su serie de origen</a:t>
            </a:r>
            <a:endParaRPr lang="en-US" sz="11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2606040"/>
                <a:gridCol w="4251960"/>
                <a:gridCol w="2560320"/>
                <a:gridCol w="1664208"/>
              </a:tblGrid>
              <a:tr h="301752">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Demanda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CESGAR, XV Informe de financiación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Capacidad de pago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Central de Balances Integrada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por tamaño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 · El circulante es la única fila cuyo perímetro es el total de empresas: el MIR no lo publica por tramo de importe</a:t>
            </a:r>
            <a:endParaRPr lang="en-US" sz="11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 (todas las empresas)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77BFEE"/>
          </a:solidFill>
          <a:ln w="12700">
            <a:solidFill>
              <a:srgbClr val="77BFEE"/>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8" name="Shape 5"/>
          <p:cNvSpPr/>
          <p:nvPr/>
        </p:nvSpPr>
        <p:spPr>
          <a:xfrm>
            <a:off x="2377440" y="5806440"/>
            <a:ext cx="1371600" cy="256032"/>
          </a:xfrm>
          <a:prstGeom prst="roundRect">
            <a:avLst>
              <a:gd name="adj" fmla="val 42857"/>
            </a:avLst>
          </a:prstGeom>
          <a:solidFill>
            <a:srgbClr val="FFAB70"/>
          </a:solidFill>
          <a:ln w="12700">
            <a:solidFill>
              <a:srgbClr val="FFAB7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0" name="Shape 7"/>
          <p:cNvSpPr/>
          <p:nvPr/>
        </p:nvSpPr>
        <p:spPr>
          <a:xfrm>
            <a:off x="4206240" y="5806440"/>
            <a:ext cx="1371600" cy="256032"/>
          </a:xfrm>
          <a:prstGeom prst="roundRect">
            <a:avLst>
              <a:gd name="adj" fmla="val 42857"/>
            </a:avLst>
          </a:prstGeom>
          <a:solidFill>
            <a:srgbClr val="FF8AC2"/>
          </a:solidFill>
          <a:ln w="12700">
            <a:solidFill>
              <a:srgbClr val="FF8AC2"/>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Cinco límites que conviene tener delante antes de usar cualquier cifra de este deck</a:t>
            </a:r>
            <a:endParaRPr lang="en-US" sz="1300" dirty="0"/>
          </a:p>
        </p:txBody>
      </p:sp>
      <p:sp>
        <p:nvSpPr>
          <p:cNvPr id="4" name="Shape 2"/>
          <p:cNvSpPr/>
          <p:nvPr/>
        </p:nvSpPr>
        <p:spPr>
          <a:xfrm>
            <a:off x="548640" y="1627632"/>
            <a:ext cx="347472" cy="347472"/>
          </a:xfrm>
          <a:prstGeom prst="ellipse">
            <a:avLst/>
          </a:prstGeom>
          <a:solidFill>
            <a:srgbClr val="F56600"/>
          </a:solidFill>
          <a:ln w="12700">
            <a:solidFill>
              <a:srgbClr val="F56600"/>
            </a:solidFill>
            <a:prstDash val="solid"/>
          </a:ln>
        </p:spPr>
      </p:sp>
      <p:sp>
        <p:nvSpPr>
          <p:cNvPr id="5" name="Text 3"/>
          <p:cNvSpPr txBox="1"/>
          <p:nvPr/>
        </p:nvSpPr>
        <p:spPr>
          <a:xfrm>
            <a:off x="548640" y="1627632"/>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1</a:t>
            </a:r>
            <a:endParaRPr lang="en-US" sz="1350" dirty="0"/>
          </a:p>
        </p:txBody>
      </p:sp>
      <p:sp>
        <p:nvSpPr>
          <p:cNvPr id="6" name="Text 4"/>
          <p:cNvSpPr txBox="1"/>
          <p:nvPr/>
        </p:nvSpPr>
        <p:spPr>
          <a:xfrm>
            <a:off x="1097280" y="1591056"/>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Rentabilidad comparable entre países</a:t>
            </a:r>
            <a:endParaRPr lang="en-US" sz="1350" dirty="0"/>
          </a:p>
        </p:txBody>
      </p:sp>
      <p:sp>
        <p:nvSpPr>
          <p:cNvPr id="7" name="Text 5"/>
          <p:cNvSpPr txBox="1"/>
          <p:nvPr/>
        </p:nvSpPr>
        <p:spPr>
          <a:xfrm>
            <a:off x="1097280" y="1874520"/>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000" dirty="0"/>
          </a:p>
        </p:txBody>
      </p:sp>
      <p:sp>
        <p:nvSpPr>
          <p:cNvPr id="8" name="Shape 6"/>
          <p:cNvSpPr/>
          <p:nvPr/>
        </p:nvSpPr>
        <p:spPr>
          <a:xfrm>
            <a:off x="548640" y="2532888"/>
            <a:ext cx="347472" cy="347472"/>
          </a:xfrm>
          <a:prstGeom prst="ellipse">
            <a:avLst/>
          </a:prstGeom>
          <a:solidFill>
            <a:srgbClr val="F56600"/>
          </a:solidFill>
          <a:ln w="12700">
            <a:solidFill>
              <a:srgbClr val="F56600"/>
            </a:solidFill>
            <a:prstDash val="solid"/>
          </a:ln>
        </p:spPr>
      </p:sp>
      <p:sp>
        <p:nvSpPr>
          <p:cNvPr id="9" name="Text 7"/>
          <p:cNvSpPr txBox="1"/>
          <p:nvPr/>
        </p:nvSpPr>
        <p:spPr>
          <a:xfrm>
            <a:off x="548640" y="2532888"/>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2</a:t>
            </a:r>
            <a:endParaRPr lang="en-US" sz="1350" dirty="0"/>
          </a:p>
        </p:txBody>
      </p:sp>
      <p:sp>
        <p:nvSpPr>
          <p:cNvPr id="10" name="Text 8"/>
          <p:cNvSpPr txBox="1"/>
          <p:nvPr/>
        </p:nvSpPr>
        <p:spPr>
          <a:xfrm>
            <a:off x="1097280" y="2496312"/>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negocio PYME de cada banco</a:t>
            </a:r>
            <a:endParaRPr lang="en-US" sz="1350" dirty="0"/>
          </a:p>
        </p:txBody>
      </p:sp>
      <p:sp>
        <p:nvSpPr>
          <p:cNvPr id="11" name="Text 9"/>
          <p:cNvSpPr txBox="1"/>
          <p:nvPr/>
        </p:nvSpPr>
        <p:spPr>
          <a:xfrm>
            <a:off x="1097280" y="2779776"/>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000" dirty="0"/>
          </a:p>
        </p:txBody>
      </p:sp>
      <p:sp>
        <p:nvSpPr>
          <p:cNvPr id="12" name="Shape 10"/>
          <p:cNvSpPr/>
          <p:nvPr/>
        </p:nvSpPr>
        <p:spPr>
          <a:xfrm>
            <a:off x="548640" y="3438144"/>
            <a:ext cx="347472" cy="347472"/>
          </a:xfrm>
          <a:prstGeom prst="ellipse">
            <a:avLst/>
          </a:prstGeom>
          <a:solidFill>
            <a:srgbClr val="F56600"/>
          </a:solidFill>
          <a:ln w="12700">
            <a:solidFill>
              <a:srgbClr val="F56600"/>
            </a:solidFill>
            <a:prstDash val="solid"/>
          </a:ln>
        </p:spPr>
      </p:sp>
      <p:sp>
        <p:nvSpPr>
          <p:cNvPr id="13" name="Text 11"/>
          <p:cNvSpPr txBox="1"/>
          <p:nvPr/>
        </p:nvSpPr>
        <p:spPr>
          <a:xfrm>
            <a:off x="548640" y="3438144"/>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3</a:t>
            </a:r>
            <a:endParaRPr lang="en-US" sz="1350" dirty="0"/>
          </a:p>
        </p:txBody>
      </p:sp>
      <p:sp>
        <p:nvSpPr>
          <p:cNvPr id="14" name="Text 12"/>
          <p:cNvSpPr txBox="1"/>
          <p:nvPr/>
        </p:nvSpPr>
        <p:spPr>
          <a:xfrm>
            <a:off x="1097280" y="3401568"/>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del factoring y del confirming</a:t>
            </a:r>
            <a:endParaRPr lang="en-US" sz="1350" dirty="0"/>
          </a:p>
        </p:txBody>
      </p:sp>
      <p:sp>
        <p:nvSpPr>
          <p:cNvPr id="15" name="Text 13"/>
          <p:cNvSpPr txBox="1"/>
          <p:nvPr/>
        </p:nvSpPr>
        <p:spPr>
          <a:xfrm>
            <a:off x="1097280" y="3685032"/>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000" dirty="0"/>
          </a:p>
        </p:txBody>
      </p:sp>
      <p:sp>
        <p:nvSpPr>
          <p:cNvPr id="16" name="Shape 14"/>
          <p:cNvSpPr/>
          <p:nvPr/>
        </p:nvSpPr>
        <p:spPr>
          <a:xfrm>
            <a:off x="548640" y="4343400"/>
            <a:ext cx="347472" cy="347472"/>
          </a:xfrm>
          <a:prstGeom prst="ellipse">
            <a:avLst/>
          </a:prstGeom>
          <a:solidFill>
            <a:srgbClr val="F56600"/>
          </a:solidFill>
          <a:ln w="12700">
            <a:solidFill>
              <a:srgbClr val="F56600"/>
            </a:solidFill>
            <a:prstDash val="solid"/>
          </a:ln>
        </p:spPr>
      </p:sp>
      <p:sp>
        <p:nvSpPr>
          <p:cNvPr id="17" name="Text 15"/>
          <p:cNvSpPr txBox="1"/>
          <p:nvPr/>
        </p:nvSpPr>
        <p:spPr>
          <a:xfrm>
            <a:off x="548640" y="4343400"/>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4</a:t>
            </a:r>
            <a:endParaRPr lang="en-US" sz="1350" dirty="0"/>
          </a:p>
        </p:txBody>
      </p:sp>
      <p:sp>
        <p:nvSpPr>
          <p:cNvPr id="18" name="Text 16"/>
          <p:cNvSpPr txBox="1"/>
          <p:nvPr/>
        </p:nvSpPr>
        <p:spPr>
          <a:xfrm>
            <a:off x="1097280" y="4306824"/>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 PYME de cada banco</a:t>
            </a:r>
            <a:endParaRPr lang="en-US" sz="1350" dirty="0"/>
          </a:p>
        </p:txBody>
      </p:sp>
      <p:sp>
        <p:nvSpPr>
          <p:cNvPr id="19" name="Text 17"/>
          <p:cNvSpPr txBox="1"/>
          <p:nvPr/>
        </p:nvSpPr>
        <p:spPr>
          <a:xfrm>
            <a:off x="1097280" y="4590288"/>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El Banco de España publica tipos y comisiones por entidad, pero su base legal es la Circular 5/2012, acotada a clientes «personas físicas». La circular que sí cubre a empresas, la 1/2010, publica solo agregado del sistema. Lo que hay por entidad no cubre empresas, y lo que cubre empresas no está por entidad.</a:t>
            </a:r>
            <a:endParaRPr lang="en-US" sz="1000" dirty="0"/>
          </a:p>
        </p:txBody>
      </p:sp>
      <p:sp>
        <p:nvSpPr>
          <p:cNvPr id="20" name="Shape 18"/>
          <p:cNvSpPr/>
          <p:nvPr/>
        </p:nvSpPr>
        <p:spPr>
          <a:xfrm>
            <a:off x="548640" y="5248656"/>
            <a:ext cx="347472" cy="347472"/>
          </a:xfrm>
          <a:prstGeom prst="ellipse">
            <a:avLst/>
          </a:prstGeom>
          <a:solidFill>
            <a:srgbClr val="F56600"/>
          </a:solidFill>
          <a:ln w="12700">
            <a:solidFill>
              <a:srgbClr val="F56600"/>
            </a:solidFill>
            <a:prstDash val="solid"/>
          </a:ln>
        </p:spPr>
      </p:sp>
      <p:sp>
        <p:nvSpPr>
          <p:cNvPr id="21" name="Text 19"/>
          <p:cNvSpPr txBox="1"/>
          <p:nvPr/>
        </p:nvSpPr>
        <p:spPr>
          <a:xfrm>
            <a:off x="548640" y="5248656"/>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5</a:t>
            </a:r>
            <a:endParaRPr lang="en-US" sz="1350" dirty="0"/>
          </a:p>
        </p:txBody>
      </p:sp>
      <p:sp>
        <p:nvSpPr>
          <p:cNvPr id="22" name="Text 20"/>
          <p:cNvSpPr txBox="1"/>
          <p:nvPr/>
        </p:nvSpPr>
        <p:spPr>
          <a:xfrm>
            <a:off x="1097280" y="5212080"/>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La hipoteca a PYME</a:t>
            </a:r>
            <a:endParaRPr lang="en-US" sz="1350" dirty="0"/>
          </a:p>
        </p:txBody>
      </p:sp>
      <p:sp>
        <p:nvSpPr>
          <p:cNvPr id="23" name="Text 21"/>
          <p:cNvSpPr txBox="1"/>
          <p:nvPr/>
        </p:nvSpPr>
        <p:spPr>
          <a:xfrm>
            <a:off x="1097280" y="5495544"/>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1672" cy="914400"/>
        </p:xfrm>
        <a:graphic>
          <a:graphicData uri="http://schemas.openxmlformats.org/drawingml/2006/table">
            <a:tbl>
              <a:tblPr/>
              <a:tblGrid>
                <a:gridCol w="2468880"/>
                <a:gridCol w="1600200"/>
                <a:gridCol w="4114800"/>
                <a:gridCol w="2898648"/>
              </a:tblGrid>
              <a:tr h="45720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cinco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0,37 % a 1,21 %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Disposición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 el BCE ni el EBA ni el Banco de España publican límite y dispuesto de las líneas de crédito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Solo pesa si la comisión de disponibilidad se aparta de la neutral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Comisión de disponibilidad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Ninguna estadística publica comisiones de líneas de crédito, ni siquiera el cuadro 19.6 del Banco de 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en el circulante. Mueve su ROE entre el 7 % y el 11 %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Conversión del disponible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CCF 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CRR3, compromiso cancelable incondicionalmente. El no cancelable va al 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Al 40 % el ROE del circulante cae entre 1,1 y 2,5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Perímetro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Todas las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NO ES SUPUESTO, ES UN LÍMITE DE LA FUENTE. La serie A2Z1 del MIR solo existe en categoría total. Riesgo y capital se toman del mismo perímetro para que cierre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para comparar con el préstamo PYME: no son el mismo negocio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5" name="Text 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Información relevante</a:t>
            </a:r>
            <a:endParaRPr lang="en-US" sz="2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FD6BA"/>
          </a:solidFill>
          <a:ln w="12700">
            <a:solidFill>
              <a:srgbClr val="FFAB7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Mitigar el coste del riesgo: dónde está la palanca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100" dirty="0"/>
          </a:p>
        </p:txBody>
      </p:sp>
      <p:graphicFrame>
        <p:nvGraphicFramePr>
          <p:cNvPr id="4" name="Chart 0" descr=""/>
          <p:cNvGraphicFramePr/>
          <p:nvPr/>
        </p:nvGraphicFramePr>
        <p:xfrm>
          <a:off x="548640"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627632"/>
            <a:ext cx="4187952" cy="1874520"/>
          </a:xfrm>
          <a:prstGeom prst="roundRect">
            <a:avLst>
              <a:gd name="adj" fmla="val 2927"/>
            </a:avLst>
          </a:prstGeom>
          <a:solidFill>
            <a:srgbClr val="FFD6BA"/>
          </a:solidFill>
          <a:ln w="12700">
            <a:solidFill>
              <a:srgbClr val="FFAB70"/>
            </a:solidFill>
            <a:prstDash val="solid"/>
          </a:ln>
        </p:spPr>
      </p:sp>
      <p:sp>
        <p:nvSpPr>
          <p:cNvPr id="6" name="Text 3"/>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7" name="Text 4"/>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8" name="Shape 5"/>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9" name="Text 6"/>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0" name="Text 7"/>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1" name="Text 8"/>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FCCE8"/>
          </a:solidFill>
          <a:ln w="12700">
            <a:solidFill>
              <a:srgbClr val="FF8AC2"/>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2026-09-18T08:36:30Z</dcterms:created>
  <dcterms:modified xsi:type="dcterms:W3CDTF">2026-09-18T08:36:30Z</dcterms:modified>
</cp:coreProperties>
</file>