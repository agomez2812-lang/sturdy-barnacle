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7.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8.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9.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0.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1.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2.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charts/chart15.xml" ContentType="application/vnd.openxmlformats-officedocument.drawingml.chart+xml"/>
  <Override PartName="/ppt/slideMasters/slideMaster24.xml" ContentType="application/vnd.openxmlformats-officedocument.presentationml.slideMaster+xml"/>
  <Override PartName="/ppt/slides/slide24.xml" ContentType="application/vnd.openxmlformats-officedocument.presentationml.slide+xml"/>
  <Override PartName="/ppt/charts/chart1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17.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charts/chart18.xml" ContentType="application/vnd.openxmlformats-officedocument.drawingml.chart+xml"/>
  <Override PartName="/ppt/slideMasters/slideMaster27.xml" ContentType="application/vnd.openxmlformats-officedocument.presentationml.slideMaster+xml"/>
  <Override PartName="/ppt/slides/slide27.xml" ContentType="application/vnd.openxmlformats-officedocument.presentationml.slide+xml"/>
  <Override PartName="/ppt/charts/chart19.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0.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21.xml" ContentType="application/vnd.openxmlformats-officedocument.drawingml.chart+xml"/>
  <Override PartName="/ppt/charts/chart22.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23.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charts/chart24.xml" ContentType="application/vnd.openxmlformats-officedocument.drawingml.chart+xml"/>
  <Override PartName="/ppt/slideMasters/slideMaster45.xml" ContentType="application/vnd.openxmlformats-officedocument.presentationml.slideMaster+xml"/>
  <Override PartName="/ppt/slides/slide45.xml" ContentType="application/vnd.openxmlformats-officedocument.presentationml.slide+xml"/>
  <Override PartName="/ppt/charts/chart25.xml" ContentType="application/vnd.openxmlformats-officedocument.drawingml.chart+xml"/>
  <Override PartName="/ppt/charts/chart26.xml" ContentType="application/vnd.openxmlformats-officedocument.drawingml.chart+xml"/>
  <Override PartName="/ppt/slideMasters/slideMaster46.xml" ContentType="application/vnd.openxmlformats-officedocument.presentationml.slideMaster+xml"/>
  <Override PartName="/ppt/slides/slide46.xml" ContentType="application/vnd.openxmlformats-officedocument.presentationml.slide+xml"/>
  <Override PartName="/ppt/charts/chart27.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charts/chart28.xml" ContentType="application/vnd.openxmlformats-officedocument.drawingml.chart+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308378</c:v>
                </c:pt>
                <c:pt idx="1">
                  <c:v>316561</c:v>
                </c:pt>
                <c:pt idx="2">
                  <c:v>961184</c:v>
                </c:pt>
                <c:pt idx="3">
                  <c:v>252021</c:v>
                </c:pt>
                <c:pt idx="4">
                  <c:v>30452</c:v>
                </c:pt>
                <c:pt idx="5">
                  <c:v>259108</c:v>
                </c:pt>
                <c:pt idx="6">
                  <c:v>16964</c:v>
                </c:pt>
              </c:numCache>
            </c:numRef>
          </c:val>
        </c:ser>
        <c:dLbls>
          <c:numFmt formatCode="#,##0" sourceLinked="0"/>
          <c:txPr>
            <a:bodyPr/>
            <a:lstStyle/>
            <a:p>
              <a:pPr>
                <a:defRPr b="0" i="0" strike="noStrike" sz="9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Brecha</c:v>
                </c:pt>
              </c:strCache>
            </c:strRef>
          </c:tx>
          <c:spPr>
            <a:solidFill>
              <a:srgbClr val="77BFEE"/>
            </a:solidFill>
            <a:effectLst/>
          </c:spPr>
          <c:invertIfNegative val="0"/>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-1.3</c:v>
                </c:pt>
                <c:pt idx="1">
                  <c:v>2.3</c:v>
                </c:pt>
                <c:pt idx="2">
                  <c:v>6.3</c:v>
                </c:pt>
                <c:pt idx="3">
                  <c:v>-0.7</c:v>
                </c:pt>
                <c:pt idx="4">
                  <c:v>-9.4</c:v>
                </c:pt>
                <c:pt idx="5">
                  <c:v>-4</c:v>
                </c:pt>
                <c:pt idx="6">
                  <c:v>-2.1</c:v>
                </c:pt>
              </c:numCache>
            </c:numRef>
          </c:val>
        </c:ser>
        <c:dLbls>
          <c:numFmt formatCode="#,##0" sourceLinked="0"/>
          <c:txPr>
            <a:bodyPr/>
            <a:lstStyle/>
            <a:p>
              <a:pPr>
                <a:defRPr b="0" i="0" strike="noStrike" sz="9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4"/>
          <c:min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Hasta 0,25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4.56</c:v>
                </c:pt>
                <c:pt idx="2">
                  <c:v>3.99</c:v>
                </c:pt>
                <c:pt idx="3">
                  <c:v>4.65</c:v>
                </c:pt>
                <c:pt idx="4">
                  <c:v>4.36</c:v>
                </c:pt>
                <c:pt idx="5">
                  <c:v>4.57</c:v>
                </c:pt>
                <c:pt idx="6">
                  <c:v>5.64</c:v>
                </c:pt>
              </c:numCache>
            </c:numRef>
          </c:val>
        </c:ser>
        <c:ser>
          <c:idx val="1"/>
          <c:order val="1"/>
          <c:tx>
            <c:strRef>
              <c:f>Sheet1!$C$1</c:f>
              <c:strCache>
                <c:ptCount val="1"/>
                <c:pt idx="0">
                  <c:v>0,25 a 1 M€</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3.37</c:v>
                </c:pt>
                <c:pt idx="1">
                  <c:v>4.01</c:v>
                </c:pt>
                <c:pt idx="2">
                  <c:v>3.51</c:v>
                </c:pt>
                <c:pt idx="3">
                  <c:v>3.56</c:v>
                </c:pt>
                <c:pt idx="4">
                  <c:v>3.42</c:v>
                </c:pt>
                <c:pt idx="5">
                  <c:v>4.47</c:v>
                </c:pt>
                <c:pt idx="6">
                  <c:v>5.02</c:v>
                </c:pt>
              </c:numCache>
            </c:numRef>
          </c:val>
        </c:ser>
        <c:ser>
          <c:idx val="2"/>
          <c:order val="2"/>
          <c:tx>
            <c:strRef>
              <c:f>Sheet1!$D$1</c:f>
              <c:strCache>
                <c:ptCount val="1"/>
                <c:pt idx="0">
                  <c:v>Más de 1 M€</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3.46</c:v>
                </c:pt>
                <c:pt idx="1">
                  <c:v>3.41</c:v>
                </c:pt>
                <c:pt idx="2">
                  <c:v>3.49</c:v>
                </c:pt>
                <c:pt idx="3">
                  <c:v>3.22</c:v>
                </c:pt>
                <c:pt idx="4">
                  <c:v>3.71</c:v>
                </c:pt>
                <c:pt idx="5">
                  <c:v>3.37</c:v>
                </c:pt>
                <c:pt idx="6">
                  <c:v>5.04</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banco local</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12.44</c:v>
                </c:pt>
                <c:pt idx="1">
                  <c:v>17.21</c:v>
                </c:pt>
                <c:pt idx="2">
                  <c:v>5.44</c:v>
                </c:pt>
                <c:pt idx="3">
                  <c:v>15.31</c:v>
                </c:pt>
                <c:pt idx="4">
                  <c:v>13.88</c:v>
                </c:pt>
                <c:pt idx="5">
                  <c:v>20.32</c:v>
                </c:pt>
                <c:pt idx="6">
                  <c:v>13.93</c:v>
                </c:pt>
              </c:numCache>
            </c:numRef>
          </c:val>
        </c:ser>
        <c:ser>
          <c:idx val="1"/>
          <c:order val="1"/>
          <c:tx>
            <c:strRef>
              <c:f>Sheet1!$C$1</c:f>
              <c:strCache>
                <c:ptCount val="1"/>
                <c:pt idx="0">
                  <c:v>ROE del entrante eficiente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13.66</c:v>
                </c:pt>
                <c:pt idx="1">
                  <c:v>35</c:v>
                </c:pt>
                <c:pt idx="2">
                  <c:v>21.76</c:v>
                </c:pt>
                <c:pt idx="3">
                  <c:v>21.61</c:v>
                </c:pt>
                <c:pt idx="4">
                  <c:v>16.95</c:v>
                </c:pt>
                <c:pt idx="5">
                  <c:v>37.04</c:v>
                </c:pt>
                <c:pt idx="6">
                  <c:v>26.95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0"/>
        </c:scaling>
        <c:delete val="0"/>
        <c:axPos val="l"/>
        <c:majorGridlines>
          <c:spPr>
            <a:ln w="12700" cap="flat">
              <a:solidFill>
                <a:srgbClr val="E5E5E5"/>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Coste ponderado de los recursos</c:v>
                </c:pt>
              </c:strCache>
            </c:strRef>
          </c:tx>
          <c:spPr>
            <a:solidFill>
              <a:srgbClr val="F56600"/>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0.76</c:v>
                </c:pt>
                <c:pt idx="1">
                  <c:v>1.09</c:v>
                </c:pt>
                <c:pt idx="2">
                  <c:v>1.21</c:v>
                </c:pt>
                <c:pt idx="3">
                  <c:v>0.74</c:v>
                </c:pt>
                <c:pt idx="4">
                  <c:v>0.74</c:v>
                </c:pt>
                <c:pt idx="5">
                  <c:v>1.04</c:v>
                </c:pt>
                <c:pt idx="6">
                  <c:v>0.37</c:v>
                </c:pt>
              </c:numCache>
            </c:numRef>
          </c:val>
        </c:ser>
        <c:ser>
          <c:idx val="1"/>
          <c:order val="1"/>
          <c:tx>
            <c:strRef>
              <c:f>Sheet1!$C$1</c:f>
              <c:strCache>
                <c:ptCount val="1"/>
                <c:pt idx="0">
                  <c:v>Margen sobre la facilidad del BCE</c:v>
                </c:pt>
              </c:strCache>
            </c:strRef>
          </c:tx>
          <c:spPr>
            <a:solidFill>
              <a:srgbClr val="77BFEE"/>
            </a:solidFill>
            <a:effectLst/>
          </c:spPr>
          <c:invertIfNegative val="0"/>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1.33</c:v>
                </c:pt>
                <c:pt idx="1">
                  <c:v>1</c:v>
                </c:pt>
                <c:pt idx="2">
                  <c:v>0.88</c:v>
                </c:pt>
                <c:pt idx="3">
                  <c:v>1.35</c:v>
                </c:pt>
                <c:pt idx="4">
                  <c:v>1.35</c:v>
                </c:pt>
                <c:pt idx="5">
                  <c:v>1.05</c:v>
                </c:pt>
                <c:pt idx="6">
                  <c:v>1.72</c:v>
                </c:pt>
              </c:numCache>
            </c:numRef>
          </c:val>
        </c:ser>
        <c:dLbls>
          <c:numFmt formatCode="#,##0" sourceLinked="0"/>
          <c:txPr>
            <a:bodyPr/>
            <a:lstStyle/>
            <a:p>
              <a:pPr>
                <a:defRPr b="0" i="0" strike="noStrike" sz="900" u="none">
                  <a:solidFill>
                    <a:srgbClr val="2B2B2B"/>
                  </a:solidFill>
                  <a:latin typeface="Arial"/>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PD × LGD</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0.59</c:v>
                </c:pt>
                <c:pt idx="1">
                  <c:v>0.4</c:v>
                </c:pt>
                <c:pt idx="2">
                  <c:v>0.68</c:v>
                </c:pt>
                <c:pt idx="3">
                  <c:v>0.8</c:v>
                </c:pt>
                <c:pt idx="4">
                  <c:v>0.5</c:v>
                </c:pt>
                <c:pt idx="5">
                  <c:v>0.35</c:v>
                </c:pt>
                <c:pt idx="6">
                  <c:v>0.4</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
        </c:scaling>
        <c:delete val="0"/>
        <c:axPos val="l"/>
        <c:majorGridlines>
          <c:spPr>
            <a:ln w="12700" cap="flat">
              <a:solidFill>
                <a:srgbClr val="E3E9EB"/>
              </a:solidFill>
              <a:prstDash val="solid"/>
              <a:round/>
            </a:ln>
          </c:spPr>
        </c:majorGridlines>
        <c:numFmt formatCode="0.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Margen neto de riesgo</c:v>
                </c:pt>
              </c:strCache>
            </c:strRef>
          </c:tx>
          <c:spPr>
            <a:solidFill>
              <a:srgbClr val="F56600"/>
            </a:solidFill>
            <a:effectLst/>
          </c:spPr>
          <c:invertIfNegative val="0"/>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Irlanda
1,08 %</c:v>
                  </c:pt>
                  <c:pt idx="1">
                    <c:v>P. Bajos
1,18 %</c:v>
                  </c:pt>
                  <c:pt idx="2">
                    <c:v>Alemania
1,26 %</c:v>
                  </c:pt>
                  <c:pt idx="3">
                    <c:v>Portugal
1,26 %</c:v>
                  </c:pt>
                  <c:pt idx="4">
                    <c:v>España
1,73 %</c:v>
                  </c:pt>
                  <c:pt idx="5">
                    <c:v>Francia
2,15 %</c:v>
                  </c:pt>
                  <c:pt idx="6">
                    <c:v>Italia
2,26 %</c:v>
                  </c:pt>
                </c:lvl>
              </c:multiLvlStrCache>
            </c:multiLvlStrRef>
          </c:cat>
          <c:val>
            <c:numRef>
              <c:f>Sheet1!$B$2:$B$8</c:f>
              <c:numCache>
                <c:formatCode>General</c:formatCode>
                <c:ptCount val="7"/>
                <c:pt idx="0">
                  <c:v>5.47</c:v>
                </c:pt>
                <c:pt idx="1">
                  <c:v>3.99</c:v>
                </c:pt>
                <c:pt idx="2">
                  <c:v>3.77</c:v>
                </c:pt>
                <c:pt idx="3">
                  <c:v>3.57</c:v>
                </c:pt>
                <c:pt idx="4">
                  <c:v>2.93</c:v>
                </c:pt>
                <c:pt idx="5">
                  <c:v>2.75</c:v>
                </c:pt>
                <c:pt idx="6">
                  <c:v>3.58</c:v>
                </c:pt>
              </c:numCache>
            </c:numRef>
          </c:val>
        </c:ser>
        <c:dLbls>
          <c:numFmt formatCode="0.00&quot;%&quot;"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Densidad de RWA</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59.46</c:v>
                </c:pt>
                <c:pt idx="1">
                  <c:v>35.34</c:v>
                </c:pt>
                <c:pt idx="2">
                  <c:v>43</c:v>
                </c:pt>
                <c:pt idx="3">
                  <c:v>46.35</c:v>
                </c:pt>
                <c:pt idx="4">
                  <c:v>61.33</c:v>
                </c:pt>
                <c:pt idx="5">
                  <c:v>37.2</c:v>
                </c:pt>
                <c:pt idx="6">
                  <c:v>69.97</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7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circulante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PYME (≤1 M€)</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3.41</c:v>
                </c:pt>
                <c:pt idx="1">
                  <c:v>4.39</c:v>
                </c:pt>
                <c:pt idx="2">
                  <c:v>3.77</c:v>
                </c:pt>
                <c:pt idx="3">
                  <c:v>4.25</c:v>
                </c:pt>
                <c:pt idx="4">
                  <c:v>3.94</c:v>
                </c:pt>
                <c:pt idx="5">
                  <c:v>4.5</c:v>
                </c:pt>
                <c:pt idx="6">
                  <c:v>5.37</c:v>
                </c:pt>
              </c:numCache>
            </c:numRef>
          </c:val>
        </c:ser>
        <c:ser>
          <c:idx val="1"/>
          <c:order val="1"/>
          <c:tx>
            <c:strRef>
              <c:f>Sheet1!$C$1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3.42</c:v>
                </c:pt>
                <c:pt idx="1">
                  <c:v>3.57</c:v>
                </c:pt>
                <c:pt idx="2">
                  <c:v>3.57</c:v>
                </c:pt>
                <c:pt idx="3">
                  <c:v>3.57</c:v>
                </c:pt>
                <c:pt idx="4">
                  <c:v>3.82</c:v>
                </c:pt>
                <c:pt idx="5">
                  <c:v>3.47</c:v>
                </c:pt>
                <c:pt idx="6">
                  <c:v>5.01</c:v>
                </c:pt>
              </c:numCache>
            </c:numRef>
          </c:val>
        </c:ser>
        <c:ser>
          <c:idx val="2"/>
          <c:order val="2"/>
          <c:tx>
            <c:strRef>
              <c:f>Sheet1!$D$1</c:f>
              <c:strCache>
                <c:ptCount val="1"/>
                <c:pt idx="0">
                  <c:v>Circulante (todas las 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del circulante</c:v>
                </c:pt>
              </c:strCache>
            </c:strRef>
          </c:tx>
          <c:spPr>
            <a:solidFill>
              <a:srgbClr val="77BFEE"/>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10.2</c:v>
                </c:pt>
                <c:pt idx="1">
                  <c:v>12.6</c:v>
                </c:pt>
                <c:pt idx="2">
                  <c:v>3.6</c:v>
                </c:pt>
                <c:pt idx="3">
                  <c:v>12.8</c:v>
                </c:pt>
                <c:pt idx="4">
                  <c:v>11.7</c:v>
                </c:pt>
                <c:pt idx="5">
                  <c:v>5.1</c:v>
                </c:pt>
                <c:pt idx="6">
                  <c:v>9.3</c:v>
                </c:pt>
              </c:numCache>
            </c:numRef>
          </c:val>
        </c:ser>
        <c:ser>
          <c:idx val="1"/>
          <c:order val="1"/>
          <c:tx>
            <c:strRef>
              <c:f>Sheet1!$C$1</c:f>
              <c:strCache>
                <c:ptCount val="1"/>
                <c:pt idx="0">
                  <c:v>ROE del préstamo PYME</c:v>
                </c:pt>
              </c:strCache>
            </c:strRef>
          </c:tx>
          <c:spPr>
            <a:solidFill>
              <a:srgbClr val="F56600"/>
            </a:solidFill>
            <a:effectLst/>
          </c:spPr>
          <c:invertIfNegative val="0"/>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12.4</c:v>
                </c:pt>
                <c:pt idx="1">
                  <c:v>17.2</c:v>
                </c:pt>
                <c:pt idx="2">
                  <c:v>5.4</c:v>
                </c:pt>
                <c:pt idx="3">
                  <c:v>15.3</c:v>
                </c:pt>
                <c:pt idx="4">
                  <c:v>13.9</c:v>
                </c:pt>
                <c:pt idx="5">
                  <c:v>20.3</c:v>
                </c:pt>
                <c:pt idx="6">
                  <c:v>13.9</c:v>
                </c:pt>
              </c:numCache>
            </c:numRef>
          </c:val>
        </c:ser>
        <c:dLbls>
          <c:numFmt formatCode="#,##0" sourceLinked="0"/>
          <c:txPr>
            <a:bodyPr/>
            <a:lstStyle/>
            <a:p>
              <a:pPr>
                <a:defRPr b="0" i="0" strike="noStrike" sz="8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 con necesidades</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Sheet1!$A$2:$A$5</c:f>
              <c:multiLvlStrCache>
                <c:ptCount val="4"/>
                <c:lvl>
                  <c:pt idx="0">
                    <c:v>Circulante</c:v>
                  </c:pt>
                  <c:pt idx="1">
                    <c:v>Equipo productivo</c:v>
                  </c:pt>
                  <c:pt idx="2">
                    <c:v>Inmuebles</c:v>
                  </c:pt>
                  <c:pt idx="3">
                    <c:v>Innovación</c:v>
                  </c:pt>
                </c:lvl>
              </c:multiLvlStrCache>
            </c:multiLvlStrRef>
          </c:cat>
          <c:val>
            <c:numRef>
              <c:f>Sheet1!$B$2:$B$5</c:f>
              <c:numCache>
                <c:formatCode>General</c:formatCode>
                <c:ptCount val="4"/>
                <c:pt idx="0">
                  <c:v>73</c:v>
                </c:pt>
                <c:pt idx="1">
                  <c:v>33.2</c:v>
                </c:pt>
                <c:pt idx="2">
                  <c:v>12</c:v>
                </c:pt>
                <c:pt idx="3">
                  <c:v>4.3</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de pymes</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Ninguno</c:v>
                  </c:pt>
                  <c:pt idx="1">
                    <c:v>El precio de la financiacion</c:v>
                  </c:pt>
                  <c:pt idx="2">
                    <c:v>Falta de comprension del negocio por la entidad</c:v>
                  </c:pt>
                  <c:pt idx="3">
                    <c:v>Tramites administrativos y otros</c:v>
                  </c:pt>
                  <c:pt idx="4">
                    <c:v>Escasez de financiacion disponible</c:v>
                  </c:pt>
                </c:lvl>
              </c:multiLvlStrCache>
            </c:multiLvlStrRef>
          </c:cat>
          <c:val>
            <c:numRef>
              <c:f>Sheet1!$B$2:$B$6</c:f>
              <c:numCache>
                <c:formatCode>General</c:formatCode>
                <c:ptCount val="5"/>
                <c:pt idx="0">
                  <c:v>49.2</c:v>
                </c:pt>
                <c:pt idx="1">
                  <c:v>21.6</c:v>
                </c:pt>
                <c:pt idx="2">
                  <c:v>10.5</c:v>
                </c:pt>
                <c:pt idx="3">
                  <c:v>8.6</c:v>
                </c:pt>
                <c:pt idx="4">
                  <c:v>5.7</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5"/>
        </c:scaling>
        <c:delete val="0"/>
        <c:axPos val="b"/>
        <c:majorGridlines>
          <c:spPr>
            <a:ln w="12700" cap="flat">
              <a:solidFill>
                <a:srgbClr val="E3E9EB"/>
              </a:solidFill>
              <a:prstDash val="solid"/>
              <a:round/>
            </a:ln>
          </c:spPr>
        </c:majorGridlines>
        <c:numFmt formatCode="0&quot;%&quot;" sourceLinked="0"/>
        <c:majorTickMark val="out"/>
        <c:minorTickMark val="none"/>
        <c:tickLblPos val="low"/>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Rentabilidad del activo neto</c:v>
                </c:pt>
              </c:strCache>
            </c:strRef>
          </c:tx>
          <c:spPr>
            <a:solidFill>
              <a:srgbClr val="F56600"/>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Sheet1!$B$2:$B$4</c:f>
              <c:numCache>
                <c:formatCode>General</c:formatCode>
                <c:ptCount val="3"/>
                <c:pt idx="0">
                  <c:v>5.4</c:v>
                </c:pt>
                <c:pt idx="1">
                  <c:v>10.4</c:v>
                </c:pt>
                <c:pt idx="2">
                  <c:v>6.8</c:v>
                </c:pt>
              </c:numCache>
            </c:numRef>
          </c:val>
        </c:ser>
        <c:ser>
          <c:idx val="1"/>
          <c:order val="1"/>
          <c:tx>
            <c:strRef>
              <c:f>Sheet1!$C$1</c:f>
              <c:strCache>
                <c:ptCount val="1"/>
                <c:pt idx="0">
                  <c:v>Tipo efectivo pagado por su deuda</c:v>
                </c:pt>
              </c:strCache>
            </c:strRef>
          </c:tx>
          <c:spPr>
            <a:solidFill>
              <a:srgbClr val="77BFEE"/>
            </a:solidFill>
            <a:effectLst/>
          </c:spPr>
          <c:invertIfNegative val="0"/>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Pequeñas</c:v>
                  </c:pt>
                  <c:pt idx="1">
                    <c:v>Medianas</c:v>
                  </c:pt>
                  <c:pt idx="2">
                    <c:v>Grandes</c:v>
                  </c:pt>
                </c:lvl>
              </c:multiLvlStrCache>
            </c:multiLvlStrRef>
          </c:cat>
          <c:val>
            <c:numRef>
              <c:f>Sheet1!$C$2:$C$4</c:f>
              <c:numCache>
                <c:formatCode>General</c:formatCode>
                <c:ptCount val="3"/>
                <c:pt idx="0">
                  <c:v>3.3</c:v>
                </c:pt>
                <c:pt idx="1">
                  <c:v>4.4</c:v>
                </c:pt>
                <c:pt idx="2">
                  <c:v>4.2</c:v>
                </c:pt>
              </c:numCache>
            </c:numRef>
          </c:val>
        </c:ser>
        <c:dLbls>
          <c:numFmt formatCode="#,##0" sourceLinked="0"/>
          <c:txPr>
            <a:bodyPr/>
            <a:lstStyle/>
            <a:p>
              <a:pPr>
                <a:defRPr b="0" i="0" strike="noStrike" sz="10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1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TEDR (sin comisiones)</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Sheet1!$B$2:$B$4</c:f>
              <c:numCache>
                <c:formatCode>General</c:formatCode>
                <c:ptCount val="3"/>
                <c:pt idx="0">
                  <c:v>3.42</c:v>
                </c:pt>
                <c:pt idx="1">
                  <c:v>3.36</c:v>
                </c:pt>
                <c:pt idx="2">
                  <c:v>3.44</c:v>
                </c:pt>
              </c:numCache>
            </c:numRef>
          </c:val>
        </c:ser>
        <c:ser>
          <c:idx val="1"/>
          <c:order val="1"/>
          <c:tx>
            <c:strRef>
              <c:f>Sheet1!$C$1</c:f>
              <c:strCache>
                <c:ptCount val="1"/>
                <c:pt idx="0">
                  <c:v>TAE (con comisiones)</c:v>
                </c:pt>
              </c:strCache>
            </c:strRef>
          </c:tx>
          <c:spPr>
            <a:solidFill>
              <a:srgbClr val="A1A1A1"/>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Sheet1!$A$2:$A$4</c:f>
              <c:multiLvlStrCache>
                <c:ptCount val="3"/>
                <c:lvl>
                  <c:pt idx="0">
                    <c:v>≤0,25 M€</c:v>
                  </c:pt>
                  <c:pt idx="1">
                    <c:v>0,25–1 M€</c:v>
                  </c:pt>
                  <c:pt idx="2">
                    <c:v>&gt;1 M€</c:v>
                  </c:pt>
                </c:lvl>
              </c:multiLvlStrCache>
            </c:multiLvlStrRef>
          </c:cat>
          <c:val>
            <c:numRef>
              <c:f>Sheet1!$C$2:$C$4</c:f>
              <c:numCache>
                <c:formatCode>General</c:formatCode>
                <c:ptCount val="3"/>
                <c:pt idx="0">
                  <c:v>4.43</c:v>
                </c:pt>
                <c:pt idx="1">
                  <c:v>3.72</c:v>
                </c:pt>
                <c:pt idx="2">
                  <c:v>3.62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Tipo de nueva producción</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dPt>
            <c:idx val="0"/>
            <c:invertIfNegative val="0"/>
            <c:bubble3D val="0"/>
            <c:spPr>
              <a:solidFill>
                <a:srgbClr val="F56600"/>
              </a:solidFill>
              <a:effectLst/>
            </c:spPr>
          </c:dPt>
          <c:dPt>
            <c:idx val="1"/>
            <c:invertIfNegative val="0"/>
            <c:bubble3D val="0"/>
            <c:spPr>
              <a:solidFill>
                <a:srgbClr val="FFAB70"/>
              </a:solidFill>
              <a:effectLst/>
            </c:spPr>
          </c:dPt>
          <c:dPt>
            <c:idx val="2"/>
            <c:invertIfNegative val="0"/>
            <c:bubble3D val="0"/>
            <c:spPr>
              <a:solidFill>
                <a:srgbClr val="77BFEE"/>
              </a:solidFill>
              <a:effectLst/>
            </c:spPr>
          </c:dPt>
          <c:dPt>
            <c:idx val="3"/>
            <c:invertIfNegative val="0"/>
            <c:bubble3D val="0"/>
            <c:spPr>
              <a:solidFill>
                <a:srgbClr val="77BFEE"/>
              </a:solidFill>
              <a:effectLst/>
            </c:spPr>
          </c:dPt>
          <c:dPt>
            <c:idx val="4"/>
            <c:invertIfNegative val="0"/>
            <c:bubble3D val="0"/>
            <c:spPr>
              <a:solidFill>
                <a:srgbClr val="77BFEE"/>
              </a:solidFill>
              <a:effectLst/>
            </c:spPr>
          </c:dPt>
          <c:cat>
            <c:multiLvlStrRef>
              <c:f>Sheet1!$A$2:$A$6</c:f>
              <c:multiLvlStrCache>
                <c:ptCount val="5"/>
                <c:lvl>
                  <c:pt idx="0">
                    <c:v>Autónomo
otros fines</c:v>
                  </c:pt>
                  <c:pt idx="1">
                    <c:v>Autónomo
hasta 1 año</c:v>
                  </c:pt>
                  <c:pt idx="2">
                    <c:v>Sociedad
≤0,25 M€</c:v>
                  </c:pt>
                  <c:pt idx="3">
                    <c:v>Sociedad
0,25-1 M€</c:v>
                  </c:pt>
                  <c:pt idx="4">
                    <c:v>Sociedad
&gt;1 M€</c:v>
                  </c:pt>
                </c:lvl>
              </c:multiLvlStrCache>
            </c:multiLvlStrRef>
          </c:cat>
          <c:val>
            <c:numRef>
              <c:f>Sheet1!$B$2:$B$6</c:f>
              <c:numCache>
                <c:formatCode>General</c:formatCode>
                <c:ptCount val="5"/>
                <c:pt idx="0">
                  <c:v>4.57</c:v>
                </c:pt>
                <c:pt idx="1">
                  <c:v>3.84</c:v>
                </c:pt>
                <c:pt idx="2">
                  <c:v>3.42</c:v>
                </c:pt>
                <c:pt idx="3">
                  <c:v>3.37</c:v>
                </c:pt>
                <c:pt idx="4">
                  <c:v>3.46</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5"/>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Préstamo, total empresas</c:v>
                </c:pt>
              </c:strCache>
            </c:strRef>
          </c:tx>
          <c:spPr>
            <a:solidFill>
              <a:srgbClr val="FFD6B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3.42</c:v>
                </c:pt>
                <c:pt idx="1">
                  <c:v>3.57</c:v>
                </c:pt>
                <c:pt idx="2">
                  <c:v>3.57</c:v>
                </c:pt>
                <c:pt idx="3">
                  <c:v>3.57</c:v>
                </c:pt>
                <c:pt idx="4">
                  <c:v>3.82</c:v>
                </c:pt>
                <c:pt idx="5">
                  <c:v>3.47</c:v>
                </c:pt>
                <c:pt idx="6">
                  <c:v>5.01</c:v>
                </c:pt>
              </c:numCache>
            </c:numRef>
          </c:val>
        </c:ser>
        <c:ser>
          <c:idx val="1"/>
          <c:order val="1"/>
          <c:tx>
            <c:strRef>
              <c:f>Sheet1!$C$1</c:f>
              <c:strCache>
                <c:ptCount val="1"/>
                <c:pt idx="0">
                  <c:v>Circulante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3.58</c:v>
                </c:pt>
                <c:pt idx="1">
                  <c:v>4.95</c:v>
                </c:pt>
                <c:pt idx="2">
                  <c:v>3.39</c:v>
                </c:pt>
                <c:pt idx="3">
                  <c:v>4.11</c:v>
                </c:pt>
                <c:pt idx="4">
                  <c:v>4.41</c:v>
                </c:pt>
                <c:pt idx="5">
                  <c:v>2.46</c:v>
                </c:pt>
                <c:pt idx="6">
                  <c:v>4.92</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Volumen sobre PIB</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16.5</c:v>
                </c:pt>
                <c:pt idx="1">
                  <c:v>9.5</c:v>
                </c:pt>
                <c:pt idx="2">
                  <c:v>14.8</c:v>
                </c:pt>
                <c:pt idx="3">
                  <c:v>13.2</c:v>
                </c:pt>
                <c:pt idx="4">
                  <c:v>20.7</c:v>
                </c:pt>
                <c:pt idx="5">
                  <c:v>14</c:v>
                </c:pt>
                <c:pt idx="6">
                  <c:v>4.5</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Cartera PYME en España</c:v>
                </c:pt>
              </c:strCache>
            </c:strRef>
          </c:tx>
          <c:spPr>
            <a:solidFill>
              <a:srgbClr val="F56600"/>
            </a:solidFill>
            <a:effectLst/>
          </c:spPr>
          <c:invertIfNegative val="0"/>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14553</c:v>
                </c:pt>
                <c:pt idx="1">
                  <c:v>22324</c:v>
                </c:pt>
                <c:pt idx="2">
                  <c:v>48736</c:v>
                </c:pt>
                <c:pt idx="3">
                  <c:v>24410</c:v>
                </c:pt>
                <c:pt idx="4">
                  <c:v>32325</c:v>
                </c:pt>
              </c:numCache>
            </c:numRef>
          </c:val>
        </c:ser>
        <c:dLbls>
          <c:numFmt formatCode="#,##0" sourceLinked="0"/>
          <c:txPr>
            <a:bodyPr/>
            <a:lstStyle/>
            <a:p>
              <a:pPr>
                <a:defRPr b="0" i="0" strike="noStrike" sz="105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3E9EB"/>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2.51</c:v>
                </c:pt>
                <c:pt idx="1">
                  <c:v>2.76</c:v>
                </c:pt>
                <c:pt idx="2">
                  <c:v>2.92</c:v>
                </c:pt>
                <c:pt idx="3">
                  <c:v>2.34</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7.32</c:v>
                </c:pt>
                <c:pt idx="1">
                  <c:v>6.87</c:v>
                </c:pt>
                <c:pt idx="2">
                  <c:v>6.37</c:v>
                </c:pt>
                <c:pt idx="3">
                  <c:v>5.91</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5.29</c:v>
                </c:pt>
                <c:pt idx="1">
                  <c:v>5.18</c:v>
                </c:pt>
                <c:pt idx="2">
                  <c:v>4.75</c:v>
                </c:pt>
                <c:pt idx="3">
                  <c:v>5.3</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3.94</c:v>
                </c:pt>
                <c:pt idx="1">
                  <c:v>3.73</c:v>
                </c:pt>
                <c:pt idx="2">
                  <c:v>4.04</c:v>
                </c:pt>
                <c:pt idx="3">
                  <c:v>3.98</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7.6</c:v>
                </c:pt>
                <c:pt idx="1">
                  <c:v>8.58</c:v>
                </c:pt>
                <c:pt idx="2">
                  <c:v>8.51</c:v>
                </c:pt>
                <c:pt idx="3">
                  <c:v>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9"/>
          <c:min val="2"/>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Bankinter</c:v>
                </c:pt>
              </c:strCache>
            </c:strRef>
          </c:tx>
          <c:spPr>
            <a:solidFill>
              <a:srgbClr val="F56600"/>
            </a:solidFill>
            <a:ln w="31750" cap="flat">
              <a:solidFill>
                <a:srgbClr val="F5660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56600"/>
              </a:solidFill>
              <a:ln w="9525" cap="flat">
                <a:solidFill>
                  <a:srgbClr val="F5660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Sheet1!$B$2:$B$5</c:f>
              <c:numCache>
                <c:formatCode>General</c:formatCode>
                <c:ptCount val="4"/>
                <c:pt idx="0">
                  <c:v>56.11</c:v>
                </c:pt>
                <c:pt idx="1">
                  <c:v>51.94</c:v>
                </c:pt>
                <c:pt idx="2">
                  <c:v>53.18</c:v>
                </c:pt>
                <c:pt idx="3">
                  <c:v>74.1</c:v>
                </c:pt>
              </c:numCache>
            </c:numRef>
          </c:val>
          <c:smooth val="0"/>
        </c:ser>
        <c:ser>
          <c:idx val="1"/>
          <c:order val="1"/>
          <c:tx>
            <c:strRef>
              <c:f>Sheet1!$C$1</c:f>
              <c:strCache>
                <c:ptCount val="1"/>
                <c:pt idx="0">
                  <c:v>Sabadell</c:v>
                </c:pt>
              </c:strCache>
            </c:strRef>
          </c:tx>
          <c:spPr>
            <a:solidFill>
              <a:srgbClr val="77BFEE"/>
            </a:solidFill>
            <a:ln w="31750" cap="flat">
              <a:solidFill>
                <a:srgbClr val="77BFE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77BFEE"/>
              </a:solidFill>
              <a:ln w="9525" cap="flat">
                <a:solidFill>
                  <a:srgbClr val="77BFEE"/>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Sheet1!$C$2:$C$5</c:f>
              <c:numCache>
                <c:formatCode>General</c:formatCode>
                <c:ptCount val="4"/>
                <c:pt idx="0">
                  <c:v>48.39</c:v>
                </c:pt>
                <c:pt idx="1">
                  <c:v>47.27</c:v>
                </c:pt>
                <c:pt idx="2">
                  <c:v>47.66</c:v>
                </c:pt>
                <c:pt idx="3">
                  <c:v>56.09</c:v>
                </c:pt>
              </c:numCache>
            </c:numRef>
          </c:val>
          <c:smooth val="0"/>
        </c:ser>
        <c:ser>
          <c:idx val="2"/>
          <c:order val="2"/>
          <c:tx>
            <c:strRef>
              <c:f>Sheet1!$D$1</c:f>
              <c:strCache>
                <c:ptCount val="1"/>
                <c:pt idx="0">
                  <c:v>CaixaBank</c:v>
                </c:pt>
              </c:strCache>
            </c:strRef>
          </c:tx>
          <c:spPr>
            <a:solidFill>
              <a:srgbClr val="FFAB70"/>
            </a:solidFill>
            <a:ln w="31750" cap="flat">
              <a:solidFill>
                <a:srgbClr val="FFAB7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AB70"/>
              </a:solidFill>
              <a:ln w="9525" cap="flat">
                <a:solidFill>
                  <a:srgbClr val="FFAB70"/>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Sheet1!$D$2:$D$5</c:f>
              <c:numCache>
                <c:formatCode>General</c:formatCode>
                <c:ptCount val="4"/>
                <c:pt idx="0">
                  <c:v>64.43</c:v>
                </c:pt>
                <c:pt idx="1">
                  <c:v>61.37</c:v>
                </c:pt>
                <c:pt idx="2">
                  <c:v>62.17</c:v>
                </c:pt>
                <c:pt idx="3">
                  <c:v>53.65</c:v>
                </c:pt>
              </c:numCache>
            </c:numRef>
          </c:val>
          <c:smooth val="0"/>
        </c:ser>
        <c:ser>
          <c:idx val="3"/>
          <c:order val="3"/>
          <c:tx>
            <c:strRef>
              <c:f>Sheet1!$E$1</c:f>
              <c:strCache>
                <c:ptCount val="1"/>
                <c:pt idx="0">
                  <c:v>BBVA</c:v>
                </c:pt>
              </c:strCache>
            </c:strRef>
          </c:tx>
          <c:spPr>
            <a:solidFill>
              <a:srgbClr val="A1A1A1"/>
            </a:solidFill>
            <a:ln w="31750" cap="flat">
              <a:solidFill>
                <a:srgbClr val="A1A1A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1A1A1"/>
              </a:solidFill>
              <a:ln w="9525" cap="flat">
                <a:solidFill>
                  <a:srgbClr val="A1A1A1"/>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Sheet1!$E$2:$E$5</c:f>
              <c:numCache>
                <c:formatCode>General</c:formatCode>
                <c:ptCount val="4"/>
                <c:pt idx="0">
                  <c:v>52.05</c:v>
                </c:pt>
                <c:pt idx="1">
                  <c:v>68.54</c:v>
                </c:pt>
                <c:pt idx="2">
                  <c:v>60.52</c:v>
                </c:pt>
                <c:pt idx="3">
                  <c:v>65.62</c:v>
                </c:pt>
              </c:numCache>
            </c:numRef>
          </c:val>
          <c:smooth val="0"/>
        </c:ser>
        <c:ser>
          <c:idx val="4"/>
          <c:order val="4"/>
          <c:tx>
            <c:strRef>
              <c:f>Sheet1!$F$1</c:f>
              <c:strCache>
                <c:ptCount val="1"/>
                <c:pt idx="0">
                  <c:v>Santander</c:v>
                </c:pt>
              </c:strCache>
            </c:strRef>
          </c:tx>
          <c:spPr>
            <a:solidFill>
              <a:srgbClr val="FF8AC2"/>
            </a:solidFill>
            <a:ln w="31750" cap="flat">
              <a:solidFill>
                <a:srgbClr val="FF8AC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8AC2"/>
              </a:solidFill>
              <a:ln w="9525" cap="flat">
                <a:solidFill>
                  <a:srgbClr val="FF8AC2"/>
                </a:solidFill>
                <a:prstDash val="solid"/>
                <a:round/>
              </a:ln>
              <a:effectLst/>
            </c:spPr>
          </c:marker>
          <c:cat>
            <c:multiLvlStrRef>
              <c:f>Sheet1!$A$2:$A$5</c:f>
              <c:multiLvlStrCache>
                <c:ptCount val="4"/>
                <c:lvl>
                  <c:pt idx="0">
                    <c:v>2024-09</c:v>
                  </c:pt>
                  <c:pt idx="1">
                    <c:v>2024-12</c:v>
                  </c:pt>
                  <c:pt idx="2">
                    <c:v>2025-03</c:v>
                  </c:pt>
                  <c:pt idx="3">
                    <c:v>2025-06</c:v>
                  </c:pt>
                </c:lvl>
              </c:multiLvlStrCache>
            </c:multiLvlStrRef>
          </c:cat>
          <c:val>
            <c:numRef>
              <c:f>Sheet1!$F$2:$F$5</c:f>
              <c:numCache>
                <c:formatCode>General</c:formatCode>
                <c:ptCount val="4"/>
                <c:pt idx="0">
                  <c:v>43.22</c:v>
                </c:pt>
                <c:pt idx="1">
                  <c:v>41.1</c:v>
                </c:pt>
                <c:pt idx="2">
                  <c:v>37.28</c:v>
                </c:pt>
                <c:pt idx="3">
                  <c:v>36.54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0"/>
          <c:min val="30"/>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ROE PYME modelizado</c:v>
                </c:pt>
              </c:strCache>
            </c:strRef>
          </c:tx>
          <c:spPr>
            <a:solidFill>
              <a:srgbClr val="F56600"/>
            </a:solidFill>
            <a:effectLst/>
          </c:spPr>
          <c:invertIfNegative val="0"/>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cat>
            <c:multiLvlStrRef>
              <c:f>Sheet1!$A$2:$A$6</c:f>
              <c:multiLvlStrCache>
                <c:ptCount val="5"/>
                <c:lvl>
                  <c:pt idx="0">
                    <c:v>Bankinter</c:v>
                  </c:pt>
                  <c:pt idx="1">
                    <c:v>Sabadell</c:v>
                  </c:pt>
                  <c:pt idx="2">
                    <c:v>CaixaBank</c:v>
                  </c:pt>
                  <c:pt idx="3">
                    <c:v>BBVA</c:v>
                  </c:pt>
                  <c:pt idx="4">
                    <c:v>Santander</c:v>
                  </c:pt>
                </c:lvl>
              </c:multiLvlStrCache>
            </c:multiLvlStrRef>
          </c:cat>
          <c:val>
            <c:numRef>
              <c:f>Sheet1!$B$2:$B$6</c:f>
              <c:numCache>
                <c:formatCode>General</c:formatCode>
                <c:ptCount val="5"/>
                <c:pt idx="0">
                  <c:v>20.7</c:v>
                </c:pt>
                <c:pt idx="1">
                  <c:v>20.2</c:v>
                </c:pt>
                <c:pt idx="2">
                  <c:v>17.7</c:v>
                </c:pt>
                <c:pt idx="3">
                  <c:v>13.2</c:v>
                </c:pt>
                <c:pt idx="4">
                  <c:v>14.2</c:v>
                </c:pt>
              </c:numCache>
            </c:numRef>
          </c:val>
        </c:ser>
        <c:dLbls>
          <c:numFmt formatCode="#,##0" sourceLinked="0"/>
          <c:txPr>
            <a:bodyPr/>
            <a:lstStyle/>
            <a:p>
              <a:pPr>
                <a:defRPr b="0" i="0" strike="noStrike" sz="11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4"/>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Total cartera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2.6</c:v>
                </c:pt>
                <c:pt idx="1">
                  <c:v>1.61</c:v>
                </c:pt>
                <c:pt idx="2">
                  <c:v>2.16</c:v>
                </c:pt>
                <c:pt idx="3">
                  <c:v>1.97</c:v>
                </c:pt>
                <c:pt idx="4">
                  <c:v>1.91</c:v>
                </c:pt>
                <c:pt idx="5">
                  <c:v>1.35</c:v>
                </c:pt>
                <c:pt idx="6">
                  <c:v>1.1</c:v>
                </c:pt>
              </c:numCache>
            </c:numRef>
          </c:val>
        </c:ser>
        <c:ser>
          <c:idx val="1"/>
          <c:order val="1"/>
          <c:tx>
            <c:strRef>
              <c:f>Sheet1!$C$1</c:f>
              <c:strCache>
                <c:ptCount val="1"/>
                <c:pt idx="0">
                  <c:v>Empresas</c:v>
                </c:pt>
              </c:strCache>
            </c:strRef>
          </c:tx>
          <c:spPr>
            <a:solidFill>
              <a:srgbClr val="77BFEE"/>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2.99</c:v>
                </c:pt>
                <c:pt idx="1">
                  <c:v>3.81</c:v>
                </c:pt>
                <c:pt idx="2">
                  <c:v>3.94</c:v>
                </c:pt>
                <c:pt idx="3">
                  <c:v>3.4</c:v>
                </c:pt>
                <c:pt idx="4">
                  <c:v>3.65</c:v>
                </c:pt>
                <c:pt idx="5">
                  <c:v>2.86</c:v>
                </c:pt>
                <c:pt idx="6">
                  <c:v>2.5</c:v>
                </c:pt>
              </c:numCache>
            </c:numRef>
          </c:val>
        </c:ser>
        <c:ser>
          <c:idx val="2"/>
          <c:order val="2"/>
          <c:tx>
            <c:strRef>
              <c:f>Sheet1!$D$1</c:f>
              <c:strCache>
                <c:ptCount val="1"/>
                <c:pt idx="0">
                  <c:v>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Sheet1!$D$2:$D$8</c:f>
              <c:numCache>
                <c:formatCode>General</c:formatCode>
                <c:ptCount val="7"/>
                <c:pt idx="0">
                  <c:v>5.38</c:v>
                </c:pt>
                <c:pt idx="1">
                  <c:v>4.32</c:v>
                </c:pt>
                <c:pt idx="2">
                  <c:v>5.12</c:v>
                </c:pt>
                <c:pt idx="3">
                  <c:v>4.9</c:v>
                </c:pt>
                <c:pt idx="4">
                  <c:v>4.22</c:v>
                </c:pt>
                <c:pt idx="5">
                  <c:v>3.13</c:v>
                </c:pt>
                <c:pt idx="6">
                  <c:v>3.77</c:v>
                </c:pt>
              </c:numCache>
            </c:numRef>
          </c:val>
        </c:ser>
        <c:ser>
          <c:idx val="3"/>
          <c:order val="3"/>
          <c:tx>
            <c:strRef>
              <c:f>Sheet1!$E$1</c:f>
              <c:strCache>
                <c:ptCount val="1"/>
                <c:pt idx="0">
                  <c:v>Inmueble comercial</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Sheet1!$E$2:$E$8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Probabilidad de impago (PD)</a:t>
            </a:r>
          </a:p>
        </c:rich>
      </c:tx>
      <c:layout/>
      <c:overlay val="0"/>
    </c:title>
    <c:autoTitleDeleted val="0"/>
    <c:plotArea>
      <c:layout/>
      <c:barChart>
        <c:barDir val="col"/>
        <c:grouping val="clustered"/>
        <c:varyColors val="0"/>
        <c:ser>
          <c:idx val="0"/>
          <c:order val="0"/>
          <c:tx>
            <c:strRef>
              <c:f>Sheet1!$B$1</c:f>
              <c:strCache>
                <c:ptCount val="1"/>
                <c:pt idx="0">
                  <c:v>PD PYME</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1.73</c:v>
                </c:pt>
                <c:pt idx="1">
                  <c:v>1.26</c:v>
                </c:pt>
                <c:pt idx="2">
                  <c:v>2.15</c:v>
                </c:pt>
                <c:pt idx="3">
                  <c:v>2.26</c:v>
                </c:pt>
                <c:pt idx="4">
                  <c:v>1.26</c:v>
                </c:pt>
                <c:pt idx="5">
                  <c:v>1.18</c:v>
                </c:pt>
                <c:pt idx="6">
                  <c:v>1.08</c:v>
                </c:pt>
              </c:numCache>
            </c:numRef>
          </c:val>
        </c:ser>
        <c:ser>
          <c:idx val="1"/>
          <c:order val="1"/>
          <c:tx>
            <c:strRef>
              <c:f>Sheet1!$C$1</c:f>
              <c:strCache>
                <c:ptCount val="1"/>
                <c:pt idx="0">
                  <c:v>PD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0.57</c:v>
                </c:pt>
                <c:pt idx="1">
                  <c:v>0.5</c:v>
                </c:pt>
                <c:pt idx="2">
                  <c:v>0.6</c:v>
                </c:pt>
                <c:pt idx="3">
                  <c:v>0.67</c:v>
                </c:pt>
                <c:pt idx="4">
                  <c:v>0.33</c:v>
                </c:pt>
                <c:pt idx="5">
                  <c:v>0.52</c:v>
                </c:pt>
                <c:pt idx="6">
                  <c:v>0.26</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2.6"/>
        </c:scaling>
        <c:delete val="0"/>
        <c:axPos val="l"/>
        <c:majorGridlines>
          <c:spPr>
            <a:ln w="12700" cap="flat">
              <a:solidFill>
                <a:srgbClr val="E3E9EB"/>
              </a:solidFill>
              <a:prstDash val="solid"/>
              <a:round/>
            </a:ln>
          </c:spPr>
        </c:majorGridlines>
        <c:numFmt formatCode="0.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F56600"/>
                </a:solidFill>
                <a:latin typeface="Arial"/>
              </a:defRPr>
            </a:pPr>
            <a:r>
              <a:rPr sz="1200" b="0" i="0" u="none" strike="noStrike">
                <a:solidFill>
                  <a:srgbClr val="F56600"/>
                </a:solidFill>
                <a:latin typeface="Arial"/>
              </a:rPr>
              <a:t>Severidad de la pérdida (LGD)</a:t>
            </a:r>
          </a:p>
        </c:rich>
      </c:tx>
      <c:layout/>
      <c:overlay val="0"/>
    </c:title>
    <c:autoTitleDeleted val="0"/>
    <c:plotArea>
      <c:layout/>
      <c:barChart>
        <c:barDir val="col"/>
        <c:grouping val="clustered"/>
        <c:varyColors val="0"/>
        <c:ser>
          <c:idx val="0"/>
          <c:order val="0"/>
          <c:tx>
            <c:strRef>
              <c:f>Sheet1!$B$1</c:f>
              <c:strCache>
                <c:ptCount val="1"/>
                <c:pt idx="0">
                  <c:v>LGD PYME</c:v>
                </c:pt>
              </c:strCache>
            </c:strRef>
          </c:tx>
          <c:spPr>
            <a:solidFill>
              <a:srgbClr val="FFAB7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34.38</c:v>
                </c:pt>
                <c:pt idx="1">
                  <c:v>31.44</c:v>
                </c:pt>
                <c:pt idx="2">
                  <c:v>31.51</c:v>
                </c:pt>
                <c:pt idx="3">
                  <c:v>35.6</c:v>
                </c:pt>
                <c:pt idx="4">
                  <c:v>40</c:v>
                </c:pt>
                <c:pt idx="5">
                  <c:v>29.7</c:v>
                </c:pt>
                <c:pt idx="6">
                  <c:v>37.34</c:v>
                </c:pt>
              </c:numCache>
            </c:numRef>
          </c:val>
        </c:ser>
        <c:ser>
          <c:idx val="1"/>
          <c:order val="1"/>
          <c:tx>
            <c:strRef>
              <c:f>Sheet1!$C$1</c:f>
              <c:strCache>
                <c:ptCount val="1"/>
                <c:pt idx="0">
                  <c:v>LGD gran empresa</c:v>
                </c:pt>
              </c:strCache>
            </c:strRef>
          </c:tx>
          <c:spPr>
            <a:solidFill>
              <a:srgbClr val="CACACA"/>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40</c:v>
                </c:pt>
                <c:pt idx="1">
                  <c:v>39.55</c:v>
                </c:pt>
                <c:pt idx="2">
                  <c:v>40</c:v>
                </c:pt>
                <c:pt idx="3">
                  <c:v>40</c:v>
                </c:pt>
                <c:pt idx="4">
                  <c:v>40</c:v>
                </c:pt>
                <c:pt idx="5">
                  <c:v>40</c:v>
                </c:pt>
                <c:pt idx="6">
                  <c:v>40</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4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 la mejor PD (1,08 %)</c:v>
                </c:pt>
              </c:strCache>
            </c:strRef>
          </c:tx>
          <c:spPr>
            <a:solidFill>
              <a:srgbClr val="F56600"/>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-22</c:v>
                </c:pt>
                <c:pt idx="1">
                  <c:v>-6</c:v>
                </c:pt>
                <c:pt idx="2">
                  <c:v>-34</c:v>
                </c:pt>
                <c:pt idx="3">
                  <c:v>-42</c:v>
                </c:pt>
                <c:pt idx="4">
                  <c:v>-7</c:v>
                </c:pt>
                <c:pt idx="5">
                  <c:v>-3</c:v>
                </c:pt>
                <c:pt idx="6">
                  <c:v>0</c:v>
                </c:pt>
              </c:numCache>
            </c:numRef>
          </c:val>
        </c:ser>
        <c:ser>
          <c:idx val="1"/>
          <c:order val="1"/>
          <c:tx>
            <c:strRef>
              <c:f>Sheet1!$C$1</c:f>
              <c:strCache>
                <c:ptCount val="1"/>
                <c:pt idx="0">
                  <c:v>Con la mejor LGD (29,7 %)</c:v>
                </c:pt>
              </c:strCache>
            </c:strRef>
          </c:tx>
          <c:spPr>
            <a:solidFill>
              <a:srgbClr val="A1A1A1"/>
            </a:solidFill>
            <a:effectLst/>
          </c:spPr>
          <c:invertIfNegative val="0"/>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Sheet1!$C$2:$C$8</c:f>
              <c:numCache>
                <c:formatCode>General</c:formatCode>
                <c:ptCount val="7"/>
                <c:pt idx="0">
                  <c:v>-8</c:v>
                </c:pt>
                <c:pt idx="1">
                  <c:v>-3</c:v>
                </c:pt>
                <c:pt idx="2">
                  <c:v>-4</c:v>
                </c:pt>
                <c:pt idx="3">
                  <c:v>-13</c:v>
                </c:pt>
                <c:pt idx="4">
                  <c:v>-13</c:v>
                </c:pt>
                <c:pt idx="5">
                  <c:v>0</c:v>
                </c:pt>
                <c:pt idx="6">
                  <c:v>-8</c:v>
                </c:pt>
              </c:numCache>
            </c:numRef>
          </c:val>
        </c:ser>
        <c:dLbls>
          <c:numFmt formatCode="#,##0" sourceLinked="0"/>
          <c:txPr>
            <a:bodyPr/>
            <a:lstStyle/>
            <a:p>
              <a:pPr>
                <a:defRPr b="0" i="0" strike="noStrike" sz="8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5E5E5"/>
              </a:solidFill>
              <a:prstDash val="solid"/>
              <a:round/>
            </a:ln>
          </c:spPr>
        </c:majorGridlines>
        <c:numFmt formatCode="0&quot; pb&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2B2B2B"/>
                </a:solidFill>
                <a:latin typeface="Arial"/>
              </a:defRPr>
            </a:pPr>
            <a:r>
              <a:rPr sz="1100" b="0" i="0" u="none" strike="noStrike">
                <a:solidFill>
                  <a:srgbClr val="2B2B2B"/>
                </a:solidFill>
                <a:latin typeface="Arial"/>
              </a:rPr>
              <a:t>Ratio de NPL de la cartera de inmueble comercial (%)</a:t>
            </a:r>
          </a:p>
        </c:rich>
      </c:tx>
      <c:layout/>
      <c:overlay val="0"/>
    </c:title>
    <c:autoTitleDeleted val="0"/>
    <c:plotArea>
      <c:layout/>
      <c:barChart>
        <c:barDir val="col"/>
        <c:grouping val="clustered"/>
        <c:varyColors val="0"/>
        <c:ser>
          <c:idx val="0"/>
          <c:order val="0"/>
          <c:tx>
            <c:strRef>
              <c:f>Sheet1!$B$1</c:f>
              <c:strCache>
                <c:ptCount val="1"/>
                <c:pt idx="0">
                  <c:v>Ratio de NPL, cartera CRE</c:v>
                </c:pt>
              </c:strCache>
            </c:strRef>
          </c:tx>
          <c:spPr>
            <a:solidFill>
              <a:srgbClr val="F56600"/>
            </a:solidFill>
            <a:effectLst/>
          </c:spPr>
          <c:invertIfNegative val="0"/>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cat>
            <c:multiLvlStrRef>
              <c:f>Sheet1!$A$2:$A$8</c:f>
              <c:multiLvlStrCache>
                <c:ptCount val="7"/>
                <c:lvl>
                  <c:pt idx="0">
                    <c:v>España</c:v>
                  </c:pt>
                  <c:pt idx="1">
                    <c:v>Alemania</c:v>
                  </c:pt>
                  <c:pt idx="2">
                    <c:v>Francia</c:v>
                  </c:pt>
                  <c:pt idx="3">
                    <c:v>Italia</c:v>
                  </c:pt>
                  <c:pt idx="4">
                    <c:v>Portugal</c:v>
                  </c:pt>
                  <c:pt idx="5">
                    <c:v>P. Bajos</c:v>
                  </c:pt>
                  <c:pt idx="6">
                    <c:v>Irlanda</c:v>
                  </c:pt>
                </c:lvl>
              </c:multiLvlStrCache>
            </c:multiLvlStrRef>
          </c:cat>
          <c:val>
            <c:numRef>
              <c:f>Sheet1!$B$2:$B$8</c:f>
              <c:numCache>
                <c:formatCode>General</c:formatCode>
                <c:ptCount val="7"/>
                <c:pt idx="0">
                  <c:v>4.25</c:v>
                </c:pt>
                <c:pt idx="1">
                  <c:v>6.81</c:v>
                </c:pt>
                <c:pt idx="2">
                  <c:v>3.86</c:v>
                </c:pt>
                <c:pt idx="3">
                  <c:v>4.27</c:v>
                </c:pt>
                <c:pt idx="4">
                  <c:v>3.83</c:v>
                </c:pt>
                <c:pt idx="5">
                  <c:v>3.06</c:v>
                </c:pt>
                <c:pt idx="6">
                  <c:v>3.5</c:v>
                </c:pt>
              </c:numCache>
            </c:numRef>
          </c:val>
        </c:ser>
        <c:dLbls>
          <c:numFmt formatCode="#,##0" sourceLinked="0"/>
          <c:txPr>
            <a:bodyPr/>
            <a:lstStyle/>
            <a:p>
              <a:pPr>
                <a:defRPr b="0" i="0" strike="noStrike" sz="1200" u="none">
                  <a:solidFill>
                    <a:srgbClr val="2B2B2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2B2B2B"/>
                </a:solidFill>
                <a:latin typeface="Arial"/>
              </a:defRPr>
            </a:pPr>
            <a:endParaRPr lang="en-US"/>
          </a:p>
        </c:txPr>
        <c:crossAx val="2094734552"/>
        <c:crosses val="autoZero"/>
        <c:auto val="1"/>
        <c:lblAlgn val="ctr"/>
        <c:noMultiLvlLbl val="1"/>
      </c:catAx>
      <c:valAx>
        <c:axId val="2094734552"/>
        <c:scaling>
          <c:orientation val="minMax"/>
          <c:max val="8"/>
        </c:scaling>
        <c:delete val="0"/>
        <c:axPos val="l"/>
        <c:majorGridlines>
          <c:spPr>
            <a:ln w="12700" cap="flat">
              <a:solidFill>
                <a:srgbClr val="E3E9EB"/>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18181"/>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construido sobre datos oficiales del BCE, EBA, OCDE, Banco de España, Banca d'Italia, EUF, CESGAR y Central de Balances. El ROE es modelizado, no observado.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chart" Target="/ppt/charts/chart22.xml"/><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23.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chart" Target="/ppt/charts/chart24.xml"/><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chart" Target="/ppt/charts/chart26.xml"/><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2B"/>
        </a:solidFill>
      </p:bgPr>
    </p:bg>
    <p:spTree>
      <p:nvGrpSpPr>
        <p:cNvPr id="1" name=""/>
        <p:cNvGrpSpPr/>
        <p:nvPr/>
      </p:nvGrpSpPr>
      <p:grpSpPr>
        <a:xfrm>
          <a:off x="0" y="0"/>
          <a:ext cx="0" cy="0"/>
          <a:chOff x="0" y="0"/>
          <a:chExt cx="0" cy="0"/>
        </a:xfrm>
      </p:grpSpPr>
      <p:sp>
        <p:nvSpPr>
          <p:cNvPr id="2" name="Shape 0"/>
          <p:cNvSpPr/>
          <p:nvPr/>
        </p:nvSpPr>
        <p:spPr>
          <a:xfrm>
            <a:off x="7360920" y="0"/>
            <a:ext cx="4828032" cy="6858000"/>
          </a:xfrm>
          <a:prstGeom prst="rect">
            <a:avLst/>
          </a:prstGeom>
          <a:solidFill>
            <a:srgbClr val="F56600"/>
          </a:solidFill>
          <a:ln w="12700">
            <a:solidFill>
              <a:srgbClr val="F56600"/>
            </a:solidFill>
            <a:prstDash val="solid"/>
          </a:ln>
        </p:spPr>
      </p:sp>
      <p:sp>
        <p:nvSpPr>
          <p:cNvPr id="3" name="Shape 1"/>
          <p:cNvSpPr/>
          <p:nvPr/>
        </p:nvSpPr>
        <p:spPr>
          <a:xfrm>
            <a:off x="10149840" y="822960"/>
            <a:ext cx="1463040" cy="1463040"/>
          </a:xfrm>
          <a:prstGeom prst="rect">
            <a:avLst/>
          </a:prstGeom>
          <a:solidFill>
            <a:srgbClr val="FFD200"/>
          </a:solidFill>
          <a:ln w="12700">
            <a:solidFill>
              <a:srgbClr val="FFD200"/>
            </a:solidFill>
            <a:prstDash val="solid"/>
          </a:ln>
        </p:spPr>
      </p:sp>
      <p:sp>
        <p:nvSpPr>
          <p:cNvPr id="4" name="Shape 2"/>
          <p:cNvSpPr/>
          <p:nvPr/>
        </p:nvSpPr>
        <p:spPr>
          <a:xfrm>
            <a:off x="7863840" y="3291840"/>
            <a:ext cx="1737360" cy="1737360"/>
          </a:xfrm>
          <a:prstGeom prst="rect">
            <a:avLst/>
          </a:prstGeom>
          <a:solidFill>
            <a:srgbClr val="FFFFFF"/>
          </a:solidFill>
          <a:ln w="12700">
            <a:solidFill>
              <a:srgbClr val="FFFFFF"/>
            </a:solidFill>
            <a:prstDash val="solid"/>
          </a:ln>
        </p:spPr>
      </p:sp>
      <p:sp>
        <p:nvSpPr>
          <p:cNvPr id="5" name="Shape 3"/>
          <p:cNvSpPr/>
          <p:nvPr/>
        </p:nvSpPr>
        <p:spPr>
          <a:xfrm>
            <a:off x="9875520" y="4617720"/>
            <a:ext cx="1143000" cy="1143000"/>
          </a:xfrm>
          <a:prstGeom prst="rect">
            <a:avLst/>
          </a:prstGeom>
          <a:solidFill>
            <a:srgbClr val="FFAB70"/>
          </a:solidFill>
          <a:ln w="12700">
            <a:solidFill>
              <a:srgbClr val="FFAB70"/>
            </a:solidFill>
            <a:prstDash val="solid"/>
          </a:ln>
        </p:spPr>
      </p:sp>
      <p:sp>
        <p:nvSpPr>
          <p:cNvPr id="6" name="Shape 4"/>
          <p:cNvSpPr/>
          <p:nvPr/>
        </p:nvSpPr>
        <p:spPr>
          <a:xfrm>
            <a:off x="0" y="0"/>
            <a:ext cx="310896" cy="6858000"/>
          </a:xfrm>
          <a:prstGeom prst="rect">
            <a:avLst/>
          </a:prstGeom>
          <a:solidFill>
            <a:srgbClr val="F56600"/>
          </a:solidFill>
          <a:ln w="12700">
            <a:solidFill>
              <a:srgbClr val="F56600"/>
            </a:solidFill>
            <a:prstDash val="solid"/>
          </a:ln>
        </p:spPr>
      </p:sp>
      <p:sp>
        <p:nvSpPr>
          <p:cNvPr id="7" name="Text 5"/>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8" name="Text 6"/>
          <p:cNvSpPr txBox="1"/>
          <p:nvPr/>
        </p:nvSpPr>
        <p:spPr>
          <a:xfrm>
            <a:off x="1005840" y="1965960"/>
            <a:ext cx="6035040" cy="1554480"/>
          </a:xfrm>
          <a:prstGeom prst="rect">
            <a:avLst/>
          </a:prstGeom>
          <a:noFill/>
          <a:ln/>
        </p:spPr>
        <p:txBody>
          <a:bodyPr wrap="square" lIns="0" tIns="0" rIns="0" bIns="0" rtlCol="0" anchor="ctr"/>
          <a:lstStyle/>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Rentabilidad</a:t>
            </a:r>
            <a:endParaRPr lang="en-US" sz="3700" dirty="0"/>
          </a:p>
          <a:p>
            <a:pPr indent="0" marL="0">
              <a:lnSpc>
                <a:spcPct val="105000"/>
              </a:lnSpc>
              <a:buNone/>
            </a:pPr>
            <a:r>
              <a:rPr lang="en-US" sz="3700" b="1" dirty="0">
                <a:solidFill>
                  <a:srgbClr val="FFFFFF"/>
                </a:solidFill>
                <a:latin typeface="Verdana" pitchFamily="34" charset="0"/>
                <a:ea typeface="Verdana" pitchFamily="34" charset="-122"/>
                <a:cs typeface="Verdana" pitchFamily="34" charset="-120"/>
              </a:rPr>
              <a:t>del negocio PYME</a:t>
            </a:r>
            <a:endParaRPr lang="en-US" sz="3700" dirty="0"/>
          </a:p>
        </p:txBody>
      </p:sp>
      <p:sp>
        <p:nvSpPr>
          <p:cNvPr id="9" name="Shape 7"/>
          <p:cNvSpPr/>
          <p:nvPr/>
        </p:nvSpPr>
        <p:spPr>
          <a:xfrm>
            <a:off x="1005840" y="370332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3950208"/>
            <a:ext cx="6035040" cy="402336"/>
          </a:xfrm>
          <a:prstGeom prst="rect">
            <a:avLst/>
          </a:prstGeom>
          <a:noFill/>
          <a:ln/>
        </p:spPr>
        <p:txBody>
          <a:bodyPr wrap="square" lIns="0" tIns="0" rIns="0" bIns="0" rtlCol="0" anchor="ctr"/>
          <a:lstStyle/>
          <a:p>
            <a:pPr indent="0" marL="0">
              <a:buNone/>
            </a:pPr>
            <a:r>
              <a:rPr lang="en-US" sz="1150" dirty="0">
                <a:solidFill>
                  <a:srgbClr val="CACACA"/>
                </a:solidFill>
                <a:latin typeface="Verdana" pitchFamily="34" charset="0"/>
                <a:ea typeface="Verdana" pitchFamily="34" charset="-122"/>
                <a:cs typeface="Verdana" pitchFamily="34" charset="-120"/>
              </a:rPr>
              <a:t>España · Alemania · Francia · Italia · Portugal · Países Bajos · Irlanda</a:t>
            </a:r>
            <a:endParaRPr lang="en-US" sz="1150" dirty="0"/>
          </a:p>
        </p:txBody>
      </p:sp>
      <p:sp>
        <p:nvSpPr>
          <p:cNvPr id="11" name="Text 9"/>
          <p:cNvSpPr txBox="1"/>
          <p:nvPr/>
        </p:nvSpPr>
        <p:spPr>
          <a:xfrm>
            <a:off x="1005840" y="4434840"/>
            <a:ext cx="6035040" cy="658368"/>
          </a:xfrm>
          <a:prstGeom prst="rect">
            <a:avLst/>
          </a:prstGeom>
          <a:noFill/>
          <a:ln/>
        </p:spPr>
        <p:txBody>
          <a:bodyPr wrap="square" lIns="0" tIns="0" rIns="0" bIns="0" rtlCol="0" anchor="ctr"/>
          <a:lstStyle/>
          <a:p>
            <a:pPr indent="0" marL="0">
              <a:buNone/>
            </a:pPr>
            <a:r>
              <a:rPr lang="en-US" sz="1100" dirty="0">
                <a:solidFill>
                  <a:srgbClr val="FFD200"/>
                </a:solidFill>
                <a:latin typeface="Verdana" pitchFamily="34" charset="0"/>
                <a:ea typeface="Verdana" pitchFamily="34" charset="-122"/>
                <a:cs typeface="Verdana" pitchFamily="34" charset="-120"/>
              </a:rPr>
              <a:t>Cinco productos · Datos oficiales 2026</a:t>
            </a:r>
            <a:endParaRPr lang="en-US" sz="1100" dirty="0"/>
          </a:p>
          <a:p>
            <a:pPr indent="0" marL="0">
              <a:buNone/>
            </a:pPr>
            <a:r>
              <a:rPr lang="en-US" sz="1100" dirty="0">
                <a:solidFill>
                  <a:srgbClr val="FFD200"/>
                </a:solidFill>
                <a:latin typeface="Verdana" pitchFamily="34" charset="0"/>
                <a:ea typeface="Verdana" pitchFamily="34" charset="-122"/>
                <a:cs typeface="Verdana" pitchFamily="34" charset="-120"/>
              </a:rPr>
              <a:t>Modelo de ROE con supuestos declarados</a:t>
            </a:r>
            <a:endParaRPr lang="en-US" sz="1100" dirty="0"/>
          </a:p>
        </p:txBody>
      </p:sp>
      <p:sp>
        <p:nvSpPr>
          <p:cNvPr id="12" name="Text 10"/>
          <p:cNvSpPr txBox="1"/>
          <p:nvPr/>
        </p:nvSpPr>
        <p:spPr>
          <a:xfrm>
            <a:off x="1005840" y="5897880"/>
            <a:ext cx="6035040" cy="274320"/>
          </a:xfrm>
          <a:prstGeom prst="rect">
            <a:avLst/>
          </a:prstGeom>
          <a:noFill/>
          <a:ln/>
        </p:spPr>
        <p:txBody>
          <a:bodyPr wrap="square" lIns="0" tIns="0" rIns="0" bIns="0" rtlCol="0" anchor="ctr"/>
          <a:lstStyle/>
          <a:p>
            <a:pPr indent="0" marL="0">
              <a:buNone/>
            </a:pPr>
            <a:r>
              <a:rPr lang="en-US" sz="950" dirty="0">
                <a:solidFill>
                  <a:srgbClr val="A1A1A1"/>
                </a:solidFill>
                <a:latin typeface="Verdana" pitchFamily="34" charset="0"/>
                <a:ea typeface="Verdana" pitchFamily="34" charset="-122"/>
                <a:cs typeface="Verdana" pitchFamily="34" charset="-120"/>
              </a:rPr>
              <a:t>71.156 observaciones · 13 fuentes · Septiembre 2026</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Objetivo y método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mide, con qué datos y dónde están los límites</a:t>
            </a:r>
            <a:endParaRPr lang="en-US" sz="1050" dirty="0"/>
          </a:p>
        </p:txBody>
      </p:sp>
      <p:sp>
        <p:nvSpPr>
          <p:cNvPr id="6" name="Shape 4"/>
          <p:cNvSpPr/>
          <p:nvPr/>
        </p:nvSpPr>
        <p:spPr>
          <a:xfrm>
            <a:off x="621792" y="1600200"/>
            <a:ext cx="10945368" cy="1069848"/>
          </a:xfrm>
          <a:prstGeom prst="roundRect">
            <a:avLst>
              <a:gd name="adj" fmla="val 5128"/>
            </a:avLst>
          </a:prstGeom>
          <a:solidFill>
            <a:srgbClr val="E5E5E5"/>
          </a:solidFill>
          <a:ln w="12700">
            <a:solidFill>
              <a:srgbClr val="CACACA"/>
            </a:solidFill>
            <a:prstDash val="solid"/>
          </a:ln>
        </p:spPr>
      </p:sp>
      <p:sp>
        <p:nvSpPr>
          <p:cNvPr id="7" name="Text 5"/>
          <p:cNvSpPr txBox="1"/>
          <p:nvPr/>
        </p:nvSpPr>
        <p:spPr>
          <a:xfrm>
            <a:off x="850392" y="170992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Objetivo</a:t>
            </a:r>
            <a:endParaRPr lang="en-US" sz="1400" dirty="0"/>
          </a:p>
        </p:txBody>
      </p:sp>
      <p:sp>
        <p:nvSpPr>
          <p:cNvPr id="8" name="Text 6"/>
          <p:cNvSpPr txBox="1"/>
          <p:nvPr/>
        </p:nvSpPr>
        <p:spPr>
          <a:xfrm>
            <a:off x="3273552" y="170992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Comparar la rentabilidad del negocio PYME entre siete países europeos, producto a producto, sobre datos oficiales y no sobre estimaciones de mercado.</a:t>
            </a:r>
            <a:endParaRPr lang="en-US" sz="1200" dirty="0"/>
          </a:p>
        </p:txBody>
      </p:sp>
      <p:sp>
        <p:nvSpPr>
          <p:cNvPr id="9" name="Shape 7"/>
          <p:cNvSpPr/>
          <p:nvPr/>
        </p:nvSpPr>
        <p:spPr>
          <a:xfrm>
            <a:off x="621792" y="2788920"/>
            <a:ext cx="10945368" cy="1069848"/>
          </a:xfrm>
          <a:prstGeom prst="roundRect">
            <a:avLst>
              <a:gd name="adj" fmla="val 5128"/>
            </a:avLst>
          </a:prstGeom>
          <a:solidFill>
            <a:srgbClr val="E5E5E5"/>
          </a:solidFill>
          <a:ln w="12700">
            <a:solidFill>
              <a:srgbClr val="CACACA"/>
            </a:solidFill>
            <a:prstDash val="solid"/>
          </a:ln>
        </p:spPr>
      </p:sp>
      <p:sp>
        <p:nvSpPr>
          <p:cNvPr id="10" name="Text 8"/>
          <p:cNvSpPr txBox="1"/>
          <p:nvPr/>
        </p:nvSpPr>
        <p:spPr>
          <a:xfrm>
            <a:off x="850392" y="289864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Alcance</a:t>
            </a:r>
            <a:endParaRPr lang="en-US" sz="1400" dirty="0"/>
          </a:p>
        </p:txBody>
      </p:sp>
      <p:sp>
        <p:nvSpPr>
          <p:cNvPr id="11" name="Text 9"/>
          <p:cNvSpPr txBox="1"/>
          <p:nvPr/>
        </p:nvSpPr>
        <p:spPr>
          <a:xfrm>
            <a:off x="3273552" y="289864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Hipotecas, préstamos, circulante, factoring y confirming, más el coste de los recursos. Segmentación por tramo de importe del préstamo, que es como segmenta la estadística oficial europea.</a:t>
            </a:r>
            <a:endParaRPr lang="en-US" sz="1200" dirty="0"/>
          </a:p>
        </p:txBody>
      </p:sp>
      <p:sp>
        <p:nvSpPr>
          <p:cNvPr id="12" name="Shape 10"/>
          <p:cNvSpPr/>
          <p:nvPr/>
        </p:nvSpPr>
        <p:spPr>
          <a:xfrm>
            <a:off x="621792" y="3977640"/>
            <a:ext cx="10945368" cy="1069848"/>
          </a:xfrm>
          <a:prstGeom prst="roundRect">
            <a:avLst>
              <a:gd name="adj" fmla="val 5128"/>
            </a:avLst>
          </a:prstGeom>
          <a:solidFill>
            <a:srgbClr val="E5E5E5"/>
          </a:solidFill>
          <a:ln w="12700">
            <a:solidFill>
              <a:srgbClr val="CACACA"/>
            </a:solidFill>
            <a:prstDash val="solid"/>
          </a:ln>
        </p:spPr>
      </p:sp>
      <p:sp>
        <p:nvSpPr>
          <p:cNvPr id="13" name="Text 11"/>
          <p:cNvSpPr txBox="1"/>
          <p:nvPr/>
        </p:nvSpPr>
        <p:spPr>
          <a:xfrm>
            <a:off x="850392" y="408736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Método</a:t>
            </a:r>
            <a:endParaRPr lang="en-US" sz="1400" dirty="0"/>
          </a:p>
        </p:txBody>
      </p:sp>
      <p:sp>
        <p:nvSpPr>
          <p:cNvPr id="14" name="Text 12"/>
          <p:cNvSpPr txBox="1"/>
          <p:nvPr/>
        </p:nvSpPr>
        <p:spPr>
          <a:xfrm>
            <a:off x="3273552" y="408736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Cuenta de resultados en porcentaje del saldo medio: precio más comisiones, menos coste de fondos, riesgo y gastos. El capital se asigna por densidad de RWA sobre el CET1 observado.</a:t>
            </a:r>
            <a:endParaRPr lang="en-US" sz="1200" dirty="0"/>
          </a:p>
        </p:txBody>
      </p:sp>
      <p:sp>
        <p:nvSpPr>
          <p:cNvPr id="15" name="Shape 13"/>
          <p:cNvSpPr/>
          <p:nvPr/>
        </p:nvSpPr>
        <p:spPr>
          <a:xfrm>
            <a:off x="621792" y="5166360"/>
            <a:ext cx="10945368" cy="1069848"/>
          </a:xfrm>
          <a:prstGeom prst="roundRect">
            <a:avLst>
              <a:gd name="adj" fmla="val 5128"/>
            </a:avLst>
          </a:prstGeom>
          <a:solidFill>
            <a:srgbClr val="FFD6BA"/>
          </a:solidFill>
          <a:ln w="12700">
            <a:solidFill>
              <a:srgbClr val="F56600"/>
            </a:solidFill>
            <a:prstDash val="solid"/>
          </a:ln>
        </p:spPr>
      </p:sp>
      <p:sp>
        <p:nvSpPr>
          <p:cNvPr id="16" name="Text 14"/>
          <p:cNvSpPr txBox="1"/>
          <p:nvPr/>
        </p:nvSpPr>
        <p:spPr>
          <a:xfrm>
            <a:off x="850392" y="5276088"/>
            <a:ext cx="228600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Límite principal</a:t>
            </a:r>
            <a:endParaRPr lang="en-US" sz="1400" dirty="0"/>
          </a:p>
        </p:txBody>
      </p:sp>
      <p:sp>
        <p:nvSpPr>
          <p:cNvPr id="17" name="Text 15"/>
          <p:cNvSpPr txBox="1"/>
          <p:nvPr/>
        </p:nvSpPr>
        <p:spPr>
          <a:xfrm>
            <a:off x="3273552" y="5276088"/>
            <a:ext cx="8019288" cy="841248"/>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Solo España e Italia publican un tipo con comisiones para empresas. Para los otros cuatro países la comisión es un supuesto, no un dato. El ROE de esos países depende de ese supuesto.</a:t>
            </a:r>
            <a:endParaRPr lang="en-US" sz="1200" dirty="0"/>
          </a:p>
        </p:txBody>
      </p:sp>
      <p:sp>
        <p:nvSpPr>
          <p:cNvPr id="18" name="Text 1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Detalle completo de fuentes, supuestos y huecos en notas.md del repositorio del proyecto.</a:t>
            </a:r>
            <a:endParaRPr lang="en-US" sz="7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01</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El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europeo</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Siete países · Precio, riesgo, capital y rentabilidad del préstamo PYME</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Francia es la mitad, Irlanda es el 0,8 %</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de la banca supervisada en cada país y VARIACIÓN de la brecha de financiación declarada por las propias empresas</a:t>
            </a:r>
            <a:endParaRPr lang="en-US" sz="1050" dirty="0"/>
          </a:p>
        </p:txBody>
      </p:sp>
      <p:graphicFrame>
        <p:nvGraphicFramePr>
          <p:cNvPr id="6" name="Chart 0" descr=""/>
          <p:cNvGraphicFramePr/>
          <p:nvPr/>
        </p:nvGraphicFramePr>
        <p:xfrm>
          <a:off x="621792" y="1810512"/>
          <a:ext cx="5577840" cy="26517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7784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Cartera PYME, millones de euros</a:t>
            </a:r>
            <a:endParaRPr lang="en-US" sz="1100" dirty="0"/>
          </a:p>
        </p:txBody>
      </p:sp>
      <p:sp>
        <p:nvSpPr>
          <p:cNvPr id="8" name="Text 5"/>
          <p:cNvSpPr txBox="1"/>
          <p:nvPr/>
        </p:nvSpPr>
        <p:spPr>
          <a:xfrm>
            <a:off x="6309360" y="1572768"/>
            <a:ext cx="551383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Variación de la brecha de financiación, 2025-S1</a:t>
            </a:r>
            <a:endParaRPr lang="en-US" sz="1100" dirty="0"/>
          </a:p>
        </p:txBody>
      </p:sp>
      <p:graphicFrame>
        <p:nvGraphicFramePr>
          <p:cNvPr id="9" name="Chart 1" descr=""/>
          <p:cNvGraphicFramePr/>
          <p:nvPr/>
        </p:nvGraphicFramePr>
        <p:xfrm>
          <a:off x="6309360" y="1810512"/>
          <a:ext cx="5513832" cy="2651760"/>
        </p:xfrm>
        <a:graphic xmlns:a="http://schemas.openxmlformats.org/drawingml/2006/main">
          <a:graphicData uri="http://schemas.openxmlformats.org/drawingml/2006/chart">
            <c:chart xmlns:c="http://schemas.openxmlformats.org/drawingml/2006/chart" r:id="rId2"/>
          </a:graphicData>
        </a:graphic>
      </p:graphicFrame>
      <p:sp>
        <p:nvSpPr>
          <p:cNvPr id="10" name="Text 6"/>
          <p:cNvSpPr txBox="1"/>
          <p:nvPr/>
        </p:nvSpPr>
        <p:spPr>
          <a:xfrm>
            <a:off x="6309360" y="4480560"/>
            <a:ext cx="5513832" cy="384048"/>
          </a:xfrm>
          <a:prstGeom prst="rect">
            <a:avLst/>
          </a:prstGeom>
          <a:noFill/>
          <a:ln/>
        </p:spPr>
        <p:txBody>
          <a:bodyPr wrap="square" lIns="0" tIns="0" rIns="0" bIns="0" rtlCol="0" anchor="ctr"/>
          <a:lstStyle/>
          <a:p>
            <a:pPr algn="l" indent="0" marL="0">
              <a:buNone/>
            </a:pPr>
            <a:r>
              <a:rPr lang="en-US" sz="700" i="1" dirty="0">
                <a:solidFill>
                  <a:srgbClr val="818181"/>
                </a:solidFill>
                <a:latin typeface="Verdana" pitchFamily="34" charset="0"/>
                <a:ea typeface="Verdana" pitchFamily="34" charset="-122"/>
                <a:cs typeface="Verdana" pitchFamily="34" charset="-120"/>
              </a:rPr>
              <a:t>Indicador de CAMBIO, no de nivel. Por empresa y para cada uno de cinco instrumentos vale +1 si sube la necesidad y baja la disponibilidad, −1 al revés, ±0,5 si solo se mueve un lado y 0 si no cambia nada. Positivo = la brecha se ABRE.</a:t>
            </a:r>
            <a:endParaRPr lang="en-US" sz="700" dirty="0"/>
          </a:p>
        </p:txBody>
      </p:sp>
      <p:sp>
        <p:nvSpPr>
          <p:cNvPr id="11" name="Text 7"/>
          <p:cNvSpPr txBox="1"/>
          <p:nvPr/>
        </p:nvSpPr>
        <p:spPr>
          <a:xfrm>
            <a:off x="621792" y="4498848"/>
            <a:ext cx="5577840" cy="219456"/>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Los siete suman 2,14 billones de euros. Francia sola es el 44,8 %.</a:t>
            </a:r>
            <a:endParaRPr lang="en-US" sz="800" dirty="0"/>
          </a:p>
        </p:txBody>
      </p:sp>
      <p:sp>
        <p:nvSpPr>
          <p:cNvPr id="12" name="Shape 8"/>
          <p:cNvSpPr/>
          <p:nvPr/>
        </p:nvSpPr>
        <p:spPr>
          <a:xfrm>
            <a:off x="621792" y="4937760"/>
            <a:ext cx="5577840" cy="1097280"/>
          </a:xfrm>
          <a:prstGeom prst="roundRect">
            <a:avLst>
              <a:gd name="adj" fmla="val 4167"/>
            </a:avLst>
          </a:prstGeom>
          <a:solidFill>
            <a:srgbClr val="FFF4C2"/>
          </a:solidFill>
          <a:ln w="12700">
            <a:solidFill>
              <a:srgbClr val="FFE066"/>
            </a:solidFill>
            <a:prstDash val="solid"/>
          </a:ln>
        </p:spPr>
      </p:sp>
      <p:sp>
        <p:nvSpPr>
          <p:cNvPr id="13" name="Text 9"/>
          <p:cNvSpPr txBox="1"/>
          <p:nvPr/>
        </p:nvSpPr>
        <p:spPr>
          <a:xfrm>
            <a:off x="768096" y="5010912"/>
            <a:ext cx="52852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tamaño no se reparte como el PIB</a:t>
            </a:r>
            <a:endParaRPr lang="en-US" sz="1150" dirty="0"/>
          </a:p>
        </p:txBody>
      </p:sp>
      <p:sp>
        <p:nvSpPr>
          <p:cNvPr id="14" name="Text 10"/>
          <p:cNvSpPr txBox="1"/>
          <p:nvPr/>
        </p:nvSpPr>
        <p:spPr>
          <a:xfrm>
            <a:off x="768096" y="5248656"/>
            <a:ext cx="5285232"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tiene 57 veces la cartera PYME de Irlanda y tres veces la de España, muy por encima de lo que dice su economía. Conviene tenerlo delante al leer los ROE: un punto de ROE en Irlanda mueve una cartera de 16.964 M€ y en Francia, de 961.184 M€.</a:t>
            </a:r>
            <a:endParaRPr lang="en-US" sz="850" dirty="0"/>
          </a:p>
        </p:txBody>
      </p:sp>
      <p:sp>
        <p:nvSpPr>
          <p:cNvPr id="15" name="Shape 11"/>
          <p:cNvSpPr/>
          <p:nvPr/>
        </p:nvSpPr>
        <p:spPr>
          <a:xfrm>
            <a:off x="6309360" y="4937760"/>
            <a:ext cx="5513832" cy="1097280"/>
          </a:xfrm>
          <a:prstGeom prst="roundRect">
            <a:avLst>
              <a:gd name="adj" fmla="val 4167"/>
            </a:avLst>
          </a:prstGeom>
          <a:solidFill>
            <a:srgbClr val="C7E3F9"/>
          </a:solidFill>
          <a:ln w="12700">
            <a:solidFill>
              <a:srgbClr val="77BFEE"/>
            </a:solidFill>
            <a:prstDash val="solid"/>
          </a:ln>
        </p:spPr>
      </p:sp>
      <p:sp>
        <p:nvSpPr>
          <p:cNvPr id="16" name="Text 12"/>
          <p:cNvSpPr txBox="1"/>
          <p:nvPr/>
        </p:nvSpPr>
        <p:spPr>
          <a:xfrm>
            <a:off x="6455664" y="5010912"/>
            <a:ext cx="5221224"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Donde más se abre la brecha es donde menos rinde</a:t>
            </a:r>
            <a:endParaRPr lang="en-US" sz="1150" dirty="0"/>
          </a:p>
        </p:txBody>
      </p:sp>
      <p:sp>
        <p:nvSpPr>
          <p:cNvPr id="17" name="Text 13"/>
          <p:cNvSpPr txBox="1"/>
          <p:nvPr/>
        </p:nvSpPr>
        <p:spPr>
          <a:xfrm>
            <a:off x="6455664" y="5248656"/>
            <a:ext cx="5221224" cy="7315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Francia es el único de los siete donde la brecha se abre con claridad (+6,3), y en su micro llega a +12,4. Es el mercado más grande, el único donde la necesidad se despega de la disponibilidad y el de peor ROE para su banca (5,4 %). En Portugal la brecha se cierra con fuerza (-9,4).</a:t>
            </a:r>
            <a:endParaRPr lang="en-US" sz="850" dirty="0"/>
          </a:p>
        </p:txBody>
      </p:sp>
      <p:sp>
        <p:nvSpPr>
          <p:cNvPr id="18"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Fuentes: cartera PYME, EBA EU-wide Transparency Exercise, valor de exposición de la clase PYME de la banca supervisada en cada país, junio de 2025; brecha de financiación, BCE, encuesta SAFE, indicador compuesto financing gap de la PYME de menos de 250 empleados, media ponderada de 2025-S1. El indicador combina necesidad y disponibilidad de CINCO instrumentos —préstamo bancario, descubierto, crédito comercial, capital y valores de deuda— así que NO es solo crédito bancario, y mide el CAMBIO percibido, no el tamaño de una necesidad insatisfecha: un país con brecha negativa puede seguir teniendo mucha necesidad sin cubrir. Son dos magnitudes que no se agregan: una es un importe y la otra un saldo neto de respuestas. La SAFE segmenta por EMPLEADOS y el Transparency Exercise por clase de exposición prudencial; el micro de la SAFE solo está publicado para cuatro de los siete.</a:t>
            </a:r>
            <a:endParaRPr lang="en-US" sz="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Precio de Préstamos a Pymes por tramo de importe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Los tres tramos que publica el MIR, sin solapamiento · Media 2026 ponderada por volumen · Fijación inicial total · Sin comisiones</a:t>
            </a:r>
            <a:endParaRPr lang="en-US" sz="1050" dirty="0"/>
          </a:p>
        </p:txBody>
      </p:sp>
      <p:graphicFrame>
        <p:nvGraphicFramePr>
          <p:cNvPr id="6" name="Chart 0" descr=""/>
          <p:cNvGraphicFramePr/>
          <p:nvPr/>
        </p:nvGraphicFramePr>
        <p:xfrm>
          <a:off x="621792" y="1600200"/>
          <a:ext cx="704088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680960" y="1600200"/>
            <a:ext cx="3959352" cy="2121408"/>
          </a:xfrm>
          <a:prstGeom prst="roundRect">
            <a:avLst>
              <a:gd name="adj" fmla="val 2586"/>
            </a:avLst>
          </a:prstGeom>
          <a:solidFill>
            <a:srgbClr val="E5E5E5"/>
          </a:solidFill>
          <a:ln w="12700">
            <a:solidFill>
              <a:srgbClr val="CACACA"/>
            </a:solidFill>
            <a:prstDash val="solid"/>
          </a:ln>
        </p:spPr>
      </p:sp>
      <p:sp>
        <p:nvSpPr>
          <p:cNvPr id="8" name="Text 5"/>
          <p:cNvSpPr txBox="1"/>
          <p:nvPr/>
        </p:nvSpPr>
        <p:spPr>
          <a:xfrm>
            <a:off x="7863840" y="1737360"/>
            <a:ext cx="3611880" cy="45720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Peso del tramo ≤1 M€ sobre la nueva producción</a:t>
            </a:r>
            <a:endParaRPr lang="en-US" sz="1300" dirty="0"/>
          </a:p>
        </p:txBody>
      </p:sp>
      <p:sp>
        <p:nvSpPr>
          <p:cNvPr id="9" name="Text 6"/>
          <p:cNvSpPr txBox="1"/>
          <p:nvPr/>
        </p:nvSpPr>
        <p:spPr>
          <a:xfrm>
            <a:off x="7863840" y="2212848"/>
            <a:ext cx="3611880" cy="1444752"/>
          </a:xfrm>
          <a:prstGeom prst="rect">
            <a:avLst/>
          </a:prstGeom>
          <a:noFill/>
          <a:ln/>
        </p:spPr>
        <p:txBody>
          <a:bodyPr wrap="square" lIns="0" tIns="0" rIns="0" bIns="0" rtlCol="0" anchor="ctr"/>
          <a:lstStyle/>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España: 50.5 %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Alemania: 17.8 %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Francia: 30 %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Italia: 34.6 %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Portugal: 51.1 %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P. Bajos: 7.6 %</a:t>
            </a:r>
            <a:endParaRPr lang="en-US" sz="1050" dirty="0"/>
          </a:p>
          <a:p>
            <a:pPr indent="0" marL="0">
              <a:lnSpc>
                <a:spcPts val="1300"/>
              </a:lnSpc>
              <a:buNone/>
            </a:pPr>
            <a:r>
              <a:rPr lang="en-US" sz="1050" dirty="0">
                <a:solidFill>
                  <a:srgbClr val="2B2B2B"/>
                </a:solidFill>
                <a:latin typeface="Verdana" pitchFamily="34" charset="0"/>
                <a:ea typeface="Verdana" pitchFamily="34" charset="-122"/>
                <a:cs typeface="Verdana" pitchFamily="34" charset="-120"/>
              </a:rPr>
              <a:t>Irlanda: 16.8 %</a:t>
            </a:r>
            <a:endParaRPr lang="en-US" sz="1050" dirty="0"/>
          </a:p>
        </p:txBody>
      </p:sp>
      <p:sp>
        <p:nvSpPr>
          <p:cNvPr id="10" name="Shape 7"/>
          <p:cNvSpPr/>
          <p:nvPr/>
        </p:nvSpPr>
        <p:spPr>
          <a:xfrm>
            <a:off x="7680960" y="3858768"/>
            <a:ext cx="3959352" cy="1399032"/>
          </a:xfrm>
          <a:prstGeom prst="roundRect">
            <a:avLst>
              <a:gd name="adj" fmla="val 3922"/>
            </a:avLst>
          </a:prstGeom>
          <a:solidFill>
            <a:srgbClr val="FFF4C2"/>
          </a:solidFill>
          <a:ln w="12700">
            <a:solidFill>
              <a:srgbClr val="FFE066"/>
            </a:solidFill>
            <a:prstDash val="solid"/>
          </a:ln>
        </p:spPr>
      </p:sp>
      <p:sp>
        <p:nvSpPr>
          <p:cNvPr id="11" name="Text 8"/>
          <p:cNvSpPr txBox="1"/>
          <p:nvPr/>
        </p:nvSpPr>
        <p:spPr>
          <a:xfrm>
            <a:off x="7863840" y="3968496"/>
            <a:ext cx="3611880" cy="32004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Un mismo spread no significa lo mismo</a:t>
            </a:r>
            <a:endParaRPr lang="en-US" sz="1300" dirty="0"/>
          </a:p>
        </p:txBody>
      </p:sp>
      <p:sp>
        <p:nvSpPr>
          <p:cNvPr id="12" name="Text 9"/>
          <p:cNvSpPr txBox="1"/>
          <p:nvPr/>
        </p:nvSpPr>
        <p:spPr>
          <a:xfrm>
            <a:off x="7863840" y="4297680"/>
            <a:ext cx="3611880" cy="86868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En España y Portugal la mitad de la nueva producción es de importe ≤1 M€. En Países Bajos es el 7,6 % y en Irlanda el 16,8 %. Cualquier comparación de rentabilidad debe normalizar por este peso.</a:t>
            </a:r>
            <a:endParaRPr lang="en-US" sz="10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ECB Data Portal, dataset MIR. Tipo anual equivalente (AAR/NDER), que excluye comisiones. Media enero-julio 2026 ponderada por volumen mensual, salvo en los dos tramos pequeños de Alemania, donde el Bundesbank no publica volumen y la media es simple. Los tres tramos no se solapan: el «hasta 1 M€» que se usa en el resto del deck es la suma ponderada de los dos primeros.</a:t>
            </a:r>
            <a:endParaRPr lang="en-US" sz="7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2026 · Las filas en ocre son supuestos, no observaciones</a:t>
            </a:r>
            <a:endParaRPr lang="en-US" sz="10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Concepto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Precio (tipo MIR)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3.77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3.94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Ingreso total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4.28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5.26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4.64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5.12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6.24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 los recursos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0.76</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Margen bruto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3.52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4.17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3.43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4.07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4.34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5.87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0.68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0.80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0.40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 Gastos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1.48</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2.32</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56600"/>
                          </a:solidFill>
                          <a:latin typeface="Verdana" pitchFamily="34" charset="0"/>
                          <a:ea typeface="Verdana" pitchFamily="34" charset="-122"/>
                          <a:cs typeface="Verdana" pitchFamily="34" charset="-120"/>
                        </a:rPr>
                        <a:t>= Resultado antes de imp.</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1.44</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1.47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0.50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1.53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2.15</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1.67</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b="1" dirty="0">
                          <a:solidFill>
                            <a:srgbClr val="F56600"/>
                          </a:solidFill>
                          <a:latin typeface="Verdana" pitchFamily="34" charset="0"/>
                          <a:ea typeface="Verdana" pitchFamily="34" charset="-122"/>
                          <a:cs typeface="Verdana" pitchFamily="34" charset="-120"/>
                        </a:rPr>
                        <a:t>2.10</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Capital asignado (RWA ×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6.83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7.21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10.93</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6.09</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12.81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dirty="0">
                          <a:solidFill>
                            <a:srgbClr val="2B2B2B"/>
                          </a:solidFill>
                          <a:latin typeface="Verdana" pitchFamily="34" charset="0"/>
                          <a:ea typeface="Verdana" pitchFamily="34" charset="-122"/>
                          <a:cs typeface="Verdana" pitchFamily="34" charset="-120"/>
                        </a:rPr>
                        <a:t>Tipo impositivo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29.5 %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25.8 %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15468">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ROE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bl>
          </a:graphicData>
        </a:graphic>
      </p:graphicFrame>
      <p:sp>
        <p:nvSpPr>
          <p:cNvPr id="7" name="Shape 4"/>
          <p:cNvSpPr/>
          <p:nvPr/>
        </p:nvSpPr>
        <p:spPr>
          <a:xfrm>
            <a:off x="621792" y="5623560"/>
            <a:ext cx="1371600" cy="256032"/>
          </a:xfrm>
          <a:prstGeom prst="roundRect">
            <a:avLst>
              <a:gd name="adj" fmla="val 42857"/>
            </a:avLst>
          </a:prstGeom>
          <a:solidFill>
            <a:srgbClr val="F56600"/>
          </a:solidFill>
          <a:ln w="12700">
            <a:solidFill>
              <a:srgbClr val="F56600"/>
            </a:solidFill>
            <a:prstDash val="solid"/>
          </a:ln>
        </p:spPr>
      </p:sp>
      <p:sp>
        <p:nvSpPr>
          <p:cNvPr id="8" name="Text 5"/>
          <p:cNvSpPr txBox="1"/>
          <p:nvPr/>
        </p:nvSpPr>
        <p:spPr>
          <a:xfrm>
            <a:off x="62179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9" name="Shape 6"/>
          <p:cNvSpPr/>
          <p:nvPr/>
        </p:nvSpPr>
        <p:spPr>
          <a:xfrm>
            <a:off x="2176272" y="5623560"/>
            <a:ext cx="1371600" cy="256032"/>
          </a:xfrm>
          <a:prstGeom prst="roundRect">
            <a:avLst>
              <a:gd name="adj" fmla="val 42857"/>
            </a:avLst>
          </a:prstGeom>
          <a:solidFill>
            <a:srgbClr val="FFAB70"/>
          </a:solidFill>
          <a:ln w="12700">
            <a:solidFill>
              <a:srgbClr val="FFAB70"/>
            </a:solidFill>
            <a:prstDash val="solid"/>
          </a:ln>
        </p:spPr>
      </p:sp>
      <p:sp>
        <p:nvSpPr>
          <p:cNvPr id="10" name="Text 7"/>
          <p:cNvSpPr txBox="1"/>
          <p:nvPr/>
        </p:nvSpPr>
        <p:spPr>
          <a:xfrm>
            <a:off x="2176272" y="562356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1" name="Text 8"/>
          <p:cNvSpPr txBox="1"/>
          <p:nvPr/>
        </p:nvSpPr>
        <p:spPr>
          <a:xfrm>
            <a:off x="4005072" y="5623560"/>
            <a:ext cx="777240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Solo la fila de comisiones es supuesto. Precio, recursos, riesgo, capital e impuesto son observados por país.</a:t>
            </a:r>
            <a:endParaRPr lang="en-US" sz="1000" dirty="0"/>
          </a:p>
        </p:txBody>
      </p:sp>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BCE MIR. Comisiones: cuña española de 87 pb aplicada a los siete (único supuesto material). Recursos: tipos de depósito de empresa del MIR ponderados por los saldos del BSI. Riesgo: PD × LGD de la clase IRB de PYME (COREP C 9.02). Gastos: eficiencia EBA sobre margen. Capital: densidad de RWA observada sobre CET1. Impuesto: tipo combinado de sociedades 2026 de cada país.</a:t>
            </a:r>
            <a:endParaRPr lang="en-US" sz="7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modelizado del préstamo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Cuña de comisiones española aplicada a los siete países · Tipo impositivo real de cada uno · 2026</a:t>
            </a:r>
            <a:endParaRPr lang="en-US" sz="1050" dirty="0"/>
          </a:p>
        </p:txBody>
      </p:sp>
      <p:graphicFrame>
        <p:nvGraphicFramePr>
          <p:cNvPr id="6" name="Chart 0" descr=""/>
          <p:cNvGraphicFramePr/>
          <p:nvPr/>
        </p:nvGraphicFramePr>
        <p:xfrm>
          <a:off x="621792" y="1645920"/>
          <a:ext cx="676656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589520" y="1645920"/>
            <a:ext cx="4050792" cy="3749040"/>
          </a:xfrm>
          <a:prstGeom prst="roundRect">
            <a:avLst>
              <a:gd name="adj" fmla="val 1463"/>
            </a:avLst>
          </a:prstGeom>
          <a:solidFill>
            <a:srgbClr val="E5E5E5"/>
          </a:solidFill>
          <a:ln w="12700">
            <a:solidFill>
              <a:srgbClr val="CACACA"/>
            </a:solidFill>
            <a:prstDash val="solid"/>
          </a:ln>
        </p:spPr>
      </p:sp>
      <p:sp>
        <p:nvSpPr>
          <p:cNvPr id="8" name="Text 5"/>
          <p:cNvSpPr txBox="1"/>
          <p:nvPr/>
        </p:nvSpPr>
        <p:spPr>
          <a:xfrm>
            <a:off x="7772400" y="1783080"/>
            <a:ext cx="3703320" cy="292608"/>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Cómo leerlo</a:t>
            </a:r>
            <a:endParaRPr lang="en-US" sz="1500" dirty="0"/>
          </a:p>
        </p:txBody>
      </p:sp>
      <p:sp>
        <p:nvSpPr>
          <p:cNvPr id="9" name="Text 6"/>
          <p:cNvSpPr txBox="1"/>
          <p:nvPr/>
        </p:nvSpPr>
        <p:spPr>
          <a:xfrm>
            <a:off x="7772400" y="2121408"/>
            <a:ext cx="3703320" cy="3218688"/>
          </a:xfrm>
          <a:prstGeom prst="rect">
            <a:avLst/>
          </a:prstGeom>
          <a:noFill/>
          <a:ln/>
        </p:spPr>
        <p:txBody>
          <a:bodyPr wrap="square" lIns="0" tIns="0" rIns="0" bIns="0" rtlCol="0" anchor="ctr"/>
          <a:lstStyle/>
          <a:p>
            <a:pPr indent="0" marL="0">
              <a:buNone/>
            </a:pPr>
            <a:r>
              <a:rPr lang="en-US" sz="900" b="1" dirty="0">
                <a:solidFill>
                  <a:srgbClr val="2B2B2B"/>
                </a:solidFill>
                <a:latin typeface="Verdana" pitchFamily="34" charset="0"/>
                <a:ea typeface="Verdana" pitchFamily="34" charset="-122"/>
                <a:cs typeface="Verdana" pitchFamily="34" charset="-120"/>
              </a:rPr>
              <a:t>Países Bajos y Alemania encabezan</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por coste del riesgo bajo (0,35 % y 0,40 %) y la menor densidad de RWA (37 % y 35 %), que reduce el capital a inmovilizar.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España queda en 12,4 %</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el precio más bajo, una densidad de RWA del 59,5 % y el 30 % de tipo que la banca paga en España.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Irlanda queda cuarta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pese a la mayor densidad de RWA de los siete (70 %), gracias al 15 % de Pilar Dos frente al 26-30 % del resto.
</a:t>
            </a:r>
            <a:endParaRPr lang="en-US" sz="900" dirty="0"/>
          </a:p>
          <a:p>
            <a:pPr indent="0" marL="0">
              <a:buNone/>
            </a:pPr>
            <a:r>
              <a:rPr lang="en-US" sz="900" b="1" dirty="0">
                <a:solidFill>
                  <a:srgbClr val="2B2B2B"/>
                </a:solidFill>
                <a:latin typeface="Verdana" pitchFamily="34" charset="0"/>
                <a:ea typeface="Verdana" pitchFamily="34" charset="-122"/>
                <a:cs typeface="Verdana" pitchFamily="34" charset="-120"/>
              </a:rPr>
              <a:t>Francia queda última</a:t>
            </a:r>
            <a:endParaRPr lang="en-US" sz="900" dirty="0"/>
          </a:p>
          <a:p>
            <a:pPr indent="0" marL="0">
              <a:buNone/>
            </a:pPr>
            <a:r>
              <a:rPr lang="en-US" sz="900" dirty="0">
                <a:solidFill>
                  <a:srgbClr val="2B2B2B"/>
                </a:solidFill>
                <a:latin typeface="Verdana" pitchFamily="34" charset="0"/>
                <a:ea typeface="Verdana" pitchFamily="34" charset="-122"/>
                <a:cs typeface="Verdana" pitchFamily="34" charset="-120"/>
              </a:rPr>
              <a:t>con un 5,4 %: precio bajo, recursos caros y la peor eficiencia (65,6 %).</a:t>
            </a:r>
            <a:endParaRPr lang="en-US" sz="9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modelizado, no observado. Depende del supuesto de comisiones: ver lámina siguiente. Tipo de sociedades aplicable a bancos: ES 30,0 (art. 29 LIS, entidades de crédito) · DE 30,1 · FR 25,8 · IT 27,8 · PT 29,5 · NL 25,8 · IE 15,0 (mínimo de Pilar Dos). En Francia, la contribución excepcional del 36,1 % para grupos de más de 1.500 M€ de cifra de negocio dejaría su ROE en 4,7 %.</a:t>
            </a:r>
            <a:endParaRPr lang="en-US" sz="7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Sensibilidad al supuesto de comisiones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depende el ROE de la cuña que se asuma · Solo la columna de 87 pb está observada, y solo para España</a:t>
            </a:r>
            <a:endParaRPr lang="en-US" sz="10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468880"/>
                <a:gridCol w="1437437"/>
                <a:gridCol w="1437437"/>
                <a:gridCol w="1437437"/>
                <a:gridCol w="1437437"/>
                <a:gridCol w="1437437"/>
                <a:gridCol w="1437437"/>
              </a:tblGrid>
              <a:tr h="36576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País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25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87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2B2B2B"/>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100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150 pb</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17.2 %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15.3 %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20.3 %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65760">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b="1" dirty="0">
                          <a:solidFill>
                            <a:srgbClr val="2B2B2B"/>
                          </a:solidFill>
                          <a:latin typeface="Verdana" pitchFamily="34" charset="0"/>
                          <a:ea typeface="Verdana" pitchFamily="34" charset="-122"/>
                          <a:cs typeface="Verdana" pitchFamily="34" charset="-120"/>
                        </a:rPr>
                        <a:t>13.9 %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80160"/>
          </a:xfrm>
          <a:prstGeom prst="roundRect">
            <a:avLst>
              <a:gd name="adj" fmla="val 4286"/>
            </a:avLst>
          </a:prstGeom>
          <a:solidFill>
            <a:srgbClr val="FFF4C2"/>
          </a:solidFill>
          <a:ln w="12700">
            <a:solidFill>
              <a:srgbClr val="FFE066"/>
            </a:solidFill>
            <a:prstDash val="solid"/>
          </a:ln>
        </p:spPr>
      </p:sp>
      <p:sp>
        <p:nvSpPr>
          <p:cNvPr id="8" name="Text 5"/>
          <p:cNvSpPr txBox="1"/>
          <p:nvPr/>
        </p:nvSpPr>
        <p:spPr>
          <a:xfrm>
            <a:off x="850392" y="4901184"/>
            <a:ext cx="10789920" cy="292608"/>
          </a:xfrm>
          <a:prstGeom prst="rect">
            <a:avLst/>
          </a:prstGeom>
          <a:noFill/>
          <a:ln/>
        </p:spPr>
        <p:txBody>
          <a:bodyPr wrap="square" lIns="0" tIns="0" rIns="0" bIns="0" rtlCol="0" anchor="ctr"/>
          <a:lstStyle/>
          <a:p>
            <a:pPr indent="0" marL="0">
              <a:buNone/>
            </a:pPr>
            <a:r>
              <a:rPr lang="en-US" sz="1400" b="1" dirty="0">
                <a:solidFill>
                  <a:srgbClr val="F56600"/>
                </a:solidFill>
                <a:latin typeface="Verdana" pitchFamily="34" charset="0"/>
                <a:ea typeface="Verdana" pitchFamily="34" charset="-122"/>
                <a:cs typeface="Verdana" pitchFamily="34" charset="-120"/>
              </a:rPr>
              <a:t>Lo que el supuesto cambia y lo que no</a:t>
            </a:r>
            <a:endParaRPr lang="en-US" sz="1400" dirty="0"/>
          </a:p>
        </p:txBody>
      </p:sp>
      <p:sp>
        <p:nvSpPr>
          <p:cNvPr id="9" name="Text 6"/>
          <p:cNvSpPr txBox="1"/>
          <p:nvPr/>
        </p:nvSpPr>
        <p:spPr>
          <a:xfrm>
            <a:off x="850392" y="5212080"/>
            <a:ext cx="10789920" cy="77724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El nivel del ROE se mueve mucho: España pasa del 3,5 % al 11,8 % según se asuma cero o 150 pb de comisión. El ordenamiento se mueve menos: Francia es último en todos los escenarios e Italia, Portugal y Países Bajos encabezan en todos. Lo que sí cambia es la posición relativa de España, que sube conforme se asume más comisión — y es el único país donde sabemos que la comisión es alta.</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87 pb es la cuña observada en España (TAE − TEDR, tramo ≤1 M€, media 2026, Banco de España). Para los otros seis países no existe dato equivalente.</a:t>
            </a:r>
            <a:endParaRPr lang="en-US" sz="7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Simulación: entrante eficiente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Un banco extranjero con sus propios ratios de balance, enfrentando el precio, el riesgo, el capital y la fiscalidad de cada mercado local</a:t>
            </a:r>
            <a:endParaRPr lang="en-US" sz="1050" dirty="0"/>
          </a:p>
        </p:txBody>
      </p:sp>
      <p:sp>
        <p:nvSpPr>
          <p:cNvPr id="6" name="Shape 4"/>
          <p:cNvSpPr/>
          <p:nvPr/>
        </p:nvSpPr>
        <p:spPr>
          <a:xfrm>
            <a:off x="621792" y="1572768"/>
            <a:ext cx="10945368" cy="475488"/>
          </a:xfrm>
          <a:prstGeom prst="roundRect">
            <a:avLst>
              <a:gd name="adj" fmla="val 11538"/>
            </a:avLst>
          </a:prstGeom>
          <a:solidFill>
            <a:srgbClr val="FFF4C2"/>
          </a:solidFill>
          <a:ln w="12700">
            <a:solidFill>
              <a:srgbClr val="FFE066"/>
            </a:solidFill>
            <a:prstDash val="solid"/>
          </a:ln>
        </p:spPr>
      </p:sp>
      <p:sp>
        <p:nvSpPr>
          <p:cNvPr id="7" name="Text 5"/>
          <p:cNvSpPr txBox="1"/>
          <p:nvPr/>
        </p:nvSpPr>
        <p:spPr>
          <a:xfrm>
            <a:off x="850392" y="1673352"/>
            <a:ext cx="10789920" cy="29260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Parámetros del entrante:   </a:t>
            </a:r>
            <a:pPr indent="0" marL="0">
              <a:buNone/>
            </a:pPr>
            <a:r>
              <a:rPr lang="en-US" sz="1000" dirty="0">
                <a:solidFill>
                  <a:srgbClr val="2B2B2B"/>
                </a:solidFill>
                <a:latin typeface="Verdana" pitchFamily="34" charset="0"/>
                <a:ea typeface="Verdana" pitchFamily="34" charset="-122"/>
                <a:cs typeface="Verdana" pitchFamily="34" charset="-120"/>
              </a:rPr>
              <a:t>coste de los recursos 0,80 %     ·     eficiencia 40 %     ·     CET1 12,9 %</a:t>
            </a:r>
            <a:pPr indent="0" marL="0">
              <a:buNone/>
            </a:pPr>
            <a:r>
              <a:rPr lang="en-US" sz="1000" dirty="0">
                <a:solidFill>
                  <a:srgbClr val="818181"/>
                </a:solidFill>
                <a:latin typeface="Verdana" pitchFamily="34" charset="0"/>
                <a:ea typeface="Verdana" pitchFamily="34" charset="-122"/>
                <a:cs typeface="Verdana" pitchFamily="34" charset="-120"/>
              </a:rPr>
              <a:t>          Del mercado local: precio, comisiones, PD × LGD, densidad de RWA y tipo impositivo.</a:t>
            </a:r>
            <a:endParaRPr lang="en-US" sz="1000" dirty="0"/>
          </a:p>
        </p:txBody>
      </p:sp>
      <p:graphicFrame>
        <p:nvGraphicFramePr>
          <p:cNvPr id="8" name="Chart 0" descr=""/>
          <p:cNvGraphicFramePr/>
          <p:nvPr/>
        </p:nvGraphicFramePr>
        <p:xfrm>
          <a:off x="621792" y="2194560"/>
          <a:ext cx="6949440" cy="315468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7543800" y="2194560"/>
          <a:ext cx="4096512" cy="914400"/>
        </p:xfrm>
        <a:graphic>
          <a:graphicData uri="http://schemas.openxmlformats.org/drawingml/2006/table">
            <a:tbl>
              <a:tblPr/>
              <a:tblGrid>
                <a:gridCol w="1261872"/>
                <a:gridCol w="932688"/>
                <a:gridCol w="987552"/>
                <a:gridCol w="914400"/>
              </a:tblGrid>
              <a:tr h="31089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Local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Entrante</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Gana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35.0 %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37.0 %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+16.7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31089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+13.0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10" name="Shape 6"/>
          <p:cNvSpPr/>
          <p:nvPr/>
        </p:nvSpPr>
        <p:spPr>
          <a:xfrm>
            <a:off x="7543800" y="4736592"/>
            <a:ext cx="4096512" cy="621792"/>
          </a:xfrm>
          <a:prstGeom prst="roundRect">
            <a:avLst>
              <a:gd name="adj" fmla="val 8824"/>
            </a:avLst>
          </a:prstGeom>
          <a:solidFill>
            <a:srgbClr val="E5E5E5"/>
          </a:solidFill>
          <a:ln w="12700">
            <a:solidFill>
              <a:srgbClr val="CACACA"/>
            </a:solidFill>
            <a:prstDash val="solid"/>
          </a:ln>
        </p:spPr>
      </p:sp>
      <p:sp>
        <p:nvSpPr>
          <p:cNvPr id="11" name="Text 7"/>
          <p:cNvSpPr txBox="1"/>
          <p:nvPr/>
        </p:nvSpPr>
        <p:spPr>
          <a:xfrm>
            <a:off x="7699248" y="4809744"/>
            <a:ext cx="3794760" cy="50292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Ranking del entrante: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P. Bajos &gt; Alemania &gt; Irlanda &gt; Francia &gt; Italia &gt; Portugal &gt; España</a:t>
            </a:r>
            <a:endParaRPr lang="en-US" sz="850" dirty="0"/>
          </a:p>
        </p:txBody>
      </p:sp>
      <p:sp>
        <p:nvSpPr>
          <p:cNvPr id="12" name="Text 8"/>
          <p:cNvSpPr txBox="1"/>
          <p:nvPr/>
        </p:nvSpPr>
        <p:spPr>
          <a:xfrm>
            <a:off x="621792" y="5440680"/>
            <a:ext cx="10945368" cy="658368"/>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orden de atractivo cambia por completo. </a:t>
            </a:r>
            <a:pPr indent="0" marL="0">
              <a:buNone/>
            </a:pPr>
            <a:r>
              <a:rPr lang="en-US" sz="1000" dirty="0">
                <a:solidFill>
                  <a:srgbClr val="2B2B2B"/>
                </a:solidFill>
                <a:latin typeface="Verdana" pitchFamily="34" charset="0"/>
                <a:ea typeface="Verdana" pitchFamily="34" charset="-122"/>
                <a:cs typeface="Verdana" pitchFamily="34" charset="-120"/>
              </a:rPr>
              <a:t>Francia pasa del último puesto (5,4 %) al cuarto (21,8 %) porque su banca local es la más ineficiente de las siete y la más cara en recursos: ahí es donde más vale entrar eficiente. España es justo lo contrario, solo gana 1,2 puntos, porque su banca ya es eficiente y sus recursos ya son baratos —el entrante incluso pagaría más— y sigue arrastrando una densidad de RWA del 59,5 % y el 30 % de impuesto.</a:t>
            </a:r>
            <a:endParaRPr lang="en-US" sz="1000" dirty="0"/>
          </a:p>
        </p:txBody>
      </p:sp>
      <p:sp>
        <p:nvSpPr>
          <p:cNvPr id="13"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Escenario, no observación. Se mantienen del mercado local el precio (MIR), la cuña de comisiones supuesta, el coste del riesgo (PD × LGD), la densidad de RWA (Transparency Exercise) y el tipo impositivo de banca. Se sustituyen coste de los recursos, eficiencia y CET1 por los del entrante. No incorpora coste de entrada, escala mínima ni curva de aprendizaje de riesgo.</a:t>
            </a:r>
            <a:endParaRPr lang="en-US" sz="7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 los recursos de empresa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Depósitos de sociedades no financieras, ponderados por la mezcla real de saldos · Media 2026 · No es el coste de financiación del sistema: ver la franja inferior</a:t>
            </a:r>
            <a:endParaRPr lang="en-US" sz="1050" dirty="0"/>
          </a:p>
        </p:txBody>
      </p:sp>
      <p:graphicFrame>
        <p:nvGraphicFramePr>
          <p:cNvPr id="6" name="Chart 0" descr=""/>
          <p:cNvGraphicFramePr/>
          <p:nvPr/>
        </p:nvGraphicFramePr>
        <p:xfrm>
          <a:off x="621792" y="1691640"/>
          <a:ext cx="6812280" cy="3520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7452360" y="1691640"/>
          <a:ext cx="4187952" cy="914400"/>
        </p:xfrm>
        <a:graphic>
          <a:graphicData uri="http://schemas.openxmlformats.org/drawingml/2006/table">
            <a:tbl>
              <a:tblPr/>
              <a:tblGrid>
                <a:gridCol w="1170432"/>
                <a:gridCol w="731520"/>
                <a:gridCol w="731520"/>
                <a:gridCol w="786384"/>
                <a:gridCol w="768096"/>
              </a:tblGrid>
              <a:tr h="333756">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Plazo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 vista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Ponderado</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0,44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1,97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0,72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1,21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0,56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0,07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1,83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0,74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0,85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1,04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33756">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0,10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F56600"/>
                          </a:solidFill>
                          <a:latin typeface="Verdana" pitchFamily="34" charset="0"/>
                          <a:ea typeface="Verdana" pitchFamily="34" charset="-122"/>
                          <a:cs typeface="Verdana" pitchFamily="34" charset="-120"/>
                        </a:rPr>
                        <a:t>0,37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Shape 4"/>
          <p:cNvSpPr/>
          <p:nvPr/>
        </p:nvSpPr>
        <p:spPr>
          <a:xfrm>
            <a:off x="7452360" y="4425696"/>
            <a:ext cx="4187952" cy="640080"/>
          </a:xfrm>
          <a:prstGeom prst="roundRect">
            <a:avLst>
              <a:gd name="adj" fmla="val 8571"/>
            </a:avLst>
          </a:prstGeom>
          <a:solidFill>
            <a:srgbClr val="FFF4C2"/>
          </a:solidFill>
          <a:ln w="12700">
            <a:solidFill>
              <a:srgbClr val="FFE066"/>
            </a:solidFill>
            <a:prstDash val="solid"/>
          </a:ln>
        </p:spPr>
      </p:sp>
      <p:sp>
        <p:nvSpPr>
          <p:cNvPr id="9" name="Text 5"/>
          <p:cNvSpPr txBox="1"/>
          <p:nvPr/>
        </p:nvSpPr>
        <p:spPr>
          <a:xfrm>
            <a:off x="7607808" y="4498848"/>
            <a:ext cx="3895344"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mezcla decide, no el tipo: Italia paga un 0,56 % a la vista y España un 0,44 %, pero Italia tiene un 89 % en vista y acaba igual de barata. Irlanda capta los recursos más baratos, 0,37 %, y Francia los más caros, 1,21 %.</a:t>
            </a:r>
            <a:endParaRPr lang="en-US" sz="900" dirty="0"/>
          </a:p>
        </p:txBody>
      </p:sp>
      <p:graphicFrame>
        <p:nvGraphicFramePr>
          <p:cNvPr id="21" name="Table 1"/>
          <p:cNvGraphicFramePr>
            <a:graphicFrameLocks noGrp="1"/>
          </p:cNvGraphicFramePr>
          <p:nvPr>
            <p:extLst>
              <p:ext uri="{D42A27DB-BD31-4B8C-83A1-F6EECF244321}">
                <p14:modId xmlns:p14="http://schemas.microsoft.com/office/powerpoint/2010/main" val="1579011935"/>
              </p:ext>
            </p:extLst>
          </p:nvPr>
        </p:nvGraphicFramePr>
        <p:xfrm>
          <a:off x="621792" y="5157216"/>
          <a:ext cx="10945368" cy="914400"/>
        </p:xfrm>
        <a:graphic>
          <a:graphicData uri="http://schemas.openxmlformats.org/drawingml/2006/table">
            <a:tbl>
              <a:tblPr/>
              <a:tblGrid>
                <a:gridCol w="3776472"/>
                <a:gridCol w="1045159"/>
                <a:gridCol w="1045159"/>
                <a:gridCol w="1045159"/>
                <a:gridCol w="1045159"/>
                <a:gridCol w="1045159"/>
                <a:gridCol w="1045159"/>
                <a:gridCol w="1045159"/>
              </a:tblGrid>
              <a:tr h="219456">
                <a:tc>
                  <a:txBody>
                    <a:bodyPr/>
                    <a:lstStyle/>
                    <a:p>
                      <a:pPr algn="l" indent="0" marL="0">
                        <a:buNone/>
                      </a:pP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50" b="1" dirty="0">
                          <a:solidFill>
                            <a:srgbClr val="FFFFFF"/>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 empresa · lo que usa el modelo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1,21 %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0,74 %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1,04 %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0,37 %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Depósitos del sistema · empresas y hogares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0,49 %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0,93 %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1,19 %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0,64 %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0,80 %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1,18 %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2B2B2B"/>
                          </a:solidFill>
                          <a:latin typeface="Verdana" pitchFamily="34" charset="0"/>
                          <a:ea typeface="Verdana" pitchFamily="34" charset="-122"/>
                          <a:cs typeface="Verdana" pitchFamily="34" charset="-120"/>
                        </a:rPr>
                        <a:t>0,36 %</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219456">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Diferencia, pb</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+2</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+10</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−7</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−14</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900" dirty="0">
                          <a:solidFill>
                            <a:srgbClr val="2B2B2B"/>
                          </a:solidFill>
                          <a:latin typeface="Verdana" pitchFamily="34" charset="0"/>
                          <a:ea typeface="Verdana" pitchFamily="34" charset="-122"/>
                          <a:cs typeface="Verdana" pitchFamily="34" charset="-120"/>
                        </a:rPr>
                        <a: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(tipos de depósito, nueva producción, serie de vencimiento total) y dataset BSI (saldos, para la ponderación). El coste que usa el modelo es el de los depósitos de SOCIEDADES NO FINANCIERAS (sector 2240), no el coste de financiación del sistema: los depósitos de empresa son solo entre el 22 % y el 34 % del depósito minorista de cada país, y el depósito del sistema tampoco incluye deuda emitida, repos, financiación del banco central ni capital. Facilidad de depósito del BCE al 2,09 %.</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Coste del riesgo = PD ×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de la clase «Corporates – Of Which: SME» · Mediana de entidades declarantes · 2026-Q1 · Es la línea de riesgo de la cuenta de resultados</a:t>
            </a:r>
            <a:endParaRPr lang="en-US" sz="1050" dirty="0"/>
          </a:p>
        </p:txBody>
      </p:sp>
      <p:graphicFrame>
        <p:nvGraphicFramePr>
          <p:cNvPr id="6" name="Chart 0" descr=""/>
          <p:cNvGraphicFramePr/>
          <p:nvPr/>
        </p:nvGraphicFramePr>
        <p:xfrm>
          <a:off x="621792" y="1645920"/>
          <a:ext cx="6492240" cy="35661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7315200" y="1645920"/>
          <a:ext cx="4325112" cy="914400"/>
        </p:xfrm>
        <a:graphic>
          <a:graphicData uri="http://schemas.openxmlformats.org/drawingml/2006/table">
            <a:tbl>
              <a:tblPr/>
              <a:tblGrid>
                <a:gridCol w="1463040"/>
                <a:gridCol w="932688"/>
                <a:gridCol w="932688"/>
                <a:gridCol w="996696"/>
              </a:tblGrid>
              <a:tr h="352044">
                <a:tc>
                  <a:txBody>
                    <a:bodyPr/>
                    <a:lstStyle/>
                    <a:p>
                      <a:pPr algn="l" indent="0" marL="0">
                        <a:buNone/>
                      </a:pP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PD × LGD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34.4 %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0.59 %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31.4 %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Francia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0.68 %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35.6 %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0.80 %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Portugal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1.26 %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0.50 %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 Bajos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29.7 %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0.35 %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35204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Irlanda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1.08 %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37.3 %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0.40 %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8" name="Text 4"/>
          <p:cNvSpPr txBox="1"/>
          <p:nvPr/>
        </p:nvSpPr>
        <p:spPr>
          <a:xfrm>
            <a:off x="621792" y="5303520"/>
            <a:ext cx="10945368" cy="411480"/>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Fórmula: </a:t>
            </a:r>
            <a:pPr indent="0" marL="0">
              <a:buNone/>
            </a:pPr>
            <a:r>
              <a:rPr lang="en-US" sz="1050" dirty="0">
                <a:solidFill>
                  <a:srgbClr val="2B2B2B"/>
                </a:solidFill>
                <a:latin typeface="Verdana" pitchFamily="34" charset="0"/>
                <a:ea typeface="Verdana" pitchFamily="34" charset="-122"/>
                <a:cs typeface="Verdana" pitchFamily="34" charset="-120"/>
              </a:rPr>
              <a:t>coste del riesgo = PD (probabilidad de impago a un año) × LGD (severidad de la pérdida). Ejemplo España: 1,73 % × 34,38 % = 0,59 %. Es pérdida esperada anual sobre el saldo, no el stock de dudosos de la lámina anterior.</a:t>
            </a:r>
            <a:endParaRPr lang="en-US" sz="1050" dirty="0"/>
          </a:p>
        </p:txBody>
      </p:sp>
      <p:sp>
        <p:nvSpPr>
          <p:cNvPr id="9" name="Text 5"/>
          <p:cNvSpPr txBox="1"/>
          <p:nvPr/>
        </p:nvSpPr>
        <p:spPr>
          <a:xfrm>
            <a:off x="621792" y="5742432"/>
            <a:ext cx="10945368" cy="32004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Italia tiene la peor combinación y Países Bajos la mejor. Irlanda tiene la PD más baja de los siete, 1,08 %, pero una LGD del 37,3 %.</a:t>
            </a:r>
            <a:endParaRPr lang="en-US" sz="1050" dirty="0"/>
          </a:p>
        </p:txBody>
      </p:sp>
      <p:sp>
        <p:nvSpPr>
          <p:cNvPr id="10"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Se usa la mediana de entidades y no la media ponderada, que se deja arrastrar por carteras grandes con parámetros extremos.</a:t>
            </a:r>
            <a:endParaRPr lang="en-US" sz="7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Infraestructura de información crediticia de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un prestamista puede saber antes de conceder · Evidencia documental, no estadística</a:t>
            </a:r>
            <a:endParaRPr lang="en-US" sz="10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1143000"/>
                <a:gridCol w="1874520"/>
                <a:gridCol w="1572768"/>
                <a:gridCol w="2487168"/>
                <a:gridCol w="2487168"/>
                <a:gridCol w="1527048"/>
              </a:tblGrid>
              <a:tr h="402336">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País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Registro público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Umbral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Bureaus privados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Cuentas depositadas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850" b="1" dirty="0">
                          <a:solidFill>
                            <a:srgbClr val="FFFFFF"/>
                          </a:solidFill>
                          <a:latin typeface="Verdana" pitchFamily="34" charset="0"/>
                          <a:ea typeface="Verdana" pitchFamily="34" charset="-122"/>
                          <a:cs typeface="Verdana" pitchFamily="34" charset="-120"/>
                        </a:rPr>
                        <a:t>PD PYME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España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CIRBE (BdE)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1.000 €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Axesor,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Mercantil, depósito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Alemania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Millionenkredite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1.000.000 €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Creditreform, Schufa,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Bundesanzeiger,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Francia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FIBEN + cotación BdF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adhesión I-FIBEN</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Altares D&amp;B, Ellisphere, Coface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Confidencialidad opcional para micro y pequeña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Italia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Centrale dei Rischi</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30.000 €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Cerved, CRIF</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Registro Imprese,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Portugal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CRC (BdP)</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Informa D&amp;B, Iberinform</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IES,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1,26 %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P. Bajos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no existe para empresas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i="1" dirty="0">
                          <a:solidFill>
                            <a:srgbClr val="818181"/>
                          </a:solidFill>
                          <a:latin typeface="Verdana" pitchFamily="34" charset="0"/>
                          <a:ea typeface="Verdana" pitchFamily="34" charset="-122"/>
                          <a:cs typeface="Verdana" pitchFamily="34" charset="-120"/>
                        </a:rPr>
                        <a:t>—</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Graydon (desde 1888), Altares D&amp;B</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KvK, abreviado para pequeñas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402336">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Irlanda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Central Credit Register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500 €, consulta obligatoria &gt;2.000 €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Vision-net, CRIF, Creditsafe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800" dirty="0">
                          <a:solidFill>
                            <a:srgbClr val="2B2B2B"/>
                          </a:solidFill>
                          <a:latin typeface="Verdana" pitchFamily="34" charset="0"/>
                          <a:ea typeface="Verdana" pitchFamily="34" charset="-122"/>
                          <a:cs typeface="Verdana" pitchFamily="34" charset="-120"/>
                        </a:rPr>
                        <a:t>CRO, obligatorio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7" name="Shape 4"/>
          <p:cNvSpPr/>
          <p:nvPr/>
        </p:nvSpPr>
        <p:spPr>
          <a:xfrm>
            <a:off x="621792" y="4754880"/>
            <a:ext cx="10945368" cy="1325880"/>
          </a:xfrm>
          <a:prstGeom prst="roundRect">
            <a:avLst>
              <a:gd name="adj" fmla="val 4138"/>
            </a:avLst>
          </a:prstGeom>
          <a:solidFill>
            <a:srgbClr val="FFF4C2"/>
          </a:solidFill>
          <a:ln w="12700">
            <a:solidFill>
              <a:srgbClr val="FFE066"/>
            </a:solidFill>
            <a:prstDash val="solid"/>
          </a:ln>
        </p:spPr>
      </p:sp>
      <p:sp>
        <p:nvSpPr>
          <p:cNvPr id="8" name="Text 5"/>
          <p:cNvSpPr txBox="1"/>
          <p:nvPr/>
        </p:nvSpPr>
        <p:spPr>
          <a:xfrm>
            <a:off x="850392" y="4846320"/>
            <a:ext cx="10789920" cy="256032"/>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registro público NO explica la PD observada</a:t>
            </a:r>
            <a:endParaRPr lang="en-US" sz="1250" dirty="0"/>
          </a:p>
        </p:txBody>
      </p:sp>
      <p:sp>
        <p:nvSpPr>
          <p:cNvPr id="9" name="Text 6"/>
          <p:cNvSpPr txBox="1"/>
          <p:nvPr/>
        </p:nvSpPr>
        <p:spPr>
          <a:xfrm>
            <a:off x="850392" y="5138928"/>
            <a:ext cx="10789920" cy="86868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Los dos países con el registro público más débil para PYME —Alemania, que solo cubre exposiciones de más de un millón, y Países Bajos, que no tiene registro de empresas— son los que registran la PD más baja junto con Irlanda. Y España, con uno de los umbrales más bajos de Europa (1.000 €), tiene una PD de 1,73 %. Lo que sí acompaña a las PD bajas es la profundidad del bureau privado (Creditreform en Alemania, Graydon en Países Bajos, activo desde 1888) y la disponibilidad real de cuentas depositadas. Francia arrastra un lastre propio: micro y pequeñas empresas pueden declarar sus cuentas confidenciales, de modo que un entrante sin adhesión a I-FIBEN entra a ciegas.</a:t>
            </a:r>
            <a:endParaRPr lang="en-US" sz="95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Banco de España (CIRBE), Banca d'Italia (Centrale dei Rischi), Banco de Portugal (CRC), Central Bank of Ireland (Central Credit Register), Deutsche Bundesbank (Millionenkredite), Banque de France (FIBEN). Umbrales vigentes 2026. Correlación sobre siete países: indicativa, no causal.</a:t>
            </a:r>
            <a:endParaRPr lang="en-US" sz="7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Los dos ejes: información selecciona, recobro recupera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Índice construido sobre Doing Business 2020 y normativa vigente · 100 = el mejor de los siete, no un óptimo absoluto</a:t>
            </a:r>
            <a:endParaRPr lang="en-US" sz="1050" dirty="0"/>
          </a:p>
        </p:txBody>
      </p:sp>
      <p:sp>
        <p:nvSpPr>
          <p:cNvPr id="6" name="Shape 4"/>
          <p:cNvSpPr/>
          <p:nvPr/>
        </p:nvSpPr>
        <p:spPr>
          <a:xfrm>
            <a:off x="1124712" y="1645920"/>
            <a:ext cx="5806440" cy="3703320"/>
          </a:xfrm>
          <a:prstGeom prst="rect">
            <a:avLst/>
          </a:prstGeom>
          <a:solidFill>
            <a:srgbClr val="FFFFFF"/>
          </a:solidFill>
          <a:ln w="9525">
            <a:solidFill>
              <a:srgbClr val="CACACA"/>
            </a:solidFill>
            <a:prstDash val="solid"/>
          </a:ln>
        </p:spPr>
      </p:sp>
      <p:sp>
        <p:nvSpPr>
          <p:cNvPr id="7" name="Shape 5"/>
          <p:cNvSpPr/>
          <p:nvPr/>
        </p:nvSpPr>
        <p:spPr>
          <a:xfrm>
            <a:off x="4027932" y="1645920"/>
            <a:ext cx="2903220" cy="1851660"/>
          </a:xfrm>
          <a:prstGeom prst="rect">
            <a:avLst/>
          </a:prstGeom>
          <a:solidFill>
            <a:srgbClr val="FFD6BA"/>
          </a:solidFill>
          <a:ln w="12700">
            <a:solidFill>
              <a:srgbClr val="FFFFFF"/>
            </a:solidFill>
            <a:prstDash val="solid"/>
          </a:ln>
        </p:spPr>
      </p:sp>
      <p:sp>
        <p:nvSpPr>
          <p:cNvPr id="8" name="Shape 6"/>
          <p:cNvSpPr/>
          <p:nvPr/>
        </p:nvSpPr>
        <p:spPr>
          <a:xfrm>
            <a:off x="1124712" y="3497580"/>
            <a:ext cx="2903220" cy="1851660"/>
          </a:xfrm>
          <a:prstGeom prst="rect">
            <a:avLst/>
          </a:prstGeom>
          <a:solidFill>
            <a:srgbClr val="E5E5E5"/>
          </a:solidFill>
          <a:ln w="12700">
            <a:solidFill>
              <a:srgbClr val="FFFFFF"/>
            </a:solidFill>
            <a:prstDash val="solid"/>
          </a:ln>
        </p:spPr>
      </p:sp>
      <p:sp>
        <p:nvSpPr>
          <p:cNvPr id="9" name="Shape 7"/>
          <p:cNvSpPr/>
          <p:nvPr/>
        </p:nvSpPr>
        <p:spPr>
          <a:xfrm>
            <a:off x="4027932" y="1645920"/>
            <a:ext cx="0" cy="3703320"/>
          </a:xfrm>
          <a:prstGeom prst="line">
            <a:avLst/>
          </a:prstGeom>
          <a:noFill/>
          <a:ln w="9525">
            <a:solidFill>
              <a:srgbClr val="CACACA"/>
            </a:solidFill>
            <a:prstDash val="dash"/>
          </a:ln>
        </p:spPr>
      </p:sp>
      <p:sp>
        <p:nvSpPr>
          <p:cNvPr id="10" name="Shape 8"/>
          <p:cNvSpPr/>
          <p:nvPr/>
        </p:nvSpPr>
        <p:spPr>
          <a:xfrm>
            <a:off x="1124712" y="3497580"/>
            <a:ext cx="5806440" cy="0"/>
          </a:xfrm>
          <a:prstGeom prst="line">
            <a:avLst/>
          </a:prstGeom>
          <a:noFill/>
          <a:ln w="9525">
            <a:solidFill>
              <a:srgbClr val="CACACA"/>
            </a:solidFill>
            <a:prstDash val="dash"/>
          </a:ln>
        </p:spPr>
      </p:sp>
      <p:sp>
        <p:nvSpPr>
          <p:cNvPr id="11" name="Text 9"/>
          <p:cNvSpPr txBox="1"/>
          <p:nvPr/>
        </p:nvSpPr>
        <p:spPr>
          <a:xfrm>
            <a:off x="410108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alto</a:t>
            </a:r>
            <a:endParaRPr lang="en-US" sz="700" dirty="0"/>
          </a:p>
        </p:txBody>
      </p:sp>
      <p:sp>
        <p:nvSpPr>
          <p:cNvPr id="12" name="Text 10"/>
          <p:cNvSpPr txBox="1"/>
          <p:nvPr/>
        </p:nvSpPr>
        <p:spPr>
          <a:xfrm>
            <a:off x="1197864" y="1700784"/>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alto</a:t>
            </a:r>
            <a:endParaRPr lang="en-US" sz="700" dirty="0"/>
          </a:p>
        </p:txBody>
      </p:sp>
      <p:sp>
        <p:nvSpPr>
          <p:cNvPr id="13" name="Text 11"/>
          <p:cNvSpPr txBox="1"/>
          <p:nvPr/>
        </p:nvSpPr>
        <p:spPr>
          <a:xfrm>
            <a:off x="410108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alta · recobro bajo</a:t>
            </a:r>
            <a:endParaRPr lang="en-US" sz="700" dirty="0"/>
          </a:p>
        </p:txBody>
      </p:sp>
      <p:sp>
        <p:nvSpPr>
          <p:cNvPr id="14" name="Text 12"/>
          <p:cNvSpPr txBox="1"/>
          <p:nvPr/>
        </p:nvSpPr>
        <p:spPr>
          <a:xfrm>
            <a:off x="1197864" y="5111496"/>
            <a:ext cx="2651760" cy="182880"/>
          </a:xfrm>
          <a:prstGeom prst="rect">
            <a:avLst/>
          </a:prstGeom>
          <a:noFill/>
          <a:ln/>
        </p:spPr>
        <p:txBody>
          <a:bodyPr wrap="square" lIns="0" tIns="0" rIns="0" bIns="0" rtlCol="0" anchor="ctr"/>
          <a:lstStyle/>
          <a:p>
            <a:pPr indent="0" marL="0">
              <a:buNone/>
            </a:pPr>
            <a:r>
              <a:rPr lang="en-US" sz="700" i="1" dirty="0">
                <a:solidFill>
                  <a:srgbClr val="A1A1A1"/>
                </a:solidFill>
                <a:latin typeface="Verdana" pitchFamily="34" charset="0"/>
                <a:ea typeface="Verdana" pitchFamily="34" charset="-122"/>
                <a:cs typeface="Verdana" pitchFamily="34" charset="-120"/>
              </a:rPr>
              <a:t>info baja · recobro bajo</a:t>
            </a:r>
            <a:endParaRPr lang="en-US" sz="700" dirty="0"/>
          </a:p>
        </p:txBody>
      </p:sp>
      <p:sp>
        <p:nvSpPr>
          <p:cNvPr id="15" name="Text 13"/>
          <p:cNvSpPr txBox="1"/>
          <p:nvPr/>
        </p:nvSpPr>
        <p:spPr>
          <a:xfrm>
            <a:off x="1124712" y="5422392"/>
            <a:ext cx="5806440" cy="201168"/>
          </a:xfrm>
          <a:prstGeom prst="rect">
            <a:avLst/>
          </a:prstGeom>
          <a:noFill/>
          <a:ln/>
        </p:spPr>
        <p:txBody>
          <a:bodyPr wrap="square" lIns="0" tIns="0" rIns="0" bIns="0" rtlCol="0" anchor="ctr"/>
          <a:lstStyle/>
          <a:p>
            <a:pPr algn="ctr" indent="0" marL="0">
              <a:buNone/>
            </a:pPr>
            <a:r>
              <a:rPr lang="en-US" sz="900" b="1" dirty="0">
                <a:solidFill>
                  <a:srgbClr val="2B2B2B"/>
                </a:solidFill>
                <a:latin typeface="Verdana" pitchFamily="34" charset="0"/>
                <a:ea typeface="Verdana" pitchFamily="34" charset="-122"/>
                <a:cs typeface="Verdana" pitchFamily="34" charset="-120"/>
              </a:rPr>
              <a:t>Índice de información para seleccionar  →  gobierna la PD</a:t>
            </a:r>
            <a:endParaRPr lang="en-US" sz="900" dirty="0"/>
          </a:p>
        </p:txBody>
      </p:sp>
      <p:sp>
        <p:nvSpPr>
          <p:cNvPr id="16" name="Text 14"/>
          <p:cNvSpPr txBox="1"/>
          <p:nvPr/>
        </p:nvSpPr>
        <p:spPr>
          <a:xfrm>
            <a:off x="566928" y="2606040"/>
            <a:ext cx="566928" cy="1737360"/>
          </a:xfrm>
          <a:prstGeom prst="rect">
            <a:avLst/>
          </a:prstGeom>
          <a:noFill/>
          <a:ln/>
        </p:spPr>
        <p:txBody>
          <a:bodyPr wrap="square" lIns="0" tIns="0" rIns="0" bIns="0" rtlCol="0" anchor="ctr"/>
          <a:lstStyle/>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Índice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entorno de</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recobro</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gobierna</a:t>
            </a:r>
            <a:endParaRPr lang="en-US" sz="800" dirty="0"/>
          </a:p>
          <a:p>
            <a:pPr algn="ctr" indent="0" marL="0">
              <a:lnSpc>
                <a:spcPct val="95000"/>
              </a:lnSpc>
              <a:buNone/>
            </a:pPr>
            <a:r>
              <a:rPr lang="en-US" sz="800" b="1" dirty="0">
                <a:solidFill>
                  <a:srgbClr val="2B2B2B"/>
                </a:solidFill>
                <a:latin typeface="Verdana" pitchFamily="34" charset="0"/>
                <a:ea typeface="Verdana" pitchFamily="34" charset="-122"/>
                <a:cs typeface="Verdana" pitchFamily="34" charset="-120"/>
              </a:rPr>
              <a:t>la LGD</a:t>
            </a:r>
            <a:endParaRPr lang="en-US" sz="800" dirty="0"/>
          </a:p>
        </p:txBody>
      </p:sp>
      <p:sp>
        <p:nvSpPr>
          <p:cNvPr id="17" name="Shape 15"/>
          <p:cNvSpPr/>
          <p:nvPr/>
        </p:nvSpPr>
        <p:spPr>
          <a:xfrm>
            <a:off x="4547768" y="3045775"/>
            <a:ext cx="474574" cy="474574"/>
          </a:xfrm>
          <a:prstGeom prst="ellipse">
            <a:avLst/>
          </a:prstGeom>
          <a:solidFill>
            <a:srgbClr val="FFAB70"/>
          </a:solidFill>
          <a:ln w="9525">
            <a:solidFill>
              <a:srgbClr val="2B2B2B"/>
            </a:solidFill>
            <a:prstDash val="solid"/>
          </a:ln>
        </p:spPr>
      </p:sp>
      <p:sp>
        <p:nvSpPr>
          <p:cNvPr id="18" name="Text 16"/>
          <p:cNvSpPr txBox="1"/>
          <p:nvPr/>
        </p:nvSpPr>
        <p:spPr>
          <a:xfrm>
            <a:off x="3267608" y="3177906"/>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España  1,73 %</a:t>
            </a:r>
            <a:endParaRPr lang="en-US" sz="850" dirty="0"/>
          </a:p>
        </p:txBody>
      </p:sp>
      <p:sp>
        <p:nvSpPr>
          <p:cNvPr id="19" name="Shape 17"/>
          <p:cNvSpPr/>
          <p:nvPr/>
        </p:nvSpPr>
        <p:spPr>
          <a:xfrm>
            <a:off x="5169560" y="2662276"/>
            <a:ext cx="345643" cy="345643"/>
          </a:xfrm>
          <a:prstGeom prst="ellipse">
            <a:avLst/>
          </a:prstGeom>
          <a:solidFill>
            <a:srgbClr val="77BFEE"/>
          </a:solidFill>
          <a:ln w="9525">
            <a:solidFill>
              <a:srgbClr val="2B2B2B"/>
            </a:solidFill>
            <a:prstDash val="solid"/>
          </a:ln>
        </p:spPr>
      </p:sp>
      <p:sp>
        <p:nvSpPr>
          <p:cNvPr id="20" name="Text 18"/>
          <p:cNvSpPr txBox="1"/>
          <p:nvPr/>
        </p:nvSpPr>
        <p:spPr>
          <a:xfrm>
            <a:off x="3889400" y="2729941"/>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Alemania  1,26 %</a:t>
            </a:r>
            <a:endParaRPr lang="en-US" sz="850" dirty="0"/>
          </a:p>
        </p:txBody>
      </p:sp>
      <p:sp>
        <p:nvSpPr>
          <p:cNvPr id="21" name="Shape 19"/>
          <p:cNvSpPr/>
          <p:nvPr/>
        </p:nvSpPr>
        <p:spPr>
          <a:xfrm>
            <a:off x="1982191" y="3265780"/>
            <a:ext cx="589788" cy="589788"/>
          </a:xfrm>
          <a:prstGeom prst="ellipse">
            <a:avLst/>
          </a:prstGeom>
          <a:solidFill>
            <a:srgbClr val="FF8AC2"/>
          </a:solidFill>
          <a:ln w="9525">
            <a:solidFill>
              <a:srgbClr val="2B2B2B"/>
            </a:solidFill>
            <a:prstDash val="solid"/>
          </a:ln>
        </p:spPr>
      </p:sp>
      <p:sp>
        <p:nvSpPr>
          <p:cNvPr id="22" name="Text 20"/>
          <p:cNvSpPr txBox="1"/>
          <p:nvPr/>
        </p:nvSpPr>
        <p:spPr>
          <a:xfrm>
            <a:off x="2617699" y="3455518"/>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Francia  2,15 %</a:t>
            </a:r>
            <a:endParaRPr lang="en-US" sz="850" dirty="0"/>
          </a:p>
        </p:txBody>
      </p:sp>
      <p:sp>
        <p:nvSpPr>
          <p:cNvPr id="23" name="Shape 21"/>
          <p:cNvSpPr/>
          <p:nvPr/>
        </p:nvSpPr>
        <p:spPr>
          <a:xfrm>
            <a:off x="5253228" y="4376913"/>
            <a:ext cx="619963" cy="619963"/>
          </a:xfrm>
          <a:prstGeom prst="ellipse">
            <a:avLst/>
          </a:prstGeom>
          <a:solidFill>
            <a:srgbClr val="FF8AC2"/>
          </a:solidFill>
          <a:ln w="9525">
            <a:solidFill>
              <a:srgbClr val="2B2B2B"/>
            </a:solidFill>
            <a:prstDash val="solid"/>
          </a:ln>
        </p:spPr>
      </p:sp>
      <p:sp>
        <p:nvSpPr>
          <p:cNvPr id="24" name="Text 22"/>
          <p:cNvSpPr txBox="1"/>
          <p:nvPr/>
        </p:nvSpPr>
        <p:spPr>
          <a:xfrm>
            <a:off x="3973068" y="458173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Italia  2,26 %</a:t>
            </a:r>
            <a:endParaRPr lang="en-US" sz="850" dirty="0"/>
          </a:p>
        </p:txBody>
      </p:sp>
      <p:sp>
        <p:nvSpPr>
          <p:cNvPr id="25" name="Shape 23"/>
          <p:cNvSpPr/>
          <p:nvPr/>
        </p:nvSpPr>
        <p:spPr>
          <a:xfrm>
            <a:off x="4617491" y="4346875"/>
            <a:ext cx="345643" cy="345643"/>
          </a:xfrm>
          <a:prstGeom prst="ellipse">
            <a:avLst/>
          </a:prstGeom>
          <a:solidFill>
            <a:srgbClr val="77BFEE"/>
          </a:solidFill>
          <a:ln w="9525">
            <a:solidFill>
              <a:srgbClr val="2B2B2B"/>
            </a:solidFill>
            <a:prstDash val="solid"/>
          </a:ln>
        </p:spPr>
      </p:sp>
      <p:sp>
        <p:nvSpPr>
          <p:cNvPr id="26" name="Text 24"/>
          <p:cNvSpPr txBox="1"/>
          <p:nvPr/>
        </p:nvSpPr>
        <p:spPr>
          <a:xfrm>
            <a:off x="5008855" y="4286524"/>
            <a:ext cx="1234440" cy="210312"/>
          </a:xfrm>
          <a:prstGeom prst="rect">
            <a:avLst/>
          </a:prstGeom>
          <a:noFill/>
          <a:ln/>
        </p:spPr>
        <p:txBody>
          <a:bodyPr wrap="square" lIns="0" tIns="0" rIns="0" bIns="0" rtlCol="0" anchor="ctr"/>
          <a:lstStyle/>
          <a:p>
            <a:pPr algn="l" indent="0" marL="0">
              <a:buNone/>
            </a:pPr>
            <a:r>
              <a:rPr lang="en-US" sz="850" b="1" dirty="0">
                <a:solidFill>
                  <a:srgbClr val="2B2B2B"/>
                </a:solidFill>
                <a:latin typeface="Verdana" pitchFamily="34" charset="0"/>
                <a:ea typeface="Verdana" pitchFamily="34" charset="-122"/>
                <a:cs typeface="Verdana" pitchFamily="34" charset="-120"/>
              </a:rPr>
              <a:t>Portugal  1,26 %</a:t>
            </a:r>
            <a:endParaRPr lang="en-US" sz="850" dirty="0"/>
          </a:p>
        </p:txBody>
      </p:sp>
      <p:sp>
        <p:nvSpPr>
          <p:cNvPr id="27" name="Shape 25"/>
          <p:cNvSpPr/>
          <p:nvPr/>
        </p:nvSpPr>
        <p:spPr>
          <a:xfrm>
            <a:off x="4065880" y="2758425"/>
            <a:ext cx="323698" cy="323698"/>
          </a:xfrm>
          <a:prstGeom prst="ellipse">
            <a:avLst/>
          </a:prstGeom>
          <a:solidFill>
            <a:srgbClr val="77BFEE"/>
          </a:solidFill>
          <a:ln w="9525">
            <a:solidFill>
              <a:srgbClr val="2B2B2B"/>
            </a:solidFill>
            <a:prstDash val="solid"/>
          </a:ln>
        </p:spPr>
      </p:sp>
      <p:sp>
        <p:nvSpPr>
          <p:cNvPr id="28" name="Text 26"/>
          <p:cNvSpPr txBox="1"/>
          <p:nvPr/>
        </p:nvSpPr>
        <p:spPr>
          <a:xfrm>
            <a:off x="2785720" y="28151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P. Bajos  1,18 %</a:t>
            </a:r>
            <a:endParaRPr lang="en-US" sz="850" dirty="0"/>
          </a:p>
        </p:txBody>
      </p:sp>
      <p:sp>
        <p:nvSpPr>
          <p:cNvPr id="29" name="Shape 27"/>
          <p:cNvSpPr/>
          <p:nvPr/>
        </p:nvSpPr>
        <p:spPr>
          <a:xfrm>
            <a:off x="5851474" y="2131741"/>
            <a:ext cx="296266" cy="296266"/>
          </a:xfrm>
          <a:prstGeom prst="ellipse">
            <a:avLst/>
          </a:prstGeom>
          <a:solidFill>
            <a:srgbClr val="77BFEE"/>
          </a:solidFill>
          <a:ln w="9525">
            <a:solidFill>
              <a:srgbClr val="2B2B2B"/>
            </a:solidFill>
            <a:prstDash val="solid"/>
          </a:ln>
        </p:spPr>
      </p:sp>
      <p:sp>
        <p:nvSpPr>
          <p:cNvPr id="30" name="Text 28"/>
          <p:cNvSpPr txBox="1"/>
          <p:nvPr/>
        </p:nvSpPr>
        <p:spPr>
          <a:xfrm>
            <a:off x="4571314" y="2174718"/>
            <a:ext cx="1234440" cy="210312"/>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Irlanda  1,08 %</a:t>
            </a:r>
            <a:endParaRPr lang="en-US" sz="850" dirty="0"/>
          </a:p>
        </p:txBody>
      </p:sp>
      <p:sp>
        <p:nvSpPr>
          <p:cNvPr id="31" name="Text 29"/>
          <p:cNvSpPr txBox="1"/>
          <p:nvPr/>
        </p:nvSpPr>
        <p:spPr>
          <a:xfrm>
            <a:off x="1124712" y="5623560"/>
            <a:ext cx="5806440" cy="182880"/>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El área del círculo crece con la PD PYME observada</a:t>
            </a:r>
            <a:endParaRPr lang="en-US" sz="750" dirty="0"/>
          </a:p>
        </p:txBody>
      </p:sp>
      <p:sp>
        <p:nvSpPr>
          <p:cNvPr id="32" name="Text 30"/>
          <p:cNvSpPr txBox="1"/>
          <p:nvPr/>
        </p:nvSpPr>
        <p:spPr>
          <a:xfrm>
            <a:off x="7114032" y="1645920"/>
            <a:ext cx="445312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Qué predice cada eje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114032" y="1938528"/>
          <a:ext cx="4453128" cy="914400"/>
        </p:xfrm>
        <a:graphic>
          <a:graphicData uri="http://schemas.openxmlformats.org/drawingml/2006/table">
            <a:tbl>
              <a:tblPr/>
              <a:tblGrid>
                <a:gridCol w="2148840"/>
                <a:gridCol w="1115568"/>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PD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con la LGD</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información</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-0,79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-0,32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dirty="0">
                          <a:solidFill>
                            <a:srgbClr val="2B2B2B"/>
                          </a:solidFill>
                          <a:latin typeface="Verdana" pitchFamily="34" charset="0"/>
                          <a:ea typeface="Verdana" pitchFamily="34" charset="-122"/>
                          <a:cs typeface="Verdana" pitchFamily="34" charset="-120"/>
                        </a:rPr>
                        <a:t>Índice de recobro, sin 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-0,03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34" name="Text 31"/>
          <p:cNvSpPr txBox="1"/>
          <p:nvPr/>
        </p:nvSpPr>
        <p:spPr>
          <a:xfrm>
            <a:off x="7114032" y="3127248"/>
            <a:ext cx="4453128"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ρ de Spearman sobre siete países. Signo esperado: negativo en ambas columnas.</a:t>
            </a:r>
            <a:endParaRPr lang="en-US" sz="750" dirty="0"/>
          </a:p>
        </p:txBody>
      </p:sp>
      <p:sp>
        <p:nvSpPr>
          <p:cNvPr id="35" name="Shape 32"/>
          <p:cNvSpPr/>
          <p:nvPr/>
        </p:nvSpPr>
        <p:spPr>
          <a:xfrm>
            <a:off x="7114032" y="3401568"/>
            <a:ext cx="4453128" cy="1170432"/>
          </a:xfrm>
          <a:prstGeom prst="roundRect">
            <a:avLst>
              <a:gd name="adj" fmla="val 3906"/>
            </a:avLst>
          </a:prstGeom>
          <a:solidFill>
            <a:srgbClr val="FFF4C2"/>
          </a:solidFill>
          <a:ln w="12700">
            <a:solidFill>
              <a:srgbClr val="FFE066"/>
            </a:solidFill>
            <a:prstDash val="solid"/>
          </a:ln>
        </p:spPr>
      </p:sp>
      <p:sp>
        <p:nvSpPr>
          <p:cNvPr id="36" name="Text 33"/>
          <p:cNvSpPr txBox="1"/>
          <p:nvPr/>
        </p:nvSpPr>
        <p:spPr>
          <a:xfrm>
            <a:off x="7260336" y="3474720"/>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eje de recobro predice la PD, no la LGD</a:t>
            </a:r>
            <a:endParaRPr lang="en-US" sz="1100" dirty="0"/>
          </a:p>
        </p:txBody>
      </p:sp>
      <p:sp>
        <p:nvSpPr>
          <p:cNvPr id="37" name="Text 34"/>
          <p:cNvSpPr txBox="1"/>
          <p:nvPr/>
        </p:nvSpPr>
        <p:spPr>
          <a:xfrm>
            <a:off x="7260336" y="3712464"/>
            <a:ext cx="4160520" cy="78638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ρ = −0,79 contra la PD, la relación más fuerte de todo el ejercicio. Donde ejecutar es lento y caro —Italia, 22 % de la masa y 1,8 años; Portugal, 3,0 años— el impago se enquista y compensa. El entorno de recobro no solo fija cuánto se recupera: fija cuántos dejan de pagar.</a:t>
            </a:r>
            <a:endParaRPr lang="en-US" sz="850" dirty="0"/>
          </a:p>
        </p:txBody>
      </p:sp>
      <p:sp>
        <p:nvSpPr>
          <p:cNvPr id="38" name="Shape 35"/>
          <p:cNvSpPr/>
          <p:nvPr/>
        </p:nvSpPr>
        <p:spPr>
          <a:xfrm>
            <a:off x="7114032" y="4645152"/>
            <a:ext cx="4453128" cy="1389888"/>
          </a:xfrm>
          <a:prstGeom prst="roundRect">
            <a:avLst>
              <a:gd name="adj" fmla="val 3289"/>
            </a:avLst>
          </a:prstGeom>
          <a:solidFill>
            <a:srgbClr val="E5E5E5"/>
          </a:solidFill>
          <a:ln w="12700">
            <a:solidFill>
              <a:srgbClr val="CACACA"/>
            </a:solidFill>
            <a:prstDash val="solid"/>
          </a:ln>
        </p:spPr>
      </p:sp>
      <p:sp>
        <p:nvSpPr>
          <p:cNvPr id="39" name="Text 36"/>
          <p:cNvSpPr txBox="1"/>
          <p:nvPr/>
        </p:nvSpPr>
        <p:spPr>
          <a:xfrm>
            <a:off x="7260336" y="4718304"/>
            <a:ext cx="416052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LGD no es contrastable con dato supervisor</a:t>
            </a:r>
            <a:endParaRPr lang="en-US" sz="1100" dirty="0"/>
          </a:p>
        </p:txBody>
      </p:sp>
      <p:sp>
        <p:nvSpPr>
          <p:cNvPr id="40" name="Text 37"/>
          <p:cNvSpPr txBox="1"/>
          <p:nvPr/>
        </p:nvSpPr>
        <p:spPr>
          <a:xfrm>
            <a:off x="7260336" y="4956048"/>
            <a:ext cx="4160520" cy="1005840"/>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Al quitar Portugal, la correlación con la LGD cae de −0,32 a −0,03: toda la relación la sostenía un solo país, y su LGD mediana es 40,00 %, que es exactamente el valor supervisor F-IRB del art. 161 CRR3. La misma cifra aparece en la LGD de gran empresa de seis de los siete países. El suelo regulatorio aplasta la dispersión: el mecanismo es sólido, el dato no lo puede medir.</a:t>
            </a:r>
            <a:endParaRPr lang="en-US" sz="850" dirty="0"/>
          </a:p>
        </p:txBody>
      </p:sp>
      <p:sp>
        <p:nvSpPr>
          <p:cNvPr id="41" name="Text 3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Eje de información: profundidad de la información crediticia (0-8) y cobertura de bureau privado de Doing Business 2020, más dos ordinales propios sobre el umbral del registro público y el régimen de depósito de cuentas. Eje de recobro: fortaleza de los derechos legales del acreedor (0-12), tasa de recuperación, coste sobre la masa y tiempo de resolución, de la misma fuente. Doing Business se descontinuó en 2021 y su vintage es mayo de 2019; B-READY, su sucesor, solo cubre Portugal de los siete. PD y LGD del EBA, COREP C 9.02, 2026-Q1. n=7: indicativo, no causal. La PD de cada país es un resultado revelado y recoge también el apetito de riesgo del mercado, no solo su información y su entorno: ver la lámina siguiente.</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¿Se paga el riesgo? Entre mercados, no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Si cobrar más compensara prestar peor, el margen neto de riesgo sería plano entre países · Ordenado por PD creciente</a:t>
            </a:r>
            <a:endParaRPr lang="en-US" sz="1050" dirty="0"/>
          </a:p>
        </p:txBody>
      </p:sp>
      <p:graphicFrame>
        <p:nvGraphicFramePr>
          <p:cNvPr id="6" name="Chart 0" descr=""/>
          <p:cNvGraphicFramePr/>
          <p:nvPr/>
        </p:nvGraphicFramePr>
        <p:xfrm>
          <a:off x="621792" y="1664208"/>
          <a:ext cx="662940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956048"/>
            <a:ext cx="662940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Precio más comisiones, menos coste de los recursos y menos coste del riesgo. Antes de gastos y de capital.</a:t>
            </a:r>
            <a:endParaRPr lang="en-US" sz="800" dirty="0"/>
          </a:p>
        </p:txBody>
      </p:sp>
      <p:sp>
        <p:nvSpPr>
          <p:cNvPr id="8" name="Shape 5"/>
          <p:cNvSpPr/>
          <p:nvPr/>
        </p:nvSpPr>
        <p:spPr>
          <a:xfrm>
            <a:off x="621792" y="5102352"/>
            <a:ext cx="6629400" cy="950976"/>
          </a:xfrm>
          <a:prstGeom prst="roundRect">
            <a:avLst>
              <a:gd name="adj" fmla="val 4808"/>
            </a:avLst>
          </a:prstGeom>
          <a:solidFill>
            <a:srgbClr val="FFF4C2"/>
          </a:solidFill>
          <a:ln w="12700">
            <a:solidFill>
              <a:srgbClr val="FFE066"/>
            </a:solidFill>
            <a:prstDash val="solid"/>
          </a:ln>
        </p:spPr>
      </p:sp>
      <p:sp>
        <p:nvSpPr>
          <p:cNvPr id="9" name="Text 6"/>
          <p:cNvSpPr txBox="1"/>
          <p:nvPr/>
        </p:nvSpPr>
        <p:spPr>
          <a:xfrm>
            <a:off x="768096" y="5175504"/>
            <a:ext cx="6355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Va al revés: ρ = −0,76 contra la PD</a:t>
            </a:r>
            <a:endParaRPr lang="en-US" sz="1100" dirty="0"/>
          </a:p>
        </p:txBody>
      </p:sp>
      <p:sp>
        <p:nvSpPr>
          <p:cNvPr id="10" name="Text 7"/>
          <p:cNvSpPr txBox="1"/>
          <p:nvPr/>
        </p:nvSpPr>
        <p:spPr>
          <a:xfrm>
            <a:off x="768096" y="5413248"/>
            <a:ext cx="635508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Irlanda tiene la mejor PD (1,08 %) y el mayor margen neto de riesgo (5,47 %); Francia, la segunda peor PD (2,15 %) y el menor (2,75 %). La excepción es Italia: peor PD de las siete y aun así el cuarto mejor margen, porque es la que más cobra el gradiente por tamaño. Los siete no están sobre una misma frontera de riesgo y retorno: prestar peor no suele venir pagado.</a:t>
            </a:r>
            <a:endParaRPr lang="en-US" sz="850" dirty="0"/>
          </a:p>
        </p:txBody>
      </p:sp>
      <p:sp>
        <p:nvSpPr>
          <p:cNvPr id="11" name="Text 8"/>
          <p:cNvSpPr txBox="1"/>
          <p:nvPr/>
        </p:nvSpPr>
        <p:spPr>
          <a:xfrm>
            <a:off x="7479792" y="1664208"/>
            <a:ext cx="4087368" cy="237744"/>
          </a:xfrm>
          <a:prstGeom prst="rect">
            <a:avLst/>
          </a:prstGeom>
          <a:noFill/>
          <a:ln/>
        </p:spPr>
        <p:txBody>
          <a:bodyPr wrap="square" lIns="0" tIns="0" rIns="0" bIns="0" rtlCol="0" anchor="ctr"/>
          <a:lstStyle/>
          <a:p>
            <a:pPr indent="0" marL="0">
              <a:buNone/>
            </a:pPr>
            <a:r>
              <a:rPr lang="en-US" sz="1250" b="1" dirty="0">
                <a:solidFill>
                  <a:srgbClr val="F56600"/>
                </a:solidFill>
                <a:latin typeface="Verdana" pitchFamily="34" charset="0"/>
                <a:ea typeface="Verdana" pitchFamily="34" charset="-122"/>
                <a:cs typeface="Verdana" pitchFamily="34" charset="-120"/>
              </a:rPr>
              <a:t>Dentro de cada mercado sí se paga</a:t>
            </a:r>
            <a:endParaRPr lang="en-US" sz="1250" dirty="0"/>
          </a:p>
        </p:txBody>
      </p:sp>
      <p:sp>
        <p:nvSpPr>
          <p:cNvPr id="12" name="Text 9"/>
          <p:cNvSpPr txBox="1"/>
          <p:nvPr/>
        </p:nvSpPr>
        <p:spPr>
          <a:xfrm>
            <a:off x="7479792" y="1901952"/>
            <a:ext cx="4087368" cy="20116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Sobreprecio del tramo pequeño frente al de más de 1 M€ · Puntos básicos</a:t>
            </a:r>
            <a:endParaRPr lang="en-US" sz="800" dirty="0"/>
          </a:p>
        </p:txBody>
      </p:sp>
      <p:sp>
        <p:nvSpPr>
          <p:cNvPr id="13" name="Text 10"/>
          <p:cNvSpPr txBox="1"/>
          <p:nvPr/>
        </p:nvSpPr>
        <p:spPr>
          <a:xfrm>
            <a:off x="7479792" y="21579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p>
        </p:txBody>
      </p:sp>
      <p:sp>
        <p:nvSpPr>
          <p:cNvPr id="14" name="Shape 11"/>
          <p:cNvSpPr/>
          <p:nvPr/>
        </p:nvSpPr>
        <p:spPr>
          <a:xfrm>
            <a:off x="8686800" y="2199132"/>
            <a:ext cx="2109582" cy="137160"/>
          </a:xfrm>
          <a:prstGeom prst="rect">
            <a:avLst/>
          </a:prstGeom>
          <a:solidFill>
            <a:srgbClr val="FFAB70"/>
          </a:solidFill>
          <a:ln w="6350">
            <a:solidFill>
              <a:srgbClr val="FFAB70"/>
            </a:solidFill>
            <a:prstDash val="solid"/>
          </a:ln>
        </p:spPr>
      </p:sp>
      <p:sp>
        <p:nvSpPr>
          <p:cNvPr id="15" name="Text 12"/>
          <p:cNvSpPr txBox="1"/>
          <p:nvPr/>
        </p:nvSpPr>
        <p:spPr>
          <a:xfrm>
            <a:off x="10945368" y="21579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+143</a:t>
            </a:r>
            <a:endParaRPr lang="en-US" sz="850" dirty="0"/>
          </a:p>
        </p:txBody>
      </p:sp>
      <p:sp>
        <p:nvSpPr>
          <p:cNvPr id="16" name="Text 13"/>
          <p:cNvSpPr txBox="1"/>
          <p:nvPr/>
        </p:nvSpPr>
        <p:spPr>
          <a:xfrm>
            <a:off x="7479792" y="24323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p>
        </p:txBody>
      </p:sp>
      <p:sp>
        <p:nvSpPr>
          <p:cNvPr id="17" name="Shape 14"/>
          <p:cNvSpPr/>
          <p:nvPr/>
        </p:nvSpPr>
        <p:spPr>
          <a:xfrm>
            <a:off x="8686800" y="2473452"/>
            <a:ext cx="1770278" cy="137160"/>
          </a:xfrm>
          <a:prstGeom prst="rect">
            <a:avLst/>
          </a:prstGeom>
          <a:solidFill>
            <a:srgbClr val="FFAB70"/>
          </a:solidFill>
          <a:ln w="6350">
            <a:solidFill>
              <a:srgbClr val="FFAB70"/>
            </a:solidFill>
            <a:prstDash val="solid"/>
          </a:ln>
        </p:spPr>
      </p:sp>
      <p:sp>
        <p:nvSpPr>
          <p:cNvPr id="18" name="Text 15"/>
          <p:cNvSpPr txBox="1"/>
          <p:nvPr/>
        </p:nvSpPr>
        <p:spPr>
          <a:xfrm>
            <a:off x="10945368" y="24323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+120</a:t>
            </a:r>
            <a:endParaRPr lang="en-US" sz="850" dirty="0"/>
          </a:p>
        </p:txBody>
      </p:sp>
      <p:sp>
        <p:nvSpPr>
          <p:cNvPr id="19" name="Text 16"/>
          <p:cNvSpPr txBox="1"/>
          <p:nvPr/>
        </p:nvSpPr>
        <p:spPr>
          <a:xfrm>
            <a:off x="7479792" y="270662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p>
        </p:txBody>
      </p:sp>
      <p:sp>
        <p:nvSpPr>
          <p:cNvPr id="20" name="Shape 17"/>
          <p:cNvSpPr/>
          <p:nvPr/>
        </p:nvSpPr>
        <p:spPr>
          <a:xfrm>
            <a:off x="8686800" y="2747772"/>
            <a:ext cx="1696517" cy="137160"/>
          </a:xfrm>
          <a:prstGeom prst="rect">
            <a:avLst/>
          </a:prstGeom>
          <a:solidFill>
            <a:srgbClr val="FFAB70"/>
          </a:solidFill>
          <a:ln w="6350">
            <a:solidFill>
              <a:srgbClr val="FFAB70"/>
            </a:solidFill>
            <a:prstDash val="solid"/>
          </a:ln>
        </p:spPr>
      </p:sp>
      <p:sp>
        <p:nvSpPr>
          <p:cNvPr id="21" name="Text 18"/>
          <p:cNvSpPr txBox="1"/>
          <p:nvPr/>
        </p:nvSpPr>
        <p:spPr>
          <a:xfrm>
            <a:off x="10945368" y="270662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+115</a:t>
            </a:r>
            <a:endParaRPr lang="en-US" sz="850" dirty="0"/>
          </a:p>
        </p:txBody>
      </p:sp>
      <p:sp>
        <p:nvSpPr>
          <p:cNvPr id="22" name="Text 19"/>
          <p:cNvSpPr txBox="1"/>
          <p:nvPr/>
        </p:nvSpPr>
        <p:spPr>
          <a:xfrm>
            <a:off x="7479792" y="298094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p>
        </p:txBody>
      </p:sp>
      <p:sp>
        <p:nvSpPr>
          <p:cNvPr id="23" name="Shape 20"/>
          <p:cNvSpPr/>
          <p:nvPr/>
        </p:nvSpPr>
        <p:spPr>
          <a:xfrm>
            <a:off x="8686800" y="3022092"/>
            <a:ext cx="958901" cy="137160"/>
          </a:xfrm>
          <a:prstGeom prst="rect">
            <a:avLst/>
          </a:prstGeom>
          <a:solidFill>
            <a:srgbClr val="FFD6BA"/>
          </a:solidFill>
          <a:ln w="6350">
            <a:solidFill>
              <a:srgbClr val="FFAB70"/>
            </a:solidFill>
            <a:prstDash val="solid"/>
          </a:ln>
        </p:spPr>
      </p:sp>
      <p:sp>
        <p:nvSpPr>
          <p:cNvPr id="24" name="Text 21"/>
          <p:cNvSpPr txBox="1"/>
          <p:nvPr/>
        </p:nvSpPr>
        <p:spPr>
          <a:xfrm>
            <a:off x="10945368" y="298094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+65</a:t>
            </a:r>
            <a:endParaRPr lang="en-US" sz="850" dirty="0"/>
          </a:p>
        </p:txBody>
      </p:sp>
      <p:sp>
        <p:nvSpPr>
          <p:cNvPr id="25" name="Text 22"/>
          <p:cNvSpPr txBox="1"/>
          <p:nvPr/>
        </p:nvSpPr>
        <p:spPr>
          <a:xfrm>
            <a:off x="7479792" y="325526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p>
        </p:txBody>
      </p:sp>
      <p:sp>
        <p:nvSpPr>
          <p:cNvPr id="26" name="Shape 23"/>
          <p:cNvSpPr/>
          <p:nvPr/>
        </p:nvSpPr>
        <p:spPr>
          <a:xfrm>
            <a:off x="8686800" y="3296412"/>
            <a:ext cx="870387" cy="137160"/>
          </a:xfrm>
          <a:prstGeom prst="rect">
            <a:avLst/>
          </a:prstGeom>
          <a:solidFill>
            <a:srgbClr val="FFD6BA"/>
          </a:solidFill>
          <a:ln w="6350">
            <a:solidFill>
              <a:srgbClr val="FFAB70"/>
            </a:solidFill>
            <a:prstDash val="solid"/>
          </a:ln>
        </p:spPr>
      </p:sp>
      <p:sp>
        <p:nvSpPr>
          <p:cNvPr id="27" name="Text 24"/>
          <p:cNvSpPr txBox="1"/>
          <p:nvPr/>
        </p:nvSpPr>
        <p:spPr>
          <a:xfrm>
            <a:off x="10945368" y="325526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+59</a:t>
            </a:r>
            <a:endParaRPr lang="en-US" sz="850" dirty="0"/>
          </a:p>
        </p:txBody>
      </p:sp>
      <p:sp>
        <p:nvSpPr>
          <p:cNvPr id="28" name="Text 25"/>
          <p:cNvSpPr txBox="1"/>
          <p:nvPr/>
        </p:nvSpPr>
        <p:spPr>
          <a:xfrm>
            <a:off x="7479792" y="352958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p>
        </p:txBody>
      </p:sp>
      <p:sp>
        <p:nvSpPr>
          <p:cNvPr id="29" name="Shape 26"/>
          <p:cNvSpPr/>
          <p:nvPr/>
        </p:nvSpPr>
        <p:spPr>
          <a:xfrm>
            <a:off x="8686800" y="3570732"/>
            <a:ext cx="722864" cy="137160"/>
          </a:xfrm>
          <a:prstGeom prst="rect">
            <a:avLst/>
          </a:prstGeom>
          <a:solidFill>
            <a:srgbClr val="FFD6BA"/>
          </a:solidFill>
          <a:ln w="6350">
            <a:solidFill>
              <a:srgbClr val="FFAB70"/>
            </a:solidFill>
            <a:prstDash val="solid"/>
          </a:ln>
        </p:spPr>
      </p:sp>
      <p:sp>
        <p:nvSpPr>
          <p:cNvPr id="30" name="Text 27"/>
          <p:cNvSpPr txBox="1"/>
          <p:nvPr/>
        </p:nvSpPr>
        <p:spPr>
          <a:xfrm>
            <a:off x="10945368" y="352958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+49</a:t>
            </a:r>
            <a:endParaRPr lang="en-US" sz="850" dirty="0"/>
          </a:p>
        </p:txBody>
      </p:sp>
      <p:sp>
        <p:nvSpPr>
          <p:cNvPr id="31" name="Text 28"/>
          <p:cNvSpPr txBox="1"/>
          <p:nvPr/>
        </p:nvSpPr>
        <p:spPr>
          <a:xfrm>
            <a:off x="7479792" y="3803904"/>
            <a:ext cx="1170432" cy="219456"/>
          </a:xfrm>
          <a:prstGeom prst="rect">
            <a:avLst/>
          </a:prstGeom>
          <a:noFill/>
          <a:ln/>
        </p:spPr>
        <p:txBody>
          <a:bodyPr wrap="square" lIns="0" tIns="0" rIns="0" bIns="0" rtlCol="0" anchor="ctr"/>
          <a:lstStyle/>
          <a:p>
            <a:pPr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p>
        </p:txBody>
      </p:sp>
      <p:sp>
        <p:nvSpPr>
          <p:cNvPr id="32" name="Shape 29"/>
          <p:cNvSpPr/>
          <p:nvPr/>
        </p:nvSpPr>
        <p:spPr>
          <a:xfrm>
            <a:off x="8686800" y="3845052"/>
            <a:ext cx="59009" cy="137160"/>
          </a:xfrm>
          <a:prstGeom prst="rect">
            <a:avLst/>
          </a:prstGeom>
          <a:solidFill>
            <a:srgbClr val="FFCCE8"/>
          </a:solidFill>
          <a:ln w="6350">
            <a:solidFill>
              <a:srgbClr val="FF8AC2"/>
            </a:solidFill>
            <a:prstDash val="solid"/>
          </a:ln>
        </p:spPr>
      </p:sp>
      <p:sp>
        <p:nvSpPr>
          <p:cNvPr id="33" name="Text 30"/>
          <p:cNvSpPr txBox="1"/>
          <p:nvPr/>
        </p:nvSpPr>
        <p:spPr>
          <a:xfrm>
            <a:off x="10945368" y="3803904"/>
            <a:ext cx="621792" cy="219456"/>
          </a:xfrm>
          <a:prstGeom prst="rect">
            <a:avLst/>
          </a:prstGeom>
          <a:noFill/>
          <a:ln/>
        </p:spPr>
        <p:txBody>
          <a:bodyPr wrap="square" lIns="0" tIns="0" rIns="0" bIns="0" rtlCol="0" anchor="ctr"/>
          <a:lstStyle/>
          <a:p>
            <a:pPr algn="r" indent="0" marL="0">
              <a:buNone/>
            </a:pPr>
            <a:r>
              <a:rPr lang="en-US" sz="850" b="1" dirty="0">
                <a:solidFill>
                  <a:srgbClr val="2B2B2B"/>
                </a:solidFill>
                <a:latin typeface="Verdana" pitchFamily="34" charset="0"/>
                <a:ea typeface="Verdana" pitchFamily="34" charset="-122"/>
                <a:cs typeface="Verdana" pitchFamily="34" charset="-120"/>
              </a:rPr>
              <a:t>-4</a:t>
            </a:r>
            <a:endParaRPr lang="en-US" sz="850" dirty="0"/>
          </a:p>
        </p:txBody>
      </p:sp>
      <p:sp>
        <p:nvSpPr>
          <p:cNvPr id="34" name="Shape 31"/>
          <p:cNvSpPr/>
          <p:nvPr/>
        </p:nvSpPr>
        <p:spPr>
          <a:xfrm>
            <a:off x="7479792" y="4096512"/>
            <a:ext cx="4087368" cy="914400"/>
          </a:xfrm>
          <a:prstGeom prst="roundRect">
            <a:avLst>
              <a:gd name="adj" fmla="val 5000"/>
            </a:avLst>
          </a:prstGeom>
          <a:solidFill>
            <a:srgbClr val="C7E3F9"/>
          </a:solidFill>
          <a:ln w="12700">
            <a:solidFill>
              <a:srgbClr val="77BFEE"/>
            </a:solidFill>
            <a:prstDash val="solid"/>
          </a:ln>
        </p:spPr>
      </p:sp>
      <p:sp>
        <p:nvSpPr>
          <p:cNvPr id="35" name="Text 32"/>
          <p:cNvSpPr txBox="1"/>
          <p:nvPr/>
        </p:nvSpPr>
        <p:spPr>
          <a:xfrm>
            <a:off x="7626096" y="416966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España es la única que no lo cobra</a:t>
            </a:r>
            <a:endParaRPr lang="en-US" sz="1100" dirty="0"/>
          </a:p>
        </p:txBody>
      </p:sp>
      <p:sp>
        <p:nvSpPr>
          <p:cNvPr id="36" name="Text 33"/>
          <p:cNvSpPr txBox="1"/>
          <p:nvPr/>
        </p:nvSpPr>
        <p:spPr>
          <a:xfrm>
            <a:off x="7626096" y="4389120"/>
            <a:ext cx="3794760" cy="56692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−4 pb: el préstamo pequeño sale marginalmente más barato que el de más de 1 M€. Italia cobra +143 y Países Bajos +120. Y el gradiente acompaña a la rentabilidad: ρ = +0,82 con el ROE.</a:t>
            </a:r>
            <a:endParaRPr lang="en-US" sz="850" dirty="0"/>
          </a:p>
        </p:txBody>
      </p:sp>
      <p:sp>
        <p:nvSpPr>
          <p:cNvPr id="37" name="Shape 34"/>
          <p:cNvSpPr/>
          <p:nvPr/>
        </p:nvSpPr>
        <p:spPr>
          <a:xfrm>
            <a:off x="7479792" y="5102352"/>
            <a:ext cx="4087368" cy="950976"/>
          </a:xfrm>
          <a:prstGeom prst="roundRect">
            <a:avLst>
              <a:gd name="adj" fmla="val 4808"/>
            </a:avLst>
          </a:prstGeom>
          <a:solidFill>
            <a:srgbClr val="E5E5E5"/>
          </a:solidFill>
          <a:ln w="12700">
            <a:solidFill>
              <a:srgbClr val="CACACA"/>
            </a:solidFill>
            <a:prstDash val="solid"/>
          </a:ln>
        </p:spPr>
      </p:sp>
      <p:sp>
        <p:nvSpPr>
          <p:cNvPr id="38" name="Text 35"/>
          <p:cNvSpPr txBox="1"/>
          <p:nvPr/>
        </p:nvSpPr>
        <p:spPr>
          <a:xfrm>
            <a:off x="7626096" y="5175504"/>
            <a:ext cx="379476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Qué corrige esto de la lámina anterior</a:t>
            </a:r>
            <a:endParaRPr lang="en-US" sz="1100" dirty="0"/>
          </a:p>
        </p:txBody>
      </p:sp>
      <p:sp>
        <p:nvSpPr>
          <p:cNvPr id="39" name="Text 36"/>
          <p:cNvSpPr txBox="1"/>
          <p:nvPr/>
        </p:nvSpPr>
        <p:spPr>
          <a:xfrm>
            <a:off x="7626096" y="5413248"/>
            <a:ext cx="3794760" cy="603504"/>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La PD de un país también es apetito revelado, no solo información y entorno, y con dato público no se separan. Lo que el precio sí descarta es que el apetito sea lo dominante: si lo fuera, los de PD alta cobrarían más, y cobran menos.</a:t>
            </a:r>
            <a:endParaRPr lang="en-US" sz="850" dirty="0"/>
          </a:p>
        </p:txBody>
      </p:sp>
      <p:sp>
        <p:nvSpPr>
          <p:cNvPr id="40" name="Text 3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por tramo del dataset MIR del BCE, media ponderada por volumen de 2026-01 a 2026-07; Alemania no publica volumen de los tramos pequeños, así que su gradiente mezcla media simple y media ponderada. PD del EBA, COREP C 9.02, 2026-Q1, mediana de entidades. La comisión es un supuesto de 87 pb en los otros seis países, que no la publican. El tramo de más de 1 M€ no es solo gran empresa, pero es el proxy más cercano que publica el MIR. n=7: indicativo, no causal.</a:t>
            </a:r>
            <a:endParaRPr lang="en-US" sz="7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Consumo de capital de la cartera PYME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RWA sobre valor de exposición · EU-wide Transparency Exercise · Junio 2025 · Incorpora ya el factor de apoyo a PYME del art. 501 CRR</a:t>
            </a:r>
            <a:endParaRPr lang="en-US" sz="1050" dirty="0"/>
          </a:p>
        </p:txBody>
      </p:sp>
      <p:graphicFrame>
        <p:nvGraphicFramePr>
          <p:cNvPr id="6" name="Chart 0" descr=""/>
          <p:cNvGraphicFramePr/>
          <p:nvPr/>
        </p:nvGraphicFramePr>
        <p:xfrm>
          <a:off x="621792" y="1691640"/>
          <a:ext cx="6675120" cy="356616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920240"/>
          </a:xfrm>
          <a:prstGeom prst="roundRect">
            <a:avLst>
              <a:gd name="adj" fmla="val 2857"/>
            </a:avLst>
          </a:prstGeom>
          <a:solidFill>
            <a:srgbClr val="FFF4C2"/>
          </a:solidFill>
          <a:ln w="12700">
            <a:solidFill>
              <a:srgbClr val="FFE066"/>
            </a:solidFill>
            <a:prstDash val="solid"/>
          </a:ln>
        </p:spPr>
      </p:sp>
      <p:sp>
        <p:nvSpPr>
          <p:cNvPr id="8" name="Text 5"/>
          <p:cNvSpPr txBox="1"/>
          <p:nvPr/>
        </p:nvSpPr>
        <p:spPr>
          <a:xfrm>
            <a:off x="7699248" y="1828800"/>
            <a:ext cx="3749040" cy="502920"/>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El capital manda sobre el precio</a:t>
            </a:r>
            <a:endParaRPr lang="en-US" sz="1300" dirty="0"/>
          </a:p>
        </p:txBody>
      </p:sp>
      <p:sp>
        <p:nvSpPr>
          <p:cNvPr id="9" name="Text 6"/>
          <p:cNvSpPr txBox="1"/>
          <p:nvPr/>
        </p:nvSpPr>
        <p:spPr>
          <a:xfrm>
            <a:off x="7699248" y="2359152"/>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Va del 35,3 % en Alemania al 70,0 % en Irlanda: un euro de préstamo PYME consume el doble de capital en Irlanda que en Alemania. Sobre el mismo margen, eso divide el ROE por dos. Es el factor que más mueve el ranking, por delante del precio.</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498080" y="3675888"/>
          <a:ext cx="4142232" cy="914400"/>
        </p:xfrm>
        <a:graphic>
          <a:graphicData uri="http://schemas.openxmlformats.org/drawingml/2006/table">
            <a:tbl>
              <a:tblPr/>
              <a:tblGrid>
                <a:gridCol w="1216152"/>
                <a:gridCol w="996696"/>
                <a:gridCol w="960120"/>
                <a:gridCol w="969264"/>
              </a:tblGrid>
              <a:tr h="214884">
                <a:tc>
                  <a:txBody>
                    <a:bodyPr/>
                    <a:lstStyle/>
                    <a:p>
                      <a:pPr algn="l" indent="0" marL="0">
                        <a:buNone/>
                      </a:pP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CET1</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 Capital</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España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59.5 %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13.67 %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8.13 %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Alemania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35.3 %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16.94 %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5.99 %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Francia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43.0 %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15.88 %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6.83 %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Italia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46.4 %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15.56 %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7.21 %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Portugal</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61.3 %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17.82 %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10.93 %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P. Bajos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37.2 %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16.38 %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6.09 %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14884">
                <a:tc>
                  <a:txBody>
                    <a:bodyPr/>
                    <a:lstStyle/>
                    <a:p>
                      <a:pPr algn="l" indent="0" marL="0">
                        <a:buNone/>
                      </a:pPr>
                      <a:r>
                        <a:rPr lang="en-US" sz="950" b="1" dirty="0">
                          <a:solidFill>
                            <a:srgbClr val="2B2B2B"/>
                          </a:solidFill>
                          <a:latin typeface="Verdana" pitchFamily="34" charset="0"/>
                          <a:ea typeface="Verdana" pitchFamily="34" charset="-122"/>
                          <a:cs typeface="Verdana" pitchFamily="34" charset="-120"/>
                        </a:rPr>
                        <a:t>Irlanda</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70.0 %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dirty="0">
                          <a:solidFill>
                            <a:srgbClr val="2B2B2B"/>
                          </a:solidFill>
                          <a:latin typeface="Verdana" pitchFamily="34" charset="0"/>
                          <a:ea typeface="Verdana" pitchFamily="34" charset="-122"/>
                          <a:cs typeface="Verdana" pitchFamily="34" charset="-120"/>
                        </a:rPr>
                        <a:t>18.31 %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950" b="1" dirty="0">
                          <a:solidFill>
                            <a:srgbClr val="2B2B2B"/>
                          </a:solidFill>
                          <a:latin typeface="Verdana" pitchFamily="34" charset="0"/>
                          <a:ea typeface="Verdana" pitchFamily="34" charset="-122"/>
                          <a:cs typeface="Verdana" pitchFamily="34" charset="-120"/>
                        </a:rPr>
                        <a:t>12.81 %</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Text 7"/>
          <p:cNvSpPr txBox="1"/>
          <p:nvPr/>
        </p:nvSpPr>
        <p:spPr>
          <a:xfrm>
            <a:off x="621792" y="5394960"/>
            <a:ext cx="10945368" cy="502920"/>
          </a:xfrm>
          <a:prstGeom prst="rect">
            <a:avLst/>
          </a:prstGeom>
          <a:noFill/>
          <a:ln/>
        </p:spPr>
        <p:txBody>
          <a:bodyPr wrap="square" lIns="0" tIns="0" rIns="0" bIns="0" rtlCol="0" anchor="ctr"/>
          <a:lstStyle/>
          <a:p>
            <a:pPr indent="0" marL="0">
              <a:buNone/>
            </a:pPr>
            <a:r>
              <a:rPr lang="en-US" sz="1050" dirty="0">
                <a:solidFill>
                  <a:srgbClr val="2B2B2B"/>
                </a:solidFill>
                <a:latin typeface="Verdana" pitchFamily="34" charset="0"/>
                <a:ea typeface="Verdana" pitchFamily="34" charset="-122"/>
                <a:cs typeface="Verdana" pitchFamily="34" charset="-120"/>
              </a:rPr>
              <a:t>Capital asignado = densidad de RWA × ratio CET1. Ambos observados por país; no hay supuesto en esta línea.</a:t>
            </a:r>
            <a:endParaRPr lang="en-US" sz="1050" dirty="0"/>
          </a:p>
        </p:txBody>
      </p:sp>
      <p:sp>
        <p:nvSpPr>
          <p:cNvPr id="12"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2025, fichero tr_cre.csv, partidas 2520523 (valor de exposición PYME) y 2520533 (RWA PYME), agregadas por supervisor nacional. La diferencia refleja el peso de modelos internos frente a método estándar y la garantía aportada.</a:t>
            </a:r>
            <a:endParaRPr lang="en-US" sz="7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Eficiencia, capital y comisiones en Sistema Bancario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2026-Q1 · Nivel de grupo consolidado, no de segmento PYME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21792" y="1645920"/>
          <a:ext cx="10945368" cy="914400"/>
        </p:xfrm>
        <a:graphic>
          <a:graphicData uri="http://schemas.openxmlformats.org/drawingml/2006/table">
            <a:tbl>
              <a:tblPr/>
              <a:tblGrid>
                <a:gridCol w="2468880"/>
                <a:gridCol w="1231697"/>
                <a:gridCol w="1231697"/>
                <a:gridCol w="1231697"/>
                <a:gridCol w="1231697"/>
                <a:gridCol w="1231697"/>
                <a:gridCol w="1231697"/>
                <a:gridCol w="1231697"/>
              </a:tblGrid>
              <a:tr h="420624">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Indicador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España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Alemania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Francia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Italia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Portugal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 Bajos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Irlanda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de NPL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1.91 %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1.10 %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Coste del 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1.22 %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0.75 %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0.55 %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0.36 %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0.24 %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Eficiencia (cost-income)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42.1 %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55.1 %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46.8 %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34.8 %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53.5 %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57.4 %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ROE del sistema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18.5 %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8.0 %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6.3 %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14.9 %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10.1 %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9.4 %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Ratio CET1</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15.6 %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17.8 %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16.4 %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18.3 %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420624">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Comisiones / ingresos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23.9 %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32.0 %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33.7 %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33.8 %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21.8 %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20.4 %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100" dirty="0">
                          <a:solidFill>
                            <a:srgbClr val="2B2B2B"/>
                          </a:solidFill>
                          <a:latin typeface="Verdana" pitchFamily="34" charset="0"/>
                          <a:ea typeface="Verdana" pitchFamily="34" charset="-122"/>
                          <a:cs typeface="Verdana" pitchFamily="34" charset="-120"/>
                        </a:rPr>
                        <a:t>18.4 %</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7" name="Shape 4"/>
          <p:cNvSpPr/>
          <p:nvPr/>
        </p:nvSpPr>
        <p:spPr>
          <a:xfrm>
            <a:off x="621792" y="4663440"/>
            <a:ext cx="5486400" cy="1371600"/>
          </a:xfrm>
          <a:prstGeom prst="roundRect">
            <a:avLst>
              <a:gd name="adj" fmla="val 4000"/>
            </a:avLst>
          </a:prstGeom>
          <a:solidFill>
            <a:srgbClr val="E5E5E5"/>
          </a:solidFill>
          <a:ln w="12700">
            <a:solidFill>
              <a:srgbClr val="CACACA"/>
            </a:solidFill>
            <a:prstDash val="solid"/>
          </a:ln>
        </p:spPr>
      </p:sp>
      <p:sp>
        <p:nvSpPr>
          <p:cNvPr id="8" name="Text 5"/>
          <p:cNvSpPr txBox="1"/>
          <p:nvPr/>
        </p:nvSpPr>
        <p:spPr>
          <a:xfrm>
            <a:off x="822960" y="4800600"/>
            <a:ext cx="507492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Por qué España rinde pese al spread estrecho</a:t>
            </a:r>
            <a:endParaRPr lang="en-US" sz="1300" dirty="0"/>
          </a:p>
        </p:txBody>
      </p:sp>
      <p:sp>
        <p:nvSpPr>
          <p:cNvPr id="9" name="Text 6"/>
          <p:cNvSpPr txBox="1"/>
          <p:nvPr/>
        </p:nvSpPr>
        <p:spPr>
          <a:xfrm>
            <a:off x="822960" y="5138928"/>
            <a:ext cx="507492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Segunda mejor eficiencia (42,1 %) y el mayor ROE de sistema (18,5 %). Compensa por volumen y coste operativo, no por precio.</a:t>
            </a:r>
            <a:endParaRPr lang="en-US" sz="1150" dirty="0"/>
          </a:p>
        </p:txBody>
      </p:sp>
      <p:sp>
        <p:nvSpPr>
          <p:cNvPr id="10" name="Shape 7"/>
          <p:cNvSpPr/>
          <p:nvPr/>
        </p:nvSpPr>
        <p:spPr>
          <a:xfrm>
            <a:off x="6263640" y="4663440"/>
            <a:ext cx="5376672" cy="1371600"/>
          </a:xfrm>
          <a:prstGeom prst="roundRect">
            <a:avLst>
              <a:gd name="adj" fmla="val 4000"/>
            </a:avLst>
          </a:prstGeom>
          <a:solidFill>
            <a:srgbClr val="FFF4C2"/>
          </a:solidFill>
          <a:ln w="12700">
            <a:solidFill>
              <a:srgbClr val="FFE066"/>
            </a:solidFill>
            <a:prstDash val="solid"/>
          </a:ln>
        </p:spPr>
      </p:sp>
      <p:sp>
        <p:nvSpPr>
          <p:cNvPr id="11" name="Text 8"/>
          <p:cNvSpPr txBox="1"/>
          <p:nvPr/>
        </p:nvSpPr>
        <p:spPr>
          <a:xfrm>
            <a:off x="6464808" y="4800600"/>
            <a:ext cx="498348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Advertencia sobre estas cifras</a:t>
            </a:r>
            <a:endParaRPr lang="en-US" sz="1300" dirty="0"/>
          </a:p>
        </p:txBody>
      </p:sp>
      <p:sp>
        <p:nvSpPr>
          <p:cNvPr id="12" name="Text 9"/>
          <p:cNvSpPr txBox="1"/>
          <p:nvPr/>
        </p:nvSpPr>
        <p:spPr>
          <a:xfrm>
            <a:off x="6464808" y="5138928"/>
            <a:ext cx="4983480" cy="77724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Son de grupo consolidado. El coste del riesgo español (1,22 %) está inflado por el negocio internacional: CaixaBank, doméstico, reporta 0,24 %. Por eso el modelo no usa esta fila.</a:t>
            </a:r>
            <a:endParaRPr lang="en-US" sz="115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indicadores AQT_3.2, PFT_43, PFT_23, PFT_21, SVC_3 y PFT_26.</a:t>
            </a:r>
            <a:endParaRPr lang="en-US" sz="7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Circulante: líneas de crédito y descubiertos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Tipo del saldo vivo a empresas · Media 2026 · Serie A2Z1, que excluye deuda de tarjeta</a:t>
            </a:r>
            <a:endParaRPr lang="en-US" sz="1050" dirty="0"/>
          </a:p>
        </p:txBody>
      </p:sp>
      <p:graphicFrame>
        <p:nvGraphicFramePr>
          <p:cNvPr id="6" name="Chart 0" descr=""/>
          <p:cNvGraphicFramePr/>
          <p:nvPr/>
        </p:nvGraphicFramePr>
        <p:xfrm>
          <a:off x="621792" y="1691640"/>
          <a:ext cx="6675120" cy="36576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98080" y="1691640"/>
            <a:ext cx="4142232" cy="1737360"/>
          </a:xfrm>
          <a:prstGeom prst="roundRect">
            <a:avLst>
              <a:gd name="adj" fmla="val 3158"/>
            </a:avLst>
          </a:prstGeom>
          <a:solidFill>
            <a:srgbClr val="FFCCE8"/>
          </a:solidFill>
          <a:ln w="12700">
            <a:solidFill>
              <a:srgbClr val="FF8AC2"/>
            </a:solidFill>
            <a:prstDash val="solid"/>
          </a:ln>
        </p:spPr>
      </p:sp>
      <p:sp>
        <p:nvSpPr>
          <p:cNvPr id="8" name="Text 5"/>
          <p:cNvSpPr txBox="1"/>
          <p:nvPr/>
        </p:nvSpPr>
        <p:spPr>
          <a:xfrm>
            <a:off x="7699248" y="1828800"/>
            <a:ext cx="374904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Hueco: volumen solo en España</a:t>
            </a:r>
            <a:endParaRPr lang="en-US" sz="1300" dirty="0"/>
          </a:p>
        </p:txBody>
      </p:sp>
      <p:sp>
        <p:nvSpPr>
          <p:cNvPr id="9" name="Text 6"/>
          <p:cNvSpPr txBox="1"/>
          <p:nvPr/>
        </p:nvSpPr>
        <p:spPr>
          <a:xfrm>
            <a:off x="7699248" y="2194560"/>
            <a:ext cx="3749040" cy="1170432"/>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El BCE publica el tipo de los siete países, pero el volumen solo del agregado de zona euro. El único dato nacional hallado es el del Banco de España: 57.933 M€ de saldo medio en 2026, con un tipo del 3,58 % idéntico al del BCE. Para los otros seis, el peso del circulante en la cartera no es calculable con fuente oficial.</a:t>
            </a:r>
            <a:endParaRPr lang="en-US" sz="950" dirty="0"/>
          </a:p>
        </p:txBody>
      </p:sp>
      <p:sp>
        <p:nvSpPr>
          <p:cNvPr id="10" name="Shape 7"/>
          <p:cNvSpPr/>
          <p:nvPr/>
        </p:nvSpPr>
        <p:spPr>
          <a:xfrm>
            <a:off x="7498080" y="3611880"/>
            <a:ext cx="4142232" cy="1737360"/>
          </a:xfrm>
          <a:prstGeom prst="roundRect">
            <a:avLst>
              <a:gd name="adj" fmla="val 3158"/>
            </a:avLst>
          </a:prstGeom>
          <a:solidFill>
            <a:srgbClr val="E5E5E5"/>
          </a:solidFill>
          <a:ln w="12700">
            <a:solidFill>
              <a:srgbClr val="CACACA"/>
            </a:solidFill>
            <a:prstDash val="solid"/>
          </a:ln>
        </p:spPr>
      </p:sp>
      <p:sp>
        <p:nvSpPr>
          <p:cNvPr id="11" name="Text 8"/>
          <p:cNvSpPr txBox="1"/>
          <p:nvPr/>
        </p:nvSpPr>
        <p:spPr>
          <a:xfrm>
            <a:off x="7699248" y="3749040"/>
            <a:ext cx="3749040" cy="292608"/>
          </a:xfrm>
          <a:prstGeom prst="rect">
            <a:avLst/>
          </a:prstGeom>
          <a:noFill/>
          <a:ln/>
        </p:spPr>
        <p:txBody>
          <a:bodyPr wrap="square" lIns="0" tIns="0" rIns="0" bIns="0" rtlCol="0" anchor="ctr"/>
          <a:lstStyle/>
          <a:p>
            <a:pPr indent="0" marL="0">
              <a:buNone/>
            </a:pPr>
            <a:r>
              <a:rPr lang="en-US" sz="1300" b="1" dirty="0">
                <a:solidFill>
                  <a:srgbClr val="F56600"/>
                </a:solidFill>
                <a:latin typeface="Verdana" pitchFamily="34" charset="0"/>
                <a:ea typeface="Verdana" pitchFamily="34" charset="-122"/>
                <a:cs typeface="Verdana" pitchFamily="34" charset="-120"/>
              </a:rPr>
              <a:t>Dos perímetros distintos</a:t>
            </a:r>
            <a:endParaRPr lang="en-US" sz="1300" dirty="0"/>
          </a:p>
        </p:txBody>
      </p:sp>
      <p:sp>
        <p:nvSpPr>
          <p:cNvPr id="12" name="Text 9"/>
          <p:cNvSpPr txBox="1"/>
          <p:nvPr/>
        </p:nvSpPr>
        <p:spPr>
          <a:xfrm>
            <a:off x="7699248" y="4114800"/>
            <a:ext cx="3749040" cy="114300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A2Z1 son revolving y descubiertos. A2Z añade deuda de tarjeta. La diferencia va de 0 a 4 pb, mayor en Francia y zona euro. Se usa A2Z1, que es el perímetro de circulante de empresa.</a:t>
            </a:r>
            <a:endParaRPr lang="en-US" sz="11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serie A2Z1 (revolving y descubiertos a sociedades no financieras). En revolving y descubiertos el MIR mide el tipo del saldo vivo, no de nueva producción: no existe el concepto de nueva operación. El dato de julio de 2026 es provisional en España, Alemania, Francia, Italia y zona euro. Volumen de España: Banco de España, Boletín Estadístico, cuadro 19.13, serie 1.</a:t>
            </a:r>
            <a:endParaRPr lang="en-US" sz="7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Préstamo frente a circulante: 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Media 2026 · En revolving el MIR mide el tipo del saldo vivo, no de nueva producción · El circulante no tiene tramo de importe, así que la única comparación de perímetro homólogo es contra el total de empresas</a:t>
            </a:r>
            <a:endParaRPr lang="en-US" sz="1050" dirty="0"/>
          </a:p>
        </p:txBody>
      </p:sp>
      <p:graphicFrame>
        <p:nvGraphicFramePr>
          <p:cNvPr id="6" name="Chart 0" descr=""/>
          <p:cNvGraphicFramePr/>
          <p:nvPr/>
        </p:nvGraphicFramePr>
        <p:xfrm>
          <a:off x="621792" y="1755648"/>
          <a:ext cx="7360920" cy="3246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5047488"/>
            <a:ext cx="736092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Diferencia del circulante frente al préstamo del mismo perímetro, en puntos básicos</a:t>
            </a:r>
            <a:endParaRPr lang="en-US" sz="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065008" y="1755648"/>
          <a:ext cx="3575304" cy="914400"/>
        </p:xfrm>
        <a:graphic>
          <a:graphicData uri="http://schemas.openxmlformats.org/drawingml/2006/table">
            <a:tbl>
              <a:tblPr/>
              <a:tblGrid>
                <a:gridCol w="1234440"/>
                <a:gridCol w="1216152"/>
                <a:gridCol w="1124712"/>
              </a:tblGrid>
              <a:tr h="274320">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total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vs préstamo PYME</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Alemania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Francia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Italia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Portugal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P. Bajos</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−204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274320">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Irlanda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9" name="Shape 5"/>
          <p:cNvSpPr/>
          <p:nvPr/>
        </p:nvSpPr>
        <p:spPr>
          <a:xfrm>
            <a:off x="8065008" y="4023360"/>
            <a:ext cx="3575304"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8211312" y="4096512"/>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Cuidado con el perímetro</a:t>
            </a:r>
            <a:endParaRPr lang="en-US" sz="1100" dirty="0"/>
          </a:p>
        </p:txBody>
      </p:sp>
      <p:sp>
        <p:nvSpPr>
          <p:cNvPr id="11" name="Text 7"/>
          <p:cNvSpPr txBox="1"/>
          <p:nvPr/>
        </p:nvSpPr>
        <p:spPr>
          <a:xfrm>
            <a:off x="8211312" y="4334256"/>
            <a:ext cx="3282696"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La serie A2Z1 del BCE solo existe en categoría total: mezcla PYME y gran empresa. Comparar el circulante contra el tramo ≤1 M€ exagera la diferencia allí donde ese tramo pesa poco. En Países Bajos solo es el 7,6 % de la nueva producción, y ahí el salto es de −204 pb contra PYME pero de −100 pb contra el total.</a:t>
            </a:r>
            <a:endParaRPr lang="en-US" sz="800" dirty="0"/>
          </a:p>
        </p:txBody>
      </p:sp>
      <p:sp>
        <p:nvSpPr>
          <p:cNvPr id="12" name="Shape 8"/>
          <p:cNvSpPr/>
          <p:nvPr/>
        </p:nvSpPr>
        <p:spPr>
          <a:xfrm>
            <a:off x="8065008" y="5248656"/>
            <a:ext cx="3575304" cy="804672"/>
          </a:xfrm>
          <a:prstGeom prst="roundRect">
            <a:avLst>
              <a:gd name="adj" fmla="val 5682"/>
            </a:avLst>
          </a:prstGeom>
          <a:solidFill>
            <a:srgbClr val="FFF4C2"/>
          </a:solidFill>
          <a:ln w="12700">
            <a:solidFill>
              <a:srgbClr val="FFE066"/>
            </a:solidFill>
            <a:prstDash val="solid"/>
          </a:ln>
        </p:spPr>
      </p:sp>
      <p:sp>
        <p:nvSpPr>
          <p:cNvPr id="13" name="Text 9"/>
          <p:cNvSpPr txBox="1"/>
          <p:nvPr/>
        </p:nvSpPr>
        <p:spPr>
          <a:xfrm>
            <a:off x="8211312" y="5321808"/>
            <a:ext cx="3282696"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No hay una regla</a:t>
            </a:r>
            <a:endParaRPr lang="en-US" sz="1100" dirty="0"/>
          </a:p>
        </p:txBody>
      </p:sp>
      <p:sp>
        <p:nvSpPr>
          <p:cNvPr id="14" name="Text 10"/>
          <p:cNvSpPr txBox="1"/>
          <p:nvPr/>
        </p:nvSpPr>
        <p:spPr>
          <a:xfrm>
            <a:off x="8211312" y="5559552"/>
            <a:ext cx="3282696" cy="43891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A perímetro homólogo, el circulante es más caro que el préstamo en cuatro países y más barato en tres. Alemania cobra +138 pb por la línea; Países Bajos, −100.</a:t>
            </a:r>
            <a:endParaRPr lang="en-US" sz="8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BCE, dataset MIR. Circulante: serie A2Z1 (revolving y descubiertos a sociedades no financieras), sin tramo de importe, media simple de 2026-01 a 2026-07. Préstamo: medias ponderadas por volumen del mismo periodo. En revolving el MIR mide el tipo del saldo vivo, no de nueva producción: no existe el concepto de nueva operación. Validación cruzada: el Banco de España publica el mismo dato para España (cuadro 19.5, serie 1) y da 3,58 %, idéntico al del BCE.</a:t>
            </a:r>
            <a:endParaRPr lang="en-US" sz="7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19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del circulante: se cobra por dos sitios, se consume capital por dos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Perímetro: TOTAL DE EMPRESAS, no PYME · Por euro dispuesto · Disposición 60 % y comisión de disponibilidad 0,30 % son SUPUESTOS, no datos · CCF del 10 % del CRR3</a:t>
            </a:r>
            <a:endParaRPr lang="en-US" sz="1050" dirty="0"/>
          </a:p>
        </p:txBody>
      </p:sp>
      <p:graphicFrame>
        <p:nvGraphicFramePr>
          <p:cNvPr id="6" name="Chart 0" descr=""/>
          <p:cNvGraphicFramePr/>
          <p:nvPr/>
        </p:nvGraphicFramePr>
        <p:xfrm>
          <a:off x="621792" y="1755648"/>
          <a:ext cx="67208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53712"/>
            <a:ext cx="6720840" cy="548640"/>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Las dos barras NO son el mismo negocio ni llevan las mismas comisiones: la izquierda es circulante a todas las empresas y la derecha préstamo a PYME, y el modelo del préstamo aplica 0,87 % de comisiones sobre el saldo mientras que el del circulante no aplica ninguna sobre el dispuesto. Con esa misma carga, el circulante daría España 14,0 · Alemania 16,0 · Francia 6,1 · Italia 16,7 · Portugal 14,6 · P. Bajos 9,7 · Irlanda 11,2 %.</a:t>
            </a:r>
            <a:endParaRPr lang="en-US" sz="800" dirty="0"/>
          </a:p>
        </p:txBody>
      </p:sp>
      <p:sp>
        <p:nvSpPr>
          <p:cNvPr id="8" name="Text 5"/>
          <p:cNvSpPr txBox="1"/>
          <p:nvPr/>
        </p:nvSpPr>
        <p:spPr>
          <a:xfrm>
            <a:off x="621792" y="5102352"/>
            <a:ext cx="672084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Sensibilidad a los dos supuestos · media de los SIETE países</a:t>
            </a:r>
            <a:endParaRPr lang="en-US" sz="1150" dirty="0"/>
          </a:p>
        </p:txBody>
      </p:sp>
      <p:sp>
        <p:nvSpPr>
          <p:cNvPr id="9" name="Text 6"/>
          <p:cNvSpPr txBox="1"/>
          <p:nvPr/>
        </p:nvSpPr>
        <p:spPr>
          <a:xfrm>
            <a:off x="621792" y="5321808"/>
            <a:ext cx="6720840" cy="219456"/>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 fila de 0,30 % sale plana porque cae casi sobre la media de las siete comisiones neutrales (0,31 %). No es la neutral de ningún país: van del 0,14 % de Países Bajos al 0,46 % de Irlanda.</a:t>
            </a:r>
            <a:endParaRPr lang="en-US" sz="7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21792" y="5559552"/>
          <a:ext cx="6720840" cy="914400"/>
        </p:xfrm>
        <a:graphic>
          <a:graphicData uri="http://schemas.openxmlformats.org/drawingml/2006/table">
            <a:tbl>
              <a:tblPr/>
              <a:tblGrid>
                <a:gridCol w="1920240"/>
                <a:gridCol w="800100"/>
                <a:gridCol w="800100"/>
                <a:gridCol w="800100"/>
                <a:gridCol w="800100"/>
                <a:gridCol w="800100"/>
                <a:gridCol w="800100"/>
              </a:tblGrid>
              <a:tr h="169164">
                <a:tc>
                  <a:txBody>
                    <a:bodyPr/>
                    <a:lstStyle/>
                    <a:p>
                      <a:pPr algn="l" indent="0" marL="0">
                        <a:buNone/>
                      </a:pPr>
                      <a:r>
                        <a:rPr lang="en-US" sz="750" b="1" dirty="0">
                          <a:solidFill>
                            <a:srgbClr val="FFFFFF"/>
                          </a:solidFill>
                          <a:latin typeface="Verdana" pitchFamily="34" charset="0"/>
                          <a:ea typeface="Verdana" pitchFamily="34" charset="-122"/>
                          <a:cs typeface="Verdana" pitchFamily="34" charset="-120"/>
                        </a:rPr>
                        <a:t>comisión \ disposición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40 %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50 %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60 %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70 %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80 %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FFFFFF"/>
                          </a:solidFill>
                          <a:latin typeface="Verdana" pitchFamily="34" charset="0"/>
                          <a:ea typeface="Verdana" pitchFamily="34" charset="-122"/>
                          <a:cs typeface="Verdana" pitchFamily="34" charset="-120"/>
                        </a:rPr>
                        <a:t>100 %</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0,00 %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7,8 %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0,50 %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169164">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0,75 %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10,1 %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9,3 %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1" name="Shape 7"/>
          <p:cNvSpPr/>
          <p:nvPr/>
        </p:nvSpPr>
        <p:spPr>
          <a:xfrm>
            <a:off x="7452360" y="1755648"/>
            <a:ext cx="4114800" cy="1024128"/>
          </a:xfrm>
          <a:prstGeom prst="roundRect">
            <a:avLst>
              <a:gd name="adj" fmla="val 4464"/>
            </a:avLst>
          </a:prstGeom>
          <a:solidFill>
            <a:srgbClr val="E5E5E5"/>
          </a:solidFill>
          <a:ln w="12700">
            <a:solidFill>
              <a:srgbClr val="CACACA"/>
            </a:solidFill>
            <a:prstDash val="solid"/>
          </a:ln>
        </p:spPr>
      </p:sp>
      <p:sp>
        <p:nvSpPr>
          <p:cNvPr id="12" name="Text 8"/>
          <p:cNvSpPr txBox="1"/>
          <p:nvPr/>
        </p:nvSpPr>
        <p:spPr>
          <a:xfrm>
            <a:off x="7598664" y="1828800"/>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Cómo se cobra y cómo consume</a:t>
            </a:r>
            <a:endParaRPr lang="en-US" sz="1100" dirty="0"/>
          </a:p>
        </p:txBody>
      </p:sp>
      <p:sp>
        <p:nvSpPr>
          <p:cNvPr id="13" name="Text 9"/>
          <p:cNvSpPr txBox="1"/>
          <p:nvPr/>
        </p:nvSpPr>
        <p:spPr>
          <a:xfrm>
            <a:off x="7598664" y="2066544"/>
            <a:ext cx="3822192" cy="658368"/>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Ingreso = tipo sobre el DISPUESTO + comisión sobre el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Exposición = dispuesto + CCF × disponible.</a:t>
            </a:r>
            <a:endParaRPr lang="en-US" sz="850" dirty="0"/>
          </a:p>
          <a:p>
            <a:pPr indent="0" marL="0">
              <a:buNone/>
            </a:pPr>
            <a:r>
              <a:rPr lang="en-US" sz="850" dirty="0">
                <a:solidFill>
                  <a:srgbClr val="2B2B2B"/>
                </a:solidFill>
                <a:latin typeface="Verdana" pitchFamily="34" charset="0"/>
                <a:ea typeface="Verdana" pitchFamily="34" charset="-122"/>
                <a:cs typeface="Verdana" pitchFamily="34" charset="-120"/>
              </a:rPr>
              <a:t>Solo se fondea lo dispuesto; riesgo y capital van sobre la exposición.</a:t>
            </a:r>
            <a:endParaRPr lang="en-US" sz="850" dirty="0"/>
          </a:p>
        </p:txBody>
      </p:sp>
      <p:sp>
        <p:nvSpPr>
          <p:cNvPr id="14" name="Shape 10"/>
          <p:cNvSpPr/>
          <p:nvPr/>
        </p:nvSpPr>
        <p:spPr>
          <a:xfrm>
            <a:off x="7452360" y="2871216"/>
            <a:ext cx="4114800" cy="1188720"/>
          </a:xfrm>
          <a:prstGeom prst="roundRect">
            <a:avLst>
              <a:gd name="adj" fmla="val 3846"/>
            </a:avLst>
          </a:prstGeom>
          <a:solidFill>
            <a:srgbClr val="FFCCE8"/>
          </a:solidFill>
          <a:ln w="12700">
            <a:solidFill>
              <a:srgbClr val="FF8AC2"/>
            </a:solidFill>
            <a:prstDash val="solid"/>
          </a:ln>
        </p:spPr>
      </p:sp>
      <p:sp>
        <p:nvSpPr>
          <p:cNvPr id="15" name="Text 11"/>
          <p:cNvSpPr txBox="1"/>
          <p:nvPr/>
        </p:nvSpPr>
        <p:spPr>
          <a:xfrm>
            <a:off x="7598664" y="294436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Esto no es PYME: es total de empresas</a:t>
            </a:r>
            <a:endParaRPr lang="en-US" sz="1100" dirty="0"/>
          </a:p>
        </p:txBody>
      </p:sp>
      <p:sp>
        <p:nvSpPr>
          <p:cNvPr id="16" name="Text 12"/>
          <p:cNvSpPr txBox="1"/>
          <p:nvPr/>
        </p:nvSpPr>
        <p:spPr>
          <a:xfrm>
            <a:off x="7598664" y="3182112"/>
            <a:ext cx="3822192" cy="822960"/>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MIR no publica el circulante por tramo de importe, así que riesgo y capital se toman también del total de empresas para que el perímetro cierre: densidad de RWA del 63,9 % frente al 59,5 % de la cartera PYME en España. Con los parámetros de PYME el ROE se movería hasta 3 puntos (España 9,0 · Alemania 15,3 · Francia 0,9 · Italia 9,8 · Portugal 12,0 · P. Bajos 4,4 · Irlanda 9,9 %), pero eso mezclaría perímetros.</a:t>
            </a:r>
            <a:endParaRPr lang="en-US" sz="800" dirty="0"/>
          </a:p>
        </p:txBody>
      </p:sp>
      <p:sp>
        <p:nvSpPr>
          <p:cNvPr id="17" name="Shape 13"/>
          <p:cNvSpPr/>
          <p:nvPr/>
        </p:nvSpPr>
        <p:spPr>
          <a:xfrm>
            <a:off x="7452360" y="4151376"/>
            <a:ext cx="4114800" cy="1133856"/>
          </a:xfrm>
          <a:prstGeom prst="roundRect">
            <a:avLst>
              <a:gd name="adj" fmla="val 4032"/>
            </a:avLst>
          </a:prstGeom>
          <a:solidFill>
            <a:srgbClr val="FFF4C2"/>
          </a:solidFill>
          <a:ln w="12700">
            <a:solidFill>
              <a:srgbClr val="FFE066"/>
            </a:solidFill>
            <a:prstDash val="solid"/>
          </a:ln>
        </p:spPr>
      </p:sp>
      <p:sp>
        <p:nvSpPr>
          <p:cNvPr id="18" name="Text 14"/>
          <p:cNvSpPr txBox="1"/>
          <p:nvPr/>
        </p:nvSpPr>
        <p:spPr>
          <a:xfrm>
            <a:off x="7598664" y="4224528"/>
            <a:ext cx="382219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La comisión neutral es el CCF por el margen</a:t>
            </a:r>
            <a:endParaRPr lang="en-US" sz="1100" dirty="0"/>
          </a:p>
        </p:txBody>
      </p:sp>
      <p:sp>
        <p:nvSpPr>
          <p:cNvPr id="19" name="Text 15"/>
          <p:cNvSpPr txBox="1"/>
          <p:nvPr/>
        </p:nvSpPr>
        <p:spPr>
          <a:xfrm>
            <a:off x="7598664" y="4462272"/>
            <a:ext cx="3822192"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Imponiendo que el ROE no dependa de la disposición sale f = CCF × (tipo − coste de los recursos). Por debajo de esa comisión, una línea poco dispuesta destruye ROE; por encima, lo crea. Va de 0,14 % en Países Bajos a 0,46 % en Irlanda.</a:t>
            </a:r>
            <a:endParaRPr lang="en-US" sz="800" dirty="0"/>
          </a:p>
        </p:txBody>
      </p:sp>
      <p:sp>
        <p:nvSpPr>
          <p:cNvPr id="20" name="Shape 16"/>
          <p:cNvSpPr/>
          <p:nvPr/>
        </p:nvSpPr>
        <p:spPr>
          <a:xfrm>
            <a:off x="7452360" y="5376672"/>
            <a:ext cx="4114800" cy="676656"/>
          </a:xfrm>
          <a:prstGeom prst="roundRect">
            <a:avLst>
              <a:gd name="adj" fmla="val 6757"/>
            </a:avLst>
          </a:prstGeom>
          <a:solidFill>
            <a:srgbClr val="E5E5E5"/>
          </a:solidFill>
          <a:ln w="12700">
            <a:solidFill>
              <a:srgbClr val="CACACA"/>
            </a:solidFill>
            <a:prstDash val="solid"/>
          </a:ln>
        </p:spPr>
      </p:sp>
      <p:sp>
        <p:nvSpPr>
          <p:cNvPr id="21" name="Text 17"/>
          <p:cNvSpPr txBox="1"/>
          <p:nvPr/>
        </p:nvSpPr>
        <p:spPr>
          <a:xfrm>
            <a:off x="7598664" y="5431536"/>
            <a:ext cx="3822192" cy="201168"/>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Dos huecos duros y un cambio regulatorio</a:t>
            </a:r>
            <a:endParaRPr lang="en-US" sz="1100" dirty="0"/>
          </a:p>
        </p:txBody>
      </p:sp>
      <p:sp>
        <p:nvSpPr>
          <p:cNvPr id="22" name="Text 18"/>
          <p:cNvSpPr txBox="1"/>
          <p:nvPr/>
        </p:nvSpPr>
        <p:spPr>
          <a:xfrm>
            <a:off x="7598664" y="5632704"/>
            <a:ext cx="3822192" cy="38404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Ni la comisión de disponibilidad ni la disposición las publica nadie. Y el CRR3 subió del 0 % al 10 % el factor de conversión del compromiso cancelable: al 40 % el ROE cae entre 1,1 y 2,5 puntos.</a:t>
            </a:r>
            <a:endParaRPr lang="en-US" sz="800" dirty="0"/>
          </a:p>
        </p:txBody>
      </p:sp>
      <p:sp>
        <p:nvSpPr>
          <p:cNvPr id="23" name="Text 1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Tipo del circulante del MIR (A2Z1, total de sociedades no financieras); coste del riesgo = PD × LGD de la clase IRB «Empresas, total» y densidad de RWA de la clase de exposición «Corporates» del Transparency Exercise, ambos del mismo perímetro que el precio; coste de los recursos, CET1, eficiencia y tipo impositivo, los mismos que usa el modelo del préstamo. La disposición y la comisión de disponibilidad son supuestos declarados: la rejilla muestra el efecto de moverlos, y promedia los siete países, de modo que ninguna de sus filas corresponde a la comisión neutral de un país concreto. El coste del riesgo se aplica sobre la exposición, no solo sobre el dispuesto, que es como lo trata la NIIF 9 en compromisos.</a:t>
            </a:r>
            <a:endParaRPr lang="en-US" sz="7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Comparables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Cuentas de resultados 2026 · De nueve bancos analizados, solo dos publican segmento de empresas con desglose de comisiones</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21792" y="1664208"/>
          <a:ext cx="10945368" cy="914400"/>
        </p:xfrm>
        <a:graphic>
          <a:graphicData uri="http://schemas.openxmlformats.org/drawingml/2006/table">
            <a:tbl>
              <a:tblPr/>
              <a:tblGrid>
                <a:gridCol w="2194560"/>
                <a:gridCol w="1371600"/>
                <a:gridCol w="3017520"/>
                <a:gridCol w="1463040"/>
                <a:gridCol w="1463040"/>
                <a:gridCol w="1143000"/>
                <a:gridCol w="1353312"/>
              </a:tblGrid>
              <a:tr h="45720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Banco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Segmento publicado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Ingresos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Comisiones M€</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Com./ing.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Commerzbank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Clients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1.232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30,5 %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ABN AMRO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Corporate Banking</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1.694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429</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25,3 %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Intesa Sanpaolo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F56600"/>
                          </a:solidFill>
                          <a:latin typeface="Verdana" pitchFamily="34" charset="0"/>
                          <a:ea typeface="Verdana" pitchFamily="34" charset="-122"/>
                          <a:cs typeface="Verdana" pitchFamily="34" charset="-120"/>
                        </a:rPr>
                        <a:t>Banca dei Territori</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6.205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no desglosa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46,7 %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tiene segmento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8.338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2.075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39,6 %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BPER Banca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desglosa por división</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3.876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1.353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34,9 %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41,4 %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i="1" dirty="0">
                          <a:solidFill>
                            <a:srgbClr val="818181"/>
                          </a:solidFill>
                          <a:latin typeface="Verdana" pitchFamily="34" charset="0"/>
                          <a:ea typeface="Verdana" pitchFamily="34" charset="-122"/>
                          <a:cs typeface="Verdana" pitchFamily="34" charset="-120"/>
                        </a:rPr>
                        <a:t>ING · SocGen · BNP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i="1" dirty="0">
                          <a:solidFill>
                            <a:srgbClr val="818181"/>
                          </a:solidFill>
                          <a:latin typeface="Verdana" pitchFamily="34" charset="0"/>
                          <a:ea typeface="Verdana" pitchFamily="34" charset="-122"/>
                          <a:cs typeface="Verdana" pitchFamily="34" charset="-120"/>
                        </a:rPr>
                        <a:t>no accesible: bloqueo antibot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i="1" dirty="0">
                          <a:solidFill>
                            <a:srgbClr val="818181"/>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7" name="Shape 4"/>
          <p:cNvSpPr/>
          <p:nvPr/>
        </p:nvSpPr>
        <p:spPr>
          <a:xfrm>
            <a:off x="621792" y="4800600"/>
            <a:ext cx="10945368" cy="1234440"/>
          </a:xfrm>
          <a:prstGeom prst="roundRect">
            <a:avLst>
              <a:gd name="adj" fmla="val 4444"/>
            </a:avLst>
          </a:prstGeom>
          <a:solidFill>
            <a:srgbClr val="FFCCE8"/>
          </a:solidFill>
          <a:ln w="12700">
            <a:solidFill>
              <a:srgbClr val="FF8AC2"/>
            </a:solidFill>
            <a:prstDash val="solid"/>
          </a:ln>
        </p:spPr>
      </p:sp>
      <p:sp>
        <p:nvSpPr>
          <p:cNvPr id="8" name="Text 5"/>
          <p:cNvSpPr txBox="1"/>
          <p:nvPr/>
        </p:nvSpPr>
        <p:spPr>
          <a:xfrm>
            <a:off x="850392" y="4919472"/>
            <a:ext cx="10789920" cy="274320"/>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Por qué esto no cierra la pata de comisiones</a:t>
            </a:r>
            <a:endParaRPr lang="en-US" sz="1300" dirty="0"/>
          </a:p>
        </p:txBody>
      </p:sp>
      <p:sp>
        <p:nvSpPr>
          <p:cNvPr id="9" name="Text 6"/>
          <p:cNvSpPr txBox="1"/>
          <p:nvPr/>
        </p:nvSpPr>
        <p:spPr>
          <a:xfrm>
            <a:off x="850392" y="5230368"/>
            <a:ext cx="10789920" cy="731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La NIIF 8 obliga a reportar por los segmentos que usa la dirección, y casi ninguno usa «PYME». El segmento de Commerzbank mezcla gran empresa, PYME, sector público e institucionales. En ABN AMRO la PYME neerlandesa ni siquiera está en Corporate Banking, sino en Personal &amp; Business Banking. El peso de comisiones del 25 % al 35 % sirve como orden de magnitud de la banca de empresas, no como medida del negocio PYME.</a:t>
            </a:r>
            <a:endParaRPr lang="en-US" sz="1100" dirty="0"/>
          </a:p>
        </p:txBody>
      </p:sp>
      <p:sp>
        <p:nvSpPr>
          <p:cNvPr id="10" name="Text 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comunicado de resultados Q2 2026 de Commerzbank; informe intermedio Q2 2026 de ABN AMRO; resultados 1H26 de Intesa Sanpaolo; Actividad y Resultados 1S26 de CaixaBank; resultados 1H26 de BPER. Cifras de segmento donde existe, de grupo en el resto.</a:t>
            </a:r>
            <a:endParaRPr lang="en-US" sz="7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02</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España: mercado,</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productos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competidores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La demanda, lo que puede pagar, los productos y los cinco grandes bancos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Qué pide la pyme española y qué le duele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Encuesta CESGAR a pymes · Resultados de 2025 · Porcentajes de EMPRESAS, no niveles de tipo ni volúmenes</a:t>
            </a:r>
            <a:endParaRPr lang="en-US" sz="1050" dirty="0"/>
          </a:p>
        </p:txBody>
      </p:sp>
      <p:graphicFrame>
        <p:nvGraphicFramePr>
          <p:cNvPr id="6" name="Chart 0" descr=""/>
          <p:cNvGraphicFramePr/>
          <p:nvPr/>
        </p:nvGraphicFramePr>
        <p:xfrm>
          <a:off x="621792" y="1810512"/>
          <a:ext cx="5532120" cy="21031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72768"/>
            <a:ext cx="5532120"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Destino de la financiación</a:t>
            </a:r>
            <a:endParaRPr lang="en-US" sz="1150" dirty="0"/>
          </a:p>
        </p:txBody>
      </p:sp>
      <p:sp>
        <p:nvSpPr>
          <p:cNvPr id="8" name="Text 5"/>
          <p:cNvSpPr txBox="1"/>
          <p:nvPr/>
        </p:nvSpPr>
        <p:spPr>
          <a:xfrm>
            <a:off x="6263640" y="1572768"/>
            <a:ext cx="5559552"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Obstáculos encontrados</a:t>
            </a:r>
            <a:endParaRPr lang="en-US" sz="1150" dirty="0"/>
          </a:p>
        </p:txBody>
      </p:sp>
      <p:graphicFrame>
        <p:nvGraphicFramePr>
          <p:cNvPr id="9" name="Chart 1" descr=""/>
          <p:cNvGraphicFramePr/>
          <p:nvPr/>
        </p:nvGraphicFramePr>
        <p:xfrm>
          <a:off x="6263640" y="1810512"/>
          <a:ext cx="5559552" cy="210312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114800"/>
            <a:ext cx="2697480" cy="932688"/>
          </a:xfrm>
          <a:prstGeom prst="roundRect">
            <a:avLst>
              <a:gd name="adj" fmla="val 4902"/>
            </a:avLst>
          </a:prstGeom>
          <a:solidFill>
            <a:srgbClr val="E5E5E5"/>
          </a:solidFill>
          <a:ln w="12700">
            <a:solidFill>
              <a:srgbClr val="CACACA"/>
            </a:solidFill>
            <a:prstDash val="solid"/>
          </a:ln>
        </p:spPr>
      </p:sp>
      <p:sp>
        <p:nvSpPr>
          <p:cNvPr id="11" name="Text 7"/>
          <p:cNvSpPr txBox="1"/>
          <p:nvPr/>
        </p:nvSpPr>
        <p:spPr>
          <a:xfrm>
            <a:off x="749808"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51,2 %</a:t>
            </a:r>
            <a:endParaRPr lang="en-US" sz="1900" dirty="0"/>
          </a:p>
        </p:txBody>
      </p:sp>
      <p:sp>
        <p:nvSpPr>
          <p:cNvPr id="12" name="Text 8"/>
          <p:cNvSpPr txBox="1"/>
          <p:nvPr/>
        </p:nvSpPr>
        <p:spPr>
          <a:xfrm>
            <a:off x="749808"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Tuvo necesidad de financiar</a:t>
            </a:r>
            <a:endParaRPr lang="en-US" sz="950" dirty="0"/>
          </a:p>
        </p:txBody>
      </p:sp>
      <p:sp>
        <p:nvSpPr>
          <p:cNvPr id="13" name="Text 9"/>
          <p:cNvSpPr txBox="1"/>
          <p:nvPr/>
        </p:nvSpPr>
        <p:spPr>
          <a:xfrm>
            <a:off x="749808"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de las pymes españolas en 2025</a:t>
            </a:r>
            <a:endParaRPr lang="en-US" sz="800" dirty="0"/>
          </a:p>
        </p:txBody>
      </p:sp>
      <p:sp>
        <p:nvSpPr>
          <p:cNvPr id="14" name="Shape 10"/>
          <p:cNvSpPr/>
          <p:nvPr/>
        </p:nvSpPr>
        <p:spPr>
          <a:xfrm>
            <a:off x="3465576" y="4114800"/>
            <a:ext cx="2697480" cy="932688"/>
          </a:xfrm>
          <a:prstGeom prst="roundRect">
            <a:avLst>
              <a:gd name="adj" fmla="val 4902"/>
            </a:avLst>
          </a:prstGeom>
          <a:solidFill>
            <a:srgbClr val="E5E5E5"/>
          </a:solidFill>
          <a:ln w="12700">
            <a:solidFill>
              <a:srgbClr val="CACACA"/>
            </a:solidFill>
            <a:prstDash val="solid"/>
          </a:ln>
        </p:spPr>
      </p:sp>
      <p:sp>
        <p:nvSpPr>
          <p:cNvPr id="15" name="Text 11"/>
          <p:cNvSpPr txBox="1"/>
          <p:nvPr/>
        </p:nvSpPr>
        <p:spPr>
          <a:xfrm>
            <a:off x="3593592"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70,9 %</a:t>
            </a:r>
            <a:endParaRPr lang="en-US" sz="1900" dirty="0"/>
          </a:p>
        </p:txBody>
      </p:sp>
      <p:sp>
        <p:nvSpPr>
          <p:cNvPr id="16" name="Text 12"/>
          <p:cNvSpPr txBox="1"/>
          <p:nvPr/>
        </p:nvSpPr>
        <p:spPr>
          <a:xfrm>
            <a:off x="3593592"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Acudió al banco</a:t>
            </a:r>
            <a:endParaRPr lang="en-US" sz="950" dirty="0"/>
          </a:p>
        </p:txBody>
      </p:sp>
      <p:sp>
        <p:nvSpPr>
          <p:cNvPr id="17" name="Text 13"/>
          <p:cNvSpPr txBox="1"/>
          <p:nvPr/>
        </p:nvSpPr>
        <p:spPr>
          <a:xfrm>
            <a:off x="3593592"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bajando desde 76,5 % en 2024</a:t>
            </a:r>
            <a:endParaRPr lang="en-US" sz="800" dirty="0"/>
          </a:p>
        </p:txBody>
      </p:sp>
      <p:sp>
        <p:nvSpPr>
          <p:cNvPr id="18" name="Shape 14"/>
          <p:cNvSpPr/>
          <p:nvPr/>
        </p:nvSpPr>
        <p:spPr>
          <a:xfrm>
            <a:off x="6309360" y="4114800"/>
            <a:ext cx="2697480" cy="932688"/>
          </a:xfrm>
          <a:prstGeom prst="roundRect">
            <a:avLst>
              <a:gd name="adj" fmla="val 4902"/>
            </a:avLst>
          </a:prstGeom>
          <a:solidFill>
            <a:srgbClr val="E5E5E5"/>
          </a:solidFill>
          <a:ln w="12700">
            <a:solidFill>
              <a:srgbClr val="CACACA"/>
            </a:solidFill>
            <a:prstDash val="solid"/>
          </a:ln>
        </p:spPr>
      </p:sp>
      <p:sp>
        <p:nvSpPr>
          <p:cNvPr id="19" name="Text 15"/>
          <p:cNvSpPr txBox="1"/>
          <p:nvPr/>
        </p:nvSpPr>
        <p:spPr>
          <a:xfrm>
            <a:off x="6437376"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92,8 %</a:t>
            </a:r>
            <a:endParaRPr lang="en-US" sz="1900" dirty="0"/>
          </a:p>
        </p:txBody>
      </p:sp>
      <p:sp>
        <p:nvSpPr>
          <p:cNvPr id="20" name="Text 16"/>
          <p:cNvSpPr txBox="1"/>
          <p:nvPr/>
        </p:nvSpPr>
        <p:spPr>
          <a:xfrm>
            <a:off x="6437376"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Obtuvo y aceptó</a:t>
            </a:r>
            <a:endParaRPr lang="en-US" sz="950" dirty="0"/>
          </a:p>
        </p:txBody>
      </p:sp>
      <p:sp>
        <p:nvSpPr>
          <p:cNvPr id="21" name="Text 17"/>
          <p:cNvSpPr txBox="1"/>
          <p:nvPr/>
        </p:nvSpPr>
        <p:spPr>
          <a:xfrm>
            <a:off x="6437376"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máximo de los últimos tres años</a:t>
            </a:r>
            <a:endParaRPr lang="en-US" sz="800" dirty="0"/>
          </a:p>
        </p:txBody>
      </p:sp>
      <p:sp>
        <p:nvSpPr>
          <p:cNvPr id="22" name="Shape 18"/>
          <p:cNvSpPr/>
          <p:nvPr/>
        </p:nvSpPr>
        <p:spPr>
          <a:xfrm>
            <a:off x="9153144" y="4114800"/>
            <a:ext cx="2697480" cy="932688"/>
          </a:xfrm>
          <a:prstGeom prst="roundRect">
            <a:avLst>
              <a:gd name="adj" fmla="val 4902"/>
            </a:avLst>
          </a:prstGeom>
          <a:solidFill>
            <a:srgbClr val="E5E5E5"/>
          </a:solidFill>
          <a:ln w="12700">
            <a:solidFill>
              <a:srgbClr val="CACACA"/>
            </a:solidFill>
            <a:prstDash val="solid"/>
          </a:ln>
        </p:spPr>
      </p:sp>
      <p:sp>
        <p:nvSpPr>
          <p:cNvPr id="23" name="Text 19"/>
          <p:cNvSpPr txBox="1"/>
          <p:nvPr/>
        </p:nvSpPr>
        <p:spPr>
          <a:xfrm>
            <a:off x="9281160" y="4169664"/>
            <a:ext cx="2441448" cy="329184"/>
          </a:xfrm>
          <a:prstGeom prst="rect">
            <a:avLst/>
          </a:prstGeom>
          <a:noFill/>
          <a:ln/>
        </p:spPr>
        <p:txBody>
          <a:bodyPr wrap="square" lIns="0" tIns="0" rIns="0" bIns="0" rtlCol="0" anchor="ctr"/>
          <a:lstStyle/>
          <a:p>
            <a:pPr indent="0" marL="0">
              <a:buNone/>
            </a:pPr>
            <a:r>
              <a:rPr lang="en-US" sz="1900" b="1" dirty="0">
                <a:solidFill>
                  <a:srgbClr val="F56600"/>
                </a:solidFill>
                <a:latin typeface="Verdana" pitchFamily="34" charset="0"/>
                <a:ea typeface="Verdana" pitchFamily="34" charset="-122"/>
                <a:cs typeface="Verdana" pitchFamily="34" charset="-120"/>
              </a:rPr>
              <a:t>3,2 %</a:t>
            </a:r>
            <a:endParaRPr lang="en-US" sz="1900" dirty="0"/>
          </a:p>
        </p:txBody>
      </p:sp>
      <p:sp>
        <p:nvSpPr>
          <p:cNvPr id="24" name="Text 20"/>
          <p:cNvSpPr txBox="1"/>
          <p:nvPr/>
        </p:nvSpPr>
        <p:spPr>
          <a:xfrm>
            <a:off x="9281160" y="4517136"/>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No se le concedió</a:t>
            </a:r>
            <a:endParaRPr lang="en-US" sz="950" dirty="0"/>
          </a:p>
        </p:txBody>
      </p:sp>
      <p:sp>
        <p:nvSpPr>
          <p:cNvPr id="25" name="Text 21"/>
          <p:cNvSpPr txBox="1"/>
          <p:nvPr/>
        </p:nvSpPr>
        <p:spPr>
          <a:xfrm>
            <a:off x="9281160" y="4709160"/>
            <a:ext cx="2441448" cy="292608"/>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más un 2,7 % que rechazó las condiciones</a:t>
            </a:r>
            <a:endParaRPr lang="en-US" sz="800" dirty="0"/>
          </a:p>
        </p:txBody>
      </p:sp>
      <p:sp>
        <p:nvSpPr>
          <p:cNvPr id="26" name="Shape 22"/>
          <p:cNvSpPr/>
          <p:nvPr/>
        </p:nvSpPr>
        <p:spPr>
          <a:xfrm>
            <a:off x="621792" y="5175504"/>
            <a:ext cx="10945368" cy="877824"/>
          </a:xfrm>
          <a:prstGeom prst="roundRect">
            <a:avLst>
              <a:gd name="adj" fmla="val 5208"/>
            </a:avLst>
          </a:prstGeom>
          <a:solidFill>
            <a:srgbClr val="FFF4C2"/>
          </a:solidFill>
          <a:ln w="12700">
            <a:solidFill>
              <a:srgbClr val="FFE066"/>
            </a:solidFill>
            <a:prstDash val="solid"/>
          </a:ln>
        </p:spPr>
      </p:sp>
      <p:sp>
        <p:nvSpPr>
          <p:cNvPr id="27" name="Text 23"/>
          <p:cNvSpPr txBox="1"/>
          <p:nvPr/>
        </p:nvSpPr>
        <p:spPr>
          <a:xfrm>
            <a:off x="768096" y="5248656"/>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precio es el obstáculo, y el destino es el circulante</a:t>
            </a:r>
            <a:endParaRPr lang="en-US" sz="1150" dirty="0"/>
          </a:p>
        </p:txBody>
      </p:sp>
      <p:sp>
        <p:nvSpPr>
          <p:cNvPr id="28" name="Text 24"/>
          <p:cNvSpPr txBox="1"/>
          <p:nvPr/>
        </p:nvSpPr>
        <p:spPr>
          <a:xfrm>
            <a:off x="768096" y="5486400"/>
            <a:ext cx="10789920" cy="51206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73,0 % de las pymes que necesitan financiación la quiere para circulante, frente al 64,6 % de 2024: es el uso que más crece y el producto cuyo precio peor se conoce. Preguntadas por los obstáculos, el 49,2 % no señala ninguno y el 21,6 % señala el precio: es el más citado, por delante de la falta de comprensión del negocio por la entidad (10,5 %). Ese 21,6 % es el porcentaje de empresas que lo menciona, NO un tipo de interés. El crédito se concede: lo que se señala es a cuánto.</a:t>
            </a:r>
            <a:endParaRPr lang="en-US" sz="900" dirty="0"/>
          </a:p>
        </p:txBody>
      </p:sp>
      <p:sp>
        <p:nvSpPr>
          <p:cNvPr id="29" name="Text 2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CESGAR, XV Informe «La financiación de la pyme en España», resultados anuales de 2025, elaborado con Abay Analistas Económicos. Gráficos 9, 10, 13, 17 y 18. Son porcentajes de empresas encuestadas: no deben agregarse ni compararse con los niveles de tipo del MIR ni con volúmenes. Los porcentajes de destino y de uso de productos no suman 100 porque una misma empresa puede señalar varios.</a:t>
            </a:r>
            <a:endParaRPr lang="en-US" sz="7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Cuánto puede pagar una pyme: el techo del precio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Central de Balances del Banco de España · Ejercicio 2024 · Clasificación por tamaño de la Recomendación 2003/361/CE</a:t>
            </a:r>
            <a:endParaRPr lang="en-US" sz="1050" dirty="0"/>
          </a:p>
        </p:txBody>
      </p:sp>
      <p:graphicFrame>
        <p:nvGraphicFramePr>
          <p:cNvPr id="6" name="Chart 0" descr=""/>
          <p:cNvGraphicFramePr/>
          <p:nvPr/>
        </p:nvGraphicFramePr>
        <p:xfrm>
          <a:off x="621792" y="1810512"/>
          <a:ext cx="6355080" cy="2834640"/>
        </p:xfrm>
        <a:graphic xmlns:a="http://schemas.openxmlformats.org/drawingml/2006/main">
          <a:graphicData uri="http://schemas.openxmlformats.org/drawingml/2006/chart">
            <c:chart xmlns:c="http://schemas.openxmlformats.org/drawingml/2006/chart" r:id="rId1"/>
          </a:graphicData>
        </a:graphic>
      </p:graphicFrame>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21792" y="4773168"/>
          <a:ext cx="6355080" cy="914400"/>
        </p:xfrm>
        <a:graphic>
          <a:graphicData uri="http://schemas.openxmlformats.org/drawingml/2006/table">
            <a:tbl>
              <a:tblPr/>
              <a:tblGrid>
                <a:gridCol w="2788920"/>
                <a:gridCol w="1188720"/>
                <a:gridCol w="1188720"/>
                <a:gridCol w="1188720"/>
              </a:tblGrid>
              <a:tr h="246888">
                <a:tc>
                  <a:txBody>
                    <a:bodyPr/>
                    <a:lstStyle/>
                    <a:p>
                      <a:pPr algn="l" indent="0" marL="0">
                        <a:buNone/>
                      </a:pP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Pequeñas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Medianas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50" b="1" dirty="0">
                          <a:solidFill>
                            <a:srgbClr val="FFFFFF"/>
                          </a:solidFill>
                          <a:latin typeface="Verdana" pitchFamily="34" charset="0"/>
                          <a:ea typeface="Verdana" pitchFamily="34" charset="-122"/>
                          <a:cs typeface="Verdana" pitchFamily="34" charset="-120"/>
                        </a:rPr>
                        <a:t>Grandes</a:t>
                      </a:r>
                      <a:endParaRPr lang="en-US" sz="9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del activo (R.1)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6,8 %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pagado por la deuda (R.2)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4,4 %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Colchón, R.1 − R.2 (R.4)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+6,1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+2,6 pp</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Rentabilidad de recursos propios (R.3)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8,5 %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4688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Margen de explotación (R.5)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9,9 %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9,7 %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8" name="Shape 4"/>
          <p:cNvSpPr/>
          <p:nvPr/>
        </p:nvSpPr>
        <p:spPr>
          <a:xfrm>
            <a:off x="7086600" y="1810512"/>
            <a:ext cx="4480560" cy="1444752"/>
          </a:xfrm>
          <a:prstGeom prst="roundRect">
            <a:avLst>
              <a:gd name="adj" fmla="val 3165"/>
            </a:avLst>
          </a:prstGeom>
          <a:solidFill>
            <a:srgbClr val="FFF4C2"/>
          </a:solidFill>
          <a:ln w="12700">
            <a:solidFill>
              <a:srgbClr val="FFE066"/>
            </a:solidFill>
            <a:prstDash val="solid"/>
          </a:ln>
        </p:spPr>
      </p:sp>
      <p:sp>
        <p:nvSpPr>
          <p:cNvPr id="9" name="Text 5"/>
          <p:cNvSpPr txBox="1"/>
          <p:nvPr/>
        </p:nvSpPr>
        <p:spPr>
          <a:xfrm>
            <a:off x="7232904" y="188366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pequeña tiene 2,1 puntos de colchón</a:t>
            </a:r>
            <a:endParaRPr lang="en-US" sz="1150" dirty="0"/>
          </a:p>
        </p:txBody>
      </p:sp>
      <p:sp>
        <p:nvSpPr>
          <p:cNvPr id="10" name="Text 6"/>
          <p:cNvSpPr txBox="1"/>
          <p:nvPr/>
        </p:nvSpPr>
        <p:spPr>
          <a:xfrm>
            <a:off x="7232904" y="2121408"/>
            <a:ext cx="4187952" cy="106070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Gana un 5,4 % con su activo y paga un 3,3 % por su deuda. Ese margen de 2,1 puntos es el techo: si el precio del crédito sube por encima, endeudarse deja de crear valor para el cliente y la demanda se corta sola. La mediana tiene 6,1 puntos, casi el triple de recorrido.</a:t>
            </a:r>
            <a:endParaRPr lang="en-US" sz="900" dirty="0"/>
          </a:p>
        </p:txBody>
      </p:sp>
      <p:sp>
        <p:nvSpPr>
          <p:cNvPr id="11" name="Shape 7"/>
          <p:cNvSpPr/>
          <p:nvPr/>
        </p:nvSpPr>
        <p:spPr>
          <a:xfrm>
            <a:off x="7086600" y="3346704"/>
            <a:ext cx="4480560" cy="1298448"/>
          </a:xfrm>
          <a:prstGeom prst="roundRect">
            <a:avLst>
              <a:gd name="adj" fmla="val 3521"/>
            </a:avLst>
          </a:prstGeom>
          <a:solidFill>
            <a:srgbClr val="C7E3F9"/>
          </a:solidFill>
          <a:ln w="12700">
            <a:solidFill>
              <a:srgbClr val="77BFEE"/>
            </a:solidFill>
            <a:prstDash val="solid"/>
          </a:ln>
        </p:spPr>
      </p:sp>
      <p:sp>
        <p:nvSpPr>
          <p:cNvPr id="12" name="Text 8"/>
          <p:cNvSpPr txBox="1"/>
          <p:nvPr/>
        </p:nvSpPr>
        <p:spPr>
          <a:xfrm>
            <a:off x="7232904" y="3419856"/>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valida el precio por otra vía</a:t>
            </a:r>
            <a:endParaRPr lang="en-US" sz="1150" dirty="0"/>
          </a:p>
        </p:txBody>
      </p:sp>
      <p:sp>
        <p:nvSpPr>
          <p:cNvPr id="13" name="Text 9"/>
          <p:cNvSpPr txBox="1"/>
          <p:nvPr/>
        </p:nvSpPr>
        <p:spPr>
          <a:xfrm>
            <a:off x="7232904" y="3657600"/>
            <a:ext cx="4187952" cy="91440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3,3 % que paga la empresa pequeña es muy cercano al 3,41 % del tramo ≤1 M€ del MIR que usa el modelo. No son lo mismo —el MIR es nueva producción y esto es el coste medio del saldo vivo— pero que dos fuentes independientes den lo mismo es la mejor validación que tiene el deck.</a:t>
            </a:r>
            <a:endParaRPr lang="en-US" sz="900" dirty="0"/>
          </a:p>
        </p:txBody>
      </p:sp>
      <p:sp>
        <p:nvSpPr>
          <p:cNvPr id="14" name="Shape 10"/>
          <p:cNvSpPr/>
          <p:nvPr/>
        </p:nvSpPr>
        <p:spPr>
          <a:xfrm>
            <a:off x="7086600" y="4736592"/>
            <a:ext cx="4480560" cy="1316736"/>
          </a:xfrm>
          <a:prstGeom prst="roundRect">
            <a:avLst>
              <a:gd name="adj" fmla="val 3472"/>
            </a:avLst>
          </a:prstGeom>
          <a:solidFill>
            <a:srgbClr val="E5E5E5"/>
          </a:solidFill>
          <a:ln w="12700">
            <a:solidFill>
              <a:srgbClr val="CACACA"/>
            </a:solidFill>
            <a:prstDash val="solid"/>
          </a:ln>
        </p:spPr>
      </p:sp>
      <p:sp>
        <p:nvSpPr>
          <p:cNvPr id="15" name="Text 11"/>
          <p:cNvSpPr txBox="1"/>
          <p:nvPr/>
        </p:nvSpPr>
        <p:spPr>
          <a:xfrm>
            <a:off x="7232904" y="4809744"/>
            <a:ext cx="418795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Lo que no encaja</a:t>
            </a:r>
            <a:endParaRPr lang="en-US" sz="1150" dirty="0"/>
          </a:p>
        </p:txBody>
      </p:sp>
      <p:sp>
        <p:nvSpPr>
          <p:cNvPr id="16" name="Text 12"/>
          <p:cNvSpPr txBox="1"/>
          <p:nvPr/>
        </p:nvSpPr>
        <p:spPr>
          <a:xfrm>
            <a:off x="7232904" y="5047488"/>
            <a:ext cx="4187952" cy="93268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La pequeña paga MENOS que la mediana (3,3 % frente a 4,4 %), al revés de lo que dice el riesgo. La Central de Balances no lo explica; las hipótesis razonables son más peso de deuda antigua a tipo fijo y más financiación ICO o avalada. Queda como observación, no como conclusión.</a:t>
            </a:r>
            <a:endParaRPr lang="en-US" sz="900" dirty="0"/>
          </a:p>
        </p:txBody>
      </p:sp>
      <p:sp>
        <p:nvSpPr>
          <p:cNvPr id="17"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Central de Balances Integrada, conjunto cal_ucb_cbl002, ratios R.1 a R.5 del ejercicio 2024. Más de un millón de empresas. R.2 es el tipo efectivamente pagado sobre el saldo de recursos ajenos con coste, no el de nueva producción. El colchón de la empresa pequeña ha ido de −0,2 puntos en 2015 a 2,1 en 2024.</a:t>
            </a:r>
            <a:endParaRPr lang="en-US" sz="7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Las comisiones son muy relevantes: impacto en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Único país de los siete donde existe un tipo con comisiones para empresas · Media 2026</a:t>
            </a:r>
            <a:endParaRPr lang="en-US" sz="1050" dirty="0"/>
          </a:p>
        </p:txBody>
      </p:sp>
      <p:graphicFrame>
        <p:nvGraphicFramePr>
          <p:cNvPr id="6" name="Chart 0" descr=""/>
          <p:cNvGraphicFramePr/>
          <p:nvPr/>
        </p:nvGraphicFramePr>
        <p:xfrm>
          <a:off x="621792" y="1645920"/>
          <a:ext cx="6583680" cy="34747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06640" y="1645920"/>
            <a:ext cx="4233672" cy="2212848"/>
          </a:xfrm>
          <a:prstGeom prst="roundRect">
            <a:avLst>
              <a:gd name="adj" fmla="val 2479"/>
            </a:avLst>
          </a:prstGeom>
          <a:solidFill>
            <a:srgbClr val="FFF4C2"/>
          </a:solidFill>
          <a:ln w="12700">
            <a:solidFill>
              <a:srgbClr val="FFE066"/>
            </a:solidFill>
            <a:prstDash val="solid"/>
          </a:ln>
        </p:spPr>
      </p:sp>
      <p:sp>
        <p:nvSpPr>
          <p:cNvPr id="8" name="Text 5"/>
          <p:cNvSpPr txBox="1"/>
          <p:nvPr/>
        </p:nvSpPr>
        <p:spPr>
          <a:xfrm>
            <a:off x="7589520" y="1755648"/>
            <a:ext cx="3886200" cy="274320"/>
          </a:xfrm>
          <a:prstGeom prst="rect">
            <a:avLst/>
          </a:prstGeom>
          <a:noFill/>
          <a:ln/>
        </p:spPr>
        <p:txBody>
          <a:bodyPr wrap="square" lIns="0" tIns="0" rIns="0" bIns="0" rtlCol="0" anchor="ctr"/>
          <a:lstStyle/>
          <a:p>
            <a:pPr indent="0" marL="0">
              <a:buNone/>
            </a:pPr>
            <a:r>
              <a:rPr lang="en-US" sz="1200" b="1" dirty="0">
                <a:solidFill>
                  <a:srgbClr val="F56600"/>
                </a:solidFill>
                <a:latin typeface="Verdana" pitchFamily="34" charset="0"/>
                <a:ea typeface="Verdana" pitchFamily="34" charset="-122"/>
                <a:cs typeface="Verdana" pitchFamily="34" charset="-120"/>
              </a:rPr>
              <a:t>Cómo se calcula el spread</a:t>
            </a:r>
            <a:endParaRPr lang="en-US" sz="1200" dirty="0"/>
          </a:p>
        </p:txBody>
      </p:sp>
      <p:sp>
        <p:nvSpPr>
          <p:cNvPr id="9" name="Text 6"/>
          <p:cNvSpPr txBox="1"/>
          <p:nvPr/>
        </p:nvSpPr>
        <p:spPr>
          <a:xfrm>
            <a:off x="7589520" y="2066544"/>
            <a:ext cx="3886200" cy="457200"/>
          </a:xfrm>
          <a:prstGeom prst="rect">
            <a:avLst/>
          </a:prstGeom>
          <a:noFill/>
          <a:ln/>
        </p:spPr>
        <p:txBody>
          <a:bodyPr wrap="square" lIns="0" tIns="0" rIns="0" bIns="0" rtlCol="0" anchor="ctr"/>
          <a:lstStyle/>
          <a:p>
            <a:pPr indent="0" marL="0">
              <a:buNone/>
            </a:pPr>
            <a:r>
              <a:rPr lang="en-US" sz="900" i="1" dirty="0">
                <a:solidFill>
                  <a:srgbClr val="2B2B2B"/>
                </a:solidFill>
                <a:latin typeface="Verdana" pitchFamily="34" charset="0"/>
                <a:ea typeface="Verdana" pitchFamily="34" charset="-122"/>
                <a:cs typeface="Verdana" pitchFamily="34" charset="-120"/>
              </a:rPr>
              <a:t>Spread = tramo ≤0,25 M€ − tramo &gt;1 M€</a:t>
            </a:r>
            <a:endParaRPr lang="en-US" sz="900" dirty="0"/>
          </a:p>
          <a:p>
            <a:pPr indent="0" marL="0">
              <a:buNone/>
            </a:pPr>
            <a:r>
              <a:rPr lang="en-US" sz="900" i="1" dirty="0">
                <a:solidFill>
                  <a:srgbClr val="2B2B2B"/>
                </a:solidFill>
                <a:latin typeface="Verdana" pitchFamily="34" charset="0"/>
                <a:ea typeface="Verdana" pitchFamily="34" charset="-122"/>
                <a:cs typeface="Verdana" pitchFamily="34" charset="-120"/>
              </a:rPr>
              <a:t>(los dos tramos extremos, no el intermedio)</a:t>
            </a:r>
            <a:endParaRPr lang="en-US" sz="900" dirty="0"/>
          </a:p>
        </p:txBody>
      </p:sp>
      <p:sp>
        <p:nvSpPr>
          <p:cNvPr id="10" name="Text 7"/>
          <p:cNvSpPr txBox="1"/>
          <p:nvPr/>
        </p:nvSpPr>
        <p:spPr>
          <a:xfrm>
            <a:off x="7589520" y="2578608"/>
            <a:ext cx="3886200" cy="685800"/>
          </a:xfrm>
          <a:prstGeom prst="rect">
            <a:avLst/>
          </a:prstGeom>
          <a:noFill/>
          <a:ln/>
        </p:spPr>
        <p:txBody>
          <a:bodyPr wrap="square" lIns="0" tIns="0" rIns="0" bIns="0" rtlCol="0" anchor="ctr"/>
          <a:lstStyle/>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TEDR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3.4173 − 3.4404 = </a:t>
            </a:r>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-2.3 pb</a:t>
            </a:r>
            <a:endParaRPr lang="en-US" sz="1000" dirty="0"/>
          </a:p>
          <a:p>
            <a:pPr indent="0" marL="0">
              <a:lnSpc>
                <a:spcPts val="1900"/>
              </a:lnSpc>
              <a:buNone/>
            </a:pPr>
            <a:r>
              <a:rPr lang="en-US" sz="1000" b="1" dirty="0">
                <a:solidFill>
                  <a:srgbClr val="2B2B2B"/>
                </a:solidFill>
                <a:latin typeface="Verdana" pitchFamily="34" charset="0"/>
                <a:ea typeface="Verdana" pitchFamily="34" charset="-122"/>
                <a:cs typeface="Verdana" pitchFamily="34" charset="-120"/>
              </a:rPr>
              <a:t>TAE      </a:t>
            </a:r>
            <a:pPr indent="0" marL="0">
              <a:lnSpc>
                <a:spcPts val="1900"/>
              </a:lnSpc>
              <a:buNone/>
            </a:pPr>
            <a:r>
              <a:rPr lang="en-US" sz="1000" dirty="0">
                <a:solidFill>
                  <a:srgbClr val="2B2B2B"/>
                </a:solidFill>
                <a:latin typeface="Verdana" pitchFamily="34" charset="0"/>
                <a:ea typeface="Verdana" pitchFamily="34" charset="-122"/>
                <a:cs typeface="Verdana" pitchFamily="34" charset="-120"/>
              </a:rPr>
              <a:t>4.4348 − 3.6220 = </a:t>
            </a:r>
            <a:pPr indent="0" marL="0">
              <a:lnSpc>
                <a:spcPts val="1900"/>
              </a:lnSpc>
              <a:buNone/>
            </a:pPr>
            <a:r>
              <a:rPr lang="en-US" sz="1000" b="1" dirty="0">
                <a:solidFill>
                  <a:srgbClr val="F56600"/>
                </a:solidFill>
                <a:latin typeface="Verdana" pitchFamily="34" charset="0"/>
                <a:ea typeface="Verdana" pitchFamily="34" charset="-122"/>
                <a:cs typeface="Verdana" pitchFamily="34" charset="-120"/>
              </a:rPr>
              <a:t>+81.3 pb</a:t>
            </a:r>
            <a:endParaRPr lang="en-US" sz="1000" dirty="0"/>
          </a:p>
        </p:txBody>
      </p:sp>
      <p:sp>
        <p:nvSpPr>
          <p:cNvPr id="11" name="Text 8"/>
          <p:cNvSpPr txBox="1"/>
          <p:nvPr/>
        </p:nvSpPr>
        <p:spPr>
          <a:xfrm>
            <a:off x="7589520" y="3310128"/>
            <a:ext cx="3886200" cy="457200"/>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Las cifras del gráfico van redondeadas a dos decimales; el spread se calcula sobre el valor completo.</a:t>
            </a:r>
            <a:endParaRPr lang="en-US" sz="850" dirty="0"/>
          </a:p>
        </p:txBody>
      </p:sp>
      <p:sp>
        <p:nvSpPr>
          <p:cNvPr id="12" name="Text 9"/>
          <p:cNvSpPr txBox="1"/>
          <p:nvPr/>
        </p:nvSpPr>
        <p:spPr>
          <a:xfrm>
            <a:off x="621792" y="5349240"/>
            <a:ext cx="10945368"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La banca española sí cobra más caro a la PYME: 81 pb más en coste total. Lo hace por comisión, no por tipo nominal. El MIR del BCE, que publica solo el tipo sin comisiones, no lo ve.</a:t>
            </a:r>
            <a:endParaRPr lang="en-US" sz="1200" dirty="0"/>
          </a:p>
        </p:txBody>
      </p:sp>
      <p:sp>
        <p:nvSpPr>
          <p:cNvPr id="13" name="Text 1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cuadros 19.5 (TEDR), 19.6 (TAE) y 19.13 (volúmenes). Cuña = TAE − TEDR, cálculo propio. Media enero-julio 2026.</a:t>
            </a:r>
            <a:endParaRPr lang="en-US" sz="7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autónomo paga 115 pb más que la sociedad pequeña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empresario individual es sector HOGARES en el SEC 2010, así que queda fuera de todas las series de sociedades no financieras · España · Media 2026</a:t>
            </a:r>
            <a:endParaRPr lang="en-US" sz="1050" dirty="0"/>
          </a:p>
        </p:txBody>
      </p:sp>
      <p:graphicFrame>
        <p:nvGraphicFramePr>
          <p:cNvPr id="6" name="Chart 0" descr=""/>
          <p:cNvGraphicFramePr/>
          <p:nvPr/>
        </p:nvGraphicFramePr>
        <p:xfrm>
          <a:off x="621792" y="1755648"/>
          <a:ext cx="6675120" cy="30175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791456"/>
            <a:ext cx="6675120" cy="256032"/>
          </a:xfrm>
          <a:prstGeom prst="rect">
            <a:avLst/>
          </a:prstGeom>
          <a:noFill/>
          <a:ln/>
        </p:spPr>
        <p:txBody>
          <a:bodyPr wrap="square" lIns="0" tIns="0" rIns="0" bIns="0" rtlCol="0" anchor="ctr"/>
          <a:lstStyle/>
          <a:p>
            <a:pPr algn="ctr" indent="0" marL="0">
              <a:buNone/>
            </a:pPr>
            <a:r>
              <a:rPr lang="en-US" sz="750" i="1" dirty="0">
                <a:solidFill>
                  <a:srgbClr val="818181"/>
                </a:solidFill>
                <a:latin typeface="Verdana" pitchFamily="34" charset="0"/>
                <a:ea typeface="Verdana" pitchFamily="34" charset="-122"/>
                <a:cs typeface="Verdana" pitchFamily="34" charset="-120"/>
              </a:rPr>
              <a:t>Cuadro 19.4 del Boletín, serie 16 (autónomos) y cuadro 19.5, series 3, 7 y 11 (sociedades). Todos son TEDR, sin comisiones.</a:t>
            </a:r>
            <a:endParaRPr lang="en-US" sz="750" dirty="0"/>
          </a:p>
        </p:txBody>
      </p:sp>
      <p:sp>
        <p:nvSpPr>
          <p:cNvPr id="8" name="Shape 5"/>
          <p:cNvSpPr/>
          <p:nvPr/>
        </p:nvSpPr>
        <p:spPr>
          <a:xfrm>
            <a:off x="621792" y="5084064"/>
            <a:ext cx="6675120" cy="969264"/>
          </a:xfrm>
          <a:prstGeom prst="roundRect">
            <a:avLst>
              <a:gd name="adj" fmla="val 4717"/>
            </a:avLst>
          </a:prstGeom>
          <a:solidFill>
            <a:srgbClr val="FFF4C2"/>
          </a:solidFill>
          <a:ln w="12700">
            <a:solidFill>
              <a:srgbClr val="FFE066"/>
            </a:solidFill>
            <a:prstDash val="solid"/>
          </a:ln>
        </p:spPr>
      </p:sp>
      <p:sp>
        <p:nvSpPr>
          <p:cNvPr id="9" name="Text 6"/>
          <p:cNvSpPr txBox="1"/>
          <p:nvPr/>
        </p:nvSpPr>
        <p:spPr>
          <a:xfrm>
            <a:off x="768096" y="5157216"/>
            <a:ext cx="640080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modelo se queda corto en el micro</a:t>
            </a:r>
            <a:endParaRPr lang="en-US" sz="1100" dirty="0"/>
          </a:p>
        </p:txBody>
      </p:sp>
      <p:sp>
        <p:nvSpPr>
          <p:cNvPr id="10" name="Text 7"/>
          <p:cNvSpPr txBox="1"/>
          <p:nvPr/>
        </p:nvSpPr>
        <p:spPr>
          <a:xfrm>
            <a:off x="768096" y="5394960"/>
            <a:ext cx="6400800" cy="58521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precio que usa el modelo es el 3,41 % del tramo ≤1 M€ de sociedades. La financiación empresarial al autónomo se cobra al 4,57 %: 115 pb por encima del tramo ≤0,25 M€. Para el segmento más pequeño, el modelo infravalora el precio.</a:t>
            </a:r>
            <a:endParaRPr lang="en-US" sz="850" dirty="0"/>
          </a:p>
        </p:txBody>
      </p:sp>
      <p:sp>
        <p:nvSpPr>
          <p:cNvPr id="11" name="Shape 8"/>
          <p:cNvSpPr/>
          <p:nvPr/>
        </p:nvSpPr>
        <p:spPr>
          <a:xfrm>
            <a:off x="7406640" y="1755648"/>
            <a:ext cx="4160520" cy="1335024"/>
          </a:xfrm>
          <a:prstGeom prst="roundRect">
            <a:avLst>
              <a:gd name="adj" fmla="val 3425"/>
            </a:avLst>
          </a:prstGeom>
          <a:solidFill>
            <a:srgbClr val="C7E3F9"/>
          </a:solidFill>
          <a:ln w="12700">
            <a:solidFill>
              <a:srgbClr val="77BFEE"/>
            </a:solidFill>
            <a:prstDash val="solid"/>
          </a:ln>
        </p:spPr>
      </p:sp>
      <p:sp>
        <p:nvSpPr>
          <p:cNvPr id="12" name="Text 9"/>
          <p:cNvSpPr txBox="1"/>
          <p:nvPr/>
        </p:nvSpPr>
        <p:spPr>
          <a:xfrm>
            <a:off x="7552944" y="1828800"/>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Por qué no estaba en el análisis</a:t>
            </a:r>
            <a:endParaRPr lang="en-US" sz="1100" dirty="0"/>
          </a:p>
        </p:txBody>
      </p:sp>
      <p:sp>
        <p:nvSpPr>
          <p:cNvPr id="13" name="Text 10"/>
          <p:cNvSpPr txBox="1"/>
          <p:nvPr/>
        </p:nvSpPr>
        <p:spPr>
          <a:xfrm>
            <a:off x="7552944" y="2066544"/>
            <a:ext cx="3867912" cy="950976"/>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El SEC 2010 clasifica al empresario individual en el sector HOGARES (S.14), no en sociedades no financieras. Todo el crédito a autónomos queda por tanto fuera del dataset MIR de empresas, que es la espina dorsal del deck. La SAFE, en cambio, sí los cuenta como PYME: segmenta por empleados.</a:t>
            </a:r>
            <a:endParaRPr lang="en-US" sz="850" dirty="0"/>
          </a:p>
        </p:txBody>
      </p:sp>
      <p:sp>
        <p:nvSpPr>
          <p:cNvPr id="14" name="Shape 11"/>
          <p:cNvSpPr/>
          <p:nvPr/>
        </p:nvSpPr>
        <p:spPr>
          <a:xfrm>
            <a:off x="7406640" y="3182112"/>
            <a:ext cx="4160520" cy="1188720"/>
          </a:xfrm>
          <a:prstGeom prst="roundRect">
            <a:avLst>
              <a:gd name="adj" fmla="val 3846"/>
            </a:avLst>
          </a:prstGeom>
          <a:solidFill>
            <a:srgbClr val="E5E5E5"/>
          </a:solidFill>
          <a:ln w="12700">
            <a:solidFill>
              <a:srgbClr val="CACACA"/>
            </a:solidFill>
            <a:prstDash val="solid"/>
          </a:ln>
        </p:spPr>
      </p:sp>
      <p:sp>
        <p:nvSpPr>
          <p:cNvPr id="15" name="Text 12"/>
          <p:cNvSpPr txBox="1"/>
          <p:nvPr/>
        </p:nvSpPr>
        <p:spPr>
          <a:xfrm>
            <a:off x="7552944" y="325526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Cuánto pesa</a:t>
            </a:r>
            <a:endParaRPr lang="en-US" sz="1100" dirty="0"/>
          </a:p>
        </p:txBody>
      </p:sp>
      <p:sp>
        <p:nvSpPr>
          <p:cNvPr id="16" name="Text 13"/>
          <p:cNvSpPr txBox="1"/>
          <p:nvPr/>
        </p:nvSpPr>
        <p:spPr>
          <a:xfrm>
            <a:off x="7552944" y="3493008"/>
            <a:ext cx="3867912" cy="804672"/>
          </a:xfrm>
          <a:prstGeom prst="rect">
            <a:avLst/>
          </a:prstGeom>
          <a:noFill/>
          <a:ln/>
        </p:spPr>
        <p:txBody>
          <a:bodyPr wrap="square" lIns="0" tIns="0" rIns="0" bIns="0" rtlCol="0" anchor="ctr"/>
          <a:lstStyle/>
          <a:p>
            <a:pPr indent="0" marL="0">
              <a:buNone/>
            </a:pPr>
            <a:r>
              <a:rPr lang="en-US" sz="850" dirty="0">
                <a:solidFill>
                  <a:srgbClr val="2B2B2B"/>
                </a:solidFill>
                <a:latin typeface="Verdana" pitchFamily="34" charset="0"/>
                <a:ea typeface="Verdana" pitchFamily="34" charset="-122"/>
                <a:cs typeface="Verdana" pitchFamily="34" charset="-120"/>
              </a:rPr>
              <a:t>840 M€ al mes de nueva producción, frente a 15.111 M€ del tramo ≤0,25 M€ de sociedades. Es el 5 % del conjunto: no cambia el agregado, pero sí la lectura del segmento micro.</a:t>
            </a:r>
            <a:endParaRPr lang="en-US" sz="850" dirty="0"/>
          </a:p>
        </p:txBody>
      </p:sp>
      <p:sp>
        <p:nvSpPr>
          <p:cNvPr id="17" name="Shape 14"/>
          <p:cNvSpPr/>
          <p:nvPr/>
        </p:nvSpPr>
        <p:spPr>
          <a:xfrm>
            <a:off x="7406640" y="4462272"/>
            <a:ext cx="4160520" cy="1591056"/>
          </a:xfrm>
          <a:prstGeom prst="roundRect">
            <a:avLst>
              <a:gd name="adj" fmla="val 2874"/>
            </a:avLst>
          </a:prstGeom>
          <a:solidFill>
            <a:srgbClr val="FFCCE8"/>
          </a:solidFill>
          <a:ln w="12700">
            <a:solidFill>
              <a:srgbClr val="FF8AC2"/>
            </a:solidFill>
            <a:prstDash val="solid"/>
          </a:ln>
        </p:spPr>
      </p:sp>
      <p:sp>
        <p:nvSpPr>
          <p:cNvPr id="18" name="Text 15"/>
          <p:cNvSpPr txBox="1"/>
          <p:nvPr/>
        </p:nvSpPr>
        <p:spPr>
          <a:xfrm>
            <a:off x="7552944" y="4535424"/>
            <a:ext cx="3867912"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Lo que sigue sin existir</a:t>
            </a:r>
            <a:endParaRPr lang="en-US" sz="1100" dirty="0"/>
          </a:p>
        </p:txBody>
      </p:sp>
      <p:sp>
        <p:nvSpPr>
          <p:cNvPr id="19" name="Text 16"/>
          <p:cNvSpPr txBox="1"/>
          <p:nvPr/>
        </p:nvSpPr>
        <p:spPr>
          <a:xfrm>
            <a:off x="7552944" y="4773168"/>
            <a:ext cx="3867912" cy="1207008"/>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Boletín no publica TAE de autónomos. La única cuña cercana es la de hogares para otros fines, 59 pb (TAE 5,05 % contra TEDR 4,46 %), pero es de TODOS los hogares, no solo de empresarios. Y nada de esto está por entidad: la publicación por banco del Banco de España se apoya en la Circular 5/2012, que cubre comisiones de servicios y descubiertos de personas físicas, no precios de préstamo.</a:t>
            </a:r>
            <a:endParaRPr lang="en-US" sz="800" dirty="0"/>
          </a:p>
        </p:txBody>
      </p:sp>
      <p:sp>
        <p:nvSpPr>
          <p:cNvPr id="20" name="Text 1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Banco de España, Boletín Estadístico, capítulo 19. Autónomos: cuadro 19.4 serie 16, media 2026 ponderada por el volumen del cuadro 19.12 serie 16; el desglose hasta 1 año (serie 17) no tiene volumen publicado, así que su media es simple. Sociedades: cuadro 19.5, medias ponderadas por el cuadro 19.13. Todos los tipos son TEDR, es decir sin comisiones, de modo que la comparación entre autónomo y sociedad es homogénea en ese sentido.</a:t>
            </a:r>
            <a:endParaRPr lang="en-US" sz="7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circulante en España: el producto más pedido y el peor medido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Serie A2Z1 del BCE validada contra el Boletín del Banco de España · Media 2026</a:t>
            </a:r>
            <a:endParaRPr lang="en-US" sz="1050" dirty="0"/>
          </a:p>
        </p:txBody>
      </p:sp>
      <p:sp>
        <p:nvSpPr>
          <p:cNvPr id="6" name="Shape 4"/>
          <p:cNvSpPr/>
          <p:nvPr/>
        </p:nvSpPr>
        <p:spPr>
          <a:xfrm>
            <a:off x="621792" y="1737360"/>
            <a:ext cx="2697480" cy="987552"/>
          </a:xfrm>
          <a:prstGeom prst="roundRect">
            <a:avLst>
              <a:gd name="adj" fmla="val 4630"/>
            </a:avLst>
          </a:prstGeom>
          <a:solidFill>
            <a:srgbClr val="E5E5E5"/>
          </a:solidFill>
          <a:ln w="12700">
            <a:solidFill>
              <a:srgbClr val="CACACA"/>
            </a:solidFill>
            <a:prstDash val="solid"/>
          </a:ln>
        </p:spPr>
      </p:sp>
      <p:sp>
        <p:nvSpPr>
          <p:cNvPr id="7" name="Text 5"/>
          <p:cNvSpPr txBox="1"/>
          <p:nvPr/>
        </p:nvSpPr>
        <p:spPr>
          <a:xfrm>
            <a:off x="749808"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3,58 %</a:t>
            </a:r>
            <a:endParaRPr lang="en-US" sz="2000" dirty="0"/>
          </a:p>
        </p:txBody>
      </p:sp>
      <p:sp>
        <p:nvSpPr>
          <p:cNvPr id="8" name="Text 6"/>
          <p:cNvSpPr txBox="1"/>
          <p:nvPr/>
        </p:nvSpPr>
        <p:spPr>
          <a:xfrm>
            <a:off x="749808"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Tipo del circulante</a:t>
            </a:r>
            <a:endParaRPr lang="en-US" sz="950" dirty="0"/>
          </a:p>
        </p:txBody>
      </p:sp>
      <p:sp>
        <p:nvSpPr>
          <p:cNvPr id="9" name="Text 7"/>
          <p:cNvSpPr txBox="1"/>
          <p:nvPr/>
        </p:nvSpPr>
        <p:spPr>
          <a:xfrm>
            <a:off x="749808"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BCE y Banco de España dan el mismo dato</a:t>
            </a:r>
            <a:endParaRPr lang="en-US" sz="800" dirty="0"/>
          </a:p>
        </p:txBody>
      </p:sp>
      <p:sp>
        <p:nvSpPr>
          <p:cNvPr id="10" name="Shape 8"/>
          <p:cNvSpPr/>
          <p:nvPr/>
        </p:nvSpPr>
        <p:spPr>
          <a:xfrm>
            <a:off x="3465576" y="1737360"/>
            <a:ext cx="2697480" cy="987552"/>
          </a:xfrm>
          <a:prstGeom prst="roundRect">
            <a:avLst>
              <a:gd name="adj" fmla="val 4630"/>
            </a:avLst>
          </a:prstGeom>
          <a:solidFill>
            <a:srgbClr val="E5E5E5"/>
          </a:solidFill>
          <a:ln w="12700">
            <a:solidFill>
              <a:srgbClr val="CACACA"/>
            </a:solidFill>
            <a:prstDash val="solid"/>
          </a:ln>
        </p:spPr>
      </p:sp>
      <p:sp>
        <p:nvSpPr>
          <p:cNvPr id="11" name="Text 9"/>
          <p:cNvSpPr txBox="1"/>
          <p:nvPr/>
        </p:nvSpPr>
        <p:spPr>
          <a:xfrm>
            <a:off x="3593592"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57.933 M€</a:t>
            </a:r>
            <a:endParaRPr lang="en-US" sz="2000" dirty="0"/>
          </a:p>
        </p:txBody>
      </p:sp>
      <p:sp>
        <p:nvSpPr>
          <p:cNvPr id="12" name="Text 10"/>
          <p:cNvSpPr txBox="1"/>
          <p:nvPr/>
        </p:nvSpPr>
        <p:spPr>
          <a:xfrm>
            <a:off x="3593592"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Saldo vivo en España</a:t>
            </a:r>
            <a:endParaRPr lang="en-US" sz="950" dirty="0"/>
          </a:p>
        </p:txBody>
      </p:sp>
      <p:sp>
        <p:nvSpPr>
          <p:cNvPr id="13" name="Text 11"/>
          <p:cNvSpPr txBox="1"/>
          <p:nvPr/>
        </p:nvSpPr>
        <p:spPr>
          <a:xfrm>
            <a:off x="3593592"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único volumen por país que existe</a:t>
            </a:r>
            <a:endParaRPr lang="en-US" sz="800" dirty="0"/>
          </a:p>
        </p:txBody>
      </p:sp>
      <p:sp>
        <p:nvSpPr>
          <p:cNvPr id="14" name="Shape 12"/>
          <p:cNvSpPr/>
          <p:nvPr/>
        </p:nvSpPr>
        <p:spPr>
          <a:xfrm>
            <a:off x="6309360" y="1737360"/>
            <a:ext cx="2697480" cy="987552"/>
          </a:xfrm>
          <a:prstGeom prst="roundRect">
            <a:avLst>
              <a:gd name="adj" fmla="val 4630"/>
            </a:avLst>
          </a:prstGeom>
          <a:solidFill>
            <a:srgbClr val="E5E5E5"/>
          </a:solidFill>
          <a:ln w="12700">
            <a:solidFill>
              <a:srgbClr val="CACACA"/>
            </a:solidFill>
            <a:prstDash val="solid"/>
          </a:ln>
        </p:spPr>
      </p:sp>
      <p:sp>
        <p:nvSpPr>
          <p:cNvPr id="15" name="Text 13"/>
          <p:cNvSpPr txBox="1"/>
          <p:nvPr/>
        </p:nvSpPr>
        <p:spPr>
          <a:xfrm>
            <a:off x="6437376"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73,0 %</a:t>
            </a:r>
            <a:endParaRPr lang="en-US" sz="2000" dirty="0"/>
          </a:p>
        </p:txBody>
      </p:sp>
      <p:sp>
        <p:nvSpPr>
          <p:cNvPr id="16" name="Text 14"/>
          <p:cNvSpPr txBox="1"/>
          <p:nvPr/>
        </p:nvSpPr>
        <p:spPr>
          <a:xfrm>
            <a:off x="6437376"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De las pymes lo pide</a:t>
            </a:r>
            <a:endParaRPr lang="en-US" sz="950" dirty="0"/>
          </a:p>
        </p:txBody>
      </p:sp>
      <p:sp>
        <p:nvSpPr>
          <p:cNvPr id="17" name="Text 15"/>
          <p:cNvSpPr txBox="1"/>
          <p:nvPr/>
        </p:nvSpPr>
        <p:spPr>
          <a:xfrm>
            <a:off x="6437376"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para circulante, frente al 64,6 % de 2024</a:t>
            </a:r>
            <a:endParaRPr lang="en-US" sz="800" dirty="0"/>
          </a:p>
        </p:txBody>
      </p:sp>
      <p:sp>
        <p:nvSpPr>
          <p:cNvPr id="18" name="Shape 16"/>
          <p:cNvSpPr/>
          <p:nvPr/>
        </p:nvSpPr>
        <p:spPr>
          <a:xfrm>
            <a:off x="9153144" y="1737360"/>
            <a:ext cx="2697480" cy="987552"/>
          </a:xfrm>
          <a:prstGeom prst="roundRect">
            <a:avLst>
              <a:gd name="adj" fmla="val 4630"/>
            </a:avLst>
          </a:prstGeom>
          <a:solidFill>
            <a:srgbClr val="E5E5E5"/>
          </a:solidFill>
          <a:ln w="12700">
            <a:solidFill>
              <a:srgbClr val="CACACA"/>
            </a:solidFill>
            <a:prstDash val="solid"/>
          </a:ln>
        </p:spPr>
      </p:sp>
      <p:sp>
        <p:nvSpPr>
          <p:cNvPr id="19" name="Text 17"/>
          <p:cNvSpPr txBox="1"/>
          <p:nvPr/>
        </p:nvSpPr>
        <p:spPr>
          <a:xfrm>
            <a:off x="9281160" y="1792224"/>
            <a:ext cx="2441448" cy="365760"/>
          </a:xfrm>
          <a:prstGeom prst="rect">
            <a:avLst/>
          </a:prstGeom>
          <a:noFill/>
          <a:ln/>
        </p:spPr>
        <p:txBody>
          <a:bodyPr wrap="square" lIns="0" tIns="0" rIns="0" bIns="0" rtlCol="0" anchor="ctr"/>
          <a:lstStyle/>
          <a:p>
            <a:pPr indent="0" marL="0">
              <a:buNone/>
            </a:pPr>
            <a:r>
              <a:rPr lang="en-US" sz="2000" b="1" dirty="0">
                <a:solidFill>
                  <a:srgbClr val="F56600"/>
                </a:solidFill>
                <a:latin typeface="Verdana" pitchFamily="34" charset="0"/>
                <a:ea typeface="Verdana" pitchFamily="34" charset="-122"/>
                <a:cs typeface="Verdana" pitchFamily="34" charset="-120"/>
              </a:rPr>
              <a:t>22 %</a:t>
            </a:r>
            <a:endParaRPr lang="en-US" sz="2000" dirty="0"/>
          </a:p>
        </p:txBody>
      </p:sp>
      <p:sp>
        <p:nvSpPr>
          <p:cNvPr id="20" name="Text 18"/>
          <p:cNvSpPr txBox="1"/>
          <p:nvPr/>
        </p:nvSpPr>
        <p:spPr>
          <a:xfrm>
            <a:off x="9281160" y="2176272"/>
            <a:ext cx="2441448" cy="182880"/>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Usa línea de crédito</a:t>
            </a:r>
            <a:endParaRPr lang="en-US" sz="950" dirty="0"/>
          </a:p>
        </p:txBody>
      </p:sp>
      <p:sp>
        <p:nvSpPr>
          <p:cNvPr id="21" name="Text 19"/>
          <p:cNvSpPr txBox="1"/>
          <p:nvPr/>
        </p:nvSpPr>
        <p:spPr>
          <a:xfrm>
            <a:off x="9281160" y="2368296"/>
            <a:ext cx="2441448" cy="310896"/>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el instrumento más utilizado, junto al préstamo</a:t>
            </a:r>
            <a:endParaRPr lang="en-US" sz="800" dirty="0"/>
          </a:p>
        </p:txBody>
      </p:sp>
      <p:graphicFrame>
        <p:nvGraphicFramePr>
          <p:cNvPr id="22" name="Chart 0" descr=""/>
          <p:cNvGraphicFramePr/>
          <p:nvPr/>
        </p:nvGraphicFramePr>
        <p:xfrm>
          <a:off x="621792" y="2926080"/>
          <a:ext cx="6583680" cy="2212848"/>
        </p:xfrm>
        <a:graphic xmlns:a="http://schemas.openxmlformats.org/drawingml/2006/main">
          <a:graphicData uri="http://schemas.openxmlformats.org/drawingml/2006/chart">
            <c:chart xmlns:c="http://schemas.openxmlformats.org/drawingml/2006/chart" r:id="rId1"/>
          </a:graphicData>
        </a:graphic>
      </p:graphicFrame>
      <p:sp>
        <p:nvSpPr>
          <p:cNvPr id="23" name="Text 20"/>
          <p:cNvSpPr txBox="1"/>
          <p:nvPr/>
        </p:nvSpPr>
        <p:spPr>
          <a:xfrm>
            <a:off x="621792" y="5157216"/>
            <a:ext cx="658368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es de los pocos donde el circulante se cobra por encima del préstamo, y solo por 16 pb</a:t>
            </a:r>
            <a:endParaRPr lang="en-US" sz="800" dirty="0"/>
          </a:p>
        </p:txBody>
      </p:sp>
      <p:sp>
        <p:nvSpPr>
          <p:cNvPr id="24" name="Shape 21"/>
          <p:cNvSpPr/>
          <p:nvPr/>
        </p:nvSpPr>
        <p:spPr>
          <a:xfrm>
            <a:off x="7360920" y="2926080"/>
            <a:ext cx="4206240" cy="1481328"/>
          </a:xfrm>
          <a:prstGeom prst="roundRect">
            <a:avLst>
              <a:gd name="adj" fmla="val 3086"/>
            </a:avLst>
          </a:prstGeom>
          <a:solidFill>
            <a:srgbClr val="FFF4C2"/>
          </a:solidFill>
          <a:ln w="12700">
            <a:solidFill>
              <a:srgbClr val="FFE066"/>
            </a:solidFill>
            <a:prstDash val="solid"/>
          </a:ln>
        </p:spPr>
      </p:sp>
      <p:sp>
        <p:nvSpPr>
          <p:cNvPr id="25" name="Text 22"/>
          <p:cNvSpPr txBox="1"/>
          <p:nvPr/>
        </p:nvSpPr>
        <p:spPr>
          <a:xfrm>
            <a:off x="7507224" y="2999232"/>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La demanda va donde el dato no llega</a:t>
            </a:r>
            <a:endParaRPr lang="en-US" sz="1150" dirty="0"/>
          </a:p>
        </p:txBody>
      </p:sp>
      <p:sp>
        <p:nvSpPr>
          <p:cNvPr id="26" name="Text 23"/>
          <p:cNvSpPr txBox="1"/>
          <p:nvPr/>
        </p:nvSpPr>
        <p:spPr>
          <a:xfrm>
            <a:off x="7507224" y="3236976"/>
            <a:ext cx="3913632" cy="109728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Tres de cada cuatro pymes que necesitan financiación la quieren para circulante, y es el destino que más crece. Pero de este producto no existe ni comisión de disponibilidad ni tasa de disposición en ninguna estadística, y el tipo que publica el BCE no tiene tramo de importe: mezcla la póliza de la pyme con la línea del corporativo.</a:t>
            </a:r>
            <a:endParaRPr lang="en-US" sz="900" dirty="0"/>
          </a:p>
        </p:txBody>
      </p:sp>
      <p:sp>
        <p:nvSpPr>
          <p:cNvPr id="27" name="Shape 24"/>
          <p:cNvSpPr/>
          <p:nvPr/>
        </p:nvSpPr>
        <p:spPr>
          <a:xfrm>
            <a:off x="7360920" y="4517136"/>
            <a:ext cx="4206240" cy="1536192"/>
          </a:xfrm>
          <a:prstGeom prst="roundRect">
            <a:avLst>
              <a:gd name="adj" fmla="val 2976"/>
            </a:avLst>
          </a:prstGeom>
          <a:solidFill>
            <a:srgbClr val="C7E3F9"/>
          </a:solidFill>
          <a:ln w="12700">
            <a:solidFill>
              <a:srgbClr val="77BFEE"/>
            </a:solidFill>
            <a:prstDash val="solid"/>
          </a:ln>
        </p:spPr>
      </p:sp>
      <p:sp>
        <p:nvSpPr>
          <p:cNvPr id="28" name="Text 25"/>
          <p:cNvSpPr txBox="1"/>
          <p:nvPr/>
        </p:nvSpPr>
        <p:spPr>
          <a:xfrm>
            <a:off x="7507224" y="4590288"/>
            <a:ext cx="3913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Validación cruzada del precio</a:t>
            </a:r>
            <a:endParaRPr lang="en-US" sz="1150" dirty="0"/>
          </a:p>
        </p:txBody>
      </p:sp>
      <p:sp>
        <p:nvSpPr>
          <p:cNvPr id="29" name="Text 26"/>
          <p:cNvSpPr txBox="1"/>
          <p:nvPr/>
        </p:nvSpPr>
        <p:spPr>
          <a:xfrm>
            <a:off x="7507224" y="4828032"/>
            <a:ext cx="3913632" cy="115214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El Boletín del Banco de España publica el mismo dato por vía nacional, cuadro 19.5 serie 1, y da 3,58 %: idéntico al del BCE. Es la única serie del deck que se ha podido contrastar contra una fuente independiente, y cuadra. El volumen, 57.933 M€ de saldo medio, solo lo publica España.</a:t>
            </a:r>
            <a:endParaRPr lang="en-US" sz="900" dirty="0"/>
          </a:p>
        </p:txBody>
      </p:sp>
      <p:sp>
        <p:nvSpPr>
          <p:cNvPr id="30" name="Text 27"/>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dataset MIR, serie A2Z1 (revolving y descubiertos a sociedades no financieras), media 2026; Banco de España, Boletín Estadístico, cuadros 19.5 y 19.13, serie 1; CESGAR, XV Informe, gráficos 9 y 13. En revolving el MIR mide el tipo del saldo vivo, no de nueva producción. Los porcentajes de CESGAR son de empresas encuestadas y no se agregan con los tipos.</a:t>
            </a:r>
            <a:endParaRPr lang="en-US" sz="7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Factoring y confirming: España es un caso aparte en Europa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Volumen anual sobre PIB · European Union Federation for Factoring · 2025</a:t>
            </a:r>
            <a:endParaRPr lang="en-US" sz="1050" dirty="0"/>
          </a:p>
        </p:txBody>
      </p:sp>
      <p:graphicFrame>
        <p:nvGraphicFramePr>
          <p:cNvPr id="6" name="Chart 0" descr=""/>
          <p:cNvGraphicFramePr/>
          <p:nvPr/>
        </p:nvGraphicFramePr>
        <p:xfrm>
          <a:off x="621792" y="1810512"/>
          <a:ext cx="649224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590288"/>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España mueve 269.885 M€ al año, el 16,5 % del PIB: el segundo de los siete por intensidad, detrás de Portugal</a:t>
            </a:r>
            <a:endParaRPr lang="en-US" sz="800" dirty="0"/>
          </a:p>
        </p:txBody>
      </p:sp>
      <p:sp>
        <p:nvSpPr>
          <p:cNvPr id="8" name="Shape 5"/>
          <p:cNvSpPr/>
          <p:nvPr/>
        </p:nvSpPr>
        <p:spPr>
          <a:xfrm>
            <a:off x="7296912" y="1810512"/>
            <a:ext cx="4270248" cy="1572768"/>
          </a:xfrm>
          <a:prstGeom prst="roundRect">
            <a:avLst>
              <a:gd name="adj" fmla="val 2907"/>
            </a:avLst>
          </a:prstGeom>
          <a:solidFill>
            <a:srgbClr val="FFCCE8"/>
          </a:solidFill>
          <a:ln w="12700">
            <a:solidFill>
              <a:srgbClr val="FF8AC2"/>
            </a:solidFill>
            <a:prstDash val="solid"/>
          </a:ln>
        </p:spPr>
      </p:sp>
      <p:sp>
        <p:nvSpPr>
          <p:cNvPr id="9" name="Text 6"/>
          <p:cNvSpPr txBox="1"/>
          <p:nvPr/>
        </p:nvSpPr>
        <p:spPr>
          <a:xfrm>
            <a:off x="7443216" y="1883664"/>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El 52,6 % español es confirming</a:t>
            </a:r>
            <a:endParaRPr lang="en-US" sz="1150" dirty="0"/>
          </a:p>
        </p:txBody>
      </p:sp>
      <p:sp>
        <p:nvSpPr>
          <p:cNvPr id="10" name="Text 7"/>
          <p:cNvSpPr txBox="1"/>
          <p:nvPr/>
        </p:nvSpPr>
        <p:spPr>
          <a:xfrm>
            <a:off x="7443216" y="2121408"/>
            <a:ext cx="3977640" cy="1188720"/>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En Italia es el 1,9 %. España y Portugal son los dos mercados europeos donde el pago confirmado a proveedores domina sobre el factoring clásico. Por eso los totales de la federación europea NO son comparables entre países: se está sumando un producto de financiación de clientes con otro de pago a proveedores.</a:t>
            </a:r>
            <a:endParaRPr lang="en-US" sz="900" dirty="0"/>
          </a:p>
        </p:txBody>
      </p:sp>
      <p:sp>
        <p:nvSpPr>
          <p:cNvPr id="11" name="Shape 8"/>
          <p:cNvSpPr/>
          <p:nvPr/>
        </p:nvSpPr>
        <p:spPr>
          <a:xfrm>
            <a:off x="7296912" y="3493008"/>
            <a:ext cx="4270248" cy="1335024"/>
          </a:xfrm>
          <a:prstGeom prst="roundRect">
            <a:avLst>
              <a:gd name="adj" fmla="val 3425"/>
            </a:avLst>
          </a:prstGeom>
          <a:solidFill>
            <a:srgbClr val="E5E5E5"/>
          </a:solidFill>
          <a:ln w="12700">
            <a:solidFill>
              <a:srgbClr val="CACACA"/>
            </a:solidFill>
            <a:prstDash val="solid"/>
          </a:ln>
        </p:spPr>
      </p:sp>
      <p:sp>
        <p:nvSpPr>
          <p:cNvPr id="12" name="Text 9"/>
          <p:cNvSpPr txBox="1"/>
          <p:nvPr/>
        </p:nvSpPr>
        <p:spPr>
          <a:xfrm>
            <a:off x="7443216" y="3566160"/>
            <a:ext cx="397764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Y la pyme lo usa poco</a:t>
            </a:r>
            <a:endParaRPr lang="en-US" sz="1150" dirty="0"/>
          </a:p>
        </p:txBody>
      </p:sp>
      <p:sp>
        <p:nvSpPr>
          <p:cNvPr id="13" name="Text 10"/>
          <p:cNvSpPr txBox="1"/>
          <p:nvPr/>
        </p:nvSpPr>
        <p:spPr>
          <a:xfrm>
            <a:off x="7443216" y="3803904"/>
            <a:ext cx="3977640" cy="950976"/>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CESGAR lo sitúa por debajo del leasing (11 %) y de las líneas ICO (13 %) en penetración entre pymes. El volumen agregado es grande porque lo mueven las grandes empresas y sus cadenas de proveedores, no porque la pyme lo contrate.</a:t>
            </a:r>
            <a:endParaRPr lang="en-US" sz="900" dirty="0"/>
          </a:p>
        </p:txBody>
      </p:sp>
      <p:sp>
        <p:nvSpPr>
          <p:cNvPr id="14" name="Shape 11"/>
          <p:cNvSpPr/>
          <p:nvPr/>
        </p:nvSpPr>
        <p:spPr>
          <a:xfrm>
            <a:off x="621792" y="4882896"/>
            <a:ext cx="10945368" cy="1170432"/>
          </a:xfrm>
          <a:prstGeom prst="roundRect">
            <a:avLst>
              <a:gd name="adj" fmla="val 3906"/>
            </a:avLst>
          </a:prstGeom>
          <a:solidFill>
            <a:srgbClr val="FFF4C2"/>
          </a:solidFill>
          <a:ln w="12700">
            <a:solidFill>
              <a:srgbClr val="FFE066"/>
            </a:solidFill>
            <a:prstDash val="solid"/>
          </a:ln>
        </p:spPr>
      </p:sp>
      <p:sp>
        <p:nvSpPr>
          <p:cNvPr id="15" name="Text 12"/>
          <p:cNvSpPr txBox="1"/>
          <p:nvPr/>
        </p:nvSpPr>
        <p:spPr>
          <a:xfrm>
            <a:off x="768096" y="4956048"/>
            <a:ext cx="10789920"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Volumen sí, precio no: es el único bloque del encargo que se cierra sin ningún dato de su objetivo</a:t>
            </a:r>
            <a:endParaRPr lang="en-US" sz="1150" dirty="0"/>
          </a:p>
        </p:txBody>
      </p:sp>
      <p:sp>
        <p:nvSpPr>
          <p:cNvPr id="16" name="Text 13"/>
          <p:cNvSpPr txBox="1"/>
          <p:nvPr/>
        </p:nvSpPr>
        <p:spPr>
          <a:xfrm>
            <a:off x="768096" y="5193792"/>
            <a:ext cx="10789920" cy="786384"/>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Ni el BCE, ni el Banco de España, ni la federación europea, ni las asociaciones nacionales publican un precio del factoring o del confirming. Se buscó en las nueve fuentes del encargo y en las memorias de Santander Factoring y Confirming, BNP Paribas Factor y Eurofactor. El precio de estos productos solo existe en registros de pago o en datos de mercado, y por tanto no entra en el modelo de rentabilidad: cualquier ROE de factoring de este deck sería inventado.</a:t>
            </a:r>
            <a:endParaRPr lang="en-US" sz="900" dirty="0"/>
          </a:p>
        </p:txBody>
      </p:sp>
      <p:sp>
        <p:nvSpPr>
          <p:cNvPr id="17" name="Text 1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EU Federation for Factoring and Commercial Finance y asociaciones nacionales (AEF en España, Assifact en Italia); CESGAR, XV Informe, gráfico 9. El reparto entre factoring y confirming procede de las asociaciones nacionales y no está armonizado.</a:t>
            </a:r>
            <a:endParaRPr lang="en-US" sz="7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28</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El mercado: 142.000 M€ de cartera PYME entre los cinco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Exposición a PYME con contraparte española · EU-wide Transparency Exercise del EBA · Junio 2025</a:t>
            </a:r>
            <a:endParaRPr lang="en-US" sz="1050" dirty="0"/>
          </a:p>
        </p:txBody>
      </p:sp>
      <p:graphicFrame>
        <p:nvGraphicFramePr>
          <p:cNvPr id="6" name="Chart 0" descr=""/>
          <p:cNvGraphicFramePr/>
          <p:nvPr/>
        </p:nvGraphicFramePr>
        <p:xfrm>
          <a:off x="621792" y="1810512"/>
          <a:ext cx="6492240" cy="278892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4626864"/>
            <a:ext cx="6492240" cy="201168"/>
          </a:xfrm>
          <a:prstGeom prst="rect">
            <a:avLst/>
          </a:prstGeom>
          <a:noFill/>
          <a:ln/>
        </p:spPr>
        <p:txBody>
          <a:bodyPr wrap="square" lIns="0" tIns="0" rIns="0" bIns="0" rtlCol="0" anchor="ctr"/>
          <a:lstStyle/>
          <a:p>
            <a:pPr algn="ctr" indent="0" marL="0">
              <a:buNone/>
            </a:pPr>
            <a:r>
              <a:rPr lang="en-US" sz="800" i="1" dirty="0">
                <a:solidFill>
                  <a:srgbClr val="818181"/>
                </a:solidFill>
                <a:latin typeface="Verdana" pitchFamily="34" charset="0"/>
                <a:ea typeface="Verdana" pitchFamily="34" charset="-122"/>
                <a:cs typeface="Verdana" pitchFamily="34" charset="-120"/>
              </a:rPr>
              <a:t>Millones de euros de valor de exposición</a:t>
            </a:r>
            <a:endParaRPr lang="en-US" sz="8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7296912" y="1810512"/>
          <a:ext cx="4343400" cy="914400"/>
        </p:xfrm>
        <a:graphic>
          <a:graphicData uri="http://schemas.openxmlformats.org/drawingml/2006/table">
            <a:tbl>
              <a:tblPr/>
              <a:tblGrid>
                <a:gridCol w="1051560"/>
                <a:gridCol w="1051560"/>
                <a:gridCol w="1097280"/>
                <a:gridCol w="960120"/>
                <a:gridCol w="1097280"/>
              </a:tblGrid>
              <a:tr h="384048">
                <a:tc>
                  <a:txBody>
                    <a:bodyPr/>
                    <a:lstStyle/>
                    <a:p>
                      <a:pPr algn="l" indent="0" marL="0">
                        <a:buNone/>
                      </a:pPr>
                      <a:r>
                        <a:rPr lang="en-US" sz="900" b="1" dirty="0">
                          <a:solidFill>
                            <a:srgbClr val="FFFFFF"/>
                          </a:solidFill>
                          <a:latin typeface="Verdana" pitchFamily="34" charset="0"/>
                          <a:ea typeface="Verdana" pitchFamily="34" charset="-122"/>
                          <a:cs typeface="Verdana" pitchFamily="34" charset="-120"/>
                        </a:rPr>
                        <a:t>Banco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Cartera PYME,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Cuota entre los cinco</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Densidad de RWA</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900" b="1" dirty="0">
                          <a:solidFill>
                            <a:srgbClr val="FFFFFF"/>
                          </a:solidFill>
                          <a:latin typeface="Verdana" pitchFamily="34" charset="0"/>
                          <a:ea typeface="Verdana" pitchFamily="34" charset="-122"/>
                          <a:cs typeface="Verdana" pitchFamily="34" charset="-120"/>
                        </a:rPr>
                        <a:t>RWA, M€</a:t>
                      </a:r>
                      <a:endParaRPr lang="en-US" sz="9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14.553</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10,2 %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53,3 %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7757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22.324</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15,7 %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37,3 %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8327</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48.736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34,2 %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49,2 %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23.978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24.410</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17,1 %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71,0 %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17.331</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384048">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32.325</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b="1" dirty="0">
                          <a:solidFill>
                            <a:srgbClr val="2B2B2B"/>
                          </a:solidFill>
                          <a:latin typeface="Verdana" pitchFamily="34" charset="0"/>
                          <a:ea typeface="Verdana" pitchFamily="34" charset="-122"/>
                          <a:cs typeface="Verdana" pitchFamily="34" charset="-120"/>
                        </a:rPr>
                        <a:t>22,7 %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62,7 %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00" dirty="0">
                          <a:solidFill>
                            <a:srgbClr val="2B2B2B"/>
                          </a:solidFill>
                          <a:latin typeface="Verdana" pitchFamily="34" charset="0"/>
                          <a:ea typeface="Verdana" pitchFamily="34" charset="-122"/>
                          <a:cs typeface="Verdana" pitchFamily="34" charset="-120"/>
                        </a:rPr>
                        <a:t>20.268</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bl>
          </a:graphicData>
        </a:graphic>
      </p:graphicFrame>
      <p:sp>
        <p:nvSpPr>
          <p:cNvPr id="9" name="Shape 5"/>
          <p:cNvSpPr/>
          <p:nvPr/>
        </p:nvSpPr>
        <p:spPr>
          <a:xfrm>
            <a:off x="7296912" y="4224528"/>
            <a:ext cx="4343400" cy="1042416"/>
          </a:xfrm>
          <a:prstGeom prst="roundRect">
            <a:avLst>
              <a:gd name="adj" fmla="val 4386"/>
            </a:avLst>
          </a:prstGeom>
          <a:solidFill>
            <a:srgbClr val="FFF4C2"/>
          </a:solidFill>
          <a:ln w="12700">
            <a:solidFill>
              <a:srgbClr val="FFE066"/>
            </a:solidFill>
            <a:prstDash val="solid"/>
          </a:ln>
        </p:spPr>
      </p:sp>
      <p:sp>
        <p:nvSpPr>
          <p:cNvPr id="10" name="Text 6"/>
          <p:cNvSpPr txBox="1"/>
          <p:nvPr/>
        </p:nvSpPr>
        <p:spPr>
          <a:xfrm>
            <a:off x="7443216" y="4297680"/>
            <a:ext cx="405079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Concentración moderada</a:t>
            </a:r>
            <a:endParaRPr lang="en-US" sz="1150" dirty="0"/>
          </a:p>
        </p:txBody>
      </p:sp>
      <p:sp>
        <p:nvSpPr>
          <p:cNvPr id="11" name="Text 7"/>
          <p:cNvSpPr txBox="1"/>
          <p:nvPr/>
        </p:nvSpPr>
        <p:spPr>
          <a:xfrm>
            <a:off x="7443216" y="4535424"/>
            <a:ext cx="4050792" cy="658368"/>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CaixaBank tiene el 34,2 % de la cartera PYME de los cinco, más que Santander y BBVA juntos en este segmento, pese a ser menor que ambos por balance total. El negocio PYME español no se reparte como el balance.</a:t>
            </a:r>
            <a:endParaRPr lang="en-US" sz="900" dirty="0"/>
          </a:p>
        </p:txBody>
      </p:sp>
      <p:sp>
        <p:nvSpPr>
          <p:cNvPr id="12" name="Shape 8"/>
          <p:cNvSpPr/>
          <p:nvPr/>
        </p:nvSpPr>
        <p:spPr>
          <a:xfrm>
            <a:off x="621792" y="4956048"/>
            <a:ext cx="6492240" cy="1097280"/>
          </a:xfrm>
          <a:prstGeom prst="roundRect">
            <a:avLst>
              <a:gd name="adj" fmla="val 4167"/>
            </a:avLst>
          </a:prstGeom>
          <a:solidFill>
            <a:srgbClr val="C7E3F9"/>
          </a:solidFill>
          <a:ln w="12700">
            <a:solidFill>
              <a:srgbClr val="77BFEE"/>
            </a:solidFill>
            <a:prstDash val="solid"/>
          </a:ln>
        </p:spPr>
      </p:sp>
      <p:sp>
        <p:nvSpPr>
          <p:cNvPr id="13" name="Text 9"/>
          <p:cNvSpPr txBox="1"/>
          <p:nvPr/>
        </p:nvSpPr>
        <p:spPr>
          <a:xfrm>
            <a:off x="768096" y="5029200"/>
            <a:ext cx="6199632" cy="219456"/>
          </a:xfrm>
          <a:prstGeom prst="rect">
            <a:avLst/>
          </a:prstGeom>
          <a:noFill/>
          <a:ln/>
        </p:spPr>
        <p:txBody>
          <a:bodyPr wrap="square" lIns="0" tIns="0" rIns="0" bIns="0" rtlCol="0" anchor="ctr"/>
          <a:lstStyle/>
          <a:p>
            <a:pPr indent="0" marL="0">
              <a:buNone/>
            </a:pPr>
            <a:r>
              <a:rPr lang="en-US" sz="1150" b="1" dirty="0">
                <a:solidFill>
                  <a:srgbClr val="2B2B2B"/>
                </a:solidFill>
                <a:latin typeface="Verdana" pitchFamily="34" charset="0"/>
                <a:ea typeface="Verdana" pitchFamily="34" charset="-122"/>
                <a:cs typeface="Verdana" pitchFamily="34" charset="-120"/>
              </a:rPr>
              <a:t>Es el perímetro que se puede medir, no todo el mercado</a:t>
            </a:r>
            <a:endParaRPr lang="en-US" sz="1150" dirty="0"/>
          </a:p>
        </p:txBody>
      </p:sp>
      <p:sp>
        <p:nvSpPr>
          <p:cNvPr id="14" name="Text 10"/>
          <p:cNvSpPr txBox="1"/>
          <p:nvPr/>
        </p:nvSpPr>
        <p:spPr>
          <a:xfrm>
            <a:off x="768096" y="5266944"/>
            <a:ext cx="6199632" cy="713232"/>
          </a:xfrm>
          <a:prstGeom prst="rect">
            <a:avLst/>
          </a:prstGeom>
          <a:noFill/>
          <a:ln/>
        </p:spPr>
        <p:txBody>
          <a:bodyPr wrap="square" lIns="0" tIns="0" rIns="0" bIns="0" rtlCol="0" anchor="ctr"/>
          <a:lstStyle/>
          <a:p>
            <a:pPr indent="0" marL="0">
              <a:buNone/>
            </a:pPr>
            <a:r>
              <a:rPr lang="en-US" sz="900" dirty="0">
                <a:solidFill>
                  <a:srgbClr val="2B2B2B"/>
                </a:solidFill>
                <a:latin typeface="Verdana" pitchFamily="34" charset="0"/>
                <a:ea typeface="Verdana" pitchFamily="34" charset="-122"/>
                <a:cs typeface="Verdana" pitchFamily="34" charset="-120"/>
              </a:rPr>
              <a:t>Son los cinco bancos del ejercicio de transparencia con cartera PYME española relevante. Fuera quedan las entidades no supervisadas directamente, las cooperativas de crédito, los EFC y la financiación no bancaria, que según CESGAR pesa: el crédito de proveedores lo usa el 16 % de las pymes.</a:t>
            </a:r>
            <a:endParaRPr lang="en-US" sz="900" dirty="0"/>
          </a:p>
        </p:txBody>
      </p:sp>
      <p:sp>
        <p:nvSpPr>
          <p:cNvPr id="15"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 2520523 (valor de exposición de PYME) y 2520533 (RWA), con contraparte de Country = 28 (España), junio de 2025. La clase PYME agrega Corporates-SME, Retail-SME y Secured by mortgages-SME. La cuota es sobre el total de estos cinco bancos, no sobre el mercado español de crédito a PYME, que es mayor.</a:t>
            </a:r>
            <a:endParaRPr lang="en-US" sz="7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29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Mora y cobertura de la cartera PYME española, trimestre a trimestre</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nivel de un trimestre dice poco; la tendencia dice bastante más · EU-wide Transparency Exercise del EBA</a:t>
            </a:r>
            <a:endParaRPr lang="en-US" sz="1050" dirty="0"/>
          </a:p>
        </p:txBody>
      </p:sp>
      <p:graphicFrame>
        <p:nvGraphicFramePr>
          <p:cNvPr id="6" name="Chart 0" descr=""/>
          <p:cNvGraphicFramePr/>
          <p:nvPr/>
        </p:nvGraphicFramePr>
        <p:xfrm>
          <a:off x="621792" y="1828800"/>
          <a:ext cx="5532120" cy="288036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621792" y="1591056"/>
            <a:ext cx="5532120"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Mora: exposición en default sobre exposición original</a:t>
            </a:r>
            <a:endParaRPr lang="en-US" sz="1100" dirty="0"/>
          </a:p>
        </p:txBody>
      </p:sp>
      <p:sp>
        <p:nvSpPr>
          <p:cNvPr id="8" name="Text 5"/>
          <p:cNvSpPr txBox="1"/>
          <p:nvPr/>
        </p:nvSpPr>
        <p:spPr>
          <a:xfrm>
            <a:off x="6263640" y="1591056"/>
            <a:ext cx="5559552" cy="219456"/>
          </a:xfrm>
          <a:prstGeom prst="rect">
            <a:avLst/>
          </a:prstGeom>
          <a:noFill/>
          <a:ln/>
        </p:spPr>
        <p:txBody>
          <a:bodyPr wrap="square" lIns="0" tIns="0" rIns="0" bIns="0" rtlCol="0" anchor="ctr"/>
          <a:lstStyle/>
          <a:p>
            <a:pPr indent="0" marL="0">
              <a:buNone/>
            </a:pPr>
            <a:r>
              <a:rPr lang="en-US" sz="1100" b="1" dirty="0">
                <a:solidFill>
                  <a:srgbClr val="F56600"/>
                </a:solidFill>
                <a:latin typeface="Verdana" pitchFamily="34" charset="0"/>
                <a:ea typeface="Verdana" pitchFamily="34" charset="-122"/>
                <a:cs typeface="Verdana" pitchFamily="34" charset="-120"/>
              </a:rPr>
              <a:t>Cobertura: provisiones sobre exposición en default</a:t>
            </a:r>
            <a:endParaRPr lang="en-US" sz="1100" dirty="0"/>
          </a:p>
        </p:txBody>
      </p:sp>
      <p:graphicFrame>
        <p:nvGraphicFramePr>
          <p:cNvPr id="9" name="Chart 1" descr=""/>
          <p:cNvGraphicFramePr/>
          <p:nvPr/>
        </p:nvGraphicFramePr>
        <p:xfrm>
          <a:off x="6263640" y="1828800"/>
          <a:ext cx="5559552" cy="2880360"/>
        </p:xfrm>
        <a:graphic xmlns:a="http://schemas.openxmlformats.org/drawingml/2006/main">
          <a:graphicData uri="http://schemas.openxmlformats.org/drawingml/2006/chart">
            <c:chart xmlns:c="http://schemas.openxmlformats.org/drawingml/2006/chart" r:id="rId2"/>
          </a:graphicData>
        </a:graphic>
      </p:graphicFrame>
      <p:sp>
        <p:nvSpPr>
          <p:cNvPr id="10" name="Shape 6"/>
          <p:cNvSpPr/>
          <p:nvPr/>
        </p:nvSpPr>
        <p:spPr>
          <a:xfrm>
            <a:off x="621792" y="4882896"/>
            <a:ext cx="3639312" cy="1170432"/>
          </a:xfrm>
          <a:prstGeom prst="roundRect">
            <a:avLst>
              <a:gd name="adj" fmla="val 3906"/>
            </a:avLst>
          </a:prstGeom>
          <a:solidFill>
            <a:srgbClr val="C7E3F9"/>
          </a:solidFill>
          <a:ln w="12700">
            <a:solidFill>
              <a:srgbClr val="77BFEE"/>
            </a:solidFill>
            <a:prstDash val="solid"/>
          </a:ln>
        </p:spPr>
      </p:sp>
      <p:sp>
        <p:nvSpPr>
          <p:cNvPr id="11" name="Text 7"/>
          <p:cNvSpPr txBox="1"/>
          <p:nvPr/>
        </p:nvSpPr>
        <p:spPr>
          <a:xfrm>
            <a:off x="749808"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Sabadell limpia, y se nota</a:t>
            </a:r>
            <a:endParaRPr lang="en-US" sz="1050" dirty="0"/>
          </a:p>
        </p:txBody>
      </p:sp>
      <p:sp>
        <p:nvSpPr>
          <p:cNvPr id="12" name="Text 8"/>
          <p:cNvSpPr txBox="1"/>
          <p:nvPr/>
        </p:nvSpPr>
        <p:spPr>
          <a:xfrm>
            <a:off x="749808"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mora PYME baja de 7,32 % a 5,91 % en cuatro trimestres, la mejora más clara de los cinco, y además sube cobertura. Es coherente con su densidad de RWA, la más baja del grupo.</a:t>
            </a:r>
            <a:endParaRPr lang="en-US" sz="800" dirty="0"/>
          </a:p>
        </p:txBody>
      </p:sp>
      <p:sp>
        <p:nvSpPr>
          <p:cNvPr id="13" name="Shape 9"/>
          <p:cNvSpPr/>
          <p:nvPr/>
        </p:nvSpPr>
        <p:spPr>
          <a:xfrm>
            <a:off x="4425696" y="4882896"/>
            <a:ext cx="3639312" cy="1170432"/>
          </a:xfrm>
          <a:prstGeom prst="roundRect">
            <a:avLst>
              <a:gd name="adj" fmla="val 3906"/>
            </a:avLst>
          </a:prstGeom>
          <a:solidFill>
            <a:srgbClr val="FFCCE8"/>
          </a:solidFill>
          <a:ln w="12700">
            <a:solidFill>
              <a:srgbClr val="FF8AC2"/>
            </a:solidFill>
            <a:prstDash val="solid"/>
          </a:ln>
        </p:spPr>
      </p:sp>
      <p:sp>
        <p:nvSpPr>
          <p:cNvPr id="14" name="Text 10"/>
          <p:cNvSpPr txBox="1"/>
          <p:nvPr/>
        </p:nvSpPr>
        <p:spPr>
          <a:xfrm>
            <a:off x="4553712"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Santander provisiona cada vez menos</a:t>
            </a:r>
            <a:endParaRPr lang="en-US" sz="1050" dirty="0"/>
          </a:p>
        </p:txBody>
      </p:sp>
      <p:sp>
        <p:nvSpPr>
          <p:cNvPr id="15" name="Text 11"/>
          <p:cNvSpPr txBox="1"/>
          <p:nvPr/>
        </p:nvSpPr>
        <p:spPr>
          <a:xfrm>
            <a:off x="4553712"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cae de 43,2 % a 36,5 % mientras mantiene la peor mora. Puede ser cartera más garantizada o puede ser infraprovisión: con dato público no se distingue, y conviene mirarlo.</a:t>
            </a:r>
            <a:endParaRPr lang="en-US" sz="800" dirty="0"/>
          </a:p>
        </p:txBody>
      </p:sp>
      <p:sp>
        <p:nvSpPr>
          <p:cNvPr id="16" name="Shape 12"/>
          <p:cNvSpPr/>
          <p:nvPr/>
        </p:nvSpPr>
        <p:spPr>
          <a:xfrm>
            <a:off x="8229600" y="4882896"/>
            <a:ext cx="3639312" cy="1170432"/>
          </a:xfrm>
          <a:prstGeom prst="roundRect">
            <a:avLst>
              <a:gd name="adj" fmla="val 3906"/>
            </a:avLst>
          </a:prstGeom>
          <a:solidFill>
            <a:srgbClr val="FFD6BA"/>
          </a:solidFill>
          <a:ln w="12700">
            <a:solidFill>
              <a:srgbClr val="FFAB70"/>
            </a:solidFill>
            <a:prstDash val="solid"/>
          </a:ln>
        </p:spPr>
      </p:sp>
      <p:sp>
        <p:nvSpPr>
          <p:cNvPr id="17" name="Text 13"/>
          <p:cNvSpPr txBox="1"/>
          <p:nvPr/>
        </p:nvSpPr>
        <p:spPr>
          <a:xfrm>
            <a:off x="8357616" y="4956048"/>
            <a:ext cx="3383280" cy="219456"/>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Ojo con el último dato de Bankinter</a:t>
            </a:r>
            <a:endParaRPr lang="en-US" sz="1050" dirty="0"/>
          </a:p>
        </p:txBody>
      </p:sp>
      <p:sp>
        <p:nvSpPr>
          <p:cNvPr id="18" name="Text 14"/>
          <p:cNvSpPr txBox="1"/>
          <p:nvPr/>
        </p:nvSpPr>
        <p:spPr>
          <a:xfrm>
            <a:off x="8357616" y="5193792"/>
            <a:ext cx="3383280" cy="80467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Su cobertura salta a 74,1 % desde una banda de 51,9–56,1 %. El modelo de las láminas siguientes usa ese trimestre, así que su LGD sale alta; con la media de los cuatro su ROE saldría algo mejor, no peor.</a:t>
            </a:r>
            <a:endParaRPr lang="en-US" sz="800" dirty="0"/>
          </a:p>
        </p:txBody>
      </p:sp>
      <p:sp>
        <p:nvSpPr>
          <p:cNvPr id="19" name="Text 15"/>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EU-wide Transparency Exercise, partidas 2520503, 2520513 y 2520553 con contraparte de Country = 28 (España). La mora es un ratio de stock, no una PD de flujo. La cobertura incluye provisiones de las fases 1 y 2, así que sobreestima la cobertura del default en sí; el sesgo es el mismo para los cinco, de modo que sirve para comparar entre bancos y no como nivel absoluto.</a:t>
            </a:r>
            <a:endParaRPr lang="en-US" sz="7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ROE PYME de la banca española,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Modelizado, no publicado: ningún banco reporta un segmento PYME · Solo cambia entre bancos lo que cada uno sí publica · Junio 2025</a:t>
            </a:r>
            <a:endParaRPr lang="en-US" sz="1050" dirty="0"/>
          </a:p>
        </p:txBody>
      </p:sp>
      <p:graphicFrame>
        <p:nvGraphicFramePr>
          <p:cNvPr id="6" name="Chart 0" descr=""/>
          <p:cNvGraphicFramePr/>
          <p:nvPr/>
        </p:nvGraphicFramePr>
        <p:xfrm>
          <a:off x="621792" y="1755648"/>
          <a:ext cx="6446520" cy="2395728"/>
        </p:xfrm>
        <a:graphic xmlns:a="http://schemas.openxmlformats.org/drawingml/2006/main">
          <a:graphicData uri="http://schemas.openxmlformats.org/drawingml/2006/chart">
            <c:chart xmlns:c="http://schemas.openxmlformats.org/drawingml/2006/chart" r:id="rId1"/>
          </a:graphicData>
        </a:graphic>
      </p:graphicFrame>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21792" y="4315968"/>
          <a:ext cx="10945368" cy="914400"/>
        </p:xfrm>
        <a:graphic>
          <a:graphicData uri="http://schemas.openxmlformats.org/drawingml/2006/table">
            <a:tbl>
              <a:tblPr/>
              <a:tblGrid>
                <a:gridCol w="1170432"/>
                <a:gridCol w="1298448"/>
                <a:gridCol w="1097280"/>
                <a:gridCol w="859536"/>
                <a:gridCol w="1051560"/>
                <a:gridCol w="859536"/>
                <a:gridCol w="896112"/>
                <a:gridCol w="896112"/>
                <a:gridCol w="932688"/>
                <a:gridCol w="822960"/>
                <a:gridCol w="1207008"/>
              </a:tblGrid>
              <a:tr h="274320">
                <a:tc>
                  <a:txBody>
                    <a:bodyPr/>
                    <a:lstStyle/>
                    <a:p>
                      <a:pPr algn="l" indent="0" marL="0">
                        <a:buNone/>
                      </a:pP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Cartera PYME</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en España, M€</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Densidad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RWA 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Mora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Cobertura</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PD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LGD</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CoR</a:t>
                      </a:r>
                      <a:endParaRPr lang="en-US" sz="700" dirty="0">
                        <a:latin typeface="Verdana" charset="0"/>
                        <a:ea typeface="Verdana" charset="0"/>
                        <a:cs typeface="Verdana" charset="0"/>
                      </a:endParaRPr>
                    </a:p>
                    <a:p>
                      <a:pPr algn="ctr" indent="0" marL="0">
                        <a:buNone/>
                      </a:pPr>
                      <a:r>
                        <a:rPr lang="en-US" sz="700" b="1" dirty="0">
                          <a:solidFill>
                            <a:srgbClr val="FFFFFF"/>
                          </a:solidFill>
                          <a:latin typeface="Verdana" pitchFamily="34" charset="0"/>
                          <a:ea typeface="Verdana" pitchFamily="34" charset="-122"/>
                          <a:cs typeface="Verdana" pitchFamily="34" charset="-120"/>
                        </a:rPr>
                        <a:t>PYME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CET1</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Efic.</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00" b="1" dirty="0">
                          <a:solidFill>
                            <a:srgbClr val="FFFFFF"/>
                          </a:solidFill>
                          <a:latin typeface="Verdana" pitchFamily="34" charset="0"/>
                          <a:ea typeface="Verdana" pitchFamily="34" charset="-122"/>
                          <a:cs typeface="Verdana" pitchFamily="34" charset="-120"/>
                        </a:rPr>
                        <a:t>ROE</a:t>
                      </a:r>
                      <a:endParaRPr lang="en-US" sz="7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Bankinter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14.553</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74,1 %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0,74 %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46,9 %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0,35 %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33,7 %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Sabadell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22.324</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5,91 %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56,1 %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1,88 %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35,5 %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0,67 %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13,06 %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20,2 %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CaixaBank</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48.736</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49,2 %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53,6 %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1,68 %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12,25 %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40,5 %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17,7 %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BBVA</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24.410</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71,0 %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65,6 %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41,5 %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13,34 %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34,3 %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13,2 %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74320">
                <a:tc>
                  <a:txBody>
                    <a:bodyPr/>
                    <a:lstStyle/>
                    <a:p>
                      <a:pPr algn="l" indent="0" marL="0">
                        <a:buNone/>
                      </a:pPr>
                      <a:r>
                        <a:rPr lang="en-US" sz="800" b="1" dirty="0">
                          <a:solidFill>
                            <a:srgbClr val="2B2B2B"/>
                          </a:solidFill>
                          <a:latin typeface="Verdana" pitchFamily="34" charset="0"/>
                          <a:ea typeface="Verdana" pitchFamily="34" charset="-122"/>
                          <a:cs typeface="Verdana" pitchFamily="34" charset="-120"/>
                        </a:rPr>
                        <a:t>Santander</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32.325</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62,7 %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7,80 %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36,5 %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2,48 %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23,1 %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0,57 %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12,98 %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dirty="0">
                          <a:solidFill>
                            <a:srgbClr val="2B2B2B"/>
                          </a:solidFill>
                          <a:latin typeface="Verdana" pitchFamily="34" charset="0"/>
                          <a:ea typeface="Verdana" pitchFamily="34" charset="-122"/>
                          <a:cs typeface="Verdana" pitchFamily="34" charset="-120"/>
                        </a:rPr>
                        <a:t>37,0 %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00" b="1" dirty="0">
                          <a:solidFill>
                            <a:srgbClr val="2B2B2B"/>
                          </a:solidFill>
                          <a:latin typeface="Verdana" pitchFamily="34" charset="0"/>
                          <a:ea typeface="Verdana" pitchFamily="34" charset="-122"/>
                          <a:cs typeface="Verdana" pitchFamily="34" charset="-120"/>
                        </a:rPr>
                        <a:t>14,2 %</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bl>
          </a:graphicData>
        </a:graphic>
      </p:graphicFrame>
      <p:sp>
        <p:nvSpPr>
          <p:cNvPr id="8" name="Text 4"/>
          <p:cNvSpPr txBox="1"/>
          <p:nvPr/>
        </p:nvSpPr>
        <p:spPr>
          <a:xfrm>
            <a:off x="621792" y="5705856"/>
            <a:ext cx="10945368" cy="29260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En azul, lo que sale de la cartera PYME ESPAÑOLA de cada banco: exposición, densidad, mora, cobertura y, a partir de ellas, PD, LGD y coste del riesgo. CET1 y eficiencia son de grupo consolidado, que es lo único que publica el ejercicio.</a:t>
            </a:r>
            <a:endParaRPr lang="en-US" sz="750" dirty="0"/>
          </a:p>
        </p:txBody>
      </p:sp>
      <p:sp>
        <p:nvSpPr>
          <p:cNvPr id="9" name="Shape 5"/>
          <p:cNvSpPr/>
          <p:nvPr/>
        </p:nvSpPr>
        <p:spPr>
          <a:xfrm>
            <a:off x="7205472" y="1755648"/>
            <a:ext cx="4361688" cy="1133856"/>
          </a:xfrm>
          <a:prstGeom prst="roundRect">
            <a:avLst>
              <a:gd name="adj" fmla="val 4032"/>
            </a:avLst>
          </a:prstGeom>
          <a:solidFill>
            <a:srgbClr val="FFCCE8"/>
          </a:solidFill>
          <a:ln w="12700">
            <a:solidFill>
              <a:srgbClr val="FF8AC2"/>
            </a:solidFill>
            <a:prstDash val="solid"/>
          </a:ln>
        </p:spPr>
      </p:sp>
      <p:sp>
        <p:nvSpPr>
          <p:cNvPr id="10" name="Text 6"/>
          <p:cNvSpPr txBox="1"/>
          <p:nvPr/>
        </p:nvSpPr>
        <p:spPr>
          <a:xfrm>
            <a:off x="7351776" y="1828800"/>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El riesgo sí es de PYME; el precio no existe</a:t>
            </a:r>
            <a:endParaRPr lang="en-US" sz="1100" dirty="0"/>
          </a:p>
        </p:txBody>
      </p:sp>
      <p:sp>
        <p:nvSpPr>
          <p:cNvPr id="11" name="Text 7"/>
          <p:cNvSpPr txBox="1"/>
          <p:nvPr/>
        </p:nvSpPr>
        <p:spPr>
          <a:xfrm>
            <a:off x="7351776" y="2066544"/>
            <a:ext cx="4069080" cy="768096"/>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El riesgo ya no es un escalado: PD y LGD se construyen con la mora y la cobertura de la cartera PYME española de cada banco. Lo que sigue sin existir en fuente pública es el PRECIO de PYME por banco, y por eso es común a los cinco.</a:t>
            </a:r>
            <a:endParaRPr lang="en-US" sz="800" dirty="0"/>
          </a:p>
        </p:txBody>
      </p:sp>
      <p:sp>
        <p:nvSpPr>
          <p:cNvPr id="12" name="Text 8"/>
          <p:cNvSpPr txBox="1"/>
          <p:nvPr/>
        </p:nvSpPr>
        <p:spPr>
          <a:xfrm>
            <a:off x="7205472" y="3017520"/>
            <a:ext cx="4361688" cy="219456"/>
          </a:xfrm>
          <a:prstGeom prst="rect">
            <a:avLst/>
          </a:prstGeom>
          <a:noFill/>
          <a:ln/>
        </p:spPr>
        <p:txBody>
          <a:bodyPr wrap="square" lIns="0" tIns="0" rIns="0" bIns="0" rtlCol="0" anchor="ctr"/>
          <a:lstStyle/>
          <a:p>
            <a:pPr indent="0" marL="0">
              <a:buNone/>
            </a:pPr>
            <a:r>
              <a:rPr lang="en-US" sz="1150" b="1" dirty="0">
                <a:solidFill>
                  <a:srgbClr val="F56600"/>
                </a:solidFill>
                <a:latin typeface="Verdana" pitchFamily="34" charset="0"/>
                <a:ea typeface="Verdana" pitchFamily="34" charset="-122"/>
                <a:cs typeface="Verdana" pitchFamily="34" charset="-120"/>
              </a:rPr>
              <a:t>Qué le falta a cada uno para llegar a Bankinter</a:t>
            </a:r>
            <a:endParaRPr lang="en-US" sz="1150" dirty="0"/>
          </a:p>
        </p:txBody>
      </p:sp>
      <p:sp>
        <p:nvSpPr>
          <p:cNvPr id="13" name="Text 9"/>
          <p:cNvSpPr txBox="1"/>
          <p:nvPr/>
        </p:nvSpPr>
        <p:spPr>
          <a:xfrm>
            <a:off x="7205472" y="3236976"/>
            <a:ext cx="4361688" cy="201168"/>
          </a:xfrm>
          <a:prstGeom prst="rect">
            <a:avLst/>
          </a:prstGeom>
          <a:noFill/>
          <a:ln/>
        </p:spPr>
        <p:txBody>
          <a:bodyPr wrap="square" lIns="0" tIns="0" rIns="0" bIns="0" rtlCol="0" anchor="ctr"/>
          <a:lstStyle/>
          <a:p>
            <a:pPr indent="0" marL="0">
              <a:buNone/>
            </a:pPr>
            <a:r>
              <a:rPr lang="en-US" sz="750" dirty="0">
                <a:solidFill>
                  <a:srgbClr val="818181"/>
                </a:solidFill>
                <a:latin typeface="Verdana" pitchFamily="34" charset="0"/>
                <a:ea typeface="Verdana" pitchFamily="34" charset="-122"/>
                <a:cs typeface="Verdana" pitchFamily="34" charset="-120"/>
              </a:rPr>
              <a:t>Puntos de ROE que ganaría igualando cada palanca al mejor de los cinco</a:t>
            </a:r>
            <a:endParaRPr lang="en-US" sz="750" dirty="0"/>
          </a:p>
        </p:txBody>
      </p:sp>
      <p:graphicFrame>
        <p:nvGraphicFramePr>
          <p:cNvPr id="61" name="Table 1"/>
          <p:cNvGraphicFramePr>
            <a:graphicFrameLocks noGrp="1"/>
          </p:cNvGraphicFramePr>
          <p:nvPr>
            <p:extLst>
              <p:ext uri="{D42A27DB-BD31-4B8C-83A1-F6EECF244321}">
                <p14:modId xmlns:p14="http://schemas.microsoft.com/office/powerpoint/2010/main" val="1579011935"/>
              </p:ext>
            </p:extLst>
          </p:nvPr>
        </p:nvGraphicFramePr>
        <p:xfrm>
          <a:off x="7205472" y="3474720"/>
          <a:ext cx="4361688" cy="914400"/>
        </p:xfrm>
        <a:graphic>
          <a:graphicData uri="http://schemas.openxmlformats.org/drawingml/2006/table">
            <a:tbl>
              <a:tblPr/>
              <a:tblGrid>
                <a:gridCol w="1554480"/>
                <a:gridCol w="960120"/>
                <a:gridCol w="960120"/>
                <a:gridCol w="960120"/>
              </a:tblGrid>
              <a:tr h="246888">
                <a:tc>
                  <a:txBody>
                    <a:bodyPr/>
                    <a:lstStyle/>
                    <a:p>
                      <a:pPr algn="l" indent="0" marL="0">
                        <a:buNone/>
                      </a:pP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Riesgo</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Capital</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800" b="1" dirty="0">
                          <a:solidFill>
                            <a:srgbClr val="FFFFFF"/>
                          </a:solidFill>
                          <a:latin typeface="Verdana" pitchFamily="34" charset="0"/>
                          <a:ea typeface="Verdana" pitchFamily="34" charset="-122"/>
                          <a:cs typeface="Verdana" pitchFamily="34" charset="-120"/>
                        </a:rPr>
                        <a:t>Gastos</a:t>
                      </a:r>
                      <a:endParaRPr lang="en-US" sz="8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Sabadell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+4,6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−5,5</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+3,7</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CaixaBank</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+2,6</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+2,8</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BBVA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+1,3</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+5,4</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+0,2</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46888">
                <a:tc>
                  <a:txBody>
                    <a:bodyPr/>
                    <a:lstStyle/>
                    <a:p>
                      <a:pPr algn="l" indent="0" marL="0">
                        <a:buNone/>
                      </a:pPr>
                      <a:r>
                        <a:rPr lang="en-US" sz="850" b="1" dirty="0">
                          <a:solidFill>
                            <a:srgbClr val="2B2B2B"/>
                          </a:solidFill>
                          <a:latin typeface="Verdana" pitchFamily="34" charset="0"/>
                          <a:ea typeface="Verdana" pitchFamily="34" charset="-122"/>
                          <a:cs typeface="Verdana" pitchFamily="34" charset="-120"/>
                        </a:rPr>
                        <a:t>Santander</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+1,9</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+3,0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+1,0</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15" name="Shape 10"/>
          <p:cNvSpPr/>
          <p:nvPr/>
        </p:nvSpPr>
        <p:spPr>
          <a:xfrm>
            <a:off x="7205472" y="4809744"/>
            <a:ext cx="4361688" cy="1097280"/>
          </a:xfrm>
          <a:prstGeom prst="roundRect">
            <a:avLst>
              <a:gd name="adj" fmla="val 4167"/>
            </a:avLst>
          </a:prstGeom>
          <a:solidFill>
            <a:srgbClr val="FFF4C2"/>
          </a:solidFill>
          <a:ln w="12700">
            <a:solidFill>
              <a:srgbClr val="FFE066"/>
            </a:solidFill>
            <a:prstDash val="solid"/>
          </a:ln>
        </p:spPr>
      </p:sp>
      <p:sp>
        <p:nvSpPr>
          <p:cNvPr id="16" name="Text 11"/>
          <p:cNvSpPr txBox="1"/>
          <p:nvPr/>
        </p:nvSpPr>
        <p:spPr>
          <a:xfrm>
            <a:off x="7351776" y="4882896"/>
            <a:ext cx="4069080" cy="219456"/>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Sabadell y BBVA son el contraste</a:t>
            </a:r>
            <a:endParaRPr lang="en-US" sz="1100" dirty="0"/>
          </a:p>
        </p:txBody>
      </p:sp>
      <p:sp>
        <p:nvSpPr>
          <p:cNvPr id="17" name="Text 12"/>
          <p:cNvSpPr txBox="1"/>
          <p:nvPr/>
        </p:nvSpPr>
        <p:spPr>
          <a:xfrm>
            <a:off x="7351776" y="5120640"/>
            <a:ext cx="4069080" cy="713232"/>
          </a:xfrm>
          <a:prstGeom prst="rect">
            <a:avLst/>
          </a:prstGeom>
          <a:noFill/>
          <a:ln/>
        </p:spPr>
        <p:txBody>
          <a:bodyPr wrap="square" lIns="0" tIns="0" rIns="0" bIns="0" rtlCol="0" anchor="ctr"/>
          <a:lstStyle/>
          <a:p>
            <a:pPr indent="0" marL="0">
              <a:buNone/>
            </a:pPr>
            <a:r>
              <a:rPr lang="en-US" sz="800" dirty="0">
                <a:solidFill>
                  <a:srgbClr val="2B2B2B"/>
                </a:solidFill>
                <a:latin typeface="Verdana" pitchFamily="34" charset="0"/>
                <a:ea typeface="Verdana" pitchFamily="34" charset="-122"/>
                <a:cs typeface="Verdana" pitchFamily="34" charset="-120"/>
              </a:rPr>
              <a:t>Sabadell tiene la peor eficiencia y aun así queda segundo, por la densidad de RWA más baja (37,3 %). Y Santander compensa la peor mora PYME (7,80 %) con la menor cobertura (36,5 %): más impagos, pero menos provisionados, así que su coste del riesgo acaba en la media.</a:t>
            </a:r>
            <a:endParaRPr lang="en-US" sz="800" dirty="0"/>
          </a:p>
        </p:txBody>
      </p:sp>
      <p:sp>
        <p:nvSpPr>
          <p:cNvPr id="18" name="Text 13"/>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650" i="1" dirty="0">
                <a:solidFill>
                  <a:srgbClr val="818181"/>
                </a:solidFill>
                <a:latin typeface="Verdana" pitchFamily="34" charset="0"/>
                <a:ea typeface="Verdana" pitchFamily="34" charset="-122"/>
                <a:cs typeface="Verdana" pitchFamily="34" charset="-120"/>
              </a:rPr>
              <a:t>Cálculo propio. Cartera PYME, densidad de RWA, mora y provisiones: EBA, EU-wide Transparency Exercise, partidas 2520503 a 2520553 con contraparte de Country = 28 (España), junio de 2025, el dato armonizado más reciente. PD del banco = PD PYME de España por su mora relativa; LGD del banco = LGD PYME de España por su cobertura relativa: el nivel lo ancla el parámetro IRB de PYME de España (COREP C 9.02) y la dispersión entre bancos la fijan sus dos magnitudes de PYME observadas. No es la PD/LGD interna de cada banco, que solo está en su Pilar 3. La cobertura incluye provisiones de fases 1 y 2, así que sirve para comparar entre bancos, no como nivel absoluto de LGD. CET1 y eficiencia son de GRUPO consolidado; igualar la eficiencia de Santander y BBVA a la del mejor movería su ROE 1,0 y 0,2 puntos, así que no altera el orden. Tipo impositivo del 30 % (art. 29 LIS) para los cinco.</a:t>
            </a:r>
            <a:endParaRPr lang="en-US" sz="6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31</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Cuenta de resultados del préstamo PYME, banco a banco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En % del saldo medio · Tramo ≤1 M€ · Junio 2025 · El riesgo y el capital salen de la cartera PYME española de cada banco; el precio y las comisiones no existen por banco en ninguna fuente pública</a:t>
            </a:r>
            <a:endParaRPr lang="en-US" sz="10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21792" y="1554480"/>
          <a:ext cx="10945368" cy="914400"/>
        </p:xfrm>
        <a:graphic>
          <a:graphicData uri="http://schemas.openxmlformats.org/drawingml/2006/table">
            <a:tbl>
              <a:tblPr/>
              <a:tblGrid>
                <a:gridCol w="2834640"/>
                <a:gridCol w="1097280"/>
                <a:gridCol w="1431950"/>
                <a:gridCol w="1431950"/>
                <a:gridCol w="1431950"/>
                <a:gridCol w="1431950"/>
                <a:gridCol w="1431950"/>
              </a:tblGrid>
              <a:tr h="297180">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Concepto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Ámbito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Bankinter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Sabadell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CaixaBank</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BBVA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Santander</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Precio (tipo MIR de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Comisiones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0,87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Ingreso total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4,28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 los recursos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0,76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Margen bruto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3,52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Coste del riesgo (PD × LGD)</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0,35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0,67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0,57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 Gastos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1,42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1,21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1,30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56600"/>
                          </a:solidFill>
                          <a:latin typeface="Verdana" pitchFamily="34" charset="0"/>
                          <a:ea typeface="Verdana" pitchFamily="34" charset="-122"/>
                          <a:cs typeface="Verdana" pitchFamily="34" charset="-120"/>
                        </a:rPr>
                        <a:t>= Resultado antes de imp.</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1,99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1,41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1,52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F56600"/>
                          </a:solidFill>
                          <a:latin typeface="Verdana" pitchFamily="34" charset="0"/>
                          <a:ea typeface="Verdana" pitchFamily="34" charset="-122"/>
                          <a:cs typeface="Verdana" pitchFamily="34" charset="-120"/>
                        </a:rPr>
                        <a:t>1,64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Capital asignado (RWA PYME × CET1)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PYME del banco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6,71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4,88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6,02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9,47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2B2B2B"/>
                          </a:solidFill>
                          <a:latin typeface="Verdana" pitchFamily="34" charset="0"/>
                          <a:ea typeface="Verdana" pitchFamily="34" charset="-122"/>
                          <a:cs typeface="Verdana" pitchFamily="34" charset="-120"/>
                        </a:rPr>
                        <a:t>8,14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Tipo impositivo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750" b="1" dirty="0">
                          <a:solidFill>
                            <a:srgbClr val="818181"/>
                          </a:solidFill>
                          <a:latin typeface="Verdana" pitchFamily="34" charset="0"/>
                          <a:ea typeface="Verdana" pitchFamily="34" charset="-122"/>
                          <a:cs typeface="Verdana" pitchFamily="34" charset="-120"/>
                        </a:rPr>
                        <a:t>Común</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dirty="0">
                          <a:solidFill>
                            <a:srgbClr val="818181"/>
                          </a:solidFill>
                          <a:latin typeface="Verdana" pitchFamily="34" charset="0"/>
                          <a:ea typeface="Verdana" pitchFamily="34" charset="-122"/>
                          <a:cs typeface="Verdana" pitchFamily="34" charset="-120"/>
                        </a:rPr>
                        <a:t>30,0 %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297180">
                <a:tc>
                  <a:txBody>
                    <a:bodyPr/>
                    <a:lstStyle/>
                    <a:p>
                      <a:pPr algn="l" indent="0" marL="0">
                        <a:buNone/>
                      </a:pPr>
                      <a:r>
                        <a:rPr lang="en-US" sz="1050" b="1" dirty="0">
                          <a:solidFill>
                            <a:srgbClr val="FFFFFF"/>
                          </a:solidFill>
                          <a:latin typeface="Verdana" pitchFamily="34" charset="0"/>
                          <a:ea typeface="Verdana" pitchFamily="34" charset="-122"/>
                          <a:cs typeface="Verdana" pitchFamily="34" charset="-120"/>
                        </a:rPr>
                        <a:t>ROE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20,2 %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17,7 %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13,2 %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50" b="1" dirty="0">
                          <a:solidFill>
                            <a:srgbClr val="FFFFFF"/>
                          </a:solidFill>
                          <a:latin typeface="Verdana" pitchFamily="34" charset="0"/>
                          <a:ea typeface="Verdana" pitchFamily="34" charset="-122"/>
                          <a:cs typeface="Verdana" pitchFamily="34" charset="-120"/>
                        </a:rPr>
                        <a:t>14,2 %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297180">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necesario para un ROE del 15 %</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750" b="1" dirty="0">
                          <a:solidFill>
                            <a:srgbClr val="2B2B2B"/>
                          </a:solidFill>
                          <a:latin typeface="Verdana" pitchFamily="34" charset="0"/>
                          <a:ea typeface="Verdana" pitchFamily="34" charset="-122"/>
                          <a:cs typeface="Verdana" pitchFamily="34" charset="-120"/>
                        </a:rPr>
                        <a:t>Resultado</a:t>
                      </a:r>
                      <a:endParaRPr lang="en-US" sz="7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2,58</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3,57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r>
            </a:tbl>
          </a:graphicData>
        </a:graphic>
      </p:graphicFrame>
      <p:sp>
        <p:nvSpPr>
          <p:cNvPr id="7" name="Shape 4"/>
          <p:cNvSpPr/>
          <p:nvPr/>
        </p:nvSpPr>
        <p:spPr>
          <a:xfrm>
            <a:off x="621792" y="5760720"/>
            <a:ext cx="1371600" cy="256032"/>
          </a:xfrm>
          <a:prstGeom prst="roundRect">
            <a:avLst>
              <a:gd name="adj" fmla="val 42857"/>
            </a:avLst>
          </a:prstGeom>
          <a:solidFill>
            <a:srgbClr val="E5E5E5"/>
          </a:solidFill>
          <a:ln w="12700">
            <a:solidFill>
              <a:srgbClr val="E5E5E5"/>
            </a:solidFill>
            <a:prstDash val="solid"/>
          </a:ln>
        </p:spPr>
      </p:sp>
      <p:sp>
        <p:nvSpPr>
          <p:cNvPr id="8" name="Text 5"/>
          <p:cNvSpPr txBox="1"/>
          <p:nvPr/>
        </p:nvSpPr>
        <p:spPr>
          <a:xfrm>
            <a:off x="621792"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Común a los cinco</a:t>
            </a:r>
            <a:endParaRPr lang="en-US" sz="850" dirty="0"/>
          </a:p>
        </p:txBody>
      </p:sp>
      <p:sp>
        <p:nvSpPr>
          <p:cNvPr id="9" name="Shape 6"/>
          <p:cNvSpPr/>
          <p:nvPr/>
        </p:nvSpPr>
        <p:spPr>
          <a:xfrm>
            <a:off x="2103120" y="5760720"/>
            <a:ext cx="1371600" cy="256032"/>
          </a:xfrm>
          <a:prstGeom prst="roundRect">
            <a:avLst>
              <a:gd name="adj" fmla="val 42857"/>
            </a:avLst>
          </a:prstGeom>
          <a:solidFill>
            <a:srgbClr val="C7E3F9"/>
          </a:solidFill>
          <a:ln w="12700">
            <a:solidFill>
              <a:srgbClr val="C7E3F9"/>
            </a:solidFill>
            <a:prstDash val="solid"/>
          </a:ln>
        </p:spPr>
      </p:sp>
      <p:sp>
        <p:nvSpPr>
          <p:cNvPr id="10" name="Text 7"/>
          <p:cNvSpPr txBox="1"/>
          <p:nvPr/>
        </p:nvSpPr>
        <p:spPr>
          <a:xfrm>
            <a:off x="2103120"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PYME del banco</a:t>
            </a:r>
            <a:endParaRPr lang="en-US" sz="850" dirty="0"/>
          </a:p>
        </p:txBody>
      </p:sp>
      <p:sp>
        <p:nvSpPr>
          <p:cNvPr id="11" name="Shape 8"/>
          <p:cNvSpPr/>
          <p:nvPr/>
        </p:nvSpPr>
        <p:spPr>
          <a:xfrm>
            <a:off x="3584448" y="5760720"/>
            <a:ext cx="1371600" cy="256032"/>
          </a:xfrm>
          <a:prstGeom prst="roundRect">
            <a:avLst>
              <a:gd name="adj" fmla="val 42857"/>
            </a:avLst>
          </a:prstGeom>
          <a:solidFill>
            <a:srgbClr val="FFD6BA"/>
          </a:solidFill>
          <a:ln w="12700">
            <a:solidFill>
              <a:srgbClr val="FFD6BA"/>
            </a:solidFill>
            <a:prstDash val="solid"/>
          </a:ln>
        </p:spPr>
      </p:sp>
      <p:sp>
        <p:nvSpPr>
          <p:cNvPr id="12" name="Text 9"/>
          <p:cNvSpPr txBox="1"/>
          <p:nvPr/>
        </p:nvSpPr>
        <p:spPr>
          <a:xfrm>
            <a:off x="3584448" y="576072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Supuesto</a:t>
            </a:r>
            <a:endParaRPr lang="en-US" sz="850" dirty="0"/>
          </a:p>
        </p:txBody>
      </p:sp>
      <p:sp>
        <p:nvSpPr>
          <p:cNvPr id="13" name="Text 10"/>
          <p:cNvSpPr txBox="1"/>
          <p:nvPr/>
        </p:nvSpPr>
        <p:spPr>
          <a:xfrm>
            <a:off x="5285232" y="5477256"/>
            <a:ext cx="6492240" cy="512064"/>
          </a:xfrm>
          <a:prstGeom prst="rect">
            <a:avLst/>
          </a:prstGeom>
          <a:noFill/>
          <a:ln/>
        </p:spPr>
        <p:txBody>
          <a:bodyPr wrap="square" lIns="0" tIns="0" rIns="0" bIns="0" rtlCol="0" anchor="ctr"/>
          <a:lstStyle/>
          <a:p>
            <a:pPr indent="0" marL="0">
              <a:buNone/>
            </a:pPr>
            <a:r>
              <a:rPr lang="en-US" sz="800" dirty="0">
                <a:solidFill>
                  <a:srgbClr val="818181"/>
                </a:solidFill>
                <a:latin typeface="Verdana" pitchFamily="34" charset="0"/>
                <a:ea typeface="Verdana" pitchFamily="34" charset="-122"/>
                <a:cs typeface="Verdana" pitchFamily="34" charset="-120"/>
              </a:rPr>
              <a:t>La última fila da la vuelta a la pregunta: con su propio riesgo, capital, gastos y fondeo, qué precio necesitaría cada banco para un ROE del 15 %. Ese número no depende del precio de PYME, que no es obtenible, y mide la capacidad competitiva de cada uno: Bankinter puede vender 119 pb más barato que BBVA y ganar lo mismo.</a:t>
            </a:r>
            <a:endParaRPr lang="en-US" sz="80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Precio, comisiones y coste de los recursos: los de España del modelo de países, comunes a los cinco. Coste del riesgo: PD × LGD, con la PD escalada por la mora PYME española del banco y la LGD por su cobertura PYME, las dos observadas. Gastos: eficiencia del banco sobre el margen. Capital: densidad de RWA de su cartera PYME española por su ratio CET1, ambos del EU-wide Transparency Exercise del EBA con contraparte de Country = 28, junio de 2025. Eficiencia y CET1 son de grupo consolidado. Impuesto del 30 % (art. 29 LIS) para los cinco.</a:t>
            </a:r>
            <a:endParaRPr lang="en-US" sz="7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03</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Conclusiones y</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recomendaciones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Lo que sostienen los datos y lo que se deriva de ellos</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33</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Conclusiones: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sostienen los datos de los siete países</a:t>
            </a:r>
            <a:endParaRPr lang="en-US" sz="1050" dirty="0"/>
          </a:p>
        </p:txBody>
      </p:sp>
      <p:sp>
        <p:nvSpPr>
          <p:cNvPr id="6" name="Shape 4"/>
          <p:cNvSpPr/>
          <p:nvPr/>
        </p:nvSpPr>
        <p:spPr>
          <a:xfrm>
            <a:off x="621792" y="1554480"/>
            <a:ext cx="329184" cy="329184"/>
          </a:xfrm>
          <a:prstGeom prst="ellipse">
            <a:avLst/>
          </a:prstGeom>
          <a:solidFill>
            <a:srgbClr val="F56600"/>
          </a:solidFill>
          <a:ln w="12700">
            <a:solidFill>
              <a:srgbClr val="F56600"/>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capital manda sobre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La densidad de RWA va del 35 % en Alemania al 70 % en Irlanda. Esa horquilla separa más el ROE que el precio, que solo va del 3,41 % al 5,37 %. Irlanda lo demuestra: tiene el precio más alto de las siete y la mejor PD, y aun así queda cuarta entre los bancos locales.</a:t>
            </a:r>
            <a:endParaRPr lang="en-US" sz="900" dirty="0"/>
          </a:p>
        </p:txBody>
      </p:sp>
      <p:sp>
        <p:nvSpPr>
          <p:cNvPr id="10" name="Shape 8"/>
          <p:cNvSpPr/>
          <p:nvPr/>
        </p:nvSpPr>
        <p:spPr>
          <a:xfrm>
            <a:off x="621792" y="2327148"/>
            <a:ext cx="329184" cy="329184"/>
          </a:xfrm>
          <a:prstGeom prst="ellipse">
            <a:avLst/>
          </a:prstGeom>
          <a:solidFill>
            <a:srgbClr val="F56600"/>
          </a:solidFill>
          <a:ln w="12700">
            <a:solidFill>
              <a:srgbClr val="F56600"/>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atractivo para un entrante no coincide con la rentabilidad del local</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Francia es el peor mercado para su banca (5,4 %) y el cuarto mejor para un entrante eficiente (21,8 %). Y es además el más grande (44,8 % de la cartera PYME de los siete) y el único donde la brecha de financiación declarada por las empresas se está abriendo. Lo que se compra al entrar no es el margen del mercado, es la distancia respecto al incumbente.</a:t>
            </a:r>
            <a:endParaRPr lang="en-US" sz="900" dirty="0"/>
          </a:p>
        </p:txBody>
      </p:sp>
      <p:sp>
        <p:nvSpPr>
          <p:cNvPr id="14" name="Shape 12"/>
          <p:cNvSpPr/>
          <p:nvPr/>
        </p:nvSpPr>
        <p:spPr>
          <a:xfrm>
            <a:off x="621792" y="3099816"/>
            <a:ext cx="329184" cy="329184"/>
          </a:xfrm>
          <a:prstGeom prst="ellipse">
            <a:avLst/>
          </a:prstGeom>
          <a:solidFill>
            <a:srgbClr val="F56600"/>
          </a:solidFill>
          <a:ln w="12700">
            <a:solidFill>
              <a:srgbClr val="F56600"/>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Países Bajos y Alemania son los objetivos naturales</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37,0 % y 35,0 % de ROE para el entrante. Combinan el menor coste del riesgo (0,35 % y 0,40 %) con la menor densidad de RWA (37 % y 35 %) e incumbentes con eficiencia mediocre (53,5 % y 55,2 %).</a:t>
            </a:r>
            <a:endParaRPr lang="en-US" sz="900" dirty="0"/>
          </a:p>
        </p:txBody>
      </p:sp>
      <p:sp>
        <p:nvSpPr>
          <p:cNvPr id="18" name="Shape 16"/>
          <p:cNvSpPr/>
          <p:nvPr/>
        </p:nvSpPr>
        <p:spPr>
          <a:xfrm>
            <a:off x="621792" y="3872484"/>
            <a:ext cx="329184" cy="329184"/>
          </a:xfrm>
          <a:prstGeom prst="ellipse">
            <a:avLst/>
          </a:prstGeom>
          <a:solidFill>
            <a:srgbClr val="F56600"/>
          </a:solidFill>
          <a:ln w="12700">
            <a:solidFill>
              <a:srgbClr val="F56600"/>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coste del riesgo se controla seleccionando, no recuperando</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Igualar la PD a la mejor de las siete elimina el 75 % de la dispersión del coste del riesgo; igualar la LGD solo el 22 %. Y el eje que mejor predice la PD no es la información (ρ = −0,23) sino el entorno de recobro (ρ = −0,79): donde ejecutar es lento y caro, el impago se enquista.</a:t>
            </a:r>
            <a:endParaRPr lang="en-US" sz="900" dirty="0"/>
          </a:p>
        </p:txBody>
      </p:sp>
      <p:sp>
        <p:nvSpPr>
          <p:cNvPr id="22" name="Shape 20"/>
          <p:cNvSpPr/>
          <p:nvPr/>
        </p:nvSpPr>
        <p:spPr>
          <a:xfrm>
            <a:off x="621792" y="4645152"/>
            <a:ext cx="329184" cy="329184"/>
          </a:xfrm>
          <a:prstGeom prst="ellipse">
            <a:avLst/>
          </a:prstGeom>
          <a:solidFill>
            <a:srgbClr val="F56600"/>
          </a:solidFill>
          <a:ln w="12700">
            <a:solidFill>
              <a:srgbClr val="F56600"/>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Prestar peor no viene pagado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Entre mercados el margen neto de riesgo cae con la PD (ρ = −0,76): los países que prestan peor son los que menos cobran. Dentro de cada mercado sí se paga, vía tramo de importe, y ahí España es la única de las siete sin gradiente.</a:t>
            </a:r>
            <a:endParaRPr lang="en-US" sz="900" dirty="0"/>
          </a:p>
        </p:txBody>
      </p:sp>
      <p:sp>
        <p:nvSpPr>
          <p:cNvPr id="26" name="Shape 24"/>
          <p:cNvSpPr/>
          <p:nvPr/>
        </p:nvSpPr>
        <p:spPr>
          <a:xfrm>
            <a:off x="621792" y="5417820"/>
            <a:ext cx="329184" cy="329184"/>
          </a:xfrm>
          <a:prstGeom prst="ellipse">
            <a:avLst/>
          </a:prstGeom>
          <a:solidFill>
            <a:srgbClr val="F56600"/>
          </a:solidFill>
          <a:ln w="12700">
            <a:solidFill>
              <a:srgbClr val="F56600"/>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comisión es el único supuesto material que queda</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Solo España publica un tipo con comisiones para empresas, y allí vale 87 pb sobre el tramo ≤1 M€. Aplicarla a los demás es una hipótesis. Mueve el ROE entre 3 y 8 puntos.</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conclusiones 1 a 5 se apoyan en datos observados por país; la 6 señala el supuesto que las condiciona. Las correlaciones son sobre siete países: indicativas, no causales. El escenario de entrante no incorpora coste de entrada, escala mínima ni curva de aprendizaje de riesgo.</a:t>
            </a:r>
            <a:endParaRPr lang="en-US" sz="7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Observaciones: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Lo que se observa en el bloque español y no se ve en el agregado europeo · Hechos medidos; lo que se deriva de ellos va en la lámina de recomendaciones</a:t>
            </a:r>
            <a:endParaRPr lang="en-US" sz="1050" dirty="0"/>
          </a:p>
        </p:txBody>
      </p:sp>
      <p:sp>
        <p:nvSpPr>
          <p:cNvPr id="6" name="Shape 4"/>
          <p:cNvSpPr/>
          <p:nvPr/>
        </p:nvSpPr>
        <p:spPr>
          <a:xfrm>
            <a:off x="621792" y="1554480"/>
            <a:ext cx="329184" cy="329184"/>
          </a:xfrm>
          <a:prstGeom prst="ellipse">
            <a:avLst/>
          </a:prstGeom>
          <a:solidFill>
            <a:srgbClr val="77BFEE"/>
          </a:solidFill>
          <a:ln w="12700">
            <a:solidFill>
              <a:srgbClr val="77BFEE"/>
            </a:solidFill>
            <a:prstDash val="solid"/>
          </a:ln>
        </p:spPr>
      </p:sp>
      <p:sp>
        <p:nvSpPr>
          <p:cNvPr id="7" name="Text 5"/>
          <p:cNvSpPr txBox="1"/>
          <p:nvPr/>
        </p:nvSpPr>
        <p:spPr>
          <a:xfrm>
            <a:off x="621792" y="155448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1</a:t>
            </a:r>
            <a:endParaRPr lang="en-US" sz="1300" dirty="0"/>
          </a:p>
        </p:txBody>
      </p:sp>
      <p:sp>
        <p:nvSpPr>
          <p:cNvPr id="8" name="Text 6"/>
          <p:cNvSpPr txBox="1"/>
          <p:nvPr/>
        </p:nvSpPr>
        <p:spPr>
          <a:xfrm>
            <a:off x="1124712" y="151790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crédito se concede; lo que las pymes señalan es el precio</a:t>
            </a:r>
            <a:endParaRPr lang="en-US" sz="1250" dirty="0"/>
          </a:p>
        </p:txBody>
      </p:sp>
      <p:sp>
        <p:nvSpPr>
          <p:cNvPr id="9" name="Text 7"/>
          <p:cNvSpPr txBox="1"/>
          <p:nvPr/>
        </p:nvSpPr>
        <p:spPr>
          <a:xfrm>
            <a:off x="1124712" y="179222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92,8 % de las pymes que pide financiación la obtiene y la acepta, y solo al 3,2 % no se le concede. Preguntadas por obstáculos, el 49,2 % no señala ninguno y el 21,6 % señala el precio, que es el más citado. Ese 21,6 % es el porcentaje de empresas que lo menciona sobre el total encuestado, NO un tipo de interés.</a:t>
            </a:r>
            <a:endParaRPr lang="en-US" sz="900" dirty="0"/>
          </a:p>
        </p:txBody>
      </p:sp>
      <p:sp>
        <p:nvSpPr>
          <p:cNvPr id="10" name="Shape 8"/>
          <p:cNvSpPr/>
          <p:nvPr/>
        </p:nvSpPr>
        <p:spPr>
          <a:xfrm>
            <a:off x="621792" y="2327148"/>
            <a:ext cx="329184" cy="329184"/>
          </a:xfrm>
          <a:prstGeom prst="ellipse">
            <a:avLst/>
          </a:prstGeom>
          <a:solidFill>
            <a:srgbClr val="77BFEE"/>
          </a:solidFill>
          <a:ln w="12700">
            <a:solidFill>
              <a:srgbClr val="77BFEE"/>
            </a:solidFill>
            <a:prstDash val="solid"/>
          </a:ln>
        </p:spPr>
      </p:sp>
      <p:sp>
        <p:nvSpPr>
          <p:cNvPr id="11" name="Text 9"/>
          <p:cNvSpPr txBox="1"/>
          <p:nvPr/>
        </p:nvSpPr>
        <p:spPr>
          <a:xfrm>
            <a:off x="621792" y="2327148"/>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2</a:t>
            </a:r>
            <a:endParaRPr lang="en-US" sz="1300" dirty="0"/>
          </a:p>
        </p:txBody>
      </p:sp>
      <p:sp>
        <p:nvSpPr>
          <p:cNvPr id="12" name="Text 10"/>
          <p:cNvSpPr txBox="1"/>
          <p:nvPr/>
        </p:nvSpPr>
        <p:spPr>
          <a:xfrm>
            <a:off x="1124712" y="2290572"/>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La pyme pequeña tiene 2,1 puntos entre lo que gana y lo que paga</a:t>
            </a:r>
            <a:endParaRPr lang="en-US" sz="1250" dirty="0"/>
          </a:p>
        </p:txBody>
      </p:sp>
      <p:sp>
        <p:nvSpPr>
          <p:cNvPr id="13" name="Text 11"/>
          <p:cNvSpPr txBox="1"/>
          <p:nvPr/>
        </p:nvSpPr>
        <p:spPr>
          <a:xfrm>
            <a:off x="1124712" y="2564892"/>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Gana un 5,4 % con su activo y paga un 3,3 % por su deuda: 2,1 puntos de diferencia. La mediana tiene 6,1 puntos, casi el triple, con un ROA del 10,4 %. En la serie de la Central de Balances esa diferencia lleva en 2,1 puntos desde 2023.</a:t>
            </a:r>
            <a:endParaRPr lang="en-US" sz="900" dirty="0"/>
          </a:p>
        </p:txBody>
      </p:sp>
      <p:sp>
        <p:nvSpPr>
          <p:cNvPr id="14" name="Shape 12"/>
          <p:cNvSpPr/>
          <p:nvPr/>
        </p:nvSpPr>
        <p:spPr>
          <a:xfrm>
            <a:off x="621792" y="3099816"/>
            <a:ext cx="329184" cy="329184"/>
          </a:xfrm>
          <a:prstGeom prst="ellipse">
            <a:avLst/>
          </a:prstGeom>
          <a:solidFill>
            <a:srgbClr val="77BFEE"/>
          </a:solidFill>
          <a:ln w="12700">
            <a:solidFill>
              <a:srgbClr val="77BFEE"/>
            </a:solidFill>
            <a:prstDash val="solid"/>
          </a:ln>
        </p:spPr>
      </p:sp>
      <p:sp>
        <p:nvSpPr>
          <p:cNvPr id="15" name="Text 13"/>
          <p:cNvSpPr txBox="1"/>
          <p:nvPr/>
        </p:nvSpPr>
        <p:spPr>
          <a:xfrm>
            <a:off x="621792" y="3099816"/>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3</a:t>
            </a:r>
            <a:endParaRPr lang="en-US" sz="1300" dirty="0"/>
          </a:p>
        </p:txBody>
      </p:sp>
      <p:sp>
        <p:nvSpPr>
          <p:cNvPr id="16" name="Text 14"/>
          <p:cNvSpPr txBox="1"/>
          <p:nvPr/>
        </p:nvSpPr>
        <p:spPr>
          <a:xfrm>
            <a:off x="1124712" y="3063240"/>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destino declarado es el circulante, el producto con menos estadística</a:t>
            </a:r>
            <a:endParaRPr lang="en-US" sz="1250" dirty="0"/>
          </a:p>
        </p:txBody>
      </p:sp>
      <p:sp>
        <p:nvSpPr>
          <p:cNvPr id="17" name="Text 15"/>
          <p:cNvSpPr txBox="1"/>
          <p:nvPr/>
        </p:nvSpPr>
        <p:spPr>
          <a:xfrm>
            <a:off x="1124712" y="3337560"/>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El 73,0 % de las pymes con necesidades lo quiere para circulante, frente al 64,6 % de 2024. De ese producto no existe comisión de disponibilidad ni tasa de disposición en ninguna estadística, y el tipo del BCE ni siquiera tiene tramo de importe.</a:t>
            </a:r>
            <a:endParaRPr lang="en-US" sz="900" dirty="0"/>
          </a:p>
        </p:txBody>
      </p:sp>
      <p:sp>
        <p:nvSpPr>
          <p:cNvPr id="18" name="Shape 16"/>
          <p:cNvSpPr/>
          <p:nvPr/>
        </p:nvSpPr>
        <p:spPr>
          <a:xfrm>
            <a:off x="621792" y="3872484"/>
            <a:ext cx="329184" cy="329184"/>
          </a:xfrm>
          <a:prstGeom prst="ellipse">
            <a:avLst/>
          </a:prstGeom>
          <a:solidFill>
            <a:srgbClr val="77BFEE"/>
          </a:solidFill>
          <a:ln w="12700">
            <a:solidFill>
              <a:srgbClr val="77BFEE"/>
            </a:solidFill>
            <a:prstDash val="solid"/>
          </a:ln>
        </p:spPr>
      </p:sp>
      <p:sp>
        <p:nvSpPr>
          <p:cNvPr id="19" name="Text 17"/>
          <p:cNvSpPr txBox="1"/>
          <p:nvPr/>
        </p:nvSpPr>
        <p:spPr>
          <a:xfrm>
            <a:off x="621792" y="3872484"/>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4</a:t>
            </a:r>
            <a:endParaRPr lang="en-US" sz="1300" dirty="0"/>
          </a:p>
        </p:txBody>
      </p:sp>
      <p:sp>
        <p:nvSpPr>
          <p:cNvPr id="20" name="Text 18"/>
          <p:cNvSpPr txBox="1"/>
          <p:nvPr/>
        </p:nvSpPr>
        <p:spPr>
          <a:xfrm>
            <a:off x="1124712" y="3835908"/>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los cinco bancos españoles el orden lo marca el capital, no la eficiencia</a:t>
            </a:r>
            <a:endParaRPr lang="en-US" sz="1250" dirty="0"/>
          </a:p>
        </p:txBody>
      </p:sp>
      <p:sp>
        <p:nvSpPr>
          <p:cNvPr id="21" name="Text 19"/>
          <p:cNvSpPr txBox="1"/>
          <p:nvPr/>
        </p:nvSpPr>
        <p:spPr>
          <a:xfrm>
            <a:off x="1124712" y="4110228"/>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Sabadell tiene la peor eficiencia de los cinco (41,0 %) y queda segundo en ROE, con una densidad de RWA del 37,3 %. BBVA tiene la segunda mejor eficiencia (34,3 %) y queda cuarto, con una densidad del 71,0 %. Es el mismo patrón del agregado europeo, y aquí los cinco operan en el mismo mercado.</a:t>
            </a:r>
            <a:endParaRPr lang="en-US" sz="900" dirty="0"/>
          </a:p>
        </p:txBody>
      </p:sp>
      <p:sp>
        <p:nvSpPr>
          <p:cNvPr id="22" name="Shape 20"/>
          <p:cNvSpPr/>
          <p:nvPr/>
        </p:nvSpPr>
        <p:spPr>
          <a:xfrm>
            <a:off x="621792" y="4645152"/>
            <a:ext cx="329184" cy="329184"/>
          </a:xfrm>
          <a:prstGeom prst="ellipse">
            <a:avLst/>
          </a:prstGeom>
          <a:solidFill>
            <a:srgbClr val="77BFEE"/>
          </a:solidFill>
          <a:ln w="12700">
            <a:solidFill>
              <a:srgbClr val="77BFEE"/>
            </a:solidFill>
            <a:prstDash val="solid"/>
          </a:ln>
        </p:spPr>
      </p:sp>
      <p:sp>
        <p:nvSpPr>
          <p:cNvPr id="23" name="Text 21"/>
          <p:cNvSpPr txBox="1"/>
          <p:nvPr/>
        </p:nvSpPr>
        <p:spPr>
          <a:xfrm>
            <a:off x="621792" y="4645152"/>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5</a:t>
            </a:r>
            <a:endParaRPr lang="en-US" sz="1300" dirty="0"/>
          </a:p>
        </p:txBody>
      </p:sp>
      <p:sp>
        <p:nvSpPr>
          <p:cNvPr id="24" name="Text 22"/>
          <p:cNvSpPr txBox="1"/>
          <p:nvPr/>
        </p:nvSpPr>
        <p:spPr>
          <a:xfrm>
            <a:off x="1124712" y="4608576"/>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Entre el primero y el último hay 119 pb de precio de equilibrio</a:t>
            </a:r>
            <a:endParaRPr lang="en-US" sz="1250" dirty="0"/>
          </a:p>
        </p:txBody>
      </p:sp>
      <p:sp>
        <p:nvSpPr>
          <p:cNvPr id="25" name="Text 23"/>
          <p:cNvSpPr txBox="1"/>
          <p:nvPr/>
        </p:nvSpPr>
        <p:spPr>
          <a:xfrm>
            <a:off x="1124712" y="4882896"/>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Con su propio riesgo, capital y gastos, Bankinter necesita un 2,58 % para un ROE del 15 % y BBVA un 3,77 %: 119 pb de diferencia. El precio y las comisiones del modelo son comunes a los cinco, así que la distancia es de estructura, no de política comercial.</a:t>
            </a:r>
            <a:endParaRPr lang="en-US" sz="900" dirty="0"/>
          </a:p>
        </p:txBody>
      </p:sp>
      <p:sp>
        <p:nvSpPr>
          <p:cNvPr id="26" name="Shape 24"/>
          <p:cNvSpPr/>
          <p:nvPr/>
        </p:nvSpPr>
        <p:spPr>
          <a:xfrm>
            <a:off x="621792" y="5417820"/>
            <a:ext cx="329184" cy="329184"/>
          </a:xfrm>
          <a:prstGeom prst="ellipse">
            <a:avLst/>
          </a:prstGeom>
          <a:solidFill>
            <a:srgbClr val="77BFEE"/>
          </a:solidFill>
          <a:ln w="12700">
            <a:solidFill>
              <a:srgbClr val="77BFEE"/>
            </a:solidFill>
            <a:prstDash val="solid"/>
          </a:ln>
        </p:spPr>
      </p:sp>
      <p:sp>
        <p:nvSpPr>
          <p:cNvPr id="27" name="Text 25"/>
          <p:cNvSpPr txBox="1"/>
          <p:nvPr/>
        </p:nvSpPr>
        <p:spPr>
          <a:xfrm>
            <a:off x="621792" y="5417820"/>
            <a:ext cx="329184" cy="329184"/>
          </a:xfrm>
          <a:prstGeom prst="rect">
            <a:avLst/>
          </a:prstGeom>
          <a:noFill/>
          <a:ln/>
        </p:spPr>
        <p:txBody>
          <a:bodyPr wrap="square" lIns="0" tIns="0" rIns="0" bIns="0" rtlCol="0" anchor="ctr"/>
          <a:lstStyle/>
          <a:p>
            <a:pPr algn="ctr" indent="0" marL="0">
              <a:buNone/>
            </a:pPr>
            <a:r>
              <a:rPr lang="en-US" sz="1300" b="1" dirty="0">
                <a:solidFill>
                  <a:srgbClr val="2B2B2B"/>
                </a:solidFill>
                <a:latin typeface="Verdana" pitchFamily="34" charset="0"/>
                <a:ea typeface="Verdana" pitchFamily="34" charset="-122"/>
                <a:cs typeface="Verdana" pitchFamily="34" charset="-120"/>
              </a:rPr>
              <a:t>6</a:t>
            </a:r>
            <a:endParaRPr lang="en-US" sz="1300" dirty="0"/>
          </a:p>
        </p:txBody>
      </p:sp>
      <p:sp>
        <p:nvSpPr>
          <p:cNvPr id="28" name="Text 26"/>
          <p:cNvSpPr txBox="1"/>
          <p:nvPr/>
        </p:nvSpPr>
        <p:spPr>
          <a:xfrm>
            <a:off x="1124712" y="5381244"/>
            <a:ext cx="10607040" cy="274320"/>
          </a:xfrm>
          <a:prstGeom prst="rect">
            <a:avLst/>
          </a:prstGeom>
          <a:noFill/>
          <a:ln/>
        </p:spPr>
        <p:txBody>
          <a:bodyPr wrap="square" lIns="0" tIns="0" rIns="0" bIns="0" rtlCol="0" anchor="ctr"/>
          <a:lstStyle/>
          <a:p>
            <a:pPr indent="0" marL="0">
              <a:buNone/>
            </a:pPr>
            <a:r>
              <a:rPr lang="en-US" sz="1250" b="1" dirty="0">
                <a:solidFill>
                  <a:srgbClr val="2B2B2B"/>
                </a:solidFill>
                <a:latin typeface="Verdana" pitchFamily="34" charset="0"/>
                <a:ea typeface="Verdana" pitchFamily="34" charset="-122"/>
                <a:cs typeface="Verdana" pitchFamily="34" charset="-120"/>
              </a:rPr>
              <a:t>El autónomo paga 115 pb más y está fuera de las series de empresas</a:t>
            </a:r>
            <a:endParaRPr lang="en-US" sz="1250" dirty="0"/>
          </a:p>
        </p:txBody>
      </p:sp>
      <p:sp>
        <p:nvSpPr>
          <p:cNvPr id="29" name="Text 27"/>
          <p:cNvSpPr txBox="1"/>
          <p:nvPr/>
        </p:nvSpPr>
        <p:spPr>
          <a:xfrm>
            <a:off x="1124712" y="5655564"/>
            <a:ext cx="10607040" cy="45720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Paga un 4,57 %, 115 pb más que la sociedad del tramo ≤0,25 M€. El SEC 2010 lo clasifica en hogares, así que no aparece en ninguna serie de sociedades no financieras. Son 840 M€ al mes de nueva producción.</a:t>
            </a:r>
            <a:endParaRPr lang="en-US" sz="90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observaciones 1 y 3 salen de la encuesta CESGAR: son PORCENTAJES DE EMPRESAS sobre el total encuestado, no niveles de tipo de interés ni saldos netos de respuesta. En la pregunta de obstáculos las categorías se miden sobre esa misma base, la de «ninguno» incluida; sobre las pymes que sí señalan alguno, el precio sería el 42,5 %. La 2 sale de la Central de Balances Integrada del Banco de España, ejercicio 2024, ratios por tamaño según la Recomendación 2003/361/CE. Las 4 y 5 salen del modelo por banco, cuyo precio y comisiones son comunes a los cinco porque ninguno los publica por segmento: comparan estructura de riesgo, capital y coste, no habilidad comercial.</a:t>
            </a:r>
            <a:endParaRPr lang="en-US" sz="7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entrada en el mercado europeo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falta para convertir el bloque europeo en una decisión</a:t>
            </a:r>
            <a:endParaRPr lang="en-US" sz="1050" dirty="0"/>
          </a:p>
        </p:txBody>
      </p:sp>
      <p:sp>
        <p:nvSpPr>
          <p:cNvPr id="6" name="Shape 4"/>
          <p:cNvSpPr/>
          <p:nvPr/>
        </p:nvSpPr>
        <p:spPr>
          <a:xfrm>
            <a:off x="621792" y="1517904"/>
            <a:ext cx="2057400" cy="457200"/>
          </a:xfrm>
          <a:prstGeom prst="roundRect">
            <a:avLst>
              <a:gd name="adj" fmla="val 10000"/>
            </a:avLst>
          </a:prstGeom>
          <a:solidFill>
            <a:srgbClr val="FFD6BA"/>
          </a:solidFill>
          <a:ln w="12700">
            <a:solidFill>
              <a:srgbClr val="FFAB70"/>
            </a:solidFill>
            <a:prstDash val="solid"/>
          </a:ln>
        </p:spPr>
      </p:sp>
      <p:sp>
        <p:nvSpPr>
          <p:cNvPr id="7" name="Text 5"/>
          <p:cNvSpPr txBox="1"/>
          <p:nvPr/>
        </p:nvSpPr>
        <p:spPr>
          <a:xfrm>
            <a:off x="621792" y="151790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Priorizar</a:t>
            </a:r>
            <a:endParaRPr lang="en-US" sz="950" dirty="0"/>
          </a:p>
        </p:txBody>
      </p:sp>
      <p:sp>
        <p:nvSpPr>
          <p:cNvPr id="8" name="Text 6"/>
          <p:cNvSpPr txBox="1"/>
          <p:nvPr/>
        </p:nvSpPr>
        <p:spPr>
          <a:xfrm>
            <a:off x="2862072" y="153619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Países Bajos y Alemania</a:t>
            </a:r>
            <a:endParaRPr lang="en-US" sz="1000" dirty="0"/>
          </a:p>
        </p:txBody>
      </p:sp>
      <p:sp>
        <p:nvSpPr>
          <p:cNvPr id="9" name="Text 7"/>
          <p:cNvSpPr txBox="1"/>
          <p:nvPr/>
        </p:nvSpPr>
        <p:spPr>
          <a:xfrm>
            <a:off x="6016752" y="153619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37,0 % y 35,0 % de ROE simulado. Incumbentes ineficientes, riesgo bajo y capital barato. Son los dos mercados donde el modelo eficiente rinde más.</a:t>
            </a:r>
            <a:endParaRPr lang="en-US" sz="850" dirty="0"/>
          </a:p>
        </p:txBody>
      </p:sp>
      <p:sp>
        <p:nvSpPr>
          <p:cNvPr id="10" name="Shape 8"/>
          <p:cNvSpPr/>
          <p:nvPr/>
        </p:nvSpPr>
        <p:spPr>
          <a:xfrm>
            <a:off x="621792" y="2025396"/>
            <a:ext cx="2057400" cy="457200"/>
          </a:xfrm>
          <a:prstGeom prst="roundRect">
            <a:avLst>
              <a:gd name="adj" fmla="val 10000"/>
            </a:avLst>
          </a:prstGeom>
          <a:solidFill>
            <a:srgbClr val="FFD6BA"/>
          </a:solidFill>
          <a:ln w="12700">
            <a:solidFill>
              <a:srgbClr val="FFAB70"/>
            </a:solidFill>
            <a:prstDash val="solid"/>
          </a:ln>
        </p:spPr>
      </p:sp>
      <p:sp>
        <p:nvSpPr>
          <p:cNvPr id="11" name="Text 9"/>
          <p:cNvSpPr txBox="1"/>
          <p:nvPr/>
        </p:nvSpPr>
        <p:spPr>
          <a:xfrm>
            <a:off x="621792" y="202539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Estudiar</a:t>
            </a:r>
            <a:endParaRPr lang="en-US" sz="950" dirty="0"/>
          </a:p>
        </p:txBody>
      </p:sp>
      <p:sp>
        <p:nvSpPr>
          <p:cNvPr id="12" name="Text 10"/>
          <p:cNvSpPr txBox="1"/>
          <p:nvPr/>
        </p:nvSpPr>
        <p:spPr>
          <a:xfrm>
            <a:off x="2862072" y="204368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Francia e Irlanda</a:t>
            </a:r>
            <a:endParaRPr lang="en-US" sz="1000" dirty="0"/>
          </a:p>
        </p:txBody>
      </p:sp>
      <p:sp>
        <p:nvSpPr>
          <p:cNvPr id="13" name="Text 11"/>
          <p:cNvSpPr txBox="1"/>
          <p:nvPr/>
        </p:nvSpPr>
        <p:spPr>
          <a:xfrm>
            <a:off x="6016752" y="204368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21,8 % y 27,0 %. Francia por la distancia respecto a un incumbente muy ineficiente; Irlanda por el 15 % de impuesto, aunque con la mayor densidad de RWA y una cartera PYME pequeña (16.964 M€).</a:t>
            </a:r>
            <a:endParaRPr lang="en-US" sz="850" dirty="0"/>
          </a:p>
        </p:txBody>
      </p:sp>
      <p:sp>
        <p:nvSpPr>
          <p:cNvPr id="14" name="Shape 12"/>
          <p:cNvSpPr/>
          <p:nvPr/>
        </p:nvSpPr>
        <p:spPr>
          <a:xfrm>
            <a:off x="621792" y="2532888"/>
            <a:ext cx="2057400" cy="457200"/>
          </a:xfrm>
          <a:prstGeom prst="roundRect">
            <a:avLst>
              <a:gd name="adj" fmla="val 10000"/>
            </a:avLst>
          </a:prstGeom>
          <a:solidFill>
            <a:srgbClr val="FFD6BA"/>
          </a:solidFill>
          <a:ln w="12700">
            <a:solidFill>
              <a:srgbClr val="FFAB70"/>
            </a:solidFill>
            <a:prstDash val="solid"/>
          </a:ln>
        </p:spPr>
      </p:sp>
      <p:sp>
        <p:nvSpPr>
          <p:cNvPr id="15" name="Text 13"/>
          <p:cNvSpPr txBox="1"/>
          <p:nvPr/>
        </p:nvSpPr>
        <p:spPr>
          <a:xfrm>
            <a:off x="621792" y="253288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Descartar</a:t>
            </a:r>
            <a:endParaRPr lang="en-US" sz="950" dirty="0"/>
          </a:p>
        </p:txBody>
      </p:sp>
      <p:sp>
        <p:nvSpPr>
          <p:cNvPr id="16" name="Text 14"/>
          <p:cNvSpPr txBox="1"/>
          <p:nvPr/>
        </p:nvSpPr>
        <p:spPr>
          <a:xfrm>
            <a:off x="2862072" y="255117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España y Portugal</a:t>
            </a:r>
            <a:endParaRPr lang="en-US" sz="1000" dirty="0"/>
          </a:p>
        </p:txBody>
      </p:sp>
      <p:sp>
        <p:nvSpPr>
          <p:cNvPr id="17" name="Text 15"/>
          <p:cNvSpPr txBox="1"/>
          <p:nvPr/>
        </p:nvSpPr>
        <p:spPr>
          <a:xfrm>
            <a:off x="6016752" y="255117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13,7 % y 16,9 %. El diferencial frente al banco local es de 1,2 y 3,0 puntos: no compensa el coste de entrada.</a:t>
            </a:r>
            <a:endParaRPr lang="en-US" sz="850" dirty="0"/>
          </a:p>
        </p:txBody>
      </p:sp>
      <p:sp>
        <p:nvSpPr>
          <p:cNvPr id="18" name="Shape 16"/>
          <p:cNvSpPr/>
          <p:nvPr/>
        </p:nvSpPr>
        <p:spPr>
          <a:xfrm>
            <a:off x="621792" y="3040380"/>
            <a:ext cx="2057400" cy="457200"/>
          </a:xfrm>
          <a:prstGeom prst="roundRect">
            <a:avLst>
              <a:gd name="adj" fmla="val 10000"/>
            </a:avLst>
          </a:prstGeom>
          <a:solidFill>
            <a:srgbClr val="E5E5E5"/>
          </a:solidFill>
          <a:ln w="12700">
            <a:solidFill>
              <a:srgbClr val="CACACA"/>
            </a:solidFill>
            <a:prstDash val="solid"/>
          </a:ln>
        </p:spPr>
      </p:sp>
      <p:sp>
        <p:nvSpPr>
          <p:cNvPr id="19" name="Text 17"/>
          <p:cNvSpPr txBox="1"/>
          <p:nvPr/>
        </p:nvSpPr>
        <p:spPr>
          <a:xfrm>
            <a:off x="621792" y="304038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Validar antes de decidir</a:t>
            </a:r>
            <a:endParaRPr lang="en-US" sz="950" dirty="0"/>
          </a:p>
        </p:txBody>
      </p:sp>
      <p:sp>
        <p:nvSpPr>
          <p:cNvPr id="20" name="Text 18"/>
          <p:cNvSpPr txBox="1"/>
          <p:nvPr/>
        </p:nvSpPr>
        <p:spPr>
          <a:xfrm>
            <a:off x="2862072" y="305866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comisión en el mercado objetivo</a:t>
            </a:r>
            <a:endParaRPr lang="en-US" sz="1000" dirty="0"/>
          </a:p>
        </p:txBody>
      </p:sp>
      <p:sp>
        <p:nvSpPr>
          <p:cNvPr id="21" name="Text 19"/>
          <p:cNvSpPr txBox="1"/>
          <p:nvPr/>
        </p:nvSpPr>
        <p:spPr>
          <a:xfrm>
            <a:off x="6016752" y="305866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único supuesto material. Mueve el ROE entre 3 y 8 puntos y solo está observada en España.</a:t>
            </a:r>
            <a:endParaRPr lang="en-US" sz="850" dirty="0"/>
          </a:p>
        </p:txBody>
      </p:sp>
      <p:sp>
        <p:nvSpPr>
          <p:cNvPr id="22" name="Shape 20"/>
          <p:cNvSpPr/>
          <p:nvPr/>
        </p:nvSpPr>
        <p:spPr>
          <a:xfrm>
            <a:off x="621792" y="3547872"/>
            <a:ext cx="2057400" cy="457200"/>
          </a:xfrm>
          <a:prstGeom prst="roundRect">
            <a:avLst>
              <a:gd name="adj" fmla="val 10000"/>
            </a:avLst>
          </a:prstGeom>
          <a:solidFill>
            <a:srgbClr val="E5E5E5"/>
          </a:solidFill>
          <a:ln w="12700">
            <a:solidFill>
              <a:srgbClr val="CACACA"/>
            </a:solidFill>
            <a:prstDash val="solid"/>
          </a:ln>
        </p:spPr>
      </p:sp>
      <p:sp>
        <p:nvSpPr>
          <p:cNvPr id="23" name="Text 21"/>
          <p:cNvSpPr txBox="1"/>
          <p:nvPr/>
        </p:nvSpPr>
        <p:spPr>
          <a:xfrm>
            <a:off x="621792" y="3547872"/>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Completar</a:t>
            </a:r>
            <a:endParaRPr lang="en-US" sz="950" dirty="0"/>
          </a:p>
        </p:txBody>
      </p:sp>
      <p:sp>
        <p:nvSpPr>
          <p:cNvPr id="24" name="Text 22"/>
          <p:cNvSpPr txBox="1"/>
          <p:nvPr/>
        </p:nvSpPr>
        <p:spPr>
          <a:xfrm>
            <a:off x="2862072" y="3566160"/>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Densidad de RWA propia</a:t>
            </a:r>
            <a:endParaRPr lang="en-US" sz="1000" dirty="0"/>
          </a:p>
        </p:txBody>
      </p:sp>
      <p:sp>
        <p:nvSpPr>
          <p:cNvPr id="25" name="Text 23"/>
          <p:cNvSpPr txBox="1"/>
          <p:nvPr/>
        </p:nvSpPr>
        <p:spPr>
          <a:xfrm>
            <a:off x="6016752" y="3566160"/>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del modelo es la del mercado. Un entrante con método estándar o con menos garantía real tendría una densidad distinta, y ese es el factor que más pesa.</a:t>
            </a:r>
            <a:endParaRPr lang="en-US" sz="850" dirty="0"/>
          </a:p>
        </p:txBody>
      </p:sp>
      <p:sp>
        <p:nvSpPr>
          <p:cNvPr id="26" name="Shape 24"/>
          <p:cNvSpPr/>
          <p:nvPr/>
        </p:nvSpPr>
        <p:spPr>
          <a:xfrm>
            <a:off x="621792" y="4055364"/>
            <a:ext cx="2057400" cy="457200"/>
          </a:xfrm>
          <a:prstGeom prst="roundRect">
            <a:avLst>
              <a:gd name="adj" fmla="val 10000"/>
            </a:avLst>
          </a:prstGeom>
          <a:solidFill>
            <a:srgbClr val="E5E5E5"/>
          </a:solidFill>
          <a:ln w="12700">
            <a:solidFill>
              <a:srgbClr val="CACACA"/>
            </a:solidFill>
            <a:prstDash val="solid"/>
          </a:ln>
        </p:spPr>
      </p:sp>
      <p:sp>
        <p:nvSpPr>
          <p:cNvPr id="27" name="Text 25"/>
          <p:cNvSpPr txBox="1"/>
          <p:nvPr/>
        </p:nvSpPr>
        <p:spPr>
          <a:xfrm>
            <a:off x="621792" y="4055364"/>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Cerrar</a:t>
            </a:r>
            <a:endParaRPr lang="en-US" sz="950" dirty="0"/>
          </a:p>
        </p:txBody>
      </p:sp>
      <p:sp>
        <p:nvSpPr>
          <p:cNvPr id="28" name="Text 26"/>
          <p:cNvSpPr txBox="1"/>
          <p:nvPr/>
        </p:nvSpPr>
        <p:spPr>
          <a:xfrm>
            <a:off x="2862072" y="4073652"/>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Precio del factoring y del confirming</a:t>
            </a:r>
            <a:endParaRPr lang="en-US" sz="1000" dirty="0"/>
          </a:p>
        </p:txBody>
      </p:sp>
      <p:sp>
        <p:nvSpPr>
          <p:cNvPr id="29" name="Text 27"/>
          <p:cNvSpPr txBox="1"/>
          <p:nvPr/>
        </p:nvSpPr>
        <p:spPr>
          <a:xfrm>
            <a:off x="6016752" y="4073652"/>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es obtenible con fuentes públicas gratuitas. Si el producto entra en el plan, hay que ir a registros de pago o a datos de mercado.</a:t>
            </a:r>
            <a:endParaRPr lang="en-US" sz="850" dirty="0"/>
          </a:p>
        </p:txBody>
      </p:sp>
      <p:sp>
        <p:nvSpPr>
          <p:cNvPr id="30" name="Shape 28"/>
          <p:cNvSpPr/>
          <p:nvPr/>
        </p:nvSpPr>
        <p:spPr>
          <a:xfrm>
            <a:off x="621792" y="4562856"/>
            <a:ext cx="2057400" cy="457200"/>
          </a:xfrm>
          <a:prstGeom prst="roundRect">
            <a:avLst>
              <a:gd name="adj" fmla="val 10000"/>
            </a:avLst>
          </a:prstGeom>
          <a:solidFill>
            <a:srgbClr val="C7E3F9"/>
          </a:solidFill>
          <a:ln w="12700">
            <a:solidFill>
              <a:srgbClr val="77BFEE"/>
            </a:solidFill>
            <a:prstDash val="solid"/>
          </a:ln>
        </p:spPr>
      </p:sp>
      <p:sp>
        <p:nvSpPr>
          <p:cNvPr id="31" name="Text 29"/>
          <p:cNvSpPr txBox="1"/>
          <p:nvPr/>
        </p:nvSpPr>
        <p:spPr>
          <a:xfrm>
            <a:off x="621792" y="4562856"/>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invertir en</a:t>
            </a:r>
            <a:endParaRPr lang="en-US" sz="950" dirty="0"/>
          </a:p>
        </p:txBody>
      </p:sp>
      <p:sp>
        <p:nvSpPr>
          <p:cNvPr id="32" name="Text 30"/>
          <p:cNvSpPr txBox="1"/>
          <p:nvPr/>
        </p:nvSpPr>
        <p:spPr>
          <a:xfrm>
            <a:off x="2862072" y="4581144"/>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Selección, no en recobro</a:t>
            </a:r>
            <a:endParaRPr lang="en-US" sz="1000" dirty="0"/>
          </a:p>
        </p:txBody>
      </p:sp>
      <p:sp>
        <p:nvSpPr>
          <p:cNvPr id="33" name="Text 31"/>
          <p:cNvSpPr txBox="1"/>
          <p:nvPr/>
        </p:nvSpPr>
        <p:spPr>
          <a:xfrm>
            <a:off x="6016752" y="4581144"/>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La PD explica el 75 % de la diferencia de coste del riesgo entre países; la LGD solo el 22 %. El presupuesto va a datos de admisión —bureau privado, cuentas depositadas, alta frecuencia— antes que a recuperaciones.</a:t>
            </a:r>
            <a:endParaRPr lang="en-US" sz="850" dirty="0"/>
          </a:p>
        </p:txBody>
      </p:sp>
      <p:sp>
        <p:nvSpPr>
          <p:cNvPr id="34" name="Shape 32"/>
          <p:cNvSpPr/>
          <p:nvPr/>
        </p:nvSpPr>
        <p:spPr>
          <a:xfrm>
            <a:off x="621792" y="5070348"/>
            <a:ext cx="2057400" cy="457200"/>
          </a:xfrm>
          <a:prstGeom prst="roundRect">
            <a:avLst>
              <a:gd name="adj" fmla="val 10000"/>
            </a:avLst>
          </a:prstGeom>
          <a:solidFill>
            <a:srgbClr val="C7E3F9"/>
          </a:solidFill>
          <a:ln w="12700">
            <a:solidFill>
              <a:srgbClr val="77BFEE"/>
            </a:solidFill>
            <a:prstDash val="solid"/>
          </a:ln>
        </p:spPr>
      </p:sp>
      <p:sp>
        <p:nvSpPr>
          <p:cNvPr id="35" name="Text 33"/>
          <p:cNvSpPr txBox="1"/>
          <p:nvPr/>
        </p:nvSpPr>
        <p:spPr>
          <a:xfrm>
            <a:off x="621792" y="5070348"/>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descontar</a:t>
            </a:r>
            <a:endParaRPr lang="en-US" sz="950" dirty="0"/>
          </a:p>
        </p:txBody>
      </p:sp>
      <p:sp>
        <p:nvSpPr>
          <p:cNvPr id="36" name="Text 34"/>
          <p:cNvSpPr txBox="1"/>
          <p:nvPr/>
        </p:nvSpPr>
        <p:spPr>
          <a:xfrm>
            <a:off x="2862072" y="5088636"/>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La ejecución del mercado, no solo su información</a:t>
            </a:r>
            <a:endParaRPr lang="en-US" sz="1000" dirty="0"/>
          </a:p>
        </p:txBody>
      </p:sp>
      <p:sp>
        <p:nvSpPr>
          <p:cNvPr id="37" name="Text 35"/>
          <p:cNvSpPr txBox="1"/>
          <p:nvPr/>
        </p:nvSpPr>
        <p:spPr>
          <a:xfrm>
            <a:off x="6016752" y="5088636"/>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Italia tiene la segunda mejor información de las siete y la peor PD: ejecutar le cuesta el 22 % de la masa y 1,8 años. En Francia, además, micro y pequeñas pueden declarar sus cuentas confidenciales: sin adhesión a I-FIBEN se entra a ciegas.</a:t>
            </a:r>
            <a:endParaRPr lang="en-US" sz="850" dirty="0"/>
          </a:p>
        </p:txBody>
      </p:sp>
      <p:sp>
        <p:nvSpPr>
          <p:cNvPr id="38" name="Shape 36"/>
          <p:cNvSpPr/>
          <p:nvPr/>
        </p:nvSpPr>
        <p:spPr>
          <a:xfrm>
            <a:off x="621792" y="5577840"/>
            <a:ext cx="2057400" cy="457200"/>
          </a:xfrm>
          <a:prstGeom prst="roundRect">
            <a:avLst>
              <a:gd name="adj" fmla="val 10000"/>
            </a:avLst>
          </a:prstGeom>
          <a:solidFill>
            <a:srgbClr val="C7E3F9"/>
          </a:solidFill>
          <a:ln w="12700">
            <a:solidFill>
              <a:srgbClr val="77BFEE"/>
            </a:solidFill>
            <a:prstDash val="solid"/>
          </a:ln>
        </p:spPr>
      </p:sp>
      <p:sp>
        <p:nvSpPr>
          <p:cNvPr id="39" name="Text 37"/>
          <p:cNvSpPr txBox="1"/>
          <p:nvPr/>
        </p:nvSpPr>
        <p:spPr>
          <a:xfrm>
            <a:off x="621792" y="5577840"/>
            <a:ext cx="2057400" cy="457200"/>
          </a:xfrm>
          <a:prstGeom prst="rect">
            <a:avLst/>
          </a:prstGeom>
          <a:noFill/>
          <a:ln/>
        </p:spPr>
        <p:txBody>
          <a:bodyPr wrap="square" lIns="0" tIns="0" rIns="0" bIns="0" rtlCol="0" anchor="ctr"/>
          <a:lstStyle/>
          <a:p>
            <a:pPr algn="ctr" indent="0" marL="0">
              <a:buNone/>
            </a:pPr>
            <a:r>
              <a:rPr lang="en-US" sz="950" b="1" dirty="0">
                <a:solidFill>
                  <a:srgbClr val="2B2B2B"/>
                </a:solidFill>
                <a:latin typeface="Verdana" pitchFamily="34" charset="0"/>
                <a:ea typeface="Verdana" pitchFamily="34" charset="-122"/>
                <a:cs typeface="Verdana" pitchFamily="34" charset="-120"/>
              </a:rPr>
              <a:t>Riesgo: cobrar</a:t>
            </a:r>
            <a:endParaRPr lang="en-US" sz="950" dirty="0"/>
          </a:p>
        </p:txBody>
      </p:sp>
      <p:sp>
        <p:nvSpPr>
          <p:cNvPr id="40" name="Text 38"/>
          <p:cNvSpPr txBox="1"/>
          <p:nvPr/>
        </p:nvSpPr>
        <p:spPr>
          <a:xfrm>
            <a:off x="2862072" y="5596128"/>
            <a:ext cx="3017520" cy="420624"/>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El gradiente por tamaño</a:t>
            </a:r>
            <a:endParaRPr lang="en-US" sz="1000" dirty="0"/>
          </a:p>
        </p:txBody>
      </p:sp>
      <p:sp>
        <p:nvSpPr>
          <p:cNvPr id="41" name="Text 39"/>
          <p:cNvSpPr txBox="1"/>
          <p:nvPr/>
        </p:nvSpPr>
        <p:spPr>
          <a:xfrm>
            <a:off x="6016752" y="5596128"/>
            <a:ext cx="5715000" cy="42062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donde el préstamo pequeño no sale más caro que el de más de 1 M€: −4 pb, frente a +143 de Italia y +120 de Países Bajos. Y el gradiente acompaña al ROE (ρ = +0,82).</a:t>
            </a:r>
            <a:endParaRPr lang="en-US" sz="850" dirty="0"/>
          </a:p>
        </p:txBody>
      </p:sp>
      <p:sp>
        <p:nvSpPr>
          <p:cNvPr id="42" name="Text 40"/>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ROE simulado del entrante con coste de los recursos 0,80 %, eficiencia 40 % y CET1 12,9 %, sobre el precio, riesgo, capital y fiscalidad de cada mercado. No incorpora coste de entrada ni escala mínima. Las tres recomendaciones de riesgo se apoyan en la descomposición PD/LGD de los parámetros IRB del EBA, en los índices institucionales de Doing Business 2020 y en el precio por tramo del dataset MIR del BCE.</a:t>
            </a:r>
            <a:endParaRPr lang="en-US" sz="7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Recomendaciones: España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haría un banco español con este análisis, hoy</a:t>
            </a:r>
            <a:endParaRPr lang="en-US" sz="1050" dirty="0"/>
          </a:p>
        </p:txBody>
      </p:sp>
      <p:sp>
        <p:nvSpPr>
          <p:cNvPr id="6" name="Shape 4"/>
          <p:cNvSpPr/>
          <p:nvPr/>
        </p:nvSpPr>
        <p:spPr>
          <a:xfrm>
            <a:off x="621792" y="1536192"/>
            <a:ext cx="2240280" cy="566928"/>
          </a:xfrm>
          <a:prstGeom prst="roundRect">
            <a:avLst>
              <a:gd name="adj" fmla="val 8065"/>
            </a:avLst>
          </a:prstGeom>
          <a:solidFill>
            <a:srgbClr val="C7E3F9"/>
          </a:solidFill>
          <a:ln w="12700">
            <a:solidFill>
              <a:srgbClr val="77BFEE"/>
            </a:solidFill>
            <a:prstDash val="solid"/>
          </a:ln>
        </p:spPr>
      </p:sp>
      <p:sp>
        <p:nvSpPr>
          <p:cNvPr id="7" name="Text 5"/>
          <p:cNvSpPr txBox="1"/>
          <p:nvPr/>
        </p:nvSpPr>
        <p:spPr>
          <a:xfrm>
            <a:off x="621792" y="153619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Atacar</a:t>
            </a:r>
            <a:endParaRPr lang="en-US" sz="1100" dirty="0"/>
          </a:p>
        </p:txBody>
      </p:sp>
      <p:sp>
        <p:nvSpPr>
          <p:cNvPr id="8" name="Text 6"/>
          <p:cNvSpPr txBox="1"/>
          <p:nvPr/>
        </p:nvSpPr>
        <p:spPr>
          <a:xfrm>
            <a:off x="3044952" y="156362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circulante, por precio y por comisión</a:t>
            </a:r>
            <a:endParaRPr lang="en-US" sz="1050" dirty="0"/>
          </a:p>
        </p:txBody>
      </p:sp>
      <p:sp>
        <p:nvSpPr>
          <p:cNvPr id="9" name="Text 7"/>
          <p:cNvSpPr txBox="1"/>
          <p:nvPr/>
        </p:nvSpPr>
        <p:spPr>
          <a:xfrm>
            <a:off x="6245352" y="156362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destino del 73,0 % de la demanda y el producto del que nadie publica precio de disponibilidad. La comisión neutral —la que hace el ROE indiferente a la disposición— es el CCF por el margen: 0,28 % en España. Por debajo de eso, cada línea poco dispuesta destruye ROE.</a:t>
            </a:r>
            <a:endParaRPr lang="en-US" sz="850" dirty="0"/>
          </a:p>
        </p:txBody>
      </p:sp>
      <p:sp>
        <p:nvSpPr>
          <p:cNvPr id="10" name="Shape 8"/>
          <p:cNvSpPr/>
          <p:nvPr/>
        </p:nvSpPr>
        <p:spPr>
          <a:xfrm>
            <a:off x="621792" y="2194560"/>
            <a:ext cx="2240280" cy="566928"/>
          </a:xfrm>
          <a:prstGeom prst="roundRect">
            <a:avLst>
              <a:gd name="adj" fmla="val 8065"/>
            </a:avLst>
          </a:prstGeom>
          <a:solidFill>
            <a:srgbClr val="C7E3F9"/>
          </a:solidFill>
          <a:ln w="12700">
            <a:solidFill>
              <a:srgbClr val="77BFEE"/>
            </a:solidFill>
            <a:prstDash val="solid"/>
          </a:ln>
        </p:spPr>
      </p:sp>
      <p:sp>
        <p:nvSpPr>
          <p:cNvPr id="11" name="Text 9"/>
          <p:cNvSpPr txBox="1"/>
          <p:nvPr/>
        </p:nvSpPr>
        <p:spPr>
          <a:xfrm>
            <a:off x="621792" y="2194560"/>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Repreciar</a:t>
            </a:r>
            <a:endParaRPr lang="en-US" sz="1100" dirty="0"/>
          </a:p>
        </p:txBody>
      </p:sp>
      <p:sp>
        <p:nvSpPr>
          <p:cNvPr id="12" name="Text 10"/>
          <p:cNvSpPr txBox="1"/>
          <p:nvPr/>
        </p:nvSpPr>
        <p:spPr>
          <a:xfrm>
            <a:off x="3044952" y="2221992"/>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tramo pequeño y el autónomo</a:t>
            </a:r>
            <a:endParaRPr lang="en-US" sz="1050" dirty="0"/>
          </a:p>
        </p:txBody>
      </p:sp>
      <p:sp>
        <p:nvSpPr>
          <p:cNvPr id="13" name="Text 11"/>
          <p:cNvSpPr txBox="1"/>
          <p:nvPr/>
        </p:nvSpPr>
        <p:spPr>
          <a:xfrm>
            <a:off x="6245352" y="2221992"/>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España es la única de las siete sin gradiente de precio por tamaño (−4 pb frente a +143 de Italia), y el gradiente acompaña al ROE (ρ = +0,82). El autónomo ya paga 115 pb más: la disposición a pagar del micro existe y no se está cobrando en sociedades.</a:t>
            </a:r>
            <a:endParaRPr lang="en-US" sz="850" dirty="0"/>
          </a:p>
        </p:txBody>
      </p:sp>
      <p:sp>
        <p:nvSpPr>
          <p:cNvPr id="14" name="Shape 12"/>
          <p:cNvSpPr/>
          <p:nvPr/>
        </p:nvSpPr>
        <p:spPr>
          <a:xfrm>
            <a:off x="621792" y="2852928"/>
            <a:ext cx="2240280" cy="566928"/>
          </a:xfrm>
          <a:prstGeom prst="roundRect">
            <a:avLst>
              <a:gd name="adj" fmla="val 8065"/>
            </a:avLst>
          </a:prstGeom>
          <a:solidFill>
            <a:srgbClr val="C7E3F9"/>
          </a:solidFill>
          <a:ln w="12700">
            <a:solidFill>
              <a:srgbClr val="77BFEE"/>
            </a:solidFill>
            <a:prstDash val="solid"/>
          </a:ln>
        </p:spPr>
      </p:sp>
      <p:sp>
        <p:nvSpPr>
          <p:cNvPr id="15" name="Text 13"/>
          <p:cNvSpPr txBox="1"/>
          <p:nvPr/>
        </p:nvSpPr>
        <p:spPr>
          <a:xfrm>
            <a:off x="621792" y="2852928"/>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No pasar de</a:t>
            </a:r>
            <a:endParaRPr lang="en-US" sz="1100" dirty="0"/>
          </a:p>
        </p:txBody>
      </p:sp>
      <p:sp>
        <p:nvSpPr>
          <p:cNvPr id="16" name="Text 14"/>
          <p:cNvSpPr txBox="1"/>
          <p:nvPr/>
        </p:nvSpPr>
        <p:spPr>
          <a:xfrm>
            <a:off x="3044952" y="2880360"/>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Los 2,1 puntos de colchón de la pyme pequeña</a:t>
            </a:r>
            <a:endParaRPr lang="en-US" sz="1050" dirty="0"/>
          </a:p>
        </p:txBody>
      </p:sp>
      <p:sp>
        <p:nvSpPr>
          <p:cNvPr id="17" name="Text 15"/>
          <p:cNvSpPr txBox="1"/>
          <p:nvPr/>
        </p:nvSpPr>
        <p:spPr>
          <a:xfrm>
            <a:off x="6245352" y="2880360"/>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Es el límite duro que marca la Central de Balances: rentabilidad del activo 5,4 % menos coste de la deuda 3,3 %. Subir precio por encima no encuentra demanda, encuentra sustitución por crédito de proveedores, que ya usa el 16 % de las pymes.</a:t>
            </a:r>
            <a:endParaRPr lang="en-US" sz="850" dirty="0"/>
          </a:p>
        </p:txBody>
      </p:sp>
      <p:sp>
        <p:nvSpPr>
          <p:cNvPr id="18" name="Shape 16"/>
          <p:cNvSpPr/>
          <p:nvPr/>
        </p:nvSpPr>
        <p:spPr>
          <a:xfrm>
            <a:off x="621792" y="3511296"/>
            <a:ext cx="2240280" cy="566928"/>
          </a:xfrm>
          <a:prstGeom prst="roundRect">
            <a:avLst>
              <a:gd name="adj" fmla="val 8065"/>
            </a:avLst>
          </a:prstGeom>
          <a:solidFill>
            <a:srgbClr val="E5E5E5"/>
          </a:solidFill>
          <a:ln w="12700">
            <a:solidFill>
              <a:srgbClr val="CACACA"/>
            </a:solidFill>
            <a:prstDash val="solid"/>
          </a:ln>
        </p:spPr>
      </p:sp>
      <p:sp>
        <p:nvSpPr>
          <p:cNvPr id="19" name="Text 17"/>
          <p:cNvSpPr txBox="1"/>
          <p:nvPr/>
        </p:nvSpPr>
        <p:spPr>
          <a:xfrm>
            <a:off x="621792" y="3511296"/>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Priorizar</a:t>
            </a:r>
            <a:endParaRPr lang="en-US" sz="1100" dirty="0"/>
          </a:p>
        </p:txBody>
      </p:sp>
      <p:sp>
        <p:nvSpPr>
          <p:cNvPr id="20" name="Text 18"/>
          <p:cNvSpPr txBox="1"/>
          <p:nvPr/>
        </p:nvSpPr>
        <p:spPr>
          <a:xfrm>
            <a:off x="3044952" y="3538728"/>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Densidad de RWA sobre eficiencia</a:t>
            </a:r>
            <a:endParaRPr lang="en-US" sz="1050" dirty="0"/>
          </a:p>
        </p:txBody>
      </p:sp>
      <p:sp>
        <p:nvSpPr>
          <p:cNvPr id="21" name="Text 19"/>
          <p:cNvSpPr txBox="1"/>
          <p:nvPr/>
        </p:nvSpPr>
        <p:spPr>
          <a:xfrm>
            <a:off x="6245352" y="3538728"/>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Sabadell gana 4,9 puntos de ROE a BBVA con un resultado antes de impuestos MENOR, solo por capital (37,3 % frente a 71,0 %). Garantía real, aval SGR e ICO mueven más el ROE que un plan de eficiencia.</a:t>
            </a:r>
            <a:endParaRPr lang="en-US" sz="850" dirty="0"/>
          </a:p>
        </p:txBody>
      </p:sp>
      <p:sp>
        <p:nvSpPr>
          <p:cNvPr id="22" name="Shape 20"/>
          <p:cNvSpPr/>
          <p:nvPr/>
        </p:nvSpPr>
        <p:spPr>
          <a:xfrm>
            <a:off x="621792" y="4169664"/>
            <a:ext cx="2240280" cy="566928"/>
          </a:xfrm>
          <a:prstGeom prst="roundRect">
            <a:avLst>
              <a:gd name="adj" fmla="val 8065"/>
            </a:avLst>
          </a:prstGeom>
          <a:solidFill>
            <a:srgbClr val="E5E5E5"/>
          </a:solidFill>
          <a:ln w="12700">
            <a:solidFill>
              <a:srgbClr val="CACACA"/>
            </a:solidFill>
            <a:prstDash val="solid"/>
          </a:ln>
        </p:spPr>
      </p:sp>
      <p:sp>
        <p:nvSpPr>
          <p:cNvPr id="23" name="Text 21"/>
          <p:cNvSpPr txBox="1"/>
          <p:nvPr/>
        </p:nvSpPr>
        <p:spPr>
          <a:xfrm>
            <a:off x="621792" y="4169664"/>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Medir</a:t>
            </a:r>
            <a:endParaRPr lang="en-US" sz="1100" dirty="0"/>
          </a:p>
        </p:txBody>
      </p:sp>
      <p:sp>
        <p:nvSpPr>
          <p:cNvPr id="24" name="Text 22"/>
          <p:cNvSpPr txBox="1"/>
          <p:nvPr/>
        </p:nvSpPr>
        <p:spPr>
          <a:xfrm>
            <a:off x="3044952" y="4197096"/>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La cobertura, no solo la mora</a:t>
            </a:r>
            <a:endParaRPr lang="en-US" sz="1050" dirty="0"/>
          </a:p>
        </p:txBody>
      </p:sp>
      <p:sp>
        <p:nvSpPr>
          <p:cNvPr id="25" name="Text 23"/>
          <p:cNvSpPr txBox="1"/>
          <p:nvPr/>
        </p:nvSpPr>
        <p:spPr>
          <a:xfrm>
            <a:off x="6245352" y="4197096"/>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Santander lleva cuatro trimestres bajando cobertura de PYME (43,2 % a 36,5 %) con la peor mora. Es el indicador que antes avisa, y el único de riesgo que el ejercicio de transparencia da por banco y por trimestre.</a:t>
            </a:r>
            <a:endParaRPr lang="en-US" sz="850" dirty="0"/>
          </a:p>
        </p:txBody>
      </p:sp>
      <p:sp>
        <p:nvSpPr>
          <p:cNvPr id="26" name="Shape 24"/>
          <p:cNvSpPr/>
          <p:nvPr/>
        </p:nvSpPr>
        <p:spPr>
          <a:xfrm>
            <a:off x="621792" y="4828032"/>
            <a:ext cx="2240280" cy="566928"/>
          </a:xfrm>
          <a:prstGeom prst="roundRect">
            <a:avLst>
              <a:gd name="adj" fmla="val 8065"/>
            </a:avLst>
          </a:prstGeom>
          <a:solidFill>
            <a:srgbClr val="E5E5E5"/>
          </a:solidFill>
          <a:ln w="12700">
            <a:solidFill>
              <a:srgbClr val="CACACA"/>
            </a:solidFill>
            <a:prstDash val="solid"/>
          </a:ln>
        </p:spPr>
      </p:sp>
      <p:sp>
        <p:nvSpPr>
          <p:cNvPr id="27" name="Text 25"/>
          <p:cNvSpPr txBox="1"/>
          <p:nvPr/>
        </p:nvSpPr>
        <p:spPr>
          <a:xfrm>
            <a:off x="621792" y="4828032"/>
            <a:ext cx="2240280" cy="566928"/>
          </a:xfrm>
          <a:prstGeom prst="rect">
            <a:avLst/>
          </a:prstGeom>
          <a:noFill/>
          <a:ln/>
        </p:spPr>
        <p:txBody>
          <a:bodyPr wrap="square" lIns="0" tIns="0" rIns="0" bIns="0" rtlCol="0" anchor="ctr"/>
          <a:lstStyle/>
          <a:p>
            <a:pPr algn="ctr" indent="0" marL="0">
              <a:buNone/>
            </a:pPr>
            <a:r>
              <a:rPr lang="en-US" sz="1100" b="1" dirty="0">
                <a:solidFill>
                  <a:srgbClr val="2B2B2B"/>
                </a:solidFill>
                <a:latin typeface="Verdana" pitchFamily="34" charset="0"/>
                <a:ea typeface="Verdana" pitchFamily="34" charset="-122"/>
                <a:cs typeface="Verdana" pitchFamily="34" charset="-120"/>
              </a:rPr>
              <a:t>Cerrar antes de decidir</a:t>
            </a:r>
            <a:endParaRPr lang="en-US" sz="1100" dirty="0"/>
          </a:p>
        </p:txBody>
      </p:sp>
      <p:sp>
        <p:nvSpPr>
          <p:cNvPr id="28" name="Text 26"/>
          <p:cNvSpPr txBox="1"/>
          <p:nvPr/>
        </p:nvSpPr>
        <p:spPr>
          <a:xfrm>
            <a:off x="3044952" y="4855464"/>
            <a:ext cx="3063240" cy="512064"/>
          </a:xfrm>
          <a:prstGeom prst="rect">
            <a:avLst/>
          </a:prstGeom>
          <a:noFill/>
          <a:ln/>
        </p:spPr>
        <p:txBody>
          <a:bodyPr wrap="square" lIns="0" tIns="0" rIns="0" bIns="0" rtlCol="0" anchor="ctr"/>
          <a:lstStyle/>
          <a:p>
            <a:pPr indent="0" marL="0">
              <a:buNone/>
            </a:pPr>
            <a:r>
              <a:rPr lang="en-US" sz="1050" b="1" dirty="0">
                <a:solidFill>
                  <a:srgbClr val="2B2B2B"/>
                </a:solidFill>
                <a:latin typeface="Verdana" pitchFamily="34" charset="0"/>
                <a:ea typeface="Verdana" pitchFamily="34" charset="-122"/>
                <a:cs typeface="Verdana" pitchFamily="34" charset="-120"/>
              </a:rPr>
              <a:t>El precio de PYME por banco</a:t>
            </a:r>
            <a:endParaRPr lang="en-US" sz="1050" dirty="0"/>
          </a:p>
        </p:txBody>
      </p:sp>
      <p:sp>
        <p:nvSpPr>
          <p:cNvPr id="29" name="Text 27"/>
          <p:cNvSpPr txBox="1"/>
          <p:nvPr/>
        </p:nvSpPr>
        <p:spPr>
          <a:xfrm>
            <a:off x="6245352" y="4855464"/>
            <a:ext cx="5486400" cy="512064"/>
          </a:xfrm>
          <a:prstGeom prst="rect">
            <a:avLst/>
          </a:prstGeom>
          <a:noFill/>
          <a:ln/>
        </p:spPr>
        <p:txBody>
          <a:bodyPr wrap="square" lIns="0" tIns="0" rIns="0" bIns="0" rtlCol="0" anchor="ctr"/>
          <a:lstStyle/>
          <a:p>
            <a:pPr indent="0" marL="0">
              <a:buNone/>
            </a:pPr>
            <a:r>
              <a:rPr lang="en-US" sz="850" dirty="0">
                <a:solidFill>
                  <a:srgbClr val="818181"/>
                </a:solidFill>
                <a:latin typeface="Verdana" pitchFamily="34" charset="0"/>
                <a:ea typeface="Verdana" pitchFamily="34" charset="-122"/>
                <a:cs typeface="Verdana" pitchFamily="34" charset="-120"/>
              </a:rPr>
              <a:t>No existe en fuente pública: la publicación por entidad del Banco de España se apoya en la Circular 5/2012, limitada a personas físicas. Solo sale con dato interno o comercial. Es el único hueco que impide comparar habilidad comercial y no solo estructura.</a:t>
            </a:r>
            <a:endParaRPr lang="en-US" sz="850" dirty="0"/>
          </a:p>
        </p:txBody>
      </p:sp>
      <p:sp>
        <p:nvSpPr>
          <p:cNvPr id="30" name="Text 2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Las tres primeras recomendaciones se apoyan en la demanda (CESGAR) y en la capacidad de pago (Central de Balances); las tres últimas, en el modelo por banco sobre el EU-wide Transparency Exercise. El modelo compara estructura de riesgo, capital y coste, no habilidad comercial: el precio y las comisiones son comunes a los cinco porque ninguno los publica por segmento.</a:t>
            </a:r>
            <a:endParaRPr lang="en-US" sz="7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04</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Anexos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Datos, fuentes, supuestos y los límites de cada cifra</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A</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Datos y fuentes</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De dónde sale cada número y con qué respaldo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39</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Fuentes</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Trece fuentes, 71.156 observaciones, cada fila trazable a su serie de origen</a:t>
            </a:r>
            <a:endParaRPr lang="en-US" sz="105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21792" y="1591056"/>
          <a:ext cx="10945368" cy="914400"/>
        </p:xfrm>
        <a:graphic>
          <a:graphicData uri="http://schemas.openxmlformats.org/drawingml/2006/table">
            <a:tbl>
              <a:tblPr/>
              <a:tblGrid>
                <a:gridCol w="2606040"/>
                <a:gridCol w="4251960"/>
                <a:gridCol w="2560320"/>
                <a:gridCol w="1664208"/>
              </a:tblGrid>
              <a:tr h="301752">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Bloque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Fuente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Cobertura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Último dato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Precio y volumen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ECB Data Portal, dataset MIR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Tipos oficiales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dataset FM (facilidad de depósito, MRO, Euríbor)</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Zona euro, diario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Encuesta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BCE, SAFE (Q8B y brecha de financiación)</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Q8B hasta 2022-S1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Riesgo, eficiencia, capital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Risk Dashboard y parámetros IRB (COREP C 9.02)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Capital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EBA, EU-wide Transparency Exercise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semestral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2025-06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Comisiones y volumen España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Boletín Estadístico, cap. 19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mensual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2026-07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TAEG empresas Italia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Banca d'Italia, STACORIS, tavola TRI30951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Italia, trimestral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2026-Q1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Spread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OCDE, Financing SMEs and Entrepreneurs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países, sin Alemania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Factoring</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EUF, AEF y Assifact</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Marco institucional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Mundial, Doing Business 2020 (descontinuado)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7 países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2019-05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Demanda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CESGAR, XV Informe de financiación de la pyme</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anual</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Capacidad de pago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Banco de España, Central de Balances Integrada</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España, por tamaño</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r>
              <a:tr h="301752">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Comparables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Cuentas de resultados de 5 bancos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5 bancos de 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B2B2B"/>
                          </a:solidFill>
                          <a:latin typeface="Verdana" pitchFamily="34" charset="0"/>
                          <a:ea typeface="Verdana" pitchFamily="34" charset="-122"/>
                          <a:cs typeface="Verdana" pitchFamily="34" charset="-120"/>
                        </a:rPr>
                        <a:t>2026-H1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FFFF"/>
                    </a:solidFill>
                  </a:tcPr>
                </a:tc>
              </a:tr>
            </a:tbl>
          </a:graphicData>
        </a:graphic>
      </p:graphicFrame>
      <p:sp>
        <p:nvSpPr>
          <p:cNvPr id="7" name="Text 4"/>
          <p:cNvSpPr txBox="1"/>
          <p:nvPr/>
        </p:nvSpPr>
        <p:spPr>
          <a:xfrm>
            <a:off x="621792" y="5806440"/>
            <a:ext cx="10945368" cy="365760"/>
          </a:xfrm>
          <a:prstGeom prst="rect">
            <a:avLst/>
          </a:prstGeom>
          <a:noFill/>
          <a:ln/>
        </p:spPr>
        <p:txBody>
          <a:bodyPr wrap="square" lIns="0" tIns="0" rIns="0" bIns="0" rtlCol="0" anchor="ctr"/>
          <a:lstStyle/>
          <a:p>
            <a:pPr indent="0" marL="0">
              <a:buNone/>
            </a:pPr>
            <a:r>
              <a:rPr lang="en-US" sz="1150" dirty="0">
                <a:solidFill>
                  <a:srgbClr val="2B2B2B"/>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1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40</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Mapa de fiabilidad del dato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Qué se puede afirmar y con qué respaldo, producto a producto y país a país · El circulante es la única fila cuyo perímetro es el total de empresas: el MIR no lo publica por tramo de importe</a:t>
            </a:r>
            <a:endParaRPr lang="en-US" sz="105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621792" y="1627632"/>
          <a:ext cx="10945368" cy="914400"/>
        </p:xfrm>
        <a:graphic>
          <a:graphicData uri="http://schemas.openxmlformats.org/drawingml/2006/table">
            <a:tbl>
              <a:tblPr/>
              <a:tblGrid>
                <a:gridCol w="3017520"/>
                <a:gridCol w="1618488"/>
                <a:gridCol w="1618488"/>
                <a:gridCol w="1618488"/>
                <a:gridCol w="1618488"/>
                <a:gridCol w="1600200"/>
              </a:tblGrid>
              <a:tr h="402336">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Producto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Precio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Volumen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Comisiones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Riesgo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100" b="1" dirty="0">
                          <a:solidFill>
                            <a:srgbClr val="FFFFFF"/>
                          </a:solidFill>
                          <a:latin typeface="Verdana" pitchFamily="34" charset="0"/>
                          <a:ea typeface="Verdana" pitchFamily="34" charset="-122"/>
                          <a:cs typeface="Verdana" pitchFamily="34" charset="-120"/>
                        </a:rPr>
                        <a:t>Capital</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Préstamo PYME por tramo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Circulante (todas las empresas)</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ESPAÑA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Hipoteca PYME</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PROXY CRE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Factoring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Confirming</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SOLO ES e IT</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8AC2"/>
                    </a:solidFill>
                  </a:tcPr>
                </a:tc>
              </a:tr>
              <a:tr h="402336">
                <a:tc>
                  <a:txBody>
                    <a:bodyPr/>
                    <a:lstStyle/>
                    <a:p>
                      <a:pPr algn="l" indent="0" marL="0">
                        <a:buNone/>
                      </a:pPr>
                      <a:r>
                        <a:rPr lang="en-US" sz="1100" b="1" dirty="0">
                          <a:solidFill>
                            <a:srgbClr val="2B2B2B"/>
                          </a:solidFill>
                          <a:latin typeface="Verdana" pitchFamily="34" charset="0"/>
                          <a:ea typeface="Verdana" pitchFamily="34" charset="-122"/>
                          <a:cs typeface="Verdana" pitchFamily="34" charset="-120"/>
                        </a:rPr>
                        <a:t>Depósitos de empresa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77BFEE"/>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PARCIAL</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AB70"/>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c>
                  <a:txBody>
                    <a:bodyPr/>
                    <a:lstStyle/>
                    <a:p>
                      <a:pPr algn="ctr" indent="0" marL="0">
                        <a:buNone/>
                      </a:pPr>
                      <a:r>
                        <a:rPr lang="en-US" sz="850" b="1" dirty="0">
                          <a:solidFill>
                            <a:srgbClr val="2B2B2B"/>
                          </a:solidFill>
                          <a:latin typeface="Verdana" pitchFamily="34" charset="0"/>
                          <a:ea typeface="Verdana" pitchFamily="34" charset="-122"/>
                          <a:cs typeface="Verdana" pitchFamily="34" charset="-120"/>
                        </a:rPr>
                        <a:t>n/a</a:t>
                      </a:r>
                      <a:endParaRPr lang="en-US" sz="8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ACACA"/>
                    </a:solidFill>
                  </a:tcPr>
                </a:tc>
              </a:tr>
            </a:tbl>
          </a:graphicData>
        </a:graphic>
      </p:graphicFrame>
      <p:sp>
        <p:nvSpPr>
          <p:cNvPr id="7" name="Text 4"/>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mapa de huecos es en sí un resultado. Tras incorporar los parámetros IRB del EBA, el riesgo y el capital de PYME son observados en los siete países. El hueco que queda es la comisión: solo España publica un tipo con comisiones para empresas.</a:t>
            </a:r>
            <a:endParaRPr lang="en-US" sz="1200" dirty="0"/>
          </a:p>
        </p:txBody>
      </p:sp>
      <p:sp>
        <p:nvSpPr>
          <p:cNvPr id="8" name="Shape 5"/>
          <p:cNvSpPr/>
          <p:nvPr/>
        </p:nvSpPr>
        <p:spPr>
          <a:xfrm>
            <a:off x="621792" y="5806440"/>
            <a:ext cx="1371600" cy="256032"/>
          </a:xfrm>
          <a:prstGeom prst="roundRect">
            <a:avLst>
              <a:gd name="adj" fmla="val 42857"/>
            </a:avLst>
          </a:prstGeom>
          <a:solidFill>
            <a:srgbClr val="77BFEE"/>
          </a:solidFill>
          <a:ln w="12700">
            <a:solidFill>
              <a:srgbClr val="77BFEE"/>
            </a:solidFill>
            <a:prstDash val="solid"/>
          </a:ln>
        </p:spPr>
      </p:sp>
      <p:sp>
        <p:nvSpPr>
          <p:cNvPr id="9" name="Text 6"/>
          <p:cNvSpPr txBox="1"/>
          <p:nvPr/>
        </p:nvSpPr>
        <p:spPr>
          <a:xfrm>
            <a:off x="6217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OBSERVADO</a:t>
            </a:r>
            <a:endParaRPr lang="en-US" sz="850" dirty="0"/>
          </a:p>
        </p:txBody>
      </p:sp>
      <p:sp>
        <p:nvSpPr>
          <p:cNvPr id="10" name="Shape 7"/>
          <p:cNvSpPr/>
          <p:nvPr/>
        </p:nvSpPr>
        <p:spPr>
          <a:xfrm>
            <a:off x="2450592" y="5806440"/>
            <a:ext cx="1371600" cy="256032"/>
          </a:xfrm>
          <a:prstGeom prst="roundRect">
            <a:avLst>
              <a:gd name="adj" fmla="val 42857"/>
            </a:avLst>
          </a:prstGeom>
          <a:solidFill>
            <a:srgbClr val="FFAB70"/>
          </a:solidFill>
          <a:ln w="12700">
            <a:solidFill>
              <a:srgbClr val="FFAB70"/>
            </a:solidFill>
            <a:prstDash val="solid"/>
          </a:ln>
        </p:spPr>
      </p:sp>
      <p:sp>
        <p:nvSpPr>
          <p:cNvPr id="11" name="Text 8"/>
          <p:cNvSpPr txBox="1"/>
          <p:nvPr/>
        </p:nvSpPr>
        <p:spPr>
          <a:xfrm>
            <a:off x="24505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PARCIAL o SUPUESTO</a:t>
            </a:r>
            <a:endParaRPr lang="en-US" sz="850" dirty="0"/>
          </a:p>
        </p:txBody>
      </p:sp>
      <p:sp>
        <p:nvSpPr>
          <p:cNvPr id="12" name="Shape 9"/>
          <p:cNvSpPr/>
          <p:nvPr/>
        </p:nvSpPr>
        <p:spPr>
          <a:xfrm>
            <a:off x="4279392" y="5806440"/>
            <a:ext cx="1371600" cy="256032"/>
          </a:xfrm>
          <a:prstGeom prst="roundRect">
            <a:avLst>
              <a:gd name="adj" fmla="val 42857"/>
            </a:avLst>
          </a:prstGeom>
          <a:solidFill>
            <a:srgbClr val="FF8AC2"/>
          </a:solidFill>
          <a:ln w="12700">
            <a:solidFill>
              <a:srgbClr val="FF8AC2"/>
            </a:solidFill>
            <a:prstDash val="solid"/>
          </a:ln>
        </p:spPr>
      </p:sp>
      <p:sp>
        <p:nvSpPr>
          <p:cNvPr id="13" name="Text 10"/>
          <p:cNvSpPr txBox="1"/>
          <p:nvPr/>
        </p:nvSpPr>
        <p:spPr>
          <a:xfrm>
            <a:off x="4279392" y="5806440"/>
            <a:ext cx="1371600" cy="256032"/>
          </a:xfrm>
          <a:prstGeom prst="rect">
            <a:avLst/>
          </a:prstGeom>
          <a:noFill/>
          <a:ln/>
        </p:spPr>
        <p:txBody>
          <a:bodyPr wrap="square" lIns="0" tIns="0" rIns="0" bIns="0" rtlCol="0" anchor="ctr"/>
          <a:lstStyle/>
          <a:p>
            <a:pPr algn="ctr" indent="0" marL="0">
              <a:buNone/>
            </a:pPr>
            <a:r>
              <a:rPr lang="en-US" sz="850" b="1" dirty="0">
                <a:solidFill>
                  <a:srgbClr val="2B2B2B"/>
                </a:solidFill>
                <a:latin typeface="Verdana" pitchFamily="34" charset="0"/>
                <a:ea typeface="Verdana" pitchFamily="34" charset="-122"/>
                <a:cs typeface="Verdana" pitchFamily="34" charset="-120"/>
              </a:rPr>
              <a:t>NO EXISTE</a:t>
            </a:r>
            <a:endParaRPr lang="en-US" sz="8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Fuentes: BCE (MIR), EBA Risk Dashboard, Banco de España (Boletín Estadístico), Banca d'Italia (STACORIS), OCDE, EUF.</a:t>
            </a:r>
            <a:endParaRPr lang="en-US" sz="7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2B2B2B"/>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41</a:t>
            </a:r>
            <a:endParaRPr lang="en-US" sz="800" dirty="0"/>
          </a:p>
        </p:txBody>
      </p:sp>
      <p:sp>
        <p:nvSpPr>
          <p:cNvPr id="4" name="Text 2"/>
          <p:cNvSpPr txBox="1"/>
          <p:nvPr/>
        </p:nvSpPr>
        <p:spPr>
          <a:xfrm>
            <a:off x="621792" y="502920"/>
            <a:ext cx="10945368" cy="548640"/>
          </a:xfrm>
          <a:prstGeom prst="rect">
            <a:avLst/>
          </a:prstGeom>
          <a:noFill/>
          <a:ln/>
        </p:spPr>
        <p:txBody>
          <a:bodyPr wrap="square" lIns="0" tIns="0" rIns="0" bIns="0" rtlCol="0" anchor="ctr"/>
          <a:lstStyle/>
          <a:p>
            <a:pPr indent="0" marL="0">
              <a:buNone/>
            </a:pPr>
            <a:r>
              <a:rPr lang="en-US" sz="3000" b="1" dirty="0">
                <a:solidFill>
                  <a:srgbClr val="FFFFFF"/>
                </a:solidFill>
                <a:latin typeface="Verdana" pitchFamily="34" charset="0"/>
                <a:ea typeface="Verdana" pitchFamily="34" charset="-122"/>
                <a:cs typeface="Verdana" pitchFamily="34" charset="-120"/>
              </a:rPr>
              <a:t>Lo que estos datos no permiten afirmar</a:t>
            </a:r>
            <a:endParaRPr lang="en-US" sz="3000" dirty="0"/>
          </a:p>
        </p:txBody>
      </p:sp>
      <p:sp>
        <p:nvSpPr>
          <p:cNvPr id="5" name="Text 3"/>
          <p:cNvSpPr txBox="1"/>
          <p:nvPr/>
        </p:nvSpPr>
        <p:spPr>
          <a:xfrm>
            <a:off x="621792" y="1078992"/>
            <a:ext cx="10945368" cy="365760"/>
          </a:xfrm>
          <a:prstGeom prst="rect">
            <a:avLst/>
          </a:prstGeom>
          <a:noFill/>
          <a:ln/>
        </p:spPr>
        <p:txBody>
          <a:bodyPr wrap="square" lIns="0" tIns="0" rIns="0" bIns="0" rtlCol="0" anchor="ctr"/>
          <a:lstStyle/>
          <a:p>
            <a:pPr indent="0" marL="0">
              <a:buNone/>
            </a:pPr>
            <a:r>
              <a:rPr lang="en-US" sz="1300" dirty="0">
                <a:solidFill>
                  <a:srgbClr val="A1A1A1"/>
                </a:solidFill>
                <a:latin typeface="Verdana" pitchFamily="34" charset="0"/>
                <a:ea typeface="Verdana" pitchFamily="34" charset="-122"/>
                <a:cs typeface="Verdana" pitchFamily="34" charset="-120"/>
              </a:rPr>
              <a:t>Cinco límites que conviene tener delante antes de usar cualquier cifra de este deck</a:t>
            </a:r>
            <a:endParaRPr lang="en-US" sz="1300" dirty="0"/>
          </a:p>
        </p:txBody>
      </p:sp>
      <p:sp>
        <p:nvSpPr>
          <p:cNvPr id="6" name="Shape 4"/>
          <p:cNvSpPr/>
          <p:nvPr/>
        </p:nvSpPr>
        <p:spPr>
          <a:xfrm>
            <a:off x="621792" y="1627632"/>
            <a:ext cx="347472" cy="347472"/>
          </a:xfrm>
          <a:prstGeom prst="ellipse">
            <a:avLst/>
          </a:prstGeom>
          <a:solidFill>
            <a:srgbClr val="F56600"/>
          </a:solidFill>
          <a:ln w="12700">
            <a:solidFill>
              <a:srgbClr val="F56600"/>
            </a:solidFill>
            <a:prstDash val="solid"/>
          </a:ln>
        </p:spPr>
      </p:sp>
      <p:sp>
        <p:nvSpPr>
          <p:cNvPr id="7" name="Text 5"/>
          <p:cNvSpPr txBox="1"/>
          <p:nvPr/>
        </p:nvSpPr>
        <p:spPr>
          <a:xfrm>
            <a:off x="621792" y="1627632"/>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1</a:t>
            </a:r>
            <a:endParaRPr lang="en-US" sz="1350" dirty="0"/>
          </a:p>
        </p:txBody>
      </p:sp>
      <p:sp>
        <p:nvSpPr>
          <p:cNvPr id="8" name="Text 6"/>
          <p:cNvSpPr txBox="1"/>
          <p:nvPr/>
        </p:nvSpPr>
        <p:spPr>
          <a:xfrm>
            <a:off x="1170432" y="1591056"/>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Rentabilidad comparable entre países</a:t>
            </a:r>
            <a:endParaRPr lang="en-US" sz="1350" dirty="0"/>
          </a:p>
        </p:txBody>
      </p:sp>
      <p:sp>
        <p:nvSpPr>
          <p:cNvPr id="9" name="Text 7"/>
          <p:cNvSpPr txBox="1"/>
          <p:nvPr/>
        </p:nvSpPr>
        <p:spPr>
          <a:xfrm>
            <a:off x="1170432" y="1874520"/>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Riesgo y capital de PYME ya son observados por país. Lo que sigue siendo supuesto es la comisión: solo España e Italia publican un tipo con comisiones para empresas, y con perímetros distintos. El ROE comparado es una hipótesis ordenada, no una medición.</a:t>
            </a:r>
            <a:endParaRPr lang="en-US" sz="1000" dirty="0"/>
          </a:p>
        </p:txBody>
      </p:sp>
      <p:sp>
        <p:nvSpPr>
          <p:cNvPr id="10" name="Shape 8"/>
          <p:cNvSpPr/>
          <p:nvPr/>
        </p:nvSpPr>
        <p:spPr>
          <a:xfrm>
            <a:off x="621792" y="2532888"/>
            <a:ext cx="347472" cy="347472"/>
          </a:xfrm>
          <a:prstGeom prst="ellipse">
            <a:avLst/>
          </a:prstGeom>
          <a:solidFill>
            <a:srgbClr val="F56600"/>
          </a:solidFill>
          <a:ln w="12700">
            <a:solidFill>
              <a:srgbClr val="F56600"/>
            </a:solidFill>
            <a:prstDash val="solid"/>
          </a:ln>
        </p:spPr>
      </p:sp>
      <p:sp>
        <p:nvSpPr>
          <p:cNvPr id="11" name="Text 9"/>
          <p:cNvSpPr txBox="1"/>
          <p:nvPr/>
        </p:nvSpPr>
        <p:spPr>
          <a:xfrm>
            <a:off x="621792" y="2532888"/>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2</a:t>
            </a:r>
            <a:endParaRPr lang="en-US" sz="1350" dirty="0"/>
          </a:p>
        </p:txBody>
      </p:sp>
      <p:sp>
        <p:nvSpPr>
          <p:cNvPr id="12" name="Text 10"/>
          <p:cNvSpPr txBox="1"/>
          <p:nvPr/>
        </p:nvSpPr>
        <p:spPr>
          <a:xfrm>
            <a:off x="1170432" y="2496312"/>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negocio PYME de cada banco</a:t>
            </a:r>
            <a:endParaRPr lang="en-US" sz="1350" dirty="0"/>
          </a:p>
        </p:txBody>
      </p:sp>
      <p:sp>
        <p:nvSpPr>
          <p:cNvPr id="13" name="Text 11"/>
          <p:cNvSpPr txBox="1"/>
          <p:nvPr/>
        </p:nvSpPr>
        <p:spPr>
          <a:xfrm>
            <a:off x="1170432" y="2779776"/>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De nueve bancos analizados, solo dos publican cuenta de resultados de un segmento de empresas con desglose de comisiones, y ninguno aísla PYME. La NIIF 8 obliga a reportar por los segmentos que usa la dirección, y casi ninguno usa «PYME».</a:t>
            </a:r>
            <a:endParaRPr lang="en-US" sz="1000" dirty="0"/>
          </a:p>
        </p:txBody>
      </p:sp>
      <p:sp>
        <p:nvSpPr>
          <p:cNvPr id="14" name="Shape 12"/>
          <p:cNvSpPr/>
          <p:nvPr/>
        </p:nvSpPr>
        <p:spPr>
          <a:xfrm>
            <a:off x="621792" y="3438144"/>
            <a:ext cx="347472" cy="347472"/>
          </a:xfrm>
          <a:prstGeom prst="ellipse">
            <a:avLst/>
          </a:prstGeom>
          <a:solidFill>
            <a:srgbClr val="F56600"/>
          </a:solidFill>
          <a:ln w="12700">
            <a:solidFill>
              <a:srgbClr val="F56600"/>
            </a:solidFill>
            <a:prstDash val="solid"/>
          </a:ln>
        </p:spPr>
      </p:sp>
      <p:sp>
        <p:nvSpPr>
          <p:cNvPr id="15" name="Text 13"/>
          <p:cNvSpPr txBox="1"/>
          <p:nvPr/>
        </p:nvSpPr>
        <p:spPr>
          <a:xfrm>
            <a:off x="621792" y="3438144"/>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3</a:t>
            </a:r>
            <a:endParaRPr lang="en-US" sz="1350" dirty="0"/>
          </a:p>
        </p:txBody>
      </p:sp>
      <p:sp>
        <p:nvSpPr>
          <p:cNvPr id="16" name="Text 14"/>
          <p:cNvSpPr txBox="1"/>
          <p:nvPr/>
        </p:nvSpPr>
        <p:spPr>
          <a:xfrm>
            <a:off x="1170432" y="3401568"/>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del factoring y del confirming</a:t>
            </a:r>
            <a:endParaRPr lang="en-US" sz="1350" dirty="0"/>
          </a:p>
        </p:txBody>
      </p:sp>
      <p:sp>
        <p:nvSpPr>
          <p:cNvPr id="17" name="Text 15"/>
          <p:cNvSpPr txBox="1"/>
          <p:nvPr/>
        </p:nvSpPr>
        <p:spPr>
          <a:xfrm>
            <a:off x="1170432" y="3685032"/>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es obtenible con fuentes públicas gratuitas en ninguno de los siete países. Es el único bloque que se cierra sin ningún dato de su objetivo.</a:t>
            </a:r>
            <a:endParaRPr lang="en-US" sz="1000" dirty="0"/>
          </a:p>
        </p:txBody>
      </p:sp>
      <p:sp>
        <p:nvSpPr>
          <p:cNvPr id="18" name="Shape 16"/>
          <p:cNvSpPr/>
          <p:nvPr/>
        </p:nvSpPr>
        <p:spPr>
          <a:xfrm>
            <a:off x="621792" y="4343400"/>
            <a:ext cx="347472" cy="347472"/>
          </a:xfrm>
          <a:prstGeom prst="ellipse">
            <a:avLst/>
          </a:prstGeom>
          <a:solidFill>
            <a:srgbClr val="F56600"/>
          </a:solidFill>
          <a:ln w="12700">
            <a:solidFill>
              <a:srgbClr val="F56600"/>
            </a:solidFill>
            <a:prstDash val="solid"/>
          </a:ln>
        </p:spPr>
      </p:sp>
      <p:sp>
        <p:nvSpPr>
          <p:cNvPr id="19" name="Text 17"/>
          <p:cNvSpPr txBox="1"/>
          <p:nvPr/>
        </p:nvSpPr>
        <p:spPr>
          <a:xfrm>
            <a:off x="621792" y="4343400"/>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4</a:t>
            </a:r>
            <a:endParaRPr lang="en-US" sz="1350" dirty="0"/>
          </a:p>
        </p:txBody>
      </p:sp>
      <p:sp>
        <p:nvSpPr>
          <p:cNvPr id="20" name="Text 18"/>
          <p:cNvSpPr txBox="1"/>
          <p:nvPr/>
        </p:nvSpPr>
        <p:spPr>
          <a:xfrm>
            <a:off x="1170432" y="4306824"/>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El precio de PYME de cada banco</a:t>
            </a:r>
            <a:endParaRPr lang="en-US" sz="1350" dirty="0"/>
          </a:p>
        </p:txBody>
      </p:sp>
      <p:sp>
        <p:nvSpPr>
          <p:cNvPr id="21" name="Text 19"/>
          <p:cNvSpPr txBox="1"/>
          <p:nvPr/>
        </p:nvSpPr>
        <p:spPr>
          <a:xfrm>
            <a:off x="1170432" y="4590288"/>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El Banco de España publica tipos y comisiones por entidad, pero su base legal es la Circular 5/2012, acotada a clientes «personas físicas». La circular que sí cubre a empresas, la 1/2010, publica solo agregado del sistema. Lo que hay por entidad no cubre empresas, y lo que cubre empresas no está por entidad.</a:t>
            </a:r>
            <a:endParaRPr lang="en-US" sz="1000" dirty="0"/>
          </a:p>
        </p:txBody>
      </p:sp>
      <p:sp>
        <p:nvSpPr>
          <p:cNvPr id="22" name="Shape 20"/>
          <p:cNvSpPr/>
          <p:nvPr/>
        </p:nvSpPr>
        <p:spPr>
          <a:xfrm>
            <a:off x="621792" y="5248656"/>
            <a:ext cx="347472" cy="347472"/>
          </a:xfrm>
          <a:prstGeom prst="ellipse">
            <a:avLst/>
          </a:prstGeom>
          <a:solidFill>
            <a:srgbClr val="F56600"/>
          </a:solidFill>
          <a:ln w="12700">
            <a:solidFill>
              <a:srgbClr val="F56600"/>
            </a:solidFill>
            <a:prstDash val="solid"/>
          </a:ln>
        </p:spPr>
      </p:sp>
      <p:sp>
        <p:nvSpPr>
          <p:cNvPr id="23" name="Text 21"/>
          <p:cNvSpPr txBox="1"/>
          <p:nvPr/>
        </p:nvSpPr>
        <p:spPr>
          <a:xfrm>
            <a:off x="621792" y="5248656"/>
            <a:ext cx="347472" cy="347472"/>
          </a:xfrm>
          <a:prstGeom prst="rect">
            <a:avLst/>
          </a:prstGeom>
          <a:noFill/>
          <a:ln/>
        </p:spPr>
        <p:txBody>
          <a:bodyPr wrap="square" lIns="0" tIns="0" rIns="0" bIns="0" rtlCol="0" anchor="ctr"/>
          <a:lstStyle/>
          <a:p>
            <a:pPr algn="ctr" indent="0" marL="0">
              <a:buNone/>
            </a:pPr>
            <a:r>
              <a:rPr lang="en-US" sz="1350" b="1" dirty="0">
                <a:solidFill>
                  <a:srgbClr val="2B2B2B"/>
                </a:solidFill>
                <a:latin typeface="Verdana" pitchFamily="34" charset="0"/>
                <a:ea typeface="Verdana" pitchFamily="34" charset="-122"/>
                <a:cs typeface="Verdana" pitchFamily="34" charset="-120"/>
              </a:rPr>
              <a:t>5</a:t>
            </a:r>
            <a:endParaRPr lang="en-US" sz="1350" dirty="0"/>
          </a:p>
        </p:txBody>
      </p:sp>
      <p:sp>
        <p:nvSpPr>
          <p:cNvPr id="24" name="Text 22"/>
          <p:cNvSpPr txBox="1"/>
          <p:nvPr/>
        </p:nvSpPr>
        <p:spPr>
          <a:xfrm>
            <a:off x="1170432" y="5212080"/>
            <a:ext cx="10515600" cy="274320"/>
          </a:xfrm>
          <a:prstGeom prst="rect">
            <a:avLst/>
          </a:prstGeom>
          <a:noFill/>
          <a:ln/>
        </p:spPr>
        <p:txBody>
          <a:bodyPr wrap="square" lIns="0" tIns="0" rIns="0" bIns="0" rtlCol="0" anchor="ctr"/>
          <a:lstStyle/>
          <a:p>
            <a:pPr indent="0" marL="0">
              <a:buNone/>
            </a:pPr>
            <a:r>
              <a:rPr lang="en-US" sz="1350" b="1" dirty="0">
                <a:solidFill>
                  <a:srgbClr val="FFFFFF"/>
                </a:solidFill>
                <a:latin typeface="Verdana" pitchFamily="34" charset="0"/>
                <a:ea typeface="Verdana" pitchFamily="34" charset="-122"/>
                <a:cs typeface="Verdana" pitchFamily="34" charset="-120"/>
              </a:rPr>
              <a:t>La hipoteca a PYME</a:t>
            </a:r>
            <a:endParaRPr lang="en-US" sz="1350" dirty="0"/>
          </a:p>
        </p:txBody>
      </p:sp>
      <p:sp>
        <p:nvSpPr>
          <p:cNvPr id="25" name="Text 23"/>
          <p:cNvSpPr txBox="1"/>
          <p:nvPr/>
        </p:nvSpPr>
        <p:spPr>
          <a:xfrm>
            <a:off x="1170432" y="5495544"/>
            <a:ext cx="10515600" cy="585216"/>
          </a:xfrm>
          <a:prstGeom prst="rect">
            <a:avLst/>
          </a:prstGeom>
          <a:noFill/>
          <a:ln/>
        </p:spPr>
        <p:txBody>
          <a:bodyPr wrap="square" lIns="0" tIns="0" rIns="0" bIns="0" rtlCol="0" anchor="ctr"/>
          <a:lstStyle/>
          <a:p>
            <a:pPr indent="0" marL="0">
              <a:buNone/>
            </a:pPr>
            <a:r>
              <a:rPr lang="en-US" sz="1000" dirty="0">
                <a:solidFill>
                  <a:srgbClr val="CACACA"/>
                </a:solidFill>
                <a:latin typeface="Verdana" pitchFamily="34" charset="0"/>
                <a:ea typeface="Verdana" pitchFamily="34" charset="-122"/>
                <a:cs typeface="Verdana" pitchFamily="34" charset="-120"/>
              </a:rPr>
              <a:t>No existe como estadística oficial europea. Lo que se muestra es exposición a inmueble comercial, que es otra cosa.</a:t>
            </a:r>
            <a:endParaRPr lang="en-US" sz="10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42</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Supuestos del modelo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Cada uno declarado, con su origen y su efecto · Dos de los iniciales han dejado de ser supuestos</a:t>
            </a:r>
            <a:endParaRPr lang="en-US" sz="105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621792" y="1572768"/>
          <a:ext cx="10945368" cy="914400"/>
        </p:xfrm>
        <a:graphic>
          <a:graphicData uri="http://schemas.openxmlformats.org/drawingml/2006/table">
            <a:tbl>
              <a:tblPr/>
              <a:tblGrid>
                <a:gridCol w="2468880"/>
                <a:gridCol w="1600200"/>
                <a:gridCol w="4114800"/>
                <a:gridCol w="2898648"/>
              </a:tblGrid>
              <a:tr h="457200">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Supuesto</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Valor</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Origen</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l" indent="0" marL="0">
                        <a:buNone/>
                      </a:pPr>
                      <a:r>
                        <a:rPr lang="en-US" sz="1100" b="1" dirty="0">
                          <a:solidFill>
                            <a:srgbClr val="FFFFFF"/>
                          </a:solidFill>
                          <a:latin typeface="Verdana" pitchFamily="34" charset="0"/>
                          <a:ea typeface="Verdana" pitchFamily="34" charset="-122"/>
                          <a:cs typeface="Verdana" pitchFamily="34" charset="-120"/>
                        </a:rPr>
                        <a:t>Efecto si cambia</a:t>
                      </a:r>
                      <a:endParaRPr lang="en-US" sz="11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 de comisiones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87 pb</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en España (TAE − TEDR, tramo ≤1 M€). Aplicada a los otros seis países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Mueve el ROE entre 3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 los recursos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0,37 % a 1,21 %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Observado. Tipos del MIR ponderados por saldos del BSI. Supone financiar el crédito PYME con depósito de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Con fondeo en mercado al 2,23 % los ROE caerían entre 6 y 12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Coste del riesgo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PD × LGD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Parámetros IRB de la clase «Corporates – Of Which: SME», mediana de entidades (COREP C 9.02)</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Densidad de RWA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35 % a 61 %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RWA sobre exposición de la cartera PYME (EBA Transparency Exercise)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Tipo impositivo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15,0 % a 30,1 %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Tipo aplicable a bancos: España 30 % por el art. 29 LIS, Irlanda 15 % por el mínimo de Pilar Dos, resto combinado 2026</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Eficiencia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EBA por país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Observada, pero de grupo consolidado y no de segmento PYME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Penaliza a países con banca universal compleja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Disposición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60 %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 el BCE ni el EBA ni el Banco de España publican límite y dispuesto de las líneas de crédito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Solo pesa si la comisión de disponibilidad se aparta de la neutral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Comisión de disponibilidad</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0,30 %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SUPUESTO. Ninguna estadística publica comisiones de líneas de crédito, ni siquiera el cuadro 19.6 del Banco de 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en el circulante. Mueve su ROE entre el 7 % y el 11 %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Conversión del disponible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CCF 10 %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YA NO ES SUPUESTO. CRR3, compromiso cancelable incondicionalmente. El no cancelable va al 40 %</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MEDIO. Al 40 % el ROE del circulante cae entre 1,1 y 2,5 puntos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r>
              <a:tr h="457200">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Perímetro del circulante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Todas las empresas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dirty="0">
                          <a:solidFill>
                            <a:srgbClr val="2B2B2B"/>
                          </a:solidFill>
                          <a:latin typeface="Verdana" pitchFamily="34" charset="0"/>
                          <a:ea typeface="Verdana" pitchFamily="34" charset="-122"/>
                          <a:cs typeface="Verdana" pitchFamily="34" charset="-120"/>
                        </a:rPr>
                        <a:t>NO ES SUPUESTO, ES UN LÍMITE DE LA FUENTE. La serie A2Z1 del MIR solo existe en categoría total. Riesgo y capital se toman del mismo perímetro para que cierre</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l" indent="0" marL="0">
                        <a:buNone/>
                      </a:pPr>
                      <a:r>
                        <a:rPr lang="en-US" sz="1000" b="1" dirty="0">
                          <a:solidFill>
                            <a:srgbClr val="2B2B2B"/>
                          </a:solidFill>
                          <a:latin typeface="Verdana" pitchFamily="34" charset="0"/>
                          <a:ea typeface="Verdana" pitchFamily="34" charset="-122"/>
                          <a:cs typeface="Verdana" pitchFamily="34" charset="-120"/>
                        </a:rPr>
                        <a:t>ALTO para comparar con el préstamo PYME: no son el mismo negocio</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bl>
          </a:graphicData>
        </a:graphic>
      </p:graphicFrame>
      <p:sp>
        <p:nvSpPr>
          <p:cNvPr id="7" name="Text 4"/>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El modelo completo y reproducible está en scripts/modelo_roe.py del repositorio. Cada fila del CSV de salida declara si el valor es observado o supuesto.</a:t>
            </a:r>
            <a:endParaRPr lang="en-US" sz="7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6675120" cy="6858000"/>
          </a:xfrm>
          <a:prstGeom prst="rect">
            <a:avLst/>
          </a:prstGeom>
          <a:solidFill>
            <a:srgbClr val="F56600"/>
          </a:solidFill>
          <a:ln w="12700">
            <a:solidFill>
              <a:srgbClr val="F56600"/>
            </a:solidFill>
            <a:prstDash val="solid"/>
          </a:ln>
        </p:spPr>
      </p:sp>
      <p:sp>
        <p:nvSpPr>
          <p:cNvPr id="3" name="Text 1"/>
          <p:cNvSpPr txBox="1"/>
          <p:nvPr/>
        </p:nvSpPr>
        <p:spPr>
          <a:xfrm>
            <a:off x="621792" y="1005840"/>
            <a:ext cx="2743200" cy="1188720"/>
          </a:xfrm>
          <a:prstGeom prst="rect">
            <a:avLst/>
          </a:prstGeom>
          <a:noFill/>
          <a:ln/>
        </p:spPr>
        <p:txBody>
          <a:bodyPr wrap="square" lIns="0" tIns="0" rIns="0" bIns="0" rtlCol="0" anchor="ctr"/>
          <a:lstStyle/>
          <a:p>
            <a:pPr indent="0" marL="0">
              <a:buNone/>
            </a:pPr>
            <a:r>
              <a:rPr lang="en-US" sz="5800" b="1" dirty="0">
                <a:solidFill>
                  <a:srgbClr val="FFFFFF">
                    <a:alpha val="55000"/>
                  </a:srgbClr>
                </a:solidFill>
                <a:latin typeface="Verdana" pitchFamily="34" charset="0"/>
                <a:ea typeface="Verdana" pitchFamily="34" charset="-122"/>
                <a:cs typeface="Verdana" pitchFamily="34" charset="-120"/>
              </a:rPr>
              <a:t>B</a:t>
            </a:r>
            <a:endParaRPr lang="en-US" sz="5800" dirty="0"/>
          </a:p>
        </p:txBody>
      </p:sp>
      <p:sp>
        <p:nvSpPr>
          <p:cNvPr id="4" name="Text 2"/>
          <p:cNvSpPr txBox="1"/>
          <p:nvPr/>
        </p:nvSpPr>
        <p:spPr>
          <a:xfrm>
            <a:off x="621792" y="2331720"/>
            <a:ext cx="5486400" cy="1371600"/>
          </a:xfrm>
          <a:prstGeom prst="rect">
            <a:avLst/>
          </a:prstGeom>
          <a:noFill/>
          <a:ln/>
        </p:spPr>
        <p:txBody>
          <a:bodyPr wrap="square" lIns="0" tIns="0" rIns="0" bIns="0" rtlCol="0" anchor="ctr"/>
          <a:lstStyle/>
          <a:p>
            <a:pPr indent="0" marL="0">
              <a:buNone/>
            </a:pPr>
            <a:r>
              <a:rPr lang="en-US" sz="3100" b="1" dirty="0">
                <a:solidFill>
                  <a:srgbClr val="FFFFFF"/>
                </a:solidFill>
                <a:latin typeface="Verdana" pitchFamily="34" charset="0"/>
                <a:ea typeface="Verdana" pitchFamily="34" charset="-122"/>
                <a:cs typeface="Verdana" pitchFamily="34" charset="-120"/>
              </a:rPr>
              <a:t>Información</a:t>
            </a:r>
            <a:endParaRPr lang="en-US" sz="3100" dirty="0"/>
          </a:p>
          <a:p>
            <a:pPr indent="0" marL="0">
              <a:buNone/>
            </a:pPr>
            <a:r>
              <a:rPr lang="en-US" sz="3100" b="1" dirty="0">
                <a:solidFill>
                  <a:srgbClr val="FFFFFF"/>
                </a:solidFill>
                <a:latin typeface="Verdana" pitchFamily="34" charset="0"/>
                <a:ea typeface="Verdana" pitchFamily="34" charset="-122"/>
                <a:cs typeface="Verdana" pitchFamily="34" charset="-120"/>
              </a:rPr>
              <a:t>relevante</a:t>
            </a:r>
            <a:endParaRPr lang="en-US" sz="3100" dirty="0"/>
          </a:p>
        </p:txBody>
      </p:sp>
      <p:sp>
        <p:nvSpPr>
          <p:cNvPr id="5" name="Text 3"/>
          <p:cNvSpPr txBox="1"/>
          <p:nvPr/>
        </p:nvSpPr>
        <p:spPr>
          <a:xfrm>
            <a:off x="621792" y="3794760"/>
            <a:ext cx="5212080" cy="1005840"/>
          </a:xfrm>
          <a:prstGeom prst="rect">
            <a:avLst/>
          </a:prstGeom>
          <a:noFill/>
          <a:ln/>
        </p:spPr>
        <p:txBody>
          <a:bodyPr wrap="square" lIns="0" tIns="0" rIns="0" bIns="0" rtlCol="0" anchor="ctr"/>
          <a:lstStyle/>
          <a:p>
            <a:pPr indent="0" marL="0">
              <a:buNone/>
            </a:pPr>
            <a:r>
              <a:rPr lang="en-US" sz="1250" dirty="0">
                <a:solidFill>
                  <a:srgbClr val="FFFFFF">
                    <a:alpha val="82000"/>
                  </a:srgbClr>
                </a:solidFill>
                <a:latin typeface="Verdana" pitchFamily="34" charset="0"/>
                <a:ea typeface="Verdana" pitchFamily="34" charset="-122"/>
                <a:cs typeface="Verdana" pitchFamily="34" charset="-120"/>
              </a:rPr>
              <a:t>Material de apoyo sobre riesgo, capital y productos sin precio público</a:t>
            </a:r>
            <a:endParaRPr lang="en-US" sz="1250" dirty="0"/>
          </a:p>
        </p:txBody>
      </p:sp>
      <p:sp>
        <p:nvSpPr>
          <p:cNvPr id="6" name="Shape 4"/>
          <p:cNvSpPr/>
          <p:nvPr/>
        </p:nvSpPr>
        <p:spPr>
          <a:xfrm>
            <a:off x="6053328" y="822960"/>
            <a:ext cx="1243584" cy="1243584"/>
          </a:xfrm>
          <a:prstGeom prst="rect">
            <a:avLst/>
          </a:prstGeom>
          <a:solidFill>
            <a:srgbClr val="FFD200"/>
          </a:solidFill>
          <a:ln w="12700">
            <a:solidFill>
              <a:srgbClr val="FFD200"/>
            </a:solidFill>
            <a:prstDash val="solid"/>
          </a:ln>
        </p:spPr>
      </p:sp>
      <p:sp>
        <p:nvSpPr>
          <p:cNvPr id="7" name="Shape 5"/>
          <p:cNvSpPr/>
          <p:nvPr/>
        </p:nvSpPr>
        <p:spPr>
          <a:xfrm>
            <a:off x="7589520" y="1188720"/>
            <a:ext cx="3977640" cy="4480560"/>
          </a:xfrm>
          <a:prstGeom prst="rect">
            <a:avLst/>
          </a:prstGeom>
          <a:solidFill>
            <a:srgbClr val="F56600"/>
          </a:solidFill>
          <a:ln w="12700">
            <a:solidFill>
              <a:srgbClr val="F56600"/>
            </a:solidFill>
            <a:prstDash val="solid"/>
          </a:ln>
        </p:spPr>
      </p:sp>
      <p:sp>
        <p:nvSpPr>
          <p:cNvPr id="8" name="Shape 6"/>
          <p:cNvSpPr/>
          <p:nvPr/>
        </p:nvSpPr>
        <p:spPr>
          <a:xfrm>
            <a:off x="9777222" y="1636776"/>
            <a:ext cx="1193292" cy="1344168"/>
          </a:xfrm>
          <a:prstGeom prst="rect">
            <a:avLst/>
          </a:prstGeom>
          <a:solidFill>
            <a:srgbClr val="FFD200"/>
          </a:solidFill>
          <a:ln w="12700">
            <a:solidFill>
              <a:srgbClr val="FFD200"/>
            </a:solidFill>
            <a:prstDash val="solid"/>
          </a:ln>
        </p:spPr>
      </p:sp>
      <p:sp>
        <p:nvSpPr>
          <p:cNvPr id="9" name="Shape 7"/>
          <p:cNvSpPr/>
          <p:nvPr/>
        </p:nvSpPr>
        <p:spPr>
          <a:xfrm>
            <a:off x="8066837" y="3787445"/>
            <a:ext cx="1034186" cy="1344168"/>
          </a:xfrm>
          <a:prstGeom prst="rect">
            <a:avLst/>
          </a:prstGeom>
          <a:solidFill>
            <a:srgbClr val="FFFFFF"/>
          </a:solidFill>
          <a:ln w="12700">
            <a:solidFill>
              <a:srgbClr val="FFFFFF"/>
            </a:solidFill>
            <a:prstDash val="solid"/>
          </a:ln>
        </p:spPr>
      </p:sp>
      <p:sp>
        <p:nvSpPr>
          <p:cNvPr id="10" name="Shape 8"/>
          <p:cNvSpPr/>
          <p:nvPr/>
        </p:nvSpPr>
        <p:spPr>
          <a:xfrm>
            <a:off x="10055657" y="3653028"/>
            <a:ext cx="875081" cy="985723"/>
          </a:xfrm>
          <a:prstGeom prst="rect">
            <a:avLst/>
          </a:prstGeom>
          <a:solidFill>
            <a:srgbClr val="FFAB70"/>
          </a:solidFill>
          <a:ln w="12700">
            <a:solidFill>
              <a:srgbClr val="FFAB70"/>
            </a:solidFill>
            <a:prstDash val="solid"/>
          </a:ln>
        </p:spPr>
      </p:sp>
      <p:sp>
        <p:nvSpPr>
          <p:cNvPr id="11" name="Text 9"/>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44</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NPL por segmento</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La PYME es el peor segmento en los siete países · Ratio de NPL, stock de dudosos · 2026-Q1 · Muestra de bancos del EBA</a:t>
            </a:r>
            <a:endParaRPr lang="en-US" sz="1050" dirty="0"/>
          </a:p>
        </p:txBody>
      </p:sp>
      <p:graphicFrame>
        <p:nvGraphicFramePr>
          <p:cNvPr id="6" name="Chart 0" descr=""/>
          <p:cNvGraphicFramePr/>
          <p:nvPr/>
        </p:nvGraphicFramePr>
        <p:xfrm>
          <a:off x="621792" y="1645920"/>
          <a:ext cx="7315200" cy="374904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8092440" y="1645920"/>
            <a:ext cx="3547872" cy="3749040"/>
          </a:xfrm>
          <a:prstGeom prst="roundRect">
            <a:avLst>
              <a:gd name="adj" fmla="val 1546"/>
            </a:avLst>
          </a:prstGeom>
          <a:solidFill>
            <a:srgbClr val="FFCCE8"/>
          </a:solidFill>
          <a:ln w="12700">
            <a:solidFill>
              <a:srgbClr val="FF8AC2"/>
            </a:solidFill>
            <a:prstDash val="solid"/>
          </a:ln>
        </p:spPr>
      </p:sp>
      <p:sp>
        <p:nvSpPr>
          <p:cNvPr id="8" name="Text 5"/>
          <p:cNvSpPr txBox="1"/>
          <p:nvPr/>
        </p:nvSpPr>
        <p:spPr>
          <a:xfrm>
            <a:off x="8275320" y="1783080"/>
            <a:ext cx="3200400" cy="292608"/>
          </a:xfrm>
          <a:prstGeom prst="rect">
            <a:avLst/>
          </a:prstGeom>
          <a:noFill/>
          <a:ln/>
        </p:spPr>
        <p:txBody>
          <a:bodyPr wrap="square" lIns="0" tIns="0" rIns="0" bIns="0" rtlCol="0" anchor="ctr"/>
          <a:lstStyle/>
          <a:p>
            <a:pPr indent="0" marL="0">
              <a:buNone/>
            </a:pPr>
            <a:r>
              <a:rPr lang="en-US" sz="1300" b="1" dirty="0">
                <a:solidFill>
                  <a:srgbClr val="2B2B2B"/>
                </a:solidFill>
                <a:latin typeface="Verdana" pitchFamily="34" charset="0"/>
                <a:ea typeface="Verdana" pitchFamily="34" charset="-122"/>
                <a:cs typeface="Verdana" pitchFamily="34" charset="-120"/>
              </a:rPr>
              <a:t>Prima de riesgo PYME</a:t>
            </a:r>
            <a:endParaRPr lang="en-US" sz="1300" dirty="0"/>
          </a:p>
        </p:txBody>
      </p:sp>
      <p:sp>
        <p:nvSpPr>
          <p:cNvPr id="9" name="Text 6"/>
          <p:cNvSpPr txBox="1"/>
          <p:nvPr/>
        </p:nvSpPr>
        <p:spPr>
          <a:xfrm>
            <a:off x="8275320" y="2194560"/>
            <a:ext cx="3200400" cy="3017520"/>
          </a:xfrm>
          <a:prstGeom prst="rect">
            <a:avLst/>
          </a:prstGeom>
          <a:noFill/>
          <a:ln/>
        </p:spPr>
        <p:txBody>
          <a:bodyPr wrap="square" lIns="0" tIns="0" rIns="0" bIns="0" rtlCol="0" anchor="ctr"/>
          <a:lstStyle/>
          <a:p>
            <a:pPr indent="0" marL="0">
              <a:buNone/>
            </a:pPr>
            <a:r>
              <a:rPr lang="en-US" sz="1100" dirty="0">
                <a:solidFill>
                  <a:srgbClr val="2B2B2B"/>
                </a:solidFill>
                <a:latin typeface="Verdana" pitchFamily="34" charset="0"/>
                <a:ea typeface="Verdana" pitchFamily="34" charset="-122"/>
                <a:cs typeface="Verdana" pitchFamily="34" charset="-120"/>
              </a:rPr>
              <a:t>Diferencia entre el NPL de PYME y el de empresas, en puntos:</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+2,39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Italia  +1,50</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Francia  +1,19</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Portugal  +0,58</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Alemania  +0,51</a:t>
            </a: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P. Bajos  +0,27</a:t>
            </a:r>
            <a:endParaRPr lang="en-US" sz="1100" dirty="0"/>
          </a:p>
          <a:p>
            <a:pPr indent="0" marL="0">
              <a:buNone/>
            </a:pPr>
            <a:endParaRPr lang="en-US" sz="1100" dirty="0"/>
          </a:p>
          <a:p>
            <a:pPr indent="0" marL="0">
              <a:buNone/>
            </a:pPr>
            <a:r>
              <a:rPr lang="en-US" sz="1100" dirty="0">
                <a:solidFill>
                  <a:srgbClr val="2B2B2B"/>
                </a:solidFill>
                <a:latin typeface="Verdana" pitchFamily="34" charset="0"/>
                <a:ea typeface="Verdana" pitchFamily="34" charset="-122"/>
                <a:cs typeface="Verdana" pitchFamily="34" charset="-120"/>
              </a:rPr>
              <a:t>España tiene el peor NPL de PYME de los seis (5,38 %) y a la vez el spread de precio más estrecho.</a:t>
            </a:r>
            <a:endParaRPr lang="en-US" sz="1100" dirty="0"/>
          </a:p>
        </p:txBody>
      </p:sp>
      <p:sp>
        <p:nvSpPr>
          <p:cNvPr id="10" name="Text 7"/>
          <p:cNvSpPr txBox="1"/>
          <p:nvPr/>
        </p:nvSpPr>
        <p:spPr>
          <a:xfrm>
            <a:off x="621792" y="5468112"/>
            <a:ext cx="7315200" cy="502920"/>
          </a:xfrm>
          <a:prstGeom prst="rect">
            <a:avLst/>
          </a:prstGeom>
          <a:noFill/>
          <a:ln/>
        </p:spPr>
        <p:txBody>
          <a:bodyPr wrap="square" lIns="0" tIns="0" rIns="0" bIns="0" rtlCol="0" anchor="ctr"/>
          <a:lstStyle/>
          <a:p>
            <a:pPr indent="0" marL="0">
              <a:buNone/>
            </a:pPr>
            <a:r>
              <a:rPr lang="en-US" sz="1000" b="1" dirty="0">
                <a:solidFill>
                  <a:srgbClr val="2B2B2B"/>
                </a:solidFill>
                <a:latin typeface="Verdana" pitchFamily="34" charset="0"/>
                <a:ea typeface="Verdana" pitchFamily="34" charset="-122"/>
                <a:cs typeface="Verdana" pitchFamily="34" charset="-120"/>
              </a:rPr>
              <a:t>ATENCIÓN: esto es el ratio de NPL, un STOCK de dudosos sobre cartera. NO es el coste del riesgo que usa el modelo, que es un flujo anual calculado como PD × LGD (lámina siguiente).</a:t>
            </a:r>
            <a:endParaRPr lang="en-US" sz="1000" dirty="0"/>
          </a:p>
        </p:txBody>
      </p:sp>
      <p:sp>
        <p:nvSpPr>
          <p:cNvPr id="11" name="Text 8"/>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anexo de datos Q1 2026, desgloses «of which SMEs» y «of which CRE». Es la muestra de bancos del EBA, no el sistema completo.</a:t>
            </a:r>
            <a:endParaRPr lang="en-US" sz="7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45</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Spread PYME frente a gran empresa: PD y LGD</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Parámetros IRB, mediana de entidades · 2026-Q1 · La PYME falla más pero recupera mejor</a:t>
            </a:r>
            <a:endParaRPr lang="en-US" sz="1050" dirty="0"/>
          </a:p>
        </p:txBody>
      </p:sp>
      <p:graphicFrame>
        <p:nvGraphicFramePr>
          <p:cNvPr id="6" name="Chart 0" descr=""/>
          <p:cNvGraphicFramePr/>
          <p:nvPr/>
        </p:nvGraphicFramePr>
        <p:xfrm>
          <a:off x="621792" y="1600200"/>
          <a:ext cx="5943600" cy="2148840"/>
        </p:xfrm>
        <a:graphic xmlns:a="http://schemas.openxmlformats.org/drawingml/2006/main">
          <a:graphicData uri="http://schemas.openxmlformats.org/drawingml/2006/chart">
            <c:chart xmlns:c="http://schemas.openxmlformats.org/drawingml/2006/chart" r:id="rId1"/>
          </a:graphicData>
        </a:graphic>
      </p:graphicFrame>
      <p:graphicFrame>
        <p:nvGraphicFramePr>
          <p:cNvPr id="7" name="Chart 1" descr=""/>
          <p:cNvGraphicFramePr/>
          <p:nvPr/>
        </p:nvGraphicFramePr>
        <p:xfrm>
          <a:off x="6355080" y="1600200"/>
          <a:ext cx="5285232" cy="2148840"/>
        </p:xfrm>
        <a:graphic xmlns:a="http://schemas.openxmlformats.org/drawingml/2006/main">
          <a:graphicData uri="http://schemas.openxmlformats.org/drawingml/2006/chart">
            <c:chart xmlns:c="http://schemas.openxmlformats.org/drawingml/2006/chart" r:id="rId2"/>
          </a:graphicData>
        </a:graphic>
      </p:graphicFrame>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21792" y="3950208"/>
          <a:ext cx="10945368" cy="914400"/>
        </p:xfrm>
        <a:graphic>
          <a:graphicData uri="http://schemas.openxmlformats.org/drawingml/2006/table">
            <a:tbl>
              <a:tblPr/>
              <a:tblGrid>
                <a:gridCol w="2651760"/>
                <a:gridCol w="1206094"/>
                <a:gridCol w="1206094"/>
                <a:gridCol w="1206094"/>
                <a:gridCol w="1206094"/>
                <a:gridCol w="1206094"/>
                <a:gridCol w="1206094"/>
                <a:gridCol w="1206094"/>
              </a:tblGrid>
              <a:tr h="329184">
                <a:tc>
                  <a:txBody>
                    <a:bodyPr/>
                    <a:lstStyle/>
                    <a:p>
                      <a:pPr algn="l" indent="0" marL="0">
                        <a:buNone/>
                      </a:pPr>
                      <a:r>
                        <a:rPr lang="en-US" sz="1000" b="1" dirty="0">
                          <a:solidFill>
                            <a:srgbClr val="FFFFFF"/>
                          </a:solidFill>
                          <a:latin typeface="Verdana" pitchFamily="34" charset="0"/>
                          <a:ea typeface="Verdana" pitchFamily="34" charset="-122"/>
                          <a:cs typeface="Verdana" pitchFamily="34" charset="-120"/>
                        </a:rPr>
                        <a:t>Spread PYME − gran empresa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España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Alemania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Francia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Italia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Portugal</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P. Bajos</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c>
                  <a:txBody>
                    <a:bodyPr/>
                    <a:lstStyle/>
                    <a:p>
                      <a:pPr algn="ctr" indent="0" marL="0">
                        <a:buNone/>
                      </a:pPr>
                      <a:r>
                        <a:rPr lang="en-US" sz="1000" b="1" dirty="0">
                          <a:solidFill>
                            <a:srgbClr val="FFFFFF"/>
                          </a:solidFill>
                          <a:latin typeface="Verdana" pitchFamily="34" charset="0"/>
                          <a:ea typeface="Verdana" pitchFamily="34" charset="-122"/>
                          <a:cs typeface="Verdana" pitchFamily="34" charset="-120"/>
                        </a:rPr>
                        <a:t>Irlanda</a:t>
                      </a:r>
                      <a:endParaRPr lang="en-US" sz="100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56600"/>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+116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+76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+159</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+93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+66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+82</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LGD (puntos porcentuales)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-8.1</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-8.5</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0.0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CCE8"/>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-10.3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C7E3F9"/>
                    </a:solidFill>
                  </a:tcPr>
                </a:tc>
              </a:tr>
              <a:tr h="329184">
                <a:tc>
                  <a:txBody>
                    <a:bodyPr/>
                    <a:lstStyle/>
                    <a:p>
                      <a:pPr algn="l" indent="0" marL="0">
                        <a:buNone/>
                      </a:pPr>
                      <a:r>
                        <a:rPr lang="en-US" sz="1050" b="1" dirty="0">
                          <a:solidFill>
                            <a:srgbClr val="2B2B2B"/>
                          </a:solidFill>
                          <a:latin typeface="Verdana" pitchFamily="34" charset="0"/>
                          <a:ea typeface="Verdana" pitchFamily="34" charset="-122"/>
                          <a:cs typeface="Verdana" pitchFamily="34" charset="-120"/>
                        </a:rPr>
                        <a:t>PD × LGD (puntos básicos)</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E5E5E5"/>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+36</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+20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+44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+53</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+37</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+14</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c>
                  <a:txBody>
                    <a:bodyPr/>
                    <a:lstStyle/>
                    <a:p>
                      <a:pPr algn="ctr" indent="0" marL="0">
                        <a:buNone/>
                      </a:pPr>
                      <a:r>
                        <a:rPr lang="en-US" sz="1050" b="1" dirty="0">
                          <a:solidFill>
                            <a:srgbClr val="2B2B2B"/>
                          </a:solidFill>
                          <a:latin typeface="Verdana" pitchFamily="34" charset="0"/>
                          <a:ea typeface="Verdana" pitchFamily="34" charset="-122"/>
                          <a:cs typeface="Verdana" pitchFamily="34" charset="-120"/>
                        </a:rPr>
                        <a:t>+30</a:t>
                      </a:r>
                      <a:endParaRPr lang="en-US" sz="1050" dirty="0">
                        <a:latin typeface="Verdana" charset="0"/>
                        <a:ea typeface="Verdana" charset="0"/>
                        <a:cs typeface="Verdana" charset="0"/>
                      </a:endParaRPr>
                    </a:p>
                  </a:txBody>
                  <a:tcPr marL="91440" marR="91440" marT="45720" marB="45720" anchor="ctr">
                    <a:lnL w="6350" cap="flat" cmpd="sng" algn="ctr">
                      <a:solidFill>
                        <a:srgbClr val="CACACA"/>
                      </a:solidFill>
                      <a:prstDash val="solid"/>
                      <a:round/>
                      <a:headEnd type="none" w="med" len="med"/>
                      <a:tailEnd type="none" w="med" len="med"/>
                    </a:lnL>
                    <a:lnR w="6350" cap="flat" cmpd="sng" algn="ctr">
                      <a:solidFill>
                        <a:srgbClr val="CACACA"/>
                      </a:solidFill>
                      <a:prstDash val="solid"/>
                      <a:round/>
                      <a:headEnd type="none" w="med" len="med"/>
                      <a:tailEnd type="none" w="med" len="med"/>
                    </a:lnR>
                    <a:lnT w="6350" cap="flat" cmpd="sng" algn="ctr">
                      <a:solidFill>
                        <a:srgbClr val="CACACA"/>
                      </a:solidFill>
                      <a:prstDash val="solid"/>
                      <a:round/>
                      <a:headEnd type="none" w="med" len="med"/>
                      <a:tailEnd type="none" w="med" len="med"/>
                    </a:lnT>
                    <a:lnB w="6350" cap="flat" cmpd="sng" algn="ctr">
                      <a:solidFill>
                        <a:srgbClr val="CACACA"/>
                      </a:solidFill>
                      <a:prstDash val="solid"/>
                      <a:round/>
                      <a:headEnd type="none" w="med" len="med"/>
                      <a:tailEnd type="none" w="med" len="med"/>
                    </a:lnB>
                    <a:solidFill>
                      <a:srgbClr val="FFD6BA"/>
                    </a:solidFill>
                  </a:tcPr>
                </a:tc>
              </a:tr>
            </a:tbl>
          </a:graphicData>
        </a:graphic>
      </p:graphicFrame>
      <p:sp>
        <p:nvSpPr>
          <p:cNvPr id="9" name="Shape 4"/>
          <p:cNvSpPr/>
          <p:nvPr/>
        </p:nvSpPr>
        <p:spPr>
          <a:xfrm>
            <a:off x="621792" y="5440680"/>
            <a:ext cx="10945368" cy="777240"/>
          </a:xfrm>
          <a:prstGeom prst="roundRect">
            <a:avLst>
              <a:gd name="adj" fmla="val 7059"/>
            </a:avLst>
          </a:prstGeom>
          <a:solidFill>
            <a:srgbClr val="FFF4C2"/>
          </a:solidFill>
          <a:ln w="12700">
            <a:solidFill>
              <a:srgbClr val="FFE066"/>
            </a:solidFill>
            <a:prstDash val="solid"/>
          </a:ln>
        </p:spPr>
      </p:sp>
      <p:sp>
        <p:nvSpPr>
          <p:cNvPr id="10" name="Text 5"/>
          <p:cNvSpPr txBox="1"/>
          <p:nvPr/>
        </p:nvSpPr>
        <p:spPr>
          <a:xfrm>
            <a:off x="822960" y="5376672"/>
            <a:ext cx="10835640" cy="585216"/>
          </a:xfrm>
          <a:prstGeom prst="rect">
            <a:avLst/>
          </a:prstGeom>
          <a:noFill/>
          <a:ln/>
        </p:spPr>
        <p:txBody>
          <a:bodyPr wrap="square" lIns="0" tIns="0" rIns="0" bIns="0" rtlCol="0" anchor="ctr"/>
          <a:lstStyle/>
          <a:p>
            <a:pPr indent="0" marL="0">
              <a:buNone/>
            </a:pPr>
            <a:r>
              <a:rPr lang="en-US" sz="950" b="1" dirty="0">
                <a:solidFill>
                  <a:srgbClr val="2B2B2B"/>
                </a:solidFill>
                <a:latin typeface="Verdana" pitchFamily="34" charset="0"/>
                <a:ea typeface="Verdana" pitchFamily="34" charset="-122"/>
                <a:cs typeface="Verdana" pitchFamily="34" charset="-120"/>
              </a:rPr>
              <a:t>Cautela con el LGD de gran empresa. </a:t>
            </a:r>
            <a:pPr indent="0" marL="0">
              <a:buNone/>
            </a:pPr>
            <a:r>
              <a:rPr lang="en-US" sz="950" dirty="0">
                <a:solidFill>
                  <a:srgbClr val="2B2B2B"/>
                </a:solidFill>
                <a:latin typeface="Verdana" pitchFamily="34" charset="0"/>
                <a:ea typeface="Verdana" pitchFamily="34" charset="-122"/>
                <a:cs typeface="Verdana" pitchFamily="34" charset="-120"/>
              </a:rPr>
              <a:t>Está agrupado en el 40,0 % en los siete países y en todo el reparto (percentiles 25, 50 y 75), porque es el valor supervisor del IRB básico bajo CRR3, no una estimación propia. La ventaja de severidad de la PYME es real —viene de mayor garantía real— pero está exagerada por ese efecto: en media ponderada la brecha se reduce a la mitad (PYME 23,6–37,9 % frente a gran empresa 35,0–38,8 %). El spread de PD, en cambio, es sólido: la PD sí es estimación propia en ambas clases.</a:t>
            </a:r>
            <a:endParaRPr lang="en-US" sz="950" dirty="0"/>
          </a:p>
        </p:txBody>
      </p:sp>
      <p:sp>
        <p:nvSpPr>
          <p:cNvPr id="11" name="Text 6"/>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anexo de parámetros de riesgo del Risk Dashboard Q1 2026, origen COREP C 9.02. Clases «Corporates – Of Which: SME» y «Corporates – Of Which: Large corporates».</a:t>
            </a:r>
            <a:endParaRPr lang="en-US" sz="7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46</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Mitigar el coste del riesgo: dónde está la palanca</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Cuánto cae el coste del riesgo de cada país si iguala la mejor PD o la mejor LGD de las siete · Puntos básicos</a:t>
            </a:r>
            <a:endParaRPr lang="en-US" sz="1050" dirty="0"/>
          </a:p>
        </p:txBody>
      </p:sp>
      <p:graphicFrame>
        <p:nvGraphicFramePr>
          <p:cNvPr id="6" name="Chart 0" descr=""/>
          <p:cNvGraphicFramePr/>
          <p:nvPr/>
        </p:nvGraphicFramePr>
        <p:xfrm>
          <a:off x="621792" y="1627632"/>
          <a:ext cx="6858000" cy="324612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452360" y="1627632"/>
            <a:ext cx="4187952" cy="1874520"/>
          </a:xfrm>
          <a:prstGeom prst="roundRect">
            <a:avLst>
              <a:gd name="adj" fmla="val 2927"/>
            </a:avLst>
          </a:prstGeom>
          <a:solidFill>
            <a:srgbClr val="FFF4C2"/>
          </a:solidFill>
          <a:ln w="12700">
            <a:solidFill>
              <a:srgbClr val="FFE066"/>
            </a:solidFill>
            <a:prstDash val="solid"/>
          </a:ln>
        </p:spPr>
      </p:sp>
      <p:sp>
        <p:nvSpPr>
          <p:cNvPr id="8" name="Text 5"/>
          <p:cNvSpPr txBox="1"/>
          <p:nvPr/>
        </p:nvSpPr>
        <p:spPr>
          <a:xfrm>
            <a:off x="7635240" y="1737360"/>
            <a:ext cx="3840480" cy="457200"/>
          </a:xfrm>
          <a:prstGeom prst="rect">
            <a:avLst/>
          </a:prstGeom>
          <a:noFill/>
          <a:ln/>
        </p:spPr>
        <p:txBody>
          <a:bodyPr wrap="square" lIns="0" tIns="0" rIns="0" bIns="0" rtlCol="0" anchor="ctr"/>
          <a:lstStyle/>
          <a:p>
            <a:pPr indent="0" marL="0">
              <a:buNone/>
            </a:pPr>
            <a:r>
              <a:rPr lang="en-US" sz="1200" b="1" dirty="0">
                <a:solidFill>
                  <a:srgbClr val="2B2B2B"/>
                </a:solidFill>
                <a:latin typeface="Verdana" pitchFamily="34" charset="0"/>
                <a:ea typeface="Verdana" pitchFamily="34" charset="-122"/>
                <a:cs typeface="Verdana" pitchFamily="34" charset="-120"/>
              </a:rPr>
              <a:t>La selección pesa el triple que la recuperación</a:t>
            </a:r>
            <a:endParaRPr lang="en-US" sz="1200" dirty="0"/>
          </a:p>
        </p:txBody>
      </p:sp>
      <p:sp>
        <p:nvSpPr>
          <p:cNvPr id="9" name="Text 6"/>
          <p:cNvSpPr txBox="1"/>
          <p:nvPr/>
        </p:nvSpPr>
        <p:spPr>
          <a:xfrm>
            <a:off x="7635240" y="2194560"/>
            <a:ext cx="3840480" cy="1188720"/>
          </a:xfrm>
          <a:prstGeom prst="rect">
            <a:avLst/>
          </a:prstGeom>
          <a:noFill/>
          <a:ln/>
        </p:spPr>
        <p:txBody>
          <a:bodyPr wrap="square" lIns="0" tIns="0" rIns="0" bIns="0" rtlCol="0" anchor="ctr"/>
          <a:lstStyle/>
          <a:p>
            <a:pPr indent="0" marL="0">
              <a:buNone/>
            </a:pPr>
            <a:r>
              <a:rPr lang="en-US" sz="950" dirty="0">
                <a:solidFill>
                  <a:srgbClr val="2B2B2B"/>
                </a:solidFill>
                <a:latin typeface="Verdana" pitchFamily="34" charset="0"/>
                <a:ea typeface="Verdana" pitchFamily="34" charset="-122"/>
                <a:cs typeface="Verdana" pitchFamily="34" charset="-120"/>
              </a:rPr>
              <a:t>Igualar la PD a la mejor de las siete elimina el 75 % de la dispersión del coste del riesgo entre países. Igualar la LGD solo elimina el 22 %.</a:t>
            </a:r>
            <a:endParaRPr lang="en-US" sz="950" dirty="0"/>
          </a:p>
          <a:p>
            <a:pPr indent="0" marL="0">
              <a:buNone/>
            </a:pPr>
            <a:endParaRPr lang="en-US" sz="950" dirty="0"/>
          </a:p>
          <a:p>
            <a:pPr indent="0" marL="0">
              <a:buNone/>
            </a:pPr>
            <a:r>
              <a:rPr lang="en-US" sz="950" dirty="0">
                <a:solidFill>
                  <a:srgbClr val="2B2B2B"/>
                </a:solidFill>
                <a:latin typeface="Verdana" pitchFamily="34" charset="0"/>
                <a:ea typeface="Verdana" pitchFamily="34" charset="-122"/>
                <a:cs typeface="Verdana" pitchFamily="34" charset="-120"/>
              </a:rPr>
              <a:t>La diferencia entre mercados está en a quién se presta, no en cuánto se recupera.</a:t>
            </a:r>
            <a:endParaRPr lang="en-US" sz="950" dirty="0"/>
          </a:p>
        </p:txBody>
      </p:sp>
      <p:sp>
        <p:nvSpPr>
          <p:cNvPr id="10" name="Shape 7"/>
          <p:cNvSpPr/>
          <p:nvPr/>
        </p:nvSpPr>
        <p:spPr>
          <a:xfrm>
            <a:off x="7452360" y="3611880"/>
            <a:ext cx="4187952" cy="1261872"/>
          </a:xfrm>
          <a:prstGeom prst="roundRect">
            <a:avLst>
              <a:gd name="adj" fmla="val 4348"/>
            </a:avLst>
          </a:prstGeom>
          <a:solidFill>
            <a:srgbClr val="E5E5E5"/>
          </a:solidFill>
          <a:ln w="12700">
            <a:solidFill>
              <a:srgbClr val="CACACA"/>
            </a:solidFill>
            <a:prstDash val="solid"/>
          </a:ln>
        </p:spPr>
      </p:sp>
      <p:sp>
        <p:nvSpPr>
          <p:cNvPr id="11" name="Text 8"/>
          <p:cNvSpPr txBox="1"/>
          <p:nvPr/>
        </p:nvSpPr>
        <p:spPr>
          <a:xfrm>
            <a:off x="7635240" y="3703320"/>
            <a:ext cx="3840480" cy="256032"/>
          </a:xfrm>
          <a:prstGeom prst="rect">
            <a:avLst/>
          </a:prstGeom>
          <a:noFill/>
          <a:ln/>
        </p:spPr>
        <p:txBody>
          <a:bodyPr wrap="square" lIns="0" tIns="0" rIns="0" bIns="0" rtlCol="0" anchor="ctr"/>
          <a:lstStyle/>
          <a:p>
            <a:pPr indent="0" marL="0">
              <a:buNone/>
            </a:pPr>
            <a:r>
              <a:rPr lang="en-US" sz="1100" b="1" dirty="0">
                <a:solidFill>
                  <a:srgbClr val="2B2B2B"/>
                </a:solidFill>
                <a:latin typeface="Verdana" pitchFamily="34" charset="0"/>
                <a:ea typeface="Verdana" pitchFamily="34" charset="-122"/>
                <a:cs typeface="Verdana" pitchFamily="34" charset="-120"/>
              </a:rPr>
              <a:t>Dónde más margen hay</a:t>
            </a:r>
            <a:endParaRPr lang="en-US" sz="1100" dirty="0"/>
          </a:p>
        </p:txBody>
      </p:sp>
      <p:sp>
        <p:nvSpPr>
          <p:cNvPr id="12" name="Text 9"/>
          <p:cNvSpPr txBox="1"/>
          <p:nvPr/>
        </p:nvSpPr>
        <p:spPr>
          <a:xfrm>
            <a:off x="7635240" y="3986784"/>
            <a:ext cx="3840480" cy="777240"/>
          </a:xfrm>
          <a:prstGeom prst="rect">
            <a:avLst/>
          </a:prstGeom>
          <a:noFill/>
          <a:ln/>
        </p:spPr>
        <p:txBody>
          <a:bodyPr wrap="square" lIns="0" tIns="0" rIns="0" bIns="0" rtlCol="0" anchor="ctr"/>
          <a:lstStyle/>
          <a:p>
            <a:pPr indent="0" marL="0">
              <a:buNone/>
            </a:pPr>
            <a:r>
              <a:rPr lang="en-US" sz="900" dirty="0">
                <a:solidFill>
                  <a:srgbClr val="818181"/>
                </a:solidFill>
                <a:latin typeface="Verdana" pitchFamily="34" charset="0"/>
                <a:ea typeface="Verdana" pitchFamily="34" charset="-122"/>
                <a:cs typeface="Verdana" pitchFamily="34" charset="-120"/>
              </a:rPr>
              <a:t>Italia −42 pb y Francia −34 pb mejorando selección. España −22 pb. Irlanda y Países Bajos ya están en la frontera: no tienen recorrido por esa vía.</a:t>
            </a:r>
            <a:endParaRPr lang="en-US" sz="900" dirty="0"/>
          </a:p>
        </p:txBody>
      </p:sp>
      <p:sp>
        <p:nvSpPr>
          <p:cNvPr id="13" name="Text 10"/>
          <p:cNvSpPr txBox="1"/>
          <p:nvPr/>
        </p:nvSpPr>
        <p:spPr>
          <a:xfrm>
            <a:off x="621792" y="5074920"/>
            <a:ext cx="10945368" cy="548640"/>
          </a:xfrm>
          <a:prstGeom prst="rect">
            <a:avLst/>
          </a:prstGeom>
          <a:noFill/>
          <a:ln/>
        </p:spPr>
        <p:txBody>
          <a:bodyPr wrap="square" lIns="0" tIns="0" rIns="0" bIns="0" rtlCol="0" anchor="ctr"/>
          <a:lstStyle/>
          <a:p>
            <a:pPr indent="0" marL="0">
              <a:buNone/>
            </a:pPr>
            <a:r>
              <a:rPr lang="en-US" sz="950" dirty="0">
                <a:solidFill>
                  <a:srgbClr val="818181"/>
                </a:solidFill>
                <a:latin typeface="Verdana" pitchFamily="34" charset="0"/>
                <a:ea typeface="Verdana" pitchFamily="34" charset="-122"/>
                <a:cs typeface="Verdana" pitchFamily="34" charset="-120"/>
              </a:rPr>
              <a:t>Matiz importante: esto mide la dispersión ENTRE países, no el recorrido de un banco concreto. Para un prestamista individual la garantía y el aval sí bajan su LGD propia; lo que dice el dato es que las diferencias de mercado vienen de la calidad de la cartera admitida.</a:t>
            </a:r>
            <a:endParaRPr lang="en-US" sz="950" dirty="0"/>
          </a:p>
        </p:txBody>
      </p:sp>
      <p:sp>
        <p:nvSpPr>
          <p:cNvPr id="14" name="Text 11"/>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Cálculo propio sobre los parámetros IRB del EBA (COREP C 9.02), clase «Corporates – Of Which: SME», mediana de entidades, 2026-Q1. La mejor PD es la irlandesa (1,08 %) y la mejor LGD la neerlandesa (29,7 %).</a:t>
            </a:r>
            <a:endParaRPr lang="en-US" sz="7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AFBFC"/>
        </a:solidFill>
      </p:bgPr>
    </p:bg>
    <p:spTree>
      <p:nvGrpSpPr>
        <p:cNvPr id="1" name=""/>
        <p:cNvGrpSpPr/>
        <p:nvPr/>
      </p:nvGrpSpPr>
      <p:grpSpPr>
        <a:xfrm>
          <a:off x="0" y="0"/>
          <a:ext cx="0" cy="0"/>
          <a:chOff x="0" y="0"/>
          <a:chExt cx="0" cy="0"/>
        </a:xfrm>
      </p:grpSpPr>
      <p:sp>
        <p:nvSpPr>
          <p:cNvPr id="2" name="Text 0"/>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2B2B2B"/>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
        <p:nvSpPr>
          <p:cNvPr id="3" name="Text 1"/>
          <p:cNvSpPr txBox="1"/>
          <p:nvPr/>
        </p:nvSpPr>
        <p:spPr>
          <a:xfrm>
            <a:off x="621792" y="6583680"/>
            <a:ext cx="548640" cy="182880"/>
          </a:xfrm>
          <a:prstGeom prst="rect">
            <a:avLst/>
          </a:prstGeom>
          <a:noFill/>
          <a:ln/>
        </p:spPr>
        <p:txBody>
          <a:bodyPr wrap="square" lIns="0" tIns="0" rIns="0" bIns="0" rtlCol="0" anchor="ctr"/>
          <a:lstStyle/>
          <a:p>
            <a:pPr indent="0" marL="0">
              <a:buNone/>
            </a:pPr>
            <a:r>
              <a:rPr lang="en-US" sz="800" dirty="0">
                <a:solidFill>
                  <a:srgbClr val="CACACA"/>
                </a:solidFill>
                <a:latin typeface="Verdana" pitchFamily="34" charset="0"/>
                <a:ea typeface="Verdana" pitchFamily="34" charset="-122"/>
                <a:cs typeface="Verdana" pitchFamily="34" charset="-120"/>
              </a:rPr>
              <a:t>47</a:t>
            </a:r>
            <a:endParaRPr lang="en-US" sz="800" dirty="0"/>
          </a:p>
        </p:txBody>
      </p:sp>
      <p:sp>
        <p:nvSpPr>
          <p:cNvPr id="4" name="Text 2"/>
          <p:cNvSpPr txBox="1"/>
          <p:nvPr/>
        </p:nvSpPr>
        <p:spPr>
          <a:xfrm>
            <a:off x="621792" y="420624"/>
            <a:ext cx="9208008" cy="676656"/>
          </a:xfrm>
          <a:prstGeom prst="rect">
            <a:avLst/>
          </a:prstGeom>
          <a:noFill/>
          <a:ln/>
        </p:spPr>
        <p:txBody>
          <a:bodyPr wrap="square" lIns="0" tIns="0" rIns="0" bIns="0" rtlCol="0" anchor="ctr"/>
          <a:lstStyle/>
          <a:p>
            <a:pPr indent="0" marL="0">
              <a:buNone/>
            </a:pPr>
            <a:r>
              <a:rPr lang="en-US" sz="2200" b="1" dirty="0">
                <a:solidFill>
                  <a:srgbClr val="2B2B2B"/>
                </a:solidFill>
                <a:latin typeface="Verdana" pitchFamily="34" charset="0"/>
                <a:ea typeface="Verdana" pitchFamily="34" charset="-122"/>
                <a:cs typeface="Verdana" pitchFamily="34" charset="-120"/>
              </a:rPr>
              <a:t>Hipoteca PYME: no existe estadística oficial</a:t>
            </a:r>
            <a:endParaRPr lang="en-US" sz="2200" dirty="0"/>
          </a:p>
        </p:txBody>
      </p:sp>
      <p:sp>
        <p:nvSpPr>
          <p:cNvPr id="5" name="Text 3"/>
          <p:cNvSpPr txBox="1"/>
          <p:nvPr/>
        </p:nvSpPr>
        <p:spPr>
          <a:xfrm>
            <a:off x="621792" y="1060704"/>
            <a:ext cx="10945368" cy="365760"/>
          </a:xfrm>
          <a:prstGeom prst="rect">
            <a:avLst/>
          </a:prstGeom>
          <a:noFill/>
          <a:ln/>
        </p:spPr>
        <p:txBody>
          <a:bodyPr wrap="square" lIns="0" tIns="0" rIns="0" bIns="0" rtlCol="0" anchor="ctr"/>
          <a:lstStyle/>
          <a:p>
            <a:pPr indent="0" marL="0">
              <a:buNone/>
            </a:pPr>
            <a:r>
              <a:rPr lang="en-US" sz="1050" dirty="0">
                <a:solidFill>
                  <a:srgbClr val="818181"/>
                </a:solidFill>
                <a:latin typeface="Verdana" pitchFamily="34" charset="0"/>
                <a:ea typeface="Verdana" pitchFamily="34" charset="-122"/>
                <a:cs typeface="Verdana" pitchFamily="34" charset="-120"/>
              </a:rPr>
              <a:t>El bloque se cubre con exposición a inmueble comercial, que es el proxy disponible</a:t>
            </a:r>
            <a:endParaRPr lang="en-US" sz="1050" dirty="0"/>
          </a:p>
        </p:txBody>
      </p:sp>
      <p:sp>
        <p:nvSpPr>
          <p:cNvPr id="6" name="Shape 4"/>
          <p:cNvSpPr/>
          <p:nvPr/>
        </p:nvSpPr>
        <p:spPr>
          <a:xfrm>
            <a:off x="621792" y="1645920"/>
            <a:ext cx="10945368" cy="1143000"/>
          </a:xfrm>
          <a:prstGeom prst="roundRect">
            <a:avLst>
              <a:gd name="adj" fmla="val 4800"/>
            </a:avLst>
          </a:prstGeom>
          <a:solidFill>
            <a:srgbClr val="FFCCE8"/>
          </a:solidFill>
          <a:ln w="12700">
            <a:solidFill>
              <a:srgbClr val="FF8AC2"/>
            </a:solidFill>
            <a:prstDash val="solid"/>
          </a:ln>
        </p:spPr>
      </p:sp>
      <p:sp>
        <p:nvSpPr>
          <p:cNvPr id="7" name="Text 5"/>
          <p:cNvSpPr txBox="1"/>
          <p:nvPr/>
        </p:nvSpPr>
        <p:spPr>
          <a:xfrm>
            <a:off x="850392" y="1764792"/>
            <a:ext cx="10789920" cy="274320"/>
          </a:xfrm>
          <a:prstGeom prst="rect">
            <a:avLst/>
          </a:prstGeom>
          <a:noFill/>
          <a:ln/>
        </p:spPr>
        <p:txBody>
          <a:bodyPr wrap="square" lIns="0" tIns="0" rIns="0" bIns="0" rtlCol="0" anchor="ctr"/>
          <a:lstStyle/>
          <a:p>
            <a:pPr indent="0" marL="0">
              <a:buNone/>
            </a:pPr>
            <a:r>
              <a:rPr lang="en-US" sz="1400" b="1" dirty="0">
                <a:solidFill>
                  <a:srgbClr val="2B2B2B"/>
                </a:solidFill>
                <a:latin typeface="Verdana" pitchFamily="34" charset="0"/>
                <a:ea typeface="Verdana" pitchFamily="34" charset="-122"/>
                <a:cs typeface="Verdana" pitchFamily="34" charset="-120"/>
              </a:rPr>
              <a:t>Qué falta y por qué</a:t>
            </a:r>
            <a:endParaRPr lang="en-US" sz="1400" dirty="0"/>
          </a:p>
        </p:txBody>
      </p:sp>
      <p:sp>
        <p:nvSpPr>
          <p:cNvPr id="8" name="Text 6"/>
          <p:cNvSpPr txBox="1"/>
          <p:nvPr/>
        </p:nvSpPr>
        <p:spPr>
          <a:xfrm>
            <a:off x="850392" y="2084832"/>
            <a:ext cx="10789920" cy="640080"/>
          </a:xfrm>
          <a:prstGeom prst="rect">
            <a:avLst/>
          </a:prstGeom>
          <a:noFill/>
          <a:ln/>
        </p:spPr>
        <p:txBody>
          <a:bodyPr wrap="square" lIns="0" tIns="0" rIns="0" bIns="0" rtlCol="0" anchor="ctr"/>
          <a:lstStyle/>
          <a:p>
            <a:pPr indent="0" marL="0">
              <a:buNone/>
            </a:pPr>
            <a:r>
              <a:rPr lang="en-US" sz="1200" dirty="0">
                <a:solidFill>
                  <a:srgbClr val="2B2B2B"/>
                </a:solidFill>
                <a:latin typeface="Verdana" pitchFamily="34" charset="0"/>
                <a:ea typeface="Verdana" pitchFamily="34" charset="-122"/>
                <a:cs typeface="Verdana" pitchFamily="34" charset="-120"/>
              </a:rPr>
              <a:t>El dataset MIR del BCE publica préstamos para adquisición de vivienda solo del sector hogares. No hay desglose de préstamo con garantía inmobiliaria a empresas en ninguno de los siete países. El crédito con garantía real a PYME queda subsumido en la serie genérica por tramo de importe, y su precio no es observable por separado.</a:t>
            </a:r>
            <a:endParaRPr lang="en-US" sz="1200" dirty="0"/>
          </a:p>
        </p:txBody>
      </p:sp>
      <p:sp>
        <p:nvSpPr>
          <p:cNvPr id="9" name="Text 7"/>
          <p:cNvSpPr txBox="1"/>
          <p:nvPr/>
        </p:nvSpPr>
        <p:spPr>
          <a:xfrm>
            <a:off x="621792" y="2999232"/>
            <a:ext cx="10789920" cy="320040"/>
          </a:xfrm>
          <a:prstGeom prst="rect">
            <a:avLst/>
          </a:prstGeom>
          <a:noFill/>
          <a:ln/>
        </p:spPr>
        <p:txBody>
          <a:bodyPr wrap="square" lIns="0" tIns="0" rIns="0" bIns="0" rtlCol="0" anchor="ctr"/>
          <a:lstStyle/>
          <a:p>
            <a:pPr indent="0" marL="0">
              <a:buNone/>
            </a:pPr>
            <a:r>
              <a:rPr lang="en-US" sz="1500" b="1" dirty="0">
                <a:solidFill>
                  <a:srgbClr val="F56600"/>
                </a:solidFill>
                <a:latin typeface="Verdana" pitchFamily="34" charset="0"/>
                <a:ea typeface="Verdana" pitchFamily="34" charset="-122"/>
                <a:cs typeface="Verdana" pitchFamily="34" charset="-120"/>
              </a:rPr>
              <a:t>Proxy disponible: ratio de NPL de la cartera de inmueble comercial (CRE)</a:t>
            </a:r>
            <a:endParaRPr lang="en-US" sz="1500" dirty="0"/>
          </a:p>
        </p:txBody>
      </p:sp>
      <p:sp>
        <p:nvSpPr>
          <p:cNvPr id="10" name="Text 8"/>
          <p:cNvSpPr txBox="1"/>
          <p:nvPr/>
        </p:nvSpPr>
        <p:spPr>
          <a:xfrm>
            <a:off x="621792" y="3310128"/>
            <a:ext cx="10789920" cy="27432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El gráfico muestra el porcentaje de la cartera de inmueble comercial que está en mora. No es un precio ni un margen: es calidad de activo.</a:t>
            </a:r>
            <a:endParaRPr lang="en-US" sz="1000" dirty="0"/>
          </a:p>
        </p:txBody>
      </p:sp>
      <p:graphicFrame>
        <p:nvGraphicFramePr>
          <p:cNvPr id="11" name="Chart 0" descr=""/>
          <p:cNvGraphicFramePr/>
          <p:nvPr/>
        </p:nvGraphicFramePr>
        <p:xfrm>
          <a:off x="621792" y="3639312"/>
          <a:ext cx="10789920" cy="2029968"/>
        </p:xfrm>
        <a:graphic xmlns:a="http://schemas.openxmlformats.org/drawingml/2006/main">
          <a:graphicData uri="http://schemas.openxmlformats.org/drawingml/2006/chart">
            <c:chart xmlns:c="http://schemas.openxmlformats.org/drawingml/2006/chart" r:id="rId1"/>
          </a:graphicData>
        </a:graphic>
      </p:graphicFrame>
      <p:sp>
        <p:nvSpPr>
          <p:cNvPr id="12" name="Text 9"/>
          <p:cNvSpPr txBox="1"/>
          <p:nvPr/>
        </p:nvSpPr>
        <p:spPr>
          <a:xfrm>
            <a:off x="621792" y="6053328"/>
            <a:ext cx="10945368" cy="475488"/>
          </a:xfrm>
          <a:prstGeom prst="rect">
            <a:avLst/>
          </a:prstGeom>
          <a:noFill/>
          <a:ln/>
        </p:spPr>
        <p:txBody>
          <a:bodyPr wrap="square" lIns="0" tIns="0" rIns="0" bIns="0" rtlCol="0" anchor="ctr"/>
          <a:lstStyle/>
          <a:p>
            <a:pPr indent="0" marL="0">
              <a:buNone/>
            </a:pPr>
            <a:r>
              <a:rPr lang="en-US" sz="750" i="1" dirty="0">
                <a:solidFill>
                  <a:srgbClr val="818181"/>
                </a:solidFill>
                <a:latin typeface="Verdana" pitchFamily="34" charset="0"/>
                <a:ea typeface="Verdana" pitchFamily="34" charset="-122"/>
                <a:cs typeface="Verdana" pitchFamily="34" charset="-120"/>
              </a:rPr>
              <a:t>Fuente: EBA Risk Dashboard Q1 2026, desglose «of which CRE». Alemania destaca con el peor NPL de inmueble comercial de los seis (6,81 %), muy por encima de su NPL total (1,61 %).</a:t>
            </a:r>
            <a:endParaRPr lang="en-US" sz="7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56600"/>
        </a:solidFill>
      </p:bgPr>
    </p:bg>
    <p:spTree>
      <p:nvGrpSpPr>
        <p:cNvPr id="1" name=""/>
        <p:cNvGrpSpPr/>
        <p:nvPr/>
      </p:nvGrpSpPr>
      <p:grpSpPr>
        <a:xfrm>
          <a:off x="0" y="0"/>
          <a:ext cx="0" cy="0"/>
          <a:chOff x="0" y="0"/>
          <a:chExt cx="0" cy="0"/>
        </a:xfrm>
      </p:grpSpPr>
      <p:sp>
        <p:nvSpPr>
          <p:cNvPr id="2" name="Shape 0"/>
          <p:cNvSpPr/>
          <p:nvPr/>
        </p:nvSpPr>
        <p:spPr>
          <a:xfrm>
            <a:off x="8138160" y="1417320"/>
            <a:ext cx="1554480" cy="1554480"/>
          </a:xfrm>
          <a:prstGeom prst="rect">
            <a:avLst/>
          </a:prstGeom>
          <a:solidFill>
            <a:srgbClr val="FFD200"/>
          </a:solidFill>
          <a:ln w="12700">
            <a:solidFill>
              <a:srgbClr val="FFD200"/>
            </a:solidFill>
            <a:prstDash val="solid"/>
          </a:ln>
        </p:spPr>
      </p:sp>
      <p:sp>
        <p:nvSpPr>
          <p:cNvPr id="3" name="Shape 1"/>
          <p:cNvSpPr/>
          <p:nvPr/>
        </p:nvSpPr>
        <p:spPr>
          <a:xfrm>
            <a:off x="9372600" y="2788920"/>
            <a:ext cx="1234440" cy="1234440"/>
          </a:xfrm>
          <a:prstGeom prst="rect">
            <a:avLst/>
          </a:prstGeom>
          <a:solidFill>
            <a:srgbClr val="FFFFFF"/>
          </a:solidFill>
          <a:ln w="12700">
            <a:solidFill>
              <a:srgbClr val="FFFFFF"/>
            </a:solidFill>
            <a:prstDash val="solid"/>
          </a:ln>
        </p:spPr>
      </p:sp>
      <p:sp>
        <p:nvSpPr>
          <p:cNvPr id="4" name="Text 2"/>
          <p:cNvSpPr txBox="1"/>
          <p:nvPr/>
        </p:nvSpPr>
        <p:spPr>
          <a:xfrm>
            <a:off x="1005840" y="2606040"/>
            <a:ext cx="6400800" cy="1554480"/>
          </a:xfrm>
          <a:prstGeom prst="rect">
            <a:avLst/>
          </a:prstGeom>
          <a:noFill/>
          <a:ln/>
        </p:spPr>
        <p:txBody>
          <a:bodyPr wrap="square" lIns="0" tIns="0" rIns="0" bIns="0" rtlCol="0" anchor="ctr"/>
          <a:lstStyle/>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Juntos hacemos crecer</a:t>
            </a:r>
            <a:endParaRPr lang="en-US" sz="3100" dirty="0"/>
          </a:p>
          <a:p>
            <a:pPr indent="0" marL="0">
              <a:lnSpc>
                <a:spcPct val="108000"/>
              </a:lnSpc>
              <a:buNone/>
            </a:pPr>
            <a:r>
              <a:rPr lang="en-US" sz="3100" b="1" dirty="0">
                <a:solidFill>
                  <a:srgbClr val="FFFFFF"/>
                </a:solidFill>
                <a:latin typeface="Verdana" pitchFamily="34" charset="0"/>
                <a:ea typeface="Verdana" pitchFamily="34" charset="-122"/>
                <a:cs typeface="Verdana" pitchFamily="34" charset="-120"/>
              </a:rPr>
              <a:t>lo que importa</a:t>
            </a:r>
            <a:endParaRPr lang="en-US" sz="3100" dirty="0"/>
          </a:p>
        </p:txBody>
      </p:sp>
      <p:sp>
        <p:nvSpPr>
          <p:cNvPr id="5" name="Text 3"/>
          <p:cNvSpPr txBox="1"/>
          <p:nvPr/>
        </p:nvSpPr>
        <p:spPr>
          <a:xfrm>
            <a:off x="10040112" y="274320"/>
            <a:ext cx="1600200" cy="256032"/>
          </a:xfrm>
          <a:prstGeom prst="rect">
            <a:avLst/>
          </a:prstGeom>
          <a:noFill/>
          <a:ln/>
        </p:spPr>
        <p:txBody>
          <a:bodyPr wrap="square" lIns="0" tIns="0" rIns="0" bIns="0" rtlCol="0" anchor="ctr"/>
          <a:lstStyle/>
          <a:p>
            <a:pPr algn="r" indent="0" marL="0">
              <a:buNone/>
            </a:pPr>
            <a:r>
              <a:rPr lang="en-US" sz="1300" b="1" dirty="0">
                <a:solidFill>
                  <a:srgbClr val="FFFFFF"/>
                </a:solidFill>
                <a:latin typeface="Verdana" pitchFamily="34" charset="0"/>
                <a:ea typeface="Verdana" pitchFamily="34" charset="-122"/>
                <a:cs typeface="Verdana" pitchFamily="34" charset="-120"/>
              </a:rPr>
              <a:t>bankinter</a:t>
            </a:r>
            <a:pPr algn="r" indent="0" marL="0">
              <a:buNone/>
            </a:pPr>
            <a:r>
              <a:rPr lang="en-US" sz="1300" b="1" dirty="0">
                <a:solidFill>
                  <a:srgbClr val="F56600"/>
                </a:solidFill>
                <a:latin typeface="Verdana" pitchFamily="34" charset="0"/>
                <a:ea typeface="Verdana" pitchFamily="34" charset="-122"/>
                <a:cs typeface="Verdana" pitchFamily="34" charset="-120"/>
              </a:rPr>
              <a:t>.</a:t>
            </a:r>
            <a:endParaRPr lang="en-US" sz="13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AFBFC"/>
        </a:solidFill>
      </p:bgPr>
    </p:bg>
    <p:spTree>
      <p:nvGrpSpPr>
        <p:cNvPr id="1" name=""/>
        <p:cNvGrpSpPr/>
        <p:nvPr/>
      </p:nvGrpSpPr>
      <p:grpSpPr>
        <a:xfrm>
          <a:off x="0" y="0"/>
          <a:ext cx="0" cy="0"/>
          <a:chOff x="0" y="0"/>
          <a:chExt cx="0" cy="0"/>
        </a:xfrm>
      </p:grpSpPr>
      <p:sp>
        <p:nvSpPr>
          <p:cNvPr id="2" name="Shape 0"/>
          <p:cNvSpPr/>
          <p:nvPr/>
        </p:nvSpPr>
        <p:spPr>
          <a:xfrm>
            <a:off x="0" y="0"/>
            <a:ext cx="310896" cy="6858000"/>
          </a:xfrm>
          <a:prstGeom prst="rect">
            <a:avLst/>
          </a:prstGeom>
          <a:solidFill>
            <a:srgbClr val="F56600"/>
          </a:solidFill>
          <a:ln w="12700">
            <a:solidFill>
              <a:srgbClr val="F56600"/>
            </a:solidFill>
            <a:prstDash val="solid"/>
          </a:ln>
        </p:spPr>
      </p:sp>
      <p:sp>
        <p:nvSpPr>
          <p:cNvPr id="3" name="Shape 1"/>
          <p:cNvSpPr/>
          <p:nvPr/>
        </p:nvSpPr>
        <p:spPr>
          <a:xfrm>
            <a:off x="7589520" y="1554480"/>
            <a:ext cx="3977640" cy="3749040"/>
          </a:xfrm>
          <a:prstGeom prst="rect">
            <a:avLst/>
          </a:prstGeom>
          <a:solidFill>
            <a:srgbClr val="F56600"/>
          </a:solidFill>
          <a:ln w="12700">
            <a:solidFill>
              <a:srgbClr val="F56600"/>
            </a:solidFill>
            <a:prstDash val="solid"/>
          </a:ln>
        </p:spPr>
      </p:sp>
      <p:sp>
        <p:nvSpPr>
          <p:cNvPr id="4" name="Shape 2"/>
          <p:cNvSpPr/>
          <p:nvPr/>
        </p:nvSpPr>
        <p:spPr>
          <a:xfrm>
            <a:off x="9777222" y="1929384"/>
            <a:ext cx="1193292" cy="1124712"/>
          </a:xfrm>
          <a:prstGeom prst="rect">
            <a:avLst/>
          </a:prstGeom>
          <a:solidFill>
            <a:srgbClr val="FFD200"/>
          </a:solidFill>
          <a:ln w="12700">
            <a:solidFill>
              <a:srgbClr val="FFD200"/>
            </a:solidFill>
            <a:prstDash val="solid"/>
          </a:ln>
        </p:spPr>
      </p:sp>
      <p:sp>
        <p:nvSpPr>
          <p:cNvPr id="5" name="Shape 3"/>
          <p:cNvSpPr/>
          <p:nvPr/>
        </p:nvSpPr>
        <p:spPr>
          <a:xfrm>
            <a:off x="8066837" y="3728923"/>
            <a:ext cx="1034186" cy="1124712"/>
          </a:xfrm>
          <a:prstGeom prst="rect">
            <a:avLst/>
          </a:prstGeom>
          <a:solidFill>
            <a:srgbClr val="FFFFFF"/>
          </a:solidFill>
          <a:ln w="12700">
            <a:solidFill>
              <a:srgbClr val="FFFFFF"/>
            </a:solidFill>
            <a:prstDash val="solid"/>
          </a:ln>
        </p:spPr>
      </p:sp>
      <p:sp>
        <p:nvSpPr>
          <p:cNvPr id="6" name="Shape 4"/>
          <p:cNvSpPr/>
          <p:nvPr/>
        </p:nvSpPr>
        <p:spPr>
          <a:xfrm>
            <a:off x="10055657" y="3616452"/>
            <a:ext cx="875081" cy="824789"/>
          </a:xfrm>
          <a:prstGeom prst="rect">
            <a:avLst/>
          </a:prstGeom>
          <a:solidFill>
            <a:srgbClr val="FFAB70"/>
          </a:solidFill>
          <a:ln w="12700">
            <a:solidFill>
              <a:srgbClr val="FFAB70"/>
            </a:solidFill>
            <a:prstDash val="solid"/>
          </a:ln>
        </p:spPr>
      </p:sp>
      <p:sp>
        <p:nvSpPr>
          <p:cNvPr id="7" name="Text 5"/>
          <p:cNvSpPr txBox="1"/>
          <p:nvPr/>
        </p:nvSpPr>
        <p:spPr>
          <a:xfrm>
            <a:off x="1005840" y="2697480"/>
            <a:ext cx="5486400" cy="640080"/>
          </a:xfrm>
          <a:prstGeom prst="rect">
            <a:avLst/>
          </a:prstGeom>
          <a:noFill/>
          <a:ln/>
        </p:spPr>
        <p:txBody>
          <a:bodyPr wrap="square" lIns="0" tIns="0" rIns="0" bIns="0" rtlCol="0" anchor="ctr"/>
          <a:lstStyle/>
          <a:p>
            <a:pPr indent="0" marL="0">
              <a:buNone/>
            </a:pPr>
            <a:r>
              <a:rPr lang="en-US" sz="3800" b="1" dirty="0">
                <a:solidFill>
                  <a:srgbClr val="2B2B2B"/>
                </a:solidFill>
                <a:latin typeface="Verdana" pitchFamily="34" charset="0"/>
                <a:ea typeface="Verdana" pitchFamily="34" charset="-122"/>
                <a:cs typeface="Verdana" pitchFamily="34" charset="-120"/>
              </a:rPr>
              <a:t>bankinter</a:t>
            </a:r>
            <a:pPr indent="0" marL="0">
              <a:buNone/>
            </a:pPr>
            <a:r>
              <a:rPr lang="en-US" sz="3800" b="1" dirty="0">
                <a:solidFill>
                  <a:srgbClr val="F56600"/>
                </a:solidFill>
                <a:latin typeface="Verdana" pitchFamily="34" charset="0"/>
                <a:ea typeface="Verdana" pitchFamily="34" charset="-122"/>
                <a:cs typeface="Verdana" pitchFamily="34" charset="-120"/>
              </a:rPr>
              <a:t>.</a:t>
            </a:r>
            <a:endParaRPr lang="en-US" sz="3800" dirty="0"/>
          </a:p>
        </p:txBody>
      </p:sp>
      <p:sp>
        <p:nvSpPr>
          <p:cNvPr id="8" name="Text 6"/>
          <p:cNvSpPr txBox="1"/>
          <p:nvPr/>
        </p:nvSpPr>
        <p:spPr>
          <a:xfrm>
            <a:off x="1005840" y="3383280"/>
            <a:ext cx="5486400" cy="640080"/>
          </a:xfrm>
          <a:prstGeom prst="rect">
            <a:avLst/>
          </a:prstGeom>
          <a:noFill/>
          <a:ln/>
        </p:spPr>
        <p:txBody>
          <a:bodyPr wrap="square" lIns="0" tIns="0" rIns="0" bIns="0" rtlCol="0" anchor="ctr"/>
          <a:lstStyle/>
          <a:p>
            <a:pPr indent="0" marL="0">
              <a:buNone/>
            </a:pPr>
            <a:r>
              <a:rPr lang="en-US" sz="3100" b="1" dirty="0">
                <a:solidFill>
                  <a:srgbClr val="F56600"/>
                </a:solidFill>
                <a:latin typeface="Verdana" pitchFamily="34" charset="0"/>
                <a:ea typeface="Verdana" pitchFamily="34" charset="-122"/>
                <a:cs typeface="Verdana" pitchFamily="34" charset="-120"/>
              </a:rPr>
              <a:t>Gracias</a:t>
            </a:r>
            <a:endParaRPr lang="en-US" sz="3100" dirty="0"/>
          </a:p>
        </p:txBody>
      </p:sp>
      <p:sp>
        <p:nvSpPr>
          <p:cNvPr id="9" name="Shape 7"/>
          <p:cNvSpPr/>
          <p:nvPr/>
        </p:nvSpPr>
        <p:spPr>
          <a:xfrm>
            <a:off x="1005840" y="4206240"/>
            <a:ext cx="960120" cy="68580"/>
          </a:xfrm>
          <a:prstGeom prst="rect">
            <a:avLst/>
          </a:prstGeom>
          <a:solidFill>
            <a:srgbClr val="FFD200"/>
          </a:solidFill>
          <a:ln w="12700">
            <a:solidFill>
              <a:srgbClr val="FFD200"/>
            </a:solidFill>
            <a:prstDash val="solid"/>
          </a:ln>
        </p:spPr>
      </p:sp>
      <p:sp>
        <p:nvSpPr>
          <p:cNvPr id="10" name="Text 8"/>
          <p:cNvSpPr txBox="1"/>
          <p:nvPr/>
        </p:nvSpPr>
        <p:spPr>
          <a:xfrm>
            <a:off x="1005840" y="4480560"/>
            <a:ext cx="5486400" cy="548640"/>
          </a:xfrm>
          <a:prstGeom prst="rect">
            <a:avLst/>
          </a:prstGeom>
          <a:noFill/>
          <a:ln/>
        </p:spPr>
        <p:txBody>
          <a:bodyPr wrap="square" lIns="0" tIns="0" rIns="0" bIns="0" rtlCol="0" anchor="ctr"/>
          <a:lstStyle/>
          <a:p>
            <a:pPr indent="0" marL="0">
              <a:buNone/>
            </a:pPr>
            <a:r>
              <a:rPr lang="en-US" sz="1000" dirty="0">
                <a:solidFill>
                  <a:srgbClr val="818181"/>
                </a:solidFill>
                <a:latin typeface="Verdana" pitchFamily="34" charset="0"/>
                <a:ea typeface="Verdana" pitchFamily="34" charset="-122"/>
                <a:cs typeface="Verdana" pitchFamily="34" charset="-120"/>
              </a:rPr>
              <a:t>Todos los datos, los extractores y el registro de huecos y decisiones metodológicas están en el repositorio del proyecto, en notas.md.</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Analisis PYME Europa</dc:creator>
  <cp:lastModifiedBy>Analisis PYME Europa</cp:lastModifiedBy>
  <cp:revision>1</cp:revision>
  <dcterms:created xsi:type="dcterms:W3CDTF">2026-09-23T07:45:30Z</dcterms:created>
  <dcterms:modified xsi:type="dcterms:W3CDTF">2026-09-23T07:45:30Z</dcterms:modified>
</cp:coreProperties>
</file>