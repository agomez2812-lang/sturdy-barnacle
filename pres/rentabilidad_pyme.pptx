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24.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7.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2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308378</c:v>
                </c:pt>
                <c:pt idx="1">
                  <c:v>316561</c:v>
                </c:pt>
                <c:pt idx="2">
                  <c:v>961184</c:v>
                </c:pt>
                <c:pt idx="3">
                  <c:v>252021</c:v>
                </c:pt>
                <c:pt idx="4">
                  <c:v>30452</c:v>
                </c:pt>
                <c:pt idx="5">
                  <c:v>259108</c:v>
                </c:pt>
                <c:pt idx="6">
                  <c:v>16964</c:v>
                </c:pt>
              </c:numCache>
            </c:numRef>
          </c:val>
        </c:ser>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Brecha</c:v>
                </c:pt>
              </c:strCache>
            </c:strRef>
          </c:tx>
          <c:spPr>
            <a:solidFill>
              <a:srgbClr val="77BFEE"/>
            </a:solidFill>
            <a:effectLst/>
          </c:spPr>
          <c:invertIfNegative val="0"/>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-1.3</c:v>
                </c:pt>
                <c:pt idx="1">
                  <c:v>2.3</c:v>
                </c:pt>
                <c:pt idx="2">
                  <c:v>6.3</c:v>
                </c:pt>
                <c:pt idx="3">
                  <c:v>-0.7</c:v>
                </c:pt>
                <c:pt idx="4">
                  <c:v>-9.4</c:v>
                </c:pt>
                <c:pt idx="5">
                  <c:v>-4</c:v>
                </c:pt>
                <c:pt idx="6">
                  <c:v>-2.1</c:v>
                </c:pt>
              </c:numCache>
            </c:numRef>
          </c:val>
        </c:ser>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4"/>
          <c:min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 con necesidades</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Sheet1!$A$2:$A$5</c:f>
              <c:multiLvlStrCache>
                <c:ptCount val="4"/>
                <c:lvl>
                  <c:pt idx="0">
                    <c:v>Circulante</c:v>
                  </c:pt>
                  <c:pt idx="1">
                    <c:v>Equipo productivo</c:v>
                  </c:pt>
                  <c:pt idx="2">
                    <c:v>Inmuebles</c:v>
                  </c:pt>
                  <c:pt idx="3">
                    <c:v>Innovación</c:v>
                  </c:pt>
                </c:lvl>
              </c:multiLvlStrCache>
            </c:multiLvlStrRef>
          </c:cat>
          <c:val>
            <c:numRef>
              <c:f>Sheet1!$B$2:$B$5</c:f>
              <c:numCache>
                <c:formatCode>General</c:formatCode>
                <c:ptCount val="4"/>
                <c:pt idx="0">
                  <c:v>73</c:v>
                </c:pt>
                <c:pt idx="1">
                  <c:v>33.2</c:v>
                </c:pt>
                <c:pt idx="2">
                  <c:v>12</c:v>
                </c:pt>
                <c:pt idx="3">
                  <c:v>4.3</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Ninguno</c:v>
                  </c:pt>
                  <c:pt idx="1">
                    <c:v>El precio de la financiacion</c:v>
                  </c:pt>
                  <c:pt idx="2">
                    <c:v>Falta de comprension del negocio por la entidad</c:v>
                  </c:pt>
                  <c:pt idx="3">
                    <c:v>Tramites administrativos y otros</c:v>
                  </c:pt>
                  <c:pt idx="4">
                    <c:v>Escasez de financiacion disponible</c:v>
                  </c:pt>
                </c:lvl>
              </c:multiLvlStrCache>
            </c:multiLvlStrRef>
          </c:cat>
          <c:val>
            <c:numRef>
              <c:f>Sheet1!$B$2:$B$6</c:f>
              <c:numCache>
                <c:formatCode>General</c:formatCode>
                <c:ptCount val="5"/>
                <c:pt idx="0">
                  <c:v>49.2</c:v>
                </c:pt>
                <c:pt idx="1">
                  <c:v>21.6</c:v>
                </c:pt>
                <c:pt idx="2">
                  <c:v>10.5</c:v>
                </c:pt>
                <c:pt idx="3">
                  <c:v>8.6</c:v>
                </c:pt>
                <c:pt idx="4">
                  <c:v>5.7</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Rentabilidad del activo neto</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Sheet1!$B$2:$B$4</c:f>
              <c:numCache>
                <c:formatCode>General</c:formatCode>
                <c:ptCount val="3"/>
                <c:pt idx="0">
                  <c:v>5.4</c:v>
                </c:pt>
                <c:pt idx="1">
                  <c:v>10.4</c:v>
                </c:pt>
                <c:pt idx="2">
                  <c:v>6.8</c:v>
                </c:pt>
              </c:numCache>
            </c:numRef>
          </c:val>
        </c:ser>
        <c:ser>
          <c:idx val="1"/>
          <c:order val="1"/>
          <c:tx>
            <c:strRef>
              <c:f>Sheet1!$C$1</c:f>
              <c:strCache>
                <c:ptCount val="1"/>
                <c:pt idx="0">
                  <c:v>Tipo efectivo pagado por su deuda</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Sheet1!$C$2:$C$4</c:f>
              <c:numCache>
                <c:formatCode>General</c:formatCode>
                <c:ptCount val="3"/>
                <c:pt idx="0">
                  <c:v>3.3</c:v>
                </c:pt>
                <c:pt idx="1">
                  <c:v>4.4</c:v>
                </c:pt>
                <c:pt idx="2">
                  <c:v>4.2</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de nueva producción</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FFAB70"/>
              </a:solidFill>
              <a:effectLst/>
            </c:spPr>
          </c:dPt>
          <c:dPt>
            <c:idx val="2"/>
            <c:invertIfNegative val="0"/>
            <c:bubble3D val="0"/>
            <c:spPr>
              <a:solidFill>
                <a:srgbClr val="77BFEE"/>
              </a:solidFill>
              <a:effectLst/>
            </c:spPr>
          </c:dPt>
          <c:dPt>
            <c:idx val="3"/>
            <c:invertIfNegative val="0"/>
            <c:bubble3D val="0"/>
            <c:spPr>
              <a:solidFill>
                <a:srgbClr val="77BFEE"/>
              </a:solidFill>
              <a:effectLst/>
            </c:spPr>
          </c:dPt>
          <c:dPt>
            <c:idx val="4"/>
            <c:invertIfNegative val="0"/>
            <c:bubble3D val="0"/>
            <c:spPr>
              <a:solidFill>
                <a:srgbClr val="77BFEE"/>
              </a:solidFill>
              <a:effectLst/>
            </c:spPr>
          </c:dPt>
          <c:cat>
            <c:multiLvlStrRef>
              <c:f>Sheet1!$A$2:$A$6</c:f>
              <c:multiLvlStrCache>
                <c:ptCount val="5"/>
                <c:lvl>
                  <c:pt idx="0">
                    <c:v>Autónomo
otros fines</c:v>
                  </c:pt>
                  <c:pt idx="1">
                    <c:v>Autónomo
hasta 1 año</c:v>
                  </c:pt>
                  <c:pt idx="2">
                    <c:v>Sociedad
≤0,25 M€</c:v>
                  </c:pt>
                  <c:pt idx="3">
                    <c:v>Sociedad
0,25-1 M€</c:v>
                  </c:pt>
                  <c:pt idx="4">
                    <c:v>Sociedad
&gt;1 M€</c:v>
                  </c:pt>
                </c:lvl>
              </c:multiLvlStrCache>
            </c:multiLvlStrRef>
          </c:cat>
          <c:val>
            <c:numRef>
              <c:f>Sheet1!$B$2:$B$6</c:f>
              <c:numCache>
                <c:formatCode>General</c:formatCode>
                <c:ptCount val="5"/>
                <c:pt idx="0">
                  <c:v>4.57</c:v>
                </c:pt>
                <c:pt idx="1">
                  <c:v>3.84</c:v>
                </c:pt>
                <c:pt idx="2">
                  <c:v>3.42</c:v>
                </c:pt>
                <c:pt idx="3">
                  <c:v>3.37</c:v>
                </c:pt>
                <c:pt idx="4">
                  <c:v>3.46</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3.57</c:v>
                </c:pt>
                <c:pt idx="2">
                  <c:v>3.57</c:v>
                </c:pt>
                <c:pt idx="3">
                  <c:v>3.57</c:v>
                </c:pt>
                <c:pt idx="4">
                  <c:v>3.82</c:v>
                </c:pt>
                <c:pt idx="5">
                  <c:v>3.47</c:v>
                </c:pt>
                <c:pt idx="6">
                  <c:v>5.01</c:v>
                </c:pt>
              </c:numCache>
            </c:numRef>
          </c:val>
        </c:ser>
        <c:ser>
          <c:idx val="1"/>
          <c:order val="1"/>
          <c:tx>
            <c:strRef>
              <c:f>Sheet1!$C$1</c:f>
              <c:strCache>
                <c:ptCount val="1"/>
                <c:pt idx="0">
                  <c:v>Circulante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Volumen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 en España</c:v>
                </c:pt>
              </c:strCache>
            </c:strRef>
          </c:tx>
          <c:spPr>
            <a:solidFill>
              <a:srgbClr val="F56600"/>
            </a:solidFill>
            <a:effectLst/>
          </c:spPr>
          <c:invertIfNegative val="0"/>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14553</c:v>
                </c:pt>
                <c:pt idx="1">
                  <c:v>22324</c:v>
                </c:pt>
                <c:pt idx="2">
                  <c:v>48736</c:v>
                </c:pt>
                <c:pt idx="3">
                  <c:v>24410</c:v>
                </c:pt>
                <c:pt idx="4">
                  <c:v>32325</c:v>
                </c:pt>
              </c:numCache>
            </c:numRef>
          </c:val>
        </c:ser>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2.51</c:v>
                </c:pt>
                <c:pt idx="1">
                  <c:v>2.76</c:v>
                </c:pt>
                <c:pt idx="2">
                  <c:v>2.92</c:v>
                </c:pt>
                <c:pt idx="3">
                  <c:v>2.34</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7.32</c:v>
                </c:pt>
                <c:pt idx="1">
                  <c:v>6.87</c:v>
                </c:pt>
                <c:pt idx="2">
                  <c:v>6.37</c:v>
                </c:pt>
                <c:pt idx="3">
                  <c:v>5.91</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5.29</c:v>
                </c:pt>
                <c:pt idx="1">
                  <c:v>5.18</c:v>
                </c:pt>
                <c:pt idx="2">
                  <c:v>4.75</c:v>
                </c:pt>
                <c:pt idx="3">
                  <c:v>5.3</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3.94</c:v>
                </c:pt>
                <c:pt idx="1">
                  <c:v>3.73</c:v>
                </c:pt>
                <c:pt idx="2">
                  <c:v>4.04</c:v>
                </c:pt>
                <c:pt idx="3">
                  <c:v>3.98</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7.6</c:v>
                </c:pt>
                <c:pt idx="1">
                  <c:v>8.58</c:v>
                </c:pt>
                <c:pt idx="2">
                  <c:v>8.51</c:v>
                </c:pt>
                <c:pt idx="3">
                  <c:v>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
          <c:min val="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56.11</c:v>
                </c:pt>
                <c:pt idx="1">
                  <c:v>51.94</c:v>
                </c:pt>
                <c:pt idx="2">
                  <c:v>53.18</c:v>
                </c:pt>
                <c:pt idx="3">
                  <c:v>74.1</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48.39</c:v>
                </c:pt>
                <c:pt idx="1">
                  <c:v>47.27</c:v>
                </c:pt>
                <c:pt idx="2">
                  <c:v>47.66</c:v>
                </c:pt>
                <c:pt idx="3">
                  <c:v>56.09</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64.43</c:v>
                </c:pt>
                <c:pt idx="1">
                  <c:v>61.37</c:v>
                </c:pt>
                <c:pt idx="2">
                  <c:v>62.17</c:v>
                </c:pt>
                <c:pt idx="3">
                  <c:v>53.65</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52.05</c:v>
                </c:pt>
                <c:pt idx="1">
                  <c:v>68.54</c:v>
                </c:pt>
                <c:pt idx="2">
                  <c:v>60.52</c:v>
                </c:pt>
                <c:pt idx="3">
                  <c:v>65.62</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43.22</c:v>
                </c:pt>
                <c:pt idx="1">
                  <c:v>41.1</c:v>
                </c:pt>
                <c:pt idx="2">
                  <c:v>37.28</c:v>
                </c:pt>
                <c:pt idx="3">
                  <c:v>36.54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min val="3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CESGAR y Central de Balances.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Shape 0"/>
          <p:cNvSpPr/>
          <p:nvPr/>
        </p:nvSpPr>
        <p:spPr>
          <a:xfrm>
            <a:off x="7360920" y="0"/>
            <a:ext cx="4828032" cy="6858000"/>
          </a:xfrm>
          <a:prstGeom prst="rect">
            <a:avLst/>
          </a:prstGeom>
          <a:solidFill>
            <a:srgbClr val="F56600"/>
          </a:solidFill>
          <a:ln w="12700">
            <a:solidFill>
              <a:srgbClr val="F56600"/>
            </a:solidFill>
            <a:prstDash val="solid"/>
          </a:ln>
        </p:spPr>
      </p:sp>
      <p:sp>
        <p:nvSpPr>
          <p:cNvPr id="3" name="Shape 1"/>
          <p:cNvSpPr/>
          <p:nvPr/>
        </p:nvSpPr>
        <p:spPr>
          <a:xfrm>
            <a:off x="10149840" y="822960"/>
            <a:ext cx="1463040" cy="1463040"/>
          </a:xfrm>
          <a:prstGeom prst="rect">
            <a:avLst/>
          </a:prstGeom>
          <a:solidFill>
            <a:srgbClr val="FFD200"/>
          </a:solidFill>
          <a:ln w="12700">
            <a:solidFill>
              <a:srgbClr val="FFD200"/>
            </a:solidFill>
            <a:prstDash val="solid"/>
          </a:ln>
        </p:spPr>
      </p:sp>
      <p:sp>
        <p:nvSpPr>
          <p:cNvPr id="4" name="Shape 2"/>
          <p:cNvSpPr/>
          <p:nvPr/>
        </p:nvSpPr>
        <p:spPr>
          <a:xfrm>
            <a:off x="7863840" y="3291840"/>
            <a:ext cx="1737360" cy="1737360"/>
          </a:xfrm>
          <a:prstGeom prst="rect">
            <a:avLst/>
          </a:prstGeom>
          <a:solidFill>
            <a:srgbClr val="FFFFFF"/>
          </a:solidFill>
          <a:ln w="12700">
            <a:solidFill>
              <a:srgbClr val="FFFFFF"/>
            </a:solidFill>
            <a:prstDash val="solid"/>
          </a:ln>
        </p:spPr>
      </p:sp>
      <p:sp>
        <p:nvSpPr>
          <p:cNvPr id="5" name="Shape 3"/>
          <p:cNvSpPr/>
          <p:nvPr/>
        </p:nvSpPr>
        <p:spPr>
          <a:xfrm>
            <a:off x="9875520" y="4617720"/>
            <a:ext cx="1143000" cy="1143000"/>
          </a:xfrm>
          <a:prstGeom prst="rect">
            <a:avLst/>
          </a:prstGeom>
          <a:solidFill>
            <a:srgbClr val="FFAB70"/>
          </a:solidFill>
          <a:ln w="12700">
            <a:solidFill>
              <a:srgbClr val="FFAB70"/>
            </a:solidFill>
            <a:prstDash val="solid"/>
          </a:ln>
        </p:spPr>
      </p:sp>
      <p:sp>
        <p:nvSpPr>
          <p:cNvPr id="6" name="Shape 4"/>
          <p:cNvSpPr/>
          <p:nvPr/>
        </p:nvSpPr>
        <p:spPr>
          <a:xfrm>
            <a:off x="0" y="0"/>
            <a:ext cx="310896" cy="6858000"/>
          </a:xfrm>
          <a:prstGeom prst="rect">
            <a:avLst/>
          </a:prstGeom>
          <a:solidFill>
            <a:srgbClr val="F56600"/>
          </a:solidFill>
          <a:ln w="12700">
            <a:solidFill>
              <a:srgbClr val="F56600"/>
            </a:solidFill>
            <a:prstDash val="solid"/>
          </a:ln>
        </p:spPr>
      </p:sp>
      <p:sp>
        <p:nvSpPr>
          <p:cNvPr id="7" name="Text 5"/>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8" name="Text 6"/>
          <p:cNvSpPr txBox="1"/>
          <p:nvPr/>
        </p:nvSpPr>
        <p:spPr>
          <a:xfrm>
            <a:off x="1005840" y="1965960"/>
            <a:ext cx="6035040" cy="1554480"/>
          </a:xfrm>
          <a:prstGeom prst="rect">
            <a:avLst/>
          </a:prstGeom>
          <a:noFill/>
          <a:ln/>
        </p:spPr>
        <p:txBody>
          <a:bodyPr wrap="square" lIns="0" tIns="0" rIns="0" bIns="0" rtlCol="0" anchor="ctr"/>
          <a:lstStyle/>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Rentabilidad</a:t>
            </a:r>
            <a:endParaRPr lang="en-US" sz="3700" dirty="0"/>
          </a:p>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del negocio PYME</a:t>
            </a:r>
            <a:endParaRPr lang="en-US" sz="3700" dirty="0"/>
          </a:p>
        </p:txBody>
      </p:sp>
      <p:sp>
        <p:nvSpPr>
          <p:cNvPr id="9" name="Shape 7"/>
          <p:cNvSpPr/>
          <p:nvPr/>
        </p:nvSpPr>
        <p:spPr>
          <a:xfrm>
            <a:off x="1005840" y="370332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3950208"/>
            <a:ext cx="6035040" cy="402336"/>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España · Alemania · Francia · Italia · Portugal · Países Bajos · Irlanda</a:t>
            </a:r>
            <a:endParaRPr lang="en-US" sz="1150" dirty="0"/>
          </a:p>
        </p:txBody>
      </p:sp>
      <p:sp>
        <p:nvSpPr>
          <p:cNvPr id="11" name="Text 9"/>
          <p:cNvSpPr txBox="1"/>
          <p:nvPr/>
        </p:nvSpPr>
        <p:spPr>
          <a:xfrm>
            <a:off x="1005840" y="4434840"/>
            <a:ext cx="6035040" cy="658368"/>
          </a:xfrm>
          <a:prstGeom prst="rect">
            <a:avLst/>
          </a:prstGeom>
          <a:noFill/>
          <a:ln/>
        </p:spPr>
        <p:txBody>
          <a:bodyPr wrap="square" lIns="0" tIns="0" rIns="0" bIns="0" rtlCol="0" anchor="ctr"/>
          <a:lstStyle/>
          <a:p>
            <a:pPr indent="0" marL="0">
              <a:buNone/>
            </a:pPr>
            <a:r>
              <a:rPr lang="en-US" sz="1100" dirty="0">
                <a:solidFill>
                  <a:srgbClr val="FFD200"/>
                </a:solidFill>
                <a:latin typeface="Verdana" pitchFamily="34" charset="0"/>
                <a:ea typeface="Verdana" pitchFamily="34" charset="-122"/>
                <a:cs typeface="Verdana" pitchFamily="34" charset="-120"/>
              </a:rPr>
              <a:t>Cinco productos · Datos oficiales 2026</a:t>
            </a:r>
            <a:endParaRPr lang="en-US" sz="1100" dirty="0"/>
          </a:p>
          <a:p>
            <a:pPr indent="0" marL="0">
              <a:buNone/>
            </a:pPr>
            <a:r>
              <a:rPr lang="en-US" sz="1100" dirty="0">
                <a:solidFill>
                  <a:srgbClr val="FFD200"/>
                </a:solidFill>
                <a:latin typeface="Verdana" pitchFamily="34" charset="0"/>
                <a:ea typeface="Verdana" pitchFamily="34" charset="-122"/>
                <a:cs typeface="Verdana" pitchFamily="34" charset="-120"/>
              </a:rPr>
              <a:t>Modelo de ROE con supuestos declarados</a:t>
            </a:r>
            <a:endParaRPr lang="en-US" sz="1100" dirty="0"/>
          </a:p>
        </p:txBody>
      </p:sp>
      <p:sp>
        <p:nvSpPr>
          <p:cNvPr id="12" name="Text 10"/>
          <p:cNvSpPr txBox="1"/>
          <p:nvPr/>
        </p:nvSpPr>
        <p:spPr>
          <a:xfrm>
            <a:off x="1005840" y="5897880"/>
            <a:ext cx="6035040" cy="274320"/>
          </a:xfrm>
          <a:prstGeom prst="rect">
            <a:avLst/>
          </a:prstGeom>
          <a:noFill/>
          <a:ln/>
        </p:spPr>
        <p:txBody>
          <a:bodyPr wrap="square" lIns="0" tIns="0" rIns="0" bIns="0" rtlCol="0" anchor="ctr"/>
          <a:lstStyle/>
          <a:p>
            <a:pPr indent="0" marL="0">
              <a:buNone/>
            </a:pPr>
            <a:r>
              <a:rPr lang="en-US" sz="950" dirty="0">
                <a:solidFill>
                  <a:srgbClr val="A1A1A1"/>
                </a:solidFill>
                <a:latin typeface="Verdana" pitchFamily="34" charset="0"/>
                <a:ea typeface="Verdana" pitchFamily="34" charset="-122"/>
                <a:cs typeface="Verdana" pitchFamily="34" charset="-120"/>
              </a:rPr>
              <a:t>71.061 observaciones · 13 fuentes · Septiembre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Objetivo y método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mide, con qué datos y dónde están los límites</a:t>
            </a:r>
            <a:endParaRPr lang="en-US" sz="1050" dirty="0"/>
          </a:p>
        </p:txBody>
      </p:sp>
      <p:sp>
        <p:nvSpPr>
          <p:cNvPr id="6" name="Shape 4"/>
          <p:cNvSpPr/>
          <p:nvPr/>
        </p:nvSpPr>
        <p:spPr>
          <a:xfrm>
            <a:off x="621792" y="1600200"/>
            <a:ext cx="10945368" cy="1069848"/>
          </a:xfrm>
          <a:prstGeom prst="roundRect">
            <a:avLst>
              <a:gd name="adj" fmla="val 5128"/>
            </a:avLst>
          </a:prstGeom>
          <a:solidFill>
            <a:srgbClr val="E5E5E5"/>
          </a:solidFill>
          <a:ln w="12700">
            <a:solidFill>
              <a:srgbClr val="CACACA"/>
            </a:solidFill>
            <a:prstDash val="solid"/>
          </a:ln>
        </p:spPr>
      </p:sp>
      <p:sp>
        <p:nvSpPr>
          <p:cNvPr id="7" name="Text 5"/>
          <p:cNvSpPr txBox="1"/>
          <p:nvPr/>
        </p:nvSpPr>
        <p:spPr>
          <a:xfrm>
            <a:off x="850392"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8" name="Text 6"/>
          <p:cNvSpPr txBox="1"/>
          <p:nvPr/>
        </p:nvSpPr>
        <p:spPr>
          <a:xfrm>
            <a:off x="3273552" y="170992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9" name="Shape 7"/>
          <p:cNvSpPr/>
          <p:nvPr/>
        </p:nvSpPr>
        <p:spPr>
          <a:xfrm>
            <a:off x="621792" y="2788920"/>
            <a:ext cx="10945368" cy="1069848"/>
          </a:xfrm>
          <a:prstGeom prst="roundRect">
            <a:avLst>
              <a:gd name="adj" fmla="val 5128"/>
            </a:avLst>
          </a:prstGeom>
          <a:solidFill>
            <a:srgbClr val="E5E5E5"/>
          </a:solidFill>
          <a:ln w="12700">
            <a:solidFill>
              <a:srgbClr val="CACACA"/>
            </a:solidFill>
            <a:prstDash val="solid"/>
          </a:ln>
        </p:spPr>
      </p:sp>
      <p:sp>
        <p:nvSpPr>
          <p:cNvPr id="10" name="Text 8"/>
          <p:cNvSpPr txBox="1"/>
          <p:nvPr/>
        </p:nvSpPr>
        <p:spPr>
          <a:xfrm>
            <a:off x="850392"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11" name="Text 9"/>
          <p:cNvSpPr txBox="1"/>
          <p:nvPr/>
        </p:nvSpPr>
        <p:spPr>
          <a:xfrm>
            <a:off x="3273552" y="289864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2" name="Shape 10"/>
          <p:cNvSpPr/>
          <p:nvPr/>
        </p:nvSpPr>
        <p:spPr>
          <a:xfrm>
            <a:off x="621792" y="3977640"/>
            <a:ext cx="10945368" cy="1069848"/>
          </a:xfrm>
          <a:prstGeom prst="roundRect">
            <a:avLst>
              <a:gd name="adj" fmla="val 5128"/>
            </a:avLst>
          </a:prstGeom>
          <a:solidFill>
            <a:srgbClr val="E5E5E5"/>
          </a:solidFill>
          <a:ln w="12700">
            <a:solidFill>
              <a:srgbClr val="CACACA"/>
            </a:solidFill>
            <a:prstDash val="solid"/>
          </a:ln>
        </p:spPr>
      </p:sp>
      <p:sp>
        <p:nvSpPr>
          <p:cNvPr id="13" name="Text 11"/>
          <p:cNvSpPr txBox="1"/>
          <p:nvPr/>
        </p:nvSpPr>
        <p:spPr>
          <a:xfrm>
            <a:off x="850392"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4" name="Text 12"/>
          <p:cNvSpPr txBox="1"/>
          <p:nvPr/>
        </p:nvSpPr>
        <p:spPr>
          <a:xfrm>
            <a:off x="3273552" y="408736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5" name="Shape 13"/>
          <p:cNvSpPr/>
          <p:nvPr/>
        </p:nvSpPr>
        <p:spPr>
          <a:xfrm>
            <a:off x="621792" y="5166360"/>
            <a:ext cx="10945368" cy="1069848"/>
          </a:xfrm>
          <a:prstGeom prst="roundRect">
            <a:avLst>
              <a:gd name="adj" fmla="val 5128"/>
            </a:avLst>
          </a:prstGeom>
          <a:solidFill>
            <a:srgbClr val="FFD6BA"/>
          </a:solidFill>
          <a:ln w="12700">
            <a:solidFill>
              <a:srgbClr val="F56600"/>
            </a:solidFill>
            <a:prstDash val="solid"/>
          </a:ln>
        </p:spPr>
      </p:sp>
      <p:sp>
        <p:nvSpPr>
          <p:cNvPr id="16" name="Text 14"/>
          <p:cNvSpPr txBox="1"/>
          <p:nvPr/>
        </p:nvSpPr>
        <p:spPr>
          <a:xfrm>
            <a:off x="850392"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7" name="Text 15"/>
          <p:cNvSpPr txBox="1"/>
          <p:nvPr/>
        </p:nvSpPr>
        <p:spPr>
          <a:xfrm>
            <a:off x="3273552" y="527608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8"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01</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El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europeo</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Siete países · Precio, riesgo, capital y rentabilidad del préstamo PYME</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Francia es la mitad, Irlanda es el 0,8 %</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de la banca supervisada en cada país y VARIACIÓN de la brecha de financiación declarada por las propias empresas</a:t>
            </a:r>
            <a:endParaRPr lang="en-US" sz="1050" dirty="0"/>
          </a:p>
        </p:txBody>
      </p:sp>
      <p:graphicFrame>
        <p:nvGraphicFramePr>
          <p:cNvPr id="6" name="Chart 0" descr=""/>
          <p:cNvGraphicFramePr/>
          <p:nvPr/>
        </p:nvGraphicFramePr>
        <p:xfrm>
          <a:off x="621792" y="1810512"/>
          <a:ext cx="5577840" cy="26517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7784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Cartera PYME, millones de euros</a:t>
            </a:r>
            <a:endParaRPr lang="en-US" sz="1100" dirty="0"/>
          </a:p>
        </p:txBody>
      </p:sp>
      <p:sp>
        <p:nvSpPr>
          <p:cNvPr id="8" name="Text 5"/>
          <p:cNvSpPr txBox="1"/>
          <p:nvPr/>
        </p:nvSpPr>
        <p:spPr>
          <a:xfrm>
            <a:off x="6309360" y="1572768"/>
            <a:ext cx="551383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Variación de la brecha de financiación, 2025-S1</a:t>
            </a:r>
            <a:endParaRPr lang="en-US" sz="1100" dirty="0"/>
          </a:p>
        </p:txBody>
      </p:sp>
      <p:graphicFrame>
        <p:nvGraphicFramePr>
          <p:cNvPr id="9" name="Chart 1" descr=""/>
          <p:cNvGraphicFramePr/>
          <p:nvPr/>
        </p:nvGraphicFramePr>
        <p:xfrm>
          <a:off x="6309360" y="1810512"/>
          <a:ext cx="5513832" cy="26517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309360" y="4480560"/>
            <a:ext cx="5513832" cy="384048"/>
          </a:xfrm>
          <a:prstGeom prst="rect">
            <a:avLst/>
          </a:prstGeom>
          <a:noFill/>
          <a:ln/>
        </p:spPr>
        <p:txBody>
          <a:bodyPr wrap="square" lIns="0" tIns="0" rIns="0" bIns="0" rtlCol="0" anchor="ctr"/>
          <a:lstStyle/>
          <a:p>
            <a:pPr algn="l" indent="0" marL="0">
              <a:buNone/>
            </a:pPr>
            <a:r>
              <a:rPr lang="en-US" sz="700" i="1" dirty="0">
                <a:solidFill>
                  <a:srgbClr val="818181"/>
                </a:solidFill>
                <a:latin typeface="Verdana" pitchFamily="34" charset="0"/>
                <a:ea typeface="Verdana" pitchFamily="34" charset="-122"/>
                <a:cs typeface="Verdana" pitchFamily="34" charset="-120"/>
              </a:rPr>
              <a:t>Indicador de CAMBIO, no de nivel. Por empresa y para cada uno de cinco instrumentos vale +1 si sube la necesidad y baja la disponibilidad, −1 al revés, ±0,5 si solo se mueve un lado y 0 si no cambia nada. Positivo = la brecha se ABRE.</a:t>
            </a:r>
            <a:endParaRPr lang="en-US" sz="700" dirty="0"/>
          </a:p>
        </p:txBody>
      </p:sp>
      <p:sp>
        <p:nvSpPr>
          <p:cNvPr id="11" name="Text 7"/>
          <p:cNvSpPr txBox="1"/>
          <p:nvPr/>
        </p:nvSpPr>
        <p:spPr>
          <a:xfrm>
            <a:off x="621792" y="4498848"/>
            <a:ext cx="5577840" cy="219456"/>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Los siete suman 2,14 billones de euros. Francia sola es el 44,8 %.</a:t>
            </a:r>
            <a:endParaRPr lang="en-US" sz="800" dirty="0"/>
          </a:p>
        </p:txBody>
      </p:sp>
      <p:sp>
        <p:nvSpPr>
          <p:cNvPr id="12" name="Shape 8"/>
          <p:cNvSpPr/>
          <p:nvPr/>
        </p:nvSpPr>
        <p:spPr>
          <a:xfrm>
            <a:off x="621792" y="4937760"/>
            <a:ext cx="5577840" cy="1097280"/>
          </a:xfrm>
          <a:prstGeom prst="roundRect">
            <a:avLst>
              <a:gd name="adj" fmla="val 4167"/>
            </a:avLst>
          </a:prstGeom>
          <a:solidFill>
            <a:srgbClr val="FFF4C2"/>
          </a:solidFill>
          <a:ln w="12700">
            <a:solidFill>
              <a:srgbClr val="FFE066"/>
            </a:solidFill>
            <a:prstDash val="solid"/>
          </a:ln>
        </p:spPr>
      </p:sp>
      <p:sp>
        <p:nvSpPr>
          <p:cNvPr id="13" name="Text 9"/>
          <p:cNvSpPr txBox="1"/>
          <p:nvPr/>
        </p:nvSpPr>
        <p:spPr>
          <a:xfrm>
            <a:off x="768096" y="5010912"/>
            <a:ext cx="52852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tamaño no se reparte como el PIB</a:t>
            </a:r>
            <a:endParaRPr lang="en-US" sz="1150" dirty="0"/>
          </a:p>
        </p:txBody>
      </p:sp>
      <p:sp>
        <p:nvSpPr>
          <p:cNvPr id="14" name="Text 10"/>
          <p:cNvSpPr txBox="1"/>
          <p:nvPr/>
        </p:nvSpPr>
        <p:spPr>
          <a:xfrm>
            <a:off x="768096" y="5248656"/>
            <a:ext cx="5285232"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tiene 57 veces la cartera PYME de Irlanda y tres veces la de España, muy por encima de lo que dice su economía. Conviene tenerlo delante al leer los ROE: un punto de ROE en Irlanda mueve una cartera de 16.964 M€ y en Francia, de 961.184 M€.</a:t>
            </a:r>
            <a:endParaRPr lang="en-US" sz="850" dirty="0"/>
          </a:p>
        </p:txBody>
      </p:sp>
      <p:sp>
        <p:nvSpPr>
          <p:cNvPr id="15" name="Shape 11"/>
          <p:cNvSpPr/>
          <p:nvPr/>
        </p:nvSpPr>
        <p:spPr>
          <a:xfrm>
            <a:off x="6309360" y="4937760"/>
            <a:ext cx="5513832" cy="1097280"/>
          </a:xfrm>
          <a:prstGeom prst="roundRect">
            <a:avLst>
              <a:gd name="adj" fmla="val 4167"/>
            </a:avLst>
          </a:prstGeom>
          <a:solidFill>
            <a:srgbClr val="C7E3F9"/>
          </a:solidFill>
          <a:ln w="12700">
            <a:solidFill>
              <a:srgbClr val="77BFEE"/>
            </a:solidFill>
            <a:prstDash val="solid"/>
          </a:ln>
        </p:spPr>
      </p:sp>
      <p:sp>
        <p:nvSpPr>
          <p:cNvPr id="16" name="Text 12"/>
          <p:cNvSpPr txBox="1"/>
          <p:nvPr/>
        </p:nvSpPr>
        <p:spPr>
          <a:xfrm>
            <a:off x="6455664" y="5010912"/>
            <a:ext cx="522122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Donde más se abre la brecha es donde menos rinde</a:t>
            </a:r>
            <a:endParaRPr lang="en-US" sz="1150" dirty="0"/>
          </a:p>
        </p:txBody>
      </p:sp>
      <p:sp>
        <p:nvSpPr>
          <p:cNvPr id="17" name="Text 13"/>
          <p:cNvSpPr txBox="1"/>
          <p:nvPr/>
        </p:nvSpPr>
        <p:spPr>
          <a:xfrm>
            <a:off x="6455664" y="5248656"/>
            <a:ext cx="5221224"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es el único de los siete donde la brecha se abre con claridad (+6,3), y en su micro llega a +12,4. Es el mercado más grande, el único donde la necesidad se despega de la disponibilidad y el de peor ROE para su banca (5,4 %). En Portugal la brecha se cierra con fuerza (-9,4).</a:t>
            </a:r>
            <a:endParaRPr lang="en-US" sz="850" dirty="0"/>
          </a:p>
        </p:txBody>
      </p:sp>
      <p:sp>
        <p:nvSpPr>
          <p:cNvPr id="18"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Fuentes: cartera PYME, EBA EU-wide Transparency Exercise, valor de exposición de la clase PYME de la banca supervisada en cada país, junio de 2025; brecha de financiación, BCE, encuesta SAFE, indicador compuesto financing gap de la PYME de menos de 250 empleados, media ponderada de 2025-S1. El indicador combina necesidad y disponibilidad de CINCO instrumentos —préstamo bancario, descubierto, crédito comercial, capital y valores de deuda— así que NO es solo crédito bancario, y mide el CAMBIO percibido, no el tamaño de una necesidad insatisfecha: un país con brecha negativa puede seguir teniendo mucha necesidad sin cubrir. Son dos magnitudes que no se agregan: una es un importe y la otra un saldo neto de respuestas. La SAFE segmenta por EMPLEADOS y el Transparency Exercise por clase de exposición prudencial; el micro de la SAFE solo está publicado para cuatro de los siete.</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Precio de Préstamos a Pymes por tramo de importe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050" dirty="0"/>
          </a:p>
        </p:txBody>
      </p:sp>
      <p:graphicFrame>
        <p:nvGraphicFramePr>
          <p:cNvPr id="6" name="Chart 0" descr=""/>
          <p:cNvGraphicFramePr/>
          <p:nvPr/>
        </p:nvGraphicFramePr>
        <p:xfrm>
          <a:off x="621792"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8" name="Text 5"/>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9" name="Text 6"/>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10" name="Shape 7"/>
          <p:cNvSpPr/>
          <p:nvPr/>
        </p:nvSpPr>
        <p:spPr>
          <a:xfrm>
            <a:off x="7680960" y="3858768"/>
            <a:ext cx="3959352" cy="1399032"/>
          </a:xfrm>
          <a:prstGeom prst="roundRect">
            <a:avLst>
              <a:gd name="adj" fmla="val 3922"/>
            </a:avLst>
          </a:prstGeom>
          <a:solidFill>
            <a:srgbClr val="FFF4C2"/>
          </a:solidFill>
          <a:ln w="12700">
            <a:solidFill>
              <a:srgbClr val="FFE066"/>
            </a:solidFill>
            <a:prstDash val="solid"/>
          </a:ln>
        </p:spPr>
      </p:sp>
      <p:sp>
        <p:nvSpPr>
          <p:cNvPr id="11" name="Text 8"/>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2" name="Text 9"/>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7" name="Shape 4"/>
          <p:cNvSpPr/>
          <p:nvPr/>
        </p:nvSpPr>
        <p:spPr>
          <a:xfrm>
            <a:off x="621792" y="5623560"/>
            <a:ext cx="1371600" cy="256032"/>
          </a:xfrm>
          <a:prstGeom prst="roundRect">
            <a:avLst>
              <a:gd name="adj" fmla="val 42857"/>
            </a:avLst>
          </a:prstGeom>
          <a:solidFill>
            <a:srgbClr val="F56600"/>
          </a:solidFill>
          <a:ln w="12700">
            <a:solidFill>
              <a:srgbClr val="F56600"/>
            </a:solidFill>
            <a:prstDash val="solid"/>
          </a:ln>
        </p:spPr>
      </p:sp>
      <p:sp>
        <p:nvSpPr>
          <p:cNvPr id="8" name="Text 5"/>
          <p:cNvSpPr txBox="1"/>
          <p:nvPr/>
        </p:nvSpPr>
        <p:spPr>
          <a:xfrm>
            <a:off x="62179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9" name="Shape 6"/>
          <p:cNvSpPr/>
          <p:nvPr/>
        </p:nvSpPr>
        <p:spPr>
          <a:xfrm>
            <a:off x="2176272" y="5623560"/>
            <a:ext cx="1371600" cy="256032"/>
          </a:xfrm>
          <a:prstGeom prst="roundRect">
            <a:avLst>
              <a:gd name="adj" fmla="val 42857"/>
            </a:avLst>
          </a:prstGeom>
          <a:solidFill>
            <a:srgbClr val="FFAB70"/>
          </a:solidFill>
          <a:ln w="12700">
            <a:solidFill>
              <a:srgbClr val="FFAB70"/>
            </a:solidFill>
            <a:prstDash val="solid"/>
          </a:ln>
        </p:spPr>
      </p:sp>
      <p:sp>
        <p:nvSpPr>
          <p:cNvPr id="10" name="Text 7"/>
          <p:cNvSpPr txBox="1"/>
          <p:nvPr/>
        </p:nvSpPr>
        <p:spPr>
          <a:xfrm>
            <a:off x="217627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4005072"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modelizado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050" dirty="0"/>
          </a:p>
        </p:txBody>
      </p:sp>
      <p:graphicFrame>
        <p:nvGraphicFramePr>
          <p:cNvPr id="6" name="Chart 0" descr=""/>
          <p:cNvGraphicFramePr/>
          <p:nvPr/>
        </p:nvGraphicFramePr>
        <p:xfrm>
          <a:off x="621792"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8" name="Text 5"/>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9" name="Text 6"/>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Sensibilidad al supuesto de comisiones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80160"/>
          </a:xfrm>
          <a:prstGeom prst="roundRect">
            <a:avLst>
              <a:gd name="adj" fmla="val 4286"/>
            </a:avLst>
          </a:prstGeom>
          <a:solidFill>
            <a:srgbClr val="FFF4C2"/>
          </a:solidFill>
          <a:ln w="12700">
            <a:solidFill>
              <a:srgbClr val="FFE066"/>
            </a:solidFill>
            <a:prstDash val="solid"/>
          </a:ln>
        </p:spPr>
      </p:sp>
      <p:sp>
        <p:nvSpPr>
          <p:cNvPr id="8" name="Text 5"/>
          <p:cNvSpPr txBox="1"/>
          <p:nvPr/>
        </p:nvSpPr>
        <p:spPr>
          <a:xfrm>
            <a:off x="850392"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9" name="Text 6"/>
          <p:cNvSpPr txBox="1"/>
          <p:nvPr/>
        </p:nvSpPr>
        <p:spPr>
          <a:xfrm>
            <a:off x="850392"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seis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Simulación: entrante eficiente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050" dirty="0"/>
          </a:p>
        </p:txBody>
      </p:sp>
      <p:sp>
        <p:nvSpPr>
          <p:cNvPr id="6" name="Shape 4"/>
          <p:cNvSpPr/>
          <p:nvPr/>
        </p:nvSpPr>
        <p:spPr>
          <a:xfrm>
            <a:off x="621792" y="1572768"/>
            <a:ext cx="10945368" cy="475488"/>
          </a:xfrm>
          <a:prstGeom prst="roundRect">
            <a:avLst>
              <a:gd name="adj" fmla="val 11538"/>
            </a:avLst>
          </a:prstGeom>
          <a:solidFill>
            <a:srgbClr val="FFF4C2"/>
          </a:solidFill>
          <a:ln w="12700">
            <a:solidFill>
              <a:srgbClr val="FFE066"/>
            </a:solidFill>
            <a:prstDash val="solid"/>
          </a:ln>
        </p:spPr>
      </p:sp>
      <p:sp>
        <p:nvSpPr>
          <p:cNvPr id="7" name="Text 5"/>
          <p:cNvSpPr txBox="1"/>
          <p:nvPr/>
        </p:nvSpPr>
        <p:spPr>
          <a:xfrm>
            <a:off x="850392"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8" name="Chart 0" descr=""/>
          <p:cNvGraphicFramePr/>
          <p:nvPr/>
        </p:nvGraphicFramePr>
        <p:xfrm>
          <a:off x="621792"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10" name="Shape 6"/>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11" name="Text 7"/>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2" name="Text 8"/>
          <p:cNvSpPr txBox="1"/>
          <p:nvPr/>
        </p:nvSpPr>
        <p:spPr>
          <a:xfrm>
            <a:off x="621792" y="5440680"/>
            <a:ext cx="10945368"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3"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 los recursos de empresa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050" dirty="0"/>
          </a:p>
        </p:txBody>
      </p:sp>
      <p:graphicFrame>
        <p:nvGraphicFramePr>
          <p:cNvPr id="6" name="Chart 0" descr=""/>
          <p:cNvGraphicFramePr/>
          <p:nvPr/>
        </p:nvGraphicFramePr>
        <p:xfrm>
          <a:off x="621792"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Shape 4"/>
          <p:cNvSpPr/>
          <p:nvPr/>
        </p:nvSpPr>
        <p:spPr>
          <a:xfrm>
            <a:off x="7452360" y="4425696"/>
            <a:ext cx="4187952" cy="640080"/>
          </a:xfrm>
          <a:prstGeom prst="roundRect">
            <a:avLst>
              <a:gd name="adj" fmla="val 8571"/>
            </a:avLst>
          </a:prstGeom>
          <a:solidFill>
            <a:srgbClr val="FFF4C2"/>
          </a:solidFill>
          <a:ln w="12700">
            <a:solidFill>
              <a:srgbClr val="FFE066"/>
            </a:solidFill>
            <a:prstDash val="solid"/>
          </a:ln>
        </p:spPr>
      </p:sp>
      <p:sp>
        <p:nvSpPr>
          <p:cNvPr id="9" name="Text 5"/>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1792" y="5157216"/>
          <a:ext cx="10945368"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del riesgo = PD ×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050" dirty="0"/>
          </a:p>
        </p:txBody>
      </p:sp>
      <p:graphicFrame>
        <p:nvGraphicFramePr>
          <p:cNvPr id="6" name="Chart 0" descr=""/>
          <p:cNvGraphicFramePr/>
          <p:nvPr/>
        </p:nvGraphicFramePr>
        <p:xfrm>
          <a:off x="621792"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Text 4"/>
          <p:cNvSpPr txBox="1"/>
          <p:nvPr/>
        </p:nvSpPr>
        <p:spPr>
          <a:xfrm>
            <a:off x="621792" y="5303520"/>
            <a:ext cx="10945368"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9" name="Text 5"/>
          <p:cNvSpPr txBox="1"/>
          <p:nvPr/>
        </p:nvSpPr>
        <p:spPr>
          <a:xfrm>
            <a:off x="621792" y="5742432"/>
            <a:ext cx="10945368"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10"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Infraestructura de información crediticia de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4"/>
          <p:cNvSpPr/>
          <p:nvPr/>
        </p:nvSpPr>
        <p:spPr>
          <a:xfrm>
            <a:off x="621792" y="4754880"/>
            <a:ext cx="10945368" cy="1325880"/>
          </a:xfrm>
          <a:prstGeom prst="roundRect">
            <a:avLst>
              <a:gd name="adj" fmla="val 4138"/>
            </a:avLst>
          </a:prstGeom>
          <a:solidFill>
            <a:srgbClr val="FFF4C2"/>
          </a:solidFill>
          <a:ln w="12700">
            <a:solidFill>
              <a:srgbClr val="FFE066"/>
            </a:solidFill>
            <a:prstDash val="solid"/>
          </a:ln>
        </p:spPr>
      </p:sp>
      <p:sp>
        <p:nvSpPr>
          <p:cNvPr id="8" name="Text 5"/>
          <p:cNvSpPr txBox="1"/>
          <p:nvPr/>
        </p:nvSpPr>
        <p:spPr>
          <a:xfrm>
            <a:off x="850392"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9" name="Text 6"/>
          <p:cNvSpPr txBox="1"/>
          <p:nvPr/>
        </p:nvSpPr>
        <p:spPr>
          <a:xfrm>
            <a:off x="850392"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Los dos ejes: información selecciona, recobro recupera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050" dirty="0"/>
          </a:p>
        </p:txBody>
      </p:sp>
      <p:sp>
        <p:nvSpPr>
          <p:cNvPr id="6" name="Shape 4"/>
          <p:cNvSpPr/>
          <p:nvPr/>
        </p:nvSpPr>
        <p:spPr>
          <a:xfrm>
            <a:off x="1124712" y="1645920"/>
            <a:ext cx="5806440" cy="3703320"/>
          </a:xfrm>
          <a:prstGeom prst="rect">
            <a:avLst/>
          </a:prstGeom>
          <a:solidFill>
            <a:srgbClr val="FFFFFF"/>
          </a:solidFill>
          <a:ln w="9525">
            <a:solidFill>
              <a:srgbClr val="CACACA"/>
            </a:solidFill>
            <a:prstDash val="solid"/>
          </a:ln>
        </p:spPr>
      </p:sp>
      <p:sp>
        <p:nvSpPr>
          <p:cNvPr id="7" name="Shape 5"/>
          <p:cNvSpPr/>
          <p:nvPr/>
        </p:nvSpPr>
        <p:spPr>
          <a:xfrm>
            <a:off x="4027932" y="1645920"/>
            <a:ext cx="2903220" cy="1851660"/>
          </a:xfrm>
          <a:prstGeom prst="rect">
            <a:avLst/>
          </a:prstGeom>
          <a:solidFill>
            <a:srgbClr val="FFD6BA"/>
          </a:solidFill>
          <a:ln w="12700">
            <a:solidFill>
              <a:srgbClr val="FFFFFF"/>
            </a:solidFill>
            <a:prstDash val="solid"/>
          </a:ln>
        </p:spPr>
      </p:sp>
      <p:sp>
        <p:nvSpPr>
          <p:cNvPr id="8" name="Shape 6"/>
          <p:cNvSpPr/>
          <p:nvPr/>
        </p:nvSpPr>
        <p:spPr>
          <a:xfrm>
            <a:off x="1124712" y="3497580"/>
            <a:ext cx="2903220" cy="1851660"/>
          </a:xfrm>
          <a:prstGeom prst="rect">
            <a:avLst/>
          </a:prstGeom>
          <a:solidFill>
            <a:srgbClr val="E5E5E5"/>
          </a:solidFill>
          <a:ln w="12700">
            <a:solidFill>
              <a:srgbClr val="FFFFFF"/>
            </a:solidFill>
            <a:prstDash val="solid"/>
          </a:ln>
        </p:spPr>
      </p:sp>
      <p:sp>
        <p:nvSpPr>
          <p:cNvPr id="9" name="Shape 7"/>
          <p:cNvSpPr/>
          <p:nvPr/>
        </p:nvSpPr>
        <p:spPr>
          <a:xfrm>
            <a:off x="4027932" y="1645920"/>
            <a:ext cx="0" cy="3703320"/>
          </a:xfrm>
          <a:prstGeom prst="line">
            <a:avLst/>
          </a:prstGeom>
          <a:noFill/>
          <a:ln w="9525">
            <a:solidFill>
              <a:srgbClr val="CACACA"/>
            </a:solidFill>
            <a:prstDash val="dash"/>
          </a:ln>
        </p:spPr>
      </p:sp>
      <p:sp>
        <p:nvSpPr>
          <p:cNvPr id="10" name="Shape 8"/>
          <p:cNvSpPr/>
          <p:nvPr/>
        </p:nvSpPr>
        <p:spPr>
          <a:xfrm>
            <a:off x="1124712" y="3497580"/>
            <a:ext cx="5806440" cy="0"/>
          </a:xfrm>
          <a:prstGeom prst="line">
            <a:avLst/>
          </a:prstGeom>
          <a:noFill/>
          <a:ln w="9525">
            <a:solidFill>
              <a:srgbClr val="CACACA"/>
            </a:solidFill>
            <a:prstDash val="dash"/>
          </a:ln>
        </p:spPr>
      </p:sp>
      <p:sp>
        <p:nvSpPr>
          <p:cNvPr id="11" name="Text 9"/>
          <p:cNvSpPr txBox="1"/>
          <p:nvPr/>
        </p:nvSpPr>
        <p:spPr>
          <a:xfrm>
            <a:off x="410108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2" name="Text 10"/>
          <p:cNvSpPr txBox="1"/>
          <p:nvPr/>
        </p:nvSpPr>
        <p:spPr>
          <a:xfrm>
            <a:off x="119786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3" name="Text 11"/>
          <p:cNvSpPr txBox="1"/>
          <p:nvPr/>
        </p:nvSpPr>
        <p:spPr>
          <a:xfrm>
            <a:off x="410108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4" name="Text 12"/>
          <p:cNvSpPr txBox="1"/>
          <p:nvPr/>
        </p:nvSpPr>
        <p:spPr>
          <a:xfrm>
            <a:off x="119786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5" name="Text 13"/>
          <p:cNvSpPr txBox="1"/>
          <p:nvPr/>
        </p:nvSpPr>
        <p:spPr>
          <a:xfrm>
            <a:off x="1124712"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6" name="Text 14"/>
          <p:cNvSpPr txBox="1"/>
          <p:nvPr/>
        </p:nvSpPr>
        <p:spPr>
          <a:xfrm>
            <a:off x="566928"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7" name="Shape 15"/>
          <p:cNvSpPr/>
          <p:nvPr/>
        </p:nvSpPr>
        <p:spPr>
          <a:xfrm>
            <a:off x="4547768" y="3045775"/>
            <a:ext cx="474574" cy="474574"/>
          </a:xfrm>
          <a:prstGeom prst="ellipse">
            <a:avLst/>
          </a:prstGeom>
          <a:solidFill>
            <a:srgbClr val="FFAB70"/>
          </a:solidFill>
          <a:ln w="9525">
            <a:solidFill>
              <a:srgbClr val="2B2B2B"/>
            </a:solidFill>
            <a:prstDash val="solid"/>
          </a:ln>
        </p:spPr>
      </p:sp>
      <p:sp>
        <p:nvSpPr>
          <p:cNvPr id="18" name="Text 16"/>
          <p:cNvSpPr txBox="1"/>
          <p:nvPr/>
        </p:nvSpPr>
        <p:spPr>
          <a:xfrm>
            <a:off x="3267608"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9" name="Shape 17"/>
          <p:cNvSpPr/>
          <p:nvPr/>
        </p:nvSpPr>
        <p:spPr>
          <a:xfrm>
            <a:off x="5169560" y="2662276"/>
            <a:ext cx="345643" cy="345643"/>
          </a:xfrm>
          <a:prstGeom prst="ellipse">
            <a:avLst/>
          </a:prstGeom>
          <a:solidFill>
            <a:srgbClr val="77BFEE"/>
          </a:solidFill>
          <a:ln w="9525">
            <a:solidFill>
              <a:srgbClr val="2B2B2B"/>
            </a:solidFill>
            <a:prstDash val="solid"/>
          </a:ln>
        </p:spPr>
      </p:sp>
      <p:sp>
        <p:nvSpPr>
          <p:cNvPr id="20" name="Text 18"/>
          <p:cNvSpPr txBox="1"/>
          <p:nvPr/>
        </p:nvSpPr>
        <p:spPr>
          <a:xfrm>
            <a:off x="3889400"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21" name="Shape 19"/>
          <p:cNvSpPr/>
          <p:nvPr/>
        </p:nvSpPr>
        <p:spPr>
          <a:xfrm>
            <a:off x="1982191" y="3265780"/>
            <a:ext cx="589788" cy="589788"/>
          </a:xfrm>
          <a:prstGeom prst="ellipse">
            <a:avLst/>
          </a:prstGeom>
          <a:solidFill>
            <a:srgbClr val="FF8AC2"/>
          </a:solidFill>
          <a:ln w="9525">
            <a:solidFill>
              <a:srgbClr val="2B2B2B"/>
            </a:solidFill>
            <a:prstDash val="solid"/>
          </a:ln>
        </p:spPr>
      </p:sp>
      <p:sp>
        <p:nvSpPr>
          <p:cNvPr id="22" name="Text 20"/>
          <p:cNvSpPr txBox="1"/>
          <p:nvPr/>
        </p:nvSpPr>
        <p:spPr>
          <a:xfrm>
            <a:off x="2617699"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3" name="Shape 21"/>
          <p:cNvSpPr/>
          <p:nvPr/>
        </p:nvSpPr>
        <p:spPr>
          <a:xfrm>
            <a:off x="5253228" y="4376913"/>
            <a:ext cx="619963" cy="619963"/>
          </a:xfrm>
          <a:prstGeom prst="ellipse">
            <a:avLst/>
          </a:prstGeom>
          <a:solidFill>
            <a:srgbClr val="FF8AC2"/>
          </a:solidFill>
          <a:ln w="9525">
            <a:solidFill>
              <a:srgbClr val="2B2B2B"/>
            </a:solidFill>
            <a:prstDash val="solid"/>
          </a:ln>
        </p:spPr>
      </p:sp>
      <p:sp>
        <p:nvSpPr>
          <p:cNvPr id="24" name="Text 22"/>
          <p:cNvSpPr txBox="1"/>
          <p:nvPr/>
        </p:nvSpPr>
        <p:spPr>
          <a:xfrm>
            <a:off x="3973068"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5" name="Shape 23"/>
          <p:cNvSpPr/>
          <p:nvPr/>
        </p:nvSpPr>
        <p:spPr>
          <a:xfrm>
            <a:off x="4617491" y="4346875"/>
            <a:ext cx="345643" cy="345643"/>
          </a:xfrm>
          <a:prstGeom prst="ellipse">
            <a:avLst/>
          </a:prstGeom>
          <a:solidFill>
            <a:srgbClr val="77BFEE"/>
          </a:solidFill>
          <a:ln w="9525">
            <a:solidFill>
              <a:srgbClr val="2B2B2B"/>
            </a:solidFill>
            <a:prstDash val="solid"/>
          </a:ln>
        </p:spPr>
      </p:sp>
      <p:sp>
        <p:nvSpPr>
          <p:cNvPr id="26" name="Text 24"/>
          <p:cNvSpPr txBox="1"/>
          <p:nvPr/>
        </p:nvSpPr>
        <p:spPr>
          <a:xfrm>
            <a:off x="5008855"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7" name="Shape 25"/>
          <p:cNvSpPr/>
          <p:nvPr/>
        </p:nvSpPr>
        <p:spPr>
          <a:xfrm>
            <a:off x="4065880" y="2758425"/>
            <a:ext cx="323698" cy="323698"/>
          </a:xfrm>
          <a:prstGeom prst="ellipse">
            <a:avLst/>
          </a:prstGeom>
          <a:solidFill>
            <a:srgbClr val="77BFEE"/>
          </a:solidFill>
          <a:ln w="9525">
            <a:solidFill>
              <a:srgbClr val="2B2B2B"/>
            </a:solidFill>
            <a:prstDash val="solid"/>
          </a:ln>
        </p:spPr>
      </p:sp>
      <p:sp>
        <p:nvSpPr>
          <p:cNvPr id="28" name="Text 26"/>
          <p:cNvSpPr txBox="1"/>
          <p:nvPr/>
        </p:nvSpPr>
        <p:spPr>
          <a:xfrm>
            <a:off x="2785720"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9" name="Shape 27"/>
          <p:cNvSpPr/>
          <p:nvPr/>
        </p:nvSpPr>
        <p:spPr>
          <a:xfrm>
            <a:off x="5851474" y="2131741"/>
            <a:ext cx="296266" cy="296266"/>
          </a:xfrm>
          <a:prstGeom prst="ellipse">
            <a:avLst/>
          </a:prstGeom>
          <a:solidFill>
            <a:srgbClr val="77BFEE"/>
          </a:solidFill>
          <a:ln w="9525">
            <a:solidFill>
              <a:srgbClr val="2B2B2B"/>
            </a:solidFill>
            <a:prstDash val="solid"/>
          </a:ln>
        </p:spPr>
      </p:sp>
      <p:sp>
        <p:nvSpPr>
          <p:cNvPr id="30" name="Text 28"/>
          <p:cNvSpPr txBox="1"/>
          <p:nvPr/>
        </p:nvSpPr>
        <p:spPr>
          <a:xfrm>
            <a:off x="4571314"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31" name="Text 29"/>
          <p:cNvSpPr txBox="1"/>
          <p:nvPr/>
        </p:nvSpPr>
        <p:spPr>
          <a:xfrm>
            <a:off x="1124712"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2" name="Text 30"/>
          <p:cNvSpPr txBox="1"/>
          <p:nvPr/>
        </p:nvSpPr>
        <p:spPr>
          <a:xfrm>
            <a:off x="7114032" y="1645920"/>
            <a:ext cx="445312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453128"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4" name="Text 31"/>
          <p:cNvSpPr txBox="1"/>
          <p:nvPr/>
        </p:nvSpPr>
        <p:spPr>
          <a:xfrm>
            <a:off x="7114032" y="3127248"/>
            <a:ext cx="4453128"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5" name="Shape 32"/>
          <p:cNvSpPr/>
          <p:nvPr/>
        </p:nvSpPr>
        <p:spPr>
          <a:xfrm>
            <a:off x="7114032" y="3401568"/>
            <a:ext cx="4453128" cy="1170432"/>
          </a:xfrm>
          <a:prstGeom prst="roundRect">
            <a:avLst>
              <a:gd name="adj" fmla="val 3906"/>
            </a:avLst>
          </a:prstGeom>
          <a:solidFill>
            <a:srgbClr val="FFF4C2"/>
          </a:solidFill>
          <a:ln w="12700">
            <a:solidFill>
              <a:srgbClr val="FFE066"/>
            </a:solidFill>
            <a:prstDash val="solid"/>
          </a:ln>
        </p:spPr>
      </p:sp>
      <p:sp>
        <p:nvSpPr>
          <p:cNvPr id="36" name="Text 33"/>
          <p:cNvSpPr txBox="1"/>
          <p:nvPr/>
        </p:nvSpPr>
        <p:spPr>
          <a:xfrm>
            <a:off x="7260336" y="3474720"/>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7" name="Text 34"/>
          <p:cNvSpPr txBox="1"/>
          <p:nvPr/>
        </p:nvSpPr>
        <p:spPr>
          <a:xfrm>
            <a:off x="7260336" y="3712464"/>
            <a:ext cx="4160520"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8" name="Shape 35"/>
          <p:cNvSpPr/>
          <p:nvPr/>
        </p:nvSpPr>
        <p:spPr>
          <a:xfrm>
            <a:off x="7114032" y="4645152"/>
            <a:ext cx="4453128" cy="1389888"/>
          </a:xfrm>
          <a:prstGeom prst="roundRect">
            <a:avLst>
              <a:gd name="adj" fmla="val 3289"/>
            </a:avLst>
          </a:prstGeom>
          <a:solidFill>
            <a:srgbClr val="E5E5E5"/>
          </a:solidFill>
          <a:ln w="12700">
            <a:solidFill>
              <a:srgbClr val="CACACA"/>
            </a:solidFill>
            <a:prstDash val="solid"/>
          </a:ln>
        </p:spPr>
      </p:sp>
      <p:sp>
        <p:nvSpPr>
          <p:cNvPr id="39" name="Text 36"/>
          <p:cNvSpPr txBox="1"/>
          <p:nvPr/>
        </p:nvSpPr>
        <p:spPr>
          <a:xfrm>
            <a:off x="7260336" y="4718304"/>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40" name="Text 37"/>
          <p:cNvSpPr txBox="1"/>
          <p:nvPr/>
        </p:nvSpPr>
        <p:spPr>
          <a:xfrm>
            <a:off x="7260336" y="4956048"/>
            <a:ext cx="4160520"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41" name="Text 3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 paga el riesgo? Entre mercados, no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050" dirty="0"/>
          </a:p>
        </p:txBody>
      </p:sp>
      <p:graphicFrame>
        <p:nvGraphicFramePr>
          <p:cNvPr id="6" name="Chart 0" descr=""/>
          <p:cNvGraphicFramePr/>
          <p:nvPr/>
        </p:nvGraphicFramePr>
        <p:xfrm>
          <a:off x="621792"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8" name="Shape 5"/>
          <p:cNvSpPr/>
          <p:nvPr/>
        </p:nvSpPr>
        <p:spPr>
          <a:xfrm>
            <a:off x="621792" y="5102352"/>
            <a:ext cx="6629400" cy="950976"/>
          </a:xfrm>
          <a:prstGeom prst="roundRect">
            <a:avLst>
              <a:gd name="adj" fmla="val 4808"/>
            </a:avLst>
          </a:prstGeom>
          <a:solidFill>
            <a:srgbClr val="FFF4C2"/>
          </a:solidFill>
          <a:ln w="12700">
            <a:solidFill>
              <a:srgbClr val="FFE066"/>
            </a:solidFill>
            <a:prstDash val="solid"/>
          </a:ln>
        </p:spPr>
      </p:sp>
      <p:sp>
        <p:nvSpPr>
          <p:cNvPr id="9" name="Text 6"/>
          <p:cNvSpPr txBox="1"/>
          <p:nvPr/>
        </p:nvSpPr>
        <p:spPr>
          <a:xfrm>
            <a:off x="768096"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10" name="Text 7"/>
          <p:cNvSpPr txBox="1"/>
          <p:nvPr/>
        </p:nvSpPr>
        <p:spPr>
          <a:xfrm>
            <a:off x="768096"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11" name="Text 8"/>
          <p:cNvSpPr txBox="1"/>
          <p:nvPr/>
        </p:nvSpPr>
        <p:spPr>
          <a:xfrm>
            <a:off x="7479792" y="1664208"/>
            <a:ext cx="408736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2" name="Text 9"/>
          <p:cNvSpPr txBox="1"/>
          <p:nvPr/>
        </p:nvSpPr>
        <p:spPr>
          <a:xfrm>
            <a:off x="7479792" y="1901952"/>
            <a:ext cx="4087368"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3" name="Text 10"/>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4" name="Shape 11"/>
          <p:cNvSpPr/>
          <p:nvPr/>
        </p:nvSpPr>
        <p:spPr>
          <a:xfrm>
            <a:off x="8686800" y="2199132"/>
            <a:ext cx="2109582" cy="137160"/>
          </a:xfrm>
          <a:prstGeom prst="rect">
            <a:avLst/>
          </a:prstGeom>
          <a:solidFill>
            <a:srgbClr val="FFAB70"/>
          </a:solidFill>
          <a:ln w="6350">
            <a:solidFill>
              <a:srgbClr val="FFAB70"/>
            </a:solidFill>
            <a:prstDash val="solid"/>
          </a:ln>
        </p:spPr>
      </p:sp>
      <p:sp>
        <p:nvSpPr>
          <p:cNvPr id="15" name="Text 12"/>
          <p:cNvSpPr txBox="1"/>
          <p:nvPr/>
        </p:nvSpPr>
        <p:spPr>
          <a:xfrm>
            <a:off x="10945368"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6" name="Text 13"/>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7" name="Shape 14"/>
          <p:cNvSpPr/>
          <p:nvPr/>
        </p:nvSpPr>
        <p:spPr>
          <a:xfrm>
            <a:off x="8686800" y="2473452"/>
            <a:ext cx="1770278" cy="137160"/>
          </a:xfrm>
          <a:prstGeom prst="rect">
            <a:avLst/>
          </a:prstGeom>
          <a:solidFill>
            <a:srgbClr val="FFAB70"/>
          </a:solidFill>
          <a:ln w="6350">
            <a:solidFill>
              <a:srgbClr val="FFAB70"/>
            </a:solidFill>
            <a:prstDash val="solid"/>
          </a:ln>
        </p:spPr>
      </p:sp>
      <p:sp>
        <p:nvSpPr>
          <p:cNvPr id="18" name="Text 15"/>
          <p:cNvSpPr txBox="1"/>
          <p:nvPr/>
        </p:nvSpPr>
        <p:spPr>
          <a:xfrm>
            <a:off x="10945368"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9" name="Text 16"/>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20" name="Shape 17"/>
          <p:cNvSpPr/>
          <p:nvPr/>
        </p:nvSpPr>
        <p:spPr>
          <a:xfrm>
            <a:off x="8686800" y="2747772"/>
            <a:ext cx="1696517" cy="137160"/>
          </a:xfrm>
          <a:prstGeom prst="rect">
            <a:avLst/>
          </a:prstGeom>
          <a:solidFill>
            <a:srgbClr val="FFAB70"/>
          </a:solidFill>
          <a:ln w="6350">
            <a:solidFill>
              <a:srgbClr val="FFAB70"/>
            </a:solidFill>
            <a:prstDash val="solid"/>
          </a:ln>
        </p:spPr>
      </p:sp>
      <p:sp>
        <p:nvSpPr>
          <p:cNvPr id="21" name="Text 18"/>
          <p:cNvSpPr txBox="1"/>
          <p:nvPr/>
        </p:nvSpPr>
        <p:spPr>
          <a:xfrm>
            <a:off x="10945368"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2" name="Text 19"/>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3" name="Shape 20"/>
          <p:cNvSpPr/>
          <p:nvPr/>
        </p:nvSpPr>
        <p:spPr>
          <a:xfrm>
            <a:off x="8686800" y="3022092"/>
            <a:ext cx="958901" cy="137160"/>
          </a:xfrm>
          <a:prstGeom prst="rect">
            <a:avLst/>
          </a:prstGeom>
          <a:solidFill>
            <a:srgbClr val="FFD6BA"/>
          </a:solidFill>
          <a:ln w="6350">
            <a:solidFill>
              <a:srgbClr val="FFAB70"/>
            </a:solidFill>
            <a:prstDash val="solid"/>
          </a:ln>
        </p:spPr>
      </p:sp>
      <p:sp>
        <p:nvSpPr>
          <p:cNvPr id="24" name="Text 21"/>
          <p:cNvSpPr txBox="1"/>
          <p:nvPr/>
        </p:nvSpPr>
        <p:spPr>
          <a:xfrm>
            <a:off x="10945368"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5" name="Text 22"/>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6" name="Shape 23"/>
          <p:cNvSpPr/>
          <p:nvPr/>
        </p:nvSpPr>
        <p:spPr>
          <a:xfrm>
            <a:off x="8686800" y="3296412"/>
            <a:ext cx="870387" cy="137160"/>
          </a:xfrm>
          <a:prstGeom prst="rect">
            <a:avLst/>
          </a:prstGeom>
          <a:solidFill>
            <a:srgbClr val="FFD6BA"/>
          </a:solidFill>
          <a:ln w="6350">
            <a:solidFill>
              <a:srgbClr val="FFAB70"/>
            </a:solidFill>
            <a:prstDash val="solid"/>
          </a:ln>
        </p:spPr>
      </p:sp>
      <p:sp>
        <p:nvSpPr>
          <p:cNvPr id="27" name="Text 24"/>
          <p:cNvSpPr txBox="1"/>
          <p:nvPr/>
        </p:nvSpPr>
        <p:spPr>
          <a:xfrm>
            <a:off x="10945368"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8" name="Text 25"/>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9" name="Shape 26"/>
          <p:cNvSpPr/>
          <p:nvPr/>
        </p:nvSpPr>
        <p:spPr>
          <a:xfrm>
            <a:off x="8686800" y="3570732"/>
            <a:ext cx="722864" cy="137160"/>
          </a:xfrm>
          <a:prstGeom prst="rect">
            <a:avLst/>
          </a:prstGeom>
          <a:solidFill>
            <a:srgbClr val="FFD6BA"/>
          </a:solidFill>
          <a:ln w="6350">
            <a:solidFill>
              <a:srgbClr val="FFAB70"/>
            </a:solidFill>
            <a:prstDash val="solid"/>
          </a:ln>
        </p:spPr>
      </p:sp>
      <p:sp>
        <p:nvSpPr>
          <p:cNvPr id="30" name="Text 27"/>
          <p:cNvSpPr txBox="1"/>
          <p:nvPr/>
        </p:nvSpPr>
        <p:spPr>
          <a:xfrm>
            <a:off x="10945368"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31" name="Text 28"/>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2" name="Shape 29"/>
          <p:cNvSpPr/>
          <p:nvPr/>
        </p:nvSpPr>
        <p:spPr>
          <a:xfrm>
            <a:off x="8686800" y="3845052"/>
            <a:ext cx="59009" cy="137160"/>
          </a:xfrm>
          <a:prstGeom prst="rect">
            <a:avLst/>
          </a:prstGeom>
          <a:solidFill>
            <a:srgbClr val="FFCCE8"/>
          </a:solidFill>
          <a:ln w="6350">
            <a:solidFill>
              <a:srgbClr val="FF8AC2"/>
            </a:solidFill>
            <a:prstDash val="solid"/>
          </a:ln>
        </p:spPr>
      </p:sp>
      <p:sp>
        <p:nvSpPr>
          <p:cNvPr id="33" name="Text 30"/>
          <p:cNvSpPr txBox="1"/>
          <p:nvPr/>
        </p:nvSpPr>
        <p:spPr>
          <a:xfrm>
            <a:off x="10945368"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4" name="Shape 31"/>
          <p:cNvSpPr/>
          <p:nvPr/>
        </p:nvSpPr>
        <p:spPr>
          <a:xfrm>
            <a:off x="7479792" y="4096512"/>
            <a:ext cx="4087368" cy="914400"/>
          </a:xfrm>
          <a:prstGeom prst="roundRect">
            <a:avLst>
              <a:gd name="adj" fmla="val 5000"/>
            </a:avLst>
          </a:prstGeom>
          <a:solidFill>
            <a:srgbClr val="C7E3F9"/>
          </a:solidFill>
          <a:ln w="12700">
            <a:solidFill>
              <a:srgbClr val="77BFEE"/>
            </a:solidFill>
            <a:prstDash val="solid"/>
          </a:ln>
        </p:spPr>
      </p:sp>
      <p:sp>
        <p:nvSpPr>
          <p:cNvPr id="35" name="Text 32"/>
          <p:cNvSpPr txBox="1"/>
          <p:nvPr/>
        </p:nvSpPr>
        <p:spPr>
          <a:xfrm>
            <a:off x="7626096" y="416966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6" name="Text 33"/>
          <p:cNvSpPr txBox="1"/>
          <p:nvPr/>
        </p:nvSpPr>
        <p:spPr>
          <a:xfrm>
            <a:off x="7626096" y="4389120"/>
            <a:ext cx="3794760"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7" name="Shape 34"/>
          <p:cNvSpPr/>
          <p:nvPr/>
        </p:nvSpPr>
        <p:spPr>
          <a:xfrm>
            <a:off x="7479792" y="5102352"/>
            <a:ext cx="4087368" cy="950976"/>
          </a:xfrm>
          <a:prstGeom prst="roundRect">
            <a:avLst>
              <a:gd name="adj" fmla="val 4808"/>
            </a:avLst>
          </a:prstGeom>
          <a:solidFill>
            <a:srgbClr val="E5E5E5"/>
          </a:solidFill>
          <a:ln w="12700">
            <a:solidFill>
              <a:srgbClr val="CACACA"/>
            </a:solidFill>
            <a:prstDash val="solid"/>
          </a:ln>
        </p:spPr>
      </p:sp>
      <p:sp>
        <p:nvSpPr>
          <p:cNvPr id="38" name="Text 35"/>
          <p:cNvSpPr txBox="1"/>
          <p:nvPr/>
        </p:nvSpPr>
        <p:spPr>
          <a:xfrm>
            <a:off x="7626096" y="517550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9" name="Text 36"/>
          <p:cNvSpPr txBox="1"/>
          <p:nvPr/>
        </p:nvSpPr>
        <p:spPr>
          <a:xfrm>
            <a:off x="7626096" y="5413248"/>
            <a:ext cx="379476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40" name="Text 3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otros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Consumo de capital de la cartera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050" dirty="0"/>
          </a:p>
        </p:txBody>
      </p:sp>
      <p:graphicFrame>
        <p:nvGraphicFramePr>
          <p:cNvPr id="6" name="Chart 0" descr=""/>
          <p:cNvGraphicFramePr/>
          <p:nvPr/>
        </p:nvGraphicFramePr>
        <p:xfrm>
          <a:off x="621792"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920240"/>
          </a:xfrm>
          <a:prstGeom prst="roundRect">
            <a:avLst>
              <a:gd name="adj" fmla="val 2857"/>
            </a:avLst>
          </a:prstGeom>
          <a:solidFill>
            <a:srgbClr val="FFF4C2"/>
          </a:solidFill>
          <a:ln w="12700">
            <a:solidFill>
              <a:srgbClr val="FFE066"/>
            </a:solidFill>
            <a:prstDash val="solid"/>
          </a:ln>
        </p:spPr>
      </p:sp>
      <p:sp>
        <p:nvSpPr>
          <p:cNvPr id="8" name="Text 5"/>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9" name="Text 6"/>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7"/>
          <p:cNvSpPr txBox="1"/>
          <p:nvPr/>
        </p:nvSpPr>
        <p:spPr>
          <a:xfrm>
            <a:off x="621792" y="5394960"/>
            <a:ext cx="10945368"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2"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Eficiencia, capital y comisiones en Sistema Bancario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2026-Q1 · Nivel de grupo consolidado, no de segmento PYME</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21792" y="1645920"/>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4"/>
          <p:cNvSpPr/>
          <p:nvPr/>
        </p:nvSpPr>
        <p:spPr>
          <a:xfrm>
            <a:off x="621792" y="4663440"/>
            <a:ext cx="5486400" cy="1371600"/>
          </a:xfrm>
          <a:prstGeom prst="roundRect">
            <a:avLst>
              <a:gd name="adj" fmla="val 4000"/>
            </a:avLst>
          </a:prstGeom>
          <a:solidFill>
            <a:srgbClr val="E5E5E5"/>
          </a:solidFill>
          <a:ln w="12700">
            <a:solidFill>
              <a:srgbClr val="CACACA"/>
            </a:solidFill>
            <a:prstDash val="solid"/>
          </a:ln>
        </p:spPr>
      </p:sp>
      <p:sp>
        <p:nvSpPr>
          <p:cNvPr id="8" name="Text 5"/>
          <p:cNvSpPr txBox="1"/>
          <p:nvPr/>
        </p:nvSpPr>
        <p:spPr>
          <a:xfrm>
            <a:off x="822960"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9" name="Text 6"/>
          <p:cNvSpPr txBox="1"/>
          <p:nvPr/>
        </p:nvSpPr>
        <p:spPr>
          <a:xfrm>
            <a:off x="822960"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10" name="Shape 7"/>
          <p:cNvSpPr/>
          <p:nvPr/>
        </p:nvSpPr>
        <p:spPr>
          <a:xfrm>
            <a:off x="6263640" y="4663440"/>
            <a:ext cx="5376672" cy="1371600"/>
          </a:xfrm>
          <a:prstGeom prst="roundRect">
            <a:avLst>
              <a:gd name="adj" fmla="val 4000"/>
            </a:avLst>
          </a:prstGeom>
          <a:solidFill>
            <a:srgbClr val="FFF4C2"/>
          </a:solidFill>
          <a:ln w="12700">
            <a:solidFill>
              <a:srgbClr val="FFE066"/>
            </a:solidFill>
            <a:prstDash val="solid"/>
          </a:ln>
        </p:spPr>
      </p:sp>
      <p:sp>
        <p:nvSpPr>
          <p:cNvPr id="11" name="Text 8"/>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2" name="Text 9"/>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Circulante: líneas de crédito y descubiertos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050" dirty="0"/>
          </a:p>
        </p:txBody>
      </p:sp>
      <p:graphicFrame>
        <p:nvGraphicFramePr>
          <p:cNvPr id="6" name="Chart 0" descr=""/>
          <p:cNvGraphicFramePr/>
          <p:nvPr/>
        </p:nvGraphicFramePr>
        <p:xfrm>
          <a:off x="621792"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8" name="Text 5"/>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9" name="Text 6"/>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10" name="Shape 7"/>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11" name="Text 8"/>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2" name="Text 9"/>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Préstamo frente a circulante: 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050" dirty="0"/>
          </a:p>
        </p:txBody>
      </p:sp>
      <p:graphicFrame>
        <p:nvGraphicFramePr>
          <p:cNvPr id="6" name="Chart 0" descr=""/>
          <p:cNvGraphicFramePr/>
          <p:nvPr/>
        </p:nvGraphicFramePr>
        <p:xfrm>
          <a:off x="621792"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9" name="Shape 5"/>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11" name="Text 7"/>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2" name="Shape 8"/>
          <p:cNvSpPr/>
          <p:nvPr/>
        </p:nvSpPr>
        <p:spPr>
          <a:xfrm>
            <a:off x="8065008" y="5248656"/>
            <a:ext cx="3575304" cy="804672"/>
          </a:xfrm>
          <a:prstGeom prst="roundRect">
            <a:avLst>
              <a:gd name="adj" fmla="val 5682"/>
            </a:avLst>
          </a:prstGeom>
          <a:solidFill>
            <a:srgbClr val="FFF4C2"/>
          </a:solidFill>
          <a:ln w="12700">
            <a:solidFill>
              <a:srgbClr val="FFE066"/>
            </a:solidFill>
            <a:prstDash val="solid"/>
          </a:ln>
        </p:spPr>
      </p:sp>
      <p:sp>
        <p:nvSpPr>
          <p:cNvPr id="13" name="Text 9"/>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4" name="Text 10"/>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del circulante: se cobra por dos sitios, se consume capital por dos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050" dirty="0"/>
          </a:p>
        </p:txBody>
      </p:sp>
      <p:graphicFrame>
        <p:nvGraphicFramePr>
          <p:cNvPr id="6" name="Chart 0" descr=""/>
          <p:cNvGraphicFramePr/>
          <p:nvPr/>
        </p:nvGraphicFramePr>
        <p:xfrm>
          <a:off x="621792"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8" name="Text 5"/>
          <p:cNvSpPr txBox="1"/>
          <p:nvPr/>
        </p:nvSpPr>
        <p:spPr>
          <a:xfrm>
            <a:off x="621792" y="5102352"/>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 · media de los SIETE países</a:t>
            </a:r>
            <a:endParaRPr lang="en-US" sz="1150" dirty="0"/>
          </a:p>
        </p:txBody>
      </p:sp>
      <p:sp>
        <p:nvSpPr>
          <p:cNvPr id="9" name="Text 6"/>
          <p:cNvSpPr txBox="1"/>
          <p:nvPr/>
        </p:nvSpPr>
        <p:spPr>
          <a:xfrm>
            <a:off x="621792" y="5321808"/>
            <a:ext cx="672084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 fila de 0,30 % sale plana porque cae casi sobre la media de las siete comisiones neutrales (0,31 %). No es la neutral de ningún país: van del 0,14 % de Países Bajos al 0,46 % de Irlanda.</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21792" y="5559552"/>
          <a:ext cx="6720840" cy="914400"/>
        </p:xfrm>
        <a:graphic>
          <a:graphicData uri="http://schemas.openxmlformats.org/drawingml/2006/table">
            <a:tbl>
              <a:tblPr/>
              <a:tblGrid>
                <a:gridCol w="1920240"/>
                <a:gridCol w="800100"/>
                <a:gridCol w="800100"/>
                <a:gridCol w="800100"/>
                <a:gridCol w="800100"/>
                <a:gridCol w="800100"/>
                <a:gridCol w="800100"/>
              </a:tblGrid>
              <a:tr h="16916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Shape 7"/>
          <p:cNvSpPr/>
          <p:nvPr/>
        </p:nvSpPr>
        <p:spPr>
          <a:xfrm>
            <a:off x="7452360" y="1755648"/>
            <a:ext cx="4114800" cy="1024128"/>
          </a:xfrm>
          <a:prstGeom prst="roundRect">
            <a:avLst>
              <a:gd name="adj" fmla="val 4464"/>
            </a:avLst>
          </a:prstGeom>
          <a:solidFill>
            <a:srgbClr val="E5E5E5"/>
          </a:solidFill>
          <a:ln w="12700">
            <a:solidFill>
              <a:srgbClr val="CACACA"/>
            </a:solidFill>
            <a:prstDash val="solid"/>
          </a:ln>
        </p:spPr>
      </p:sp>
      <p:sp>
        <p:nvSpPr>
          <p:cNvPr id="12" name="Text 8"/>
          <p:cNvSpPr txBox="1"/>
          <p:nvPr/>
        </p:nvSpPr>
        <p:spPr>
          <a:xfrm>
            <a:off x="7598664" y="1828800"/>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3" name="Text 9"/>
          <p:cNvSpPr txBox="1"/>
          <p:nvPr/>
        </p:nvSpPr>
        <p:spPr>
          <a:xfrm>
            <a:off x="7598664" y="2066544"/>
            <a:ext cx="3822192"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4" name="Shape 10"/>
          <p:cNvSpPr/>
          <p:nvPr/>
        </p:nvSpPr>
        <p:spPr>
          <a:xfrm>
            <a:off x="7452360" y="2871216"/>
            <a:ext cx="4114800" cy="1188720"/>
          </a:xfrm>
          <a:prstGeom prst="roundRect">
            <a:avLst>
              <a:gd name="adj" fmla="val 3846"/>
            </a:avLst>
          </a:prstGeom>
          <a:solidFill>
            <a:srgbClr val="FFCCE8"/>
          </a:solidFill>
          <a:ln w="12700">
            <a:solidFill>
              <a:srgbClr val="FF8AC2"/>
            </a:solidFill>
            <a:prstDash val="solid"/>
          </a:ln>
        </p:spPr>
      </p:sp>
      <p:sp>
        <p:nvSpPr>
          <p:cNvPr id="15" name="Text 11"/>
          <p:cNvSpPr txBox="1"/>
          <p:nvPr/>
        </p:nvSpPr>
        <p:spPr>
          <a:xfrm>
            <a:off x="7598664" y="294436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6" name="Text 12"/>
          <p:cNvSpPr txBox="1"/>
          <p:nvPr/>
        </p:nvSpPr>
        <p:spPr>
          <a:xfrm>
            <a:off x="7598664" y="3182112"/>
            <a:ext cx="3822192"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7" name="Shape 13"/>
          <p:cNvSpPr/>
          <p:nvPr/>
        </p:nvSpPr>
        <p:spPr>
          <a:xfrm>
            <a:off x="7452360" y="4151376"/>
            <a:ext cx="4114800" cy="1133856"/>
          </a:xfrm>
          <a:prstGeom prst="roundRect">
            <a:avLst>
              <a:gd name="adj" fmla="val 4032"/>
            </a:avLst>
          </a:prstGeom>
          <a:solidFill>
            <a:srgbClr val="FFF4C2"/>
          </a:solidFill>
          <a:ln w="12700">
            <a:solidFill>
              <a:srgbClr val="FFE066"/>
            </a:solidFill>
            <a:prstDash val="solid"/>
          </a:ln>
        </p:spPr>
      </p:sp>
      <p:sp>
        <p:nvSpPr>
          <p:cNvPr id="18" name="Text 14"/>
          <p:cNvSpPr txBox="1"/>
          <p:nvPr/>
        </p:nvSpPr>
        <p:spPr>
          <a:xfrm>
            <a:off x="7598664" y="422452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9" name="Text 15"/>
          <p:cNvSpPr txBox="1"/>
          <p:nvPr/>
        </p:nvSpPr>
        <p:spPr>
          <a:xfrm>
            <a:off x="7598664" y="4462272"/>
            <a:ext cx="382219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20" name="Shape 16"/>
          <p:cNvSpPr/>
          <p:nvPr/>
        </p:nvSpPr>
        <p:spPr>
          <a:xfrm>
            <a:off x="7452360" y="5376672"/>
            <a:ext cx="4114800" cy="676656"/>
          </a:xfrm>
          <a:prstGeom prst="roundRect">
            <a:avLst>
              <a:gd name="adj" fmla="val 6757"/>
            </a:avLst>
          </a:prstGeom>
          <a:solidFill>
            <a:srgbClr val="E5E5E5"/>
          </a:solidFill>
          <a:ln w="12700">
            <a:solidFill>
              <a:srgbClr val="CACACA"/>
            </a:solidFill>
            <a:prstDash val="solid"/>
          </a:ln>
        </p:spPr>
      </p:sp>
      <p:sp>
        <p:nvSpPr>
          <p:cNvPr id="21" name="Text 17"/>
          <p:cNvSpPr txBox="1"/>
          <p:nvPr/>
        </p:nvSpPr>
        <p:spPr>
          <a:xfrm>
            <a:off x="7598664" y="5431536"/>
            <a:ext cx="3822192"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22" name="Text 18"/>
          <p:cNvSpPr txBox="1"/>
          <p:nvPr/>
        </p:nvSpPr>
        <p:spPr>
          <a:xfrm>
            <a:off x="7598664" y="5632704"/>
            <a:ext cx="3822192"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3" name="Text 1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y promedia los siete países, de modo que ninguna de sus filas corresponde a la comisión neutral de un país concreto. El coste del riesgo se aplica sobre la exposición, no solo sobre el dispuesto, que es como lo trata la NIIF 9 en compromisos.</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Comparables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34440"/>
          </a:xfrm>
          <a:prstGeom prst="roundRect">
            <a:avLst>
              <a:gd name="adj" fmla="val 4444"/>
            </a:avLst>
          </a:prstGeom>
          <a:solidFill>
            <a:srgbClr val="FFCCE8"/>
          </a:solidFill>
          <a:ln w="12700">
            <a:solidFill>
              <a:srgbClr val="FF8AC2"/>
            </a:solidFill>
            <a:prstDash val="solid"/>
          </a:ln>
        </p:spPr>
      </p:sp>
      <p:sp>
        <p:nvSpPr>
          <p:cNvPr id="8" name="Text 5"/>
          <p:cNvSpPr txBox="1"/>
          <p:nvPr/>
        </p:nvSpPr>
        <p:spPr>
          <a:xfrm>
            <a:off x="850392"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9" name="Text 6"/>
          <p:cNvSpPr txBox="1"/>
          <p:nvPr/>
        </p:nvSpPr>
        <p:spPr>
          <a:xfrm>
            <a:off x="850392"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02</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España: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productos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competidores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La demanda, lo que puede pagar, los productos y los cinco grandes bancos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Qué pide la pyme española y qué le duele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Encuesta CESGAR a pymes · Resultados de 2025 · Porcentajes de EMPRESAS, no niveles de tipo ni volúmenes</a:t>
            </a:r>
            <a:endParaRPr lang="en-US" sz="1050" dirty="0"/>
          </a:p>
        </p:txBody>
      </p:sp>
      <p:graphicFrame>
        <p:nvGraphicFramePr>
          <p:cNvPr id="6" name="Chart 0" descr=""/>
          <p:cNvGraphicFramePr/>
          <p:nvPr/>
        </p:nvGraphicFramePr>
        <p:xfrm>
          <a:off x="621792" y="1810512"/>
          <a:ext cx="5532120" cy="2103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3212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Destino de la financiación</a:t>
            </a:r>
            <a:endParaRPr lang="en-US" sz="1150" dirty="0"/>
          </a:p>
        </p:txBody>
      </p:sp>
      <p:sp>
        <p:nvSpPr>
          <p:cNvPr id="8" name="Text 5"/>
          <p:cNvSpPr txBox="1"/>
          <p:nvPr/>
        </p:nvSpPr>
        <p:spPr>
          <a:xfrm>
            <a:off x="6263640" y="1572768"/>
            <a:ext cx="5559552"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Obstáculos encontrados</a:t>
            </a:r>
            <a:endParaRPr lang="en-US" sz="1150" dirty="0"/>
          </a:p>
        </p:txBody>
      </p:sp>
      <p:graphicFrame>
        <p:nvGraphicFramePr>
          <p:cNvPr id="9" name="Chart 1" descr=""/>
          <p:cNvGraphicFramePr/>
          <p:nvPr/>
        </p:nvGraphicFramePr>
        <p:xfrm>
          <a:off x="6263640" y="1810512"/>
          <a:ext cx="5559552" cy="210312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114800"/>
            <a:ext cx="2697480" cy="932688"/>
          </a:xfrm>
          <a:prstGeom prst="roundRect">
            <a:avLst>
              <a:gd name="adj" fmla="val 4902"/>
            </a:avLst>
          </a:prstGeom>
          <a:solidFill>
            <a:srgbClr val="E5E5E5"/>
          </a:solidFill>
          <a:ln w="12700">
            <a:solidFill>
              <a:srgbClr val="CACACA"/>
            </a:solidFill>
            <a:prstDash val="solid"/>
          </a:ln>
        </p:spPr>
      </p:sp>
      <p:sp>
        <p:nvSpPr>
          <p:cNvPr id="11" name="Text 7"/>
          <p:cNvSpPr txBox="1"/>
          <p:nvPr/>
        </p:nvSpPr>
        <p:spPr>
          <a:xfrm>
            <a:off x="749808"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51,2 %</a:t>
            </a:r>
            <a:endParaRPr lang="en-US" sz="1900" dirty="0"/>
          </a:p>
        </p:txBody>
      </p:sp>
      <p:sp>
        <p:nvSpPr>
          <p:cNvPr id="12" name="Text 8"/>
          <p:cNvSpPr txBox="1"/>
          <p:nvPr/>
        </p:nvSpPr>
        <p:spPr>
          <a:xfrm>
            <a:off x="749808"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Tuvo necesidad de financiar</a:t>
            </a:r>
            <a:endParaRPr lang="en-US" sz="950" dirty="0"/>
          </a:p>
        </p:txBody>
      </p:sp>
      <p:sp>
        <p:nvSpPr>
          <p:cNvPr id="13" name="Text 9"/>
          <p:cNvSpPr txBox="1"/>
          <p:nvPr/>
        </p:nvSpPr>
        <p:spPr>
          <a:xfrm>
            <a:off x="749808"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de las pymes españolas en 2025</a:t>
            </a:r>
            <a:endParaRPr lang="en-US" sz="800" dirty="0"/>
          </a:p>
        </p:txBody>
      </p:sp>
      <p:sp>
        <p:nvSpPr>
          <p:cNvPr id="14" name="Shape 10"/>
          <p:cNvSpPr/>
          <p:nvPr/>
        </p:nvSpPr>
        <p:spPr>
          <a:xfrm>
            <a:off x="3465576" y="4114800"/>
            <a:ext cx="2697480" cy="932688"/>
          </a:xfrm>
          <a:prstGeom prst="roundRect">
            <a:avLst>
              <a:gd name="adj" fmla="val 4902"/>
            </a:avLst>
          </a:prstGeom>
          <a:solidFill>
            <a:srgbClr val="E5E5E5"/>
          </a:solidFill>
          <a:ln w="12700">
            <a:solidFill>
              <a:srgbClr val="CACACA"/>
            </a:solidFill>
            <a:prstDash val="solid"/>
          </a:ln>
        </p:spPr>
      </p:sp>
      <p:sp>
        <p:nvSpPr>
          <p:cNvPr id="15" name="Text 11"/>
          <p:cNvSpPr txBox="1"/>
          <p:nvPr/>
        </p:nvSpPr>
        <p:spPr>
          <a:xfrm>
            <a:off x="3593592"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70,9 %</a:t>
            </a:r>
            <a:endParaRPr lang="en-US" sz="1900" dirty="0"/>
          </a:p>
        </p:txBody>
      </p:sp>
      <p:sp>
        <p:nvSpPr>
          <p:cNvPr id="16" name="Text 12"/>
          <p:cNvSpPr txBox="1"/>
          <p:nvPr/>
        </p:nvSpPr>
        <p:spPr>
          <a:xfrm>
            <a:off x="3593592"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Acudió al banco</a:t>
            </a:r>
            <a:endParaRPr lang="en-US" sz="950" dirty="0"/>
          </a:p>
        </p:txBody>
      </p:sp>
      <p:sp>
        <p:nvSpPr>
          <p:cNvPr id="17" name="Text 13"/>
          <p:cNvSpPr txBox="1"/>
          <p:nvPr/>
        </p:nvSpPr>
        <p:spPr>
          <a:xfrm>
            <a:off x="3593592"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bajando desde 76,5 % en 2024</a:t>
            </a:r>
            <a:endParaRPr lang="en-US" sz="800" dirty="0"/>
          </a:p>
        </p:txBody>
      </p:sp>
      <p:sp>
        <p:nvSpPr>
          <p:cNvPr id="18" name="Shape 14"/>
          <p:cNvSpPr/>
          <p:nvPr/>
        </p:nvSpPr>
        <p:spPr>
          <a:xfrm>
            <a:off x="6309360" y="4114800"/>
            <a:ext cx="2697480" cy="932688"/>
          </a:xfrm>
          <a:prstGeom prst="roundRect">
            <a:avLst>
              <a:gd name="adj" fmla="val 4902"/>
            </a:avLst>
          </a:prstGeom>
          <a:solidFill>
            <a:srgbClr val="E5E5E5"/>
          </a:solidFill>
          <a:ln w="12700">
            <a:solidFill>
              <a:srgbClr val="CACACA"/>
            </a:solidFill>
            <a:prstDash val="solid"/>
          </a:ln>
        </p:spPr>
      </p:sp>
      <p:sp>
        <p:nvSpPr>
          <p:cNvPr id="19" name="Text 15"/>
          <p:cNvSpPr txBox="1"/>
          <p:nvPr/>
        </p:nvSpPr>
        <p:spPr>
          <a:xfrm>
            <a:off x="6437376"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92,8 %</a:t>
            </a:r>
            <a:endParaRPr lang="en-US" sz="1900" dirty="0"/>
          </a:p>
        </p:txBody>
      </p:sp>
      <p:sp>
        <p:nvSpPr>
          <p:cNvPr id="20" name="Text 16"/>
          <p:cNvSpPr txBox="1"/>
          <p:nvPr/>
        </p:nvSpPr>
        <p:spPr>
          <a:xfrm>
            <a:off x="6437376"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Obtuvo y aceptó</a:t>
            </a:r>
            <a:endParaRPr lang="en-US" sz="950" dirty="0"/>
          </a:p>
        </p:txBody>
      </p:sp>
      <p:sp>
        <p:nvSpPr>
          <p:cNvPr id="21" name="Text 17"/>
          <p:cNvSpPr txBox="1"/>
          <p:nvPr/>
        </p:nvSpPr>
        <p:spPr>
          <a:xfrm>
            <a:off x="6437376"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máximo de los últimos tres años</a:t>
            </a:r>
            <a:endParaRPr lang="en-US" sz="800" dirty="0"/>
          </a:p>
        </p:txBody>
      </p:sp>
      <p:sp>
        <p:nvSpPr>
          <p:cNvPr id="22" name="Shape 18"/>
          <p:cNvSpPr/>
          <p:nvPr/>
        </p:nvSpPr>
        <p:spPr>
          <a:xfrm>
            <a:off x="9153144" y="4114800"/>
            <a:ext cx="2697480" cy="932688"/>
          </a:xfrm>
          <a:prstGeom prst="roundRect">
            <a:avLst>
              <a:gd name="adj" fmla="val 4902"/>
            </a:avLst>
          </a:prstGeom>
          <a:solidFill>
            <a:srgbClr val="E5E5E5"/>
          </a:solidFill>
          <a:ln w="12700">
            <a:solidFill>
              <a:srgbClr val="CACACA"/>
            </a:solidFill>
            <a:prstDash val="solid"/>
          </a:ln>
        </p:spPr>
      </p:sp>
      <p:sp>
        <p:nvSpPr>
          <p:cNvPr id="23" name="Text 19"/>
          <p:cNvSpPr txBox="1"/>
          <p:nvPr/>
        </p:nvSpPr>
        <p:spPr>
          <a:xfrm>
            <a:off x="9281160"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3,2 %</a:t>
            </a:r>
            <a:endParaRPr lang="en-US" sz="1900" dirty="0"/>
          </a:p>
        </p:txBody>
      </p:sp>
      <p:sp>
        <p:nvSpPr>
          <p:cNvPr id="24" name="Text 20"/>
          <p:cNvSpPr txBox="1"/>
          <p:nvPr/>
        </p:nvSpPr>
        <p:spPr>
          <a:xfrm>
            <a:off x="9281160"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No se le concedió</a:t>
            </a:r>
            <a:endParaRPr lang="en-US" sz="950" dirty="0"/>
          </a:p>
        </p:txBody>
      </p:sp>
      <p:sp>
        <p:nvSpPr>
          <p:cNvPr id="25" name="Text 21"/>
          <p:cNvSpPr txBox="1"/>
          <p:nvPr/>
        </p:nvSpPr>
        <p:spPr>
          <a:xfrm>
            <a:off x="9281160"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más un 2,7 % que rechazó las condiciones</a:t>
            </a:r>
            <a:endParaRPr lang="en-US" sz="800" dirty="0"/>
          </a:p>
        </p:txBody>
      </p:sp>
      <p:sp>
        <p:nvSpPr>
          <p:cNvPr id="26" name="Shape 22"/>
          <p:cNvSpPr/>
          <p:nvPr/>
        </p:nvSpPr>
        <p:spPr>
          <a:xfrm>
            <a:off x="621792" y="5175504"/>
            <a:ext cx="10945368" cy="877824"/>
          </a:xfrm>
          <a:prstGeom prst="roundRect">
            <a:avLst>
              <a:gd name="adj" fmla="val 5208"/>
            </a:avLst>
          </a:prstGeom>
          <a:solidFill>
            <a:srgbClr val="FFF4C2"/>
          </a:solidFill>
          <a:ln w="12700">
            <a:solidFill>
              <a:srgbClr val="FFE066"/>
            </a:solidFill>
            <a:prstDash val="solid"/>
          </a:ln>
        </p:spPr>
      </p:sp>
      <p:sp>
        <p:nvSpPr>
          <p:cNvPr id="27" name="Text 23"/>
          <p:cNvSpPr txBox="1"/>
          <p:nvPr/>
        </p:nvSpPr>
        <p:spPr>
          <a:xfrm>
            <a:off x="768096" y="5248656"/>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precio es el obstáculo, y el destino es el circulante</a:t>
            </a:r>
            <a:endParaRPr lang="en-US" sz="1150" dirty="0"/>
          </a:p>
        </p:txBody>
      </p:sp>
      <p:sp>
        <p:nvSpPr>
          <p:cNvPr id="28" name="Text 24"/>
          <p:cNvSpPr txBox="1"/>
          <p:nvPr/>
        </p:nvSpPr>
        <p:spPr>
          <a:xfrm>
            <a:off x="768096" y="5486400"/>
            <a:ext cx="10789920"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73,0 % de las pymes que necesitan financiación la quiere para circulante, frente al 64,6 % de 2024: es el uso que más crece y el producto cuyo precio peor se conoce. Entre las que sí ven obstáculos, el primero es el precio (21,6 %), muy por delante de la falta de comprensión del negocio por la entidad (10,5 %). El crédito se concede: el problema no es el acceso, es a cuánto.</a:t>
            </a:r>
            <a:endParaRPr lang="en-US" sz="900" dirty="0"/>
          </a:p>
        </p:txBody>
      </p:sp>
      <p:sp>
        <p:nvSpPr>
          <p:cNvPr id="29" name="Text 2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CESGAR, XV Informe «La financiación de la pyme en España», resultados anuales de 2025, elaborado con Abay Analistas Económicos. Gráficos 9, 10, 13, 17 y 18. Son porcentajes de empresas encuestadas: no deben agregarse ni compararse con los niveles de tipo del MIR ni con volúmenes. Los porcentajes de destino y de uso de productos no suman 100 porque una misma empresa puede señalar varios.</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Cuánto puede pagar una pyme: el techo del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Central de Balances del Banco de España · Ejercicio 2024 · Clasificación por tamaño de la Recomendación 2003/361/CE</a:t>
            </a:r>
            <a:endParaRPr lang="en-US" sz="1050" dirty="0"/>
          </a:p>
        </p:txBody>
      </p:sp>
      <p:graphicFrame>
        <p:nvGraphicFramePr>
          <p:cNvPr id="6" name="Chart 0" descr=""/>
          <p:cNvGraphicFramePr/>
          <p:nvPr/>
        </p:nvGraphicFramePr>
        <p:xfrm>
          <a:off x="621792" y="1810512"/>
          <a:ext cx="635508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21792" y="4773168"/>
          <a:ext cx="6355080" cy="914400"/>
        </p:xfrm>
        <a:graphic>
          <a:graphicData uri="http://schemas.openxmlformats.org/drawingml/2006/table">
            <a:tbl>
              <a:tblPr/>
              <a:tblGrid>
                <a:gridCol w="2788920"/>
                <a:gridCol w="1188720"/>
                <a:gridCol w="1188720"/>
                <a:gridCol w="1188720"/>
              </a:tblGrid>
              <a:tr h="246888">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Pequeñas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Medianas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Grandes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del activo (R.1)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pagado por la deuda (R.2)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Colchón, R.1 − R.2 (R.4)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 recursos propios (R.3)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Margen de explotación (R.5)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8" name="Shape 4"/>
          <p:cNvSpPr/>
          <p:nvPr/>
        </p:nvSpPr>
        <p:spPr>
          <a:xfrm>
            <a:off x="7086600" y="1810512"/>
            <a:ext cx="4480560" cy="1444752"/>
          </a:xfrm>
          <a:prstGeom prst="roundRect">
            <a:avLst>
              <a:gd name="adj" fmla="val 3165"/>
            </a:avLst>
          </a:prstGeom>
          <a:solidFill>
            <a:srgbClr val="FFF4C2"/>
          </a:solidFill>
          <a:ln w="12700">
            <a:solidFill>
              <a:srgbClr val="FFE066"/>
            </a:solidFill>
            <a:prstDash val="solid"/>
          </a:ln>
        </p:spPr>
      </p:sp>
      <p:sp>
        <p:nvSpPr>
          <p:cNvPr id="9" name="Text 5"/>
          <p:cNvSpPr txBox="1"/>
          <p:nvPr/>
        </p:nvSpPr>
        <p:spPr>
          <a:xfrm>
            <a:off x="7232904" y="188366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pequeña tiene 2,1 puntos de colchón</a:t>
            </a:r>
            <a:endParaRPr lang="en-US" sz="1150" dirty="0"/>
          </a:p>
        </p:txBody>
      </p:sp>
      <p:sp>
        <p:nvSpPr>
          <p:cNvPr id="10" name="Text 6"/>
          <p:cNvSpPr txBox="1"/>
          <p:nvPr/>
        </p:nvSpPr>
        <p:spPr>
          <a:xfrm>
            <a:off x="7232904" y="2121408"/>
            <a:ext cx="4187952" cy="106070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Gana un 5,4 % con su activo y paga un 3,3 % por su deuda. Ese margen de 2,1 puntos es el techo: si el precio del crédito sube por encima, endeudarse deja de crear valor para el cliente y la demanda se corta sola. La mediana tiene 6,1 puntos, casi el triple de recorrido.</a:t>
            </a:r>
            <a:endParaRPr lang="en-US" sz="900" dirty="0"/>
          </a:p>
        </p:txBody>
      </p:sp>
      <p:sp>
        <p:nvSpPr>
          <p:cNvPr id="11" name="Shape 7"/>
          <p:cNvSpPr/>
          <p:nvPr/>
        </p:nvSpPr>
        <p:spPr>
          <a:xfrm>
            <a:off x="7086600" y="3346704"/>
            <a:ext cx="4480560" cy="1298448"/>
          </a:xfrm>
          <a:prstGeom prst="roundRect">
            <a:avLst>
              <a:gd name="adj" fmla="val 3521"/>
            </a:avLst>
          </a:prstGeom>
          <a:solidFill>
            <a:srgbClr val="C7E3F9"/>
          </a:solidFill>
          <a:ln w="12700">
            <a:solidFill>
              <a:srgbClr val="77BFEE"/>
            </a:solidFill>
            <a:prstDash val="solid"/>
          </a:ln>
        </p:spPr>
      </p:sp>
      <p:sp>
        <p:nvSpPr>
          <p:cNvPr id="12" name="Text 8"/>
          <p:cNvSpPr txBox="1"/>
          <p:nvPr/>
        </p:nvSpPr>
        <p:spPr>
          <a:xfrm>
            <a:off x="7232904" y="3419856"/>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valida el precio por otra vía</a:t>
            </a:r>
            <a:endParaRPr lang="en-US" sz="1150" dirty="0"/>
          </a:p>
        </p:txBody>
      </p:sp>
      <p:sp>
        <p:nvSpPr>
          <p:cNvPr id="13" name="Text 9"/>
          <p:cNvSpPr txBox="1"/>
          <p:nvPr/>
        </p:nvSpPr>
        <p:spPr>
          <a:xfrm>
            <a:off x="7232904" y="3657600"/>
            <a:ext cx="4187952" cy="9144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3,3 % que paga la empresa pequeña es muy cercano al 3,41 % del tramo ≤1 M€ del MIR que usa el modelo. No son lo mismo —el MIR es nueva producción y esto es el coste medio del saldo vivo— pero que dos fuentes independientes den lo mismo es la mejor validación que tiene el deck.</a:t>
            </a:r>
            <a:endParaRPr lang="en-US" sz="900" dirty="0"/>
          </a:p>
        </p:txBody>
      </p:sp>
      <p:sp>
        <p:nvSpPr>
          <p:cNvPr id="14" name="Shape 10"/>
          <p:cNvSpPr/>
          <p:nvPr/>
        </p:nvSpPr>
        <p:spPr>
          <a:xfrm>
            <a:off x="7086600" y="4736592"/>
            <a:ext cx="4480560" cy="1316736"/>
          </a:xfrm>
          <a:prstGeom prst="roundRect">
            <a:avLst>
              <a:gd name="adj" fmla="val 3472"/>
            </a:avLst>
          </a:prstGeom>
          <a:solidFill>
            <a:srgbClr val="E5E5E5"/>
          </a:solidFill>
          <a:ln w="12700">
            <a:solidFill>
              <a:srgbClr val="CACACA"/>
            </a:solidFill>
            <a:prstDash val="solid"/>
          </a:ln>
        </p:spPr>
      </p:sp>
      <p:sp>
        <p:nvSpPr>
          <p:cNvPr id="15" name="Text 11"/>
          <p:cNvSpPr txBox="1"/>
          <p:nvPr/>
        </p:nvSpPr>
        <p:spPr>
          <a:xfrm>
            <a:off x="7232904" y="480974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Lo que no encaja</a:t>
            </a:r>
            <a:endParaRPr lang="en-US" sz="1150" dirty="0"/>
          </a:p>
        </p:txBody>
      </p:sp>
      <p:sp>
        <p:nvSpPr>
          <p:cNvPr id="16" name="Text 12"/>
          <p:cNvSpPr txBox="1"/>
          <p:nvPr/>
        </p:nvSpPr>
        <p:spPr>
          <a:xfrm>
            <a:off x="7232904" y="5047488"/>
            <a:ext cx="4187952" cy="93268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pequeña paga MENOS que la mediana (3,3 % frente a 4,4 %), al revés de lo que dice el riesgo. La Central de Balances no lo explica; las hipótesis razonables son más peso de deuda antigua a tipo fijo y más financiación ICO o avalada. Queda como observación, no como conclusión.</a:t>
            </a:r>
            <a:endParaRPr lang="en-US" sz="900" dirty="0"/>
          </a:p>
        </p:txBody>
      </p:sp>
      <p:sp>
        <p:nvSpPr>
          <p:cNvPr id="17"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Central de Balances Integrada, conjunto cal_ucb_cbl002, ratios R.1 a R.5 del ejercicio 2024. Más de un millón de empresas. R.2 es el tipo efectivamente pagado sobre el saldo de recursos ajenos con coste, no el de nueva producción. El colchón de la empresa pequeña ha ido de −0,2 puntos en 2015 a 2,1 en 2024.</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Las comisiones son muy relevantes: impacto en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050" dirty="0"/>
          </a:p>
        </p:txBody>
      </p:sp>
      <p:graphicFrame>
        <p:nvGraphicFramePr>
          <p:cNvPr id="6" name="Chart 0" descr=""/>
          <p:cNvGraphicFramePr/>
          <p:nvPr/>
        </p:nvGraphicFramePr>
        <p:xfrm>
          <a:off x="621792"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06640" y="1645920"/>
            <a:ext cx="4233672" cy="2212848"/>
          </a:xfrm>
          <a:prstGeom prst="roundRect">
            <a:avLst>
              <a:gd name="adj" fmla="val 2479"/>
            </a:avLst>
          </a:prstGeom>
          <a:solidFill>
            <a:srgbClr val="FFF4C2"/>
          </a:solidFill>
          <a:ln w="12700">
            <a:solidFill>
              <a:srgbClr val="FFE066"/>
            </a:solidFill>
            <a:prstDash val="solid"/>
          </a:ln>
        </p:spPr>
      </p:sp>
      <p:sp>
        <p:nvSpPr>
          <p:cNvPr id="8" name="Text 5"/>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9" name="Text 6"/>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10" name="Text 7"/>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11" name="Text 8"/>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2" name="Text 9"/>
          <p:cNvSpPr txBox="1"/>
          <p:nvPr/>
        </p:nvSpPr>
        <p:spPr>
          <a:xfrm>
            <a:off x="621792" y="5349240"/>
            <a:ext cx="10945368"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autónomo paga 115 pb más que la sociedad pequeña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empresario individual es sector HOGARES en el SEC 2010, así que queda fuera de todas las series de sociedades no financieras · España · Media 2026</a:t>
            </a:r>
            <a:endParaRPr lang="en-US" sz="1050" dirty="0"/>
          </a:p>
        </p:txBody>
      </p:sp>
      <p:graphicFrame>
        <p:nvGraphicFramePr>
          <p:cNvPr id="6" name="Chart 0" descr=""/>
          <p:cNvGraphicFramePr/>
          <p:nvPr/>
        </p:nvGraphicFramePr>
        <p:xfrm>
          <a:off x="621792" y="1755648"/>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791456"/>
            <a:ext cx="6675120" cy="256032"/>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Cuadro 19.4 del Boletín, serie 16 (autónomos) y cuadro 19.5, series 3, 7 y 11 (sociedades). Todos son TEDR, sin comisiones.</a:t>
            </a:r>
            <a:endParaRPr lang="en-US" sz="750" dirty="0"/>
          </a:p>
        </p:txBody>
      </p:sp>
      <p:sp>
        <p:nvSpPr>
          <p:cNvPr id="8" name="Shape 5"/>
          <p:cNvSpPr/>
          <p:nvPr/>
        </p:nvSpPr>
        <p:spPr>
          <a:xfrm>
            <a:off x="621792" y="5084064"/>
            <a:ext cx="6675120" cy="969264"/>
          </a:xfrm>
          <a:prstGeom prst="roundRect">
            <a:avLst>
              <a:gd name="adj" fmla="val 4717"/>
            </a:avLst>
          </a:prstGeom>
          <a:solidFill>
            <a:srgbClr val="FFF4C2"/>
          </a:solidFill>
          <a:ln w="12700">
            <a:solidFill>
              <a:srgbClr val="FFE066"/>
            </a:solidFill>
            <a:prstDash val="solid"/>
          </a:ln>
        </p:spPr>
      </p:sp>
      <p:sp>
        <p:nvSpPr>
          <p:cNvPr id="9" name="Text 6"/>
          <p:cNvSpPr txBox="1"/>
          <p:nvPr/>
        </p:nvSpPr>
        <p:spPr>
          <a:xfrm>
            <a:off x="768096" y="5157216"/>
            <a:ext cx="640080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modelo se queda corto en el micro</a:t>
            </a:r>
            <a:endParaRPr lang="en-US" sz="1100" dirty="0"/>
          </a:p>
        </p:txBody>
      </p:sp>
      <p:sp>
        <p:nvSpPr>
          <p:cNvPr id="10" name="Text 7"/>
          <p:cNvSpPr txBox="1"/>
          <p:nvPr/>
        </p:nvSpPr>
        <p:spPr>
          <a:xfrm>
            <a:off x="768096" y="5394960"/>
            <a:ext cx="6400800" cy="58521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precio que usa el modelo es el 3,41 % del tramo ≤1 M€ de sociedades. La financiación empresarial al autónomo se cobra al 4,57 %: 115 pb por encima del tramo ≤0,25 M€. Para el segmento más pequeño, el modelo infravalora el precio.</a:t>
            </a:r>
            <a:endParaRPr lang="en-US" sz="850" dirty="0"/>
          </a:p>
        </p:txBody>
      </p:sp>
      <p:sp>
        <p:nvSpPr>
          <p:cNvPr id="11" name="Shape 8"/>
          <p:cNvSpPr/>
          <p:nvPr/>
        </p:nvSpPr>
        <p:spPr>
          <a:xfrm>
            <a:off x="7406640" y="1755648"/>
            <a:ext cx="4160520" cy="1335024"/>
          </a:xfrm>
          <a:prstGeom prst="roundRect">
            <a:avLst>
              <a:gd name="adj" fmla="val 3425"/>
            </a:avLst>
          </a:prstGeom>
          <a:solidFill>
            <a:srgbClr val="C7E3F9"/>
          </a:solidFill>
          <a:ln w="12700">
            <a:solidFill>
              <a:srgbClr val="77BFEE"/>
            </a:solidFill>
            <a:prstDash val="solid"/>
          </a:ln>
        </p:spPr>
      </p:sp>
      <p:sp>
        <p:nvSpPr>
          <p:cNvPr id="12" name="Text 9"/>
          <p:cNvSpPr txBox="1"/>
          <p:nvPr/>
        </p:nvSpPr>
        <p:spPr>
          <a:xfrm>
            <a:off x="7552944" y="1828800"/>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Por qué no estaba en el análisis</a:t>
            </a:r>
            <a:endParaRPr lang="en-US" sz="1100" dirty="0"/>
          </a:p>
        </p:txBody>
      </p:sp>
      <p:sp>
        <p:nvSpPr>
          <p:cNvPr id="13" name="Text 10"/>
          <p:cNvSpPr txBox="1"/>
          <p:nvPr/>
        </p:nvSpPr>
        <p:spPr>
          <a:xfrm>
            <a:off x="7552944" y="2066544"/>
            <a:ext cx="3867912" cy="95097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SEC 2010 clasifica al empresario individual en el sector HOGARES (S.14), no en sociedades no financieras. Todo el crédito a autónomos queda por tanto fuera del dataset MIR de empresas, que es la espina dorsal del deck. La SAFE, en cambio, sí los cuenta como PYME: segmenta por empleados.</a:t>
            </a:r>
            <a:endParaRPr lang="en-US" sz="850" dirty="0"/>
          </a:p>
        </p:txBody>
      </p:sp>
      <p:sp>
        <p:nvSpPr>
          <p:cNvPr id="14" name="Shape 11"/>
          <p:cNvSpPr/>
          <p:nvPr/>
        </p:nvSpPr>
        <p:spPr>
          <a:xfrm>
            <a:off x="7406640" y="3182112"/>
            <a:ext cx="4160520" cy="1188720"/>
          </a:xfrm>
          <a:prstGeom prst="roundRect">
            <a:avLst>
              <a:gd name="adj" fmla="val 3846"/>
            </a:avLst>
          </a:prstGeom>
          <a:solidFill>
            <a:srgbClr val="E5E5E5"/>
          </a:solidFill>
          <a:ln w="12700">
            <a:solidFill>
              <a:srgbClr val="CACACA"/>
            </a:solidFill>
            <a:prstDash val="solid"/>
          </a:ln>
        </p:spPr>
      </p:sp>
      <p:sp>
        <p:nvSpPr>
          <p:cNvPr id="15" name="Text 12"/>
          <p:cNvSpPr txBox="1"/>
          <p:nvPr/>
        </p:nvSpPr>
        <p:spPr>
          <a:xfrm>
            <a:off x="7552944" y="32552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Cuánto pesa</a:t>
            </a:r>
            <a:endParaRPr lang="en-US" sz="1100" dirty="0"/>
          </a:p>
        </p:txBody>
      </p:sp>
      <p:sp>
        <p:nvSpPr>
          <p:cNvPr id="16" name="Text 13"/>
          <p:cNvSpPr txBox="1"/>
          <p:nvPr/>
        </p:nvSpPr>
        <p:spPr>
          <a:xfrm>
            <a:off x="7552944" y="3493008"/>
            <a:ext cx="3867912" cy="804672"/>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840 M€ al mes de nueva producción, frente a 15.111 M€ del tramo ≤0,25 M€ de sociedades. Es el 5 % del conjunto: no cambia el agregado, pero sí la lectura del segmento micro.</a:t>
            </a:r>
            <a:endParaRPr lang="en-US" sz="850" dirty="0"/>
          </a:p>
        </p:txBody>
      </p:sp>
      <p:sp>
        <p:nvSpPr>
          <p:cNvPr id="17" name="Shape 14"/>
          <p:cNvSpPr/>
          <p:nvPr/>
        </p:nvSpPr>
        <p:spPr>
          <a:xfrm>
            <a:off x="7406640" y="4462272"/>
            <a:ext cx="4160520" cy="1591056"/>
          </a:xfrm>
          <a:prstGeom prst="roundRect">
            <a:avLst>
              <a:gd name="adj" fmla="val 2874"/>
            </a:avLst>
          </a:prstGeom>
          <a:solidFill>
            <a:srgbClr val="FFCCE8"/>
          </a:solidFill>
          <a:ln w="12700">
            <a:solidFill>
              <a:srgbClr val="FF8AC2"/>
            </a:solidFill>
            <a:prstDash val="solid"/>
          </a:ln>
        </p:spPr>
      </p:sp>
      <p:sp>
        <p:nvSpPr>
          <p:cNvPr id="18" name="Text 15"/>
          <p:cNvSpPr txBox="1"/>
          <p:nvPr/>
        </p:nvSpPr>
        <p:spPr>
          <a:xfrm>
            <a:off x="7552944" y="453542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sigue sin existir</a:t>
            </a:r>
            <a:endParaRPr lang="en-US" sz="1100" dirty="0"/>
          </a:p>
        </p:txBody>
      </p:sp>
      <p:sp>
        <p:nvSpPr>
          <p:cNvPr id="19" name="Text 16"/>
          <p:cNvSpPr txBox="1"/>
          <p:nvPr/>
        </p:nvSpPr>
        <p:spPr>
          <a:xfrm>
            <a:off x="7552944" y="4773168"/>
            <a:ext cx="3867912" cy="120700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Boletín no publica TAE de autónomos. La única cuña cercana es la de hogares para otros fines, 59 pb (TAE 5,05 % contra TEDR 4,46 %), pero es de TODOS los hogares, no solo de empresarios. Y nada de esto está por entidad: la publicación por banco del Banco de España se apoya en la Circular 5/2012, que cubre comisiones de servicios y descubiertos de personas físicas, no precios de préstamo.</a:t>
            </a:r>
            <a:endParaRPr lang="en-US" sz="800" dirty="0"/>
          </a:p>
        </p:txBody>
      </p:sp>
      <p:sp>
        <p:nvSpPr>
          <p:cNvPr id="20" name="Text 1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capítulo 19. Autónomos: cuadro 19.4 serie 16, media 2026 ponderada por el volumen del cuadro 19.12 serie 16; el desglose hasta 1 año (serie 17) no tiene volumen publicado, así que su media es simple. Sociedades: cuadro 19.5, medias ponderadas por el cuadro 19.13. Todos los tipos son TEDR, es decir sin comisiones, de modo que la comparación entre autónomo y sociedad es homogénea en ese sentido.</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circulante en España: el producto más pedido y el peor medido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Serie A2Z1 del BCE validada contra el Boletín del Banco de España · Media 2026</a:t>
            </a:r>
            <a:endParaRPr lang="en-US" sz="1050" dirty="0"/>
          </a:p>
        </p:txBody>
      </p:sp>
      <p:sp>
        <p:nvSpPr>
          <p:cNvPr id="6" name="Shape 4"/>
          <p:cNvSpPr/>
          <p:nvPr/>
        </p:nvSpPr>
        <p:spPr>
          <a:xfrm>
            <a:off x="621792" y="1737360"/>
            <a:ext cx="2697480" cy="987552"/>
          </a:xfrm>
          <a:prstGeom prst="roundRect">
            <a:avLst>
              <a:gd name="adj" fmla="val 4630"/>
            </a:avLst>
          </a:prstGeom>
          <a:solidFill>
            <a:srgbClr val="E5E5E5"/>
          </a:solidFill>
          <a:ln w="12700">
            <a:solidFill>
              <a:srgbClr val="CACACA"/>
            </a:solidFill>
            <a:prstDash val="solid"/>
          </a:ln>
        </p:spPr>
      </p:sp>
      <p:sp>
        <p:nvSpPr>
          <p:cNvPr id="7" name="Text 5"/>
          <p:cNvSpPr txBox="1"/>
          <p:nvPr/>
        </p:nvSpPr>
        <p:spPr>
          <a:xfrm>
            <a:off x="749808"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3,58 %</a:t>
            </a:r>
            <a:endParaRPr lang="en-US" sz="2000" dirty="0"/>
          </a:p>
        </p:txBody>
      </p:sp>
      <p:sp>
        <p:nvSpPr>
          <p:cNvPr id="8" name="Text 6"/>
          <p:cNvSpPr txBox="1"/>
          <p:nvPr/>
        </p:nvSpPr>
        <p:spPr>
          <a:xfrm>
            <a:off x="749808"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Tipo del circulante</a:t>
            </a:r>
            <a:endParaRPr lang="en-US" sz="950" dirty="0"/>
          </a:p>
        </p:txBody>
      </p:sp>
      <p:sp>
        <p:nvSpPr>
          <p:cNvPr id="9" name="Text 7"/>
          <p:cNvSpPr txBox="1"/>
          <p:nvPr/>
        </p:nvSpPr>
        <p:spPr>
          <a:xfrm>
            <a:off x="749808"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BCE y Banco de España dan el mismo dato</a:t>
            </a:r>
            <a:endParaRPr lang="en-US" sz="800" dirty="0"/>
          </a:p>
        </p:txBody>
      </p:sp>
      <p:sp>
        <p:nvSpPr>
          <p:cNvPr id="10" name="Shape 8"/>
          <p:cNvSpPr/>
          <p:nvPr/>
        </p:nvSpPr>
        <p:spPr>
          <a:xfrm>
            <a:off x="3465576" y="1737360"/>
            <a:ext cx="2697480" cy="987552"/>
          </a:xfrm>
          <a:prstGeom prst="roundRect">
            <a:avLst>
              <a:gd name="adj" fmla="val 4630"/>
            </a:avLst>
          </a:prstGeom>
          <a:solidFill>
            <a:srgbClr val="E5E5E5"/>
          </a:solidFill>
          <a:ln w="12700">
            <a:solidFill>
              <a:srgbClr val="CACACA"/>
            </a:solidFill>
            <a:prstDash val="solid"/>
          </a:ln>
        </p:spPr>
      </p:sp>
      <p:sp>
        <p:nvSpPr>
          <p:cNvPr id="11" name="Text 9"/>
          <p:cNvSpPr txBox="1"/>
          <p:nvPr/>
        </p:nvSpPr>
        <p:spPr>
          <a:xfrm>
            <a:off x="3593592"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57.933 M€</a:t>
            </a:r>
            <a:endParaRPr lang="en-US" sz="2000" dirty="0"/>
          </a:p>
        </p:txBody>
      </p:sp>
      <p:sp>
        <p:nvSpPr>
          <p:cNvPr id="12" name="Text 10"/>
          <p:cNvSpPr txBox="1"/>
          <p:nvPr/>
        </p:nvSpPr>
        <p:spPr>
          <a:xfrm>
            <a:off x="3593592"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Saldo vivo en España</a:t>
            </a:r>
            <a:endParaRPr lang="en-US" sz="950" dirty="0"/>
          </a:p>
        </p:txBody>
      </p:sp>
      <p:sp>
        <p:nvSpPr>
          <p:cNvPr id="13" name="Text 11"/>
          <p:cNvSpPr txBox="1"/>
          <p:nvPr/>
        </p:nvSpPr>
        <p:spPr>
          <a:xfrm>
            <a:off x="3593592"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único volumen por país que existe</a:t>
            </a:r>
            <a:endParaRPr lang="en-US" sz="800" dirty="0"/>
          </a:p>
        </p:txBody>
      </p:sp>
      <p:sp>
        <p:nvSpPr>
          <p:cNvPr id="14" name="Shape 12"/>
          <p:cNvSpPr/>
          <p:nvPr/>
        </p:nvSpPr>
        <p:spPr>
          <a:xfrm>
            <a:off x="6309360" y="1737360"/>
            <a:ext cx="2697480" cy="987552"/>
          </a:xfrm>
          <a:prstGeom prst="roundRect">
            <a:avLst>
              <a:gd name="adj" fmla="val 4630"/>
            </a:avLst>
          </a:prstGeom>
          <a:solidFill>
            <a:srgbClr val="E5E5E5"/>
          </a:solidFill>
          <a:ln w="12700">
            <a:solidFill>
              <a:srgbClr val="CACACA"/>
            </a:solidFill>
            <a:prstDash val="solid"/>
          </a:ln>
        </p:spPr>
      </p:sp>
      <p:sp>
        <p:nvSpPr>
          <p:cNvPr id="15" name="Text 13"/>
          <p:cNvSpPr txBox="1"/>
          <p:nvPr/>
        </p:nvSpPr>
        <p:spPr>
          <a:xfrm>
            <a:off x="6437376"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73,0 %</a:t>
            </a:r>
            <a:endParaRPr lang="en-US" sz="2000" dirty="0"/>
          </a:p>
        </p:txBody>
      </p:sp>
      <p:sp>
        <p:nvSpPr>
          <p:cNvPr id="16" name="Text 14"/>
          <p:cNvSpPr txBox="1"/>
          <p:nvPr/>
        </p:nvSpPr>
        <p:spPr>
          <a:xfrm>
            <a:off x="6437376"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De las pymes lo pide</a:t>
            </a:r>
            <a:endParaRPr lang="en-US" sz="950" dirty="0"/>
          </a:p>
        </p:txBody>
      </p:sp>
      <p:sp>
        <p:nvSpPr>
          <p:cNvPr id="17" name="Text 15"/>
          <p:cNvSpPr txBox="1"/>
          <p:nvPr/>
        </p:nvSpPr>
        <p:spPr>
          <a:xfrm>
            <a:off x="6437376"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para circulante, frente al 64,6 % de 2024</a:t>
            </a:r>
            <a:endParaRPr lang="en-US" sz="800" dirty="0"/>
          </a:p>
        </p:txBody>
      </p:sp>
      <p:sp>
        <p:nvSpPr>
          <p:cNvPr id="18" name="Shape 16"/>
          <p:cNvSpPr/>
          <p:nvPr/>
        </p:nvSpPr>
        <p:spPr>
          <a:xfrm>
            <a:off x="9153144" y="1737360"/>
            <a:ext cx="2697480" cy="987552"/>
          </a:xfrm>
          <a:prstGeom prst="roundRect">
            <a:avLst>
              <a:gd name="adj" fmla="val 4630"/>
            </a:avLst>
          </a:prstGeom>
          <a:solidFill>
            <a:srgbClr val="E5E5E5"/>
          </a:solidFill>
          <a:ln w="12700">
            <a:solidFill>
              <a:srgbClr val="CACACA"/>
            </a:solidFill>
            <a:prstDash val="solid"/>
          </a:ln>
        </p:spPr>
      </p:sp>
      <p:sp>
        <p:nvSpPr>
          <p:cNvPr id="19" name="Text 17"/>
          <p:cNvSpPr txBox="1"/>
          <p:nvPr/>
        </p:nvSpPr>
        <p:spPr>
          <a:xfrm>
            <a:off x="9281160"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22 %</a:t>
            </a:r>
            <a:endParaRPr lang="en-US" sz="2000" dirty="0"/>
          </a:p>
        </p:txBody>
      </p:sp>
      <p:sp>
        <p:nvSpPr>
          <p:cNvPr id="20" name="Text 18"/>
          <p:cNvSpPr txBox="1"/>
          <p:nvPr/>
        </p:nvSpPr>
        <p:spPr>
          <a:xfrm>
            <a:off x="9281160"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Usa línea de crédito</a:t>
            </a:r>
            <a:endParaRPr lang="en-US" sz="950" dirty="0"/>
          </a:p>
        </p:txBody>
      </p:sp>
      <p:sp>
        <p:nvSpPr>
          <p:cNvPr id="21" name="Text 19"/>
          <p:cNvSpPr txBox="1"/>
          <p:nvPr/>
        </p:nvSpPr>
        <p:spPr>
          <a:xfrm>
            <a:off x="9281160"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el instrumento más utilizado, junto al préstamo</a:t>
            </a:r>
            <a:endParaRPr lang="en-US" sz="800" dirty="0"/>
          </a:p>
        </p:txBody>
      </p:sp>
      <p:graphicFrame>
        <p:nvGraphicFramePr>
          <p:cNvPr id="22" name="Chart 0" descr=""/>
          <p:cNvGraphicFramePr/>
          <p:nvPr/>
        </p:nvGraphicFramePr>
        <p:xfrm>
          <a:off x="621792" y="2926080"/>
          <a:ext cx="6583680" cy="2212848"/>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621792" y="5157216"/>
            <a:ext cx="658368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es de los pocos donde el circulante se cobra por encima del préstamo, y solo por 16 pb</a:t>
            </a:r>
            <a:endParaRPr lang="en-US" sz="800" dirty="0"/>
          </a:p>
        </p:txBody>
      </p:sp>
      <p:sp>
        <p:nvSpPr>
          <p:cNvPr id="24" name="Shape 21"/>
          <p:cNvSpPr/>
          <p:nvPr/>
        </p:nvSpPr>
        <p:spPr>
          <a:xfrm>
            <a:off x="7360920" y="2926080"/>
            <a:ext cx="4206240" cy="1481328"/>
          </a:xfrm>
          <a:prstGeom prst="roundRect">
            <a:avLst>
              <a:gd name="adj" fmla="val 3086"/>
            </a:avLst>
          </a:prstGeom>
          <a:solidFill>
            <a:srgbClr val="FFF4C2"/>
          </a:solidFill>
          <a:ln w="12700">
            <a:solidFill>
              <a:srgbClr val="FFE066"/>
            </a:solidFill>
            <a:prstDash val="solid"/>
          </a:ln>
        </p:spPr>
      </p:sp>
      <p:sp>
        <p:nvSpPr>
          <p:cNvPr id="25" name="Text 22"/>
          <p:cNvSpPr txBox="1"/>
          <p:nvPr/>
        </p:nvSpPr>
        <p:spPr>
          <a:xfrm>
            <a:off x="7507224" y="2999232"/>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demanda va donde el dato no llega</a:t>
            </a:r>
            <a:endParaRPr lang="en-US" sz="1150" dirty="0"/>
          </a:p>
        </p:txBody>
      </p:sp>
      <p:sp>
        <p:nvSpPr>
          <p:cNvPr id="26" name="Text 23"/>
          <p:cNvSpPr txBox="1"/>
          <p:nvPr/>
        </p:nvSpPr>
        <p:spPr>
          <a:xfrm>
            <a:off x="7507224" y="3236976"/>
            <a:ext cx="3913632" cy="109728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Tres de cada cuatro pymes que necesitan financiación la quieren para circulante, y es el destino que más crece. Pero de este producto no existe ni comisión de disponibilidad ni tasa de disposición en ninguna estadística, y el tipo que publica el BCE no tiene tramo de importe: mezcla la póliza de la pyme con la línea del corporativo.</a:t>
            </a:r>
            <a:endParaRPr lang="en-US" sz="900" dirty="0"/>
          </a:p>
        </p:txBody>
      </p:sp>
      <p:sp>
        <p:nvSpPr>
          <p:cNvPr id="27" name="Shape 24"/>
          <p:cNvSpPr/>
          <p:nvPr/>
        </p:nvSpPr>
        <p:spPr>
          <a:xfrm>
            <a:off x="7360920" y="4517136"/>
            <a:ext cx="4206240" cy="1536192"/>
          </a:xfrm>
          <a:prstGeom prst="roundRect">
            <a:avLst>
              <a:gd name="adj" fmla="val 2976"/>
            </a:avLst>
          </a:prstGeom>
          <a:solidFill>
            <a:srgbClr val="C7E3F9"/>
          </a:solidFill>
          <a:ln w="12700">
            <a:solidFill>
              <a:srgbClr val="77BFEE"/>
            </a:solidFill>
            <a:prstDash val="solid"/>
          </a:ln>
        </p:spPr>
      </p:sp>
      <p:sp>
        <p:nvSpPr>
          <p:cNvPr id="28" name="Text 25"/>
          <p:cNvSpPr txBox="1"/>
          <p:nvPr/>
        </p:nvSpPr>
        <p:spPr>
          <a:xfrm>
            <a:off x="7507224" y="4590288"/>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Validación cruzada del precio</a:t>
            </a:r>
            <a:endParaRPr lang="en-US" sz="1150" dirty="0"/>
          </a:p>
        </p:txBody>
      </p:sp>
      <p:sp>
        <p:nvSpPr>
          <p:cNvPr id="29" name="Text 26"/>
          <p:cNvSpPr txBox="1"/>
          <p:nvPr/>
        </p:nvSpPr>
        <p:spPr>
          <a:xfrm>
            <a:off x="7507224" y="4828032"/>
            <a:ext cx="3913632" cy="115214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Boletín del Banco de España publica el mismo dato por vía nacional, cuadro 19.5 serie 1, y da 3,58 %: idéntico al del BCE. Es la única serie del deck que se ha podido contrastar contra una fuente independiente, y cuadra. El volumen, 57.933 M€ de saldo medio, solo lo publica España.</a:t>
            </a:r>
            <a:endParaRPr lang="en-US" sz="900" dirty="0"/>
          </a:p>
        </p:txBody>
      </p:sp>
      <p:sp>
        <p:nvSpPr>
          <p:cNvPr id="30" name="Text 2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serie A2Z1 (revolving y descubiertos a sociedades no financieras), media 2026; Banco de España, Boletín Estadístico, cuadros 19.5 y 19.13, serie 1; CESGAR, XV Informe, gráficos 9 y 13. En revolving el MIR mide el tipo del saldo vivo, no de nueva producción. Los porcentajes de CESGAR son de empresas encuestadas y no se agregan con los tipos.</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Factoring y confirming: España es un caso aparte en Europa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Volumen anual sobre PIB · European Union Federation for Factoring · 2025</a:t>
            </a:r>
            <a:endParaRPr lang="en-US" sz="1050" dirty="0"/>
          </a:p>
        </p:txBody>
      </p:sp>
      <p:graphicFrame>
        <p:nvGraphicFramePr>
          <p:cNvPr id="6" name="Chart 0" descr=""/>
          <p:cNvGraphicFramePr/>
          <p:nvPr/>
        </p:nvGraphicFramePr>
        <p:xfrm>
          <a:off x="621792" y="1810512"/>
          <a:ext cx="649224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90288"/>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mueve 269.885 M€ al año, el 16,5 % del PIB: el segundo de los siete por intensidad, detrás de Portugal</a:t>
            </a:r>
            <a:endParaRPr lang="en-US" sz="800" dirty="0"/>
          </a:p>
        </p:txBody>
      </p:sp>
      <p:sp>
        <p:nvSpPr>
          <p:cNvPr id="8" name="Shape 5"/>
          <p:cNvSpPr/>
          <p:nvPr/>
        </p:nvSpPr>
        <p:spPr>
          <a:xfrm>
            <a:off x="7296912" y="1810512"/>
            <a:ext cx="4270248" cy="1572768"/>
          </a:xfrm>
          <a:prstGeom prst="roundRect">
            <a:avLst>
              <a:gd name="adj" fmla="val 2907"/>
            </a:avLst>
          </a:prstGeom>
          <a:solidFill>
            <a:srgbClr val="FFCCE8"/>
          </a:solidFill>
          <a:ln w="12700">
            <a:solidFill>
              <a:srgbClr val="FF8AC2"/>
            </a:solidFill>
            <a:prstDash val="solid"/>
          </a:ln>
        </p:spPr>
      </p:sp>
      <p:sp>
        <p:nvSpPr>
          <p:cNvPr id="9" name="Text 6"/>
          <p:cNvSpPr txBox="1"/>
          <p:nvPr/>
        </p:nvSpPr>
        <p:spPr>
          <a:xfrm>
            <a:off x="7443216" y="1883664"/>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52,6 % español es confirming</a:t>
            </a:r>
            <a:endParaRPr lang="en-US" sz="1150" dirty="0"/>
          </a:p>
        </p:txBody>
      </p:sp>
      <p:sp>
        <p:nvSpPr>
          <p:cNvPr id="10" name="Text 7"/>
          <p:cNvSpPr txBox="1"/>
          <p:nvPr/>
        </p:nvSpPr>
        <p:spPr>
          <a:xfrm>
            <a:off x="7443216" y="2121408"/>
            <a:ext cx="3977640" cy="118872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En Italia es el 1,9 %. España y Portugal son los dos mercados europeos donde el pago confirmado a proveedores domina sobre el factoring clásico. Por eso los totales de la federación europea NO son comparables entre países: se está sumando un producto de financiación de clientes con otro de pago a proveedores.</a:t>
            </a:r>
            <a:endParaRPr lang="en-US" sz="900" dirty="0"/>
          </a:p>
        </p:txBody>
      </p:sp>
      <p:sp>
        <p:nvSpPr>
          <p:cNvPr id="11" name="Shape 8"/>
          <p:cNvSpPr/>
          <p:nvPr/>
        </p:nvSpPr>
        <p:spPr>
          <a:xfrm>
            <a:off x="7296912" y="3493008"/>
            <a:ext cx="4270248" cy="1335024"/>
          </a:xfrm>
          <a:prstGeom prst="roundRect">
            <a:avLst>
              <a:gd name="adj" fmla="val 3425"/>
            </a:avLst>
          </a:prstGeom>
          <a:solidFill>
            <a:srgbClr val="E5E5E5"/>
          </a:solidFill>
          <a:ln w="12700">
            <a:solidFill>
              <a:srgbClr val="CACACA"/>
            </a:solidFill>
            <a:prstDash val="solid"/>
          </a:ln>
        </p:spPr>
      </p:sp>
      <p:sp>
        <p:nvSpPr>
          <p:cNvPr id="12" name="Text 9"/>
          <p:cNvSpPr txBox="1"/>
          <p:nvPr/>
        </p:nvSpPr>
        <p:spPr>
          <a:xfrm>
            <a:off x="7443216" y="3566160"/>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la pyme lo usa poco</a:t>
            </a:r>
            <a:endParaRPr lang="en-US" sz="1150" dirty="0"/>
          </a:p>
        </p:txBody>
      </p:sp>
      <p:sp>
        <p:nvSpPr>
          <p:cNvPr id="13" name="Text 10"/>
          <p:cNvSpPr txBox="1"/>
          <p:nvPr/>
        </p:nvSpPr>
        <p:spPr>
          <a:xfrm>
            <a:off x="7443216" y="3803904"/>
            <a:ext cx="3977640" cy="950976"/>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CESGAR lo sitúa por debajo del leasing (11 %) y de las líneas ICO (13 %) en penetración entre pymes. El volumen agregado es grande porque lo mueven las grandes empresas y sus cadenas de proveedores, no porque la pyme lo contrate.</a:t>
            </a:r>
            <a:endParaRPr lang="en-US" sz="900" dirty="0"/>
          </a:p>
        </p:txBody>
      </p:sp>
      <p:sp>
        <p:nvSpPr>
          <p:cNvPr id="14" name="Shape 11"/>
          <p:cNvSpPr/>
          <p:nvPr/>
        </p:nvSpPr>
        <p:spPr>
          <a:xfrm>
            <a:off x="621792" y="4882896"/>
            <a:ext cx="10945368" cy="1170432"/>
          </a:xfrm>
          <a:prstGeom prst="roundRect">
            <a:avLst>
              <a:gd name="adj" fmla="val 3906"/>
            </a:avLst>
          </a:prstGeom>
          <a:solidFill>
            <a:srgbClr val="FFF4C2"/>
          </a:solidFill>
          <a:ln w="12700">
            <a:solidFill>
              <a:srgbClr val="FFE066"/>
            </a:solidFill>
            <a:prstDash val="solid"/>
          </a:ln>
        </p:spPr>
      </p:sp>
      <p:sp>
        <p:nvSpPr>
          <p:cNvPr id="15" name="Text 12"/>
          <p:cNvSpPr txBox="1"/>
          <p:nvPr/>
        </p:nvSpPr>
        <p:spPr>
          <a:xfrm>
            <a:off x="768096" y="4956048"/>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Volumen sí, precio no: es el único bloque del encargo que se cierra sin ningún dato de su objetivo</a:t>
            </a:r>
            <a:endParaRPr lang="en-US" sz="1150" dirty="0"/>
          </a:p>
        </p:txBody>
      </p:sp>
      <p:sp>
        <p:nvSpPr>
          <p:cNvPr id="16" name="Text 13"/>
          <p:cNvSpPr txBox="1"/>
          <p:nvPr/>
        </p:nvSpPr>
        <p:spPr>
          <a:xfrm>
            <a:off x="768096" y="5193792"/>
            <a:ext cx="10789920"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Ni el BCE, ni el Banco de España, ni la federación europea, ni las asociaciones nacionales publican un precio del factoring o del confirming. Se buscó en las nueve fuentes del encargo y en las memorias de Santander Factoring y Confirming, BNP Paribas Factor y Eurofactor. El precio de estos productos solo existe en registros de pago o en datos de mercado, y por tanto no entra en el modelo de rentabilidad: cualquier ROE de factoring de este deck sería inventado.</a:t>
            </a:r>
            <a:endParaRPr lang="en-US" sz="900" dirty="0"/>
          </a:p>
        </p:txBody>
      </p:sp>
      <p:sp>
        <p:nvSpPr>
          <p:cNvPr id="17"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 Federation for Factoring and Commercial Finance y asociaciones nacionales (AEF en España, Assifact en Italia); CESGAR, XV Informe, gráfico 9. El reparto entre factoring y confirming procede de las asociaciones nacionales y no está armonizado.</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142.000 M€ de cartera PYME entre los cinco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con contraparte española · EU-wide Transparency Exercise del EBA · Junio 2025</a:t>
            </a:r>
            <a:endParaRPr lang="en-US" sz="1050" dirty="0"/>
          </a:p>
        </p:txBody>
      </p:sp>
      <p:graphicFrame>
        <p:nvGraphicFramePr>
          <p:cNvPr id="6" name="Chart 0" descr=""/>
          <p:cNvGraphicFramePr/>
          <p:nvPr/>
        </p:nvGraphicFramePr>
        <p:xfrm>
          <a:off x="621792" y="1810512"/>
          <a:ext cx="64922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626864"/>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Millones de euros de valor de exposición</a:t>
            </a:r>
            <a:endParaRPr lang="en-US" sz="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296912" y="1810512"/>
          <a:ext cx="4343400" cy="914400"/>
        </p:xfrm>
        <a:graphic>
          <a:graphicData uri="http://schemas.openxmlformats.org/drawingml/2006/table">
            <a:tbl>
              <a:tblPr/>
              <a:tblGrid>
                <a:gridCol w="1051560"/>
                <a:gridCol w="1051560"/>
                <a:gridCol w="1097280"/>
                <a:gridCol w="960120"/>
                <a:gridCol w="1097280"/>
              </a:tblGrid>
              <a:tr h="384048">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Banco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Cartera PYME,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Cuota entre los cinco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RWA,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14.553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7757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22.324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15,7 %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8327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48.736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23.978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24.410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32.325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9" name="Shape 5"/>
          <p:cNvSpPr/>
          <p:nvPr/>
        </p:nvSpPr>
        <p:spPr>
          <a:xfrm>
            <a:off x="7296912" y="4224528"/>
            <a:ext cx="4343400" cy="1042416"/>
          </a:xfrm>
          <a:prstGeom prst="roundRect">
            <a:avLst>
              <a:gd name="adj" fmla="val 4386"/>
            </a:avLst>
          </a:prstGeom>
          <a:solidFill>
            <a:srgbClr val="FFF4C2"/>
          </a:solidFill>
          <a:ln w="12700">
            <a:solidFill>
              <a:srgbClr val="FFE066"/>
            </a:solidFill>
            <a:prstDash val="solid"/>
          </a:ln>
        </p:spPr>
      </p:sp>
      <p:sp>
        <p:nvSpPr>
          <p:cNvPr id="10" name="Text 6"/>
          <p:cNvSpPr txBox="1"/>
          <p:nvPr/>
        </p:nvSpPr>
        <p:spPr>
          <a:xfrm>
            <a:off x="7443216" y="429768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Concentración moderada</a:t>
            </a:r>
            <a:endParaRPr lang="en-US" sz="1150" dirty="0"/>
          </a:p>
        </p:txBody>
      </p:sp>
      <p:sp>
        <p:nvSpPr>
          <p:cNvPr id="11" name="Text 7"/>
          <p:cNvSpPr txBox="1"/>
          <p:nvPr/>
        </p:nvSpPr>
        <p:spPr>
          <a:xfrm>
            <a:off x="7443216" y="4535424"/>
            <a:ext cx="4050792" cy="65836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CaixaBank tiene el 34,2 % de la cartera PYME de los cinco, más que Santander y BBVA juntos en este segmento, pese a ser menor que ambos por balance total. El negocio PYME español no se reparte como el balance.</a:t>
            </a:r>
            <a:endParaRPr lang="en-US" sz="900" dirty="0"/>
          </a:p>
        </p:txBody>
      </p:sp>
      <p:sp>
        <p:nvSpPr>
          <p:cNvPr id="12" name="Shape 8"/>
          <p:cNvSpPr/>
          <p:nvPr/>
        </p:nvSpPr>
        <p:spPr>
          <a:xfrm>
            <a:off x="621792" y="4956048"/>
            <a:ext cx="6492240" cy="1097280"/>
          </a:xfrm>
          <a:prstGeom prst="roundRect">
            <a:avLst>
              <a:gd name="adj" fmla="val 4167"/>
            </a:avLst>
          </a:prstGeom>
          <a:solidFill>
            <a:srgbClr val="C7E3F9"/>
          </a:solidFill>
          <a:ln w="12700">
            <a:solidFill>
              <a:srgbClr val="77BFEE"/>
            </a:solidFill>
            <a:prstDash val="solid"/>
          </a:ln>
        </p:spPr>
      </p:sp>
      <p:sp>
        <p:nvSpPr>
          <p:cNvPr id="13" name="Text 9"/>
          <p:cNvSpPr txBox="1"/>
          <p:nvPr/>
        </p:nvSpPr>
        <p:spPr>
          <a:xfrm>
            <a:off x="768096" y="5029200"/>
            <a:ext cx="6199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Es el perímetro que se puede medir, no todo el mercado</a:t>
            </a:r>
            <a:endParaRPr lang="en-US" sz="1150" dirty="0"/>
          </a:p>
        </p:txBody>
      </p:sp>
      <p:sp>
        <p:nvSpPr>
          <p:cNvPr id="14" name="Text 10"/>
          <p:cNvSpPr txBox="1"/>
          <p:nvPr/>
        </p:nvSpPr>
        <p:spPr>
          <a:xfrm>
            <a:off x="768096" y="5266944"/>
            <a:ext cx="6199632" cy="713232"/>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Son los cinco bancos del ejercicio de transparencia con cartera PYME española relevante. Fuera quedan las entidades no supervisadas directamente, las cooperativas de crédito, los EFC y la financiación no bancaria, que según CESGAR pesa: el crédito de proveedores lo usa el 16 % de las pymes.</a:t>
            </a:r>
            <a:endParaRPr lang="en-US" sz="9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 2520523 (valor de exposición de PYME) y 2520533 (RWA), con contraparte de Country = 28 (España), junio de 2025. La clase PYME agrega Corporates-SME, Retail-SME y Secured by mortgages-SME. La cuota es sobre el total de estos cinco bancos, no sobre el mercado español de crédito a PYME, que es mayor.</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Mora y cobertura de la cartera PYME española, trimestre a trimestre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nivel de un trimestre dice poco; la tendencia dice bastante más · EU-wide Transparency Exercise del EBA</a:t>
            </a:r>
            <a:endParaRPr lang="en-US" sz="1050" dirty="0"/>
          </a:p>
        </p:txBody>
      </p:sp>
      <p:graphicFrame>
        <p:nvGraphicFramePr>
          <p:cNvPr id="6" name="Chart 0" descr=""/>
          <p:cNvGraphicFramePr/>
          <p:nvPr/>
        </p:nvGraphicFramePr>
        <p:xfrm>
          <a:off x="621792" y="1828800"/>
          <a:ext cx="5532120" cy="2880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91056"/>
            <a:ext cx="553212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Mora: exposición en default sobre exposición original</a:t>
            </a:r>
            <a:endParaRPr lang="en-US" sz="1100" dirty="0"/>
          </a:p>
        </p:txBody>
      </p:sp>
      <p:sp>
        <p:nvSpPr>
          <p:cNvPr id="8" name="Text 5"/>
          <p:cNvSpPr txBox="1"/>
          <p:nvPr/>
        </p:nvSpPr>
        <p:spPr>
          <a:xfrm>
            <a:off x="6263640" y="1591056"/>
            <a:ext cx="555955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provisiones sobre exposición en default</a:t>
            </a:r>
            <a:endParaRPr lang="en-US" sz="1100" dirty="0"/>
          </a:p>
        </p:txBody>
      </p:sp>
      <p:graphicFrame>
        <p:nvGraphicFramePr>
          <p:cNvPr id="9" name="Chart 1" descr=""/>
          <p:cNvGraphicFramePr/>
          <p:nvPr/>
        </p:nvGraphicFramePr>
        <p:xfrm>
          <a:off x="6263640" y="1828800"/>
          <a:ext cx="5559552" cy="288036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882896"/>
            <a:ext cx="3639312" cy="1170432"/>
          </a:xfrm>
          <a:prstGeom prst="roundRect">
            <a:avLst>
              <a:gd name="adj" fmla="val 3906"/>
            </a:avLst>
          </a:prstGeom>
          <a:solidFill>
            <a:srgbClr val="C7E3F9"/>
          </a:solidFill>
          <a:ln w="12700">
            <a:solidFill>
              <a:srgbClr val="77BFEE"/>
            </a:solidFill>
            <a:prstDash val="solid"/>
          </a:ln>
        </p:spPr>
      </p:sp>
      <p:sp>
        <p:nvSpPr>
          <p:cNvPr id="11" name="Text 7"/>
          <p:cNvSpPr txBox="1"/>
          <p:nvPr/>
        </p:nvSpPr>
        <p:spPr>
          <a:xfrm>
            <a:off x="749808"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Sabadell limpia, y se nota</a:t>
            </a:r>
            <a:endParaRPr lang="en-US" sz="1050" dirty="0"/>
          </a:p>
        </p:txBody>
      </p:sp>
      <p:sp>
        <p:nvSpPr>
          <p:cNvPr id="12" name="Text 8"/>
          <p:cNvSpPr txBox="1"/>
          <p:nvPr/>
        </p:nvSpPr>
        <p:spPr>
          <a:xfrm>
            <a:off x="749808"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mora PYME baja de 7,32 % a 5,91 % en cuatro trimestres, la mejora más clara de los cinco, y además sube cobertura. Es coherente con su densidad de RWA, la más baja del grupo.</a:t>
            </a:r>
            <a:endParaRPr lang="en-US" sz="800" dirty="0"/>
          </a:p>
        </p:txBody>
      </p:sp>
      <p:sp>
        <p:nvSpPr>
          <p:cNvPr id="13" name="Shape 9"/>
          <p:cNvSpPr/>
          <p:nvPr/>
        </p:nvSpPr>
        <p:spPr>
          <a:xfrm>
            <a:off x="4425696" y="4882896"/>
            <a:ext cx="3639312" cy="1170432"/>
          </a:xfrm>
          <a:prstGeom prst="roundRect">
            <a:avLst>
              <a:gd name="adj" fmla="val 3906"/>
            </a:avLst>
          </a:prstGeom>
          <a:solidFill>
            <a:srgbClr val="FFCCE8"/>
          </a:solidFill>
          <a:ln w="12700">
            <a:solidFill>
              <a:srgbClr val="FF8AC2"/>
            </a:solidFill>
            <a:prstDash val="solid"/>
          </a:ln>
        </p:spPr>
      </p:sp>
      <p:sp>
        <p:nvSpPr>
          <p:cNvPr id="14" name="Text 10"/>
          <p:cNvSpPr txBox="1"/>
          <p:nvPr/>
        </p:nvSpPr>
        <p:spPr>
          <a:xfrm>
            <a:off x="4553712"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Santander provisiona cada vez menos</a:t>
            </a:r>
            <a:endParaRPr lang="en-US" sz="1050" dirty="0"/>
          </a:p>
        </p:txBody>
      </p:sp>
      <p:sp>
        <p:nvSpPr>
          <p:cNvPr id="15" name="Text 11"/>
          <p:cNvSpPr txBox="1"/>
          <p:nvPr/>
        </p:nvSpPr>
        <p:spPr>
          <a:xfrm>
            <a:off x="4553712"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cae de 43,2 % a 36,5 % mientras mantiene la peor mora. Puede ser cartera más garantizada o puede ser infraprovisión: con dato público no se distingue, y conviene mirarlo.</a:t>
            </a:r>
            <a:endParaRPr lang="en-US" sz="800" dirty="0"/>
          </a:p>
        </p:txBody>
      </p:sp>
      <p:sp>
        <p:nvSpPr>
          <p:cNvPr id="16" name="Shape 12"/>
          <p:cNvSpPr/>
          <p:nvPr/>
        </p:nvSpPr>
        <p:spPr>
          <a:xfrm>
            <a:off x="8229600" y="4882896"/>
            <a:ext cx="3639312" cy="1170432"/>
          </a:xfrm>
          <a:prstGeom prst="roundRect">
            <a:avLst>
              <a:gd name="adj" fmla="val 3906"/>
            </a:avLst>
          </a:prstGeom>
          <a:solidFill>
            <a:srgbClr val="FFD6BA"/>
          </a:solidFill>
          <a:ln w="12700">
            <a:solidFill>
              <a:srgbClr val="FFAB70"/>
            </a:solidFill>
            <a:prstDash val="solid"/>
          </a:ln>
        </p:spPr>
      </p:sp>
      <p:sp>
        <p:nvSpPr>
          <p:cNvPr id="17" name="Text 13"/>
          <p:cNvSpPr txBox="1"/>
          <p:nvPr/>
        </p:nvSpPr>
        <p:spPr>
          <a:xfrm>
            <a:off x="8357616"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Ojo con el último dato de Bankinter</a:t>
            </a:r>
            <a:endParaRPr lang="en-US" sz="1050" dirty="0"/>
          </a:p>
        </p:txBody>
      </p:sp>
      <p:sp>
        <p:nvSpPr>
          <p:cNvPr id="18" name="Text 14"/>
          <p:cNvSpPr txBox="1"/>
          <p:nvPr/>
        </p:nvSpPr>
        <p:spPr>
          <a:xfrm>
            <a:off x="8357616"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salta a 74,1 % desde una banda de 51,9–56,1 %. El modelo de las láminas siguientes usa ese trimestre, así que su LGD sale alta; con la media de los cuatro su ROE saldría algo mejor, no peor.</a:t>
            </a:r>
            <a:endParaRPr lang="en-US" sz="800" dirty="0"/>
          </a:p>
        </p:txBody>
      </p:sp>
      <p:sp>
        <p:nvSpPr>
          <p:cNvPr id="19"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partidas 2520503, 2520513 y 2520553 con contraparte de Country = 28 (España). La mora es un ratio de stock, no una PD de flujo. La cobertura incluye provisiones de las fases 1 y 2, así que sobreestima la cobertura del default en sí; el sesgo es el mismo para los cinco, de modo que sirve para comparar entre bancos y no como nivel absoluto.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PYME de la banca española,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050" dirty="0"/>
          </a:p>
        </p:txBody>
      </p:sp>
      <p:graphicFrame>
        <p:nvGraphicFramePr>
          <p:cNvPr id="6" name="Chart 0" descr=""/>
          <p:cNvGraphicFramePr/>
          <p:nvPr/>
        </p:nvGraphicFramePr>
        <p:xfrm>
          <a:off x="621792"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21792" y="4315968"/>
          <a:ext cx="10945368"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Text 4"/>
          <p:cNvSpPr txBox="1"/>
          <p:nvPr/>
        </p:nvSpPr>
        <p:spPr>
          <a:xfrm>
            <a:off x="621792" y="5705856"/>
            <a:ext cx="10945368" cy="29260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9" name="Shape 5"/>
          <p:cNvSpPr/>
          <p:nvPr/>
        </p:nvSpPr>
        <p:spPr>
          <a:xfrm>
            <a:off x="7205472" y="1755648"/>
            <a:ext cx="4361688"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7351776" y="1828800"/>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11" name="Text 7"/>
          <p:cNvSpPr txBox="1"/>
          <p:nvPr/>
        </p:nvSpPr>
        <p:spPr>
          <a:xfrm>
            <a:off x="7351776" y="2066544"/>
            <a:ext cx="4069080"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2" name="Text 8"/>
          <p:cNvSpPr txBox="1"/>
          <p:nvPr/>
        </p:nvSpPr>
        <p:spPr>
          <a:xfrm>
            <a:off x="7205472" y="3017520"/>
            <a:ext cx="4361688"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3" name="Text 9"/>
          <p:cNvSpPr txBox="1"/>
          <p:nvPr/>
        </p:nvSpPr>
        <p:spPr>
          <a:xfrm>
            <a:off x="7205472" y="3236976"/>
            <a:ext cx="4361688"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361688"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5" name="Shape 10"/>
          <p:cNvSpPr/>
          <p:nvPr/>
        </p:nvSpPr>
        <p:spPr>
          <a:xfrm>
            <a:off x="7205472" y="4809744"/>
            <a:ext cx="4361688" cy="1097280"/>
          </a:xfrm>
          <a:prstGeom prst="roundRect">
            <a:avLst>
              <a:gd name="adj" fmla="val 4167"/>
            </a:avLst>
          </a:prstGeom>
          <a:solidFill>
            <a:srgbClr val="FFF4C2"/>
          </a:solidFill>
          <a:ln w="12700">
            <a:solidFill>
              <a:srgbClr val="FFE066"/>
            </a:solidFill>
            <a:prstDash val="solid"/>
          </a:ln>
        </p:spPr>
      </p:sp>
      <p:sp>
        <p:nvSpPr>
          <p:cNvPr id="16" name="Text 11"/>
          <p:cNvSpPr txBox="1"/>
          <p:nvPr/>
        </p:nvSpPr>
        <p:spPr>
          <a:xfrm>
            <a:off x="7351776" y="4882896"/>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7" name="Text 12"/>
          <p:cNvSpPr txBox="1"/>
          <p:nvPr/>
        </p:nvSpPr>
        <p:spPr>
          <a:xfrm>
            <a:off x="7351776" y="5120640"/>
            <a:ext cx="4069080"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8"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1792" y="1554480"/>
          <a:ext cx="10945368"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7" name="Shape 4"/>
          <p:cNvSpPr/>
          <p:nvPr/>
        </p:nvSpPr>
        <p:spPr>
          <a:xfrm>
            <a:off x="621792" y="5760720"/>
            <a:ext cx="1371600" cy="256032"/>
          </a:xfrm>
          <a:prstGeom prst="roundRect">
            <a:avLst>
              <a:gd name="adj" fmla="val 42857"/>
            </a:avLst>
          </a:prstGeom>
          <a:solidFill>
            <a:srgbClr val="E5E5E5"/>
          </a:solidFill>
          <a:ln w="12700">
            <a:solidFill>
              <a:srgbClr val="E5E5E5"/>
            </a:solidFill>
            <a:prstDash val="solid"/>
          </a:ln>
        </p:spPr>
      </p:sp>
      <p:sp>
        <p:nvSpPr>
          <p:cNvPr id="8" name="Text 5"/>
          <p:cNvSpPr txBox="1"/>
          <p:nvPr/>
        </p:nvSpPr>
        <p:spPr>
          <a:xfrm>
            <a:off x="621792"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9" name="Shape 6"/>
          <p:cNvSpPr/>
          <p:nvPr/>
        </p:nvSpPr>
        <p:spPr>
          <a:xfrm>
            <a:off x="2103120" y="5760720"/>
            <a:ext cx="1371600" cy="256032"/>
          </a:xfrm>
          <a:prstGeom prst="roundRect">
            <a:avLst>
              <a:gd name="adj" fmla="val 42857"/>
            </a:avLst>
          </a:prstGeom>
          <a:solidFill>
            <a:srgbClr val="C7E3F9"/>
          </a:solidFill>
          <a:ln w="12700">
            <a:solidFill>
              <a:srgbClr val="C7E3F9"/>
            </a:solidFill>
            <a:prstDash val="solid"/>
          </a:ln>
        </p:spPr>
      </p:sp>
      <p:sp>
        <p:nvSpPr>
          <p:cNvPr id="10" name="Text 7"/>
          <p:cNvSpPr txBox="1"/>
          <p:nvPr/>
        </p:nvSpPr>
        <p:spPr>
          <a:xfrm>
            <a:off x="210312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11" name="Shape 8"/>
          <p:cNvSpPr/>
          <p:nvPr/>
        </p:nvSpPr>
        <p:spPr>
          <a:xfrm>
            <a:off x="3584448" y="5760720"/>
            <a:ext cx="1371600" cy="256032"/>
          </a:xfrm>
          <a:prstGeom prst="roundRect">
            <a:avLst>
              <a:gd name="adj" fmla="val 42857"/>
            </a:avLst>
          </a:prstGeom>
          <a:solidFill>
            <a:srgbClr val="FFD6BA"/>
          </a:solidFill>
          <a:ln w="12700">
            <a:solidFill>
              <a:srgbClr val="FFD6BA"/>
            </a:solidFill>
            <a:prstDash val="solid"/>
          </a:ln>
        </p:spPr>
      </p:sp>
      <p:sp>
        <p:nvSpPr>
          <p:cNvPr id="12" name="Text 9"/>
          <p:cNvSpPr txBox="1"/>
          <p:nvPr/>
        </p:nvSpPr>
        <p:spPr>
          <a:xfrm>
            <a:off x="358444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3" name="Text 10"/>
          <p:cNvSpPr txBox="1"/>
          <p:nvPr/>
        </p:nvSpPr>
        <p:spPr>
          <a:xfrm>
            <a:off x="5285232" y="5477256"/>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03</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Conclusiones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recomendaciones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Lo que sostienen los datos y lo que se deriva de ellos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Conclusiones: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sostienen los datos de los siete países</a:t>
            </a:r>
            <a:endParaRPr lang="en-US" sz="1050" dirty="0"/>
          </a:p>
        </p:txBody>
      </p:sp>
      <p:sp>
        <p:nvSpPr>
          <p:cNvPr id="6" name="Shape 4"/>
          <p:cNvSpPr/>
          <p:nvPr/>
        </p:nvSpPr>
        <p:spPr>
          <a:xfrm>
            <a:off x="621792" y="1554480"/>
            <a:ext cx="329184" cy="329184"/>
          </a:xfrm>
          <a:prstGeom prst="ellipse">
            <a:avLst/>
          </a:prstGeom>
          <a:solidFill>
            <a:srgbClr val="F56600"/>
          </a:solidFill>
          <a:ln w="12700">
            <a:solidFill>
              <a:srgbClr val="F56600"/>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10" name="Shape 8"/>
          <p:cNvSpPr/>
          <p:nvPr/>
        </p:nvSpPr>
        <p:spPr>
          <a:xfrm>
            <a:off x="621792" y="2327148"/>
            <a:ext cx="329184" cy="329184"/>
          </a:xfrm>
          <a:prstGeom prst="ellipse">
            <a:avLst/>
          </a:prstGeom>
          <a:solidFill>
            <a:srgbClr val="F56600"/>
          </a:solidFill>
          <a:ln w="12700">
            <a:solidFill>
              <a:srgbClr val="F56600"/>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Y es además el más grande (44,8 % de la cartera PYME de los siete) y el único donde la brecha de financiación declarada por las empresas se está abriendo. Lo que se compra al entrar no es el margen del mercado, es la distancia respecto al incumbente.</a:t>
            </a:r>
            <a:endParaRPr lang="en-US" sz="900" dirty="0"/>
          </a:p>
        </p:txBody>
      </p:sp>
      <p:sp>
        <p:nvSpPr>
          <p:cNvPr id="14" name="Shape 12"/>
          <p:cNvSpPr/>
          <p:nvPr/>
        </p:nvSpPr>
        <p:spPr>
          <a:xfrm>
            <a:off x="621792" y="3099816"/>
            <a:ext cx="329184" cy="329184"/>
          </a:xfrm>
          <a:prstGeom prst="ellipse">
            <a:avLst/>
          </a:prstGeom>
          <a:solidFill>
            <a:srgbClr val="F56600"/>
          </a:solidFill>
          <a:ln w="12700">
            <a:solidFill>
              <a:srgbClr val="F56600"/>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18" name="Shape 16"/>
          <p:cNvSpPr/>
          <p:nvPr/>
        </p:nvSpPr>
        <p:spPr>
          <a:xfrm>
            <a:off x="621792" y="3872484"/>
            <a:ext cx="329184" cy="329184"/>
          </a:xfrm>
          <a:prstGeom prst="ellipse">
            <a:avLst/>
          </a:prstGeom>
          <a:solidFill>
            <a:srgbClr val="F56600"/>
          </a:solidFill>
          <a:ln w="12700">
            <a:solidFill>
              <a:srgbClr val="F56600"/>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igualar la LGD solo el 22 %. Y el eje que mejor predice la PD no es la información (ρ = −0,23) sino el entorno de recobro (ρ = −0,79): donde ejecutar es lento y caro, el impago se enquista.</a:t>
            </a:r>
            <a:endParaRPr lang="en-US" sz="900" dirty="0"/>
          </a:p>
        </p:txBody>
      </p:sp>
      <p:sp>
        <p:nvSpPr>
          <p:cNvPr id="22" name="Shape 20"/>
          <p:cNvSpPr/>
          <p:nvPr/>
        </p:nvSpPr>
        <p:spPr>
          <a:xfrm>
            <a:off x="621792" y="4645152"/>
            <a:ext cx="329184" cy="329184"/>
          </a:xfrm>
          <a:prstGeom prst="ellipse">
            <a:avLst/>
          </a:prstGeom>
          <a:solidFill>
            <a:srgbClr val="F56600"/>
          </a:solidFill>
          <a:ln w="12700">
            <a:solidFill>
              <a:srgbClr val="F56600"/>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Prestar peor no viene pagado</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Entre mercados el margen neto de riesgo cae con la PD (ρ = −0,76): los países que prestan peor son los que menos cobran. Dentro de cada mercado sí se paga, vía tramo de importe, y ahí España es la única de las siete sin gradiente.</a:t>
            </a:r>
            <a:endParaRPr lang="en-US" sz="900" dirty="0"/>
          </a:p>
        </p:txBody>
      </p:sp>
      <p:sp>
        <p:nvSpPr>
          <p:cNvPr id="26" name="Shape 24"/>
          <p:cNvSpPr/>
          <p:nvPr/>
        </p:nvSpPr>
        <p:spPr>
          <a:xfrm>
            <a:off x="621792" y="5417820"/>
            <a:ext cx="329184" cy="329184"/>
          </a:xfrm>
          <a:prstGeom prst="ellipse">
            <a:avLst/>
          </a:prstGeom>
          <a:solidFill>
            <a:srgbClr val="F56600"/>
          </a:solidFill>
          <a:ln w="12700">
            <a:solidFill>
              <a:srgbClr val="F56600"/>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Mueve el ROE entre 3 y 8 puntos.</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Conclusiones: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añade el bloque español, que no se ve en el agregado europeo</a:t>
            </a:r>
            <a:endParaRPr lang="en-US" sz="1050" dirty="0"/>
          </a:p>
        </p:txBody>
      </p:sp>
      <p:sp>
        <p:nvSpPr>
          <p:cNvPr id="6" name="Shape 4"/>
          <p:cNvSpPr/>
          <p:nvPr/>
        </p:nvSpPr>
        <p:spPr>
          <a:xfrm>
            <a:off x="621792" y="1554480"/>
            <a:ext cx="329184" cy="329184"/>
          </a:xfrm>
          <a:prstGeom prst="ellipse">
            <a:avLst/>
          </a:prstGeom>
          <a:solidFill>
            <a:srgbClr val="77BFEE"/>
          </a:solidFill>
          <a:ln w="12700">
            <a:solidFill>
              <a:srgbClr val="77BFEE"/>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problema no es el acceso, es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Entre las que sí ven obstáculos, el primero es el precio (21,6 %). Un entrante que compita por disponibilidad se equivoca de eje.</a:t>
            </a:r>
            <a:endParaRPr lang="en-US" sz="900" dirty="0"/>
          </a:p>
        </p:txBody>
      </p:sp>
      <p:sp>
        <p:nvSpPr>
          <p:cNvPr id="10" name="Shape 8"/>
          <p:cNvSpPr/>
          <p:nvPr/>
        </p:nvSpPr>
        <p:spPr>
          <a:xfrm>
            <a:off x="621792" y="2327148"/>
            <a:ext cx="329184" cy="329184"/>
          </a:xfrm>
          <a:prstGeom prst="ellipse">
            <a:avLst/>
          </a:prstGeom>
          <a:solidFill>
            <a:srgbClr val="77BFEE"/>
          </a:solidFill>
          <a:ln w="12700">
            <a:solidFill>
              <a:srgbClr val="77BFEE"/>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de colchón, y ese es el techo</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Por encima de esa diferencia, endeudarse deja de crearle valor y la demanda se corta sola. La mediana tiene 6,1 puntos: es otro cliente, no el mismo más grande.</a:t>
            </a:r>
            <a:endParaRPr lang="en-US" sz="900" dirty="0"/>
          </a:p>
        </p:txBody>
      </p:sp>
      <p:sp>
        <p:nvSpPr>
          <p:cNvPr id="14" name="Shape 12"/>
          <p:cNvSpPr/>
          <p:nvPr/>
        </p:nvSpPr>
        <p:spPr>
          <a:xfrm>
            <a:off x="621792" y="3099816"/>
            <a:ext cx="329184" cy="329184"/>
          </a:xfrm>
          <a:prstGeom prst="ellipse">
            <a:avLst/>
          </a:prstGeom>
          <a:solidFill>
            <a:srgbClr val="77BFEE"/>
          </a:solidFill>
          <a:ln w="12700">
            <a:solidFill>
              <a:srgbClr val="77BFEE"/>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demanda va al circulante, que es el producto peor medido</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8" name="Shape 16"/>
          <p:cNvSpPr/>
          <p:nvPr/>
        </p:nvSpPr>
        <p:spPr>
          <a:xfrm>
            <a:off x="621792" y="3872484"/>
            <a:ext cx="329184" cy="329184"/>
          </a:xfrm>
          <a:prstGeom prst="ellipse">
            <a:avLst/>
          </a:prstGeom>
          <a:solidFill>
            <a:srgbClr val="77BFEE"/>
          </a:solidFill>
          <a:ln w="12700">
            <a:solidFill>
              <a:srgbClr val="77BFEE"/>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bancos españoles manda el capital, no la eficiencia</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por una densidad de RWA del 37,3 %. BBVA tiene la segunda mejor eficiencia (34,3 %) y queda cuarto, con una densidad del 71,0 %. Misma conclusión que en Europa, pero aquí sin diferencias de mercado que la expliquen.</a:t>
            </a:r>
            <a:endParaRPr lang="en-US" sz="900" dirty="0"/>
          </a:p>
        </p:txBody>
      </p:sp>
      <p:sp>
        <p:nvSpPr>
          <p:cNvPr id="22" name="Shape 20"/>
          <p:cNvSpPr/>
          <p:nvPr/>
        </p:nvSpPr>
        <p:spPr>
          <a:xfrm>
            <a:off x="621792" y="4645152"/>
            <a:ext cx="329184" cy="329184"/>
          </a:xfrm>
          <a:prstGeom prst="ellipse">
            <a:avLst/>
          </a:prstGeom>
          <a:solidFill>
            <a:srgbClr val="77BFEE"/>
          </a:solidFill>
          <a:ln w="12700">
            <a:solidFill>
              <a:srgbClr val="77BFEE"/>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capacidad competitiva se mide en precio, no en ROE</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Son 119 pb de margen de maniobra en precio, que es lo que de verdad se puede usar para ganar cliente.</a:t>
            </a:r>
            <a:endParaRPr lang="en-US" sz="900" dirty="0"/>
          </a:p>
        </p:txBody>
      </p:sp>
      <p:sp>
        <p:nvSpPr>
          <p:cNvPr id="26" name="Shape 24"/>
          <p:cNvSpPr/>
          <p:nvPr/>
        </p:nvSpPr>
        <p:spPr>
          <a:xfrm>
            <a:off x="621792" y="5417820"/>
            <a:ext cx="329184" cy="329184"/>
          </a:xfrm>
          <a:prstGeom prst="ellipse">
            <a:avLst/>
          </a:prstGeom>
          <a:solidFill>
            <a:srgbClr val="77BFEE"/>
          </a:solidFill>
          <a:ln w="12700">
            <a:solidFill>
              <a:srgbClr val="77BFEE"/>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es un segmento aparte que la estadística esconde</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y el SEC 2010 lo clasifica en hogares, así que no aparece en ninguna serie de empresas. Son 840 M€ al mes de nueva producción.</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y 3 salen de la encuesta CESGAR y son porcentajes de empresas, no niveles. La 2 sale de la Central de Balances del Banco de España, ejercicio 2024.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entrada en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falta para convertir el bloque europeo en una decisión</a:t>
            </a:r>
            <a:endParaRPr lang="en-US" sz="1050" dirty="0"/>
          </a:p>
        </p:txBody>
      </p:sp>
      <p:sp>
        <p:nvSpPr>
          <p:cNvPr id="6" name="Shape 4"/>
          <p:cNvSpPr/>
          <p:nvPr/>
        </p:nvSpPr>
        <p:spPr>
          <a:xfrm>
            <a:off x="621792" y="1517904"/>
            <a:ext cx="2057400" cy="457200"/>
          </a:xfrm>
          <a:prstGeom prst="roundRect">
            <a:avLst>
              <a:gd name="adj" fmla="val 10000"/>
            </a:avLst>
          </a:prstGeom>
          <a:solidFill>
            <a:srgbClr val="FFD6BA"/>
          </a:solidFill>
          <a:ln w="12700">
            <a:solidFill>
              <a:srgbClr val="FFAB70"/>
            </a:solidFill>
            <a:prstDash val="solid"/>
          </a:ln>
        </p:spPr>
      </p:sp>
      <p:sp>
        <p:nvSpPr>
          <p:cNvPr id="7" name="Text 5"/>
          <p:cNvSpPr txBox="1"/>
          <p:nvPr/>
        </p:nvSpPr>
        <p:spPr>
          <a:xfrm>
            <a:off x="621792"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8" name="Text 6"/>
          <p:cNvSpPr txBox="1"/>
          <p:nvPr/>
        </p:nvSpPr>
        <p:spPr>
          <a:xfrm>
            <a:off x="2862072"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9" name="Text 7"/>
          <p:cNvSpPr txBox="1"/>
          <p:nvPr/>
        </p:nvSpPr>
        <p:spPr>
          <a:xfrm>
            <a:off x="6016752"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10" name="Shape 8"/>
          <p:cNvSpPr/>
          <p:nvPr/>
        </p:nvSpPr>
        <p:spPr>
          <a:xfrm>
            <a:off x="621792" y="2025396"/>
            <a:ext cx="2057400" cy="457200"/>
          </a:xfrm>
          <a:prstGeom prst="roundRect">
            <a:avLst>
              <a:gd name="adj" fmla="val 10000"/>
            </a:avLst>
          </a:prstGeom>
          <a:solidFill>
            <a:srgbClr val="FFD6BA"/>
          </a:solidFill>
          <a:ln w="12700">
            <a:solidFill>
              <a:srgbClr val="FFAB70"/>
            </a:solidFill>
            <a:prstDash val="solid"/>
          </a:ln>
        </p:spPr>
      </p:sp>
      <p:sp>
        <p:nvSpPr>
          <p:cNvPr id="11" name="Text 9"/>
          <p:cNvSpPr txBox="1"/>
          <p:nvPr/>
        </p:nvSpPr>
        <p:spPr>
          <a:xfrm>
            <a:off x="621792"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2" name="Text 10"/>
          <p:cNvSpPr txBox="1"/>
          <p:nvPr/>
        </p:nvSpPr>
        <p:spPr>
          <a:xfrm>
            <a:off x="2862072"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3" name="Text 11"/>
          <p:cNvSpPr txBox="1"/>
          <p:nvPr/>
        </p:nvSpPr>
        <p:spPr>
          <a:xfrm>
            <a:off x="6016752"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4" name="Shape 12"/>
          <p:cNvSpPr/>
          <p:nvPr/>
        </p:nvSpPr>
        <p:spPr>
          <a:xfrm>
            <a:off x="621792" y="2532888"/>
            <a:ext cx="2057400" cy="457200"/>
          </a:xfrm>
          <a:prstGeom prst="roundRect">
            <a:avLst>
              <a:gd name="adj" fmla="val 10000"/>
            </a:avLst>
          </a:prstGeom>
          <a:solidFill>
            <a:srgbClr val="FFD6BA"/>
          </a:solidFill>
          <a:ln w="12700">
            <a:solidFill>
              <a:srgbClr val="FFAB70"/>
            </a:solidFill>
            <a:prstDash val="solid"/>
          </a:ln>
        </p:spPr>
      </p:sp>
      <p:sp>
        <p:nvSpPr>
          <p:cNvPr id="15" name="Text 13"/>
          <p:cNvSpPr txBox="1"/>
          <p:nvPr/>
        </p:nvSpPr>
        <p:spPr>
          <a:xfrm>
            <a:off x="621792"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6" name="Text 14"/>
          <p:cNvSpPr txBox="1"/>
          <p:nvPr/>
        </p:nvSpPr>
        <p:spPr>
          <a:xfrm>
            <a:off x="2862072"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7" name="Text 15"/>
          <p:cNvSpPr txBox="1"/>
          <p:nvPr/>
        </p:nvSpPr>
        <p:spPr>
          <a:xfrm>
            <a:off x="6016752"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8" name="Shape 16"/>
          <p:cNvSpPr/>
          <p:nvPr/>
        </p:nvSpPr>
        <p:spPr>
          <a:xfrm>
            <a:off x="621792" y="3040380"/>
            <a:ext cx="2057400" cy="457200"/>
          </a:xfrm>
          <a:prstGeom prst="roundRect">
            <a:avLst>
              <a:gd name="adj" fmla="val 10000"/>
            </a:avLst>
          </a:prstGeom>
          <a:solidFill>
            <a:srgbClr val="E5E5E5"/>
          </a:solidFill>
          <a:ln w="12700">
            <a:solidFill>
              <a:srgbClr val="CACACA"/>
            </a:solidFill>
            <a:prstDash val="solid"/>
          </a:ln>
        </p:spPr>
      </p:sp>
      <p:sp>
        <p:nvSpPr>
          <p:cNvPr id="19" name="Text 17"/>
          <p:cNvSpPr txBox="1"/>
          <p:nvPr/>
        </p:nvSpPr>
        <p:spPr>
          <a:xfrm>
            <a:off x="621792"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20" name="Text 18"/>
          <p:cNvSpPr txBox="1"/>
          <p:nvPr/>
        </p:nvSpPr>
        <p:spPr>
          <a:xfrm>
            <a:off x="2862072"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21" name="Text 19"/>
          <p:cNvSpPr txBox="1"/>
          <p:nvPr/>
        </p:nvSpPr>
        <p:spPr>
          <a:xfrm>
            <a:off x="6016752"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2" name="Shape 20"/>
          <p:cNvSpPr/>
          <p:nvPr/>
        </p:nvSpPr>
        <p:spPr>
          <a:xfrm>
            <a:off x="621792" y="3547872"/>
            <a:ext cx="2057400" cy="457200"/>
          </a:xfrm>
          <a:prstGeom prst="roundRect">
            <a:avLst>
              <a:gd name="adj" fmla="val 10000"/>
            </a:avLst>
          </a:prstGeom>
          <a:solidFill>
            <a:srgbClr val="E5E5E5"/>
          </a:solidFill>
          <a:ln w="12700">
            <a:solidFill>
              <a:srgbClr val="CACACA"/>
            </a:solidFill>
            <a:prstDash val="solid"/>
          </a:ln>
        </p:spPr>
      </p:sp>
      <p:sp>
        <p:nvSpPr>
          <p:cNvPr id="23" name="Text 21"/>
          <p:cNvSpPr txBox="1"/>
          <p:nvPr/>
        </p:nvSpPr>
        <p:spPr>
          <a:xfrm>
            <a:off x="621792"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4" name="Text 22"/>
          <p:cNvSpPr txBox="1"/>
          <p:nvPr/>
        </p:nvSpPr>
        <p:spPr>
          <a:xfrm>
            <a:off x="2862072"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5" name="Text 23"/>
          <p:cNvSpPr txBox="1"/>
          <p:nvPr/>
        </p:nvSpPr>
        <p:spPr>
          <a:xfrm>
            <a:off x="6016752"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6" name="Shape 24"/>
          <p:cNvSpPr/>
          <p:nvPr/>
        </p:nvSpPr>
        <p:spPr>
          <a:xfrm>
            <a:off x="621792" y="4055364"/>
            <a:ext cx="2057400" cy="457200"/>
          </a:xfrm>
          <a:prstGeom prst="roundRect">
            <a:avLst>
              <a:gd name="adj" fmla="val 10000"/>
            </a:avLst>
          </a:prstGeom>
          <a:solidFill>
            <a:srgbClr val="E5E5E5"/>
          </a:solidFill>
          <a:ln w="12700">
            <a:solidFill>
              <a:srgbClr val="CACACA"/>
            </a:solidFill>
            <a:prstDash val="solid"/>
          </a:ln>
        </p:spPr>
      </p:sp>
      <p:sp>
        <p:nvSpPr>
          <p:cNvPr id="27" name="Text 25"/>
          <p:cNvSpPr txBox="1"/>
          <p:nvPr/>
        </p:nvSpPr>
        <p:spPr>
          <a:xfrm>
            <a:off x="621792"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8" name="Text 26"/>
          <p:cNvSpPr txBox="1"/>
          <p:nvPr/>
        </p:nvSpPr>
        <p:spPr>
          <a:xfrm>
            <a:off x="2862072"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9" name="Text 27"/>
          <p:cNvSpPr txBox="1"/>
          <p:nvPr/>
        </p:nvSpPr>
        <p:spPr>
          <a:xfrm>
            <a:off x="6016752"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30" name="Shape 28"/>
          <p:cNvSpPr/>
          <p:nvPr/>
        </p:nvSpPr>
        <p:spPr>
          <a:xfrm>
            <a:off x="621792" y="4562856"/>
            <a:ext cx="2057400" cy="457200"/>
          </a:xfrm>
          <a:prstGeom prst="roundRect">
            <a:avLst>
              <a:gd name="adj" fmla="val 10000"/>
            </a:avLst>
          </a:prstGeom>
          <a:solidFill>
            <a:srgbClr val="C7E3F9"/>
          </a:solidFill>
          <a:ln w="12700">
            <a:solidFill>
              <a:srgbClr val="77BFEE"/>
            </a:solidFill>
            <a:prstDash val="solid"/>
          </a:ln>
        </p:spPr>
      </p:sp>
      <p:sp>
        <p:nvSpPr>
          <p:cNvPr id="31" name="Text 29"/>
          <p:cNvSpPr txBox="1"/>
          <p:nvPr/>
        </p:nvSpPr>
        <p:spPr>
          <a:xfrm>
            <a:off x="621792"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2" name="Text 30"/>
          <p:cNvSpPr txBox="1"/>
          <p:nvPr/>
        </p:nvSpPr>
        <p:spPr>
          <a:xfrm>
            <a:off x="2862072"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3" name="Text 31"/>
          <p:cNvSpPr txBox="1"/>
          <p:nvPr/>
        </p:nvSpPr>
        <p:spPr>
          <a:xfrm>
            <a:off x="6016752"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4" name="Shape 32"/>
          <p:cNvSpPr/>
          <p:nvPr/>
        </p:nvSpPr>
        <p:spPr>
          <a:xfrm>
            <a:off x="621792" y="5070348"/>
            <a:ext cx="2057400" cy="457200"/>
          </a:xfrm>
          <a:prstGeom prst="roundRect">
            <a:avLst>
              <a:gd name="adj" fmla="val 10000"/>
            </a:avLst>
          </a:prstGeom>
          <a:solidFill>
            <a:srgbClr val="C7E3F9"/>
          </a:solidFill>
          <a:ln w="12700">
            <a:solidFill>
              <a:srgbClr val="77BFEE"/>
            </a:solidFill>
            <a:prstDash val="solid"/>
          </a:ln>
        </p:spPr>
      </p:sp>
      <p:sp>
        <p:nvSpPr>
          <p:cNvPr id="35" name="Text 33"/>
          <p:cNvSpPr txBox="1"/>
          <p:nvPr/>
        </p:nvSpPr>
        <p:spPr>
          <a:xfrm>
            <a:off x="621792"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6" name="Text 34"/>
          <p:cNvSpPr txBox="1"/>
          <p:nvPr/>
        </p:nvSpPr>
        <p:spPr>
          <a:xfrm>
            <a:off x="2862072"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7" name="Text 35"/>
          <p:cNvSpPr txBox="1"/>
          <p:nvPr/>
        </p:nvSpPr>
        <p:spPr>
          <a:xfrm>
            <a:off x="6016752"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8" name="Shape 36"/>
          <p:cNvSpPr/>
          <p:nvPr/>
        </p:nvSpPr>
        <p:spPr>
          <a:xfrm>
            <a:off x="621792" y="5577840"/>
            <a:ext cx="2057400" cy="457200"/>
          </a:xfrm>
          <a:prstGeom prst="roundRect">
            <a:avLst>
              <a:gd name="adj" fmla="val 10000"/>
            </a:avLst>
          </a:prstGeom>
          <a:solidFill>
            <a:srgbClr val="C7E3F9"/>
          </a:solidFill>
          <a:ln w="12700">
            <a:solidFill>
              <a:srgbClr val="77BFEE"/>
            </a:solidFill>
            <a:prstDash val="solid"/>
          </a:ln>
        </p:spPr>
      </p:sp>
      <p:sp>
        <p:nvSpPr>
          <p:cNvPr id="39" name="Text 37"/>
          <p:cNvSpPr txBox="1"/>
          <p:nvPr/>
        </p:nvSpPr>
        <p:spPr>
          <a:xfrm>
            <a:off x="621792"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40" name="Text 38"/>
          <p:cNvSpPr txBox="1"/>
          <p:nvPr/>
        </p:nvSpPr>
        <p:spPr>
          <a:xfrm>
            <a:off x="2862072"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41" name="Text 39"/>
          <p:cNvSpPr txBox="1"/>
          <p:nvPr/>
        </p:nvSpPr>
        <p:spPr>
          <a:xfrm>
            <a:off x="6016752"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2" name="Text 4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un banco español con este análisis, hoy</a:t>
            </a:r>
            <a:endParaRPr lang="en-US" sz="1050" dirty="0"/>
          </a:p>
        </p:txBody>
      </p:sp>
      <p:sp>
        <p:nvSpPr>
          <p:cNvPr id="6" name="Shape 4"/>
          <p:cNvSpPr/>
          <p:nvPr/>
        </p:nvSpPr>
        <p:spPr>
          <a:xfrm>
            <a:off x="621792" y="1536192"/>
            <a:ext cx="2240280" cy="566928"/>
          </a:xfrm>
          <a:prstGeom prst="roundRect">
            <a:avLst>
              <a:gd name="adj" fmla="val 8065"/>
            </a:avLst>
          </a:prstGeom>
          <a:solidFill>
            <a:srgbClr val="C7E3F9"/>
          </a:solidFill>
          <a:ln w="12700">
            <a:solidFill>
              <a:srgbClr val="77BFEE"/>
            </a:solidFill>
            <a:prstDash val="solid"/>
          </a:ln>
        </p:spPr>
      </p:sp>
      <p:sp>
        <p:nvSpPr>
          <p:cNvPr id="7" name="Text 5"/>
          <p:cNvSpPr txBox="1"/>
          <p:nvPr/>
        </p:nvSpPr>
        <p:spPr>
          <a:xfrm>
            <a:off x="621792" y="153619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Atacar</a:t>
            </a:r>
            <a:endParaRPr lang="en-US" sz="1100" dirty="0"/>
          </a:p>
        </p:txBody>
      </p:sp>
      <p:sp>
        <p:nvSpPr>
          <p:cNvPr id="8" name="Text 6"/>
          <p:cNvSpPr txBox="1"/>
          <p:nvPr/>
        </p:nvSpPr>
        <p:spPr>
          <a:xfrm>
            <a:off x="3044952" y="156362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circulante, por precio y por comisión</a:t>
            </a:r>
            <a:endParaRPr lang="en-US" sz="1050" dirty="0"/>
          </a:p>
        </p:txBody>
      </p:sp>
      <p:sp>
        <p:nvSpPr>
          <p:cNvPr id="9" name="Text 7"/>
          <p:cNvSpPr txBox="1"/>
          <p:nvPr/>
        </p:nvSpPr>
        <p:spPr>
          <a:xfrm>
            <a:off x="6245352" y="156362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destino del 73,0 % de la demanda y el producto del que nadie publica precio de disponibilidad. La comisión neutral —la que hace el ROE indiferente a la disposición— es el CCF por el margen: 0,28 % en España. Por debajo de eso, cada línea poco dispuesta destruye ROE.</a:t>
            </a:r>
            <a:endParaRPr lang="en-US" sz="850" dirty="0"/>
          </a:p>
        </p:txBody>
      </p:sp>
      <p:sp>
        <p:nvSpPr>
          <p:cNvPr id="10" name="Shape 8"/>
          <p:cNvSpPr/>
          <p:nvPr/>
        </p:nvSpPr>
        <p:spPr>
          <a:xfrm>
            <a:off x="621792" y="2194560"/>
            <a:ext cx="2240280" cy="566928"/>
          </a:xfrm>
          <a:prstGeom prst="roundRect">
            <a:avLst>
              <a:gd name="adj" fmla="val 8065"/>
            </a:avLst>
          </a:prstGeom>
          <a:solidFill>
            <a:srgbClr val="C7E3F9"/>
          </a:solidFill>
          <a:ln w="12700">
            <a:solidFill>
              <a:srgbClr val="77BFEE"/>
            </a:solidFill>
            <a:prstDash val="solid"/>
          </a:ln>
        </p:spPr>
      </p:sp>
      <p:sp>
        <p:nvSpPr>
          <p:cNvPr id="11" name="Text 9"/>
          <p:cNvSpPr txBox="1"/>
          <p:nvPr/>
        </p:nvSpPr>
        <p:spPr>
          <a:xfrm>
            <a:off x="621792" y="2194560"/>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Repreciar</a:t>
            </a:r>
            <a:endParaRPr lang="en-US" sz="1100" dirty="0"/>
          </a:p>
        </p:txBody>
      </p:sp>
      <p:sp>
        <p:nvSpPr>
          <p:cNvPr id="12" name="Text 10"/>
          <p:cNvSpPr txBox="1"/>
          <p:nvPr/>
        </p:nvSpPr>
        <p:spPr>
          <a:xfrm>
            <a:off x="3044952" y="2221992"/>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tramo pequeño y el autónomo</a:t>
            </a:r>
            <a:endParaRPr lang="en-US" sz="1050" dirty="0"/>
          </a:p>
        </p:txBody>
      </p:sp>
      <p:sp>
        <p:nvSpPr>
          <p:cNvPr id="13" name="Text 11"/>
          <p:cNvSpPr txBox="1"/>
          <p:nvPr/>
        </p:nvSpPr>
        <p:spPr>
          <a:xfrm>
            <a:off x="6245352" y="2221992"/>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sin gradiente de precio por tamaño (−4 pb frente a +143 de Italia), y el gradiente acompaña al ROE (ρ = +0,82). El autónomo ya paga 115 pb más: la disposición a pagar del micro existe y no se está cobrando en sociedades.</a:t>
            </a:r>
            <a:endParaRPr lang="en-US" sz="850" dirty="0"/>
          </a:p>
        </p:txBody>
      </p:sp>
      <p:sp>
        <p:nvSpPr>
          <p:cNvPr id="14" name="Shape 12"/>
          <p:cNvSpPr/>
          <p:nvPr/>
        </p:nvSpPr>
        <p:spPr>
          <a:xfrm>
            <a:off x="621792" y="2852928"/>
            <a:ext cx="2240280" cy="566928"/>
          </a:xfrm>
          <a:prstGeom prst="roundRect">
            <a:avLst>
              <a:gd name="adj" fmla="val 8065"/>
            </a:avLst>
          </a:prstGeom>
          <a:solidFill>
            <a:srgbClr val="C7E3F9"/>
          </a:solidFill>
          <a:ln w="12700">
            <a:solidFill>
              <a:srgbClr val="77BFEE"/>
            </a:solidFill>
            <a:prstDash val="solid"/>
          </a:ln>
        </p:spPr>
      </p:sp>
      <p:sp>
        <p:nvSpPr>
          <p:cNvPr id="15" name="Text 13"/>
          <p:cNvSpPr txBox="1"/>
          <p:nvPr/>
        </p:nvSpPr>
        <p:spPr>
          <a:xfrm>
            <a:off x="621792" y="2852928"/>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No pasar de</a:t>
            </a:r>
            <a:endParaRPr lang="en-US" sz="1100" dirty="0"/>
          </a:p>
        </p:txBody>
      </p:sp>
      <p:sp>
        <p:nvSpPr>
          <p:cNvPr id="16" name="Text 14"/>
          <p:cNvSpPr txBox="1"/>
          <p:nvPr/>
        </p:nvSpPr>
        <p:spPr>
          <a:xfrm>
            <a:off x="3044952" y="2880360"/>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Los 2,1 puntos de colchón de la pyme pequeña</a:t>
            </a:r>
            <a:endParaRPr lang="en-US" sz="1050" dirty="0"/>
          </a:p>
        </p:txBody>
      </p:sp>
      <p:sp>
        <p:nvSpPr>
          <p:cNvPr id="17" name="Text 15"/>
          <p:cNvSpPr txBox="1"/>
          <p:nvPr/>
        </p:nvSpPr>
        <p:spPr>
          <a:xfrm>
            <a:off x="6245352" y="2880360"/>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límite duro que marca la Central de Balances: rentabilidad del activo 5,4 % menos coste de la deuda 3,3 %. Subir precio por encima no encuentra demanda, encuentra sustitución por crédito de proveedores, que ya usa el 16 % de las pymes.</a:t>
            </a:r>
            <a:endParaRPr lang="en-US" sz="850" dirty="0"/>
          </a:p>
        </p:txBody>
      </p:sp>
      <p:sp>
        <p:nvSpPr>
          <p:cNvPr id="18" name="Shape 16"/>
          <p:cNvSpPr/>
          <p:nvPr/>
        </p:nvSpPr>
        <p:spPr>
          <a:xfrm>
            <a:off x="621792" y="3511296"/>
            <a:ext cx="2240280" cy="566928"/>
          </a:xfrm>
          <a:prstGeom prst="roundRect">
            <a:avLst>
              <a:gd name="adj" fmla="val 8065"/>
            </a:avLst>
          </a:prstGeom>
          <a:solidFill>
            <a:srgbClr val="E5E5E5"/>
          </a:solidFill>
          <a:ln w="12700">
            <a:solidFill>
              <a:srgbClr val="CACACA"/>
            </a:solidFill>
            <a:prstDash val="solid"/>
          </a:ln>
        </p:spPr>
      </p:sp>
      <p:sp>
        <p:nvSpPr>
          <p:cNvPr id="19" name="Text 17"/>
          <p:cNvSpPr txBox="1"/>
          <p:nvPr/>
        </p:nvSpPr>
        <p:spPr>
          <a:xfrm>
            <a:off x="621792" y="3511296"/>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Priorizar</a:t>
            </a:r>
            <a:endParaRPr lang="en-US" sz="1100" dirty="0"/>
          </a:p>
        </p:txBody>
      </p:sp>
      <p:sp>
        <p:nvSpPr>
          <p:cNvPr id="20" name="Text 18"/>
          <p:cNvSpPr txBox="1"/>
          <p:nvPr/>
        </p:nvSpPr>
        <p:spPr>
          <a:xfrm>
            <a:off x="3044952" y="3538728"/>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Densidad de RWA sobre eficiencia</a:t>
            </a:r>
            <a:endParaRPr lang="en-US" sz="1050" dirty="0"/>
          </a:p>
        </p:txBody>
      </p:sp>
      <p:sp>
        <p:nvSpPr>
          <p:cNvPr id="21" name="Text 19"/>
          <p:cNvSpPr txBox="1"/>
          <p:nvPr/>
        </p:nvSpPr>
        <p:spPr>
          <a:xfrm>
            <a:off x="6245352" y="3538728"/>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Sabadell gana 4,9 puntos de ROE a BBVA con un resultado antes de impuestos MENOR, solo por capital (37,3 % frente a 71,0 %). Garantía real, aval SGR e ICO mueven más el ROE que un plan de eficiencia.</a:t>
            </a:r>
            <a:endParaRPr lang="en-US" sz="850" dirty="0"/>
          </a:p>
        </p:txBody>
      </p:sp>
      <p:sp>
        <p:nvSpPr>
          <p:cNvPr id="22" name="Shape 20"/>
          <p:cNvSpPr/>
          <p:nvPr/>
        </p:nvSpPr>
        <p:spPr>
          <a:xfrm>
            <a:off x="621792" y="4169664"/>
            <a:ext cx="2240280" cy="566928"/>
          </a:xfrm>
          <a:prstGeom prst="roundRect">
            <a:avLst>
              <a:gd name="adj" fmla="val 8065"/>
            </a:avLst>
          </a:prstGeom>
          <a:solidFill>
            <a:srgbClr val="E5E5E5"/>
          </a:solidFill>
          <a:ln w="12700">
            <a:solidFill>
              <a:srgbClr val="CACACA"/>
            </a:solidFill>
            <a:prstDash val="solid"/>
          </a:ln>
        </p:spPr>
      </p:sp>
      <p:sp>
        <p:nvSpPr>
          <p:cNvPr id="23" name="Text 21"/>
          <p:cNvSpPr txBox="1"/>
          <p:nvPr/>
        </p:nvSpPr>
        <p:spPr>
          <a:xfrm>
            <a:off x="621792" y="4169664"/>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Medir</a:t>
            </a:r>
            <a:endParaRPr lang="en-US" sz="1100" dirty="0"/>
          </a:p>
        </p:txBody>
      </p:sp>
      <p:sp>
        <p:nvSpPr>
          <p:cNvPr id="24" name="Text 22"/>
          <p:cNvSpPr txBox="1"/>
          <p:nvPr/>
        </p:nvSpPr>
        <p:spPr>
          <a:xfrm>
            <a:off x="3044952" y="4197096"/>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La cobertura, no solo la mora</a:t>
            </a:r>
            <a:endParaRPr lang="en-US" sz="1050" dirty="0"/>
          </a:p>
        </p:txBody>
      </p:sp>
      <p:sp>
        <p:nvSpPr>
          <p:cNvPr id="25" name="Text 23"/>
          <p:cNvSpPr txBox="1"/>
          <p:nvPr/>
        </p:nvSpPr>
        <p:spPr>
          <a:xfrm>
            <a:off x="6245352" y="4197096"/>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Santander lleva cuatro trimestres bajando cobertura de PYME (43,2 % a 36,5 %) con la peor mora. Es el indicador que antes avisa, y el único de riesgo que el ejercicio de transparencia da por banco y por trimestre.</a:t>
            </a:r>
            <a:endParaRPr lang="en-US" sz="850" dirty="0"/>
          </a:p>
        </p:txBody>
      </p:sp>
      <p:sp>
        <p:nvSpPr>
          <p:cNvPr id="26" name="Shape 24"/>
          <p:cNvSpPr/>
          <p:nvPr/>
        </p:nvSpPr>
        <p:spPr>
          <a:xfrm>
            <a:off x="621792" y="4828032"/>
            <a:ext cx="2240280" cy="566928"/>
          </a:xfrm>
          <a:prstGeom prst="roundRect">
            <a:avLst>
              <a:gd name="adj" fmla="val 8065"/>
            </a:avLst>
          </a:prstGeom>
          <a:solidFill>
            <a:srgbClr val="E5E5E5"/>
          </a:solidFill>
          <a:ln w="12700">
            <a:solidFill>
              <a:srgbClr val="CACACA"/>
            </a:solidFill>
            <a:prstDash val="solid"/>
          </a:ln>
        </p:spPr>
      </p:sp>
      <p:sp>
        <p:nvSpPr>
          <p:cNvPr id="27" name="Text 25"/>
          <p:cNvSpPr txBox="1"/>
          <p:nvPr/>
        </p:nvSpPr>
        <p:spPr>
          <a:xfrm>
            <a:off x="621792" y="482803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Cerrar antes de decidir</a:t>
            </a:r>
            <a:endParaRPr lang="en-US" sz="1100" dirty="0"/>
          </a:p>
        </p:txBody>
      </p:sp>
      <p:sp>
        <p:nvSpPr>
          <p:cNvPr id="28" name="Text 26"/>
          <p:cNvSpPr txBox="1"/>
          <p:nvPr/>
        </p:nvSpPr>
        <p:spPr>
          <a:xfrm>
            <a:off x="3044952" y="485546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precio de PYME por banco</a:t>
            </a:r>
            <a:endParaRPr lang="en-US" sz="1050" dirty="0"/>
          </a:p>
        </p:txBody>
      </p:sp>
      <p:sp>
        <p:nvSpPr>
          <p:cNvPr id="29" name="Text 27"/>
          <p:cNvSpPr txBox="1"/>
          <p:nvPr/>
        </p:nvSpPr>
        <p:spPr>
          <a:xfrm>
            <a:off x="6245352" y="485546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existe en fuente pública: la publicación por entidad del Banco de España se apoya en la Circular 5/2012, limitada a personas físicas. Solo sale con dato interno o comercial. Es el único hueco que impide comparar habilidad comercial y no solo estructura.</a:t>
            </a:r>
            <a:endParaRPr lang="en-US" sz="85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tres primeras recomendaciones se apoyan en la demanda (CESGAR) y en la capacidad de pago (Central de Balances); las tres últimas, en el modelo por banco sobre el EU-wide Transparency Exercise. El modelo compara estructura de riesgo, capital y coste, no habilidad comercial: el precio y las comisiones son comunes a los cinco porque ninguno los publica por segmento.</a:t>
            </a:r>
            <a:endParaRPr lang="en-US" sz="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04</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Anexos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Datos, fuentes, supuestos y los límites de cada cifra</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A</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Datos y fuentes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De dónde sale cada número y con qué respaldo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Fuentes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Trece fuentes, 71.061 observaciones, cada fila trazable a su serie de origen</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21792" y="1591056"/>
          <a:ext cx="10945368" cy="914400"/>
        </p:xfrm>
        <a:graphic>
          <a:graphicData uri="http://schemas.openxmlformats.org/drawingml/2006/table">
            <a:tbl>
              <a:tblPr/>
              <a:tblGrid>
                <a:gridCol w="2606040"/>
                <a:gridCol w="4251960"/>
                <a:gridCol w="2560320"/>
                <a:gridCol w="1664208"/>
              </a:tblGrid>
              <a:tr h="301752">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Demanda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CESGAR, XV Informe de financiación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Capacidad de pago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Central de Balances Integrada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por tamaño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21792" y="5806440"/>
            <a:ext cx="10945368"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Mapa de fiabilidad del dato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0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7" name="Text 4"/>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8" name="Shape 5"/>
          <p:cNvSpPr/>
          <p:nvPr/>
        </p:nvSpPr>
        <p:spPr>
          <a:xfrm>
            <a:off x="621792" y="5806440"/>
            <a:ext cx="1371600" cy="256032"/>
          </a:xfrm>
          <a:prstGeom prst="roundRect">
            <a:avLst>
              <a:gd name="adj" fmla="val 42857"/>
            </a:avLst>
          </a:prstGeom>
          <a:solidFill>
            <a:srgbClr val="77BFEE"/>
          </a:solidFill>
          <a:ln w="12700">
            <a:solidFill>
              <a:srgbClr val="77BFEE"/>
            </a:solidFill>
            <a:prstDash val="solid"/>
          </a:ln>
        </p:spPr>
      </p:sp>
      <p:sp>
        <p:nvSpPr>
          <p:cNvPr id="9" name="Text 6"/>
          <p:cNvSpPr txBox="1"/>
          <p:nvPr/>
        </p:nvSpPr>
        <p:spPr>
          <a:xfrm>
            <a:off x="6217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10" name="Shape 7"/>
          <p:cNvSpPr/>
          <p:nvPr/>
        </p:nvSpPr>
        <p:spPr>
          <a:xfrm>
            <a:off x="2450592" y="5806440"/>
            <a:ext cx="1371600" cy="256032"/>
          </a:xfrm>
          <a:prstGeom prst="roundRect">
            <a:avLst>
              <a:gd name="adj" fmla="val 42857"/>
            </a:avLst>
          </a:prstGeom>
          <a:solidFill>
            <a:srgbClr val="FFAB70"/>
          </a:solidFill>
          <a:ln w="12700">
            <a:solidFill>
              <a:srgbClr val="FFAB70"/>
            </a:solidFill>
            <a:prstDash val="solid"/>
          </a:ln>
        </p:spPr>
      </p:sp>
      <p:sp>
        <p:nvSpPr>
          <p:cNvPr id="11" name="Text 8"/>
          <p:cNvSpPr txBox="1"/>
          <p:nvPr/>
        </p:nvSpPr>
        <p:spPr>
          <a:xfrm>
            <a:off x="24505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2" name="Shape 9"/>
          <p:cNvSpPr/>
          <p:nvPr/>
        </p:nvSpPr>
        <p:spPr>
          <a:xfrm>
            <a:off x="4279392" y="5806440"/>
            <a:ext cx="1371600" cy="256032"/>
          </a:xfrm>
          <a:prstGeom prst="roundRect">
            <a:avLst>
              <a:gd name="adj" fmla="val 42857"/>
            </a:avLst>
          </a:prstGeom>
          <a:solidFill>
            <a:srgbClr val="FF8AC2"/>
          </a:solidFill>
          <a:ln w="12700">
            <a:solidFill>
              <a:srgbClr val="FF8AC2"/>
            </a:solidFill>
            <a:prstDash val="solid"/>
          </a:ln>
        </p:spPr>
      </p:sp>
      <p:sp>
        <p:nvSpPr>
          <p:cNvPr id="13" name="Text 10"/>
          <p:cNvSpPr txBox="1"/>
          <p:nvPr/>
        </p:nvSpPr>
        <p:spPr>
          <a:xfrm>
            <a:off x="42793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41</a:t>
            </a:r>
            <a:endParaRPr lang="en-US" sz="800" dirty="0"/>
          </a:p>
        </p:txBody>
      </p:sp>
      <p:sp>
        <p:nvSpPr>
          <p:cNvPr id="4" name="Text 2"/>
          <p:cNvSpPr txBox="1"/>
          <p:nvPr/>
        </p:nvSpPr>
        <p:spPr>
          <a:xfrm>
            <a:off x="621792" y="502920"/>
            <a:ext cx="10945368"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5" name="Text 3"/>
          <p:cNvSpPr txBox="1"/>
          <p:nvPr/>
        </p:nvSpPr>
        <p:spPr>
          <a:xfrm>
            <a:off x="621792" y="1078992"/>
            <a:ext cx="10945368"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Cinco límites que conviene tener delante antes de usar cualquier cifra de este deck</a:t>
            </a:r>
            <a:endParaRPr lang="en-US" sz="1300" dirty="0"/>
          </a:p>
        </p:txBody>
      </p:sp>
      <p:sp>
        <p:nvSpPr>
          <p:cNvPr id="6" name="Shape 4"/>
          <p:cNvSpPr/>
          <p:nvPr/>
        </p:nvSpPr>
        <p:spPr>
          <a:xfrm>
            <a:off x="621792" y="1627632"/>
            <a:ext cx="347472" cy="347472"/>
          </a:xfrm>
          <a:prstGeom prst="ellipse">
            <a:avLst/>
          </a:prstGeom>
          <a:solidFill>
            <a:srgbClr val="F56600"/>
          </a:solidFill>
          <a:ln w="12700">
            <a:solidFill>
              <a:srgbClr val="F56600"/>
            </a:solidFill>
            <a:prstDash val="solid"/>
          </a:ln>
        </p:spPr>
      </p:sp>
      <p:sp>
        <p:nvSpPr>
          <p:cNvPr id="7" name="Text 5"/>
          <p:cNvSpPr txBox="1"/>
          <p:nvPr/>
        </p:nvSpPr>
        <p:spPr>
          <a:xfrm>
            <a:off x="621792" y="1627632"/>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1</a:t>
            </a:r>
            <a:endParaRPr lang="en-US" sz="1350" dirty="0"/>
          </a:p>
        </p:txBody>
      </p:sp>
      <p:sp>
        <p:nvSpPr>
          <p:cNvPr id="8" name="Text 6"/>
          <p:cNvSpPr txBox="1"/>
          <p:nvPr/>
        </p:nvSpPr>
        <p:spPr>
          <a:xfrm>
            <a:off x="1170432" y="1591056"/>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Rentabilidad comparable entre países</a:t>
            </a:r>
            <a:endParaRPr lang="en-US" sz="1350" dirty="0"/>
          </a:p>
        </p:txBody>
      </p:sp>
      <p:sp>
        <p:nvSpPr>
          <p:cNvPr id="9" name="Text 7"/>
          <p:cNvSpPr txBox="1"/>
          <p:nvPr/>
        </p:nvSpPr>
        <p:spPr>
          <a:xfrm>
            <a:off x="1170432" y="1874520"/>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000" dirty="0"/>
          </a:p>
        </p:txBody>
      </p:sp>
      <p:sp>
        <p:nvSpPr>
          <p:cNvPr id="10" name="Shape 8"/>
          <p:cNvSpPr/>
          <p:nvPr/>
        </p:nvSpPr>
        <p:spPr>
          <a:xfrm>
            <a:off x="621792" y="2532888"/>
            <a:ext cx="347472" cy="347472"/>
          </a:xfrm>
          <a:prstGeom prst="ellipse">
            <a:avLst/>
          </a:prstGeom>
          <a:solidFill>
            <a:srgbClr val="F56600"/>
          </a:solidFill>
          <a:ln w="12700">
            <a:solidFill>
              <a:srgbClr val="F56600"/>
            </a:solidFill>
            <a:prstDash val="solid"/>
          </a:ln>
        </p:spPr>
      </p:sp>
      <p:sp>
        <p:nvSpPr>
          <p:cNvPr id="11" name="Text 9"/>
          <p:cNvSpPr txBox="1"/>
          <p:nvPr/>
        </p:nvSpPr>
        <p:spPr>
          <a:xfrm>
            <a:off x="621792" y="2532888"/>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2</a:t>
            </a:r>
            <a:endParaRPr lang="en-US" sz="1350" dirty="0"/>
          </a:p>
        </p:txBody>
      </p:sp>
      <p:sp>
        <p:nvSpPr>
          <p:cNvPr id="12" name="Text 10"/>
          <p:cNvSpPr txBox="1"/>
          <p:nvPr/>
        </p:nvSpPr>
        <p:spPr>
          <a:xfrm>
            <a:off x="1170432" y="2496312"/>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negocio PYME de cada banco</a:t>
            </a:r>
            <a:endParaRPr lang="en-US" sz="1350" dirty="0"/>
          </a:p>
        </p:txBody>
      </p:sp>
      <p:sp>
        <p:nvSpPr>
          <p:cNvPr id="13" name="Text 11"/>
          <p:cNvSpPr txBox="1"/>
          <p:nvPr/>
        </p:nvSpPr>
        <p:spPr>
          <a:xfrm>
            <a:off x="1170432" y="2779776"/>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000" dirty="0"/>
          </a:p>
        </p:txBody>
      </p:sp>
      <p:sp>
        <p:nvSpPr>
          <p:cNvPr id="14" name="Shape 12"/>
          <p:cNvSpPr/>
          <p:nvPr/>
        </p:nvSpPr>
        <p:spPr>
          <a:xfrm>
            <a:off x="621792" y="3438144"/>
            <a:ext cx="347472" cy="347472"/>
          </a:xfrm>
          <a:prstGeom prst="ellipse">
            <a:avLst/>
          </a:prstGeom>
          <a:solidFill>
            <a:srgbClr val="F56600"/>
          </a:solidFill>
          <a:ln w="12700">
            <a:solidFill>
              <a:srgbClr val="F56600"/>
            </a:solidFill>
            <a:prstDash val="solid"/>
          </a:ln>
        </p:spPr>
      </p:sp>
      <p:sp>
        <p:nvSpPr>
          <p:cNvPr id="15" name="Text 13"/>
          <p:cNvSpPr txBox="1"/>
          <p:nvPr/>
        </p:nvSpPr>
        <p:spPr>
          <a:xfrm>
            <a:off x="621792" y="3438144"/>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3</a:t>
            </a:r>
            <a:endParaRPr lang="en-US" sz="1350" dirty="0"/>
          </a:p>
        </p:txBody>
      </p:sp>
      <p:sp>
        <p:nvSpPr>
          <p:cNvPr id="16" name="Text 14"/>
          <p:cNvSpPr txBox="1"/>
          <p:nvPr/>
        </p:nvSpPr>
        <p:spPr>
          <a:xfrm>
            <a:off x="1170432" y="3401568"/>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del factoring y del confirming</a:t>
            </a:r>
            <a:endParaRPr lang="en-US" sz="1350" dirty="0"/>
          </a:p>
        </p:txBody>
      </p:sp>
      <p:sp>
        <p:nvSpPr>
          <p:cNvPr id="17" name="Text 15"/>
          <p:cNvSpPr txBox="1"/>
          <p:nvPr/>
        </p:nvSpPr>
        <p:spPr>
          <a:xfrm>
            <a:off x="1170432" y="3685032"/>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000" dirty="0"/>
          </a:p>
        </p:txBody>
      </p:sp>
      <p:sp>
        <p:nvSpPr>
          <p:cNvPr id="18" name="Shape 16"/>
          <p:cNvSpPr/>
          <p:nvPr/>
        </p:nvSpPr>
        <p:spPr>
          <a:xfrm>
            <a:off x="621792" y="4343400"/>
            <a:ext cx="347472" cy="347472"/>
          </a:xfrm>
          <a:prstGeom prst="ellipse">
            <a:avLst/>
          </a:prstGeom>
          <a:solidFill>
            <a:srgbClr val="F56600"/>
          </a:solidFill>
          <a:ln w="12700">
            <a:solidFill>
              <a:srgbClr val="F56600"/>
            </a:solidFill>
            <a:prstDash val="solid"/>
          </a:ln>
        </p:spPr>
      </p:sp>
      <p:sp>
        <p:nvSpPr>
          <p:cNvPr id="19" name="Text 17"/>
          <p:cNvSpPr txBox="1"/>
          <p:nvPr/>
        </p:nvSpPr>
        <p:spPr>
          <a:xfrm>
            <a:off x="621792" y="4343400"/>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4</a:t>
            </a:r>
            <a:endParaRPr lang="en-US" sz="1350" dirty="0"/>
          </a:p>
        </p:txBody>
      </p:sp>
      <p:sp>
        <p:nvSpPr>
          <p:cNvPr id="20" name="Text 18"/>
          <p:cNvSpPr txBox="1"/>
          <p:nvPr/>
        </p:nvSpPr>
        <p:spPr>
          <a:xfrm>
            <a:off x="1170432" y="4306824"/>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 PYME de cada banco</a:t>
            </a:r>
            <a:endParaRPr lang="en-US" sz="1350" dirty="0"/>
          </a:p>
        </p:txBody>
      </p:sp>
      <p:sp>
        <p:nvSpPr>
          <p:cNvPr id="21" name="Text 19"/>
          <p:cNvSpPr txBox="1"/>
          <p:nvPr/>
        </p:nvSpPr>
        <p:spPr>
          <a:xfrm>
            <a:off x="1170432" y="4590288"/>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El Banco de España publica tipos y comisiones por entidad, pero su base legal es la Circular 5/2012, acotada a clientes «personas físicas». La circular que sí cubre a empresas, la 1/2010, publica solo agregado del sistema. Lo que hay por entidad no cubre empresas, y lo que cubre empresas no está por entidad.</a:t>
            </a:r>
            <a:endParaRPr lang="en-US" sz="1000" dirty="0"/>
          </a:p>
        </p:txBody>
      </p:sp>
      <p:sp>
        <p:nvSpPr>
          <p:cNvPr id="22" name="Shape 20"/>
          <p:cNvSpPr/>
          <p:nvPr/>
        </p:nvSpPr>
        <p:spPr>
          <a:xfrm>
            <a:off x="621792" y="5248656"/>
            <a:ext cx="347472" cy="347472"/>
          </a:xfrm>
          <a:prstGeom prst="ellipse">
            <a:avLst/>
          </a:prstGeom>
          <a:solidFill>
            <a:srgbClr val="F56600"/>
          </a:solidFill>
          <a:ln w="12700">
            <a:solidFill>
              <a:srgbClr val="F56600"/>
            </a:solidFill>
            <a:prstDash val="solid"/>
          </a:ln>
        </p:spPr>
      </p:sp>
      <p:sp>
        <p:nvSpPr>
          <p:cNvPr id="23" name="Text 21"/>
          <p:cNvSpPr txBox="1"/>
          <p:nvPr/>
        </p:nvSpPr>
        <p:spPr>
          <a:xfrm>
            <a:off x="621792" y="5248656"/>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5</a:t>
            </a:r>
            <a:endParaRPr lang="en-US" sz="1350" dirty="0"/>
          </a:p>
        </p:txBody>
      </p:sp>
      <p:sp>
        <p:nvSpPr>
          <p:cNvPr id="24" name="Text 22"/>
          <p:cNvSpPr txBox="1"/>
          <p:nvPr/>
        </p:nvSpPr>
        <p:spPr>
          <a:xfrm>
            <a:off x="1170432" y="5212080"/>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La hipoteca a PYME</a:t>
            </a:r>
            <a:endParaRPr lang="en-US" sz="1350" dirty="0"/>
          </a:p>
        </p:txBody>
      </p:sp>
      <p:sp>
        <p:nvSpPr>
          <p:cNvPr id="25" name="Text 23"/>
          <p:cNvSpPr txBox="1"/>
          <p:nvPr/>
        </p:nvSpPr>
        <p:spPr>
          <a:xfrm>
            <a:off x="1170432" y="5495544"/>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Supuestos del modelo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0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21792" y="1572768"/>
          <a:ext cx="10945368"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seis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7" name="Text 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B</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Información</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relevante</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Material de apoyo sobre riesgo, capital y productos sin precio público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NPL por segmento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050" dirty="0"/>
          </a:p>
        </p:txBody>
      </p:sp>
      <p:graphicFrame>
        <p:nvGraphicFramePr>
          <p:cNvPr id="6" name="Chart 0" descr=""/>
          <p:cNvGraphicFramePr/>
          <p:nvPr/>
        </p:nvGraphicFramePr>
        <p:xfrm>
          <a:off x="621792"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8" name="Text 5"/>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9" name="Text 6"/>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10" name="Text 7"/>
          <p:cNvSpPr txBox="1"/>
          <p:nvPr/>
        </p:nvSpPr>
        <p:spPr>
          <a:xfrm>
            <a:off x="621792"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11"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Spread PYME frente a gran empresa: PD y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050" dirty="0"/>
          </a:p>
        </p:txBody>
      </p:sp>
      <p:graphicFrame>
        <p:nvGraphicFramePr>
          <p:cNvPr id="6" name="Chart 0" descr=""/>
          <p:cNvGraphicFramePr/>
          <p:nvPr/>
        </p:nvGraphicFramePr>
        <p:xfrm>
          <a:off x="621792"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21792" y="3950208"/>
          <a:ext cx="10945368"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Shape 4"/>
          <p:cNvSpPr/>
          <p:nvPr/>
        </p:nvSpPr>
        <p:spPr>
          <a:xfrm>
            <a:off x="621792" y="5440680"/>
            <a:ext cx="10945368" cy="777240"/>
          </a:xfrm>
          <a:prstGeom prst="roundRect">
            <a:avLst>
              <a:gd name="adj" fmla="val 7059"/>
            </a:avLst>
          </a:prstGeom>
          <a:solidFill>
            <a:srgbClr val="FFF4C2"/>
          </a:solidFill>
          <a:ln w="12700">
            <a:solidFill>
              <a:srgbClr val="FFE066"/>
            </a:solidFill>
            <a:prstDash val="solid"/>
          </a:ln>
        </p:spPr>
      </p:sp>
      <p:sp>
        <p:nvSpPr>
          <p:cNvPr id="10" name="Text 5"/>
          <p:cNvSpPr txBox="1"/>
          <p:nvPr/>
        </p:nvSpPr>
        <p:spPr>
          <a:xfrm>
            <a:off x="822960" y="5376672"/>
            <a:ext cx="10835640" cy="585216"/>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95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950" dirty="0"/>
          </a:p>
        </p:txBody>
      </p:sp>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Mitigar el coste del riesgo: dónde está la palanca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050" dirty="0"/>
          </a:p>
        </p:txBody>
      </p:sp>
      <p:graphicFrame>
        <p:nvGraphicFramePr>
          <p:cNvPr id="6" name="Chart 0" descr=""/>
          <p:cNvGraphicFramePr/>
          <p:nvPr/>
        </p:nvGraphicFramePr>
        <p:xfrm>
          <a:off x="621792"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52360" y="1627632"/>
            <a:ext cx="4187952" cy="1874520"/>
          </a:xfrm>
          <a:prstGeom prst="roundRect">
            <a:avLst>
              <a:gd name="adj" fmla="val 2927"/>
            </a:avLst>
          </a:prstGeom>
          <a:solidFill>
            <a:srgbClr val="FFF4C2"/>
          </a:solidFill>
          <a:ln w="12700">
            <a:solidFill>
              <a:srgbClr val="FFE066"/>
            </a:solidFill>
            <a:prstDash val="solid"/>
          </a:ln>
        </p:spPr>
      </p:sp>
      <p:sp>
        <p:nvSpPr>
          <p:cNvPr id="8" name="Text 5"/>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9" name="Text 6"/>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10" name="Shape 7"/>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11" name="Text 8"/>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2" name="Text 9"/>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3" name="Text 10"/>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Hipoteca PYME: no existe estadística oficial</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050" dirty="0"/>
          </a:p>
        </p:txBody>
      </p:sp>
      <p:sp>
        <p:nvSpPr>
          <p:cNvPr id="6" name="Shape 4"/>
          <p:cNvSpPr/>
          <p:nvPr/>
        </p:nvSpPr>
        <p:spPr>
          <a:xfrm>
            <a:off x="621792" y="1645920"/>
            <a:ext cx="10945368" cy="1143000"/>
          </a:xfrm>
          <a:prstGeom prst="roundRect">
            <a:avLst>
              <a:gd name="adj" fmla="val 4800"/>
            </a:avLst>
          </a:prstGeom>
          <a:solidFill>
            <a:srgbClr val="FFCCE8"/>
          </a:solidFill>
          <a:ln w="12700">
            <a:solidFill>
              <a:srgbClr val="FF8AC2"/>
            </a:solidFill>
            <a:prstDash val="solid"/>
          </a:ln>
        </p:spPr>
      </p:sp>
      <p:sp>
        <p:nvSpPr>
          <p:cNvPr id="7" name="Text 5"/>
          <p:cNvSpPr txBox="1"/>
          <p:nvPr/>
        </p:nvSpPr>
        <p:spPr>
          <a:xfrm>
            <a:off x="850392"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8" name="Text 6"/>
          <p:cNvSpPr txBox="1"/>
          <p:nvPr/>
        </p:nvSpPr>
        <p:spPr>
          <a:xfrm>
            <a:off x="850392"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9" name="Text 7"/>
          <p:cNvSpPr txBox="1"/>
          <p:nvPr/>
        </p:nvSpPr>
        <p:spPr>
          <a:xfrm>
            <a:off x="621792"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10" name="Text 8"/>
          <p:cNvSpPr txBox="1"/>
          <p:nvPr/>
        </p:nvSpPr>
        <p:spPr>
          <a:xfrm>
            <a:off x="621792"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11" name="Chart 0" descr=""/>
          <p:cNvGraphicFramePr/>
          <p:nvPr/>
        </p:nvGraphicFramePr>
        <p:xfrm>
          <a:off x="621792"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6600"/>
        </a:solidFill>
      </p:bgPr>
    </p:bg>
    <p:spTree>
      <p:nvGrpSpPr>
        <p:cNvPr id="1" name=""/>
        <p:cNvGrpSpPr/>
        <p:nvPr/>
      </p:nvGrpSpPr>
      <p:grpSpPr>
        <a:xfrm>
          <a:off x="0" y="0"/>
          <a:ext cx="0" cy="0"/>
          <a:chOff x="0" y="0"/>
          <a:chExt cx="0" cy="0"/>
        </a:xfrm>
      </p:grpSpPr>
      <p:sp>
        <p:nvSpPr>
          <p:cNvPr id="2" name="Shape 0"/>
          <p:cNvSpPr/>
          <p:nvPr/>
        </p:nvSpPr>
        <p:spPr>
          <a:xfrm>
            <a:off x="8138160" y="1417320"/>
            <a:ext cx="1554480" cy="1554480"/>
          </a:xfrm>
          <a:prstGeom prst="rect">
            <a:avLst/>
          </a:prstGeom>
          <a:solidFill>
            <a:srgbClr val="FFD200"/>
          </a:solidFill>
          <a:ln w="12700">
            <a:solidFill>
              <a:srgbClr val="FFD200"/>
            </a:solidFill>
            <a:prstDash val="solid"/>
          </a:ln>
        </p:spPr>
      </p:sp>
      <p:sp>
        <p:nvSpPr>
          <p:cNvPr id="3" name="Shape 1"/>
          <p:cNvSpPr/>
          <p:nvPr/>
        </p:nvSpPr>
        <p:spPr>
          <a:xfrm>
            <a:off x="9372600" y="2788920"/>
            <a:ext cx="1234440" cy="1234440"/>
          </a:xfrm>
          <a:prstGeom prst="rect">
            <a:avLst/>
          </a:prstGeom>
          <a:solidFill>
            <a:srgbClr val="FFFFFF"/>
          </a:solidFill>
          <a:ln w="12700">
            <a:solidFill>
              <a:srgbClr val="FFFFFF"/>
            </a:solidFill>
            <a:prstDash val="solid"/>
          </a:ln>
        </p:spPr>
      </p:sp>
      <p:sp>
        <p:nvSpPr>
          <p:cNvPr id="4" name="Text 2"/>
          <p:cNvSpPr txBox="1"/>
          <p:nvPr/>
        </p:nvSpPr>
        <p:spPr>
          <a:xfrm>
            <a:off x="1005840" y="2606040"/>
            <a:ext cx="6400800" cy="1554480"/>
          </a:xfrm>
          <a:prstGeom prst="rect">
            <a:avLst/>
          </a:prstGeom>
          <a:noFill/>
          <a:ln/>
        </p:spPr>
        <p:txBody>
          <a:bodyPr wrap="square" lIns="0" tIns="0" rIns="0" bIns="0" rtlCol="0" anchor="ctr"/>
          <a:lstStyle/>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Juntos hacemos crecer</a:t>
            </a:r>
            <a:endParaRPr lang="en-US" sz="3100" dirty="0"/>
          </a:p>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lo que importa</a:t>
            </a:r>
            <a:endParaRPr lang="en-US" sz="3100" dirty="0"/>
          </a:p>
        </p:txBody>
      </p:sp>
      <p:sp>
        <p:nvSpPr>
          <p:cNvPr id="5" name="Text 3"/>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F56600"/>
          </a:solidFill>
          <a:ln w="12700">
            <a:solidFill>
              <a:srgbClr val="F56600"/>
            </a:solidFill>
            <a:prstDash val="solid"/>
          </a:ln>
        </p:spPr>
      </p:sp>
      <p:sp>
        <p:nvSpPr>
          <p:cNvPr id="3" name="Shape 1"/>
          <p:cNvSpPr/>
          <p:nvPr/>
        </p:nvSpPr>
        <p:spPr>
          <a:xfrm>
            <a:off x="7589520" y="1554480"/>
            <a:ext cx="3977640" cy="3749040"/>
          </a:xfrm>
          <a:prstGeom prst="rect">
            <a:avLst/>
          </a:prstGeom>
          <a:solidFill>
            <a:srgbClr val="F56600"/>
          </a:solidFill>
          <a:ln w="12700">
            <a:solidFill>
              <a:srgbClr val="F56600"/>
            </a:solidFill>
            <a:prstDash val="solid"/>
          </a:ln>
        </p:spPr>
      </p:sp>
      <p:sp>
        <p:nvSpPr>
          <p:cNvPr id="4" name="Shape 2"/>
          <p:cNvSpPr/>
          <p:nvPr/>
        </p:nvSpPr>
        <p:spPr>
          <a:xfrm>
            <a:off x="9777222" y="1929384"/>
            <a:ext cx="1193292" cy="1124712"/>
          </a:xfrm>
          <a:prstGeom prst="rect">
            <a:avLst/>
          </a:prstGeom>
          <a:solidFill>
            <a:srgbClr val="FFD200"/>
          </a:solidFill>
          <a:ln w="12700">
            <a:solidFill>
              <a:srgbClr val="FFD200"/>
            </a:solidFill>
            <a:prstDash val="solid"/>
          </a:ln>
        </p:spPr>
      </p:sp>
      <p:sp>
        <p:nvSpPr>
          <p:cNvPr id="5" name="Shape 3"/>
          <p:cNvSpPr/>
          <p:nvPr/>
        </p:nvSpPr>
        <p:spPr>
          <a:xfrm>
            <a:off x="8066837" y="3728923"/>
            <a:ext cx="1034186" cy="1124712"/>
          </a:xfrm>
          <a:prstGeom prst="rect">
            <a:avLst/>
          </a:prstGeom>
          <a:solidFill>
            <a:srgbClr val="FFFFFF"/>
          </a:solidFill>
          <a:ln w="12700">
            <a:solidFill>
              <a:srgbClr val="FFFFFF"/>
            </a:solidFill>
            <a:prstDash val="solid"/>
          </a:ln>
        </p:spPr>
      </p:sp>
      <p:sp>
        <p:nvSpPr>
          <p:cNvPr id="6" name="Shape 4"/>
          <p:cNvSpPr/>
          <p:nvPr/>
        </p:nvSpPr>
        <p:spPr>
          <a:xfrm>
            <a:off x="10055657" y="3616452"/>
            <a:ext cx="875081" cy="824789"/>
          </a:xfrm>
          <a:prstGeom prst="rect">
            <a:avLst/>
          </a:prstGeom>
          <a:solidFill>
            <a:srgbClr val="FFAB70"/>
          </a:solidFill>
          <a:ln w="12700">
            <a:solidFill>
              <a:srgbClr val="FFAB70"/>
            </a:solidFill>
            <a:prstDash val="solid"/>
          </a:ln>
        </p:spPr>
      </p:sp>
      <p:sp>
        <p:nvSpPr>
          <p:cNvPr id="7" name="Text 5"/>
          <p:cNvSpPr txBox="1"/>
          <p:nvPr/>
        </p:nvSpPr>
        <p:spPr>
          <a:xfrm>
            <a:off x="1005840" y="2697480"/>
            <a:ext cx="5486400" cy="640080"/>
          </a:xfrm>
          <a:prstGeom prst="rect">
            <a:avLst/>
          </a:prstGeom>
          <a:noFill/>
          <a:ln/>
        </p:spPr>
        <p:txBody>
          <a:bodyPr wrap="square" lIns="0" tIns="0" rIns="0" bIns="0" rtlCol="0" anchor="ctr"/>
          <a:lstStyle/>
          <a:p>
            <a:pPr indent="0" marL="0">
              <a:buNone/>
            </a:pPr>
            <a:r>
              <a:rPr lang="en-US" sz="3800" b="1" dirty="0">
                <a:solidFill>
                  <a:srgbClr val="2B2B2B"/>
                </a:solidFill>
                <a:latin typeface="Verdana" pitchFamily="34" charset="0"/>
                <a:ea typeface="Verdana" pitchFamily="34" charset="-122"/>
                <a:cs typeface="Verdana" pitchFamily="34" charset="-120"/>
              </a:rPr>
              <a:t>bankinter</a:t>
            </a:r>
            <a:pPr indent="0" marL="0">
              <a:buNone/>
            </a:pPr>
            <a:r>
              <a:rPr lang="en-US" sz="3800" b="1" dirty="0">
                <a:solidFill>
                  <a:srgbClr val="F56600"/>
                </a:solidFill>
                <a:latin typeface="Verdana" pitchFamily="34" charset="0"/>
                <a:ea typeface="Verdana" pitchFamily="34" charset="-122"/>
                <a:cs typeface="Verdana" pitchFamily="34" charset="-120"/>
              </a:rPr>
              <a:t>.</a:t>
            </a:r>
            <a:endParaRPr lang="en-US" sz="3800" dirty="0"/>
          </a:p>
        </p:txBody>
      </p:sp>
      <p:sp>
        <p:nvSpPr>
          <p:cNvPr id="8" name="Text 6"/>
          <p:cNvSpPr txBox="1"/>
          <p:nvPr/>
        </p:nvSpPr>
        <p:spPr>
          <a:xfrm>
            <a:off x="1005840" y="3383280"/>
            <a:ext cx="5486400" cy="640080"/>
          </a:xfrm>
          <a:prstGeom prst="rect">
            <a:avLst/>
          </a:prstGeom>
          <a:noFill/>
          <a:ln/>
        </p:spPr>
        <p:txBody>
          <a:bodyPr wrap="square" lIns="0" tIns="0" rIns="0" bIns="0" rtlCol="0" anchor="ctr"/>
          <a:lstStyle/>
          <a:p>
            <a:pPr indent="0" marL="0">
              <a:buNone/>
            </a:pPr>
            <a:r>
              <a:rPr lang="en-US" sz="3100" b="1" dirty="0">
                <a:solidFill>
                  <a:srgbClr val="F56600"/>
                </a:solidFill>
                <a:latin typeface="Verdana" pitchFamily="34" charset="0"/>
                <a:ea typeface="Verdana" pitchFamily="34" charset="-122"/>
                <a:cs typeface="Verdana" pitchFamily="34" charset="-120"/>
              </a:rPr>
              <a:t>Gracias</a:t>
            </a:r>
            <a:endParaRPr lang="en-US" sz="3100" dirty="0"/>
          </a:p>
        </p:txBody>
      </p:sp>
      <p:sp>
        <p:nvSpPr>
          <p:cNvPr id="9" name="Shape 7"/>
          <p:cNvSpPr/>
          <p:nvPr/>
        </p:nvSpPr>
        <p:spPr>
          <a:xfrm>
            <a:off x="1005840" y="420624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4480560"/>
            <a:ext cx="5486400" cy="54864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2026-09-21T16:09:24Z</dcterms:created>
  <dcterms:modified xsi:type="dcterms:W3CDTF">2026-09-21T16:09:24Z</dcterms:modified>
</cp:coreProperties>
</file>