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0.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6.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7.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8.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22.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25.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2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38885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europeo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Siete países · Precio, riesgo, capital y rentabilidad del préstamo PYME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de Préstamos a Pymes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7" name="Text 4"/>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Préstamo frente a circulante: 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100" dirty="0"/>
          </a:p>
        </p:txBody>
      </p:sp>
      <p:graphicFrame>
        <p:nvGraphicFramePr>
          <p:cNvPr id="4" name="Chart 0" descr=""/>
          <p:cNvGraphicFramePr/>
          <p:nvPr/>
        </p:nvGraphicFramePr>
        <p:xfrm>
          <a:off x="548640"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3"/>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9" name="Text 5"/>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0" name="Shape 6"/>
          <p:cNvSpPr/>
          <p:nvPr/>
        </p:nvSpPr>
        <p:spPr>
          <a:xfrm>
            <a:off x="8065008" y="5248656"/>
            <a:ext cx="3575304" cy="804672"/>
          </a:xfrm>
          <a:prstGeom prst="roundRect">
            <a:avLst>
              <a:gd name="adj" fmla="val 5682"/>
            </a:avLst>
          </a:prstGeom>
          <a:solidFill>
            <a:srgbClr val="FFD6BA"/>
          </a:solidFill>
          <a:ln w="12700">
            <a:solidFill>
              <a:srgbClr val="FFAB70"/>
            </a:solidFill>
            <a:prstDash val="solid"/>
          </a:ln>
        </p:spPr>
      </p:sp>
      <p:sp>
        <p:nvSpPr>
          <p:cNvPr id="11" name="Text 7"/>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2" name="Text 8"/>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del circulante: se cobra por dos sitios, se consume capital por dos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100" dirty="0"/>
          </a:p>
        </p:txBody>
      </p:sp>
      <p:graphicFrame>
        <p:nvGraphicFramePr>
          <p:cNvPr id="4" name="Chart 0" descr=""/>
          <p:cNvGraphicFramePr/>
          <p:nvPr/>
        </p:nvGraphicFramePr>
        <p:xfrm>
          <a:off x="548640"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6" name="Text 3"/>
          <p:cNvSpPr txBox="1"/>
          <p:nvPr/>
        </p:nvSpPr>
        <p:spPr>
          <a:xfrm>
            <a:off x="548640"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Shape 4"/>
          <p:cNvSpPr/>
          <p:nvPr/>
        </p:nvSpPr>
        <p:spPr>
          <a:xfrm>
            <a:off x="7452360" y="1755648"/>
            <a:ext cx="4187952" cy="1024128"/>
          </a:xfrm>
          <a:prstGeom prst="roundRect">
            <a:avLst>
              <a:gd name="adj" fmla="val 4464"/>
            </a:avLst>
          </a:prstGeom>
          <a:solidFill>
            <a:srgbClr val="E5E5E5"/>
          </a:solidFill>
          <a:ln w="12700">
            <a:solidFill>
              <a:srgbClr val="CACACA"/>
            </a:solidFill>
            <a:prstDash val="solid"/>
          </a:ln>
        </p:spPr>
      </p:sp>
      <p:sp>
        <p:nvSpPr>
          <p:cNvPr id="9" name="Text 5"/>
          <p:cNvSpPr txBox="1"/>
          <p:nvPr/>
        </p:nvSpPr>
        <p:spPr>
          <a:xfrm>
            <a:off x="7598664" y="1828800"/>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0" name="Text 6"/>
          <p:cNvSpPr txBox="1"/>
          <p:nvPr/>
        </p:nvSpPr>
        <p:spPr>
          <a:xfrm>
            <a:off x="7598664" y="2066544"/>
            <a:ext cx="3895344"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1" name="Shape 7"/>
          <p:cNvSpPr/>
          <p:nvPr/>
        </p:nvSpPr>
        <p:spPr>
          <a:xfrm>
            <a:off x="7452360" y="2871216"/>
            <a:ext cx="4187952" cy="1188720"/>
          </a:xfrm>
          <a:prstGeom prst="roundRect">
            <a:avLst>
              <a:gd name="adj" fmla="val 3846"/>
            </a:avLst>
          </a:prstGeom>
          <a:solidFill>
            <a:srgbClr val="FFCCE8"/>
          </a:solidFill>
          <a:ln w="12700">
            <a:solidFill>
              <a:srgbClr val="FF8AC2"/>
            </a:solidFill>
            <a:prstDash val="solid"/>
          </a:ln>
        </p:spPr>
      </p:sp>
      <p:sp>
        <p:nvSpPr>
          <p:cNvPr id="12" name="Text 8"/>
          <p:cNvSpPr txBox="1"/>
          <p:nvPr/>
        </p:nvSpPr>
        <p:spPr>
          <a:xfrm>
            <a:off x="7598664" y="294436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3" name="Text 9"/>
          <p:cNvSpPr txBox="1"/>
          <p:nvPr/>
        </p:nvSpPr>
        <p:spPr>
          <a:xfrm>
            <a:off x="7598664" y="3182112"/>
            <a:ext cx="3895344"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4" name="Shape 10"/>
          <p:cNvSpPr/>
          <p:nvPr/>
        </p:nvSpPr>
        <p:spPr>
          <a:xfrm>
            <a:off x="7452360" y="4151376"/>
            <a:ext cx="4187952" cy="1133856"/>
          </a:xfrm>
          <a:prstGeom prst="roundRect">
            <a:avLst>
              <a:gd name="adj" fmla="val 4032"/>
            </a:avLst>
          </a:prstGeom>
          <a:solidFill>
            <a:srgbClr val="FFD6BA"/>
          </a:solidFill>
          <a:ln w="12700">
            <a:solidFill>
              <a:srgbClr val="FFAB70"/>
            </a:solidFill>
            <a:prstDash val="solid"/>
          </a:ln>
        </p:spPr>
      </p:sp>
      <p:sp>
        <p:nvSpPr>
          <p:cNvPr id="15" name="Text 11"/>
          <p:cNvSpPr txBox="1"/>
          <p:nvPr/>
        </p:nvSpPr>
        <p:spPr>
          <a:xfrm>
            <a:off x="7598664" y="422452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6" name="Text 12"/>
          <p:cNvSpPr txBox="1"/>
          <p:nvPr/>
        </p:nvSpPr>
        <p:spPr>
          <a:xfrm>
            <a:off x="7598664" y="4462272"/>
            <a:ext cx="3895344"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7" name="Shape 13"/>
          <p:cNvSpPr/>
          <p:nvPr/>
        </p:nvSpPr>
        <p:spPr>
          <a:xfrm>
            <a:off x="7452360" y="5376672"/>
            <a:ext cx="4187952" cy="676656"/>
          </a:xfrm>
          <a:prstGeom prst="roundRect">
            <a:avLst>
              <a:gd name="adj" fmla="val 6757"/>
            </a:avLst>
          </a:prstGeom>
          <a:solidFill>
            <a:srgbClr val="E5E5E5"/>
          </a:solidFill>
          <a:ln w="12700">
            <a:solidFill>
              <a:srgbClr val="CACACA"/>
            </a:solidFill>
            <a:prstDash val="solid"/>
          </a:ln>
        </p:spPr>
      </p:sp>
      <p:sp>
        <p:nvSpPr>
          <p:cNvPr id="18" name="Text 14"/>
          <p:cNvSpPr txBox="1"/>
          <p:nvPr/>
        </p:nvSpPr>
        <p:spPr>
          <a:xfrm>
            <a:off x="7598664" y="5431536"/>
            <a:ext cx="3895344"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19" name="Text 15"/>
          <p:cNvSpPr txBox="1"/>
          <p:nvPr/>
        </p:nvSpPr>
        <p:spPr>
          <a:xfrm>
            <a:off x="7598664" y="5632704"/>
            <a:ext cx="3895344"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0" name="Text 1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España: mercado, productos y competidores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demanda, lo que puede pagar, los productos y los cinco grandes bancos</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Qué pide la pyme española y qué le duele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100" dirty="0"/>
          </a:p>
        </p:txBody>
      </p:sp>
      <p:graphicFrame>
        <p:nvGraphicFramePr>
          <p:cNvPr id="4" name="Chart 0" descr=""/>
          <p:cNvGraphicFramePr/>
          <p:nvPr/>
        </p:nvGraphicFramePr>
        <p:xfrm>
          <a:off x="548640"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6" name="Text 3"/>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7"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48640" y="4114800"/>
            <a:ext cx="2697480" cy="932688"/>
          </a:xfrm>
          <a:prstGeom prst="roundRect">
            <a:avLst>
              <a:gd name="adj" fmla="val 4902"/>
            </a:avLst>
          </a:prstGeom>
          <a:solidFill>
            <a:srgbClr val="E5E5E5"/>
          </a:solidFill>
          <a:ln w="12700">
            <a:solidFill>
              <a:srgbClr val="CACACA"/>
            </a:solidFill>
            <a:prstDash val="solid"/>
          </a:ln>
        </p:spPr>
      </p:sp>
      <p:sp>
        <p:nvSpPr>
          <p:cNvPr id="9" name="Text 5"/>
          <p:cNvSpPr txBox="1"/>
          <p:nvPr/>
        </p:nvSpPr>
        <p:spPr>
          <a:xfrm>
            <a:off x="67665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0" name="Text 6"/>
          <p:cNvSpPr txBox="1"/>
          <p:nvPr/>
        </p:nvSpPr>
        <p:spPr>
          <a:xfrm>
            <a:off x="67665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1" name="Text 7"/>
          <p:cNvSpPr txBox="1"/>
          <p:nvPr/>
        </p:nvSpPr>
        <p:spPr>
          <a:xfrm>
            <a:off x="67665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2" name="Shape 8"/>
          <p:cNvSpPr/>
          <p:nvPr/>
        </p:nvSpPr>
        <p:spPr>
          <a:xfrm>
            <a:off x="3392424" y="4114800"/>
            <a:ext cx="2697480" cy="932688"/>
          </a:xfrm>
          <a:prstGeom prst="roundRect">
            <a:avLst>
              <a:gd name="adj" fmla="val 4902"/>
            </a:avLst>
          </a:prstGeom>
          <a:solidFill>
            <a:srgbClr val="E5E5E5"/>
          </a:solidFill>
          <a:ln w="12700">
            <a:solidFill>
              <a:srgbClr val="CACACA"/>
            </a:solidFill>
            <a:prstDash val="solid"/>
          </a:ln>
        </p:spPr>
      </p:sp>
      <p:sp>
        <p:nvSpPr>
          <p:cNvPr id="13" name="Text 9"/>
          <p:cNvSpPr txBox="1"/>
          <p:nvPr/>
        </p:nvSpPr>
        <p:spPr>
          <a:xfrm>
            <a:off x="352044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4" name="Text 10"/>
          <p:cNvSpPr txBox="1"/>
          <p:nvPr/>
        </p:nvSpPr>
        <p:spPr>
          <a:xfrm>
            <a:off x="352044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5" name="Text 11"/>
          <p:cNvSpPr txBox="1"/>
          <p:nvPr/>
        </p:nvSpPr>
        <p:spPr>
          <a:xfrm>
            <a:off x="352044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6" name="Shape 12"/>
          <p:cNvSpPr/>
          <p:nvPr/>
        </p:nvSpPr>
        <p:spPr>
          <a:xfrm>
            <a:off x="6236208" y="4114800"/>
            <a:ext cx="2697480" cy="932688"/>
          </a:xfrm>
          <a:prstGeom prst="roundRect">
            <a:avLst>
              <a:gd name="adj" fmla="val 4902"/>
            </a:avLst>
          </a:prstGeom>
          <a:solidFill>
            <a:srgbClr val="E5E5E5"/>
          </a:solidFill>
          <a:ln w="12700">
            <a:solidFill>
              <a:srgbClr val="CACACA"/>
            </a:solidFill>
            <a:prstDash val="solid"/>
          </a:ln>
        </p:spPr>
      </p:sp>
      <p:sp>
        <p:nvSpPr>
          <p:cNvPr id="17" name="Text 13"/>
          <p:cNvSpPr txBox="1"/>
          <p:nvPr/>
        </p:nvSpPr>
        <p:spPr>
          <a:xfrm>
            <a:off x="6364224"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18" name="Text 14"/>
          <p:cNvSpPr txBox="1"/>
          <p:nvPr/>
        </p:nvSpPr>
        <p:spPr>
          <a:xfrm>
            <a:off x="6364224"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19" name="Text 15"/>
          <p:cNvSpPr txBox="1"/>
          <p:nvPr/>
        </p:nvSpPr>
        <p:spPr>
          <a:xfrm>
            <a:off x="6364224"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0" name="Shape 16"/>
          <p:cNvSpPr/>
          <p:nvPr/>
        </p:nvSpPr>
        <p:spPr>
          <a:xfrm>
            <a:off x="9079992" y="4114800"/>
            <a:ext cx="2697480" cy="932688"/>
          </a:xfrm>
          <a:prstGeom prst="roundRect">
            <a:avLst>
              <a:gd name="adj" fmla="val 4902"/>
            </a:avLst>
          </a:prstGeom>
          <a:solidFill>
            <a:srgbClr val="E5E5E5"/>
          </a:solidFill>
          <a:ln w="12700">
            <a:solidFill>
              <a:srgbClr val="CACACA"/>
            </a:solidFill>
            <a:prstDash val="solid"/>
          </a:ln>
        </p:spPr>
      </p:sp>
      <p:sp>
        <p:nvSpPr>
          <p:cNvPr id="21" name="Text 17"/>
          <p:cNvSpPr txBox="1"/>
          <p:nvPr/>
        </p:nvSpPr>
        <p:spPr>
          <a:xfrm>
            <a:off x="92080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2" name="Text 18"/>
          <p:cNvSpPr txBox="1"/>
          <p:nvPr/>
        </p:nvSpPr>
        <p:spPr>
          <a:xfrm>
            <a:off x="92080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3" name="Text 19"/>
          <p:cNvSpPr txBox="1"/>
          <p:nvPr/>
        </p:nvSpPr>
        <p:spPr>
          <a:xfrm>
            <a:off x="92080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4" name="Shape 20"/>
          <p:cNvSpPr/>
          <p:nvPr/>
        </p:nvSpPr>
        <p:spPr>
          <a:xfrm>
            <a:off x="548640" y="5175504"/>
            <a:ext cx="11091672" cy="877824"/>
          </a:xfrm>
          <a:prstGeom prst="roundRect">
            <a:avLst>
              <a:gd name="adj" fmla="val 5208"/>
            </a:avLst>
          </a:prstGeom>
          <a:solidFill>
            <a:srgbClr val="FFD6BA"/>
          </a:solidFill>
          <a:ln w="12700">
            <a:solidFill>
              <a:srgbClr val="FFAB70"/>
            </a:solidFill>
            <a:prstDash val="solid"/>
          </a:ln>
        </p:spPr>
      </p:sp>
      <p:sp>
        <p:nvSpPr>
          <p:cNvPr id="25" name="Text 21"/>
          <p:cNvSpPr txBox="1"/>
          <p:nvPr/>
        </p:nvSpPr>
        <p:spPr>
          <a:xfrm>
            <a:off x="694944"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6" name="Text 22"/>
          <p:cNvSpPr txBox="1"/>
          <p:nvPr/>
        </p:nvSpPr>
        <p:spPr>
          <a:xfrm>
            <a:off x="694944"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Entre las que sí ven obstáculos, el primero es el precio (21,6 %), muy por delante de la falta de comprensión del negocio por la entidad (10,5 %). El crédito se concede: el problema no es el acceso, es a cuánto.</a:t>
            </a:r>
            <a:endParaRPr lang="en-US" sz="900" dirty="0"/>
          </a:p>
        </p:txBody>
      </p:sp>
      <p:sp>
        <p:nvSpPr>
          <p:cNvPr id="27" name="Text 23"/>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Cuánto puede pagar una pyme: el techo del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100" dirty="0"/>
          </a:p>
        </p:txBody>
      </p:sp>
      <p:graphicFrame>
        <p:nvGraphicFramePr>
          <p:cNvPr id="4" name="Chart 0" descr=""/>
          <p:cNvGraphicFramePr/>
          <p:nvPr/>
        </p:nvGraphicFramePr>
        <p:xfrm>
          <a:off x="548640"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2"/>
          <p:cNvSpPr/>
          <p:nvPr/>
        </p:nvSpPr>
        <p:spPr>
          <a:xfrm>
            <a:off x="7086600" y="1810512"/>
            <a:ext cx="4553712" cy="1444752"/>
          </a:xfrm>
          <a:prstGeom prst="roundRect">
            <a:avLst>
              <a:gd name="adj" fmla="val 3165"/>
            </a:avLst>
          </a:prstGeom>
          <a:solidFill>
            <a:srgbClr val="FFD6BA"/>
          </a:solidFill>
          <a:ln w="12700">
            <a:solidFill>
              <a:srgbClr val="FFAB70"/>
            </a:solidFill>
            <a:prstDash val="solid"/>
          </a:ln>
        </p:spPr>
      </p:sp>
      <p:sp>
        <p:nvSpPr>
          <p:cNvPr id="7" name="Text 3"/>
          <p:cNvSpPr txBox="1"/>
          <p:nvPr/>
        </p:nvSpPr>
        <p:spPr>
          <a:xfrm>
            <a:off x="7232904" y="1883664"/>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8" name="Text 4"/>
          <p:cNvSpPr txBox="1"/>
          <p:nvPr/>
        </p:nvSpPr>
        <p:spPr>
          <a:xfrm>
            <a:off x="7232904" y="2121408"/>
            <a:ext cx="4261104"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9" name="Shape 5"/>
          <p:cNvSpPr/>
          <p:nvPr/>
        </p:nvSpPr>
        <p:spPr>
          <a:xfrm>
            <a:off x="7086600" y="3346704"/>
            <a:ext cx="4553712" cy="1298448"/>
          </a:xfrm>
          <a:prstGeom prst="roundRect">
            <a:avLst>
              <a:gd name="adj" fmla="val 3521"/>
            </a:avLst>
          </a:prstGeom>
          <a:solidFill>
            <a:srgbClr val="C7E3F9"/>
          </a:solidFill>
          <a:ln w="12700">
            <a:solidFill>
              <a:srgbClr val="77BFEE"/>
            </a:solidFill>
            <a:prstDash val="solid"/>
          </a:ln>
        </p:spPr>
      </p:sp>
      <p:sp>
        <p:nvSpPr>
          <p:cNvPr id="10" name="Text 6"/>
          <p:cNvSpPr txBox="1"/>
          <p:nvPr/>
        </p:nvSpPr>
        <p:spPr>
          <a:xfrm>
            <a:off x="7232904" y="3419856"/>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1" name="Text 7"/>
          <p:cNvSpPr txBox="1"/>
          <p:nvPr/>
        </p:nvSpPr>
        <p:spPr>
          <a:xfrm>
            <a:off x="7232904" y="3657600"/>
            <a:ext cx="4261104"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2" name="Shape 8"/>
          <p:cNvSpPr/>
          <p:nvPr/>
        </p:nvSpPr>
        <p:spPr>
          <a:xfrm>
            <a:off x="7086600" y="4736592"/>
            <a:ext cx="4553712" cy="1316736"/>
          </a:xfrm>
          <a:prstGeom prst="roundRect">
            <a:avLst>
              <a:gd name="adj" fmla="val 3472"/>
            </a:avLst>
          </a:prstGeom>
          <a:solidFill>
            <a:srgbClr val="E5E5E5"/>
          </a:solidFill>
          <a:ln w="12700">
            <a:solidFill>
              <a:srgbClr val="CACACA"/>
            </a:solidFill>
            <a:prstDash val="solid"/>
          </a:ln>
        </p:spPr>
      </p:sp>
      <p:sp>
        <p:nvSpPr>
          <p:cNvPr id="13" name="Text 9"/>
          <p:cNvSpPr txBox="1"/>
          <p:nvPr/>
        </p:nvSpPr>
        <p:spPr>
          <a:xfrm>
            <a:off x="7232904" y="4809744"/>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4" name="Text 10"/>
          <p:cNvSpPr txBox="1"/>
          <p:nvPr/>
        </p:nvSpPr>
        <p:spPr>
          <a:xfrm>
            <a:off x="7232904" y="5047488"/>
            <a:ext cx="4261104"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5"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autónomo paga 115 pb más que la sociedad pequeña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100" dirty="0"/>
          </a:p>
        </p:txBody>
      </p:sp>
      <p:graphicFrame>
        <p:nvGraphicFramePr>
          <p:cNvPr id="4" name="Chart 0" descr=""/>
          <p:cNvGraphicFramePr/>
          <p:nvPr/>
        </p:nvGraphicFramePr>
        <p:xfrm>
          <a:off x="548640"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6" name="Shape 3"/>
          <p:cNvSpPr/>
          <p:nvPr/>
        </p:nvSpPr>
        <p:spPr>
          <a:xfrm>
            <a:off x="548640" y="5084064"/>
            <a:ext cx="6675120" cy="969264"/>
          </a:xfrm>
          <a:prstGeom prst="roundRect">
            <a:avLst>
              <a:gd name="adj" fmla="val 4717"/>
            </a:avLst>
          </a:prstGeom>
          <a:solidFill>
            <a:srgbClr val="FFD6BA"/>
          </a:solidFill>
          <a:ln w="12700">
            <a:solidFill>
              <a:srgbClr val="FFAB70"/>
            </a:solidFill>
            <a:prstDash val="solid"/>
          </a:ln>
        </p:spPr>
      </p:sp>
      <p:sp>
        <p:nvSpPr>
          <p:cNvPr id="7" name="Text 4"/>
          <p:cNvSpPr txBox="1"/>
          <p:nvPr/>
        </p:nvSpPr>
        <p:spPr>
          <a:xfrm>
            <a:off x="694944"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8" name="Text 5"/>
          <p:cNvSpPr txBox="1"/>
          <p:nvPr/>
        </p:nvSpPr>
        <p:spPr>
          <a:xfrm>
            <a:off x="694944"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9" name="Shape 6"/>
          <p:cNvSpPr/>
          <p:nvPr/>
        </p:nvSpPr>
        <p:spPr>
          <a:xfrm>
            <a:off x="7406640" y="1755648"/>
            <a:ext cx="4233672" cy="1335024"/>
          </a:xfrm>
          <a:prstGeom prst="roundRect">
            <a:avLst>
              <a:gd name="adj" fmla="val 3425"/>
            </a:avLst>
          </a:prstGeom>
          <a:solidFill>
            <a:srgbClr val="C7E3F9"/>
          </a:solidFill>
          <a:ln w="12700">
            <a:solidFill>
              <a:srgbClr val="77BFEE"/>
            </a:solidFill>
            <a:prstDash val="solid"/>
          </a:ln>
        </p:spPr>
      </p:sp>
      <p:sp>
        <p:nvSpPr>
          <p:cNvPr id="10" name="Text 7"/>
          <p:cNvSpPr txBox="1"/>
          <p:nvPr/>
        </p:nvSpPr>
        <p:spPr>
          <a:xfrm>
            <a:off x="7552944" y="1828800"/>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1" name="Text 8"/>
          <p:cNvSpPr txBox="1"/>
          <p:nvPr/>
        </p:nvSpPr>
        <p:spPr>
          <a:xfrm>
            <a:off x="7552944" y="2066544"/>
            <a:ext cx="3941064"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2" name="Shape 9"/>
          <p:cNvSpPr/>
          <p:nvPr/>
        </p:nvSpPr>
        <p:spPr>
          <a:xfrm>
            <a:off x="7406640" y="3182112"/>
            <a:ext cx="4233672" cy="1188720"/>
          </a:xfrm>
          <a:prstGeom prst="roundRect">
            <a:avLst>
              <a:gd name="adj" fmla="val 3846"/>
            </a:avLst>
          </a:prstGeom>
          <a:solidFill>
            <a:srgbClr val="E5E5E5"/>
          </a:solidFill>
          <a:ln w="12700">
            <a:solidFill>
              <a:srgbClr val="CACACA"/>
            </a:solidFill>
            <a:prstDash val="solid"/>
          </a:ln>
        </p:spPr>
      </p:sp>
      <p:sp>
        <p:nvSpPr>
          <p:cNvPr id="13" name="Text 10"/>
          <p:cNvSpPr txBox="1"/>
          <p:nvPr/>
        </p:nvSpPr>
        <p:spPr>
          <a:xfrm>
            <a:off x="7552944" y="3255264"/>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4" name="Text 11"/>
          <p:cNvSpPr txBox="1"/>
          <p:nvPr/>
        </p:nvSpPr>
        <p:spPr>
          <a:xfrm>
            <a:off x="7552944" y="3493008"/>
            <a:ext cx="3941064"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5" name="Shape 12"/>
          <p:cNvSpPr/>
          <p:nvPr/>
        </p:nvSpPr>
        <p:spPr>
          <a:xfrm>
            <a:off x="7406640" y="4462272"/>
            <a:ext cx="4233672" cy="1591056"/>
          </a:xfrm>
          <a:prstGeom prst="roundRect">
            <a:avLst>
              <a:gd name="adj" fmla="val 2874"/>
            </a:avLst>
          </a:prstGeom>
          <a:solidFill>
            <a:srgbClr val="FFCCE8"/>
          </a:solidFill>
          <a:ln w="12700">
            <a:solidFill>
              <a:srgbClr val="FF8AC2"/>
            </a:solidFill>
            <a:prstDash val="solid"/>
          </a:ln>
        </p:spPr>
      </p:sp>
      <p:sp>
        <p:nvSpPr>
          <p:cNvPr id="16" name="Text 13"/>
          <p:cNvSpPr txBox="1"/>
          <p:nvPr/>
        </p:nvSpPr>
        <p:spPr>
          <a:xfrm>
            <a:off x="7552944" y="4535424"/>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7" name="Text 14"/>
          <p:cNvSpPr txBox="1"/>
          <p:nvPr/>
        </p:nvSpPr>
        <p:spPr>
          <a:xfrm>
            <a:off x="7552944" y="4773168"/>
            <a:ext cx="3941064"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18" name="Text 1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circulante en España: el producto más pedido y el peor medido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100" dirty="0"/>
          </a:p>
        </p:txBody>
      </p:sp>
      <p:sp>
        <p:nvSpPr>
          <p:cNvPr id="4" name="Shape 2"/>
          <p:cNvSpPr/>
          <p:nvPr/>
        </p:nvSpPr>
        <p:spPr>
          <a:xfrm>
            <a:off x="548640" y="1737360"/>
            <a:ext cx="2697480" cy="987552"/>
          </a:xfrm>
          <a:prstGeom prst="roundRect">
            <a:avLst>
              <a:gd name="adj" fmla="val 4630"/>
            </a:avLst>
          </a:prstGeom>
          <a:solidFill>
            <a:srgbClr val="E5E5E5"/>
          </a:solidFill>
          <a:ln w="12700">
            <a:solidFill>
              <a:srgbClr val="CACACA"/>
            </a:solidFill>
            <a:prstDash val="solid"/>
          </a:ln>
        </p:spPr>
      </p:sp>
      <p:sp>
        <p:nvSpPr>
          <p:cNvPr id="5" name="Text 3"/>
          <p:cNvSpPr txBox="1"/>
          <p:nvPr/>
        </p:nvSpPr>
        <p:spPr>
          <a:xfrm>
            <a:off x="67665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6" name="Text 4"/>
          <p:cNvSpPr txBox="1"/>
          <p:nvPr/>
        </p:nvSpPr>
        <p:spPr>
          <a:xfrm>
            <a:off x="67665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7" name="Text 5"/>
          <p:cNvSpPr txBox="1"/>
          <p:nvPr/>
        </p:nvSpPr>
        <p:spPr>
          <a:xfrm>
            <a:off x="67665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8" name="Shape 6"/>
          <p:cNvSpPr/>
          <p:nvPr/>
        </p:nvSpPr>
        <p:spPr>
          <a:xfrm>
            <a:off x="3392424" y="1737360"/>
            <a:ext cx="2697480" cy="987552"/>
          </a:xfrm>
          <a:prstGeom prst="roundRect">
            <a:avLst>
              <a:gd name="adj" fmla="val 4630"/>
            </a:avLst>
          </a:prstGeom>
          <a:solidFill>
            <a:srgbClr val="E5E5E5"/>
          </a:solidFill>
          <a:ln w="12700">
            <a:solidFill>
              <a:srgbClr val="CACACA"/>
            </a:solidFill>
            <a:prstDash val="solid"/>
          </a:ln>
        </p:spPr>
      </p:sp>
      <p:sp>
        <p:nvSpPr>
          <p:cNvPr id="9" name="Text 7"/>
          <p:cNvSpPr txBox="1"/>
          <p:nvPr/>
        </p:nvSpPr>
        <p:spPr>
          <a:xfrm>
            <a:off x="352044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0" name="Text 8"/>
          <p:cNvSpPr txBox="1"/>
          <p:nvPr/>
        </p:nvSpPr>
        <p:spPr>
          <a:xfrm>
            <a:off x="352044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1" name="Text 9"/>
          <p:cNvSpPr txBox="1"/>
          <p:nvPr/>
        </p:nvSpPr>
        <p:spPr>
          <a:xfrm>
            <a:off x="352044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2" name="Shape 10"/>
          <p:cNvSpPr/>
          <p:nvPr/>
        </p:nvSpPr>
        <p:spPr>
          <a:xfrm>
            <a:off x="6236208" y="1737360"/>
            <a:ext cx="2697480" cy="987552"/>
          </a:xfrm>
          <a:prstGeom prst="roundRect">
            <a:avLst>
              <a:gd name="adj" fmla="val 4630"/>
            </a:avLst>
          </a:prstGeom>
          <a:solidFill>
            <a:srgbClr val="E5E5E5"/>
          </a:solidFill>
          <a:ln w="12700">
            <a:solidFill>
              <a:srgbClr val="CACACA"/>
            </a:solidFill>
            <a:prstDash val="solid"/>
          </a:ln>
        </p:spPr>
      </p:sp>
      <p:sp>
        <p:nvSpPr>
          <p:cNvPr id="13" name="Text 11"/>
          <p:cNvSpPr txBox="1"/>
          <p:nvPr/>
        </p:nvSpPr>
        <p:spPr>
          <a:xfrm>
            <a:off x="6364224"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4" name="Text 12"/>
          <p:cNvSpPr txBox="1"/>
          <p:nvPr/>
        </p:nvSpPr>
        <p:spPr>
          <a:xfrm>
            <a:off x="6364224"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5" name="Text 13"/>
          <p:cNvSpPr txBox="1"/>
          <p:nvPr/>
        </p:nvSpPr>
        <p:spPr>
          <a:xfrm>
            <a:off x="6364224"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6" name="Shape 14"/>
          <p:cNvSpPr/>
          <p:nvPr/>
        </p:nvSpPr>
        <p:spPr>
          <a:xfrm>
            <a:off x="9079992" y="1737360"/>
            <a:ext cx="2697480" cy="987552"/>
          </a:xfrm>
          <a:prstGeom prst="roundRect">
            <a:avLst>
              <a:gd name="adj" fmla="val 4630"/>
            </a:avLst>
          </a:prstGeom>
          <a:solidFill>
            <a:srgbClr val="E5E5E5"/>
          </a:solidFill>
          <a:ln w="12700">
            <a:solidFill>
              <a:srgbClr val="CACACA"/>
            </a:solidFill>
            <a:prstDash val="solid"/>
          </a:ln>
        </p:spPr>
      </p:sp>
      <p:sp>
        <p:nvSpPr>
          <p:cNvPr id="17" name="Text 15"/>
          <p:cNvSpPr txBox="1"/>
          <p:nvPr/>
        </p:nvSpPr>
        <p:spPr>
          <a:xfrm>
            <a:off x="92080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18" name="Text 16"/>
          <p:cNvSpPr txBox="1"/>
          <p:nvPr/>
        </p:nvSpPr>
        <p:spPr>
          <a:xfrm>
            <a:off x="92080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19" name="Text 17"/>
          <p:cNvSpPr txBox="1"/>
          <p:nvPr/>
        </p:nvSpPr>
        <p:spPr>
          <a:xfrm>
            <a:off x="92080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0" name="Chart 0" descr=""/>
          <p:cNvGraphicFramePr/>
          <p:nvPr/>
        </p:nvGraphicFramePr>
        <p:xfrm>
          <a:off x="548640"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2" name="Shape 19"/>
          <p:cNvSpPr/>
          <p:nvPr/>
        </p:nvSpPr>
        <p:spPr>
          <a:xfrm>
            <a:off x="7360920" y="2926080"/>
            <a:ext cx="4279392" cy="1481328"/>
          </a:xfrm>
          <a:prstGeom prst="roundRect">
            <a:avLst>
              <a:gd name="adj" fmla="val 3086"/>
            </a:avLst>
          </a:prstGeom>
          <a:solidFill>
            <a:srgbClr val="FFD6BA"/>
          </a:solidFill>
          <a:ln w="12700">
            <a:solidFill>
              <a:srgbClr val="FFAB70"/>
            </a:solidFill>
            <a:prstDash val="solid"/>
          </a:ln>
        </p:spPr>
      </p:sp>
      <p:sp>
        <p:nvSpPr>
          <p:cNvPr id="23" name="Text 20"/>
          <p:cNvSpPr txBox="1"/>
          <p:nvPr/>
        </p:nvSpPr>
        <p:spPr>
          <a:xfrm>
            <a:off x="7507224" y="2999232"/>
            <a:ext cx="398678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4" name="Text 21"/>
          <p:cNvSpPr txBox="1"/>
          <p:nvPr/>
        </p:nvSpPr>
        <p:spPr>
          <a:xfrm>
            <a:off x="7507224" y="3236976"/>
            <a:ext cx="3986784"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5" name="Shape 22"/>
          <p:cNvSpPr/>
          <p:nvPr/>
        </p:nvSpPr>
        <p:spPr>
          <a:xfrm>
            <a:off x="7360920" y="4517136"/>
            <a:ext cx="4279392" cy="1536192"/>
          </a:xfrm>
          <a:prstGeom prst="roundRect">
            <a:avLst>
              <a:gd name="adj" fmla="val 2976"/>
            </a:avLst>
          </a:prstGeom>
          <a:solidFill>
            <a:srgbClr val="C7E3F9"/>
          </a:solidFill>
          <a:ln w="12700">
            <a:solidFill>
              <a:srgbClr val="77BFEE"/>
            </a:solidFill>
            <a:prstDash val="solid"/>
          </a:ln>
        </p:spPr>
      </p:sp>
      <p:sp>
        <p:nvSpPr>
          <p:cNvPr id="26" name="Text 23"/>
          <p:cNvSpPr txBox="1"/>
          <p:nvPr/>
        </p:nvSpPr>
        <p:spPr>
          <a:xfrm>
            <a:off x="7507224" y="4590288"/>
            <a:ext cx="398678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7" name="Text 24"/>
          <p:cNvSpPr txBox="1"/>
          <p:nvPr/>
        </p:nvSpPr>
        <p:spPr>
          <a:xfrm>
            <a:off x="7507224" y="4828032"/>
            <a:ext cx="3986784"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28" name="Text 2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España es un caso aparte en Europa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100" dirty="0"/>
          </a:p>
        </p:txBody>
      </p:sp>
      <p:graphicFrame>
        <p:nvGraphicFramePr>
          <p:cNvPr id="4" name="Chart 0" descr=""/>
          <p:cNvGraphicFramePr/>
          <p:nvPr/>
        </p:nvGraphicFramePr>
        <p:xfrm>
          <a:off x="548640"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6" name="Shape 3"/>
          <p:cNvSpPr/>
          <p:nvPr/>
        </p:nvSpPr>
        <p:spPr>
          <a:xfrm>
            <a:off x="7296912" y="1810512"/>
            <a:ext cx="4343400" cy="1572768"/>
          </a:xfrm>
          <a:prstGeom prst="roundRect">
            <a:avLst>
              <a:gd name="adj" fmla="val 2907"/>
            </a:avLst>
          </a:prstGeom>
          <a:solidFill>
            <a:srgbClr val="FFCCE8"/>
          </a:solidFill>
          <a:ln w="12700">
            <a:solidFill>
              <a:srgbClr val="FF8AC2"/>
            </a:solidFill>
            <a:prstDash val="solid"/>
          </a:ln>
        </p:spPr>
      </p:sp>
      <p:sp>
        <p:nvSpPr>
          <p:cNvPr id="7" name="Text 4"/>
          <p:cNvSpPr txBox="1"/>
          <p:nvPr/>
        </p:nvSpPr>
        <p:spPr>
          <a:xfrm>
            <a:off x="7443216" y="1883664"/>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8" name="Text 5"/>
          <p:cNvSpPr txBox="1"/>
          <p:nvPr/>
        </p:nvSpPr>
        <p:spPr>
          <a:xfrm>
            <a:off x="7443216" y="2121408"/>
            <a:ext cx="4050792"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9" name="Shape 6"/>
          <p:cNvSpPr/>
          <p:nvPr/>
        </p:nvSpPr>
        <p:spPr>
          <a:xfrm>
            <a:off x="7296912" y="3493008"/>
            <a:ext cx="4343400" cy="1335024"/>
          </a:xfrm>
          <a:prstGeom prst="roundRect">
            <a:avLst>
              <a:gd name="adj" fmla="val 3425"/>
            </a:avLst>
          </a:prstGeom>
          <a:solidFill>
            <a:srgbClr val="E5E5E5"/>
          </a:solidFill>
          <a:ln w="12700">
            <a:solidFill>
              <a:srgbClr val="CACACA"/>
            </a:solidFill>
            <a:prstDash val="solid"/>
          </a:ln>
        </p:spPr>
      </p:sp>
      <p:sp>
        <p:nvSpPr>
          <p:cNvPr id="10" name="Text 7"/>
          <p:cNvSpPr txBox="1"/>
          <p:nvPr/>
        </p:nvSpPr>
        <p:spPr>
          <a:xfrm>
            <a:off x="7443216" y="356616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1" name="Text 8"/>
          <p:cNvSpPr txBox="1"/>
          <p:nvPr/>
        </p:nvSpPr>
        <p:spPr>
          <a:xfrm>
            <a:off x="7443216" y="3803904"/>
            <a:ext cx="4050792"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2" name="Shape 9"/>
          <p:cNvSpPr/>
          <p:nvPr/>
        </p:nvSpPr>
        <p:spPr>
          <a:xfrm>
            <a:off x="548640" y="4882896"/>
            <a:ext cx="11091672" cy="1170432"/>
          </a:xfrm>
          <a:prstGeom prst="roundRect">
            <a:avLst>
              <a:gd name="adj" fmla="val 3906"/>
            </a:avLst>
          </a:prstGeom>
          <a:solidFill>
            <a:srgbClr val="FFD6BA"/>
          </a:solidFill>
          <a:ln w="12700">
            <a:solidFill>
              <a:srgbClr val="FFAB70"/>
            </a:solidFill>
            <a:prstDash val="solid"/>
          </a:ln>
        </p:spPr>
      </p:sp>
      <p:sp>
        <p:nvSpPr>
          <p:cNvPr id="13" name="Text 10"/>
          <p:cNvSpPr txBox="1"/>
          <p:nvPr/>
        </p:nvSpPr>
        <p:spPr>
          <a:xfrm>
            <a:off x="694944"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4" name="Text 11"/>
          <p:cNvSpPr txBox="1"/>
          <p:nvPr/>
        </p:nvSpPr>
        <p:spPr>
          <a:xfrm>
            <a:off x="694944"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5" name="Text 1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142.000 M€ de cartera PYME entre los cinco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100" dirty="0"/>
          </a:p>
        </p:txBody>
      </p:sp>
      <p:graphicFrame>
        <p:nvGraphicFramePr>
          <p:cNvPr id="4" name="Chart 0" descr=""/>
          <p:cNvGraphicFramePr/>
          <p:nvPr/>
        </p:nvGraphicFramePr>
        <p:xfrm>
          <a:off x="548640"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3"/>
          <p:cNvSpPr/>
          <p:nvPr/>
        </p:nvSpPr>
        <p:spPr>
          <a:xfrm>
            <a:off x="7296912" y="4224528"/>
            <a:ext cx="4343400" cy="1042416"/>
          </a:xfrm>
          <a:prstGeom prst="roundRect">
            <a:avLst>
              <a:gd name="adj" fmla="val 4386"/>
            </a:avLst>
          </a:prstGeom>
          <a:solidFill>
            <a:srgbClr val="FFD6BA"/>
          </a:solidFill>
          <a:ln w="12700">
            <a:solidFill>
              <a:srgbClr val="FFAB70"/>
            </a:solidFill>
            <a:prstDash val="solid"/>
          </a:ln>
        </p:spPr>
      </p:sp>
      <p:sp>
        <p:nvSpPr>
          <p:cNvPr id="8" name="Text 4"/>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9" name="Text 5"/>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0" name="Shape 6"/>
          <p:cNvSpPr/>
          <p:nvPr/>
        </p:nvSpPr>
        <p:spPr>
          <a:xfrm>
            <a:off x="548640" y="4956048"/>
            <a:ext cx="6492240" cy="1097280"/>
          </a:xfrm>
          <a:prstGeom prst="roundRect">
            <a:avLst>
              <a:gd name="adj" fmla="val 4167"/>
            </a:avLst>
          </a:prstGeom>
          <a:solidFill>
            <a:srgbClr val="C7E3F9"/>
          </a:solidFill>
          <a:ln w="12700">
            <a:solidFill>
              <a:srgbClr val="77BFEE"/>
            </a:solidFill>
            <a:prstDash val="solid"/>
          </a:ln>
        </p:spPr>
      </p:sp>
      <p:sp>
        <p:nvSpPr>
          <p:cNvPr id="11" name="Text 7"/>
          <p:cNvSpPr txBox="1"/>
          <p:nvPr/>
        </p:nvSpPr>
        <p:spPr>
          <a:xfrm>
            <a:off x="694944"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2" name="Text 8"/>
          <p:cNvSpPr txBox="1"/>
          <p:nvPr/>
        </p:nvSpPr>
        <p:spPr>
          <a:xfrm>
            <a:off x="694944"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Mora y cobertura de la cartera PYME española, trimestre a trimestre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100" dirty="0"/>
          </a:p>
        </p:txBody>
      </p:sp>
      <p:graphicFrame>
        <p:nvGraphicFramePr>
          <p:cNvPr id="4" name="Chart 0" descr=""/>
          <p:cNvGraphicFramePr/>
          <p:nvPr/>
        </p:nvGraphicFramePr>
        <p:xfrm>
          <a:off x="548640"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6" name="Text 3"/>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7"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48640" y="4882896"/>
            <a:ext cx="3639312" cy="1170432"/>
          </a:xfrm>
          <a:prstGeom prst="roundRect">
            <a:avLst>
              <a:gd name="adj" fmla="val 3906"/>
            </a:avLst>
          </a:prstGeom>
          <a:solidFill>
            <a:srgbClr val="C7E3F9"/>
          </a:solidFill>
          <a:ln w="12700">
            <a:solidFill>
              <a:srgbClr val="77BFEE"/>
            </a:solidFill>
            <a:prstDash val="solid"/>
          </a:ln>
        </p:spPr>
      </p:sp>
      <p:sp>
        <p:nvSpPr>
          <p:cNvPr id="9" name="Text 5"/>
          <p:cNvSpPr txBox="1"/>
          <p:nvPr/>
        </p:nvSpPr>
        <p:spPr>
          <a:xfrm>
            <a:off x="67665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0" name="Text 6"/>
          <p:cNvSpPr txBox="1"/>
          <p:nvPr/>
        </p:nvSpPr>
        <p:spPr>
          <a:xfrm>
            <a:off x="67665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1" name="Shape 7"/>
          <p:cNvSpPr/>
          <p:nvPr/>
        </p:nvSpPr>
        <p:spPr>
          <a:xfrm>
            <a:off x="4352544" y="4882896"/>
            <a:ext cx="3639312" cy="1170432"/>
          </a:xfrm>
          <a:prstGeom prst="roundRect">
            <a:avLst>
              <a:gd name="adj" fmla="val 3906"/>
            </a:avLst>
          </a:prstGeom>
          <a:solidFill>
            <a:srgbClr val="FFCCE8"/>
          </a:solidFill>
          <a:ln w="12700">
            <a:solidFill>
              <a:srgbClr val="FF8AC2"/>
            </a:solidFill>
            <a:prstDash val="solid"/>
          </a:ln>
        </p:spPr>
      </p:sp>
      <p:sp>
        <p:nvSpPr>
          <p:cNvPr id="12" name="Text 8"/>
          <p:cNvSpPr txBox="1"/>
          <p:nvPr/>
        </p:nvSpPr>
        <p:spPr>
          <a:xfrm>
            <a:off x="4480560"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3" name="Text 9"/>
          <p:cNvSpPr txBox="1"/>
          <p:nvPr/>
        </p:nvSpPr>
        <p:spPr>
          <a:xfrm>
            <a:off x="4480560"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4" name="Shape 10"/>
          <p:cNvSpPr/>
          <p:nvPr/>
        </p:nvSpPr>
        <p:spPr>
          <a:xfrm>
            <a:off x="8156448" y="4882896"/>
            <a:ext cx="3639312" cy="1170432"/>
          </a:xfrm>
          <a:prstGeom prst="roundRect">
            <a:avLst>
              <a:gd name="adj" fmla="val 3906"/>
            </a:avLst>
          </a:prstGeom>
          <a:solidFill>
            <a:srgbClr val="FFD6BA"/>
          </a:solidFill>
          <a:ln w="12700">
            <a:solidFill>
              <a:srgbClr val="FFAB70"/>
            </a:solidFill>
            <a:prstDash val="solid"/>
          </a:ln>
        </p:spPr>
      </p:sp>
      <p:sp>
        <p:nvSpPr>
          <p:cNvPr id="15" name="Text 11"/>
          <p:cNvSpPr txBox="1"/>
          <p:nvPr/>
        </p:nvSpPr>
        <p:spPr>
          <a:xfrm>
            <a:off x="8284464"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6" name="Text 12"/>
          <p:cNvSpPr txBox="1"/>
          <p:nvPr/>
        </p:nvSpPr>
        <p:spPr>
          <a:xfrm>
            <a:off x="8284464"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7" name="Text 13"/>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PYME de la banca española,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100" dirty="0"/>
          </a:p>
        </p:txBody>
      </p:sp>
      <p:graphicFrame>
        <p:nvGraphicFramePr>
          <p:cNvPr id="4" name="Chart 0" descr=""/>
          <p:cNvGraphicFramePr/>
          <p:nvPr/>
        </p:nvGraphicFramePr>
        <p:xfrm>
          <a:off x="548640"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4315968"/>
          <a:ext cx="11091672"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Text 2"/>
          <p:cNvSpPr txBox="1"/>
          <p:nvPr/>
        </p:nvSpPr>
        <p:spPr>
          <a:xfrm>
            <a:off x="548640" y="5907024"/>
            <a:ext cx="11091672" cy="274320"/>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7" name="Shape 3"/>
          <p:cNvSpPr/>
          <p:nvPr/>
        </p:nvSpPr>
        <p:spPr>
          <a:xfrm>
            <a:off x="7205472" y="1755648"/>
            <a:ext cx="4434840"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7351776" y="1828800"/>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9" name="Text 5"/>
          <p:cNvSpPr txBox="1"/>
          <p:nvPr/>
        </p:nvSpPr>
        <p:spPr>
          <a:xfrm>
            <a:off x="7351776" y="2066544"/>
            <a:ext cx="414223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0" name="Text 6"/>
          <p:cNvSpPr txBox="1"/>
          <p:nvPr/>
        </p:nvSpPr>
        <p:spPr>
          <a:xfrm>
            <a:off x="7205472" y="3017520"/>
            <a:ext cx="4434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1" name="Text 7"/>
          <p:cNvSpPr txBox="1"/>
          <p:nvPr/>
        </p:nvSpPr>
        <p:spPr>
          <a:xfrm>
            <a:off x="7205472" y="3236976"/>
            <a:ext cx="443484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434840"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3" name="Shape 8"/>
          <p:cNvSpPr/>
          <p:nvPr/>
        </p:nvSpPr>
        <p:spPr>
          <a:xfrm>
            <a:off x="7205472" y="4809744"/>
            <a:ext cx="4434840" cy="1097280"/>
          </a:xfrm>
          <a:prstGeom prst="roundRect">
            <a:avLst>
              <a:gd name="adj" fmla="val 4167"/>
            </a:avLst>
          </a:prstGeom>
          <a:solidFill>
            <a:srgbClr val="FFD6BA"/>
          </a:solidFill>
          <a:ln w="12700">
            <a:solidFill>
              <a:srgbClr val="FFAB70"/>
            </a:solidFill>
            <a:prstDash val="solid"/>
          </a:ln>
        </p:spPr>
      </p:sp>
      <p:sp>
        <p:nvSpPr>
          <p:cNvPr id="14" name="Text 9"/>
          <p:cNvSpPr txBox="1"/>
          <p:nvPr/>
        </p:nvSpPr>
        <p:spPr>
          <a:xfrm>
            <a:off x="7351776" y="4882896"/>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5" name="Text 10"/>
          <p:cNvSpPr txBox="1"/>
          <p:nvPr/>
        </p:nvSpPr>
        <p:spPr>
          <a:xfrm>
            <a:off x="7351776" y="5120640"/>
            <a:ext cx="4142232"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6"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5" name="Shape 2"/>
          <p:cNvSpPr/>
          <p:nvPr/>
        </p:nvSpPr>
        <p:spPr>
          <a:xfrm>
            <a:off x="548640" y="5760720"/>
            <a:ext cx="1371600" cy="256032"/>
          </a:xfrm>
          <a:prstGeom prst="roundRect">
            <a:avLst>
              <a:gd name="adj" fmla="val 42857"/>
            </a:avLst>
          </a:prstGeom>
          <a:solidFill>
            <a:srgbClr val="E5E5E5"/>
          </a:solidFill>
          <a:ln w="12700">
            <a:solidFill>
              <a:srgbClr val="E5E5E5"/>
            </a:solidFill>
            <a:prstDash val="solid"/>
          </a:ln>
        </p:spPr>
      </p:sp>
      <p:sp>
        <p:nvSpPr>
          <p:cNvPr id="6" name="Text 3"/>
          <p:cNvSpPr txBox="1"/>
          <p:nvPr/>
        </p:nvSpPr>
        <p:spPr>
          <a:xfrm>
            <a:off x="54864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7" name="Shape 4"/>
          <p:cNvSpPr/>
          <p:nvPr/>
        </p:nvSpPr>
        <p:spPr>
          <a:xfrm>
            <a:off x="2029968" y="5760720"/>
            <a:ext cx="1371600" cy="256032"/>
          </a:xfrm>
          <a:prstGeom prst="roundRect">
            <a:avLst>
              <a:gd name="adj" fmla="val 42857"/>
            </a:avLst>
          </a:prstGeom>
          <a:solidFill>
            <a:srgbClr val="C7E3F9"/>
          </a:solidFill>
          <a:ln w="12700">
            <a:solidFill>
              <a:srgbClr val="C7E3F9"/>
            </a:solidFill>
            <a:prstDash val="solid"/>
          </a:ln>
        </p:spPr>
      </p:sp>
      <p:sp>
        <p:nvSpPr>
          <p:cNvPr id="8" name="Text 5"/>
          <p:cNvSpPr txBox="1"/>
          <p:nvPr/>
        </p:nvSpPr>
        <p:spPr>
          <a:xfrm>
            <a:off x="202996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9" name="Shape 6"/>
          <p:cNvSpPr/>
          <p:nvPr/>
        </p:nvSpPr>
        <p:spPr>
          <a:xfrm>
            <a:off x="3511296" y="5760720"/>
            <a:ext cx="1371600" cy="256032"/>
          </a:xfrm>
          <a:prstGeom prst="roundRect">
            <a:avLst>
              <a:gd name="adj" fmla="val 42857"/>
            </a:avLst>
          </a:prstGeom>
          <a:solidFill>
            <a:srgbClr val="FFD6BA"/>
          </a:solidFill>
          <a:ln w="12700">
            <a:solidFill>
              <a:srgbClr val="FFD6BA"/>
            </a:solidFill>
            <a:prstDash val="solid"/>
          </a:ln>
        </p:spPr>
      </p:sp>
      <p:sp>
        <p:nvSpPr>
          <p:cNvPr id="10" name="Text 7"/>
          <p:cNvSpPr txBox="1"/>
          <p:nvPr/>
        </p:nvSpPr>
        <p:spPr>
          <a:xfrm>
            <a:off x="3511296"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5212080" y="5669280"/>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(0,76 %,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 Y no se compensa cobrando: entre mercados el margen neto de riesgo cae con la PD (ρ = −0,76).</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Anexos</a:t>
            </a:r>
            <a:endParaRPr lang="en-US" sz="2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Datos</a:t>
            </a:r>
            <a:endParaRPr lang="en-US" sz="2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38885 observaciones, cada fila trazable a su serie de origen</a:t>
            </a:r>
            <a:endParaRPr lang="en-US" sz="11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4" name="Shape 2"/>
          <p:cNvSpPr/>
          <p:nvPr/>
        </p:nvSpPr>
        <p:spPr>
          <a:xfrm>
            <a:off x="548640" y="1627632"/>
            <a:ext cx="347472" cy="347472"/>
          </a:xfrm>
          <a:prstGeom prst="ellipse">
            <a:avLst/>
          </a:prstGeom>
          <a:solidFill>
            <a:srgbClr val="F56600"/>
          </a:solidFill>
          <a:ln w="12700">
            <a:solidFill>
              <a:srgbClr val="F56600"/>
            </a:solidFill>
            <a:prstDash val="solid"/>
          </a:ln>
        </p:spPr>
      </p:sp>
      <p:sp>
        <p:nvSpPr>
          <p:cNvPr id="5" name="Text 3"/>
          <p:cNvSpPr txBox="1"/>
          <p:nvPr/>
        </p:nvSpPr>
        <p:spPr>
          <a:xfrm>
            <a:off x="548640"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6" name="Text 4"/>
          <p:cNvSpPr txBox="1"/>
          <p:nvPr/>
        </p:nvSpPr>
        <p:spPr>
          <a:xfrm>
            <a:off x="1097280"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7" name="Text 5"/>
          <p:cNvSpPr txBox="1"/>
          <p:nvPr/>
        </p:nvSpPr>
        <p:spPr>
          <a:xfrm>
            <a:off x="1097280"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8" name="Shape 6"/>
          <p:cNvSpPr/>
          <p:nvPr/>
        </p:nvSpPr>
        <p:spPr>
          <a:xfrm>
            <a:off x="548640" y="2532888"/>
            <a:ext cx="347472" cy="347472"/>
          </a:xfrm>
          <a:prstGeom prst="ellipse">
            <a:avLst/>
          </a:prstGeom>
          <a:solidFill>
            <a:srgbClr val="F56600"/>
          </a:solidFill>
          <a:ln w="12700">
            <a:solidFill>
              <a:srgbClr val="F56600"/>
            </a:solidFill>
            <a:prstDash val="solid"/>
          </a:ln>
        </p:spPr>
      </p:sp>
      <p:sp>
        <p:nvSpPr>
          <p:cNvPr id="9" name="Text 7"/>
          <p:cNvSpPr txBox="1"/>
          <p:nvPr/>
        </p:nvSpPr>
        <p:spPr>
          <a:xfrm>
            <a:off x="548640"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0" name="Text 8"/>
          <p:cNvSpPr txBox="1"/>
          <p:nvPr/>
        </p:nvSpPr>
        <p:spPr>
          <a:xfrm>
            <a:off x="1097280"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1" name="Text 9"/>
          <p:cNvSpPr txBox="1"/>
          <p:nvPr/>
        </p:nvSpPr>
        <p:spPr>
          <a:xfrm>
            <a:off x="1097280"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2" name="Shape 10"/>
          <p:cNvSpPr/>
          <p:nvPr/>
        </p:nvSpPr>
        <p:spPr>
          <a:xfrm>
            <a:off x="548640" y="3438144"/>
            <a:ext cx="347472" cy="347472"/>
          </a:xfrm>
          <a:prstGeom prst="ellipse">
            <a:avLst/>
          </a:prstGeom>
          <a:solidFill>
            <a:srgbClr val="F56600"/>
          </a:solidFill>
          <a:ln w="12700">
            <a:solidFill>
              <a:srgbClr val="F56600"/>
            </a:solidFill>
            <a:prstDash val="solid"/>
          </a:ln>
        </p:spPr>
      </p:sp>
      <p:sp>
        <p:nvSpPr>
          <p:cNvPr id="13" name="Text 11"/>
          <p:cNvSpPr txBox="1"/>
          <p:nvPr/>
        </p:nvSpPr>
        <p:spPr>
          <a:xfrm>
            <a:off x="548640"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4" name="Text 12"/>
          <p:cNvSpPr txBox="1"/>
          <p:nvPr/>
        </p:nvSpPr>
        <p:spPr>
          <a:xfrm>
            <a:off x="1097280"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5" name="Text 13"/>
          <p:cNvSpPr txBox="1"/>
          <p:nvPr/>
        </p:nvSpPr>
        <p:spPr>
          <a:xfrm>
            <a:off x="1097280"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6" name="Shape 14"/>
          <p:cNvSpPr/>
          <p:nvPr/>
        </p:nvSpPr>
        <p:spPr>
          <a:xfrm>
            <a:off x="548640" y="4343400"/>
            <a:ext cx="347472" cy="347472"/>
          </a:xfrm>
          <a:prstGeom prst="ellipse">
            <a:avLst/>
          </a:prstGeom>
          <a:solidFill>
            <a:srgbClr val="F56600"/>
          </a:solidFill>
          <a:ln w="12700">
            <a:solidFill>
              <a:srgbClr val="F56600"/>
            </a:solidFill>
            <a:prstDash val="solid"/>
          </a:ln>
        </p:spPr>
      </p:sp>
      <p:sp>
        <p:nvSpPr>
          <p:cNvPr id="17" name="Text 15"/>
          <p:cNvSpPr txBox="1"/>
          <p:nvPr/>
        </p:nvSpPr>
        <p:spPr>
          <a:xfrm>
            <a:off x="548640"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18" name="Text 16"/>
          <p:cNvSpPr txBox="1"/>
          <p:nvPr/>
        </p:nvSpPr>
        <p:spPr>
          <a:xfrm>
            <a:off x="1097280"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19" name="Text 17"/>
          <p:cNvSpPr txBox="1"/>
          <p:nvPr/>
        </p:nvSpPr>
        <p:spPr>
          <a:xfrm>
            <a:off x="1097280"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0" name="Shape 18"/>
          <p:cNvSpPr/>
          <p:nvPr/>
        </p:nvSpPr>
        <p:spPr>
          <a:xfrm>
            <a:off x="548640" y="5248656"/>
            <a:ext cx="347472" cy="347472"/>
          </a:xfrm>
          <a:prstGeom prst="ellipse">
            <a:avLst/>
          </a:prstGeom>
          <a:solidFill>
            <a:srgbClr val="F56600"/>
          </a:solidFill>
          <a:ln w="12700">
            <a:solidFill>
              <a:srgbClr val="F56600"/>
            </a:solidFill>
            <a:prstDash val="solid"/>
          </a:ln>
        </p:spPr>
      </p:sp>
      <p:sp>
        <p:nvSpPr>
          <p:cNvPr id="21" name="Text 19"/>
          <p:cNvSpPr txBox="1"/>
          <p:nvPr/>
        </p:nvSpPr>
        <p:spPr>
          <a:xfrm>
            <a:off x="548640"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2" name="Text 20"/>
          <p:cNvSpPr txBox="1"/>
          <p:nvPr/>
        </p:nvSpPr>
        <p:spPr>
          <a:xfrm>
            <a:off x="1097280"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3" name="Text 21"/>
          <p:cNvSpPr txBox="1"/>
          <p:nvPr/>
        </p:nvSpPr>
        <p:spPr>
          <a:xfrm>
            <a:off x="1097280"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Información relevante</a:t>
            </a:r>
            <a:endParaRPr lang="en-US" sz="2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2026-09-18T08:27:52Z</dcterms:created>
  <dcterms:modified xsi:type="dcterms:W3CDTF">2026-09-18T08:27:52Z</dcterms:modified>
</cp:coreProperties>
</file>