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7.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0.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2.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3.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Hasta 0,25 M€</c:v>
                </c:pt>
              </c:strCache>
            </c:strRef>
          </c:tx>
          <c:spPr>
            <a:solidFill>
              <a:srgbClr val="F56600"/>
            </a:solidFill>
            <a:effectLst/>
          </c:spPr>
          <c:invertIfNegative val="0"/>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3.42</c:v>
                </c:pt>
                <c:pt idx="1">
                  <c:v>4.56</c:v>
                </c:pt>
                <c:pt idx="2">
                  <c:v>3.99</c:v>
                </c:pt>
                <c:pt idx="3">
                  <c:v>4.65</c:v>
                </c:pt>
                <c:pt idx="4">
                  <c:v>4.36</c:v>
                </c:pt>
                <c:pt idx="5">
                  <c:v>4.57</c:v>
                </c:pt>
                <c:pt idx="6">
                  <c:v>5.64</c:v>
                </c:pt>
              </c:numCache>
            </c:numRef>
          </c:val>
        </c:ser>
        <c:ser>
          <c:idx val="1"/>
          <c:order val="1"/>
          <c:tx>
            <c:strRef>
              <c:f>Sheet1!$C$1</c:f>
              <c:strCache>
                <c:ptCount val="1"/>
                <c:pt idx="0">
                  <c:v>Más de 1 M€</c:v>
                </c:pt>
              </c:strCache>
            </c:strRef>
          </c:tx>
          <c:spPr>
            <a:solidFill>
              <a:srgbClr val="A1A1A1"/>
            </a:solidFill>
            <a:effectLst/>
          </c:spPr>
          <c:invertIfNegative val="0"/>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3.46</c:v>
                </c:pt>
                <c:pt idx="1">
                  <c:v>3.41</c:v>
                </c:pt>
                <c:pt idx="2">
                  <c:v>3.49</c:v>
                </c:pt>
                <c:pt idx="3">
                  <c:v>3.22</c:v>
                </c:pt>
                <c:pt idx="4">
                  <c:v>3.71</c:v>
                </c:pt>
                <c:pt idx="5">
                  <c:v>3.37</c:v>
                </c:pt>
                <c:pt idx="6">
                  <c:v>5.04</c:v>
                </c:pt>
              </c:numCache>
            </c:numRef>
          </c:val>
        </c:ser>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5.5"/>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TEDR (sin comisiones)</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Sheet1!$B$2:$B$4</c:f>
              <c:numCache>
                <c:formatCode>General</c:formatCode>
                <c:ptCount val="3"/>
                <c:pt idx="0">
                  <c:v>3.42</c:v>
                </c:pt>
                <c:pt idx="1">
                  <c:v>3.36</c:v>
                </c:pt>
                <c:pt idx="2">
                  <c:v>3.44</c:v>
                </c:pt>
              </c:numCache>
            </c:numRef>
          </c:val>
        </c:ser>
        <c:ser>
          <c:idx val="1"/>
          <c:order val="1"/>
          <c:tx>
            <c:strRef>
              <c:f>Sheet1!$C$1</c:f>
              <c:strCache>
                <c:ptCount val="1"/>
                <c:pt idx="0">
                  <c:v>TAE (con comisiones)</c:v>
                </c:pt>
              </c:strCache>
            </c:strRef>
          </c:tx>
          <c:spPr>
            <a:solidFill>
              <a:srgbClr val="A1A1A1"/>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Sheet1!$C$2:$C$4</c:f>
              <c:numCache>
                <c:formatCode>General</c:formatCode>
                <c:ptCount val="3"/>
                <c:pt idx="0">
                  <c:v>4.43</c:v>
                </c:pt>
                <c:pt idx="1">
                  <c:v>3.72</c:v>
                </c:pt>
                <c:pt idx="2">
                  <c:v>3.62</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5"/>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12.5</c:v>
                </c:pt>
                <c:pt idx="1">
                  <c:v>16.88</c:v>
                </c:pt>
                <c:pt idx="2">
                  <c:v>4.97</c:v>
                </c:pt>
                <c:pt idx="3">
                  <c:v>15.18</c:v>
                </c:pt>
                <c:pt idx="4">
                  <c:v>13.98</c:v>
                </c:pt>
                <c:pt idx="5">
                  <c:v>20.2</c:v>
                </c:pt>
                <c:pt idx="6">
                  <c:v>13.82</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 del banco local</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12.5</c:v>
                </c:pt>
                <c:pt idx="1">
                  <c:v>16.88</c:v>
                </c:pt>
                <c:pt idx="2">
                  <c:v>4.97</c:v>
                </c:pt>
                <c:pt idx="3">
                  <c:v>15.18</c:v>
                </c:pt>
                <c:pt idx="4">
                  <c:v>13.98</c:v>
                </c:pt>
                <c:pt idx="5">
                  <c:v>20.2</c:v>
                </c:pt>
                <c:pt idx="6">
                  <c:v>13.82</c:v>
                </c:pt>
              </c:numCache>
            </c:numRef>
          </c:val>
        </c:ser>
        <c:ser>
          <c:idx val="1"/>
          <c:order val="1"/>
          <c:tx>
            <c:strRef>
              <c:f>Sheet1!$C$1</c:f>
              <c:strCache>
                <c:ptCount val="1"/>
                <c:pt idx="0">
                  <c:v>ROE del entrante eficiente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13.66</c:v>
                </c:pt>
                <c:pt idx="1">
                  <c:v>35</c:v>
                </c:pt>
                <c:pt idx="2">
                  <c:v>21.76</c:v>
                </c:pt>
                <c:pt idx="3">
                  <c:v>21.61</c:v>
                </c:pt>
                <c:pt idx="4">
                  <c:v>16.95</c:v>
                </c:pt>
                <c:pt idx="5">
                  <c:v>37.04</c:v>
                </c:pt>
                <c:pt idx="6">
                  <c:v>26.95</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40"/>
        </c:scaling>
        <c:delete val="0"/>
        <c:axPos val="l"/>
        <c:majorGridlines>
          <c:spPr>
            <a:ln w="12700" cap="flat">
              <a:solidFill>
                <a:srgbClr val="E5E5E5"/>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Coste ponderado de los recursos</c:v>
                </c:pt>
              </c:strCache>
            </c:strRef>
          </c:tx>
          <c:spPr>
            <a:solidFill>
              <a:srgbClr val="F56600"/>
            </a:solidFill>
            <a:effectLst/>
          </c:spPr>
          <c:invertIfNegative val="0"/>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0.75</c:v>
                </c:pt>
                <c:pt idx="1">
                  <c:v>1.16</c:v>
                </c:pt>
                <c:pt idx="2">
                  <c:v>1.34</c:v>
                </c:pt>
                <c:pt idx="3">
                  <c:v>0.76</c:v>
                </c:pt>
                <c:pt idx="4">
                  <c:v>0.71</c:v>
                </c:pt>
                <c:pt idx="5">
                  <c:v>1.06</c:v>
                </c:pt>
                <c:pt idx="6">
                  <c:v>0.41</c:v>
                </c:pt>
              </c:numCache>
            </c:numRef>
          </c:val>
        </c:ser>
        <c:ser>
          <c:idx val="1"/>
          <c:order val="1"/>
          <c:tx>
            <c:strRef>
              <c:f>Sheet1!$C$1</c:f>
              <c:strCache>
                <c:ptCount val="1"/>
                <c:pt idx="0">
                  <c:v>Margen sobre la facilidad del BCE</c:v>
                </c:pt>
              </c:strCache>
            </c:strRef>
          </c:tx>
          <c:spPr>
            <a:solidFill>
              <a:srgbClr val="77BFEE"/>
            </a:solidFill>
            <a:effectLst/>
          </c:spPr>
          <c:invertIfNegative val="0"/>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1.34</c:v>
                </c:pt>
                <c:pt idx="1">
                  <c:v>0.93</c:v>
                </c:pt>
                <c:pt idx="2">
                  <c:v>0.75</c:v>
                </c:pt>
                <c:pt idx="3">
                  <c:v>1.33</c:v>
                </c:pt>
                <c:pt idx="4">
                  <c:v>1.38</c:v>
                </c:pt>
                <c:pt idx="5">
                  <c:v>1.03</c:v>
                </c:pt>
                <c:pt idx="6">
                  <c:v>1.68</c:v>
                </c:pt>
              </c:numCache>
            </c:numRef>
          </c:val>
        </c:ser>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Total cartera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2.6</c:v>
                </c:pt>
                <c:pt idx="1">
                  <c:v>1.61</c:v>
                </c:pt>
                <c:pt idx="2">
                  <c:v>2.16</c:v>
                </c:pt>
                <c:pt idx="3">
                  <c:v>1.97</c:v>
                </c:pt>
                <c:pt idx="4">
                  <c:v>1.91</c:v>
                </c:pt>
                <c:pt idx="5">
                  <c:v>1.35</c:v>
                </c:pt>
                <c:pt idx="6">
                  <c:v>1.1</c:v>
                </c:pt>
              </c:numCache>
            </c:numRef>
          </c:val>
        </c:ser>
        <c:ser>
          <c:idx val="1"/>
          <c:order val="1"/>
          <c:tx>
            <c:strRef>
              <c:f>Sheet1!$C$1</c:f>
              <c:strCache>
                <c:ptCount val="1"/>
                <c:pt idx="0">
                  <c:v>Empresas</c:v>
                </c:pt>
              </c:strCache>
            </c:strRef>
          </c:tx>
          <c:spPr>
            <a:solidFill>
              <a:srgbClr val="77BFEE"/>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2.99</c:v>
                </c:pt>
                <c:pt idx="1">
                  <c:v>3.81</c:v>
                </c:pt>
                <c:pt idx="2">
                  <c:v>3.94</c:v>
                </c:pt>
                <c:pt idx="3">
                  <c:v>3.4</c:v>
                </c:pt>
                <c:pt idx="4">
                  <c:v>3.65</c:v>
                </c:pt>
                <c:pt idx="5">
                  <c:v>2.86</c:v>
                </c:pt>
                <c:pt idx="6">
                  <c:v>2.5</c:v>
                </c:pt>
              </c:numCache>
            </c:numRef>
          </c:val>
        </c:ser>
        <c:ser>
          <c:idx val="2"/>
          <c:order val="2"/>
          <c:tx>
            <c:strRef>
              <c:f>Sheet1!$D$1</c:f>
              <c:strCache>
                <c:ptCount val="1"/>
                <c:pt idx="0">
                  <c:v>PYME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5.38</c:v>
                </c:pt>
                <c:pt idx="1">
                  <c:v>4.32</c:v>
                </c:pt>
                <c:pt idx="2">
                  <c:v>5.12</c:v>
                </c:pt>
                <c:pt idx="3">
                  <c:v>4.9</c:v>
                </c:pt>
                <c:pt idx="4">
                  <c:v>4.22</c:v>
                </c:pt>
                <c:pt idx="5">
                  <c:v>3.13</c:v>
                </c:pt>
                <c:pt idx="6">
                  <c:v>3.77</c:v>
                </c:pt>
              </c:numCache>
            </c:numRef>
          </c:val>
        </c:ser>
        <c:ser>
          <c:idx val="3"/>
          <c:order val="3"/>
          <c:tx>
            <c:strRef>
              <c:f>Sheet1!$E$1</c:f>
              <c:strCache>
                <c:ptCount val="1"/>
                <c:pt idx="0">
                  <c:v>Inmueble comercial</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Sheet1!$E$2:$E$8</c:f>
              <c:numCache>
                <c:formatCode>General</c:formatCode>
                <c:ptCount val="7"/>
                <c:pt idx="0">
                  <c:v>4.25</c:v>
                </c:pt>
                <c:pt idx="1">
                  <c:v>6.81</c:v>
                </c:pt>
                <c:pt idx="2">
                  <c:v>3.86</c:v>
                </c:pt>
                <c:pt idx="3">
                  <c:v>4.27</c:v>
                </c:pt>
                <c:pt idx="4">
                  <c:v>3.83</c:v>
                </c:pt>
                <c:pt idx="5">
                  <c:v>3.06</c:v>
                </c:pt>
                <c:pt idx="6">
                  <c:v>3.5</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PD × LGD</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0.59</c:v>
                </c:pt>
                <c:pt idx="1">
                  <c:v>0.4</c:v>
                </c:pt>
                <c:pt idx="2">
                  <c:v>0.68</c:v>
                </c:pt>
                <c:pt idx="3">
                  <c:v>0.8</c:v>
                </c:pt>
                <c:pt idx="4">
                  <c:v>0.5</c:v>
                </c:pt>
                <c:pt idx="5">
                  <c:v>0.35</c:v>
                </c:pt>
                <c:pt idx="6">
                  <c:v>0.4</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1"/>
        </c:scaling>
        <c:delete val="0"/>
        <c:axPos val="l"/>
        <c:majorGridlines>
          <c:spPr>
            <a:ln w="12700" cap="flat">
              <a:solidFill>
                <a:srgbClr val="E3E9EB"/>
              </a:solidFill>
              <a:prstDash val="solid"/>
              <a:round/>
            </a:ln>
          </c:spPr>
        </c:majorGridlines>
        <c:numFmt formatCode="0.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56600"/>
                </a:solidFill>
                <a:latin typeface="Arial"/>
              </a:defRPr>
            </a:pPr>
            <a:r>
              <a:rPr sz="1200" b="0" i="0" u="none" strike="noStrike">
                <a:solidFill>
                  <a:srgbClr val="F56600"/>
                </a:solidFill>
                <a:latin typeface="Arial"/>
              </a:rPr>
              <a:t>Probabilidad de impago (PD)</a:t>
            </a:r>
          </a:p>
        </c:rich>
      </c:tx>
      <c:layout/>
      <c:overlay val="0"/>
    </c:title>
    <c:autoTitleDeleted val="0"/>
    <c:plotArea>
      <c:layout/>
      <c:barChart>
        <c:barDir val="col"/>
        <c:grouping val="clustered"/>
        <c:varyColors val="0"/>
        <c:ser>
          <c:idx val="0"/>
          <c:order val="0"/>
          <c:tx>
            <c:strRef>
              <c:f>Sheet1!$B$1</c:f>
              <c:strCache>
                <c:ptCount val="1"/>
                <c:pt idx="0">
                  <c:v>PD PYME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1.73</c:v>
                </c:pt>
                <c:pt idx="1">
                  <c:v>1.26</c:v>
                </c:pt>
                <c:pt idx="2">
                  <c:v>2.15</c:v>
                </c:pt>
                <c:pt idx="3">
                  <c:v>2.26</c:v>
                </c:pt>
                <c:pt idx="4">
                  <c:v>1.26</c:v>
                </c:pt>
                <c:pt idx="5">
                  <c:v>1.18</c:v>
                </c:pt>
                <c:pt idx="6">
                  <c:v>1.08</c:v>
                </c:pt>
              </c:numCache>
            </c:numRef>
          </c:val>
        </c:ser>
        <c:ser>
          <c:idx val="1"/>
          <c:order val="1"/>
          <c:tx>
            <c:strRef>
              <c:f>Sheet1!$C$1</c:f>
              <c:strCache>
                <c:ptCount val="1"/>
                <c:pt idx="0">
                  <c:v>PD gran empresa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0.57</c:v>
                </c:pt>
                <c:pt idx="1">
                  <c:v>0.5</c:v>
                </c:pt>
                <c:pt idx="2">
                  <c:v>0.6</c:v>
                </c:pt>
                <c:pt idx="3">
                  <c:v>0.67</c:v>
                </c:pt>
                <c:pt idx="4">
                  <c:v>0.33</c:v>
                </c:pt>
                <c:pt idx="5">
                  <c:v>0.52</c:v>
                </c:pt>
                <c:pt idx="6">
                  <c:v>0.26</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56600"/>
                </a:solidFill>
                <a:latin typeface="Arial"/>
              </a:defRPr>
            </a:pPr>
            <a:r>
              <a:rPr sz="1200" b="0" i="0" u="none" strike="noStrike">
                <a:solidFill>
                  <a:srgbClr val="F56600"/>
                </a:solidFill>
                <a:latin typeface="Arial"/>
              </a:rPr>
              <a:t>Severidad de la pérdida (LGD)</a:t>
            </a:r>
          </a:p>
        </c:rich>
      </c:tx>
      <c:layout/>
      <c:overlay val="0"/>
    </c:title>
    <c:autoTitleDeleted val="0"/>
    <c:plotArea>
      <c:layout/>
      <c:barChart>
        <c:barDir val="col"/>
        <c:grouping val="clustered"/>
        <c:varyColors val="0"/>
        <c:ser>
          <c:idx val="0"/>
          <c:order val="0"/>
          <c:tx>
            <c:strRef>
              <c:f>Sheet1!$B$1</c:f>
              <c:strCache>
                <c:ptCount val="1"/>
                <c:pt idx="0">
                  <c:v>LGD PYME</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34.38</c:v>
                </c:pt>
                <c:pt idx="1">
                  <c:v>31.44</c:v>
                </c:pt>
                <c:pt idx="2">
                  <c:v>31.51</c:v>
                </c:pt>
                <c:pt idx="3">
                  <c:v>35.6</c:v>
                </c:pt>
                <c:pt idx="4">
                  <c:v>40</c:v>
                </c:pt>
                <c:pt idx="5">
                  <c:v>29.7</c:v>
                </c:pt>
                <c:pt idx="6">
                  <c:v>37.34</c:v>
                </c:pt>
              </c:numCache>
            </c:numRef>
          </c:val>
        </c:ser>
        <c:ser>
          <c:idx val="1"/>
          <c:order val="1"/>
          <c:tx>
            <c:strRef>
              <c:f>Sheet1!$C$1</c:f>
              <c:strCache>
                <c:ptCount val="1"/>
                <c:pt idx="0">
                  <c:v>LGD gran empresa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40</c:v>
                </c:pt>
                <c:pt idx="1">
                  <c:v>39.55</c:v>
                </c:pt>
                <c:pt idx="2">
                  <c:v>40</c:v>
                </c:pt>
                <c:pt idx="3">
                  <c:v>40</c:v>
                </c:pt>
                <c:pt idx="4">
                  <c:v>40</c:v>
                </c:pt>
                <c:pt idx="5">
                  <c:v>40</c:v>
                </c:pt>
                <c:pt idx="6">
                  <c:v>40</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4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Densidad de RWA</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59.46</c:v>
                </c:pt>
                <c:pt idx="1">
                  <c:v>35.34</c:v>
                </c:pt>
                <c:pt idx="2">
                  <c:v>43</c:v>
                </c:pt>
                <c:pt idx="3">
                  <c:v>46.35</c:v>
                </c:pt>
                <c:pt idx="4">
                  <c:v>61.33</c:v>
                </c:pt>
                <c:pt idx="5">
                  <c:v>37.2</c:v>
                </c:pt>
                <c:pt idx="6">
                  <c:v>69.97</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70"/>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Tipo circulante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3.58</c:v>
                </c:pt>
                <c:pt idx="1">
                  <c:v>4.95</c:v>
                </c:pt>
                <c:pt idx="2">
                  <c:v>3.39</c:v>
                </c:pt>
                <c:pt idx="3">
                  <c:v>4.11</c:v>
                </c:pt>
                <c:pt idx="4">
                  <c:v>4.41</c:v>
                </c:pt>
                <c:pt idx="5">
                  <c:v>2.46</c:v>
                </c:pt>
                <c:pt idx="6">
                  <c:v>4.92</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2B2B2B"/>
                </a:solidFill>
                <a:latin typeface="Arial"/>
              </a:defRPr>
            </a:pPr>
            <a:r>
              <a:rPr sz="1100" b="0" i="0" u="none" strike="noStrike">
                <a:solidFill>
                  <a:srgbClr val="2B2B2B"/>
                </a:solidFill>
                <a:latin typeface="Arial"/>
              </a:rPr>
              <a:t>Ratio de NPL de la cartera de inmueble comercial (%)</a:t>
            </a:r>
          </a:p>
        </c:rich>
      </c:tx>
      <c:layout/>
      <c:overlay val="0"/>
    </c:title>
    <c:autoTitleDeleted val="0"/>
    <c:plotArea>
      <c:layout/>
      <c:barChart>
        <c:barDir val="col"/>
        <c:grouping val="clustered"/>
        <c:varyColors val="0"/>
        <c:ser>
          <c:idx val="0"/>
          <c:order val="0"/>
          <c:tx>
            <c:strRef>
              <c:f>Sheet1!$B$1</c:f>
              <c:strCache>
                <c:ptCount val="1"/>
                <c:pt idx="0">
                  <c:v>Ratio de NPL, cartera CRE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4.25</c:v>
                </c:pt>
                <c:pt idx="1">
                  <c:v>6.81</c:v>
                </c:pt>
                <c:pt idx="2">
                  <c:v>3.86</c:v>
                </c:pt>
                <c:pt idx="3">
                  <c:v>4.27</c:v>
                </c:pt>
                <c:pt idx="4">
                  <c:v>3.83</c:v>
                </c:pt>
                <c:pt idx="5">
                  <c:v>3.06</c:v>
                </c:pt>
                <c:pt idx="6">
                  <c:v>3.5</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Penetración sobre PIB</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16.5</c:v>
                </c:pt>
                <c:pt idx="1">
                  <c:v>9.5</c:v>
                </c:pt>
                <c:pt idx="2">
                  <c:v>14.8</c:v>
                </c:pt>
                <c:pt idx="3">
                  <c:v>13.2</c:v>
                </c:pt>
                <c:pt idx="4">
                  <c:v>20.7</c:v>
                </c:pt>
                <c:pt idx="5">
                  <c:v>14</c:v>
                </c:pt>
                <c:pt idx="6">
                  <c:v>4.5</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Deck construido sobre datos oficiales del BCE, EBA, OCDE, Banco de España, Banca d'Italia, EUF y cuentas de resultados de bancos. El ROE es modelizado, no observado.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2B"/>
        </a:solidFill>
      </p:bgPr>
    </p:bg>
    <p:spTree>
      <p:nvGrpSpPr>
        <p:cNvPr id="1" name=""/>
        <p:cNvGrpSpPr/>
        <p:nvPr/>
      </p:nvGrpSpPr>
      <p:grpSpPr>
        <a:xfrm>
          <a:off x="0" y="0"/>
          <a:ext cx="0" cy="0"/>
          <a:chOff x="0" y="0"/>
          <a:chExt cx="0" cy="0"/>
        </a:xfrm>
      </p:grpSpPr>
      <p:sp>
        <p:nvSpPr>
          <p:cNvPr id="2" name="Text 0"/>
          <p:cNvSpPr txBox="1"/>
          <p:nvPr/>
        </p:nvSpPr>
        <p:spPr>
          <a:xfrm>
            <a:off x="548640" y="2286000"/>
            <a:ext cx="9601200" cy="822960"/>
          </a:xfrm>
          <a:prstGeom prst="rect">
            <a:avLst/>
          </a:prstGeom>
          <a:noFill/>
          <a:ln/>
        </p:spPr>
        <p:txBody>
          <a:bodyPr wrap="square" lIns="0" tIns="0" rIns="0" bIns="0" rtlCol="0" anchor="ctr"/>
          <a:lstStyle/>
          <a:p>
            <a:pPr indent="0" marL="0">
              <a:buNone/>
            </a:pPr>
            <a:r>
              <a:rPr lang="en-US" sz="4200" b="1" dirty="0">
                <a:solidFill>
                  <a:srgbClr val="FFFFFF"/>
                </a:solidFill>
                <a:latin typeface="Verdana" pitchFamily="34" charset="0"/>
                <a:ea typeface="Verdana" pitchFamily="34" charset="-122"/>
                <a:cs typeface="Verdana" pitchFamily="34" charset="-120"/>
              </a:rPr>
              <a:t>Rentabilidad del negocio PYME</a:t>
            </a:r>
            <a:endParaRPr lang="en-US" sz="4200" dirty="0"/>
          </a:p>
        </p:txBody>
      </p:sp>
      <p:sp>
        <p:nvSpPr>
          <p:cNvPr id="3" name="Text 1"/>
          <p:cNvSpPr txBox="1"/>
          <p:nvPr/>
        </p:nvSpPr>
        <p:spPr>
          <a:xfrm>
            <a:off x="548640" y="3154680"/>
            <a:ext cx="9601200" cy="457200"/>
          </a:xfrm>
          <a:prstGeom prst="rect">
            <a:avLst/>
          </a:prstGeom>
          <a:noFill/>
          <a:ln/>
        </p:spPr>
        <p:txBody>
          <a:bodyPr wrap="square" lIns="0" tIns="0" rIns="0" bIns="0" rtlCol="0" anchor="ctr"/>
          <a:lstStyle/>
          <a:p>
            <a:pPr indent="0" marL="0">
              <a:buNone/>
            </a:pPr>
            <a:r>
              <a:rPr lang="en-US" sz="1800" dirty="0">
                <a:solidFill>
                  <a:srgbClr val="A1A1A1"/>
                </a:solidFill>
                <a:latin typeface="Verdana" pitchFamily="34" charset="0"/>
                <a:ea typeface="Verdana" pitchFamily="34" charset="-122"/>
                <a:cs typeface="Verdana" pitchFamily="34" charset="-120"/>
              </a:rPr>
              <a:t>España · Alemania · Francia · Italia · Portugal · Países Bajos</a:t>
            </a:r>
            <a:endParaRPr lang="en-US" sz="1800" dirty="0"/>
          </a:p>
        </p:txBody>
      </p:sp>
      <p:sp>
        <p:nvSpPr>
          <p:cNvPr id="4" name="Text 2"/>
          <p:cNvSpPr txBox="1"/>
          <p:nvPr/>
        </p:nvSpPr>
        <p:spPr>
          <a:xfrm>
            <a:off x="548640" y="3794760"/>
            <a:ext cx="9601200" cy="365760"/>
          </a:xfrm>
          <a:prstGeom prst="rect">
            <a:avLst/>
          </a:prstGeom>
          <a:noFill/>
          <a:ln/>
        </p:spPr>
        <p:txBody>
          <a:bodyPr wrap="square" lIns="0" tIns="0" rIns="0" bIns="0" rtlCol="0" anchor="ctr"/>
          <a:lstStyle/>
          <a:p>
            <a:pPr indent="0" marL="0">
              <a:buNone/>
            </a:pPr>
            <a:r>
              <a:rPr lang="en-US" sz="1300" dirty="0">
                <a:solidFill>
                  <a:srgbClr val="F56600"/>
                </a:solidFill>
                <a:latin typeface="Verdana" pitchFamily="34" charset="0"/>
                <a:ea typeface="Verdana" pitchFamily="34" charset="-122"/>
                <a:cs typeface="Verdana" pitchFamily="34" charset="-120"/>
              </a:rPr>
              <a:t>Cinco productos · Datos oficiales 2026 · Modelo de ROE con supuestos declarados</a:t>
            </a:r>
            <a:endParaRPr lang="en-US" sz="1300" dirty="0"/>
          </a:p>
        </p:txBody>
      </p:sp>
      <p:sp>
        <p:nvSpPr>
          <p:cNvPr id="5" name="Text 3"/>
          <p:cNvSpPr txBox="1"/>
          <p:nvPr/>
        </p:nvSpPr>
        <p:spPr>
          <a:xfrm>
            <a:off x="548640" y="5943600"/>
            <a:ext cx="9601200" cy="320040"/>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25.370 observaciones · 9 fuentes · Septiembre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Objetivo y método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Qué se mide, con qué datos y dónde están los límites</a:t>
            </a:r>
            <a:endParaRPr lang="en-US" sz="1100" dirty="0"/>
          </a:p>
        </p:txBody>
      </p:sp>
      <p:sp>
        <p:nvSpPr>
          <p:cNvPr id="4" name="Shape 2"/>
          <p:cNvSpPr/>
          <p:nvPr/>
        </p:nvSpPr>
        <p:spPr>
          <a:xfrm>
            <a:off x="548640" y="1600200"/>
            <a:ext cx="11091672" cy="1069848"/>
          </a:xfrm>
          <a:prstGeom prst="roundRect">
            <a:avLst>
              <a:gd name="adj" fmla="val 5128"/>
            </a:avLst>
          </a:prstGeom>
          <a:solidFill>
            <a:srgbClr val="E5E5E5"/>
          </a:solidFill>
          <a:ln w="12700">
            <a:solidFill>
              <a:srgbClr val="CACACA"/>
            </a:solidFill>
            <a:prstDash val="solid"/>
          </a:ln>
        </p:spPr>
      </p:sp>
      <p:sp>
        <p:nvSpPr>
          <p:cNvPr id="5" name="Text 3"/>
          <p:cNvSpPr txBox="1"/>
          <p:nvPr/>
        </p:nvSpPr>
        <p:spPr>
          <a:xfrm>
            <a:off x="777240" y="170992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Objetivo</a:t>
            </a:r>
            <a:endParaRPr lang="en-US" sz="1400" dirty="0"/>
          </a:p>
        </p:txBody>
      </p:sp>
      <p:sp>
        <p:nvSpPr>
          <p:cNvPr id="6" name="Text 4"/>
          <p:cNvSpPr txBox="1"/>
          <p:nvPr/>
        </p:nvSpPr>
        <p:spPr>
          <a:xfrm>
            <a:off x="3200400" y="170992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Comparar la rentabilidad del negocio PYME entre seis países europeos, producto a producto, sobre datos oficiales y no sobre estimaciones de mercado.</a:t>
            </a:r>
            <a:endParaRPr lang="en-US" sz="1200" dirty="0"/>
          </a:p>
        </p:txBody>
      </p:sp>
      <p:sp>
        <p:nvSpPr>
          <p:cNvPr id="7" name="Shape 5"/>
          <p:cNvSpPr/>
          <p:nvPr/>
        </p:nvSpPr>
        <p:spPr>
          <a:xfrm>
            <a:off x="548640" y="2788920"/>
            <a:ext cx="11091672" cy="1069848"/>
          </a:xfrm>
          <a:prstGeom prst="roundRect">
            <a:avLst>
              <a:gd name="adj" fmla="val 5128"/>
            </a:avLst>
          </a:prstGeom>
          <a:solidFill>
            <a:srgbClr val="E5E5E5"/>
          </a:solidFill>
          <a:ln w="12700">
            <a:solidFill>
              <a:srgbClr val="CACACA"/>
            </a:solidFill>
            <a:prstDash val="solid"/>
          </a:ln>
        </p:spPr>
      </p:sp>
      <p:sp>
        <p:nvSpPr>
          <p:cNvPr id="8" name="Text 6"/>
          <p:cNvSpPr txBox="1"/>
          <p:nvPr/>
        </p:nvSpPr>
        <p:spPr>
          <a:xfrm>
            <a:off x="777240" y="289864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Alcance</a:t>
            </a:r>
            <a:endParaRPr lang="en-US" sz="1400" dirty="0"/>
          </a:p>
        </p:txBody>
      </p:sp>
      <p:sp>
        <p:nvSpPr>
          <p:cNvPr id="9" name="Text 7"/>
          <p:cNvSpPr txBox="1"/>
          <p:nvPr/>
        </p:nvSpPr>
        <p:spPr>
          <a:xfrm>
            <a:off x="3200400" y="289864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Hipotecas, préstamos, circulante, factoring y confirming, más el coste de los recursos. Segmentación por tramo de importe del préstamo, que es como segmenta la estadística oficial europea.</a:t>
            </a:r>
            <a:endParaRPr lang="en-US" sz="1200" dirty="0"/>
          </a:p>
        </p:txBody>
      </p:sp>
      <p:sp>
        <p:nvSpPr>
          <p:cNvPr id="10" name="Shape 8"/>
          <p:cNvSpPr/>
          <p:nvPr/>
        </p:nvSpPr>
        <p:spPr>
          <a:xfrm>
            <a:off x="548640" y="3977640"/>
            <a:ext cx="11091672" cy="1069848"/>
          </a:xfrm>
          <a:prstGeom prst="roundRect">
            <a:avLst>
              <a:gd name="adj" fmla="val 5128"/>
            </a:avLst>
          </a:prstGeom>
          <a:solidFill>
            <a:srgbClr val="E5E5E5"/>
          </a:solidFill>
          <a:ln w="12700">
            <a:solidFill>
              <a:srgbClr val="CACACA"/>
            </a:solidFill>
            <a:prstDash val="solid"/>
          </a:ln>
        </p:spPr>
      </p:sp>
      <p:sp>
        <p:nvSpPr>
          <p:cNvPr id="11" name="Text 9"/>
          <p:cNvSpPr txBox="1"/>
          <p:nvPr/>
        </p:nvSpPr>
        <p:spPr>
          <a:xfrm>
            <a:off x="777240" y="408736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Método</a:t>
            </a:r>
            <a:endParaRPr lang="en-US" sz="1400" dirty="0"/>
          </a:p>
        </p:txBody>
      </p:sp>
      <p:sp>
        <p:nvSpPr>
          <p:cNvPr id="12" name="Text 10"/>
          <p:cNvSpPr txBox="1"/>
          <p:nvPr/>
        </p:nvSpPr>
        <p:spPr>
          <a:xfrm>
            <a:off x="3200400" y="408736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Cuenta de resultados en porcentaje del saldo medio: precio más comisiones, menos coste de fondos, riesgo y gastos. El capital se asigna por densidad de RWA sobre el CET1 observado.</a:t>
            </a:r>
            <a:endParaRPr lang="en-US" sz="1200" dirty="0"/>
          </a:p>
        </p:txBody>
      </p:sp>
      <p:sp>
        <p:nvSpPr>
          <p:cNvPr id="13" name="Shape 11"/>
          <p:cNvSpPr/>
          <p:nvPr/>
        </p:nvSpPr>
        <p:spPr>
          <a:xfrm>
            <a:off x="548640" y="5166360"/>
            <a:ext cx="11091672" cy="1069848"/>
          </a:xfrm>
          <a:prstGeom prst="roundRect">
            <a:avLst>
              <a:gd name="adj" fmla="val 5128"/>
            </a:avLst>
          </a:prstGeom>
          <a:solidFill>
            <a:srgbClr val="FFD6BA"/>
          </a:solidFill>
          <a:ln w="12700">
            <a:solidFill>
              <a:srgbClr val="F56600"/>
            </a:solidFill>
            <a:prstDash val="solid"/>
          </a:ln>
        </p:spPr>
      </p:sp>
      <p:sp>
        <p:nvSpPr>
          <p:cNvPr id="14" name="Text 12"/>
          <p:cNvSpPr txBox="1"/>
          <p:nvPr/>
        </p:nvSpPr>
        <p:spPr>
          <a:xfrm>
            <a:off x="777240" y="527608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Límite principal</a:t>
            </a:r>
            <a:endParaRPr lang="en-US" sz="1400" dirty="0"/>
          </a:p>
        </p:txBody>
      </p:sp>
      <p:sp>
        <p:nvSpPr>
          <p:cNvPr id="15" name="Text 13"/>
          <p:cNvSpPr txBox="1"/>
          <p:nvPr/>
        </p:nvSpPr>
        <p:spPr>
          <a:xfrm>
            <a:off x="3200400" y="527608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Solo España e Italia publican un tipo con comisiones para empresas. Para los otros cuatro países la comisión es un supuesto, no un dato. El ROE de esos países depende de ese supuesto.</a:t>
            </a:r>
            <a:endParaRPr lang="en-US" sz="1200" dirty="0"/>
          </a:p>
        </p:txBody>
      </p:sp>
      <p:sp>
        <p:nvSpPr>
          <p:cNvPr id="16" name="Text 1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Detalle completo de fuentes, supuestos y huecos en notas.md del repositorio del proyecto.</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Mapa de fiabilidad del dato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Qué se puede afirmar y con qué respaldo, producto a producto y país a país</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3017520"/>
                <a:gridCol w="1618488"/>
                <a:gridCol w="1618488"/>
                <a:gridCol w="1618488"/>
                <a:gridCol w="1618488"/>
                <a:gridCol w="1600200"/>
              </a:tblGrid>
              <a:tr h="402336">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Producto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Precio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Volumen</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Comisiones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Capital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Préstamo PYME por tramo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Circulante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Hipoteca PYME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PROXY CRE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Factoring</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PARCIAL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Confirming</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 e IT</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Depósitos de empresa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PARCIAL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r>
            </a:tbl>
          </a:graphicData>
        </a:graphic>
      </p:graphicFrame>
      <p:sp>
        <p:nvSpPr>
          <p:cNvPr id="5" name="Text 2"/>
          <p:cNvSpPr txBox="1"/>
          <p:nvPr/>
        </p:nvSpPr>
        <p:spPr>
          <a:xfrm>
            <a:off x="548640" y="5074920"/>
            <a:ext cx="11091672" cy="54864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El mapa de huecos es en sí un resultado. Tras incorporar los parámetros IRB del EBA, el riesgo y el capital de PYME son observados en los seis países. El hueco que queda es la comisión: solo España publica un tipo con comisiones para empresas.</a:t>
            </a:r>
            <a:endParaRPr lang="en-US" sz="1200" dirty="0"/>
          </a:p>
        </p:txBody>
      </p:sp>
      <p:sp>
        <p:nvSpPr>
          <p:cNvPr id="6" name="Shape 3"/>
          <p:cNvSpPr/>
          <p:nvPr/>
        </p:nvSpPr>
        <p:spPr>
          <a:xfrm>
            <a:off x="548640" y="5806440"/>
            <a:ext cx="1371600" cy="256032"/>
          </a:xfrm>
          <a:prstGeom prst="roundRect">
            <a:avLst>
              <a:gd name="adj" fmla="val 42857"/>
            </a:avLst>
          </a:prstGeom>
          <a:solidFill>
            <a:srgbClr val="77BFEE"/>
          </a:solidFill>
          <a:ln w="12700">
            <a:solidFill>
              <a:srgbClr val="77BFEE"/>
            </a:solidFill>
            <a:prstDash val="solid"/>
          </a:ln>
        </p:spPr>
      </p:sp>
      <p:sp>
        <p:nvSpPr>
          <p:cNvPr id="7" name="Text 4"/>
          <p:cNvSpPr txBox="1"/>
          <p:nvPr/>
        </p:nvSpPr>
        <p:spPr>
          <a:xfrm>
            <a:off x="548640"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p>
        </p:txBody>
      </p:sp>
      <p:sp>
        <p:nvSpPr>
          <p:cNvPr id="8" name="Shape 5"/>
          <p:cNvSpPr/>
          <p:nvPr/>
        </p:nvSpPr>
        <p:spPr>
          <a:xfrm>
            <a:off x="2377440" y="5806440"/>
            <a:ext cx="1371600" cy="256032"/>
          </a:xfrm>
          <a:prstGeom prst="roundRect">
            <a:avLst>
              <a:gd name="adj" fmla="val 42857"/>
            </a:avLst>
          </a:prstGeom>
          <a:solidFill>
            <a:srgbClr val="FFAB70"/>
          </a:solidFill>
          <a:ln w="12700">
            <a:solidFill>
              <a:srgbClr val="FFAB70"/>
            </a:solidFill>
            <a:prstDash val="solid"/>
          </a:ln>
        </p:spPr>
      </p:sp>
      <p:sp>
        <p:nvSpPr>
          <p:cNvPr id="9" name="Text 6"/>
          <p:cNvSpPr txBox="1"/>
          <p:nvPr/>
        </p:nvSpPr>
        <p:spPr>
          <a:xfrm>
            <a:off x="2377440"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PARCIAL o SUPUESTO</a:t>
            </a:r>
            <a:endParaRPr lang="en-US" sz="850" dirty="0"/>
          </a:p>
        </p:txBody>
      </p:sp>
      <p:sp>
        <p:nvSpPr>
          <p:cNvPr id="10" name="Shape 7"/>
          <p:cNvSpPr/>
          <p:nvPr/>
        </p:nvSpPr>
        <p:spPr>
          <a:xfrm>
            <a:off x="4206240" y="5806440"/>
            <a:ext cx="1371600" cy="256032"/>
          </a:xfrm>
          <a:prstGeom prst="roundRect">
            <a:avLst>
              <a:gd name="adj" fmla="val 42857"/>
            </a:avLst>
          </a:prstGeom>
          <a:solidFill>
            <a:srgbClr val="FF8AC2"/>
          </a:solidFill>
          <a:ln w="12700">
            <a:solidFill>
              <a:srgbClr val="FF8AC2"/>
            </a:solidFill>
            <a:prstDash val="solid"/>
          </a:ln>
        </p:spPr>
      </p:sp>
      <p:sp>
        <p:nvSpPr>
          <p:cNvPr id="11" name="Text 8"/>
          <p:cNvSpPr txBox="1"/>
          <p:nvPr/>
        </p:nvSpPr>
        <p:spPr>
          <a:xfrm>
            <a:off x="4206240"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p>
        </p:txBody>
      </p:sp>
      <p:sp>
        <p:nvSpPr>
          <p:cNvPr id="12"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BCE (MIR), EBA Risk Dashboard, Banco de España (Boletín Estadístico), Banca d'Italia (STACORIS), OCDE, EUF.</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Precio por tramo de importe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Media 2026 ponderada por volumen · Fijación inicial total · Sin comisiones</a:t>
            </a:r>
            <a:endParaRPr lang="en-US" sz="1100" dirty="0"/>
          </a:p>
        </p:txBody>
      </p:sp>
      <p:graphicFrame>
        <p:nvGraphicFramePr>
          <p:cNvPr id="4" name="Chart 0" descr=""/>
          <p:cNvGraphicFramePr/>
          <p:nvPr/>
        </p:nvGraphicFramePr>
        <p:xfrm>
          <a:off x="548640" y="1600200"/>
          <a:ext cx="6858000" cy="36576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680960" y="1600200"/>
            <a:ext cx="3959352" cy="2121408"/>
          </a:xfrm>
          <a:prstGeom prst="roundRect">
            <a:avLst>
              <a:gd name="adj" fmla="val 2586"/>
            </a:avLst>
          </a:prstGeom>
          <a:solidFill>
            <a:srgbClr val="E5E5E5"/>
          </a:solidFill>
          <a:ln w="12700">
            <a:solidFill>
              <a:srgbClr val="CACACA"/>
            </a:solidFill>
            <a:prstDash val="solid"/>
          </a:ln>
        </p:spPr>
      </p:sp>
      <p:sp>
        <p:nvSpPr>
          <p:cNvPr id="6" name="Text 3"/>
          <p:cNvSpPr txBox="1"/>
          <p:nvPr/>
        </p:nvSpPr>
        <p:spPr>
          <a:xfrm>
            <a:off x="7863840" y="1737360"/>
            <a:ext cx="3611880" cy="45720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Peso del tramo ≤1 M€ sobre la nueva producción</a:t>
            </a:r>
            <a:endParaRPr lang="en-US" sz="1300" dirty="0"/>
          </a:p>
        </p:txBody>
      </p:sp>
      <p:sp>
        <p:nvSpPr>
          <p:cNvPr id="7" name="Text 4"/>
          <p:cNvSpPr txBox="1"/>
          <p:nvPr/>
        </p:nvSpPr>
        <p:spPr>
          <a:xfrm>
            <a:off x="7863840" y="2212848"/>
            <a:ext cx="3611880" cy="1444752"/>
          </a:xfrm>
          <a:prstGeom prst="rect">
            <a:avLst/>
          </a:prstGeom>
          <a:noFill/>
          <a:ln/>
        </p:spPr>
        <p:txBody>
          <a:bodyPr wrap="square" lIns="0" tIns="0" rIns="0" bIns="0" rtlCol="0" anchor="ctr"/>
          <a:lstStyle/>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España: 50.5 %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Alemania: 17.8 %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Francia: 30 %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Italia: 34.6 %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Portugal: 51.1 %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P. Bajos: 7.6 %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Irlanda: 16.8 %</a:t>
            </a:r>
            <a:endParaRPr lang="en-US" sz="1050" dirty="0"/>
          </a:p>
        </p:txBody>
      </p:sp>
      <p:sp>
        <p:nvSpPr>
          <p:cNvPr id="8" name="Shape 5"/>
          <p:cNvSpPr/>
          <p:nvPr/>
        </p:nvSpPr>
        <p:spPr>
          <a:xfrm>
            <a:off x="7680960" y="3858768"/>
            <a:ext cx="3959352" cy="1399032"/>
          </a:xfrm>
          <a:prstGeom prst="roundRect">
            <a:avLst>
              <a:gd name="adj" fmla="val 3922"/>
            </a:avLst>
          </a:prstGeom>
          <a:solidFill>
            <a:srgbClr val="FFD6BA"/>
          </a:solidFill>
          <a:ln w="12700">
            <a:solidFill>
              <a:srgbClr val="FFAB70"/>
            </a:solidFill>
            <a:prstDash val="solid"/>
          </a:ln>
        </p:spPr>
      </p:sp>
      <p:sp>
        <p:nvSpPr>
          <p:cNvPr id="9" name="Text 6"/>
          <p:cNvSpPr txBox="1"/>
          <p:nvPr/>
        </p:nvSpPr>
        <p:spPr>
          <a:xfrm>
            <a:off x="7863840" y="3968496"/>
            <a:ext cx="3611880" cy="32004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Un mismo spread no significa lo mismo</a:t>
            </a:r>
            <a:endParaRPr lang="en-US" sz="1300" dirty="0"/>
          </a:p>
        </p:txBody>
      </p:sp>
      <p:sp>
        <p:nvSpPr>
          <p:cNvPr id="10" name="Text 7"/>
          <p:cNvSpPr txBox="1"/>
          <p:nvPr/>
        </p:nvSpPr>
        <p:spPr>
          <a:xfrm>
            <a:off x="7863840" y="4297680"/>
            <a:ext cx="3611880" cy="868680"/>
          </a:xfrm>
          <a:prstGeom prst="rect">
            <a:avLst/>
          </a:prstGeom>
          <a:noFill/>
          <a:ln/>
        </p:spPr>
        <p:txBody>
          <a:bodyPr wrap="square" lIns="0" tIns="0" rIns="0" bIns="0" rtlCol="0" anchor="ctr"/>
          <a:lstStyle/>
          <a:p>
            <a:pPr indent="0" marL="0">
              <a:buNone/>
            </a:pPr>
            <a:r>
              <a:rPr lang="en-US" sz="1050" dirty="0">
                <a:solidFill>
                  <a:srgbClr val="2B2B2B"/>
                </a:solidFill>
                <a:latin typeface="Verdana" pitchFamily="34" charset="0"/>
                <a:ea typeface="Verdana" pitchFamily="34" charset="-122"/>
                <a:cs typeface="Verdana" pitchFamily="34" charset="-120"/>
              </a:rPr>
              <a:t>En España y Portugal la mitad de la nueva producción es de importe ≤1 M€. En Países Bajos es el 7,6 % y en Irlanda el 16,8 %. Cualquier comparación de rentabilidad debe normalizar por este peso.</a:t>
            </a:r>
            <a:endParaRPr lang="en-US" sz="105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ECB Data Portal, dataset MIR. Tipo anual equivalente (AAR/NDER), que excluye comisiones. Media enero-julio 2026 ponderada por volumen mensual.</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Las comisiones son muy relevantes: impacto en España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Único país de los siete donde existe un tipo con comisiones para empresas · Media 2026</a:t>
            </a:r>
            <a:endParaRPr lang="en-US" sz="1100" dirty="0"/>
          </a:p>
        </p:txBody>
      </p:sp>
      <p:graphicFrame>
        <p:nvGraphicFramePr>
          <p:cNvPr id="4" name="Chart 0" descr=""/>
          <p:cNvGraphicFramePr/>
          <p:nvPr/>
        </p:nvGraphicFramePr>
        <p:xfrm>
          <a:off x="548640" y="1645920"/>
          <a:ext cx="6583680" cy="34747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06640" y="1645920"/>
            <a:ext cx="4233672" cy="2212848"/>
          </a:xfrm>
          <a:prstGeom prst="roundRect">
            <a:avLst>
              <a:gd name="adj" fmla="val 2479"/>
            </a:avLst>
          </a:prstGeom>
          <a:solidFill>
            <a:srgbClr val="FFD6BA"/>
          </a:solidFill>
          <a:ln w="12700">
            <a:solidFill>
              <a:srgbClr val="FFAB70"/>
            </a:solidFill>
            <a:prstDash val="solid"/>
          </a:ln>
        </p:spPr>
      </p:sp>
      <p:sp>
        <p:nvSpPr>
          <p:cNvPr id="6" name="Text 3"/>
          <p:cNvSpPr txBox="1"/>
          <p:nvPr/>
        </p:nvSpPr>
        <p:spPr>
          <a:xfrm>
            <a:off x="7589520" y="1755648"/>
            <a:ext cx="3886200" cy="274320"/>
          </a:xfrm>
          <a:prstGeom prst="rect">
            <a:avLst/>
          </a:prstGeom>
          <a:noFill/>
          <a:ln/>
        </p:spPr>
        <p:txBody>
          <a:bodyPr wrap="square" lIns="0" tIns="0" rIns="0" bIns="0" rtlCol="0" anchor="ctr"/>
          <a:lstStyle/>
          <a:p>
            <a:pPr indent="0" marL="0">
              <a:buNone/>
            </a:pPr>
            <a:r>
              <a:rPr lang="en-US" sz="1200" b="1" dirty="0">
                <a:solidFill>
                  <a:srgbClr val="F56600"/>
                </a:solidFill>
                <a:latin typeface="Verdana" pitchFamily="34" charset="0"/>
                <a:ea typeface="Verdana" pitchFamily="34" charset="-122"/>
                <a:cs typeface="Verdana" pitchFamily="34" charset="-120"/>
              </a:rPr>
              <a:t>Cómo se calcula el spread</a:t>
            </a:r>
            <a:endParaRPr lang="en-US" sz="1200" dirty="0"/>
          </a:p>
        </p:txBody>
      </p:sp>
      <p:sp>
        <p:nvSpPr>
          <p:cNvPr id="7" name="Text 4"/>
          <p:cNvSpPr txBox="1"/>
          <p:nvPr/>
        </p:nvSpPr>
        <p:spPr>
          <a:xfrm>
            <a:off x="7589520" y="2066544"/>
            <a:ext cx="3886200" cy="457200"/>
          </a:xfrm>
          <a:prstGeom prst="rect">
            <a:avLst/>
          </a:prstGeom>
          <a:noFill/>
          <a:ln/>
        </p:spPr>
        <p:txBody>
          <a:bodyPr wrap="square" lIns="0" tIns="0" rIns="0" bIns="0" rtlCol="0" anchor="ctr"/>
          <a:lstStyle/>
          <a:p>
            <a:pPr indent="0" marL="0">
              <a:buNone/>
            </a:pPr>
            <a:r>
              <a:rPr lang="en-US" sz="900" i="1" dirty="0">
                <a:solidFill>
                  <a:srgbClr val="2B2B2B"/>
                </a:solidFill>
                <a:latin typeface="Verdana" pitchFamily="34" charset="0"/>
                <a:ea typeface="Verdana" pitchFamily="34" charset="-122"/>
                <a:cs typeface="Verdana" pitchFamily="34" charset="-120"/>
              </a:rPr>
              <a:t>Spread = tramo ≤0,25 M€ − tramo &gt;1 M€</a:t>
            </a:r>
            <a:endParaRPr lang="en-US" sz="900" dirty="0"/>
          </a:p>
          <a:p>
            <a:pPr indent="0" marL="0">
              <a:buNone/>
            </a:pPr>
            <a:r>
              <a:rPr lang="en-US" sz="900" i="1" dirty="0">
                <a:solidFill>
                  <a:srgbClr val="2B2B2B"/>
                </a:solidFill>
                <a:latin typeface="Verdana" pitchFamily="34" charset="0"/>
                <a:ea typeface="Verdana" pitchFamily="34" charset="-122"/>
                <a:cs typeface="Verdana" pitchFamily="34" charset="-120"/>
              </a:rPr>
              <a:t>(los dos tramos extremos, no el intermedio)</a:t>
            </a:r>
            <a:endParaRPr lang="en-US" sz="900" dirty="0"/>
          </a:p>
        </p:txBody>
      </p:sp>
      <p:sp>
        <p:nvSpPr>
          <p:cNvPr id="8" name="Text 5"/>
          <p:cNvSpPr txBox="1"/>
          <p:nvPr/>
        </p:nvSpPr>
        <p:spPr>
          <a:xfrm>
            <a:off x="7589520" y="2578608"/>
            <a:ext cx="3886200" cy="685800"/>
          </a:xfrm>
          <a:prstGeom prst="rect">
            <a:avLst/>
          </a:prstGeom>
          <a:noFill/>
          <a:ln/>
        </p:spPr>
        <p:txBody>
          <a:bodyPr wrap="square" lIns="0" tIns="0" rIns="0" bIns="0" rtlCol="0" anchor="ctr"/>
          <a:lstStyle/>
          <a:p>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TEDR   </a:t>
            </a:r>
            <a:pPr indent="0" marL="0">
              <a:lnSpc>
                <a:spcPts val="1900"/>
              </a:lnSpc>
              <a:buNone/>
            </a:pPr>
            <a:r>
              <a:rPr lang="en-US" sz="1000" dirty="0">
                <a:solidFill>
                  <a:srgbClr val="2B2B2B"/>
                </a:solidFill>
                <a:latin typeface="Verdana" pitchFamily="34" charset="0"/>
                <a:ea typeface="Verdana" pitchFamily="34" charset="-122"/>
                <a:cs typeface="Verdana" pitchFamily="34" charset="-120"/>
              </a:rPr>
              <a:t>3.4173 − 3.4404 = </a:t>
            </a:r>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-2.3 pb</a:t>
            </a:r>
            <a:endParaRPr lang="en-US" sz="1000" dirty="0"/>
          </a:p>
          <a:p>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TAE      </a:t>
            </a:r>
            <a:pPr indent="0" marL="0">
              <a:lnSpc>
                <a:spcPts val="1900"/>
              </a:lnSpc>
              <a:buNone/>
            </a:pPr>
            <a:r>
              <a:rPr lang="en-US" sz="1000" dirty="0">
                <a:solidFill>
                  <a:srgbClr val="2B2B2B"/>
                </a:solidFill>
                <a:latin typeface="Verdana" pitchFamily="34" charset="0"/>
                <a:ea typeface="Verdana" pitchFamily="34" charset="-122"/>
                <a:cs typeface="Verdana" pitchFamily="34" charset="-120"/>
              </a:rPr>
              <a:t>4.4348 − 3.6220 = </a:t>
            </a:r>
            <a:pPr indent="0" marL="0">
              <a:lnSpc>
                <a:spcPts val="1900"/>
              </a:lnSpc>
              <a:buNone/>
            </a:pPr>
            <a:r>
              <a:rPr lang="en-US" sz="1000" b="1" dirty="0">
                <a:solidFill>
                  <a:srgbClr val="F56600"/>
                </a:solidFill>
                <a:latin typeface="Verdana" pitchFamily="34" charset="0"/>
                <a:ea typeface="Verdana" pitchFamily="34" charset="-122"/>
                <a:cs typeface="Verdana" pitchFamily="34" charset="-120"/>
              </a:rPr>
              <a:t>+81.3 pb</a:t>
            </a:r>
            <a:endParaRPr lang="en-US" sz="1000" dirty="0"/>
          </a:p>
        </p:txBody>
      </p:sp>
      <p:sp>
        <p:nvSpPr>
          <p:cNvPr id="9" name="Text 6"/>
          <p:cNvSpPr txBox="1"/>
          <p:nvPr/>
        </p:nvSpPr>
        <p:spPr>
          <a:xfrm>
            <a:off x="7589520" y="3310128"/>
            <a:ext cx="3886200" cy="457200"/>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Las cifras del gráfico van redondeadas a dos decimales; el spread se calcula sobre el valor completo.</a:t>
            </a:r>
            <a:endParaRPr lang="en-US" sz="850" dirty="0"/>
          </a:p>
        </p:txBody>
      </p:sp>
      <p:sp>
        <p:nvSpPr>
          <p:cNvPr id="10" name="Text 7"/>
          <p:cNvSpPr txBox="1"/>
          <p:nvPr/>
        </p:nvSpPr>
        <p:spPr>
          <a:xfrm>
            <a:off x="548640" y="5349240"/>
            <a:ext cx="11091672" cy="64008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La banca española sí cobra más caro a la PYME: 81 pb más en coste total. Lo hace por comisión, no por tipo nominal. El MIR del BCE, que publica solo el tipo sin comisiones, no lo ve.</a:t>
            </a:r>
            <a:endParaRPr lang="en-US" sz="120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Banco de España, Boletín Estadístico, cuadros 19.5 (TEDR), 19.6 (TAE) y 19.13 (volúmenes). Cuña = TAE − TEDR, cálculo propio. Media enero-julio 2026.</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Cuenta de resultados del préstamo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En % del saldo medio · Tramo ≤1 M€ · 2026 · Las filas en ocre son supuestos, no observaciones</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2468880"/>
                <a:gridCol w="1231697"/>
                <a:gridCol w="1231697"/>
                <a:gridCol w="1231697"/>
                <a:gridCol w="1231697"/>
                <a:gridCol w="1231697"/>
                <a:gridCol w="1231697"/>
                <a:gridCol w="1231697"/>
              </a:tblGrid>
              <a:tr h="315468">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Concepto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Precio (tipo MIR)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3.41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4.39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3.77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4.25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3.94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Comisiones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Ingreso total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4.28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5.26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4.64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5.12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4.81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6.24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Coste de los recursos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0.41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Margen bruto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3.54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4.11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3.30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4.36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4.10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4.32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5.83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Coste del 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0.40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0.68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0.40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Gastos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2.27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Resultado antes de imp.</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1.45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1.45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0.46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1.52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2.17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1.66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2.08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Capital asignado (RWA × CET1)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8.13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5.99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6.83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7.21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10.93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6.09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12.81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Tipo impositivo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30.0 %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30.1 %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25.8 %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29.5 %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25.8 %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ROE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12.5 %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16.9 %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5.0 %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15.2 %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14.0 %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20.2 %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13.8 %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bl>
          </a:graphicData>
        </a:graphic>
      </p:graphicFrame>
      <p:sp>
        <p:nvSpPr>
          <p:cNvPr id="5" name="Shape 2"/>
          <p:cNvSpPr/>
          <p:nvPr/>
        </p:nvSpPr>
        <p:spPr>
          <a:xfrm>
            <a:off x="548640" y="5623560"/>
            <a:ext cx="1371600" cy="256032"/>
          </a:xfrm>
          <a:prstGeom prst="roundRect">
            <a:avLst>
              <a:gd name="adj" fmla="val 42857"/>
            </a:avLst>
          </a:prstGeom>
          <a:solidFill>
            <a:srgbClr val="F56600"/>
          </a:solidFill>
          <a:ln w="12700">
            <a:solidFill>
              <a:srgbClr val="F56600"/>
            </a:solidFill>
            <a:prstDash val="solid"/>
          </a:ln>
        </p:spPr>
      </p:sp>
      <p:sp>
        <p:nvSpPr>
          <p:cNvPr id="6" name="Text 3"/>
          <p:cNvSpPr txBox="1"/>
          <p:nvPr/>
        </p:nvSpPr>
        <p:spPr>
          <a:xfrm>
            <a:off x="548640" y="562356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p>
        </p:txBody>
      </p:sp>
      <p:sp>
        <p:nvSpPr>
          <p:cNvPr id="7" name="Shape 4"/>
          <p:cNvSpPr/>
          <p:nvPr/>
        </p:nvSpPr>
        <p:spPr>
          <a:xfrm>
            <a:off x="2103120" y="5623560"/>
            <a:ext cx="1371600" cy="256032"/>
          </a:xfrm>
          <a:prstGeom prst="roundRect">
            <a:avLst>
              <a:gd name="adj" fmla="val 42857"/>
            </a:avLst>
          </a:prstGeom>
          <a:solidFill>
            <a:srgbClr val="FFAB70"/>
          </a:solidFill>
          <a:ln w="12700">
            <a:solidFill>
              <a:srgbClr val="FFAB70"/>
            </a:solidFill>
            <a:prstDash val="solid"/>
          </a:ln>
        </p:spPr>
      </p:sp>
      <p:sp>
        <p:nvSpPr>
          <p:cNvPr id="8" name="Text 5"/>
          <p:cNvSpPr txBox="1"/>
          <p:nvPr/>
        </p:nvSpPr>
        <p:spPr>
          <a:xfrm>
            <a:off x="2103120" y="562356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Supuesto</a:t>
            </a:r>
            <a:endParaRPr lang="en-US" sz="850" dirty="0"/>
          </a:p>
        </p:txBody>
      </p:sp>
      <p:sp>
        <p:nvSpPr>
          <p:cNvPr id="9" name="Text 6"/>
          <p:cNvSpPr txBox="1"/>
          <p:nvPr/>
        </p:nvSpPr>
        <p:spPr>
          <a:xfrm>
            <a:off x="3931920" y="5623560"/>
            <a:ext cx="7772400" cy="274320"/>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Solo la fila de comisiones es supuesto. Precio, recursos, riesgo, capital e impuesto son observados por país.</a:t>
            </a:r>
            <a:endParaRPr lang="en-US" sz="1000" dirty="0"/>
          </a:p>
        </p:txBody>
      </p:sp>
      <p:sp>
        <p:nvSpPr>
          <p:cNvPr id="10" name="Text 7"/>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Precio: BCE MIR. Comisiones: cuña española de 87 pb aplicada a los siete (único supuesto material). Recursos: tipos de depósito de empresa del MIR ponderados por los saldos del BSI. Riesgo: PD × LGD de la clase IRB de PYME (COREP C 9.02). Gastos: eficiencia EBA sobre margen. Capital: densidad de RWA observada sobre CET1. Impuesto: tipo combinado de sociedades 2026 de cada país.</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ROE modelizado del préstamo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Cuña de comisiones española aplicada a los siete países · Tipo impositivo real de cada uno · 2026</a:t>
            </a:r>
            <a:endParaRPr lang="en-US" sz="1100" dirty="0"/>
          </a:p>
        </p:txBody>
      </p:sp>
      <p:graphicFrame>
        <p:nvGraphicFramePr>
          <p:cNvPr id="4" name="Chart 0" descr=""/>
          <p:cNvGraphicFramePr/>
          <p:nvPr/>
        </p:nvGraphicFramePr>
        <p:xfrm>
          <a:off x="548640" y="1645920"/>
          <a:ext cx="6766560" cy="37490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589520" y="1645920"/>
            <a:ext cx="4050792" cy="3749040"/>
          </a:xfrm>
          <a:prstGeom prst="roundRect">
            <a:avLst>
              <a:gd name="adj" fmla="val 1463"/>
            </a:avLst>
          </a:prstGeom>
          <a:solidFill>
            <a:srgbClr val="E5E5E5"/>
          </a:solidFill>
          <a:ln w="12700">
            <a:solidFill>
              <a:srgbClr val="CACACA"/>
            </a:solidFill>
            <a:prstDash val="solid"/>
          </a:ln>
        </p:spPr>
      </p:sp>
      <p:sp>
        <p:nvSpPr>
          <p:cNvPr id="6" name="Text 3"/>
          <p:cNvSpPr txBox="1"/>
          <p:nvPr/>
        </p:nvSpPr>
        <p:spPr>
          <a:xfrm>
            <a:off x="7772400" y="1783080"/>
            <a:ext cx="3703320" cy="292608"/>
          </a:xfrm>
          <a:prstGeom prst="rect">
            <a:avLst/>
          </a:prstGeom>
          <a:noFill/>
          <a:ln/>
        </p:spPr>
        <p:txBody>
          <a:bodyPr wrap="square" lIns="0" tIns="0" rIns="0" bIns="0" rtlCol="0" anchor="ctr"/>
          <a:lstStyle/>
          <a:p>
            <a:pPr indent="0" marL="0">
              <a:buNone/>
            </a:pPr>
            <a:r>
              <a:rPr lang="en-US" sz="1500" b="1" dirty="0">
                <a:solidFill>
                  <a:srgbClr val="F56600"/>
                </a:solidFill>
                <a:latin typeface="Verdana" pitchFamily="34" charset="0"/>
                <a:ea typeface="Verdana" pitchFamily="34" charset="-122"/>
                <a:cs typeface="Verdana" pitchFamily="34" charset="-120"/>
              </a:rPr>
              <a:t>Cómo leerlo</a:t>
            </a:r>
            <a:endParaRPr lang="en-US" sz="1500" dirty="0"/>
          </a:p>
        </p:txBody>
      </p:sp>
      <p:sp>
        <p:nvSpPr>
          <p:cNvPr id="7" name="Text 4"/>
          <p:cNvSpPr txBox="1"/>
          <p:nvPr/>
        </p:nvSpPr>
        <p:spPr>
          <a:xfrm>
            <a:off x="7772400" y="2121408"/>
            <a:ext cx="3703320" cy="3218688"/>
          </a:xfrm>
          <a:prstGeom prst="rect">
            <a:avLst/>
          </a:prstGeom>
          <a:noFill/>
          <a:ln/>
        </p:spPr>
        <p:txBody>
          <a:bodyPr wrap="square" lIns="0" tIns="0" rIns="0" bIns="0" rtlCol="0" anchor="ctr"/>
          <a:lstStyle/>
          <a:p>
            <a:pPr indent="0" marL="0">
              <a:buNone/>
            </a:pPr>
            <a:r>
              <a:rPr lang="en-US" sz="900" b="1" dirty="0">
                <a:solidFill>
                  <a:srgbClr val="2B2B2B"/>
                </a:solidFill>
                <a:latin typeface="Verdana" pitchFamily="34" charset="0"/>
                <a:ea typeface="Verdana" pitchFamily="34" charset="-122"/>
                <a:cs typeface="Verdana" pitchFamily="34" charset="-120"/>
              </a:rPr>
              <a:t>Países Bajos y Alemania encabezan</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por coste del riesgo bajo (0,35 % y 0,40 %) y la menor densidad de RWA (37 % y 35 %), que reduce el capital a inmovilizar.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España queda en 12,5 %</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con el precio más bajo, una densidad de RWA del 59,5 % y el 30 % de tipo que la banca paga en España.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Irlanda queda cuarta</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pese a la mayor densidad de RWA de los siete (70 %), gracias al 15 % de Pilar Dos frente al 26-30 % del resto.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Francia queda última</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con un 5,0 %: precio bajo, recursos caros y la peor eficiencia (65,6 %).</a:t>
            </a:r>
            <a:endParaRPr lang="en-US" sz="90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ROE modelizado, no observado. Depende del supuesto de comisiones: ver lámina siguiente. Tipo de sociedades aplicable a bancos: ES 30,0 (art. 29 LIS, entidades de crédito) · DE 30,1 · FR 25,8 · IT 27,8 · PT 29,5 · NL 25,8 · IE 15,0 (mínimo de Pilar Dos). En Francia, la contribución excepcional del 36,1 % para grupos de más de 1.500 M€ de cifra de negocio dejaría su ROE en 4,3 %.</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Sensibilidad al supuesto de comisiones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Cuánto depende el ROE de la cuña que se asuma · Solo la columna de 87 pb está observada, y solo para España</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11091672" cy="914400"/>
        </p:xfrm>
        <a:graphic>
          <a:graphicData uri="http://schemas.openxmlformats.org/drawingml/2006/table">
            <a:tbl>
              <a:tblPr/>
              <a:tblGrid>
                <a:gridCol w="2468880"/>
                <a:gridCol w="1437437"/>
                <a:gridCol w="1437437"/>
                <a:gridCol w="1437437"/>
                <a:gridCol w="1437437"/>
                <a:gridCol w="1437437"/>
                <a:gridCol w="1437437"/>
              </a:tblGrid>
              <a:tr h="365760">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País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25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50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87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100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150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9.4 %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12.5 %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16.9 %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17.5 %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5.0 %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7.3 %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15.2 %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14.0 %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20.2 %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13.8 %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5" name="Shape 2"/>
          <p:cNvSpPr/>
          <p:nvPr/>
        </p:nvSpPr>
        <p:spPr>
          <a:xfrm>
            <a:off x="548640" y="4800600"/>
            <a:ext cx="11091672" cy="1280160"/>
          </a:xfrm>
          <a:prstGeom prst="roundRect">
            <a:avLst>
              <a:gd name="adj" fmla="val 4286"/>
            </a:avLst>
          </a:prstGeom>
          <a:solidFill>
            <a:srgbClr val="FFD6BA"/>
          </a:solidFill>
          <a:ln w="12700">
            <a:solidFill>
              <a:srgbClr val="FFAB70"/>
            </a:solidFill>
            <a:prstDash val="solid"/>
          </a:ln>
        </p:spPr>
      </p:sp>
      <p:sp>
        <p:nvSpPr>
          <p:cNvPr id="6" name="Text 3"/>
          <p:cNvSpPr txBox="1"/>
          <p:nvPr/>
        </p:nvSpPr>
        <p:spPr>
          <a:xfrm>
            <a:off x="777240" y="4901184"/>
            <a:ext cx="1078992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Lo que el supuesto cambia y lo que no</a:t>
            </a:r>
            <a:endParaRPr lang="en-US" sz="1400" dirty="0"/>
          </a:p>
        </p:txBody>
      </p:sp>
      <p:sp>
        <p:nvSpPr>
          <p:cNvPr id="7" name="Text 4"/>
          <p:cNvSpPr txBox="1"/>
          <p:nvPr/>
        </p:nvSpPr>
        <p:spPr>
          <a:xfrm>
            <a:off x="777240" y="5212080"/>
            <a:ext cx="10789920" cy="77724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El nivel del ROE se mueve mucho: España pasa del 3,5 % al 11,8 % según se asuma cero o 150 pb de comisión. El ordenamiento se mueve menos: Francia es último en todos los escenarios e Italia, Portugal y Países Bajos encabezan en todos. Lo que sí cambia es la posición relativa de España, que sube conforme se asume más comisión — y es el único país donde sabemos que la comisión es alta.</a:t>
            </a:r>
            <a:endParaRPr lang="en-US" sz="110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87 pb es la cuña observada en España (TAE − TEDR, tramo ≤1 M€, media 2026, Banco de España). Para los otros cinco países no existe dato equivalente.</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Simulación: entrante eficiente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Un banco extranjero con sus propios ratios de balance, enfrentando el precio, el riesgo, el capital y la fiscalidad de cada mercado local</a:t>
            </a:r>
            <a:endParaRPr lang="en-US" sz="1100" dirty="0"/>
          </a:p>
        </p:txBody>
      </p:sp>
      <p:sp>
        <p:nvSpPr>
          <p:cNvPr id="4" name="Shape 2"/>
          <p:cNvSpPr/>
          <p:nvPr/>
        </p:nvSpPr>
        <p:spPr>
          <a:xfrm>
            <a:off x="548640" y="1572768"/>
            <a:ext cx="11091672" cy="475488"/>
          </a:xfrm>
          <a:prstGeom prst="roundRect">
            <a:avLst>
              <a:gd name="adj" fmla="val 11538"/>
            </a:avLst>
          </a:prstGeom>
          <a:solidFill>
            <a:srgbClr val="FFD6BA"/>
          </a:solidFill>
          <a:ln w="12700">
            <a:solidFill>
              <a:srgbClr val="FFAB70"/>
            </a:solidFill>
            <a:prstDash val="solid"/>
          </a:ln>
        </p:spPr>
      </p:sp>
      <p:sp>
        <p:nvSpPr>
          <p:cNvPr id="5" name="Text 3"/>
          <p:cNvSpPr txBox="1"/>
          <p:nvPr/>
        </p:nvSpPr>
        <p:spPr>
          <a:xfrm>
            <a:off x="777240" y="1673352"/>
            <a:ext cx="10789920" cy="292608"/>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Parámetros del entrante:   </a:t>
            </a:r>
            <a:pPr indent="0" marL="0">
              <a:buNone/>
            </a:pPr>
            <a:r>
              <a:rPr lang="en-US" sz="1000" dirty="0">
                <a:solidFill>
                  <a:srgbClr val="2B2B2B"/>
                </a:solidFill>
                <a:latin typeface="Verdana" pitchFamily="34" charset="0"/>
                <a:ea typeface="Verdana" pitchFamily="34" charset="-122"/>
                <a:cs typeface="Verdana" pitchFamily="34" charset="-120"/>
              </a:rPr>
              <a:t>coste de los recursos 0,80 %     ·     eficiencia 40 %     ·     CET1 12,9 %</a:t>
            </a:r>
            <a:pPr indent="0" marL="0">
              <a:buNone/>
            </a:pPr>
            <a:r>
              <a:rPr lang="en-US" sz="1000" dirty="0">
                <a:solidFill>
                  <a:srgbClr val="818181"/>
                </a:solidFill>
                <a:latin typeface="Verdana" pitchFamily="34" charset="0"/>
                <a:ea typeface="Verdana" pitchFamily="34" charset="-122"/>
                <a:cs typeface="Verdana" pitchFamily="34" charset="-120"/>
              </a:rPr>
              <a:t>          Del mercado local: precio, comisiones, PD × LGD, densidad de RWA y tipo impositivo.</a:t>
            </a:r>
            <a:endParaRPr lang="en-US" sz="1000" dirty="0"/>
          </a:p>
        </p:txBody>
      </p:sp>
      <p:graphicFrame>
        <p:nvGraphicFramePr>
          <p:cNvPr id="6" name="Chart 0" descr=""/>
          <p:cNvGraphicFramePr/>
          <p:nvPr/>
        </p:nvGraphicFramePr>
        <p:xfrm>
          <a:off x="548640" y="2194560"/>
          <a:ext cx="6949440" cy="315468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543800" y="2194560"/>
          <a:ext cx="4096512" cy="914400"/>
        </p:xfrm>
        <a:graphic>
          <a:graphicData uri="http://schemas.openxmlformats.org/drawingml/2006/table">
            <a:tbl>
              <a:tblPr/>
              <a:tblGrid>
                <a:gridCol w="1261872"/>
                <a:gridCol w="932688"/>
                <a:gridCol w="987552"/>
                <a:gridCol w="914400"/>
              </a:tblGrid>
              <a:tr h="310896">
                <a:tc>
                  <a:txBody>
                    <a:bodyPr/>
                    <a:lstStyle/>
                    <a:p>
                      <a:pPr algn="l" indent="0" marL="0">
                        <a:buNone/>
                      </a:pP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Local</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Entrante</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Gana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13.7 %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16.9 %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35.0 %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+18.1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5.0 %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21.8 %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15.2 %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21.6 %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+6.4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14.0 %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37.0 %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13.8 %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26.9 %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+13.1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bl>
          </a:graphicData>
        </a:graphic>
      </p:graphicFrame>
      <p:sp>
        <p:nvSpPr>
          <p:cNvPr id="8" name="Shape 4"/>
          <p:cNvSpPr/>
          <p:nvPr/>
        </p:nvSpPr>
        <p:spPr>
          <a:xfrm>
            <a:off x="7543800" y="4736592"/>
            <a:ext cx="4096512" cy="621792"/>
          </a:xfrm>
          <a:prstGeom prst="roundRect">
            <a:avLst>
              <a:gd name="adj" fmla="val 8824"/>
            </a:avLst>
          </a:prstGeom>
          <a:solidFill>
            <a:srgbClr val="E5E5E5"/>
          </a:solidFill>
          <a:ln w="12700">
            <a:solidFill>
              <a:srgbClr val="CACACA"/>
            </a:solidFill>
            <a:prstDash val="solid"/>
          </a:ln>
        </p:spPr>
      </p:sp>
      <p:sp>
        <p:nvSpPr>
          <p:cNvPr id="9" name="Text 5"/>
          <p:cNvSpPr txBox="1"/>
          <p:nvPr/>
        </p:nvSpPr>
        <p:spPr>
          <a:xfrm>
            <a:off x="7699248" y="4809744"/>
            <a:ext cx="3794760" cy="502920"/>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Ranking del entrante:</a:t>
            </a:r>
            <a:endParaRPr lang="en-US" sz="850" dirty="0"/>
          </a:p>
          <a:p>
            <a:pPr indent="0" marL="0">
              <a:buNone/>
            </a:pPr>
            <a:r>
              <a:rPr lang="en-US" sz="850" dirty="0">
                <a:solidFill>
                  <a:srgbClr val="2B2B2B"/>
                </a:solidFill>
                <a:latin typeface="Verdana" pitchFamily="34" charset="0"/>
                <a:ea typeface="Verdana" pitchFamily="34" charset="-122"/>
                <a:cs typeface="Verdana" pitchFamily="34" charset="-120"/>
              </a:rPr>
              <a:t>P. Bajos &gt; Alemania &gt; Irlanda &gt; Francia &gt; Italia &gt; Portugal &gt; España</a:t>
            </a:r>
            <a:endParaRPr lang="en-US" sz="850" dirty="0"/>
          </a:p>
        </p:txBody>
      </p:sp>
      <p:sp>
        <p:nvSpPr>
          <p:cNvPr id="10" name="Text 6"/>
          <p:cNvSpPr txBox="1"/>
          <p:nvPr/>
        </p:nvSpPr>
        <p:spPr>
          <a:xfrm>
            <a:off x="548640" y="5440680"/>
            <a:ext cx="11091672" cy="658368"/>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El orden de atractivo cambia por completo. </a:t>
            </a:r>
            <a:pPr indent="0" marL="0">
              <a:buNone/>
            </a:pPr>
            <a:r>
              <a:rPr lang="en-US" sz="1000" dirty="0">
                <a:solidFill>
                  <a:srgbClr val="2B2B2B"/>
                </a:solidFill>
                <a:latin typeface="Verdana" pitchFamily="34" charset="0"/>
                <a:ea typeface="Verdana" pitchFamily="34" charset="-122"/>
                <a:cs typeface="Verdana" pitchFamily="34" charset="-120"/>
              </a:rPr>
              <a:t>Francia pasa del último puesto (5,0 %) al cuarto (21,8 %) porque su banca local es la más ineficiente de las siete y la más cara en recursos: ahí es donde más vale entrar eficiente. España es justo lo contrario, solo gana 1,2 puntos, porque su banca ya es eficiente y sus recursos ya son baratos —el entrante incluso pagaría más— y sigue arrastrando una densidad de RWA del 59,5 % y el 30 % de impuesto.</a:t>
            </a:r>
            <a:endParaRPr lang="en-US" sz="1000" dirty="0"/>
          </a:p>
        </p:txBody>
      </p:sp>
      <p:sp>
        <p:nvSpPr>
          <p:cNvPr id="11" name="Text 7"/>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Escenario, no observación. Se mantienen del mercado local el precio (MIR), la cuña de comisiones supuesta, el coste del riesgo (PD × LGD), la densidad de RWA (Transparency Exercise) y el tipo impositivo de banca. Se sustituyen coste de los recursos, eficiencia y CET1 por los del entrante. No incorpora coste de entrada, escala mínima ni curva de aprendizaje de riesgo.</a:t>
            </a:r>
            <a:endParaRPr lang="en-US" sz="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Coste de los recursos de empresa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Tipos del MIR ponderados por la mezcla real de saldos del BSI · Media 2026 · Es el coste de fondos que usa el modelo</a:t>
            </a:r>
            <a:endParaRPr lang="en-US" sz="1100" dirty="0"/>
          </a:p>
        </p:txBody>
      </p:sp>
      <p:graphicFrame>
        <p:nvGraphicFramePr>
          <p:cNvPr id="4" name="Chart 0" descr=""/>
          <p:cNvGraphicFramePr/>
          <p:nvPr/>
        </p:nvGraphicFramePr>
        <p:xfrm>
          <a:off x="548640" y="1691640"/>
          <a:ext cx="6812280" cy="3520440"/>
        </p:xfrm>
        <a:graphic xmlns:a="http://schemas.openxmlformats.org/drawingml/2006/main">
          <a:graphicData uri="http://schemas.openxmlformats.org/drawingml/2006/chart">
            <c:chart xmlns:c="http://schemas.openxmlformats.org/drawingml/2006/chart" r:id="rId1"/>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452360" y="1691640"/>
          <a:ext cx="4187952" cy="914400"/>
        </p:xfrm>
        <a:graphic>
          <a:graphicData uri="http://schemas.openxmlformats.org/drawingml/2006/table">
            <a:tbl>
              <a:tblPr/>
              <a:tblGrid>
                <a:gridCol w="1170432"/>
                <a:gridCol w="731520"/>
                <a:gridCol w="731520"/>
                <a:gridCol w="786384"/>
                <a:gridCol w="768096"/>
              </a:tblGrid>
              <a:tr h="333756">
                <a:tc>
                  <a:txBody>
                    <a:bodyPr/>
                    <a:lstStyle/>
                    <a:p>
                      <a:pPr algn="l" indent="0" marL="0">
                        <a:buNone/>
                      </a:pP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Vista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Plazo</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 vista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Ponderado</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0.44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1.90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0.72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2.23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1.16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0.52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2.58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1.34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0.56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2.31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0.07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1.77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0.85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2.14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1.06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0.10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1.90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0.41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6" name="Shape 2"/>
          <p:cNvSpPr/>
          <p:nvPr/>
        </p:nvSpPr>
        <p:spPr>
          <a:xfrm>
            <a:off x="7452360" y="4480560"/>
            <a:ext cx="4187952" cy="777240"/>
          </a:xfrm>
          <a:prstGeom prst="roundRect">
            <a:avLst>
              <a:gd name="adj" fmla="val 7059"/>
            </a:avLst>
          </a:prstGeom>
          <a:solidFill>
            <a:srgbClr val="FFD6BA"/>
          </a:solidFill>
          <a:ln w="12700">
            <a:solidFill>
              <a:srgbClr val="FFAB70"/>
            </a:solidFill>
            <a:prstDash val="solid"/>
          </a:ln>
        </p:spPr>
      </p:sp>
      <p:sp>
        <p:nvSpPr>
          <p:cNvPr id="7" name="Text 3"/>
          <p:cNvSpPr txBox="1"/>
          <p:nvPr/>
        </p:nvSpPr>
        <p:spPr>
          <a:xfrm>
            <a:off x="7635240" y="4572000"/>
            <a:ext cx="3840480" cy="621792"/>
          </a:xfrm>
          <a:prstGeom prst="rect">
            <a:avLst/>
          </a:prstGeom>
          <a:noFill/>
          <a:ln/>
        </p:spPr>
        <p:txBody>
          <a:bodyPr wrap="square" lIns="0" tIns="0" rIns="0" bIns="0" rtlCol="0" anchor="ctr"/>
          <a:lstStyle/>
          <a:p>
            <a:pPr indent="0" marL="0">
              <a:buNone/>
            </a:pPr>
            <a:r>
              <a:rPr lang="en-US" sz="1000" dirty="0">
                <a:solidFill>
                  <a:srgbClr val="2B2B2B"/>
                </a:solidFill>
                <a:latin typeface="Verdana" pitchFamily="34" charset="0"/>
                <a:ea typeface="Verdana" pitchFamily="34" charset="-122"/>
                <a:cs typeface="Verdana" pitchFamily="34" charset="-120"/>
              </a:rPr>
              <a:t>La mezcla decide, no el tipo: Italia paga un 0,56 % a la vista y España un 0,44 %, pero Italia tiene un 89 % en vista y acaba igual de barata.</a:t>
            </a:r>
            <a:endParaRPr lang="en-US" sz="1000" dirty="0"/>
          </a:p>
        </p:txBody>
      </p:sp>
      <p:sp>
        <p:nvSpPr>
          <p:cNvPr id="8" name="Text 4"/>
          <p:cNvSpPr txBox="1"/>
          <p:nvPr/>
        </p:nvSpPr>
        <p:spPr>
          <a:xfrm>
            <a:off x="548640" y="5394960"/>
            <a:ext cx="11091672" cy="54864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Irlanda capta los recursos más baratos de los siete, un 0,41 %, y Francia los más caros, un 1,34 %: tres veces más. Es el segundo factor que más separa el ROE, por detrás del capital.</a:t>
            </a:r>
            <a:endParaRPr lang="en-US" sz="1200" dirty="0"/>
          </a:p>
        </p:txBody>
      </p:sp>
      <p:sp>
        <p:nvSpPr>
          <p:cNvPr id="9"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BCE, dataset MIR (tipos de depósito de sociedades no financieras, nueva producción) y dataset BSI (saldos L21 vista y L22 plazo, sector 2240) para la ponderación. Facilidad de depósito del BCE al 2,09 %.</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NPL por segmento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La PYME es el peor segmento en los siete países · Ratio de NPL, stock de dudosos · 2026-Q1 · Muestra de bancos del EBA</a:t>
            </a:r>
            <a:endParaRPr lang="en-US" sz="1100" dirty="0"/>
          </a:p>
        </p:txBody>
      </p:sp>
      <p:graphicFrame>
        <p:nvGraphicFramePr>
          <p:cNvPr id="4" name="Chart 0" descr=""/>
          <p:cNvGraphicFramePr/>
          <p:nvPr/>
        </p:nvGraphicFramePr>
        <p:xfrm>
          <a:off x="548640" y="1645920"/>
          <a:ext cx="7315200" cy="37490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092440" y="1645920"/>
            <a:ext cx="3547872" cy="3749040"/>
          </a:xfrm>
          <a:prstGeom prst="roundRect">
            <a:avLst>
              <a:gd name="adj" fmla="val 1546"/>
            </a:avLst>
          </a:prstGeom>
          <a:solidFill>
            <a:srgbClr val="FFCCE8"/>
          </a:solidFill>
          <a:ln w="12700">
            <a:solidFill>
              <a:srgbClr val="FF8AC2"/>
            </a:solidFill>
            <a:prstDash val="solid"/>
          </a:ln>
        </p:spPr>
      </p:sp>
      <p:sp>
        <p:nvSpPr>
          <p:cNvPr id="6" name="Text 3"/>
          <p:cNvSpPr txBox="1"/>
          <p:nvPr/>
        </p:nvSpPr>
        <p:spPr>
          <a:xfrm>
            <a:off x="8275320" y="1783080"/>
            <a:ext cx="320040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Prima de riesgo PYME</a:t>
            </a:r>
            <a:endParaRPr lang="en-US" sz="1300" dirty="0"/>
          </a:p>
        </p:txBody>
      </p:sp>
      <p:sp>
        <p:nvSpPr>
          <p:cNvPr id="7" name="Text 4"/>
          <p:cNvSpPr txBox="1"/>
          <p:nvPr/>
        </p:nvSpPr>
        <p:spPr>
          <a:xfrm>
            <a:off x="8275320" y="2194560"/>
            <a:ext cx="3200400" cy="30175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Diferencia entre el NPL de PYME y el de empresas, en puntos:</a:t>
            </a:r>
            <a:endParaRPr lang="en-US" sz="1100" dirty="0"/>
          </a:p>
          <a:p>
            <a:pPr indent="0" marL="0">
              <a:buNone/>
            </a:pP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España  +2,39</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Italia  +1,50</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Francia  +1,19</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Portugal  +0,58</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Alemania  +0,51</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P. Bajos  +0,27</a:t>
            </a:r>
            <a:endParaRPr lang="en-US" sz="1100" dirty="0"/>
          </a:p>
          <a:p>
            <a:pPr indent="0" marL="0">
              <a:buNone/>
            </a:pP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España tiene el peor NPL de PYME de los seis (5,38 %) y a la vez el spread de precio más estrecho.</a:t>
            </a:r>
            <a:endParaRPr lang="en-US" sz="1100" dirty="0"/>
          </a:p>
        </p:txBody>
      </p:sp>
      <p:sp>
        <p:nvSpPr>
          <p:cNvPr id="8" name="Text 5"/>
          <p:cNvSpPr txBox="1"/>
          <p:nvPr/>
        </p:nvSpPr>
        <p:spPr>
          <a:xfrm>
            <a:off x="548640" y="5468112"/>
            <a:ext cx="7315200" cy="502920"/>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ATENCIÓN: esto es el ratio de NPL, un STOCK de dudosos sobre cartera. NO es el coste del riesgo que usa el modelo, que es un flujo anual calculado como PD × LGD (lámina siguiente).</a:t>
            </a:r>
            <a:endParaRPr lang="en-US" sz="1000" dirty="0"/>
          </a:p>
        </p:txBody>
      </p:sp>
      <p:sp>
        <p:nvSpPr>
          <p:cNvPr id="9" name="Text 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anexo de datos Q1 2026, desgloses «of which SMEs» y «of which CRE». Es la muestra de bancos del EBA, no el sistema completo.</a:t>
            </a:r>
            <a:endParaRPr lang="en-US" sz="7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Coste del riesgo = PD × LGD</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Parámetros IRB de la clase «Corporates – Of Which: SME» · Mediana de entidades declarantes · 2026-Q1 · Es la línea de riesgo de la cuenta de resultados</a:t>
            </a:r>
            <a:endParaRPr lang="en-US" sz="1100" dirty="0"/>
          </a:p>
        </p:txBody>
      </p:sp>
      <p:graphicFrame>
        <p:nvGraphicFramePr>
          <p:cNvPr id="4" name="Chart 0" descr=""/>
          <p:cNvGraphicFramePr/>
          <p:nvPr/>
        </p:nvGraphicFramePr>
        <p:xfrm>
          <a:off x="548640" y="1645920"/>
          <a:ext cx="6492240" cy="3566160"/>
        </p:xfrm>
        <a:graphic xmlns:a="http://schemas.openxmlformats.org/drawingml/2006/main">
          <a:graphicData uri="http://schemas.openxmlformats.org/drawingml/2006/chart">
            <c:chart xmlns:c="http://schemas.openxmlformats.org/drawingml/2006/chart" r:id="rId1"/>
          </a:graphicData>
        </a:graphic>
      </p:graphicFrame>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315200" y="1645920"/>
          <a:ext cx="4325112" cy="914400"/>
        </p:xfrm>
        <a:graphic>
          <a:graphicData uri="http://schemas.openxmlformats.org/drawingml/2006/table">
            <a:tbl>
              <a:tblPr/>
              <a:tblGrid>
                <a:gridCol w="1463040"/>
                <a:gridCol w="932688"/>
                <a:gridCol w="932688"/>
                <a:gridCol w="996696"/>
              </a:tblGrid>
              <a:tr h="352044">
                <a:tc>
                  <a:txBody>
                    <a:bodyPr/>
                    <a:lstStyle/>
                    <a:p>
                      <a:pPr algn="l" indent="0" marL="0">
                        <a:buNone/>
                      </a:pP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LGD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PD × LGD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España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1.73 %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34.4 %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0.59 %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Alemania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31.4 %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0.40 %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Francia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2.15 %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31.5 %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0.68 %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Italia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35.6 %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0.80 %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Portugal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40.0 %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0.50 %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 Bajos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1.18 %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29.7 %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0.35 %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Irlanda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1.08 %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37.3 %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0.40 %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6" name="Text 2"/>
          <p:cNvSpPr txBox="1"/>
          <p:nvPr/>
        </p:nvSpPr>
        <p:spPr>
          <a:xfrm>
            <a:off x="548640" y="5303520"/>
            <a:ext cx="11091672" cy="411480"/>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Fórmula: </a:t>
            </a:r>
            <a:pPr indent="0" marL="0">
              <a:buNone/>
            </a:pPr>
            <a:r>
              <a:rPr lang="en-US" sz="1050" dirty="0">
                <a:solidFill>
                  <a:srgbClr val="2B2B2B"/>
                </a:solidFill>
                <a:latin typeface="Verdana" pitchFamily="34" charset="0"/>
                <a:ea typeface="Verdana" pitchFamily="34" charset="-122"/>
                <a:cs typeface="Verdana" pitchFamily="34" charset="-120"/>
              </a:rPr>
              <a:t>coste del riesgo = PD (probabilidad de impago a un año) × LGD (severidad de la pérdida). Ejemplo España: 1,73 % × 34,38 % = 0,59 %. Es pérdida esperada anual sobre el saldo, no el stock de dudosos de la lámina anterior.</a:t>
            </a:r>
            <a:endParaRPr lang="en-US" sz="1050" dirty="0"/>
          </a:p>
        </p:txBody>
      </p:sp>
      <p:sp>
        <p:nvSpPr>
          <p:cNvPr id="7" name="Text 3"/>
          <p:cNvSpPr txBox="1"/>
          <p:nvPr/>
        </p:nvSpPr>
        <p:spPr>
          <a:xfrm>
            <a:off x="548640" y="5742432"/>
            <a:ext cx="11091672" cy="32004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Italia tiene la peor combinación y Países Bajos la mejor. Irlanda tiene la PD más baja de los siete, 1,08 %, pero una LGD del 37,3 %.</a:t>
            </a:r>
            <a:endParaRPr lang="en-US" sz="1050" dirty="0"/>
          </a:p>
        </p:txBody>
      </p:sp>
      <p:sp>
        <p:nvSpPr>
          <p:cNvPr id="8" name="Text 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anexo de parámetros de riesgo del Risk Dashboard Q1 2026, origen COREP C 9.02. Se usa la mediana de entidades y no la media ponderada, que se deja arrastrar por carteras grandes con parámetros extremos.</a:t>
            </a:r>
            <a:endParaRPr lang="en-US" sz="7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Spread PYME frente a gran empresa: PD y LGD</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Parámetros IRB, mediana de entidades · 2026-Q1 · La PYME falla más pero recupera mejor</a:t>
            </a:r>
            <a:endParaRPr lang="en-US" sz="1100" dirty="0"/>
          </a:p>
        </p:txBody>
      </p:sp>
      <p:graphicFrame>
        <p:nvGraphicFramePr>
          <p:cNvPr id="4" name="Chart 0" descr=""/>
          <p:cNvGraphicFramePr/>
          <p:nvPr/>
        </p:nvGraphicFramePr>
        <p:xfrm>
          <a:off x="548640" y="1600200"/>
          <a:ext cx="5943600" cy="21488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355080" y="1600200"/>
          <a:ext cx="5285232" cy="2148840"/>
        </p:xfrm>
        <a:graphic xmlns:a="http://schemas.openxmlformats.org/drawingml/2006/main">
          <a:graphicData uri="http://schemas.openxmlformats.org/drawingml/2006/chart">
            <c:chart xmlns:c="http://schemas.openxmlformats.org/drawingml/2006/chart" r:id="rId2"/>
          </a:graphicData>
        </a:graphic>
      </p:graphicFrame>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3950208"/>
          <a:ext cx="11091672" cy="914400"/>
        </p:xfrm>
        <a:graphic>
          <a:graphicData uri="http://schemas.openxmlformats.org/drawingml/2006/table">
            <a:tbl>
              <a:tblPr/>
              <a:tblGrid>
                <a:gridCol w="2651760"/>
                <a:gridCol w="1206094"/>
                <a:gridCol w="1206094"/>
                <a:gridCol w="1206094"/>
                <a:gridCol w="1206094"/>
                <a:gridCol w="1206094"/>
                <a:gridCol w="1206094"/>
                <a:gridCol w="1206094"/>
              </a:tblGrid>
              <a:tr h="329184">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Spread PYME − gran empresa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PD (puntos básicos)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+116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+155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+159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+93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+66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LGD (puntos porcentuales)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-5.6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-4.4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-10.3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PD × LGD (puntos básicos)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+44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+53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7" name="Shape 2"/>
          <p:cNvSpPr/>
          <p:nvPr/>
        </p:nvSpPr>
        <p:spPr>
          <a:xfrm>
            <a:off x="548640" y="5440680"/>
            <a:ext cx="11091672" cy="777240"/>
          </a:xfrm>
          <a:prstGeom prst="roundRect">
            <a:avLst>
              <a:gd name="adj" fmla="val 7059"/>
            </a:avLst>
          </a:prstGeom>
          <a:solidFill>
            <a:srgbClr val="FFD6BA"/>
          </a:solidFill>
          <a:ln w="12700">
            <a:solidFill>
              <a:srgbClr val="FFAB70"/>
            </a:solidFill>
            <a:prstDash val="solid"/>
          </a:ln>
        </p:spPr>
      </p:sp>
      <p:sp>
        <p:nvSpPr>
          <p:cNvPr id="8" name="Text 3"/>
          <p:cNvSpPr txBox="1"/>
          <p:nvPr/>
        </p:nvSpPr>
        <p:spPr>
          <a:xfrm>
            <a:off x="749808" y="5532120"/>
            <a:ext cx="10835640" cy="621792"/>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Cautela con el LGD de gran empresa. </a:t>
            </a:r>
            <a:pPr indent="0" marL="0">
              <a:buNone/>
            </a:pPr>
            <a:r>
              <a:rPr lang="en-US" sz="1000" dirty="0">
                <a:solidFill>
                  <a:srgbClr val="2B2B2B"/>
                </a:solidFill>
                <a:latin typeface="Verdana" pitchFamily="34" charset="0"/>
                <a:ea typeface="Verdana" pitchFamily="34" charset="-122"/>
                <a:cs typeface="Verdana" pitchFamily="34" charset="-120"/>
              </a:rPr>
              <a:t>Está agrupado en el 40,0 % en los siete países y en todo el reparto (percentiles 25, 50 y 75), porque es el valor supervisor del IRB básico bajo CRR3, no una estimación propia. La ventaja de severidad de la PYME es real —viene de mayor garantía real— pero está exagerada por ese efecto: en media ponderada la brecha se reduce a la mitad (PYME 23,6–37,9 % frente a gran empresa 35,0–38,8 %). El spread de PD, en cambio, es sólido: la PD sí es estimación propia en ambas clases.</a:t>
            </a:r>
            <a:endParaRPr lang="en-US" sz="1000" dirty="0"/>
          </a:p>
        </p:txBody>
      </p:sp>
      <p:sp>
        <p:nvSpPr>
          <p:cNvPr id="9" name="Text 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anexo de parámetros de riesgo del Risk Dashboard Q1 2026, origen COREP C 9.02. Clases «Corporates – Of Which: SME» y «Corporates – Of Which: Large corporates».</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Consumo de capital de la cartera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RWA sobre valor de exposición · EU-wide Transparency Exercise · Junio 2025 · Incorpora ya el factor de apoyo a PYME del art. 501 CRR</a:t>
            </a:r>
            <a:endParaRPr lang="en-US" sz="1100" dirty="0"/>
          </a:p>
        </p:txBody>
      </p:sp>
      <p:graphicFrame>
        <p:nvGraphicFramePr>
          <p:cNvPr id="4" name="Chart 0" descr=""/>
          <p:cNvGraphicFramePr/>
          <p:nvPr/>
        </p:nvGraphicFramePr>
        <p:xfrm>
          <a:off x="548640" y="1691640"/>
          <a:ext cx="6675120" cy="35661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98080" y="1691640"/>
            <a:ext cx="4142232" cy="1920240"/>
          </a:xfrm>
          <a:prstGeom prst="roundRect">
            <a:avLst>
              <a:gd name="adj" fmla="val 2857"/>
            </a:avLst>
          </a:prstGeom>
          <a:solidFill>
            <a:srgbClr val="FFD6BA"/>
          </a:solidFill>
          <a:ln w="12700">
            <a:solidFill>
              <a:srgbClr val="FFAB70"/>
            </a:solidFill>
            <a:prstDash val="solid"/>
          </a:ln>
        </p:spPr>
      </p:sp>
      <p:sp>
        <p:nvSpPr>
          <p:cNvPr id="6" name="Text 3"/>
          <p:cNvSpPr txBox="1"/>
          <p:nvPr/>
        </p:nvSpPr>
        <p:spPr>
          <a:xfrm>
            <a:off x="7699248" y="1828800"/>
            <a:ext cx="3749040" cy="50292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El capital manda sobre el precio</a:t>
            </a:r>
            <a:endParaRPr lang="en-US" sz="1300" dirty="0"/>
          </a:p>
        </p:txBody>
      </p:sp>
      <p:sp>
        <p:nvSpPr>
          <p:cNvPr id="7" name="Text 4"/>
          <p:cNvSpPr txBox="1"/>
          <p:nvPr/>
        </p:nvSpPr>
        <p:spPr>
          <a:xfrm>
            <a:off x="7699248" y="2359152"/>
            <a:ext cx="3749040" cy="114300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Va del 35,3 % en Alemania al 70,0 % en Irlanda: un euro de préstamo PYME consume el doble de capital en Irlanda que en Alemania. Sobre el mismo margen, eso divide el ROE por dos. Es el factor que más mueve el ranking, por delante del precio.</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7498080" y="3675888"/>
          <a:ext cx="4142232" cy="914400"/>
        </p:xfrm>
        <a:graphic>
          <a:graphicData uri="http://schemas.openxmlformats.org/drawingml/2006/table">
            <a:tbl>
              <a:tblPr/>
              <a:tblGrid>
                <a:gridCol w="1216152"/>
                <a:gridCol w="996696"/>
                <a:gridCol w="960120"/>
                <a:gridCol w="969264"/>
              </a:tblGrid>
              <a:tr h="214884">
                <a:tc>
                  <a:txBody>
                    <a:bodyPr/>
                    <a:lstStyle/>
                    <a:p>
                      <a:pPr algn="l" indent="0" marL="0">
                        <a:buNone/>
                      </a:pP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Densidad</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 CET1</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 Capital</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España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59.5 %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13.67 %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8.13 %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Alemania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35.3 %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16.94 %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5.99 %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Francia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43.0 %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15.88 %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6.83 %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Italia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46.4 %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15.56 %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7.21 %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Portugal</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61.3 %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17.82 %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10.93 %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P. Bajos</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37.2 %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16.38 %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6.09 %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Irlanda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70.0 %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18.31 %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12.81 %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9" name="Text 5"/>
          <p:cNvSpPr txBox="1"/>
          <p:nvPr/>
        </p:nvSpPr>
        <p:spPr>
          <a:xfrm>
            <a:off x="548640" y="5394960"/>
            <a:ext cx="11091672" cy="502920"/>
          </a:xfrm>
          <a:prstGeom prst="rect">
            <a:avLst/>
          </a:prstGeom>
          <a:noFill/>
          <a:ln/>
        </p:spPr>
        <p:txBody>
          <a:bodyPr wrap="square" lIns="0" tIns="0" rIns="0" bIns="0" rtlCol="0" anchor="ctr"/>
          <a:lstStyle/>
          <a:p>
            <a:pPr indent="0" marL="0">
              <a:buNone/>
            </a:pPr>
            <a:r>
              <a:rPr lang="en-US" sz="1050" dirty="0">
                <a:solidFill>
                  <a:srgbClr val="2B2B2B"/>
                </a:solidFill>
                <a:latin typeface="Verdana" pitchFamily="34" charset="0"/>
                <a:ea typeface="Verdana" pitchFamily="34" charset="-122"/>
                <a:cs typeface="Verdana" pitchFamily="34" charset="-120"/>
              </a:rPr>
              <a:t>Capital asignado = densidad de RWA × ratio CET1. Ambos observados por país; no hay supuesto en esta línea.</a:t>
            </a:r>
            <a:endParaRPr lang="en-US" sz="1050" dirty="0"/>
          </a:p>
        </p:txBody>
      </p:sp>
      <p:sp>
        <p:nvSpPr>
          <p:cNvPr id="10" name="Text 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EU-wide Transparency Exercise 2025, fichero tr_cre.csv, partidas 2520523 (valor de exposición PYME) y 2520533 (RWA PYME), agregadas por supervisor nacional. La diferencia refleja el peso de modelos internos frente a método estándar y la garantía aportada.</a:t>
            </a:r>
            <a:endParaRPr lang="en-US" sz="7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Eficiencia, capital y comisiones en Sistema Bancario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2026-Q1 · Nivel de grupo consolidado, no de segmento PYME</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91672" cy="914400"/>
        </p:xfrm>
        <a:graphic>
          <a:graphicData uri="http://schemas.openxmlformats.org/drawingml/2006/table">
            <a:tbl>
              <a:tblPr/>
              <a:tblGrid>
                <a:gridCol w="2468880"/>
                <a:gridCol w="1231697"/>
                <a:gridCol w="1231697"/>
                <a:gridCol w="1231697"/>
                <a:gridCol w="1231697"/>
                <a:gridCol w="1231697"/>
                <a:gridCol w="1231697"/>
                <a:gridCol w="1231697"/>
              </a:tblGrid>
              <a:tr h="420624">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Indicador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Ratio de NPL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1.97 %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1.91 %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Coste del 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Eficiencia (cost-income)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42.1 %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55.1 %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46.8 %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34.8 %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53.5 %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57.4 %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ROE del sistema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9.4 %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Ratio CET1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Comisiones / ingresos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32.0 %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5" name="Shape 2"/>
          <p:cNvSpPr/>
          <p:nvPr/>
        </p:nvSpPr>
        <p:spPr>
          <a:xfrm>
            <a:off x="548640" y="4663440"/>
            <a:ext cx="5486400" cy="1371600"/>
          </a:xfrm>
          <a:prstGeom prst="roundRect">
            <a:avLst>
              <a:gd name="adj" fmla="val 4000"/>
            </a:avLst>
          </a:prstGeom>
          <a:solidFill>
            <a:srgbClr val="E5E5E5"/>
          </a:solidFill>
          <a:ln w="12700">
            <a:solidFill>
              <a:srgbClr val="CACACA"/>
            </a:solidFill>
            <a:prstDash val="solid"/>
          </a:ln>
        </p:spPr>
      </p:sp>
      <p:sp>
        <p:nvSpPr>
          <p:cNvPr id="6" name="Text 3"/>
          <p:cNvSpPr txBox="1"/>
          <p:nvPr/>
        </p:nvSpPr>
        <p:spPr>
          <a:xfrm>
            <a:off x="749808" y="4800600"/>
            <a:ext cx="5074920" cy="292608"/>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Por qué España rinde pese al spread estrecho</a:t>
            </a:r>
            <a:endParaRPr lang="en-US" sz="1300" dirty="0"/>
          </a:p>
        </p:txBody>
      </p:sp>
      <p:sp>
        <p:nvSpPr>
          <p:cNvPr id="7" name="Text 4"/>
          <p:cNvSpPr txBox="1"/>
          <p:nvPr/>
        </p:nvSpPr>
        <p:spPr>
          <a:xfrm>
            <a:off x="749808" y="5138928"/>
            <a:ext cx="5074920" cy="77724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Segunda mejor eficiencia (42,1 %) y el mayor ROE de sistema (18,5 %). Compensa por volumen y coste operativo, no por precio.</a:t>
            </a:r>
            <a:endParaRPr lang="en-US" sz="1150" dirty="0"/>
          </a:p>
        </p:txBody>
      </p:sp>
      <p:sp>
        <p:nvSpPr>
          <p:cNvPr id="8" name="Shape 5"/>
          <p:cNvSpPr/>
          <p:nvPr/>
        </p:nvSpPr>
        <p:spPr>
          <a:xfrm>
            <a:off x="6263640" y="4663440"/>
            <a:ext cx="5376672" cy="1371600"/>
          </a:xfrm>
          <a:prstGeom prst="roundRect">
            <a:avLst>
              <a:gd name="adj" fmla="val 4000"/>
            </a:avLst>
          </a:prstGeom>
          <a:solidFill>
            <a:srgbClr val="FFD6BA"/>
          </a:solidFill>
          <a:ln w="12700">
            <a:solidFill>
              <a:srgbClr val="FFAB70"/>
            </a:solidFill>
            <a:prstDash val="solid"/>
          </a:ln>
        </p:spPr>
      </p:sp>
      <p:sp>
        <p:nvSpPr>
          <p:cNvPr id="9" name="Text 6"/>
          <p:cNvSpPr txBox="1"/>
          <p:nvPr/>
        </p:nvSpPr>
        <p:spPr>
          <a:xfrm>
            <a:off x="6464808" y="4800600"/>
            <a:ext cx="498348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Advertencia sobre estas cifras</a:t>
            </a:r>
            <a:endParaRPr lang="en-US" sz="1300" dirty="0"/>
          </a:p>
        </p:txBody>
      </p:sp>
      <p:sp>
        <p:nvSpPr>
          <p:cNvPr id="10" name="Text 7"/>
          <p:cNvSpPr txBox="1"/>
          <p:nvPr/>
        </p:nvSpPr>
        <p:spPr>
          <a:xfrm>
            <a:off x="6464808" y="5138928"/>
            <a:ext cx="4983480" cy="77724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Son de grupo consolidado. El coste del riesgo español (1,22 %) está inflado por el negocio internacional: CaixaBank, doméstico, reporta 0,24 %. Por eso el modelo no usa esta fila.</a:t>
            </a:r>
            <a:endParaRPr lang="en-US" sz="115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anexo de datos Q1 2026, indicadores AQT_3.2, PFT_43, PFT_23, PFT_21, SVC_3 y PFT_26.</a:t>
            </a:r>
            <a:endParaRPr lang="en-US" sz="7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Circulante: líneas de crédito y descubiertos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Tipo de nueva producción a empresas · Media 2026 · Serie A2Z1, que excluye deuda de tarjeta</a:t>
            </a:r>
            <a:endParaRPr lang="en-US" sz="1100" dirty="0"/>
          </a:p>
        </p:txBody>
      </p:sp>
      <p:graphicFrame>
        <p:nvGraphicFramePr>
          <p:cNvPr id="4" name="Chart 0" descr=""/>
          <p:cNvGraphicFramePr/>
          <p:nvPr/>
        </p:nvGraphicFramePr>
        <p:xfrm>
          <a:off x="548640" y="1691640"/>
          <a:ext cx="6675120" cy="36576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98080" y="1691640"/>
            <a:ext cx="4142232" cy="1737360"/>
          </a:xfrm>
          <a:prstGeom prst="roundRect">
            <a:avLst>
              <a:gd name="adj" fmla="val 3158"/>
            </a:avLst>
          </a:prstGeom>
          <a:solidFill>
            <a:srgbClr val="FFCCE8"/>
          </a:solidFill>
          <a:ln w="12700">
            <a:solidFill>
              <a:srgbClr val="FF8AC2"/>
            </a:solidFill>
            <a:prstDash val="solid"/>
          </a:ln>
        </p:spPr>
      </p:sp>
      <p:sp>
        <p:nvSpPr>
          <p:cNvPr id="6" name="Text 3"/>
          <p:cNvSpPr txBox="1"/>
          <p:nvPr/>
        </p:nvSpPr>
        <p:spPr>
          <a:xfrm>
            <a:off x="7699248" y="1828800"/>
            <a:ext cx="374904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Hueco: no hay volumen por país</a:t>
            </a:r>
            <a:endParaRPr lang="en-US" sz="1300" dirty="0"/>
          </a:p>
        </p:txBody>
      </p:sp>
      <p:sp>
        <p:nvSpPr>
          <p:cNvPr id="7" name="Text 4"/>
          <p:cNvSpPr txBox="1"/>
          <p:nvPr/>
        </p:nvSpPr>
        <p:spPr>
          <a:xfrm>
            <a:off x="7699248" y="2194560"/>
            <a:ext cx="3749040" cy="114300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El BCE publica el tipo de circulante por país, pero el volumen de nueva producción solo existe para el agregado de zona euro. No se puede calcular el peso del circulante en la cartera de cada país con fuentes oficiales.</a:t>
            </a:r>
            <a:endParaRPr lang="en-US" sz="1100" dirty="0"/>
          </a:p>
        </p:txBody>
      </p:sp>
      <p:sp>
        <p:nvSpPr>
          <p:cNvPr id="8" name="Shape 5"/>
          <p:cNvSpPr/>
          <p:nvPr/>
        </p:nvSpPr>
        <p:spPr>
          <a:xfrm>
            <a:off x="7498080" y="3611880"/>
            <a:ext cx="4142232" cy="1737360"/>
          </a:xfrm>
          <a:prstGeom prst="roundRect">
            <a:avLst>
              <a:gd name="adj" fmla="val 3158"/>
            </a:avLst>
          </a:prstGeom>
          <a:solidFill>
            <a:srgbClr val="E5E5E5"/>
          </a:solidFill>
          <a:ln w="12700">
            <a:solidFill>
              <a:srgbClr val="CACACA"/>
            </a:solidFill>
            <a:prstDash val="solid"/>
          </a:ln>
        </p:spPr>
      </p:sp>
      <p:sp>
        <p:nvSpPr>
          <p:cNvPr id="9" name="Text 6"/>
          <p:cNvSpPr txBox="1"/>
          <p:nvPr/>
        </p:nvSpPr>
        <p:spPr>
          <a:xfrm>
            <a:off x="7699248" y="3749040"/>
            <a:ext cx="3749040" cy="292608"/>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Dos perímetros distintos</a:t>
            </a:r>
            <a:endParaRPr lang="en-US" sz="1300" dirty="0"/>
          </a:p>
        </p:txBody>
      </p:sp>
      <p:sp>
        <p:nvSpPr>
          <p:cNvPr id="10" name="Text 7"/>
          <p:cNvSpPr txBox="1"/>
          <p:nvPr/>
        </p:nvSpPr>
        <p:spPr>
          <a:xfrm>
            <a:off x="7699248" y="4114800"/>
            <a:ext cx="3749040" cy="114300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A2Z1 son revolving y descubiertos. A2Z añade deuda de tarjeta. La diferencia va de 0 a 4 pb, mayor en Francia y zona euro. Se usa A2Z1, que es el perímetro de circulante de empresa.</a:t>
            </a:r>
            <a:endParaRPr lang="en-US" sz="110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dataset MIR, serie A2Z1 (revolving y descubiertos a sociedades no financieras). El dato de julio de 2026 es provisional en España, Alemania, Francia, Italia y zona euro.</a:t>
            </a:r>
            <a:endParaRPr lang="en-US" sz="7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Hipoteca PYME: no existe estadística oficial</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El bloque se cubre con exposición a inmueble comercial, que es el proxy disponible</a:t>
            </a:r>
            <a:endParaRPr lang="en-US" sz="1100" dirty="0"/>
          </a:p>
        </p:txBody>
      </p:sp>
      <p:sp>
        <p:nvSpPr>
          <p:cNvPr id="4" name="Shape 2"/>
          <p:cNvSpPr/>
          <p:nvPr/>
        </p:nvSpPr>
        <p:spPr>
          <a:xfrm>
            <a:off x="548640" y="1645920"/>
            <a:ext cx="11091672" cy="1143000"/>
          </a:xfrm>
          <a:prstGeom prst="roundRect">
            <a:avLst>
              <a:gd name="adj" fmla="val 4800"/>
            </a:avLst>
          </a:prstGeom>
          <a:solidFill>
            <a:srgbClr val="FFCCE8"/>
          </a:solidFill>
          <a:ln w="12700">
            <a:solidFill>
              <a:srgbClr val="FF8AC2"/>
            </a:solidFill>
            <a:prstDash val="solid"/>
          </a:ln>
        </p:spPr>
      </p:sp>
      <p:sp>
        <p:nvSpPr>
          <p:cNvPr id="5" name="Text 3"/>
          <p:cNvSpPr txBox="1"/>
          <p:nvPr/>
        </p:nvSpPr>
        <p:spPr>
          <a:xfrm>
            <a:off x="777240" y="1764792"/>
            <a:ext cx="10789920" cy="274320"/>
          </a:xfrm>
          <a:prstGeom prst="rect">
            <a:avLst/>
          </a:prstGeom>
          <a:noFill/>
          <a:ln/>
        </p:spPr>
        <p:txBody>
          <a:bodyPr wrap="square" lIns="0" tIns="0" rIns="0" bIns="0" rtlCol="0" anchor="ctr"/>
          <a:lstStyle/>
          <a:p>
            <a:pPr indent="0" marL="0">
              <a:buNone/>
            </a:pPr>
            <a:r>
              <a:rPr lang="en-US" sz="1400" b="1" dirty="0">
                <a:solidFill>
                  <a:srgbClr val="2B2B2B"/>
                </a:solidFill>
                <a:latin typeface="Verdana" pitchFamily="34" charset="0"/>
                <a:ea typeface="Verdana" pitchFamily="34" charset="-122"/>
                <a:cs typeface="Verdana" pitchFamily="34" charset="-120"/>
              </a:rPr>
              <a:t>Qué falta y por qué</a:t>
            </a:r>
            <a:endParaRPr lang="en-US" sz="1400" dirty="0"/>
          </a:p>
        </p:txBody>
      </p:sp>
      <p:sp>
        <p:nvSpPr>
          <p:cNvPr id="6" name="Text 4"/>
          <p:cNvSpPr txBox="1"/>
          <p:nvPr/>
        </p:nvSpPr>
        <p:spPr>
          <a:xfrm>
            <a:off x="777240" y="2084832"/>
            <a:ext cx="10789920" cy="64008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El dataset MIR del BCE publica préstamos para adquisición de vivienda solo del sector hogares. No hay desglose de préstamo con garantía inmobiliaria a empresas en ninguno de los seis países. El crédito con garantía real a PYME queda subsumido en la serie genérica por tramo de importe, y su precio no es observable por separado.</a:t>
            </a:r>
            <a:endParaRPr lang="en-US" sz="1200" dirty="0"/>
          </a:p>
        </p:txBody>
      </p:sp>
      <p:sp>
        <p:nvSpPr>
          <p:cNvPr id="7" name="Text 5"/>
          <p:cNvSpPr txBox="1"/>
          <p:nvPr/>
        </p:nvSpPr>
        <p:spPr>
          <a:xfrm>
            <a:off x="548640" y="2999232"/>
            <a:ext cx="10789920" cy="320040"/>
          </a:xfrm>
          <a:prstGeom prst="rect">
            <a:avLst/>
          </a:prstGeom>
          <a:noFill/>
          <a:ln/>
        </p:spPr>
        <p:txBody>
          <a:bodyPr wrap="square" lIns="0" tIns="0" rIns="0" bIns="0" rtlCol="0" anchor="ctr"/>
          <a:lstStyle/>
          <a:p>
            <a:pPr indent="0" marL="0">
              <a:buNone/>
            </a:pPr>
            <a:r>
              <a:rPr lang="en-US" sz="1500" b="1" dirty="0">
                <a:solidFill>
                  <a:srgbClr val="F56600"/>
                </a:solidFill>
                <a:latin typeface="Verdana" pitchFamily="34" charset="0"/>
                <a:ea typeface="Verdana" pitchFamily="34" charset="-122"/>
                <a:cs typeface="Verdana" pitchFamily="34" charset="-120"/>
              </a:rPr>
              <a:t>Proxy disponible: ratio de NPL de la cartera de inmueble comercial (CRE)</a:t>
            </a:r>
            <a:endParaRPr lang="en-US" sz="1500" dirty="0"/>
          </a:p>
        </p:txBody>
      </p:sp>
      <p:sp>
        <p:nvSpPr>
          <p:cNvPr id="8" name="Text 6"/>
          <p:cNvSpPr txBox="1"/>
          <p:nvPr/>
        </p:nvSpPr>
        <p:spPr>
          <a:xfrm>
            <a:off x="548640" y="3310128"/>
            <a:ext cx="10789920" cy="274320"/>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El gráfico muestra el porcentaje de la cartera de inmueble comercial que está en mora. No es un precio ni un margen: es calidad de activo.</a:t>
            </a:r>
            <a:endParaRPr lang="en-US" sz="1000" dirty="0"/>
          </a:p>
        </p:txBody>
      </p:sp>
      <p:graphicFrame>
        <p:nvGraphicFramePr>
          <p:cNvPr id="9" name="Chart 0" descr=""/>
          <p:cNvGraphicFramePr/>
          <p:nvPr/>
        </p:nvGraphicFramePr>
        <p:xfrm>
          <a:off x="548640" y="3639312"/>
          <a:ext cx="10789920" cy="2029968"/>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Q1 2026, desglose «of which CRE». Alemania destaca con el peor NPL de inmueble comercial de los seis (6,81 %), muy por encima de su NPL total (1,61 %).</a:t>
            </a:r>
            <a:endParaRPr lang="en-US" sz="7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Factoring y confirming: volumen sí, precio no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Volumen cedido 2025 y penetración sobre PIB · El precio no es obtenible con fuentes públicas</a:t>
            </a:r>
            <a:endParaRPr lang="en-US" sz="1100" dirty="0"/>
          </a:p>
        </p:txBody>
      </p:sp>
      <p:graphicFrame>
        <p:nvGraphicFramePr>
          <p:cNvPr id="4" name="Chart 0" descr=""/>
          <p:cNvGraphicFramePr/>
          <p:nvPr/>
        </p:nvGraphicFramePr>
        <p:xfrm>
          <a:off x="548640" y="1691640"/>
          <a:ext cx="6309360" cy="32918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132320" y="1691640"/>
            <a:ext cx="4507992" cy="1783080"/>
          </a:xfrm>
          <a:prstGeom prst="roundRect">
            <a:avLst>
              <a:gd name="adj" fmla="val 3077"/>
            </a:avLst>
          </a:prstGeom>
          <a:solidFill>
            <a:srgbClr val="FFCCE8"/>
          </a:solidFill>
          <a:ln w="12700">
            <a:solidFill>
              <a:srgbClr val="FF8AC2"/>
            </a:solidFill>
            <a:prstDash val="solid"/>
          </a:ln>
        </p:spPr>
      </p:sp>
      <p:sp>
        <p:nvSpPr>
          <p:cNvPr id="6" name="Text 3"/>
          <p:cNvSpPr txBox="1"/>
          <p:nvPr/>
        </p:nvSpPr>
        <p:spPr>
          <a:xfrm>
            <a:off x="7333488" y="1810512"/>
            <a:ext cx="411480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La tabla de la EUF no es comparable</a:t>
            </a:r>
            <a:endParaRPr lang="en-US" sz="1300" dirty="0"/>
          </a:p>
        </p:txBody>
      </p:sp>
      <p:sp>
        <p:nvSpPr>
          <p:cNvPr id="7" name="Text 4"/>
          <p:cNvSpPr txBox="1"/>
          <p:nvPr/>
        </p:nvSpPr>
        <p:spPr>
          <a:xfrm>
            <a:off x="7333488" y="2176272"/>
            <a:ext cx="4114800" cy="11887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El 52,6 % de la cifra española es confirming. En Italia el confirming es el 1,9 %. Comparar los 269.885 M€ de España con los 297.445 M€ de Italia es comparar pago confirmado a proveedores contra cesión de facturas.</a:t>
            </a:r>
            <a:endParaRPr lang="en-US" sz="1100" dirty="0"/>
          </a:p>
        </p:txBody>
      </p:sp>
      <p:sp>
        <p:nvSpPr>
          <p:cNvPr id="8" name="Shape 5"/>
          <p:cNvSpPr/>
          <p:nvPr/>
        </p:nvSpPr>
        <p:spPr>
          <a:xfrm>
            <a:off x="7132320" y="3639312"/>
            <a:ext cx="4507992" cy="1344168"/>
          </a:xfrm>
          <a:prstGeom prst="roundRect">
            <a:avLst>
              <a:gd name="adj" fmla="val 4082"/>
            </a:avLst>
          </a:prstGeom>
          <a:solidFill>
            <a:srgbClr val="E5E5E5"/>
          </a:solidFill>
          <a:ln w="12700">
            <a:solidFill>
              <a:srgbClr val="CACACA"/>
            </a:solidFill>
            <a:prstDash val="solid"/>
          </a:ln>
        </p:spPr>
      </p:sp>
      <p:sp>
        <p:nvSpPr>
          <p:cNvPr id="9" name="Text 6"/>
          <p:cNvSpPr txBox="1"/>
          <p:nvPr/>
        </p:nvSpPr>
        <p:spPr>
          <a:xfrm>
            <a:off x="7333488" y="3758184"/>
            <a:ext cx="4114800" cy="27432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Sin precio en ninguna fuente</a:t>
            </a:r>
            <a:endParaRPr lang="en-US" sz="1300" dirty="0"/>
          </a:p>
        </p:txBody>
      </p:sp>
      <p:sp>
        <p:nvSpPr>
          <p:cNvPr id="10" name="Text 7"/>
          <p:cNvSpPr txBox="1"/>
          <p:nvPr/>
        </p:nvSpPr>
        <p:spPr>
          <a:xfrm>
            <a:off x="7333488" y="4096512"/>
            <a:ext cx="4114800" cy="82296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Ni EUF, ni AEF, ni Assifact, ni la OCDE publican comisión de cesión o tipo de descuento. Las cuentas de las filiales especializadas están en registros de pago.</a:t>
            </a:r>
            <a:endParaRPr lang="en-US" sz="1100" dirty="0"/>
          </a:p>
        </p:txBody>
      </p:sp>
      <p:sp>
        <p:nvSpPr>
          <p:cNvPr id="11" name="Text 8"/>
          <p:cNvSpPr txBox="1"/>
          <p:nvPr/>
        </p:nvSpPr>
        <p:spPr>
          <a:xfrm>
            <a:off x="548640" y="5120640"/>
            <a:ext cx="11091672" cy="36576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Volumen cedido 2025 (M€):  España 270k  ·  Alemania 423k  ·  Francia 439k  ·  Italia 297k  ·  Portugal 52k  ·  P. Bajos 165k  ·  Irlanda 29k</a:t>
            </a:r>
            <a:endParaRPr lang="en-US" sz="1150" dirty="0"/>
          </a:p>
        </p:txBody>
      </p:sp>
      <p:sp>
        <p:nvSpPr>
          <p:cNvPr id="12"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EUF (datos anuales 2025), AEF para el desglose español, Assifact para el italiano. El turnover es importe cedido en el año, no saldo vivo: no comparable con cartera de crédito.</a:t>
            </a:r>
            <a:endParaRPr lang="en-US" sz="7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Comparables banco a banco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Cuentas de resultados 2026 · De nueve bancos analizados, solo dos publican segmento de empresas con desglose de comisiones</a:t>
            </a:r>
            <a:endParaRPr lang="en-US" sz="1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11091672" cy="914400"/>
        </p:xfrm>
        <a:graphic>
          <a:graphicData uri="http://schemas.openxmlformats.org/drawingml/2006/table">
            <a:tbl>
              <a:tblPr/>
              <a:tblGrid>
                <a:gridCol w="2194560"/>
                <a:gridCol w="1371600"/>
                <a:gridCol w="3017520"/>
                <a:gridCol w="1463040"/>
                <a:gridCol w="1463040"/>
                <a:gridCol w="1143000"/>
                <a:gridCol w="1353312"/>
              </a:tblGrid>
              <a:tr h="457200">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Banco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Segmento publicado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Ingresos M€</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Comisiones M€</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Com./ing.</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Eficiencia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Commerzbank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Corporate Clients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1.232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30,5 %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ABN AMRO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Corporate Banking</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1.694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429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25,3 %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49,5 %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Intesa Sanpaolo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Banca dei Territori</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6.205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no desglosa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46,7 %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CaixaBank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tiene segmento empresas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8.338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2.075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24,9 %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39,6 %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BPER Banca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desglosa por división</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3.876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1.353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34,9 %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41,4 %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i="1" dirty="0">
                          <a:solidFill>
                            <a:srgbClr val="818181"/>
                          </a:solidFill>
                          <a:latin typeface="Verdana" pitchFamily="34" charset="0"/>
                          <a:ea typeface="Verdana" pitchFamily="34" charset="-122"/>
                          <a:cs typeface="Verdana" pitchFamily="34" charset="-120"/>
                        </a:rPr>
                        <a:t>ING · SocGen · BNP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accesible: bloqueo antibot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5" name="Shape 2"/>
          <p:cNvSpPr/>
          <p:nvPr/>
        </p:nvSpPr>
        <p:spPr>
          <a:xfrm>
            <a:off x="548640" y="4800600"/>
            <a:ext cx="11091672" cy="1234440"/>
          </a:xfrm>
          <a:prstGeom prst="roundRect">
            <a:avLst>
              <a:gd name="adj" fmla="val 4444"/>
            </a:avLst>
          </a:prstGeom>
          <a:solidFill>
            <a:srgbClr val="FFCCE8"/>
          </a:solidFill>
          <a:ln w="12700">
            <a:solidFill>
              <a:srgbClr val="FF8AC2"/>
            </a:solidFill>
            <a:prstDash val="solid"/>
          </a:ln>
        </p:spPr>
      </p:sp>
      <p:sp>
        <p:nvSpPr>
          <p:cNvPr id="6" name="Text 3"/>
          <p:cNvSpPr txBox="1"/>
          <p:nvPr/>
        </p:nvSpPr>
        <p:spPr>
          <a:xfrm>
            <a:off x="777240" y="4919472"/>
            <a:ext cx="10789920" cy="274320"/>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Por qué esto no cierra la pata de comisiones</a:t>
            </a:r>
            <a:endParaRPr lang="en-US" sz="1300" dirty="0"/>
          </a:p>
        </p:txBody>
      </p:sp>
      <p:sp>
        <p:nvSpPr>
          <p:cNvPr id="7" name="Text 4"/>
          <p:cNvSpPr txBox="1"/>
          <p:nvPr/>
        </p:nvSpPr>
        <p:spPr>
          <a:xfrm>
            <a:off x="777240" y="5230368"/>
            <a:ext cx="10789920" cy="7315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La NIIF 8 obliga a reportar por los segmentos que usa la dirección, y casi ninguno usa «PYME». El segmento de Commerzbank mezcla gran empresa, PYME, sector público e institucionales. En ABN AMRO la PYME neerlandesa ni siquiera está en Corporate Banking, sino en Personal &amp; Business Banking. El peso de comisiones del 25 % al 35 % sirve como orden de magnitud de la banca de empresas, no como medida del negocio PYME.</a:t>
            </a:r>
            <a:endParaRPr lang="en-US" sz="110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comunicado de resultados Q2 2026 de Commerzbank; informe intermedio Q2 2026 de ABN AMRO; resultados 1H26 de Intesa Sanpaolo; Actividad y Resultados 1S26 de CaixaBank; resultados 1H26 de BPER. Cifras de segmento donde existe, de grupo en el resto.</a:t>
            </a:r>
            <a:endParaRPr lang="en-US" sz="7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Supuestos del modelo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Cada uno declarado, con su origen y su efecto · Dos de los iniciales han dejado de ser supuestos</a:t>
            </a:r>
            <a:endParaRPr lang="en-US" sz="11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2468880"/>
                <a:gridCol w="1600200"/>
                <a:gridCol w="4114800"/>
                <a:gridCol w="2898648"/>
              </a:tblGrid>
              <a:tr h="566928">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Supuesto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Valor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Origen</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Efecto si cambia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56692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 de comisiones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87 pb</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Observada en España (TAE − TEDR, tramo ≤1 M€). Aplicada a los otros cinco países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Mueve el ROE entre 3 y 12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56692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Coste de los recursos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0,41 % a 1,34 %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Observado. Tipos del MIR ponderados por saldos del BSI. Supone financiar el crédito PYME con depósito de empresa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Con fondeo en mercado al 2,23 % los ROE caerían entre 6 y 12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56692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Coste del riesgo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PD × LGD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Parámetros IRB de la clase «Corporates – Of Which: SME», mediana de entidades (COREP C 9.02)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56692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Densidad de RWA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35 % a 61 %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RWA sobre exposición de la cartera PYME (EBA Transparency Exercise)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56692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Tipo impositivo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15,0 % a 30,1 %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Tipo aplicable a bancos: España 30 % por el art. 29 LIS, Irlanda 15 % por el mínimo de Pilar Dos, resto combinado 2026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56692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Eficiencia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EBA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Observada, pero de grupo consolidado y no de segmento PYME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MEDIO. Penaliza a países con banca universal compleja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5" name="Text 2"/>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El modelo completo y reproducible está en scripts/modelo_roe.py del repositorio. Cada fila del CSV de salida declara si el valor es observado o supuesto.</a:t>
            </a:r>
            <a:endParaRPr lang="en-US" sz="7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Conclusiones y recomendaciones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Lo que sostienen los datos y lo que se deriva para una decisión de entrada</a:t>
            </a:r>
            <a:endParaRPr lang="en-US" sz="1100" dirty="0"/>
          </a:p>
        </p:txBody>
      </p:sp>
      <p:sp>
        <p:nvSpPr>
          <p:cNvPr id="4" name="Shape 2"/>
          <p:cNvSpPr/>
          <p:nvPr/>
        </p:nvSpPr>
        <p:spPr>
          <a:xfrm>
            <a:off x="548640" y="1609344"/>
            <a:ext cx="329184" cy="329184"/>
          </a:xfrm>
          <a:prstGeom prst="ellipse">
            <a:avLst/>
          </a:prstGeom>
          <a:solidFill>
            <a:srgbClr val="F56600"/>
          </a:solidFill>
          <a:ln w="12700">
            <a:solidFill>
              <a:srgbClr val="F56600"/>
            </a:solidFill>
            <a:prstDash val="solid"/>
          </a:ln>
        </p:spPr>
      </p:sp>
      <p:sp>
        <p:nvSpPr>
          <p:cNvPr id="5" name="Text 3"/>
          <p:cNvSpPr txBox="1"/>
          <p:nvPr/>
        </p:nvSpPr>
        <p:spPr>
          <a:xfrm>
            <a:off x="548640" y="160934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1</a:t>
            </a:r>
            <a:endParaRPr lang="en-US" sz="1300" dirty="0"/>
          </a:p>
        </p:txBody>
      </p:sp>
      <p:sp>
        <p:nvSpPr>
          <p:cNvPr id="6" name="Text 4"/>
          <p:cNvSpPr txBox="1"/>
          <p:nvPr/>
        </p:nvSpPr>
        <p:spPr>
          <a:xfrm>
            <a:off x="1051560" y="1572768"/>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capital manda sobre el precio</a:t>
            </a:r>
            <a:endParaRPr lang="en-US" sz="1250" dirty="0"/>
          </a:p>
        </p:txBody>
      </p:sp>
      <p:sp>
        <p:nvSpPr>
          <p:cNvPr id="7" name="Text 5"/>
          <p:cNvSpPr txBox="1"/>
          <p:nvPr/>
        </p:nvSpPr>
        <p:spPr>
          <a:xfrm>
            <a:off x="1051560" y="1856232"/>
            <a:ext cx="10607040" cy="566928"/>
          </a:xfrm>
          <a:prstGeom prst="rect">
            <a:avLst/>
          </a:prstGeom>
          <a:noFill/>
          <a:ln/>
        </p:spPr>
        <p:txBody>
          <a:bodyPr wrap="square" lIns="0" tIns="0" rIns="0" bIns="0" rtlCol="0" anchor="ctr"/>
          <a:lstStyle/>
          <a:p>
            <a:pPr indent="0" marL="0">
              <a:buNone/>
            </a:pPr>
            <a:r>
              <a:rPr lang="en-US" sz="950" dirty="0">
                <a:solidFill>
                  <a:srgbClr val="818181"/>
                </a:solidFill>
                <a:latin typeface="Verdana" pitchFamily="34" charset="0"/>
                <a:ea typeface="Verdana" pitchFamily="34" charset="-122"/>
                <a:cs typeface="Verdana" pitchFamily="34" charset="-120"/>
              </a:rPr>
              <a:t>La densidad de RWA va del 35 % en Alemania al 70 % en Irlanda. Esa horquilla separa más el ROE que el precio, que solo va del 3,41 % al 5,37 %. Irlanda lo demuestra: tiene el precio más alto de las siete y la mejor PD, y aun así queda sexta entre los bancos locales.</a:t>
            </a:r>
            <a:endParaRPr lang="en-US" sz="950" dirty="0"/>
          </a:p>
        </p:txBody>
      </p:sp>
      <p:sp>
        <p:nvSpPr>
          <p:cNvPr id="8" name="Shape 6"/>
          <p:cNvSpPr/>
          <p:nvPr/>
        </p:nvSpPr>
        <p:spPr>
          <a:xfrm>
            <a:off x="548640" y="2551176"/>
            <a:ext cx="329184" cy="329184"/>
          </a:xfrm>
          <a:prstGeom prst="ellipse">
            <a:avLst/>
          </a:prstGeom>
          <a:solidFill>
            <a:srgbClr val="F56600"/>
          </a:solidFill>
          <a:ln w="12700">
            <a:solidFill>
              <a:srgbClr val="F56600"/>
            </a:solidFill>
            <a:prstDash val="solid"/>
          </a:ln>
        </p:spPr>
      </p:sp>
      <p:sp>
        <p:nvSpPr>
          <p:cNvPr id="9" name="Text 7"/>
          <p:cNvSpPr txBox="1"/>
          <p:nvPr/>
        </p:nvSpPr>
        <p:spPr>
          <a:xfrm>
            <a:off x="548640" y="255117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2</a:t>
            </a:r>
            <a:endParaRPr lang="en-US" sz="1300" dirty="0"/>
          </a:p>
        </p:txBody>
      </p:sp>
      <p:sp>
        <p:nvSpPr>
          <p:cNvPr id="10" name="Text 8"/>
          <p:cNvSpPr txBox="1"/>
          <p:nvPr/>
        </p:nvSpPr>
        <p:spPr>
          <a:xfrm>
            <a:off x="1051560" y="2514600"/>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atractivo para un entrante no coincide con la rentabilidad del local</a:t>
            </a:r>
            <a:endParaRPr lang="en-US" sz="1250" dirty="0"/>
          </a:p>
        </p:txBody>
      </p:sp>
      <p:sp>
        <p:nvSpPr>
          <p:cNvPr id="11" name="Text 9"/>
          <p:cNvSpPr txBox="1"/>
          <p:nvPr/>
        </p:nvSpPr>
        <p:spPr>
          <a:xfrm>
            <a:off x="1051560" y="2798064"/>
            <a:ext cx="10607040" cy="566928"/>
          </a:xfrm>
          <a:prstGeom prst="rect">
            <a:avLst/>
          </a:prstGeom>
          <a:noFill/>
          <a:ln/>
        </p:spPr>
        <p:txBody>
          <a:bodyPr wrap="square" lIns="0" tIns="0" rIns="0" bIns="0" rtlCol="0" anchor="ctr"/>
          <a:lstStyle/>
          <a:p>
            <a:pPr indent="0" marL="0">
              <a:buNone/>
            </a:pPr>
            <a:r>
              <a:rPr lang="en-US" sz="950" dirty="0">
                <a:solidFill>
                  <a:srgbClr val="818181"/>
                </a:solidFill>
                <a:latin typeface="Verdana" pitchFamily="34" charset="0"/>
                <a:ea typeface="Verdana" pitchFamily="34" charset="-122"/>
                <a:cs typeface="Verdana" pitchFamily="34" charset="-120"/>
              </a:rPr>
              <a:t>Francia es el peor mercado para su banca (5,0 %) y el cuarto mejor para un entrante eficiente (21,8 %). Lo que se compra al entrar no es el margen del mercado, es la distancia respecto al incumbente.</a:t>
            </a:r>
            <a:endParaRPr lang="en-US" sz="950" dirty="0"/>
          </a:p>
        </p:txBody>
      </p:sp>
      <p:sp>
        <p:nvSpPr>
          <p:cNvPr id="12" name="Shape 10"/>
          <p:cNvSpPr/>
          <p:nvPr/>
        </p:nvSpPr>
        <p:spPr>
          <a:xfrm>
            <a:off x="548640" y="3493008"/>
            <a:ext cx="329184" cy="329184"/>
          </a:xfrm>
          <a:prstGeom prst="ellipse">
            <a:avLst/>
          </a:prstGeom>
          <a:solidFill>
            <a:srgbClr val="F56600"/>
          </a:solidFill>
          <a:ln w="12700">
            <a:solidFill>
              <a:srgbClr val="F56600"/>
            </a:solidFill>
            <a:prstDash val="solid"/>
          </a:ln>
        </p:spPr>
      </p:sp>
      <p:sp>
        <p:nvSpPr>
          <p:cNvPr id="13" name="Text 11"/>
          <p:cNvSpPr txBox="1"/>
          <p:nvPr/>
        </p:nvSpPr>
        <p:spPr>
          <a:xfrm>
            <a:off x="548640" y="349300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3</a:t>
            </a:r>
            <a:endParaRPr lang="en-US" sz="1300" dirty="0"/>
          </a:p>
        </p:txBody>
      </p:sp>
      <p:sp>
        <p:nvSpPr>
          <p:cNvPr id="14" name="Text 12"/>
          <p:cNvSpPr txBox="1"/>
          <p:nvPr/>
        </p:nvSpPr>
        <p:spPr>
          <a:xfrm>
            <a:off x="1051560" y="3456432"/>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España es el mercado donde menos vale entrar eficiente</a:t>
            </a:r>
            <a:endParaRPr lang="en-US" sz="1250" dirty="0"/>
          </a:p>
        </p:txBody>
      </p:sp>
      <p:sp>
        <p:nvSpPr>
          <p:cNvPr id="15" name="Text 13"/>
          <p:cNvSpPr txBox="1"/>
          <p:nvPr/>
        </p:nvSpPr>
        <p:spPr>
          <a:xfrm>
            <a:off x="1051560" y="3739896"/>
            <a:ext cx="10607040" cy="566928"/>
          </a:xfrm>
          <a:prstGeom prst="rect">
            <a:avLst/>
          </a:prstGeom>
          <a:noFill/>
          <a:ln/>
        </p:spPr>
        <p:txBody>
          <a:bodyPr wrap="square" lIns="0" tIns="0" rIns="0" bIns="0" rtlCol="0" anchor="ctr"/>
          <a:lstStyle/>
          <a:p>
            <a:pPr indent="0" marL="0">
              <a:buNone/>
            </a:pPr>
            <a:r>
              <a:rPr lang="en-US" sz="950" dirty="0">
                <a:solidFill>
                  <a:srgbClr val="818181"/>
                </a:solidFill>
                <a:latin typeface="Verdana" pitchFamily="34" charset="0"/>
                <a:ea typeface="Verdana" pitchFamily="34" charset="-122"/>
                <a:cs typeface="Verdana" pitchFamily="34" charset="-120"/>
              </a:rPr>
              <a:t>Solo gana 1,2 puntos de ROE. Su banca ya es la segunda más eficiente (42,1 %), sus recursos ya son baratos (0,75 %, por debajo del 0,80 % del entrante) y arrastra una densidad de RWA del 59,5 % y el 30 % de impuesto del art. 29 LIS.</a:t>
            </a:r>
            <a:endParaRPr lang="en-US" sz="950" dirty="0"/>
          </a:p>
        </p:txBody>
      </p:sp>
      <p:sp>
        <p:nvSpPr>
          <p:cNvPr id="16" name="Shape 14"/>
          <p:cNvSpPr/>
          <p:nvPr/>
        </p:nvSpPr>
        <p:spPr>
          <a:xfrm>
            <a:off x="548640" y="4434840"/>
            <a:ext cx="329184" cy="329184"/>
          </a:xfrm>
          <a:prstGeom prst="ellipse">
            <a:avLst/>
          </a:prstGeom>
          <a:solidFill>
            <a:srgbClr val="F56600"/>
          </a:solidFill>
          <a:ln w="12700">
            <a:solidFill>
              <a:srgbClr val="F56600"/>
            </a:solidFill>
            <a:prstDash val="solid"/>
          </a:ln>
        </p:spPr>
      </p:sp>
      <p:sp>
        <p:nvSpPr>
          <p:cNvPr id="17" name="Text 15"/>
          <p:cNvSpPr txBox="1"/>
          <p:nvPr/>
        </p:nvSpPr>
        <p:spPr>
          <a:xfrm>
            <a:off x="548640" y="443484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4</a:t>
            </a:r>
            <a:endParaRPr lang="en-US" sz="1300" dirty="0"/>
          </a:p>
        </p:txBody>
      </p:sp>
      <p:sp>
        <p:nvSpPr>
          <p:cNvPr id="18" name="Text 16"/>
          <p:cNvSpPr txBox="1"/>
          <p:nvPr/>
        </p:nvSpPr>
        <p:spPr>
          <a:xfrm>
            <a:off x="1051560" y="439826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Países Bajos y Alemania son los objetivos naturales</a:t>
            </a:r>
            <a:endParaRPr lang="en-US" sz="1250" dirty="0"/>
          </a:p>
        </p:txBody>
      </p:sp>
      <p:sp>
        <p:nvSpPr>
          <p:cNvPr id="19" name="Text 17"/>
          <p:cNvSpPr txBox="1"/>
          <p:nvPr/>
        </p:nvSpPr>
        <p:spPr>
          <a:xfrm>
            <a:off x="1051560" y="4681728"/>
            <a:ext cx="10607040" cy="566928"/>
          </a:xfrm>
          <a:prstGeom prst="rect">
            <a:avLst/>
          </a:prstGeom>
          <a:noFill/>
          <a:ln/>
        </p:spPr>
        <p:txBody>
          <a:bodyPr wrap="square" lIns="0" tIns="0" rIns="0" bIns="0" rtlCol="0" anchor="ctr"/>
          <a:lstStyle/>
          <a:p>
            <a:pPr indent="0" marL="0">
              <a:buNone/>
            </a:pPr>
            <a:r>
              <a:rPr lang="en-US" sz="950" dirty="0">
                <a:solidFill>
                  <a:srgbClr val="818181"/>
                </a:solidFill>
                <a:latin typeface="Verdana" pitchFamily="34" charset="0"/>
                <a:ea typeface="Verdana" pitchFamily="34" charset="-122"/>
                <a:cs typeface="Verdana" pitchFamily="34" charset="-120"/>
              </a:rPr>
              <a:t>37,0 % y 35,0 % de ROE para el entrante. Combinan el menor coste del riesgo (0,35 % y 0,40 %) con la menor densidad de RWA (37 % y 35 %) e incumbentes con eficiencia mediocre (53,5 % y 55,2 %).</a:t>
            </a:r>
            <a:endParaRPr lang="en-US" sz="950" dirty="0"/>
          </a:p>
        </p:txBody>
      </p:sp>
      <p:sp>
        <p:nvSpPr>
          <p:cNvPr id="20" name="Shape 18"/>
          <p:cNvSpPr/>
          <p:nvPr/>
        </p:nvSpPr>
        <p:spPr>
          <a:xfrm>
            <a:off x="548640" y="5376672"/>
            <a:ext cx="329184" cy="329184"/>
          </a:xfrm>
          <a:prstGeom prst="ellipse">
            <a:avLst/>
          </a:prstGeom>
          <a:solidFill>
            <a:srgbClr val="F56600"/>
          </a:solidFill>
          <a:ln w="12700">
            <a:solidFill>
              <a:srgbClr val="F56600"/>
            </a:solidFill>
            <a:prstDash val="solid"/>
          </a:ln>
        </p:spPr>
      </p:sp>
      <p:sp>
        <p:nvSpPr>
          <p:cNvPr id="21" name="Text 19"/>
          <p:cNvSpPr txBox="1"/>
          <p:nvPr/>
        </p:nvSpPr>
        <p:spPr>
          <a:xfrm>
            <a:off x="548640" y="53766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5</a:t>
            </a:r>
            <a:endParaRPr lang="en-US" sz="1300" dirty="0"/>
          </a:p>
        </p:txBody>
      </p:sp>
      <p:sp>
        <p:nvSpPr>
          <p:cNvPr id="22" name="Text 20"/>
          <p:cNvSpPr txBox="1"/>
          <p:nvPr/>
        </p:nvSpPr>
        <p:spPr>
          <a:xfrm>
            <a:off x="1051560" y="5340096"/>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La comisión es el único supuesto material que queda</a:t>
            </a:r>
            <a:endParaRPr lang="en-US" sz="1250" dirty="0"/>
          </a:p>
        </p:txBody>
      </p:sp>
      <p:sp>
        <p:nvSpPr>
          <p:cNvPr id="23" name="Text 21"/>
          <p:cNvSpPr txBox="1"/>
          <p:nvPr/>
        </p:nvSpPr>
        <p:spPr>
          <a:xfrm>
            <a:off x="1051560" y="5623560"/>
            <a:ext cx="10607040" cy="566928"/>
          </a:xfrm>
          <a:prstGeom prst="rect">
            <a:avLst/>
          </a:prstGeom>
          <a:noFill/>
          <a:ln/>
        </p:spPr>
        <p:txBody>
          <a:bodyPr wrap="square" lIns="0" tIns="0" rIns="0" bIns="0" rtlCol="0" anchor="ctr"/>
          <a:lstStyle/>
          <a:p>
            <a:pPr indent="0" marL="0">
              <a:buNone/>
            </a:pPr>
            <a:r>
              <a:rPr lang="en-US" sz="950" dirty="0">
                <a:solidFill>
                  <a:srgbClr val="818181"/>
                </a:solidFill>
                <a:latin typeface="Verdana" pitchFamily="34" charset="0"/>
                <a:ea typeface="Verdana" pitchFamily="34" charset="-122"/>
                <a:cs typeface="Verdana" pitchFamily="34" charset="-120"/>
              </a:rPr>
              <a:t>Solo España publica un tipo con comisiones para empresas, y allí vale 87 pb sobre el tramo ≤1 M€. Aplicarla a los demás es una hipótesis. Antes de decidir, conviene validarla en el mercado objetivo: mueve el ROE entre 3 y 8 puntos.</a:t>
            </a:r>
            <a:endParaRPr lang="en-US" sz="950" dirty="0"/>
          </a:p>
        </p:txBody>
      </p:sp>
      <p:sp>
        <p:nvSpPr>
          <p:cNvPr id="24" name="Text 22"/>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Las conclusiones 1 a 4 se apoyan en datos observados por país; la 5 señala el supuesto que las condiciona. El escenario de entrante no incorpora coste de entrada, escala mínima ni curva de aprendizaje de riesgo.</a:t>
            </a:r>
            <a:endParaRPr lang="en-US" sz="7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Recomendaciones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Qué haría falta para convertir este análisis en una decisión</a:t>
            </a:r>
            <a:endParaRPr lang="en-US" sz="1100" dirty="0"/>
          </a:p>
        </p:txBody>
      </p:sp>
      <p:sp>
        <p:nvSpPr>
          <p:cNvPr id="4" name="Shape 2"/>
          <p:cNvSpPr/>
          <p:nvPr/>
        </p:nvSpPr>
        <p:spPr>
          <a:xfrm>
            <a:off x="548640" y="1600200"/>
            <a:ext cx="2057400" cy="658368"/>
          </a:xfrm>
          <a:prstGeom prst="roundRect">
            <a:avLst>
              <a:gd name="adj" fmla="val 6944"/>
            </a:avLst>
          </a:prstGeom>
          <a:solidFill>
            <a:srgbClr val="FFD6BA"/>
          </a:solidFill>
          <a:ln w="12700">
            <a:solidFill>
              <a:srgbClr val="FFAB70"/>
            </a:solidFill>
            <a:prstDash val="solid"/>
          </a:ln>
        </p:spPr>
      </p:sp>
      <p:sp>
        <p:nvSpPr>
          <p:cNvPr id="5" name="Text 3"/>
          <p:cNvSpPr txBox="1"/>
          <p:nvPr/>
        </p:nvSpPr>
        <p:spPr>
          <a:xfrm>
            <a:off x="548640" y="1600200"/>
            <a:ext cx="2057400" cy="65836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Priorizar</a:t>
            </a:r>
            <a:endParaRPr lang="en-US" sz="1100" dirty="0"/>
          </a:p>
        </p:txBody>
      </p:sp>
      <p:sp>
        <p:nvSpPr>
          <p:cNvPr id="6" name="Text 4"/>
          <p:cNvSpPr txBox="1"/>
          <p:nvPr/>
        </p:nvSpPr>
        <p:spPr>
          <a:xfrm>
            <a:off x="2788920" y="1627632"/>
            <a:ext cx="3017520" cy="603504"/>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Países Bajos y Alemania</a:t>
            </a:r>
            <a:endParaRPr lang="en-US" sz="1100" dirty="0"/>
          </a:p>
        </p:txBody>
      </p:sp>
      <p:sp>
        <p:nvSpPr>
          <p:cNvPr id="7" name="Text 5"/>
          <p:cNvSpPr txBox="1"/>
          <p:nvPr/>
        </p:nvSpPr>
        <p:spPr>
          <a:xfrm>
            <a:off x="5943600" y="1627632"/>
            <a:ext cx="5715000" cy="603504"/>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37,0 % y 35,0 % de ROE simulado. Incumbentes ineficientes, riesgo bajo y capital barato. Son los dos mercados donde el modelo eficiente rinde más.</a:t>
            </a:r>
            <a:endParaRPr lang="en-US" sz="900" dirty="0"/>
          </a:p>
        </p:txBody>
      </p:sp>
      <p:sp>
        <p:nvSpPr>
          <p:cNvPr id="8" name="Shape 6"/>
          <p:cNvSpPr/>
          <p:nvPr/>
        </p:nvSpPr>
        <p:spPr>
          <a:xfrm>
            <a:off x="548640" y="2368296"/>
            <a:ext cx="2057400" cy="658368"/>
          </a:xfrm>
          <a:prstGeom prst="roundRect">
            <a:avLst>
              <a:gd name="adj" fmla="val 6944"/>
            </a:avLst>
          </a:prstGeom>
          <a:solidFill>
            <a:srgbClr val="FFD6BA"/>
          </a:solidFill>
          <a:ln w="12700">
            <a:solidFill>
              <a:srgbClr val="FFAB70"/>
            </a:solidFill>
            <a:prstDash val="solid"/>
          </a:ln>
        </p:spPr>
      </p:sp>
      <p:sp>
        <p:nvSpPr>
          <p:cNvPr id="9" name="Text 7"/>
          <p:cNvSpPr txBox="1"/>
          <p:nvPr/>
        </p:nvSpPr>
        <p:spPr>
          <a:xfrm>
            <a:off x="548640" y="2368296"/>
            <a:ext cx="2057400" cy="65836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Estudiar</a:t>
            </a:r>
            <a:endParaRPr lang="en-US" sz="1100" dirty="0"/>
          </a:p>
        </p:txBody>
      </p:sp>
      <p:sp>
        <p:nvSpPr>
          <p:cNvPr id="10" name="Text 8"/>
          <p:cNvSpPr txBox="1"/>
          <p:nvPr/>
        </p:nvSpPr>
        <p:spPr>
          <a:xfrm>
            <a:off x="2788920" y="2395728"/>
            <a:ext cx="3017520" cy="603504"/>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Francia e Irlanda</a:t>
            </a:r>
            <a:endParaRPr lang="en-US" sz="1100" dirty="0"/>
          </a:p>
        </p:txBody>
      </p:sp>
      <p:sp>
        <p:nvSpPr>
          <p:cNvPr id="11" name="Text 9"/>
          <p:cNvSpPr txBox="1"/>
          <p:nvPr/>
        </p:nvSpPr>
        <p:spPr>
          <a:xfrm>
            <a:off x="5943600" y="2395728"/>
            <a:ext cx="5715000" cy="603504"/>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21,8 % y 27,0 %. Francia por la distancia respecto a un incumbente muy ineficiente; Irlanda por el 15 % de impuesto, aunque con la mayor densidad de RWA y una cartera PYME pequeña (16.964 M€).</a:t>
            </a:r>
            <a:endParaRPr lang="en-US" sz="900" dirty="0"/>
          </a:p>
        </p:txBody>
      </p:sp>
      <p:sp>
        <p:nvSpPr>
          <p:cNvPr id="12" name="Shape 10"/>
          <p:cNvSpPr/>
          <p:nvPr/>
        </p:nvSpPr>
        <p:spPr>
          <a:xfrm>
            <a:off x="548640" y="3136392"/>
            <a:ext cx="2057400" cy="658368"/>
          </a:xfrm>
          <a:prstGeom prst="roundRect">
            <a:avLst>
              <a:gd name="adj" fmla="val 6944"/>
            </a:avLst>
          </a:prstGeom>
          <a:solidFill>
            <a:srgbClr val="FFD6BA"/>
          </a:solidFill>
          <a:ln w="12700">
            <a:solidFill>
              <a:srgbClr val="FFAB70"/>
            </a:solidFill>
            <a:prstDash val="solid"/>
          </a:ln>
        </p:spPr>
      </p:sp>
      <p:sp>
        <p:nvSpPr>
          <p:cNvPr id="13" name="Text 11"/>
          <p:cNvSpPr txBox="1"/>
          <p:nvPr/>
        </p:nvSpPr>
        <p:spPr>
          <a:xfrm>
            <a:off x="548640" y="3136392"/>
            <a:ext cx="2057400" cy="65836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Descartar</a:t>
            </a:r>
            <a:endParaRPr lang="en-US" sz="1100" dirty="0"/>
          </a:p>
        </p:txBody>
      </p:sp>
      <p:sp>
        <p:nvSpPr>
          <p:cNvPr id="14" name="Text 12"/>
          <p:cNvSpPr txBox="1"/>
          <p:nvPr/>
        </p:nvSpPr>
        <p:spPr>
          <a:xfrm>
            <a:off x="2788920" y="3163824"/>
            <a:ext cx="3017520" cy="603504"/>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España y Portugal</a:t>
            </a:r>
            <a:endParaRPr lang="en-US" sz="1100" dirty="0"/>
          </a:p>
        </p:txBody>
      </p:sp>
      <p:sp>
        <p:nvSpPr>
          <p:cNvPr id="15" name="Text 13"/>
          <p:cNvSpPr txBox="1"/>
          <p:nvPr/>
        </p:nvSpPr>
        <p:spPr>
          <a:xfrm>
            <a:off x="5943600" y="3163824"/>
            <a:ext cx="5715000" cy="603504"/>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13,7 % y 16,9 %. El diferencial frente al banco local es de 1,2 y 3,0 puntos: no compensa el coste de entrada.</a:t>
            </a:r>
            <a:endParaRPr lang="en-US" sz="900" dirty="0"/>
          </a:p>
        </p:txBody>
      </p:sp>
      <p:sp>
        <p:nvSpPr>
          <p:cNvPr id="16" name="Shape 14"/>
          <p:cNvSpPr/>
          <p:nvPr/>
        </p:nvSpPr>
        <p:spPr>
          <a:xfrm>
            <a:off x="548640" y="3904488"/>
            <a:ext cx="2057400" cy="658368"/>
          </a:xfrm>
          <a:prstGeom prst="roundRect">
            <a:avLst>
              <a:gd name="adj" fmla="val 6944"/>
            </a:avLst>
          </a:prstGeom>
          <a:solidFill>
            <a:srgbClr val="E5E5E5"/>
          </a:solidFill>
          <a:ln w="12700">
            <a:solidFill>
              <a:srgbClr val="CACACA"/>
            </a:solidFill>
            <a:prstDash val="solid"/>
          </a:ln>
        </p:spPr>
      </p:sp>
      <p:sp>
        <p:nvSpPr>
          <p:cNvPr id="17" name="Text 15"/>
          <p:cNvSpPr txBox="1"/>
          <p:nvPr/>
        </p:nvSpPr>
        <p:spPr>
          <a:xfrm>
            <a:off x="548640" y="3904488"/>
            <a:ext cx="2057400" cy="65836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Validar antes de decidir</a:t>
            </a:r>
            <a:endParaRPr lang="en-US" sz="1100" dirty="0"/>
          </a:p>
        </p:txBody>
      </p:sp>
      <p:sp>
        <p:nvSpPr>
          <p:cNvPr id="18" name="Text 16"/>
          <p:cNvSpPr txBox="1"/>
          <p:nvPr/>
        </p:nvSpPr>
        <p:spPr>
          <a:xfrm>
            <a:off x="2788920" y="3931920"/>
            <a:ext cx="3017520" cy="603504"/>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La comisión en el mercado objetivo</a:t>
            </a:r>
            <a:endParaRPr lang="en-US" sz="1100" dirty="0"/>
          </a:p>
        </p:txBody>
      </p:sp>
      <p:sp>
        <p:nvSpPr>
          <p:cNvPr id="19" name="Text 17"/>
          <p:cNvSpPr txBox="1"/>
          <p:nvPr/>
        </p:nvSpPr>
        <p:spPr>
          <a:xfrm>
            <a:off x="5943600" y="3931920"/>
            <a:ext cx="5715000" cy="603504"/>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Es el único supuesto material. Mueve el ROE entre 3 y 8 puntos y solo está observada en España.</a:t>
            </a:r>
            <a:endParaRPr lang="en-US" sz="900" dirty="0"/>
          </a:p>
        </p:txBody>
      </p:sp>
      <p:sp>
        <p:nvSpPr>
          <p:cNvPr id="20" name="Shape 18"/>
          <p:cNvSpPr/>
          <p:nvPr/>
        </p:nvSpPr>
        <p:spPr>
          <a:xfrm>
            <a:off x="548640" y="4672584"/>
            <a:ext cx="2057400" cy="658368"/>
          </a:xfrm>
          <a:prstGeom prst="roundRect">
            <a:avLst>
              <a:gd name="adj" fmla="val 6944"/>
            </a:avLst>
          </a:prstGeom>
          <a:solidFill>
            <a:srgbClr val="E5E5E5"/>
          </a:solidFill>
          <a:ln w="12700">
            <a:solidFill>
              <a:srgbClr val="CACACA"/>
            </a:solidFill>
            <a:prstDash val="solid"/>
          </a:ln>
        </p:spPr>
      </p:sp>
      <p:sp>
        <p:nvSpPr>
          <p:cNvPr id="21" name="Text 19"/>
          <p:cNvSpPr txBox="1"/>
          <p:nvPr/>
        </p:nvSpPr>
        <p:spPr>
          <a:xfrm>
            <a:off x="548640" y="4672584"/>
            <a:ext cx="2057400" cy="65836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Completar</a:t>
            </a:r>
            <a:endParaRPr lang="en-US" sz="1100" dirty="0"/>
          </a:p>
        </p:txBody>
      </p:sp>
      <p:sp>
        <p:nvSpPr>
          <p:cNvPr id="22" name="Text 20"/>
          <p:cNvSpPr txBox="1"/>
          <p:nvPr/>
        </p:nvSpPr>
        <p:spPr>
          <a:xfrm>
            <a:off x="2788920" y="4700016"/>
            <a:ext cx="3017520" cy="603504"/>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Densidad de RWA propia</a:t>
            </a:r>
            <a:endParaRPr lang="en-US" sz="1100" dirty="0"/>
          </a:p>
        </p:txBody>
      </p:sp>
      <p:sp>
        <p:nvSpPr>
          <p:cNvPr id="23" name="Text 21"/>
          <p:cNvSpPr txBox="1"/>
          <p:nvPr/>
        </p:nvSpPr>
        <p:spPr>
          <a:xfrm>
            <a:off x="5943600" y="4700016"/>
            <a:ext cx="5715000" cy="603504"/>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La del modelo es la del mercado. Un entrante con método estándar o con menos garantía real tendría una densidad distinta, y ese es el factor que más pesa.</a:t>
            </a:r>
            <a:endParaRPr lang="en-US" sz="900" dirty="0"/>
          </a:p>
        </p:txBody>
      </p:sp>
      <p:sp>
        <p:nvSpPr>
          <p:cNvPr id="24" name="Shape 22"/>
          <p:cNvSpPr/>
          <p:nvPr/>
        </p:nvSpPr>
        <p:spPr>
          <a:xfrm>
            <a:off x="548640" y="5440680"/>
            <a:ext cx="2057400" cy="658368"/>
          </a:xfrm>
          <a:prstGeom prst="roundRect">
            <a:avLst>
              <a:gd name="adj" fmla="val 6944"/>
            </a:avLst>
          </a:prstGeom>
          <a:solidFill>
            <a:srgbClr val="E5E5E5"/>
          </a:solidFill>
          <a:ln w="12700">
            <a:solidFill>
              <a:srgbClr val="CACACA"/>
            </a:solidFill>
            <a:prstDash val="solid"/>
          </a:ln>
        </p:spPr>
      </p:sp>
      <p:sp>
        <p:nvSpPr>
          <p:cNvPr id="25" name="Text 23"/>
          <p:cNvSpPr txBox="1"/>
          <p:nvPr/>
        </p:nvSpPr>
        <p:spPr>
          <a:xfrm>
            <a:off x="548640" y="5440680"/>
            <a:ext cx="2057400" cy="65836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Cerrar</a:t>
            </a:r>
            <a:endParaRPr lang="en-US" sz="1100" dirty="0"/>
          </a:p>
        </p:txBody>
      </p:sp>
      <p:sp>
        <p:nvSpPr>
          <p:cNvPr id="26" name="Text 24"/>
          <p:cNvSpPr txBox="1"/>
          <p:nvPr/>
        </p:nvSpPr>
        <p:spPr>
          <a:xfrm>
            <a:off x="2788920" y="5468112"/>
            <a:ext cx="3017520" cy="603504"/>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Precio del factoring y del confirming</a:t>
            </a:r>
            <a:endParaRPr lang="en-US" sz="1100" dirty="0"/>
          </a:p>
        </p:txBody>
      </p:sp>
      <p:sp>
        <p:nvSpPr>
          <p:cNvPr id="27" name="Text 25"/>
          <p:cNvSpPr txBox="1"/>
          <p:nvPr/>
        </p:nvSpPr>
        <p:spPr>
          <a:xfrm>
            <a:off x="5943600" y="5468112"/>
            <a:ext cx="5715000" cy="603504"/>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No es obtenible con fuentes públicas gratuitas. Si el producto entra en el plan, hay que ir a registros de pago o a datos de mercado.</a:t>
            </a:r>
            <a:endParaRPr lang="en-US" sz="900" dirty="0"/>
          </a:p>
        </p:txBody>
      </p:sp>
      <p:sp>
        <p:nvSpPr>
          <p:cNvPr id="28" name="Text 2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ROE simulado del entrante con coste de los recursos 0,80 %, eficiencia 40 % y CET1 12,9 %, sobre el precio, riesgo, capital y fiscalidad de cada mercado. No incorpora coste de entrada ni escala mínima.</a:t>
            </a:r>
            <a:endParaRPr lang="en-US" sz="7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2B2B2B"/>
        </a:solidFill>
      </p:bgPr>
    </p:bg>
    <p:spTree>
      <p:nvGrpSpPr>
        <p:cNvPr id="1" name=""/>
        <p:cNvGrpSpPr/>
        <p:nvPr/>
      </p:nvGrpSpPr>
      <p:grpSpPr>
        <a:xfrm>
          <a:off x="0" y="0"/>
          <a:ext cx="0" cy="0"/>
          <a:chOff x="0" y="0"/>
          <a:chExt cx="0" cy="0"/>
        </a:xfrm>
      </p:grpSpPr>
      <p:sp>
        <p:nvSpPr>
          <p:cNvPr id="2" name="Text 0"/>
          <p:cNvSpPr txBox="1"/>
          <p:nvPr/>
        </p:nvSpPr>
        <p:spPr>
          <a:xfrm>
            <a:off x="548640" y="502920"/>
            <a:ext cx="11091672" cy="548640"/>
          </a:xfrm>
          <a:prstGeom prst="rect">
            <a:avLst/>
          </a:prstGeom>
          <a:noFill/>
          <a:ln/>
        </p:spPr>
        <p:txBody>
          <a:bodyPr wrap="square" lIns="0" tIns="0" rIns="0" bIns="0" rtlCol="0" anchor="ctr"/>
          <a:lstStyle/>
          <a:p>
            <a:pPr indent="0" marL="0">
              <a:buNone/>
            </a:pPr>
            <a:r>
              <a:rPr lang="en-US" sz="3000" b="1" dirty="0">
                <a:solidFill>
                  <a:srgbClr val="FFFFFF"/>
                </a:solidFill>
                <a:latin typeface="Verdana" pitchFamily="34" charset="0"/>
                <a:ea typeface="Verdana" pitchFamily="34" charset="-122"/>
                <a:cs typeface="Verdana" pitchFamily="34" charset="-120"/>
              </a:rPr>
              <a:t>Lo que estos datos no permiten afirmar</a:t>
            </a:r>
            <a:endParaRPr lang="en-US" sz="3000" dirty="0"/>
          </a:p>
        </p:txBody>
      </p:sp>
      <p:sp>
        <p:nvSpPr>
          <p:cNvPr id="3" name="Text 1"/>
          <p:cNvSpPr txBox="1"/>
          <p:nvPr/>
        </p:nvSpPr>
        <p:spPr>
          <a:xfrm>
            <a:off x="548640" y="1078992"/>
            <a:ext cx="11091672" cy="365760"/>
          </a:xfrm>
          <a:prstGeom prst="rect">
            <a:avLst/>
          </a:prstGeom>
          <a:noFill/>
          <a:ln/>
        </p:spPr>
        <p:txBody>
          <a:bodyPr wrap="square" lIns="0" tIns="0" rIns="0" bIns="0" rtlCol="0" anchor="ctr"/>
          <a:lstStyle/>
          <a:p>
            <a:pPr indent="0" marL="0">
              <a:buNone/>
            </a:pPr>
            <a:r>
              <a:rPr lang="en-US" sz="1300" dirty="0">
                <a:solidFill>
                  <a:srgbClr val="A1A1A1"/>
                </a:solidFill>
                <a:latin typeface="Verdana" pitchFamily="34" charset="0"/>
                <a:ea typeface="Verdana" pitchFamily="34" charset="-122"/>
                <a:cs typeface="Verdana" pitchFamily="34" charset="-120"/>
              </a:rPr>
              <a:t>Cuatro límites que conviene tener delante antes de usar cualquier cifra de este deck</a:t>
            </a:r>
            <a:endParaRPr lang="en-US" sz="1300" dirty="0"/>
          </a:p>
        </p:txBody>
      </p:sp>
      <p:sp>
        <p:nvSpPr>
          <p:cNvPr id="4" name="Shape 2"/>
          <p:cNvSpPr/>
          <p:nvPr/>
        </p:nvSpPr>
        <p:spPr>
          <a:xfrm>
            <a:off x="548640" y="1700784"/>
            <a:ext cx="384048" cy="384048"/>
          </a:xfrm>
          <a:prstGeom prst="ellipse">
            <a:avLst/>
          </a:prstGeom>
          <a:solidFill>
            <a:srgbClr val="F56600"/>
          </a:solidFill>
          <a:ln w="12700">
            <a:solidFill>
              <a:srgbClr val="F56600"/>
            </a:solidFill>
            <a:prstDash val="solid"/>
          </a:ln>
        </p:spPr>
      </p:sp>
      <p:sp>
        <p:nvSpPr>
          <p:cNvPr id="5" name="Text 3"/>
          <p:cNvSpPr txBox="1"/>
          <p:nvPr/>
        </p:nvSpPr>
        <p:spPr>
          <a:xfrm>
            <a:off x="548640" y="1700784"/>
            <a:ext cx="384048" cy="384048"/>
          </a:xfrm>
          <a:prstGeom prst="rect">
            <a:avLst/>
          </a:prstGeom>
          <a:noFill/>
          <a:ln/>
        </p:spPr>
        <p:txBody>
          <a:bodyPr wrap="square" lIns="0" tIns="0" rIns="0" bIns="0" rtlCol="0" anchor="ctr"/>
          <a:lstStyle/>
          <a:p>
            <a:pPr algn="ctr" indent="0" marL="0">
              <a:buNone/>
            </a:pPr>
            <a:r>
              <a:rPr lang="en-US" sz="1500" b="1" dirty="0">
                <a:solidFill>
                  <a:srgbClr val="2B2B2B"/>
                </a:solidFill>
                <a:latin typeface="Verdana" pitchFamily="34" charset="0"/>
                <a:ea typeface="Verdana" pitchFamily="34" charset="-122"/>
                <a:cs typeface="Verdana" pitchFamily="34" charset="-120"/>
              </a:rPr>
              <a:t>1</a:t>
            </a:r>
            <a:endParaRPr lang="en-US" sz="1500" dirty="0"/>
          </a:p>
        </p:txBody>
      </p:sp>
      <p:sp>
        <p:nvSpPr>
          <p:cNvPr id="6" name="Text 4"/>
          <p:cNvSpPr txBox="1"/>
          <p:nvPr/>
        </p:nvSpPr>
        <p:spPr>
          <a:xfrm>
            <a:off x="1143000" y="1645920"/>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Verdana" pitchFamily="34" charset="0"/>
                <a:ea typeface="Verdana" pitchFamily="34" charset="-122"/>
                <a:cs typeface="Verdana" pitchFamily="34" charset="-120"/>
              </a:rPr>
              <a:t>Rentabilidad comparable entre países</a:t>
            </a:r>
            <a:endParaRPr lang="en-US" sz="1500" dirty="0"/>
          </a:p>
        </p:txBody>
      </p:sp>
      <p:sp>
        <p:nvSpPr>
          <p:cNvPr id="7" name="Text 5"/>
          <p:cNvSpPr txBox="1"/>
          <p:nvPr/>
        </p:nvSpPr>
        <p:spPr>
          <a:xfrm>
            <a:off x="1143000" y="1975104"/>
            <a:ext cx="10515600" cy="658368"/>
          </a:xfrm>
          <a:prstGeom prst="rect">
            <a:avLst/>
          </a:prstGeom>
          <a:noFill/>
          <a:ln/>
        </p:spPr>
        <p:txBody>
          <a:bodyPr wrap="square" lIns="0" tIns="0" rIns="0" bIns="0" rtlCol="0" anchor="ctr"/>
          <a:lstStyle/>
          <a:p>
            <a:pPr indent="0" marL="0">
              <a:buNone/>
            </a:pPr>
            <a:r>
              <a:rPr lang="en-US" sz="1150" dirty="0">
                <a:solidFill>
                  <a:srgbClr val="CACACA"/>
                </a:solidFill>
                <a:latin typeface="Verdana" pitchFamily="34" charset="0"/>
                <a:ea typeface="Verdana" pitchFamily="34" charset="-122"/>
                <a:cs typeface="Verdana" pitchFamily="34" charset="-120"/>
              </a:rPr>
              <a:t>Riesgo y capital de PYME ya son observados por país. Lo que sigue siendo supuesto es la comisión: solo España e Italia publican un tipo con comisiones para empresas, y con perímetros distintos. El ROE comparado es una hipótesis ordenada, no una medición.</a:t>
            </a:r>
            <a:endParaRPr lang="en-US" sz="1150" dirty="0"/>
          </a:p>
        </p:txBody>
      </p:sp>
      <p:sp>
        <p:nvSpPr>
          <p:cNvPr id="8" name="Shape 6"/>
          <p:cNvSpPr/>
          <p:nvPr/>
        </p:nvSpPr>
        <p:spPr>
          <a:xfrm>
            <a:off x="548640" y="2816352"/>
            <a:ext cx="384048" cy="384048"/>
          </a:xfrm>
          <a:prstGeom prst="ellipse">
            <a:avLst/>
          </a:prstGeom>
          <a:solidFill>
            <a:srgbClr val="F56600"/>
          </a:solidFill>
          <a:ln w="12700">
            <a:solidFill>
              <a:srgbClr val="F56600"/>
            </a:solidFill>
            <a:prstDash val="solid"/>
          </a:ln>
        </p:spPr>
      </p:sp>
      <p:sp>
        <p:nvSpPr>
          <p:cNvPr id="9" name="Text 7"/>
          <p:cNvSpPr txBox="1"/>
          <p:nvPr/>
        </p:nvSpPr>
        <p:spPr>
          <a:xfrm>
            <a:off x="548640" y="2816352"/>
            <a:ext cx="384048" cy="384048"/>
          </a:xfrm>
          <a:prstGeom prst="rect">
            <a:avLst/>
          </a:prstGeom>
          <a:noFill/>
          <a:ln/>
        </p:spPr>
        <p:txBody>
          <a:bodyPr wrap="square" lIns="0" tIns="0" rIns="0" bIns="0" rtlCol="0" anchor="ctr"/>
          <a:lstStyle/>
          <a:p>
            <a:pPr algn="ctr" indent="0" marL="0">
              <a:buNone/>
            </a:pPr>
            <a:r>
              <a:rPr lang="en-US" sz="1500" b="1" dirty="0">
                <a:solidFill>
                  <a:srgbClr val="2B2B2B"/>
                </a:solidFill>
                <a:latin typeface="Verdana" pitchFamily="34" charset="0"/>
                <a:ea typeface="Verdana" pitchFamily="34" charset="-122"/>
                <a:cs typeface="Verdana" pitchFamily="34" charset="-120"/>
              </a:rPr>
              <a:t>2</a:t>
            </a:r>
            <a:endParaRPr lang="en-US" sz="1500" dirty="0"/>
          </a:p>
        </p:txBody>
      </p:sp>
      <p:sp>
        <p:nvSpPr>
          <p:cNvPr id="10" name="Text 8"/>
          <p:cNvSpPr txBox="1"/>
          <p:nvPr/>
        </p:nvSpPr>
        <p:spPr>
          <a:xfrm>
            <a:off x="1143000" y="2761488"/>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Verdana" pitchFamily="34" charset="0"/>
                <a:ea typeface="Verdana" pitchFamily="34" charset="-122"/>
                <a:cs typeface="Verdana" pitchFamily="34" charset="-120"/>
              </a:rPr>
              <a:t>El negocio PYME de cada banco</a:t>
            </a:r>
            <a:endParaRPr lang="en-US" sz="1500" dirty="0"/>
          </a:p>
        </p:txBody>
      </p:sp>
      <p:sp>
        <p:nvSpPr>
          <p:cNvPr id="11" name="Text 9"/>
          <p:cNvSpPr txBox="1"/>
          <p:nvPr/>
        </p:nvSpPr>
        <p:spPr>
          <a:xfrm>
            <a:off x="1143000" y="3090672"/>
            <a:ext cx="10515600" cy="658368"/>
          </a:xfrm>
          <a:prstGeom prst="rect">
            <a:avLst/>
          </a:prstGeom>
          <a:noFill/>
          <a:ln/>
        </p:spPr>
        <p:txBody>
          <a:bodyPr wrap="square" lIns="0" tIns="0" rIns="0" bIns="0" rtlCol="0" anchor="ctr"/>
          <a:lstStyle/>
          <a:p>
            <a:pPr indent="0" marL="0">
              <a:buNone/>
            </a:pPr>
            <a:r>
              <a:rPr lang="en-US" sz="1150" dirty="0">
                <a:solidFill>
                  <a:srgbClr val="CACACA"/>
                </a:solidFill>
                <a:latin typeface="Verdana" pitchFamily="34" charset="0"/>
                <a:ea typeface="Verdana" pitchFamily="34" charset="-122"/>
                <a:cs typeface="Verdana" pitchFamily="34" charset="-120"/>
              </a:rPr>
              <a:t>De nueve bancos analizados, solo dos publican cuenta de resultados de un segmento de empresas con desglose de comisiones, y ninguno aísla PYME. La NIIF 8 obliga a reportar por los segmentos que usa la dirección, y casi ninguno usa «PYME».</a:t>
            </a:r>
            <a:endParaRPr lang="en-US" sz="1150" dirty="0"/>
          </a:p>
        </p:txBody>
      </p:sp>
      <p:sp>
        <p:nvSpPr>
          <p:cNvPr id="12" name="Shape 10"/>
          <p:cNvSpPr/>
          <p:nvPr/>
        </p:nvSpPr>
        <p:spPr>
          <a:xfrm>
            <a:off x="548640" y="3931920"/>
            <a:ext cx="384048" cy="384048"/>
          </a:xfrm>
          <a:prstGeom prst="ellipse">
            <a:avLst/>
          </a:prstGeom>
          <a:solidFill>
            <a:srgbClr val="F56600"/>
          </a:solidFill>
          <a:ln w="12700">
            <a:solidFill>
              <a:srgbClr val="F56600"/>
            </a:solidFill>
            <a:prstDash val="solid"/>
          </a:ln>
        </p:spPr>
      </p:sp>
      <p:sp>
        <p:nvSpPr>
          <p:cNvPr id="13" name="Text 11"/>
          <p:cNvSpPr txBox="1"/>
          <p:nvPr/>
        </p:nvSpPr>
        <p:spPr>
          <a:xfrm>
            <a:off x="548640" y="3931920"/>
            <a:ext cx="384048" cy="384048"/>
          </a:xfrm>
          <a:prstGeom prst="rect">
            <a:avLst/>
          </a:prstGeom>
          <a:noFill/>
          <a:ln/>
        </p:spPr>
        <p:txBody>
          <a:bodyPr wrap="square" lIns="0" tIns="0" rIns="0" bIns="0" rtlCol="0" anchor="ctr"/>
          <a:lstStyle/>
          <a:p>
            <a:pPr algn="ctr" indent="0" marL="0">
              <a:buNone/>
            </a:pPr>
            <a:r>
              <a:rPr lang="en-US" sz="1500" b="1" dirty="0">
                <a:solidFill>
                  <a:srgbClr val="2B2B2B"/>
                </a:solidFill>
                <a:latin typeface="Verdana" pitchFamily="34" charset="0"/>
                <a:ea typeface="Verdana" pitchFamily="34" charset="-122"/>
                <a:cs typeface="Verdana" pitchFamily="34" charset="-120"/>
              </a:rPr>
              <a:t>3</a:t>
            </a:r>
            <a:endParaRPr lang="en-US" sz="1500" dirty="0"/>
          </a:p>
        </p:txBody>
      </p:sp>
      <p:sp>
        <p:nvSpPr>
          <p:cNvPr id="14" name="Text 12"/>
          <p:cNvSpPr txBox="1"/>
          <p:nvPr/>
        </p:nvSpPr>
        <p:spPr>
          <a:xfrm>
            <a:off x="1143000" y="3877056"/>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Verdana" pitchFamily="34" charset="0"/>
                <a:ea typeface="Verdana" pitchFamily="34" charset="-122"/>
                <a:cs typeface="Verdana" pitchFamily="34" charset="-120"/>
              </a:rPr>
              <a:t>El precio del factoring y del confirming</a:t>
            </a:r>
            <a:endParaRPr lang="en-US" sz="1500" dirty="0"/>
          </a:p>
        </p:txBody>
      </p:sp>
      <p:sp>
        <p:nvSpPr>
          <p:cNvPr id="15" name="Text 13"/>
          <p:cNvSpPr txBox="1"/>
          <p:nvPr/>
        </p:nvSpPr>
        <p:spPr>
          <a:xfrm>
            <a:off x="1143000" y="4206240"/>
            <a:ext cx="10515600" cy="658368"/>
          </a:xfrm>
          <a:prstGeom prst="rect">
            <a:avLst/>
          </a:prstGeom>
          <a:noFill/>
          <a:ln/>
        </p:spPr>
        <p:txBody>
          <a:bodyPr wrap="square" lIns="0" tIns="0" rIns="0" bIns="0" rtlCol="0" anchor="ctr"/>
          <a:lstStyle/>
          <a:p>
            <a:pPr indent="0" marL="0">
              <a:buNone/>
            </a:pPr>
            <a:r>
              <a:rPr lang="en-US" sz="1150" dirty="0">
                <a:solidFill>
                  <a:srgbClr val="CACACA"/>
                </a:solidFill>
                <a:latin typeface="Verdana" pitchFamily="34" charset="0"/>
                <a:ea typeface="Verdana" pitchFamily="34" charset="-122"/>
                <a:cs typeface="Verdana" pitchFamily="34" charset="-120"/>
              </a:rPr>
              <a:t>No es obtenible con fuentes públicas gratuitas en ninguno de los seis países. Es el único bloque que se cierra sin ningún dato de su objetivo.</a:t>
            </a:r>
            <a:endParaRPr lang="en-US" sz="1150" dirty="0"/>
          </a:p>
        </p:txBody>
      </p:sp>
      <p:sp>
        <p:nvSpPr>
          <p:cNvPr id="16" name="Shape 14"/>
          <p:cNvSpPr/>
          <p:nvPr/>
        </p:nvSpPr>
        <p:spPr>
          <a:xfrm>
            <a:off x="548640" y="5047488"/>
            <a:ext cx="384048" cy="384048"/>
          </a:xfrm>
          <a:prstGeom prst="ellipse">
            <a:avLst/>
          </a:prstGeom>
          <a:solidFill>
            <a:srgbClr val="F56600"/>
          </a:solidFill>
          <a:ln w="12700">
            <a:solidFill>
              <a:srgbClr val="F56600"/>
            </a:solidFill>
            <a:prstDash val="solid"/>
          </a:ln>
        </p:spPr>
      </p:sp>
      <p:sp>
        <p:nvSpPr>
          <p:cNvPr id="17" name="Text 15"/>
          <p:cNvSpPr txBox="1"/>
          <p:nvPr/>
        </p:nvSpPr>
        <p:spPr>
          <a:xfrm>
            <a:off x="548640" y="5047488"/>
            <a:ext cx="384048" cy="384048"/>
          </a:xfrm>
          <a:prstGeom prst="rect">
            <a:avLst/>
          </a:prstGeom>
          <a:noFill/>
          <a:ln/>
        </p:spPr>
        <p:txBody>
          <a:bodyPr wrap="square" lIns="0" tIns="0" rIns="0" bIns="0" rtlCol="0" anchor="ctr"/>
          <a:lstStyle/>
          <a:p>
            <a:pPr algn="ctr" indent="0" marL="0">
              <a:buNone/>
            </a:pPr>
            <a:r>
              <a:rPr lang="en-US" sz="1500" b="1" dirty="0">
                <a:solidFill>
                  <a:srgbClr val="2B2B2B"/>
                </a:solidFill>
                <a:latin typeface="Verdana" pitchFamily="34" charset="0"/>
                <a:ea typeface="Verdana" pitchFamily="34" charset="-122"/>
                <a:cs typeface="Verdana" pitchFamily="34" charset="-120"/>
              </a:rPr>
              <a:t>4</a:t>
            </a:r>
            <a:endParaRPr lang="en-US" sz="1500" dirty="0"/>
          </a:p>
        </p:txBody>
      </p:sp>
      <p:sp>
        <p:nvSpPr>
          <p:cNvPr id="18" name="Text 16"/>
          <p:cNvSpPr txBox="1"/>
          <p:nvPr/>
        </p:nvSpPr>
        <p:spPr>
          <a:xfrm>
            <a:off x="1143000" y="4992624"/>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Verdana" pitchFamily="34" charset="0"/>
                <a:ea typeface="Verdana" pitchFamily="34" charset="-122"/>
                <a:cs typeface="Verdana" pitchFamily="34" charset="-120"/>
              </a:rPr>
              <a:t>La hipoteca a PYME</a:t>
            </a:r>
            <a:endParaRPr lang="en-US" sz="1500" dirty="0"/>
          </a:p>
        </p:txBody>
      </p:sp>
      <p:sp>
        <p:nvSpPr>
          <p:cNvPr id="19" name="Text 17"/>
          <p:cNvSpPr txBox="1"/>
          <p:nvPr/>
        </p:nvSpPr>
        <p:spPr>
          <a:xfrm>
            <a:off x="1143000" y="5321808"/>
            <a:ext cx="10515600" cy="658368"/>
          </a:xfrm>
          <a:prstGeom prst="rect">
            <a:avLst/>
          </a:prstGeom>
          <a:noFill/>
          <a:ln/>
        </p:spPr>
        <p:txBody>
          <a:bodyPr wrap="square" lIns="0" tIns="0" rIns="0" bIns="0" rtlCol="0" anchor="ctr"/>
          <a:lstStyle/>
          <a:p>
            <a:pPr indent="0" marL="0">
              <a:buNone/>
            </a:pPr>
            <a:r>
              <a:rPr lang="en-US" sz="1150" dirty="0">
                <a:solidFill>
                  <a:srgbClr val="CACACA"/>
                </a:solidFill>
                <a:latin typeface="Verdana" pitchFamily="34" charset="0"/>
                <a:ea typeface="Verdana" pitchFamily="34" charset="-122"/>
                <a:cs typeface="Verdana" pitchFamily="34" charset="-120"/>
              </a:rPr>
              <a:t>No existe como estadística oficial europea. Lo que se muestra es exposición a inmueble comercial, que es otra cosa.</a:t>
            </a:r>
            <a:endParaRPr lang="en-US" sz="11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Fuentes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Nueve fuentes, 25.370 observaciones, cada fila trazable a su serie de origen</a:t>
            </a:r>
            <a:endParaRPr lang="en-US" sz="11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2606040"/>
                <a:gridCol w="4251960"/>
                <a:gridCol w="2560320"/>
                <a:gridCol w="1664208"/>
              </a:tblGrid>
              <a:tr h="402336">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Bloque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Fuente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Cobertura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Último dato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0233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Precio y volumen</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ECB Data Portal, dataset MIR</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6 países, mensual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0233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Tipos oficiales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dataset FM (facilidad de depósito, MRO, Euríbor)</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Zona euro, diario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0233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Encuesta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SAFE (Q8B y brecha de financiación)</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6 países, semestral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Q8B hasta 2022-S1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0233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Riesgo, eficiencia, capital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EBA Risk Dashboard, anexo de datos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6 países, trimestral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2026-Q1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0233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Comisiones y volumen España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Banco de España, Boletín Estadístico, cap. 19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España, mensual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0233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TAEG empresas Italia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Banca d'Italia, STACORIS, tavola TRI30951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Italia, trimestral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2026-Q1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0233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Spread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OCDE, Financing SMEs and Entrepreneurs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5 países, sin Alemania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0233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Factoring</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EUF, AEF y Assifact</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6 países, anual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0233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Comparables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Cuentas de resultados de 5 bancos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5 bancos de 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2026-H1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806440"/>
            <a:ext cx="11091672" cy="36576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Todos los datos, los extractores y el registro de huecos y decisiones metodológicas están en el repositorio del proyecto, en notas.md.</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Analisis PYME Europa</dc:creator>
  <cp:lastModifiedBy>Analisis PYME Europa</cp:lastModifiedBy>
  <cp:revision>1</cp:revision>
  <dcterms:created xsi:type="dcterms:W3CDTF">2026-09-17T08:12:13Z</dcterms:created>
  <dcterms:modified xsi:type="dcterms:W3CDTF">2026-09-17T08:12:13Z</dcterms:modified>
</cp:coreProperties>
</file>