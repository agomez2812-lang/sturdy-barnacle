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C97B3C"/>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1C3F4E"/>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C97B3C"/>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13.4</c:v>
                </c:pt>
                <c:pt idx="1">
                  <c:v>18.11</c:v>
                </c:pt>
                <c:pt idx="2">
                  <c:v>5.03</c:v>
                </c:pt>
                <c:pt idx="3">
                  <c:v>15.77</c:v>
                </c:pt>
                <c:pt idx="4">
                  <c:v>14.87</c:v>
                </c:pt>
                <c:pt idx="5">
                  <c:v>20.42</c:v>
                </c:pt>
                <c:pt idx="6">
                  <c:v>12.2</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3"/>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1C3F4E"/>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2E7D5B"/>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1C3F4E"/>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B04A3F"/>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3F4E"/>
                </a:solidFill>
                <a:latin typeface="Arial"/>
              </a:defRPr>
            </a:pPr>
            <a:r>
              <a:rPr sz="1200" b="0" i="0" u="none" strike="noStrike">
                <a:solidFill>
                  <a:srgbClr val="1C3F4E"/>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3F4E"/>
                </a:solidFill>
                <a:latin typeface="Arial"/>
              </a:defRPr>
            </a:pPr>
            <a:r>
              <a:rPr sz="1200" b="0" i="0" u="none" strike="noStrike">
                <a:solidFill>
                  <a:srgbClr val="1C3F4E"/>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NPL inmueble comercial</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9FB3BC"/>
                </a:solidFill>
                <a:latin typeface="Calibri" pitchFamily="34" charset="0"/>
                <a:ea typeface="Calibri" pitchFamily="34" charset="-122"/>
                <a:cs typeface="Calibri"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C97B3C"/>
                </a:solidFill>
                <a:latin typeface="Calibri" pitchFamily="34" charset="0"/>
                <a:ea typeface="Calibri" pitchFamily="34" charset="-122"/>
                <a:cs typeface="Calibri"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6E7F88"/>
                </a:solidFill>
                <a:latin typeface="Calibri" pitchFamily="34" charset="0"/>
                <a:ea typeface="Calibri" pitchFamily="34" charset="-122"/>
                <a:cs typeface="Calibri"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Objetivo y método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mide, con qué datos y dónde están los límites</a:t>
            </a:r>
            <a:endParaRPr lang="en-US" sz="1300" dirty="0"/>
          </a:p>
        </p:txBody>
      </p:sp>
      <p:sp>
        <p:nvSpPr>
          <p:cNvPr id="4" name="Shape 2"/>
          <p:cNvSpPr/>
          <p:nvPr/>
        </p:nvSpPr>
        <p:spPr>
          <a:xfrm>
            <a:off x="548640" y="1600200"/>
            <a:ext cx="11091672" cy="1069848"/>
          </a:xfrm>
          <a:prstGeom prst="roundRect">
            <a:avLst>
              <a:gd name="adj" fmla="val 5128"/>
            </a:avLst>
          </a:prstGeom>
          <a:solidFill>
            <a:srgbClr val="EEF2F3"/>
          </a:solidFill>
          <a:ln w="12700">
            <a:solidFill>
              <a:srgbClr val="DCE4E7"/>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EF2F3"/>
          </a:solidFill>
          <a:ln w="12700">
            <a:solidFill>
              <a:srgbClr val="DCE4E7"/>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EF2F3"/>
          </a:solidFill>
          <a:ln w="12700">
            <a:solidFill>
              <a:srgbClr val="DCE4E7"/>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7EDE4"/>
          </a:solidFill>
          <a:ln w="12700">
            <a:solidFill>
              <a:srgbClr val="C97B3C"/>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Detalle completo de fuentes, supuestos y huecos en notas.md del repositorio del proyecto.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Mapa de fiabilidad del dato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puede afirmar y con qué respaldo, producto a producto y país a país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Producto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Precio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Volumen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Préstamo PYME por tramo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ESPAÑA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Circulante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Hipoteca PYME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PROXY CRE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Factoring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Confirming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 e IT</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Depósitos de empresa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2E7D5B"/>
          </a:solidFill>
          <a:ln w="12700">
            <a:solidFill>
              <a:srgbClr val="2E7D5B"/>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8" name="Shape 5"/>
          <p:cNvSpPr/>
          <p:nvPr/>
        </p:nvSpPr>
        <p:spPr>
          <a:xfrm>
            <a:off x="2377440" y="5806440"/>
            <a:ext cx="1371600" cy="256032"/>
          </a:xfrm>
          <a:prstGeom prst="roundRect">
            <a:avLst>
              <a:gd name="adj" fmla="val 42857"/>
            </a:avLst>
          </a:prstGeom>
          <a:solidFill>
            <a:srgbClr val="C9992B"/>
          </a:solidFill>
          <a:ln w="12700">
            <a:solidFill>
              <a:srgbClr val="C9992B"/>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PARCIAL o SUPUESTO</a:t>
            </a:r>
            <a:endParaRPr lang="en-US" sz="900" dirty="0"/>
          </a:p>
        </p:txBody>
      </p:sp>
      <p:sp>
        <p:nvSpPr>
          <p:cNvPr id="10" name="Shape 7"/>
          <p:cNvSpPr/>
          <p:nvPr/>
        </p:nvSpPr>
        <p:spPr>
          <a:xfrm>
            <a:off x="4206240" y="5806440"/>
            <a:ext cx="1371600" cy="256032"/>
          </a:xfrm>
          <a:prstGeom prst="roundRect">
            <a:avLst>
              <a:gd name="adj" fmla="val 42857"/>
            </a:avLst>
          </a:prstGeom>
          <a:solidFill>
            <a:srgbClr val="B04A3F"/>
          </a:solidFill>
          <a:ln w="12700">
            <a:solidFill>
              <a:srgbClr val="B04A3F"/>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BCE (MIR), EBA Risk Dashboard, Banco de España (Boletín Estadístico), Banca d'Italia (STACORIS), OCDE, EUF.</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Precio: tipo de nueva producción por tramo de importe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Media 2026 ponderada por volumen · Fijación inicial total · Sin comisiones</a:t>
            </a:r>
            <a:endParaRPr lang="en-US" sz="13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EF2F3"/>
          </a:solidFill>
          <a:ln w="12700">
            <a:solidFill>
              <a:srgbClr val="DCE4E7"/>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España: 50.5 %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Alemania: 17.8 %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Francia: 30 %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Italia: 34.6 %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Portugal: 51.1 %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P. Bajos: 7.6 %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7EDE4"/>
          </a:solidFill>
          <a:ln w="12700">
            <a:solidFill>
              <a:srgbClr val="C97B3C"/>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3A42"/>
                </a:solidFill>
                <a:latin typeface="Calibri" pitchFamily="34" charset="0"/>
                <a:ea typeface="Calibri" pitchFamily="34" charset="-122"/>
                <a:cs typeface="Calibri"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ECB Data Portal, dataset MIR. Tipo anual equivalente (AAR/NDER), que excluye comisiones. Media enero-julio 2026 ponderada por volumen mensual.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El hallazgo que cambia la lectura: España cobra por comisión</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Único país de los seis donde existe un tipo con comisiones para empresas · Media 2026</a:t>
            </a:r>
            <a:endParaRPr lang="en-US" sz="13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1600200"/>
          </a:xfrm>
          <a:prstGeom prst="roundRect">
            <a:avLst>
              <a:gd name="adj" fmla="val 3429"/>
            </a:avLst>
          </a:prstGeom>
          <a:solidFill>
            <a:srgbClr val="F7EDE4"/>
          </a:solidFill>
          <a:ln w="12700">
            <a:solidFill>
              <a:srgbClr val="C97B3C"/>
            </a:solidFill>
            <a:prstDash val="solid"/>
          </a:ln>
        </p:spPr>
      </p:sp>
      <p:sp>
        <p:nvSpPr>
          <p:cNvPr id="6" name="Text 3"/>
          <p:cNvSpPr txBox="1"/>
          <p:nvPr/>
        </p:nvSpPr>
        <p:spPr>
          <a:xfrm>
            <a:off x="7589520" y="1783080"/>
            <a:ext cx="38862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Spread PYME según qué se mida</a:t>
            </a:r>
            <a:endParaRPr lang="en-US" sz="1400" dirty="0"/>
          </a:p>
        </p:txBody>
      </p:sp>
      <p:sp>
        <p:nvSpPr>
          <p:cNvPr id="7" name="Text 4"/>
          <p:cNvSpPr txBox="1"/>
          <p:nvPr/>
        </p:nvSpPr>
        <p:spPr>
          <a:xfrm>
            <a:off x="7589520" y="2194560"/>
            <a:ext cx="3886200" cy="914400"/>
          </a:xfrm>
          <a:prstGeom prst="rect">
            <a:avLst/>
          </a:prstGeom>
          <a:noFill/>
          <a:ln/>
        </p:spPr>
        <p:txBody>
          <a:bodyPr wrap="square" lIns="0" tIns="0" rIns="0" bIns="0" rtlCol="0" anchor="ctr"/>
          <a:lstStyle/>
          <a:p>
            <a:pPr indent="0" marL="0">
              <a:buNone/>
            </a:pPr>
            <a:r>
              <a:rPr lang="en-US" sz="2000" b="1" dirty="0">
                <a:solidFill>
                  <a:srgbClr val="B04A3F"/>
                </a:solidFill>
                <a:latin typeface="Calibri" pitchFamily="34" charset="0"/>
                <a:ea typeface="Calibri" pitchFamily="34" charset="-122"/>
                <a:cs typeface="Calibri" pitchFamily="34" charset="-120"/>
              </a:rPr>
              <a:t>−2 pb</a:t>
            </a:r>
            <a:pPr indent="0" marL="0">
              <a:buNone/>
            </a:pPr>
            <a:r>
              <a:rPr lang="en-US" sz="1200" dirty="0">
                <a:solidFill>
                  <a:srgbClr val="2B3A42"/>
                </a:solidFill>
                <a:latin typeface="Calibri" pitchFamily="34" charset="0"/>
                <a:ea typeface="Calibri" pitchFamily="34" charset="-122"/>
                <a:cs typeface="Calibri" pitchFamily="34" charset="-120"/>
              </a:rPr>
              <a:t>  medido en TEDR</a:t>
            </a:r>
            <a:endParaRPr lang="en-US" sz="2000" dirty="0"/>
          </a:p>
          <a:p>
            <a:pPr indent="0" marL="0">
              <a:buNone/>
            </a:pPr>
            <a:r>
              <a:rPr lang="en-US" sz="2000" b="1" dirty="0">
                <a:solidFill>
                  <a:srgbClr val="2E7D5B"/>
                </a:solidFill>
                <a:latin typeface="Calibri" pitchFamily="34" charset="0"/>
                <a:ea typeface="Calibri" pitchFamily="34" charset="-122"/>
                <a:cs typeface="Calibri" pitchFamily="34" charset="-120"/>
              </a:rPr>
              <a:t>+81 pb</a:t>
            </a:r>
            <a:pPr indent="0" marL="0">
              <a:buNone/>
            </a:pPr>
            <a:r>
              <a:rPr lang="en-US" sz="1200" dirty="0">
                <a:solidFill>
                  <a:srgbClr val="2B3A42"/>
                </a:solidFill>
                <a:latin typeface="Calibri" pitchFamily="34" charset="0"/>
                <a:ea typeface="Calibri" pitchFamily="34" charset="-122"/>
                <a:cs typeface="Calibri" pitchFamily="34" charset="-120"/>
              </a:rPr>
              <a:t>  medido en TAE</a:t>
            </a:r>
            <a:endParaRPr lang="en-US" sz="2000" dirty="0"/>
          </a:p>
        </p:txBody>
      </p:sp>
      <p:sp>
        <p:nvSpPr>
          <p:cNvPr id="8" name="Shape 5"/>
          <p:cNvSpPr/>
          <p:nvPr/>
        </p:nvSpPr>
        <p:spPr>
          <a:xfrm>
            <a:off x="7406640" y="3429000"/>
            <a:ext cx="4233672" cy="1691640"/>
          </a:xfrm>
          <a:prstGeom prst="roundRect">
            <a:avLst>
              <a:gd name="adj" fmla="val 3243"/>
            </a:avLst>
          </a:prstGeom>
          <a:solidFill>
            <a:srgbClr val="EEF2F3"/>
          </a:solidFill>
          <a:ln w="12700">
            <a:solidFill>
              <a:srgbClr val="DCE4E7"/>
            </a:solidFill>
            <a:prstDash val="solid"/>
          </a:ln>
        </p:spPr>
      </p:sp>
      <p:sp>
        <p:nvSpPr>
          <p:cNvPr id="9" name="Text 6"/>
          <p:cNvSpPr txBox="1"/>
          <p:nvPr/>
        </p:nvSpPr>
        <p:spPr>
          <a:xfrm>
            <a:off x="7589520" y="3566160"/>
            <a:ext cx="38862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Cuña de comisiones por tramo</a:t>
            </a:r>
            <a:endParaRPr lang="en-US" sz="1300" dirty="0"/>
          </a:p>
        </p:txBody>
      </p:sp>
      <p:sp>
        <p:nvSpPr>
          <p:cNvPr id="10" name="Text 7"/>
          <p:cNvSpPr txBox="1"/>
          <p:nvPr/>
        </p:nvSpPr>
        <p:spPr>
          <a:xfrm>
            <a:off x="7589520" y="3931920"/>
            <a:ext cx="3886200" cy="1005840"/>
          </a:xfrm>
          <a:prstGeom prst="rect">
            <a:avLst/>
          </a:prstGeom>
          <a:noFill/>
          <a:ln/>
        </p:spPr>
        <p:txBody>
          <a:bodyPr wrap="square" lIns="0" tIns="0" rIns="0" bIns="0" rtlCol="0" anchor="ctr"/>
          <a:lstStyle/>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 M€:  +102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0,25–1 M€:  +36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&gt;1 M€:  +18 pb</a:t>
            </a:r>
            <a:endParaRPr lang="en-US" sz="1300" dirty="0"/>
          </a:p>
        </p:txBody>
      </p:sp>
      <p:sp>
        <p:nvSpPr>
          <p:cNvPr id="11" name="Text 8"/>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Banco de España, Boletín Estadístico, cuadros 19.5 (TEDR), 19.6 (TAE) y 19.13 (volúmenes). Cuña = TAE − TEDR, cálculo propio. Media enero-julio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Cuenta de resultados modelizada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En % del saldo medio · Tramo ≤1 M€ · 2026 · Las filas en ocre son supuestos, no observaciones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Concepto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Irlanda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Precio (tipo MIR)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4.39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3.77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3.94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Ingreso total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4.64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5.12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4.81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5.37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6.24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 Coste de los recursos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Margen bruto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3.54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4.11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4.36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4.32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5.83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Gastos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1.49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2.27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1.43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2.31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3.35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Resultado antes de imp.</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0.46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1.66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2.08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Capital asignado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8.13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5.99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6.83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7.21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10.93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12.81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ROE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15.8 %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1C3F4E"/>
          </a:solidFill>
          <a:ln w="12700">
            <a:solidFill>
              <a:srgbClr val="1C3F4E"/>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7" name="Shape 4"/>
          <p:cNvSpPr/>
          <p:nvPr/>
        </p:nvSpPr>
        <p:spPr>
          <a:xfrm>
            <a:off x="2103120" y="5623560"/>
            <a:ext cx="1371600" cy="256032"/>
          </a:xfrm>
          <a:prstGeom prst="roundRect">
            <a:avLst>
              <a:gd name="adj" fmla="val 42857"/>
            </a:avLst>
          </a:prstGeom>
          <a:solidFill>
            <a:srgbClr val="C9992B"/>
          </a:solidFill>
          <a:ln w="12700">
            <a:solidFill>
              <a:srgbClr val="C9992B"/>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6E7F88"/>
                </a:solidFill>
                <a:latin typeface="Calibri" pitchFamily="34" charset="0"/>
                <a:ea typeface="Calibri" pitchFamily="34" charset="-122"/>
                <a:cs typeface="Calibri" pitchFamily="34" charset="-120"/>
              </a:rPr>
              <a:t>Solo la fila de comisiones es supuesto. Precio, recursos, riesgo y capital son observados por país.</a:t>
            </a:r>
            <a:endParaRPr lang="en-US" sz="1000" dirty="0"/>
          </a:p>
        </p:txBody>
      </p:sp>
      <p:sp>
        <p:nvSpPr>
          <p:cNvPr id="10" name="Text 7"/>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25 %.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ROE modelizado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Con la cuña de comisiones española aplicada a los seis países · 2026</a:t>
            </a:r>
            <a:endParaRPr lang="en-US" sz="13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EF2F3"/>
          </a:solidFill>
          <a:ln w="12700">
            <a:solidFill>
              <a:srgbClr val="DCE4E7"/>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1C3F4E"/>
                </a:solidFill>
                <a:latin typeface="Cambria" pitchFamily="34" charset="0"/>
                <a:ea typeface="Cambria" pitchFamily="34" charset="-122"/>
                <a:cs typeface="Cambria" pitchFamily="34" charset="-120"/>
              </a:rPr>
              <a:t>Cómo leerlo</a:t>
            </a:r>
            <a:endParaRPr lang="en-US" sz="1500" dirty="0"/>
          </a:p>
        </p:txBody>
      </p:sp>
      <p:sp>
        <p:nvSpPr>
          <p:cNvPr id="7" name="Text 4"/>
          <p:cNvSpPr txBox="1"/>
          <p:nvPr/>
        </p:nvSpPr>
        <p:spPr>
          <a:xfrm>
            <a:off x="7772400" y="2157984"/>
            <a:ext cx="3703320" cy="3163824"/>
          </a:xfrm>
          <a:prstGeom prst="rect">
            <a:avLst/>
          </a:prstGeom>
          <a:noFill/>
          <a:ln/>
        </p:spPr>
        <p:txBody>
          <a:bodyPr wrap="square" lIns="0" tIns="0" rIns="0" bIns="0" rtlCol="0" anchor="ctr"/>
          <a:lstStyle/>
          <a:p>
            <a:pPr indent="0" marL="0">
              <a:buNone/>
            </a:pPr>
            <a:r>
              <a:rPr lang="en-US" sz="1050" b="1" dirty="0">
                <a:solidFill>
                  <a:srgbClr val="2B3A42"/>
                </a:solidFill>
                <a:latin typeface="Calibri" pitchFamily="34" charset="0"/>
                <a:ea typeface="Calibri" pitchFamily="34" charset="-122"/>
                <a:cs typeface="Calibri" pitchFamily="34" charset="-120"/>
              </a:rPr>
              <a:t>Países Bajos y Alemania encabezan</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por la misma razón: un coste del riesgo bajo (0,35 % y 0,40 %) y la menor densidad de RWA (37 % y 35 %), que reduce el capital a inmovilizar.
</a:t>
            </a:r>
            <a:endParaRPr lang="en-US" sz="1050" dirty="0"/>
          </a:p>
          <a:p>
            <a:pPr indent="0" marL="0">
              <a:buNone/>
            </a:pPr>
            <a:r>
              <a:rPr lang="en-US" sz="1050" b="1" dirty="0">
                <a:solidFill>
                  <a:srgbClr val="2B3A42"/>
                </a:solidFill>
                <a:latin typeface="Calibri" pitchFamily="34" charset="0"/>
                <a:ea typeface="Calibri" pitchFamily="34" charset="-122"/>
                <a:cs typeface="Calibri" pitchFamily="34" charset="-120"/>
              </a:rPr>
              <a:t>España cae al quinto puesto</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por combinar el precio más bajo con una densidad de RWA del 59,5 %: consume casi el doble de capital que Alemania.
</a:t>
            </a:r>
            <a:endParaRPr lang="en-US" sz="1050" dirty="0"/>
          </a:p>
          <a:p>
            <a:pPr indent="0" marL="0">
              <a:buNone/>
            </a:pPr>
            <a:r>
              <a:rPr lang="en-US" sz="1050" b="1" dirty="0">
                <a:solidFill>
                  <a:srgbClr val="2B3A42"/>
                </a:solidFill>
                <a:latin typeface="Calibri" pitchFamily="34" charset="0"/>
                <a:ea typeface="Calibri" pitchFamily="34" charset="-122"/>
                <a:cs typeface="Calibri" pitchFamily="34" charset="-120"/>
              </a:rPr>
              <a:t>Irlanda lo ilustra al revés</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 precio más alto (5,37 %) y mejor PD, pero densidad del 70 % y cost-income del 57 %: se queda en 7,7 %.
</a:t>
            </a:r>
            <a:endParaRPr lang="en-US" sz="1050" dirty="0"/>
          </a:p>
          <a:p>
            <a:pPr indent="0" marL="0">
              <a:buNone/>
            </a:pPr>
            <a:r>
              <a:rPr lang="en-US" sz="1050" b="1" dirty="0">
                <a:solidFill>
                  <a:srgbClr val="2B3A42"/>
                </a:solidFill>
                <a:latin typeface="Calibri" pitchFamily="34" charset="0"/>
                <a:ea typeface="Calibri" pitchFamily="34" charset="-122"/>
                <a:cs typeface="Calibri" pitchFamily="34" charset="-120"/>
              </a:rPr>
              <a:t>Francia queda última</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con un 1,7 %, y en negativo si no se asume comisión alguna.</a:t>
            </a:r>
            <a:endParaRPr lang="en-US" sz="10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ROE modelizado, no observado. Depende del supuesto de comisiones: ver lámina siguiente de sensibilidad. Tipo impositivo 25 % uniforme.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Sensibilidad al supuesto de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Cuánto depende el ROE de la cuña que se asuma · Solo la columna de 87 pb está observada, y solo para España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País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25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87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7B3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13.4 %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5.0 %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15.8 %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20.4 %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24.0 %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Irlanda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7EDE4"/>
          </a:solidFill>
          <a:ln w="12700">
            <a:solidFill>
              <a:srgbClr val="C97B3C"/>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87 pb es la cuña observada en España (TAE − TEDR, tramo ≤1 M€, media 2026, Banco de España). Para los otros cinco países no existe dato equivalente.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 los recursos de empresa</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Tipos del MIR ponderados por la mezcla real de saldos del BSI · Media 2026 · Es el coste de fondos que usa el modelo</a:t>
            </a:r>
            <a:endParaRPr lang="en-US" sz="13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Vista</a:t>
                      </a:r>
                      <a:endParaRPr lang="en-US" sz="9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Plazo</a:t>
                      </a:r>
                      <a:endParaRPr lang="en-US" sz="9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 vista</a:t>
                      </a:r>
                      <a:endParaRPr lang="en-US" sz="9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Ponderado</a:t>
                      </a:r>
                      <a:endParaRPr lang="en-US" sz="9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33756">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1.90</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79 %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1C3F4E"/>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3756">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2.23</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71 %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1C3F4E"/>
                          </a:solidFill>
                          <a:latin typeface="Calibri" pitchFamily="34" charset="0"/>
                          <a:ea typeface="Calibri" pitchFamily="34" charset="-122"/>
                          <a:cs typeface="Calibri" pitchFamily="34" charset="-120"/>
                        </a:rPr>
                        <a:t>1.16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3756">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Francia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0.52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2.58</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60 %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1C3F4E"/>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3756">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0.56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2.31</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89 %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1C3F4E"/>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3756">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62 %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1C3F4E"/>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3756">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0.85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84 %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1C3F4E"/>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3756">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Irlanda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1.90</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83 %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1C3F4E"/>
                          </a:solidFill>
                          <a:latin typeface="Calibri" pitchFamily="34" charset="0"/>
                          <a:ea typeface="Calibri" pitchFamily="34" charset="-122"/>
                          <a:cs typeface="Calibri" pitchFamily="34" charset="-120"/>
                        </a:rPr>
                        <a:t>0.41</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7EDE4"/>
          </a:solidFill>
          <a:ln w="12700">
            <a:solidFill>
              <a:srgbClr val="C97B3C"/>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3A42"/>
                </a:solidFill>
                <a:latin typeface="Calibri" pitchFamily="34" charset="0"/>
                <a:ea typeface="Calibri" pitchFamily="34" charset="-122"/>
                <a:cs typeface="Calibri"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BCE, dataset MIR (tipos de depósito de sociedades no financieras, nueva producción) y dataset BSI (saldos L21 vista y L22 plazo, sector 2240) para la ponderación. Facilidad de depósito del BCE al 2,09 %.</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por segmento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La PYME es el peor segmento en los seis países · Ratio de NPL · 2026-Q1 · Muestra de bancos del EBA</a:t>
            </a:r>
            <a:endParaRPr lang="en-US" sz="13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BEDEB"/>
          </a:solidFill>
          <a:ln w="12700">
            <a:solidFill>
              <a:srgbClr val="B04A3F"/>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Prima de riesgo PYME</a:t>
            </a:r>
            <a:endParaRPr lang="en-US" sz="14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+2,39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Italia  +1,50</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Francia  +1,19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Portugal  +0,58</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Alemania  +0,51</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 Bajos  +0,27</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tiene el peor NPL de PYME de los seis (5,38 %) y a la vez el spread de precio más estrecho.</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desgloses «of which SMEs» y «of which CRE». Es la muestra de bancos del EBA, no el sistema completo.</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PD × LGD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Parámetros IRB de la clase «Corporates – Of Which: SME» · Mediana de entidades declarantes · 2026-Q1</a:t>
            </a:r>
            <a:endParaRPr lang="en-US" sz="13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 × 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1.73 %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0.59 %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Francia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0.68 %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0.80 %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Portugal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40.0 %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 Bajos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1.18 %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29.7 %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0.35 %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Irlanda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1.08 %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37.3 %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bl>
          </a:graphicData>
        </a:graphic>
      </p:graphicFrame>
      <p:sp>
        <p:nvSpPr>
          <p:cNvPr id="6" name="Text 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Italia tiene la peor combinación (PD 2,26 % y LGD 35,6 %) y Países Bajos la mejor (1,18 % y 29,7 %). Irlanda tiene la PD más baja de los siete, 1,08 %, pero una LGD del 37,3 %. Portugal tiene la LGD más alta, un 40 %, compensada por una PD baja.</a:t>
            </a:r>
            <a:endParaRPr lang="en-US" sz="1200" dirty="0"/>
          </a:p>
        </p:txBody>
      </p:sp>
      <p:sp>
        <p:nvSpPr>
          <p:cNvPr id="7" name="Text 3"/>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anexo de parámetros de riesgo del Risk Dashboard Q1 2026, origen COREP C 9.02. Se usa la mediana de entidades y no la media ponderada, que se deja arrastrar por carteras grandes con parámetros extremos.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Spread PYME frente a gran empresa en PD y LGD</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Parámetros IRB, mediana de entidades · 2026-Q1 · La PYME falla más pero recupera mejor</a:t>
            </a:r>
            <a:endParaRPr lang="en-US" sz="13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Spread PYME − gran empresa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Francia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Irlanda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2918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PD (puntos básicos)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+116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+159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2918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LGD (puntos porcentuales)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-8.5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r>
              <a:tr h="32918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PD × LGD (puntos básicos)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+53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BF2EA"/>
          </a:solidFill>
          <a:ln w="12700">
            <a:solidFill>
              <a:srgbClr val="C9992B"/>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8A5A2B"/>
                </a:solidFill>
                <a:latin typeface="Calibri" pitchFamily="34" charset="0"/>
                <a:ea typeface="Calibri" pitchFamily="34" charset="-122"/>
                <a:cs typeface="Calibri" pitchFamily="34" charset="-120"/>
              </a:rPr>
              <a:t>Cautela con el LGD de gran empresa. </a:t>
            </a:r>
            <a:pPr indent="0" marL="0">
              <a:buNone/>
            </a:pPr>
            <a:r>
              <a:rPr lang="en-US" sz="1000" dirty="0">
                <a:solidFill>
                  <a:srgbClr val="2B3A42"/>
                </a:solidFill>
                <a:latin typeface="Calibri" pitchFamily="34" charset="0"/>
                <a:ea typeface="Calibri" pitchFamily="34" charset="-122"/>
                <a:cs typeface="Calibri"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anexo de parámetros de riesgo del Risk Dashboard Q1 2026, origen COREP C 9.02. Clases «Corporates – Of Which: SME» y «Corporates – Of Which: Large corporates».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Consumo de capital: densidad de RWA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RWA sobre valor de exposición · EU-wide Transparency Exercise · Junio 2025 · Incorpora ya el factor de apoyo a PYME del art. 501 CRR</a:t>
            </a:r>
            <a:endParaRPr lang="en-US" sz="13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7EDE4"/>
          </a:solidFill>
          <a:ln w="12700">
            <a:solidFill>
              <a:srgbClr val="C97B3C"/>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sp>
        <p:nvSpPr>
          <p:cNvPr id="8" name="Shape 5"/>
          <p:cNvSpPr/>
          <p:nvPr/>
        </p:nvSpPr>
        <p:spPr>
          <a:xfrm>
            <a:off x="7498080" y="3794760"/>
            <a:ext cx="4142232" cy="1463040"/>
          </a:xfrm>
          <a:prstGeom prst="roundRect">
            <a:avLst>
              <a:gd name="adj" fmla="val 3750"/>
            </a:avLst>
          </a:prstGeom>
          <a:solidFill>
            <a:srgbClr val="EEF2F3"/>
          </a:solidFill>
          <a:ln w="12700">
            <a:solidFill>
              <a:srgbClr val="DCE4E7"/>
            </a:solidFill>
            <a:prstDash val="solid"/>
          </a:ln>
        </p:spPr>
      </p:sp>
      <p:sp>
        <p:nvSpPr>
          <p:cNvPr id="9" name="Text 6"/>
          <p:cNvSpPr txBox="1"/>
          <p:nvPr/>
        </p:nvSpPr>
        <p:spPr>
          <a:xfrm>
            <a:off x="7699248" y="3913632"/>
            <a:ext cx="3749040" cy="274320"/>
          </a:xfrm>
          <a:prstGeom prst="rect">
            <a:avLst/>
          </a:prstGeom>
          <a:noFill/>
          <a:ln/>
        </p:spPr>
        <p:txBody>
          <a:bodyPr wrap="square" lIns="0" tIns="0" rIns="0" bIns="0" rtlCol="0" anchor="ctr"/>
          <a:lstStyle/>
          <a:p>
            <a:pPr indent="0" marL="0">
              <a:buNone/>
            </a:pPr>
            <a:r>
              <a:rPr lang="en-US" sz="1200" b="1" dirty="0">
                <a:solidFill>
                  <a:srgbClr val="1C3F4E"/>
                </a:solidFill>
                <a:latin typeface="Cambria" pitchFamily="34" charset="0"/>
                <a:ea typeface="Cambria" pitchFamily="34" charset="-122"/>
                <a:cs typeface="Cambria" pitchFamily="34" charset="-120"/>
              </a:rPr>
              <a:t>Exposición PYME (M€)</a:t>
            </a:r>
            <a:endParaRPr lang="en-US" sz="1200" dirty="0"/>
          </a:p>
        </p:txBody>
      </p:sp>
      <p:sp>
        <p:nvSpPr>
          <p:cNvPr id="10" name="Text 7"/>
          <p:cNvSpPr txBox="1"/>
          <p:nvPr/>
        </p:nvSpPr>
        <p:spPr>
          <a:xfrm>
            <a:off x="7699248" y="4224528"/>
            <a:ext cx="3749040" cy="914400"/>
          </a:xfrm>
          <a:prstGeom prst="rect">
            <a:avLst/>
          </a:prstGeom>
          <a:noFill/>
          <a:ln/>
        </p:spPr>
        <p:txBody>
          <a:bodyPr wrap="square" lIns="0" tIns="0" rIns="0" bIns="0" rtlCol="0" anchor="ctr"/>
          <a:lstStyle/>
          <a:p>
            <a:pPr indent="0" marL="0">
              <a:buNone/>
            </a:pPr>
            <a:r>
              <a:rPr lang="en-US" sz="1050" dirty="0">
                <a:solidFill>
                  <a:srgbClr val="2B3A42"/>
                </a:solidFill>
                <a:latin typeface="Calibri" pitchFamily="34" charset="0"/>
                <a:ea typeface="Calibri" pitchFamily="34" charset="-122"/>
                <a:cs typeface="Calibri" pitchFamily="34" charset="-120"/>
              </a:rPr>
              <a:t>España: 308k   ·   Alemania: 317k   ·   Francia: 961k   ·   Italia: 252k   ·   Portugal: 30k   ·   P. Bajos: 259k   ·   Irlanda: 17k</a:t>
            </a:r>
            <a:endParaRPr lang="en-US" sz="10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Eficiencia, capital y peso de las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Indicadores del sistema bancario · 2026-Q1 · Nivel de grupo consolidado, no de segmento PYME</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Indicador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Irlanda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de NPL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Eficiencia (cost-income)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46.8 %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57.4 %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ROE del sistema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9.4 %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CET1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Comisiones / ingresos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23.9 %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32.0 %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20.4 %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EF2F3"/>
          </a:solidFill>
          <a:ln w="12700">
            <a:solidFill>
              <a:srgbClr val="DCE4E7"/>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BF2EA"/>
          </a:solidFill>
          <a:ln w="12700">
            <a:solidFill>
              <a:srgbClr val="C9992B"/>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8A5A2B"/>
                </a:solidFill>
                <a:latin typeface="Cambria" pitchFamily="34" charset="0"/>
                <a:ea typeface="Cambria" pitchFamily="34" charset="-122"/>
                <a:cs typeface="Cambri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indicadores AQT_3.2, PFT_43, PFT_23, PFT_21, SVC_3 y PFT_26.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Circulante: líneas de crédito y descubiertos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Tipo de nueva producción a empresas · Media 2026 · Serie A2Z1, que excluye deuda de tarjeta</a:t>
            </a:r>
            <a:endParaRPr lang="en-US" sz="13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BEDEB"/>
          </a:solidFill>
          <a:ln w="12700">
            <a:solidFill>
              <a:srgbClr val="B04A3F"/>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EF2F3"/>
          </a:solidFill>
          <a:ln w="12700">
            <a:solidFill>
              <a:srgbClr val="DCE4E7"/>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 MIR, serie A2Z1 (revolving y descubiertos a sociedades no financieras). El dato de julio de 2026 es provisional en España, Alemania, Francia, Italia y zona euro.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Hipoteca PYME: no existe como estadística oficial europea</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El bloque se cubre con exposición a inmueble comercial, que es el proxy disponible</a:t>
            </a:r>
            <a:endParaRPr lang="en-US" sz="1300" dirty="0"/>
          </a:p>
        </p:txBody>
      </p:sp>
      <p:sp>
        <p:nvSpPr>
          <p:cNvPr id="4" name="Shape 2"/>
          <p:cNvSpPr/>
          <p:nvPr/>
        </p:nvSpPr>
        <p:spPr>
          <a:xfrm>
            <a:off x="548640" y="1645920"/>
            <a:ext cx="11091672" cy="1143000"/>
          </a:xfrm>
          <a:prstGeom prst="roundRect">
            <a:avLst>
              <a:gd name="adj" fmla="val 4800"/>
            </a:avLst>
          </a:prstGeom>
          <a:solidFill>
            <a:srgbClr val="FBEDEB"/>
          </a:solidFill>
          <a:ln w="12700">
            <a:solidFill>
              <a:srgbClr val="B04A3F"/>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3017520"/>
            <a:ext cx="10789920" cy="320040"/>
          </a:xfrm>
          <a:prstGeom prst="rect">
            <a:avLst/>
          </a:prstGeom>
          <a:noFill/>
          <a:ln/>
        </p:spPr>
        <p:txBody>
          <a:bodyPr wrap="square" lIns="0" tIns="0" rIns="0" bIns="0" rtlCol="0" anchor="ctr"/>
          <a:lstStyle/>
          <a:p>
            <a:pPr indent="0" marL="0">
              <a:buNone/>
            </a:pPr>
            <a:r>
              <a:rPr lang="en-US" sz="1600" b="1" dirty="0">
                <a:solidFill>
                  <a:srgbClr val="1C3F4E"/>
                </a:solidFill>
                <a:latin typeface="Cambria" pitchFamily="34" charset="0"/>
                <a:ea typeface="Cambria" pitchFamily="34" charset="-122"/>
                <a:cs typeface="Cambria" pitchFamily="34" charset="-120"/>
              </a:rPr>
              <a:t>Proxy disponible: calidad de la cartera de inmueble comercial</a:t>
            </a:r>
            <a:endParaRPr lang="en-US" sz="1600" dirty="0"/>
          </a:p>
        </p:txBody>
      </p:sp>
      <p:graphicFrame>
        <p:nvGraphicFramePr>
          <p:cNvPr id="8" name="Chart 0" descr=""/>
          <p:cNvGraphicFramePr/>
          <p:nvPr/>
        </p:nvGraphicFramePr>
        <p:xfrm>
          <a:off x="548640" y="3474720"/>
          <a:ext cx="10789920" cy="2194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Q1 2026, desglose «of which CRE». Alemania destaca con el peor NPL de inmueble comercial de los seis (6,81 %), muy por encima de su NPL total (1,61 %).</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Factoring y confirming: volumen sí, precio no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Volumen cedido 2025 y penetración sobre PIB · El precio no es obtenible con fuentes públicas</a:t>
            </a:r>
            <a:endParaRPr lang="en-US" sz="13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BEDEB"/>
          </a:solidFill>
          <a:ln w="12700">
            <a:solidFill>
              <a:srgbClr val="B04A3F"/>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EF2F3"/>
          </a:solidFill>
          <a:ln w="12700">
            <a:solidFill>
              <a:srgbClr val="DCE4E7"/>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EUF (datos anuales 2025), AEF para el desglose español, Assifact para el italiano. El turnover es importe cedido en el año, no saldo vivo: no comparable con cartera de crédito.</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Comparables banco a banco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Cuentas de resultados 2026 · De nueve bancos analizados, solo dos publican segmento de empresas con desglose de comisiones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Banco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Segmento publicado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Ingresos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Comisiones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Commerzbank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Clients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30,5 %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ABN AMRO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Banking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1.694</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25,3 %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49,5 %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Intesa Sanpaolo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Banca dei Territori</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6.205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no desglosa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46,7 %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CaixaBank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tiene segmento empresas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8.338</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2.075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39,6 %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BPER Banca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desglosa por división</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3.876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1.353</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41,4 %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i="1" dirty="0">
                          <a:solidFill>
                            <a:srgbClr val="6E7F88"/>
                          </a:solidFill>
                          <a:latin typeface="Calibri" pitchFamily="34" charset="0"/>
                          <a:ea typeface="Calibri" pitchFamily="34" charset="-122"/>
                          <a:cs typeface="Calibri" pitchFamily="34" charset="-120"/>
                        </a:rPr>
                        <a:t>ING · SocGen · BNP</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no accesible: bloqueo antibot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BEDEB"/>
          </a:solidFill>
          <a:ln w="12700">
            <a:solidFill>
              <a:srgbClr val="B04A3F"/>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Supuestos del modelo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Cada uno declarado, con su origen y su efecto · Dos de los iniciales han dejado de ser supuestos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Supuesto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Valor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Origen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Efecto si cambia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Cuña de comisiones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87 pb</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en España (TAE − TEDR, tramo ≤1 M€). Aplicada a los otros cinco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B04A3F"/>
                          </a:solidFill>
                          <a:latin typeface="Calibri" pitchFamily="34" charset="0"/>
                          <a:ea typeface="Calibri" pitchFamily="34" charset="-122"/>
                          <a:cs typeface="Calibri" pitchFamily="34" charset="-120"/>
                        </a:rPr>
                        <a:t>ALTO. Mueve el ROE entre 3 y 12 puntos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 los recursos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0,41 % a 1,34 %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Observado. Tipos del MIR ponderados por saldos del BSI. Supone financiar el crédito PYME con depósito de empresa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B04A3F"/>
                          </a:solidFill>
                          <a:latin typeface="Calibri" pitchFamily="34" charset="0"/>
                          <a:ea typeface="Calibri" pitchFamily="34" charset="-122"/>
                          <a:cs typeface="Calibri" pitchFamily="34" charset="-120"/>
                        </a:rPr>
                        <a:t>ALTO. Con fondeo en mercado al 2,23 % los ROE caerían entre 6 y 12 puntos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del riesgo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PD × LGD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Parámetros IRB de la clase «Corporates – Of Which: SME», mediana de entidades (COREP C 9.02)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Densidad de RWA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35 % a 61 %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RWA sobre exposición de la cartera PYME (EBA Transparency Exercise)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Tipo impositivo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25 %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Uniforme, no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BAJO. Escala proporcional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EBA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pero de grupo consolidado y no de segmento PYME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Penaliza a países con banca universal compleja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Text 2"/>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El modelo completo y reproducible está en scripts/modelo_roe.py del repositorio. Cada fila del CSV de salida declara si el valor es observado o supuesto.</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9FB3BC"/>
                </a:solidFill>
                <a:latin typeface="Calibri" pitchFamily="34" charset="0"/>
                <a:ea typeface="Calibri" pitchFamily="34" charset="-122"/>
                <a:cs typeface="Calibri"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C97B3C"/>
          </a:solidFill>
          <a:ln w="12700">
            <a:solidFill>
              <a:srgbClr val="C97B3C"/>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C97B3C"/>
          </a:solidFill>
          <a:ln w="12700">
            <a:solidFill>
              <a:srgbClr val="C97B3C"/>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C97B3C"/>
          </a:solidFill>
          <a:ln w="12700">
            <a:solidFill>
              <a:srgbClr val="C97B3C"/>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C97B3C"/>
          </a:solidFill>
          <a:ln w="12700">
            <a:solidFill>
              <a:srgbClr val="C97B3C"/>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Fuentes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Nueve fuentes, 25.370 observaciones, cada fila trazable a su serie de origen</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Bloque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Cobertura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Último dato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Precio y volumen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ECB Data Portal, dataset MIR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Tipos oficiales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dataset FM (facilidad de depósito, MRO, Euríbor)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Zona euro, diario</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Encuesta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SAFE (Q8B y brecha de financiación)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semestral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Q8B hasta 2022-S1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Riesgo, eficiencia, capital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EBA Risk Dashboard, anexo de datos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Comisiones y volumen 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Banco de España, Boletín Estadístico, cap. 19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España,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TAEG empresas 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Banca d'Italia, STACORIS, tavola TRI30951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Italia,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Spread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OCDE, Financing SMEs and Entrepreneurs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países, sin 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Factoring</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EUF, AEF y Assifact</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anual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Comparables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Cuentas de resultados de 5 bancos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bancos de 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2026-H1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2026-09-16T15:00:29Z</dcterms:created>
  <dcterms:modified xsi:type="dcterms:W3CDTF">2026-09-16T15:00:29Z</dcterms:modified>
</cp:coreProperties>
</file>