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9.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0.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C97B3C"/>
            </a:solidFill>
            <a:effectLst/>
          </c:spPr>
          <c:invertIfNegative val="0"/>
          <c:dLbls>
            <c:numFmt formatCode="#,##0" sourceLinked="0"/>
            <c:txPr>
              <a:bodyPr/>
              <a:lstStyle/>
              <a:p>
                <a:pPr>
                  <a:defRPr b="0" i="0" strike="noStrike" sz="10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Más de 1 M€</c:v>
                </c:pt>
              </c:strCache>
            </c:strRef>
          </c:tx>
          <c:spPr>
            <a:solidFill>
              <a:srgbClr val="1C3F4E"/>
            </a:solidFill>
            <a:effectLst/>
          </c:spPr>
          <c:invertIfNegative val="0"/>
          <c:dLbls>
            <c:numFmt formatCode="#,##0" sourceLinked="0"/>
            <c:txPr>
              <a:bodyPr/>
              <a:lstStyle/>
              <a:p>
                <a:pPr>
                  <a:defRPr b="0" i="0" strike="noStrike" sz="10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10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5.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1C3F4E"/>
            </a:solidFill>
            <a:effectLst/>
          </c:spPr>
          <c:invertIfNegative val="0"/>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C97B3C"/>
            </a:solidFill>
            <a:effectLst/>
          </c:spPr>
          <c:invertIfNegative val="0"/>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1C3F4E"/>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5.49</c:v>
                </c:pt>
                <c:pt idx="1">
                  <c:v>12.09</c:v>
                </c:pt>
                <c:pt idx="2">
                  <c:v>1.66</c:v>
                </c:pt>
                <c:pt idx="3">
                  <c:v>7.65</c:v>
                </c:pt>
                <c:pt idx="4">
                  <c:v>8.08</c:v>
                </c:pt>
                <c:pt idx="5">
                  <c:v>13.71</c:v>
                </c:pt>
                <c:pt idx="6">
                  <c:v>7.65</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13"/>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Depósito a la vista</c:v>
                </c:pt>
              </c:strCache>
            </c:strRef>
          </c:tx>
          <c:spPr>
            <a:solidFill>
              <a:srgbClr val="6E7F88"/>
            </a:solidFill>
            <a:effectLst/>
          </c:spPr>
          <c:invertIfNegative val="0"/>
          <c:dLbls>
            <c:numFmt formatCode="#,##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c:v>
                </c:pt>
                <c:pt idx="1">
                  <c:v>0</c:v>
                </c:pt>
                <c:pt idx="2">
                  <c:v>0</c:v>
                </c:pt>
                <c:pt idx="3">
                  <c:v>0</c:v>
                </c:pt>
                <c:pt idx="4">
                  <c:v>0</c:v>
                </c:pt>
                <c:pt idx="5">
                  <c:v>0</c:v>
                </c:pt>
                <c:pt idx="6">
                  <c:v>0</c:v>
                </c:pt>
              </c:numCache>
            </c:numRef>
          </c:val>
        </c:ser>
        <c:ser>
          <c:idx val="1"/>
          <c:order val="1"/>
          <c:tx>
            <c:strRef>
              <c:f>Sheet1!$C$1</c:f>
              <c:strCache>
                <c:ptCount val="1"/>
                <c:pt idx="0">
                  <c:v>Margen sobre facilidad BCE</c:v>
                </c:pt>
              </c:strCache>
            </c:strRef>
          </c:tx>
          <c:spPr>
            <a:solidFill>
              <a:srgbClr val="2E7D5B"/>
            </a:solidFill>
            <a:effectLst/>
          </c:spPr>
          <c:invertIfNegative val="0"/>
          <c:dLbls>
            <c:numFmt formatCode="#,##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c:v>
                </c:pt>
                <c:pt idx="1">
                  <c:v>0</c:v>
                </c:pt>
                <c:pt idx="2">
                  <c:v>0</c:v>
                </c:pt>
                <c:pt idx="3">
                  <c:v>0</c:v>
                </c:pt>
                <c:pt idx="4">
                  <c:v>0</c:v>
                </c:pt>
                <c:pt idx="5">
                  <c:v>0</c:v>
                </c:pt>
                <c:pt idx="6">
                  <c:v>0</c:v>
                </c:pt>
              </c:numCache>
            </c:numRef>
          </c:val>
        </c:ser>
        <c:dLbls>
          <c:numFmt formatCode="#,##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B9C6CC"/>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1C3F4E"/>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B04A3F"/>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C97B3C"/>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B04A3F"/>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3F4E"/>
                </a:solidFill>
                <a:latin typeface="Arial"/>
              </a:defRPr>
            </a:pPr>
            <a:r>
              <a:rPr sz="1200" b="0" i="0" u="none" strike="noStrike">
                <a:solidFill>
                  <a:srgbClr val="1C3F4E"/>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B04A3F"/>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B9C6CC"/>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3F4E"/>
                </a:solidFill>
                <a:latin typeface="Arial"/>
              </a:defRPr>
            </a:pPr>
            <a:r>
              <a:rPr sz="1200" b="0" i="0" u="none" strike="noStrike">
                <a:solidFill>
                  <a:srgbClr val="1C3F4E"/>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C97B3C"/>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B9C6CC"/>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1C3F4E"/>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C97B3C"/>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NPL inmueble comercial</c:v>
                </c:pt>
              </c:strCache>
            </c:strRef>
          </c:tx>
          <c:spPr>
            <a:solidFill>
              <a:srgbClr val="C97B3C"/>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1C3F4E"/>
            </a:solidFill>
            <a:effectLst/>
          </c:spPr>
          <c:invertIfNegative val="0"/>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C36"/>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9FB3BC"/>
                </a:solidFill>
                <a:latin typeface="Calibri" pitchFamily="34" charset="0"/>
                <a:ea typeface="Calibri" pitchFamily="34" charset="-122"/>
                <a:cs typeface="Calibri" pitchFamily="34" charset="-120"/>
              </a:rPr>
              <a:t>España · Alemania · Francia · Italia · Portugal · Países Bajos</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C97B3C"/>
                </a:solidFill>
                <a:latin typeface="Calibri" pitchFamily="34" charset="0"/>
                <a:ea typeface="Calibri" pitchFamily="34" charset="-122"/>
                <a:cs typeface="Calibri"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6E7F88"/>
                </a:solidFill>
                <a:latin typeface="Calibri" pitchFamily="34" charset="0"/>
                <a:ea typeface="Calibri" pitchFamily="34" charset="-122"/>
                <a:cs typeface="Calibri" pitchFamily="34" charset="-120"/>
              </a:rPr>
              <a:t>25.370 observaciones · 9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Objetivo y método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Qué se mide, con qué datos y dónde están los límites</a:t>
            </a:r>
            <a:endParaRPr lang="en-US" sz="1300" dirty="0"/>
          </a:p>
        </p:txBody>
      </p:sp>
      <p:sp>
        <p:nvSpPr>
          <p:cNvPr id="4" name="Shape 2"/>
          <p:cNvSpPr/>
          <p:nvPr/>
        </p:nvSpPr>
        <p:spPr>
          <a:xfrm>
            <a:off x="548640" y="1600200"/>
            <a:ext cx="11091672" cy="1069848"/>
          </a:xfrm>
          <a:prstGeom prst="roundRect">
            <a:avLst>
              <a:gd name="adj" fmla="val 5128"/>
            </a:avLst>
          </a:prstGeom>
          <a:solidFill>
            <a:srgbClr val="EEF2F3"/>
          </a:solidFill>
          <a:ln w="12700">
            <a:solidFill>
              <a:srgbClr val="DCE4E7"/>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1C3F4E"/>
                </a:solidFill>
                <a:latin typeface="Cambria" pitchFamily="34" charset="0"/>
                <a:ea typeface="Cambria" pitchFamily="34" charset="-122"/>
                <a:cs typeface="Cambri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Comparar la rentabilidad del negocio PYME entre seis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EF2F3"/>
          </a:solidFill>
          <a:ln w="12700">
            <a:solidFill>
              <a:srgbClr val="DCE4E7"/>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1C3F4E"/>
                </a:solidFill>
                <a:latin typeface="Cambria" pitchFamily="34" charset="0"/>
                <a:ea typeface="Cambria" pitchFamily="34" charset="-122"/>
                <a:cs typeface="Cambri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EF2F3"/>
          </a:solidFill>
          <a:ln w="12700">
            <a:solidFill>
              <a:srgbClr val="DCE4E7"/>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1C3F4E"/>
                </a:solidFill>
                <a:latin typeface="Cambria" pitchFamily="34" charset="0"/>
                <a:ea typeface="Cambria" pitchFamily="34" charset="-122"/>
                <a:cs typeface="Cambri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7EDE4"/>
          </a:solidFill>
          <a:ln w="12700">
            <a:solidFill>
              <a:srgbClr val="C97B3C"/>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C97B3C"/>
                </a:solidFill>
                <a:latin typeface="Cambria" pitchFamily="34" charset="0"/>
                <a:ea typeface="Cambria" pitchFamily="34" charset="-122"/>
                <a:cs typeface="Cambri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Detalle completo de fuentes, supuestos y huecos en notas.md del repositorio del proyecto.</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Mapa de fiabilidad del dato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Qué se puede afirmar y con qué respaldo, producto a producto y país a país</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Producto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Precio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Volumen</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Comisiones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Riesgo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Préstamo PYME por tramo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SOLO ESPAÑA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Circulante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Hipoteca PYME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PROXY CRE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Factoring</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PARCIAL</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Confirming</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SOLO ES e IT</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Depósitos de empresa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PARCIAL</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6E7F88"/>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6E7F88"/>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6E7F88"/>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El mapa de huecos es en sí un resultado. Tras incorporar los parámetros IRB del EBA, el riesgo y el capital de PYME son observados en los seis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2E7D5B"/>
          </a:solidFill>
          <a:ln w="12700">
            <a:solidFill>
              <a:srgbClr val="2E7D5B"/>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p>
        </p:txBody>
      </p:sp>
      <p:sp>
        <p:nvSpPr>
          <p:cNvPr id="8" name="Shape 5"/>
          <p:cNvSpPr/>
          <p:nvPr/>
        </p:nvSpPr>
        <p:spPr>
          <a:xfrm>
            <a:off x="2377440" y="5806440"/>
            <a:ext cx="1371600" cy="256032"/>
          </a:xfrm>
          <a:prstGeom prst="roundRect">
            <a:avLst>
              <a:gd name="adj" fmla="val 42857"/>
            </a:avLst>
          </a:prstGeom>
          <a:solidFill>
            <a:srgbClr val="C9992B"/>
          </a:solidFill>
          <a:ln w="12700">
            <a:solidFill>
              <a:srgbClr val="C9992B"/>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PARCIAL o SUPUESTO</a:t>
            </a:r>
            <a:endParaRPr lang="en-US" sz="900" dirty="0"/>
          </a:p>
        </p:txBody>
      </p:sp>
      <p:sp>
        <p:nvSpPr>
          <p:cNvPr id="10" name="Shape 7"/>
          <p:cNvSpPr/>
          <p:nvPr/>
        </p:nvSpPr>
        <p:spPr>
          <a:xfrm>
            <a:off x="4206240" y="5806440"/>
            <a:ext cx="1371600" cy="256032"/>
          </a:xfrm>
          <a:prstGeom prst="roundRect">
            <a:avLst>
              <a:gd name="adj" fmla="val 42857"/>
            </a:avLst>
          </a:prstGeom>
          <a:solidFill>
            <a:srgbClr val="B04A3F"/>
          </a:solidFill>
          <a:ln w="12700">
            <a:solidFill>
              <a:srgbClr val="B04A3F"/>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p>
        </p:txBody>
      </p:sp>
      <p:sp>
        <p:nvSpPr>
          <p:cNvPr id="12" name="Text 9"/>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Fuentes: BCE (MIR), EBA Risk Dashboard, Banco de España (Boletín Estadístico), Banca d'Italia (STACORIS), OCDE, EUF.</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Precio: tipo de nueva producción por tramo de importe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Media 2026 ponderada por volumen · Fijación inicial total · Sin comisiones</a:t>
            </a:r>
            <a:endParaRPr lang="en-US" sz="1300" dirty="0"/>
          </a:p>
        </p:txBody>
      </p:sp>
      <p:graphicFrame>
        <p:nvGraphicFramePr>
          <p:cNvPr id="4" name="Chart 0" descr=""/>
          <p:cNvGraphicFramePr/>
          <p:nvPr/>
        </p:nvGraphicFramePr>
        <p:xfrm>
          <a:off x="548640" y="1600200"/>
          <a:ext cx="685800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EF2F3"/>
          </a:solidFill>
          <a:ln w="12700">
            <a:solidFill>
              <a:srgbClr val="DCE4E7"/>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3A42"/>
                </a:solidFill>
                <a:latin typeface="Calibri" pitchFamily="34" charset="0"/>
                <a:ea typeface="Calibri" pitchFamily="34" charset="-122"/>
                <a:cs typeface="Calibri" pitchFamily="34" charset="-120"/>
              </a:rPr>
              <a:t>España: 50.5 %</a:t>
            </a:r>
            <a:endParaRPr lang="en-US" sz="1050" dirty="0"/>
          </a:p>
          <a:p>
            <a:pPr indent="0" marL="0">
              <a:lnSpc>
                <a:spcPts val="1300"/>
              </a:lnSpc>
              <a:buNone/>
            </a:pPr>
            <a:r>
              <a:rPr lang="en-US" sz="1050" dirty="0">
                <a:solidFill>
                  <a:srgbClr val="2B3A42"/>
                </a:solidFill>
                <a:latin typeface="Calibri" pitchFamily="34" charset="0"/>
                <a:ea typeface="Calibri" pitchFamily="34" charset="-122"/>
                <a:cs typeface="Calibri" pitchFamily="34" charset="-120"/>
              </a:rPr>
              <a:t>Alemania: 17.8 %</a:t>
            </a:r>
            <a:endParaRPr lang="en-US" sz="1050" dirty="0"/>
          </a:p>
          <a:p>
            <a:pPr indent="0" marL="0">
              <a:lnSpc>
                <a:spcPts val="1300"/>
              </a:lnSpc>
              <a:buNone/>
            </a:pPr>
            <a:r>
              <a:rPr lang="en-US" sz="1050" dirty="0">
                <a:solidFill>
                  <a:srgbClr val="2B3A42"/>
                </a:solidFill>
                <a:latin typeface="Calibri" pitchFamily="34" charset="0"/>
                <a:ea typeface="Calibri" pitchFamily="34" charset="-122"/>
                <a:cs typeface="Calibri" pitchFamily="34" charset="-120"/>
              </a:rPr>
              <a:t>Francia: 30 %</a:t>
            </a:r>
            <a:endParaRPr lang="en-US" sz="1050" dirty="0"/>
          </a:p>
          <a:p>
            <a:pPr indent="0" marL="0">
              <a:lnSpc>
                <a:spcPts val="1300"/>
              </a:lnSpc>
              <a:buNone/>
            </a:pPr>
            <a:r>
              <a:rPr lang="en-US" sz="1050" dirty="0">
                <a:solidFill>
                  <a:srgbClr val="2B3A42"/>
                </a:solidFill>
                <a:latin typeface="Calibri" pitchFamily="34" charset="0"/>
                <a:ea typeface="Calibri" pitchFamily="34" charset="-122"/>
                <a:cs typeface="Calibri" pitchFamily="34" charset="-120"/>
              </a:rPr>
              <a:t>Italia: 34.6 %</a:t>
            </a:r>
            <a:endParaRPr lang="en-US" sz="1050" dirty="0"/>
          </a:p>
          <a:p>
            <a:pPr indent="0" marL="0">
              <a:lnSpc>
                <a:spcPts val="1300"/>
              </a:lnSpc>
              <a:buNone/>
            </a:pPr>
            <a:r>
              <a:rPr lang="en-US" sz="1050" dirty="0">
                <a:solidFill>
                  <a:srgbClr val="2B3A42"/>
                </a:solidFill>
                <a:latin typeface="Calibri" pitchFamily="34" charset="0"/>
                <a:ea typeface="Calibri" pitchFamily="34" charset="-122"/>
                <a:cs typeface="Calibri" pitchFamily="34" charset="-120"/>
              </a:rPr>
              <a:t>Portugal: 51.1 %</a:t>
            </a:r>
            <a:endParaRPr lang="en-US" sz="1050" dirty="0"/>
          </a:p>
          <a:p>
            <a:pPr indent="0" marL="0">
              <a:lnSpc>
                <a:spcPts val="1300"/>
              </a:lnSpc>
              <a:buNone/>
            </a:pPr>
            <a:r>
              <a:rPr lang="en-US" sz="1050" dirty="0">
                <a:solidFill>
                  <a:srgbClr val="2B3A42"/>
                </a:solidFill>
                <a:latin typeface="Calibri" pitchFamily="34" charset="0"/>
                <a:ea typeface="Calibri" pitchFamily="34" charset="-122"/>
                <a:cs typeface="Calibri" pitchFamily="34" charset="-120"/>
              </a:rPr>
              <a:t>P. Bajos: 7.6 %</a:t>
            </a:r>
            <a:endParaRPr lang="en-US" sz="1050" dirty="0"/>
          </a:p>
          <a:p>
            <a:pPr indent="0" marL="0">
              <a:lnSpc>
                <a:spcPts val="1300"/>
              </a:lnSpc>
              <a:buNone/>
            </a:pPr>
            <a:r>
              <a:rPr lang="en-US" sz="1050" dirty="0">
                <a:solidFill>
                  <a:srgbClr val="2B3A42"/>
                </a:solidFill>
                <a:latin typeface="Calibri" pitchFamily="34" charset="0"/>
                <a:ea typeface="Calibri" pitchFamily="34" charset="-122"/>
                <a:cs typeface="Calibri"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7EDE4"/>
          </a:solidFill>
          <a:ln w="12700">
            <a:solidFill>
              <a:srgbClr val="C97B3C"/>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C97B3C"/>
                </a:solidFill>
                <a:latin typeface="Cambria" pitchFamily="34" charset="0"/>
                <a:ea typeface="Cambria" pitchFamily="34" charset="-122"/>
                <a:cs typeface="Cambri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3A42"/>
                </a:solidFill>
                <a:latin typeface="Calibri" pitchFamily="34" charset="0"/>
                <a:ea typeface="Calibri" pitchFamily="34" charset="-122"/>
                <a:cs typeface="Calibri"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BCE, ECB Data Portal, dataset MIR. Tipo anual equivalente (AAR/NDER), que excluye comisiones. Media enero-julio 2026 ponderada por volumen mensual.</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El hallazgo que cambia la lectura: España cobra por comisión</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Único país de los seis donde existe un tipo con comisiones para empresas · Media 2026</a:t>
            </a:r>
            <a:endParaRPr lang="en-US" sz="13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1600200"/>
          </a:xfrm>
          <a:prstGeom prst="roundRect">
            <a:avLst>
              <a:gd name="adj" fmla="val 3429"/>
            </a:avLst>
          </a:prstGeom>
          <a:solidFill>
            <a:srgbClr val="F7EDE4"/>
          </a:solidFill>
          <a:ln w="12700">
            <a:solidFill>
              <a:srgbClr val="C97B3C"/>
            </a:solidFill>
            <a:prstDash val="solid"/>
          </a:ln>
        </p:spPr>
      </p:sp>
      <p:sp>
        <p:nvSpPr>
          <p:cNvPr id="6" name="Text 3"/>
          <p:cNvSpPr txBox="1"/>
          <p:nvPr/>
        </p:nvSpPr>
        <p:spPr>
          <a:xfrm>
            <a:off x="7589520" y="1783080"/>
            <a:ext cx="3886200" cy="292608"/>
          </a:xfrm>
          <a:prstGeom prst="rect">
            <a:avLst/>
          </a:prstGeom>
          <a:noFill/>
          <a:ln/>
        </p:spPr>
        <p:txBody>
          <a:bodyPr wrap="square" lIns="0" tIns="0" rIns="0" bIns="0" rtlCol="0" anchor="ctr"/>
          <a:lstStyle/>
          <a:p>
            <a:pPr indent="0" marL="0">
              <a:buNone/>
            </a:pPr>
            <a:r>
              <a:rPr lang="en-US" sz="1400" b="1" dirty="0">
                <a:solidFill>
                  <a:srgbClr val="C97B3C"/>
                </a:solidFill>
                <a:latin typeface="Cambria" pitchFamily="34" charset="0"/>
                <a:ea typeface="Cambria" pitchFamily="34" charset="-122"/>
                <a:cs typeface="Cambria" pitchFamily="34" charset="-120"/>
              </a:rPr>
              <a:t>Spread PYME según qué se mida</a:t>
            </a:r>
            <a:endParaRPr lang="en-US" sz="1400" dirty="0"/>
          </a:p>
        </p:txBody>
      </p:sp>
      <p:sp>
        <p:nvSpPr>
          <p:cNvPr id="7" name="Text 4"/>
          <p:cNvSpPr txBox="1"/>
          <p:nvPr/>
        </p:nvSpPr>
        <p:spPr>
          <a:xfrm>
            <a:off x="7589520" y="2194560"/>
            <a:ext cx="3886200" cy="914400"/>
          </a:xfrm>
          <a:prstGeom prst="rect">
            <a:avLst/>
          </a:prstGeom>
          <a:noFill/>
          <a:ln/>
        </p:spPr>
        <p:txBody>
          <a:bodyPr wrap="square" lIns="0" tIns="0" rIns="0" bIns="0" rtlCol="0" anchor="ctr"/>
          <a:lstStyle/>
          <a:p>
            <a:pPr indent="0" marL="0">
              <a:buNone/>
            </a:pPr>
            <a:r>
              <a:rPr lang="en-US" sz="2000" b="1" dirty="0">
                <a:solidFill>
                  <a:srgbClr val="B04A3F"/>
                </a:solidFill>
                <a:latin typeface="Calibri" pitchFamily="34" charset="0"/>
                <a:ea typeface="Calibri" pitchFamily="34" charset="-122"/>
                <a:cs typeface="Calibri" pitchFamily="34" charset="-120"/>
              </a:rPr>
              <a:t>−2 pb</a:t>
            </a:r>
            <a:pPr indent="0" marL="0">
              <a:buNone/>
            </a:pPr>
            <a:r>
              <a:rPr lang="en-US" sz="1200" dirty="0">
                <a:solidFill>
                  <a:srgbClr val="2B3A42"/>
                </a:solidFill>
                <a:latin typeface="Calibri" pitchFamily="34" charset="0"/>
                <a:ea typeface="Calibri" pitchFamily="34" charset="-122"/>
                <a:cs typeface="Calibri" pitchFamily="34" charset="-120"/>
              </a:rPr>
              <a:t>  medido en TEDR</a:t>
            </a:r>
            <a:endParaRPr lang="en-US" sz="2000" dirty="0"/>
          </a:p>
          <a:p>
            <a:pPr indent="0" marL="0">
              <a:buNone/>
            </a:pPr>
            <a:r>
              <a:rPr lang="en-US" sz="2000" b="1" dirty="0">
                <a:solidFill>
                  <a:srgbClr val="2E7D5B"/>
                </a:solidFill>
                <a:latin typeface="Calibri" pitchFamily="34" charset="0"/>
                <a:ea typeface="Calibri" pitchFamily="34" charset="-122"/>
                <a:cs typeface="Calibri" pitchFamily="34" charset="-120"/>
              </a:rPr>
              <a:t>+81 pb</a:t>
            </a:r>
            <a:pPr indent="0" marL="0">
              <a:buNone/>
            </a:pPr>
            <a:r>
              <a:rPr lang="en-US" sz="1200" dirty="0">
                <a:solidFill>
                  <a:srgbClr val="2B3A42"/>
                </a:solidFill>
                <a:latin typeface="Calibri" pitchFamily="34" charset="0"/>
                <a:ea typeface="Calibri" pitchFamily="34" charset="-122"/>
                <a:cs typeface="Calibri" pitchFamily="34" charset="-120"/>
              </a:rPr>
              <a:t>  medido en TAE</a:t>
            </a:r>
            <a:endParaRPr lang="en-US" sz="2000" dirty="0"/>
          </a:p>
        </p:txBody>
      </p:sp>
      <p:sp>
        <p:nvSpPr>
          <p:cNvPr id="8" name="Shape 5"/>
          <p:cNvSpPr/>
          <p:nvPr/>
        </p:nvSpPr>
        <p:spPr>
          <a:xfrm>
            <a:off x="7406640" y="3429000"/>
            <a:ext cx="4233672" cy="1691640"/>
          </a:xfrm>
          <a:prstGeom prst="roundRect">
            <a:avLst>
              <a:gd name="adj" fmla="val 3243"/>
            </a:avLst>
          </a:prstGeom>
          <a:solidFill>
            <a:srgbClr val="EEF2F3"/>
          </a:solidFill>
          <a:ln w="12700">
            <a:solidFill>
              <a:srgbClr val="DCE4E7"/>
            </a:solidFill>
            <a:prstDash val="solid"/>
          </a:ln>
        </p:spPr>
      </p:sp>
      <p:sp>
        <p:nvSpPr>
          <p:cNvPr id="9" name="Text 6"/>
          <p:cNvSpPr txBox="1"/>
          <p:nvPr/>
        </p:nvSpPr>
        <p:spPr>
          <a:xfrm>
            <a:off x="7589520" y="3566160"/>
            <a:ext cx="3886200" cy="274320"/>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Cuña de comisiones por tramo</a:t>
            </a:r>
            <a:endParaRPr lang="en-US" sz="1300" dirty="0"/>
          </a:p>
        </p:txBody>
      </p:sp>
      <p:sp>
        <p:nvSpPr>
          <p:cNvPr id="10" name="Text 7"/>
          <p:cNvSpPr txBox="1"/>
          <p:nvPr/>
        </p:nvSpPr>
        <p:spPr>
          <a:xfrm>
            <a:off x="7589520" y="3931920"/>
            <a:ext cx="3886200" cy="1005840"/>
          </a:xfrm>
          <a:prstGeom prst="rect">
            <a:avLst/>
          </a:prstGeom>
          <a:noFill/>
          <a:ln/>
        </p:spPr>
        <p:txBody>
          <a:bodyPr wrap="square" lIns="0" tIns="0" rIns="0" bIns="0" rtlCol="0" anchor="ctr"/>
          <a:lstStyle/>
          <a:p>
            <a:pPr indent="0" marL="0">
              <a:lnSpc>
                <a:spcPts val="2000"/>
              </a:lnSpc>
              <a:buNone/>
            </a:pPr>
            <a:r>
              <a:rPr lang="en-US" sz="1300" dirty="0">
                <a:solidFill>
                  <a:srgbClr val="2B3A42"/>
                </a:solidFill>
                <a:latin typeface="Calibri" pitchFamily="34" charset="0"/>
                <a:ea typeface="Calibri" pitchFamily="34" charset="-122"/>
                <a:cs typeface="Calibri" pitchFamily="34" charset="-120"/>
              </a:rPr>
              <a:t>≤0,25 M€:  +102 pb</a:t>
            </a:r>
            <a:endParaRPr lang="en-US" sz="1300" dirty="0"/>
          </a:p>
          <a:p>
            <a:pPr indent="0" marL="0">
              <a:lnSpc>
                <a:spcPts val="2000"/>
              </a:lnSpc>
              <a:buNone/>
            </a:pPr>
            <a:r>
              <a:rPr lang="en-US" sz="1300" dirty="0">
                <a:solidFill>
                  <a:srgbClr val="2B3A42"/>
                </a:solidFill>
                <a:latin typeface="Calibri" pitchFamily="34" charset="0"/>
                <a:ea typeface="Calibri" pitchFamily="34" charset="-122"/>
                <a:cs typeface="Calibri" pitchFamily="34" charset="-120"/>
              </a:rPr>
              <a:t>0,25–1 M€:  +36 pb</a:t>
            </a:r>
            <a:endParaRPr lang="en-US" sz="1300" dirty="0"/>
          </a:p>
          <a:p>
            <a:pPr indent="0" marL="0">
              <a:lnSpc>
                <a:spcPts val="2000"/>
              </a:lnSpc>
              <a:buNone/>
            </a:pPr>
            <a:r>
              <a:rPr lang="en-US" sz="1300" dirty="0">
                <a:solidFill>
                  <a:srgbClr val="2B3A42"/>
                </a:solidFill>
                <a:latin typeface="Calibri" pitchFamily="34" charset="0"/>
                <a:ea typeface="Calibri" pitchFamily="34" charset="-122"/>
                <a:cs typeface="Calibri" pitchFamily="34" charset="-120"/>
              </a:rPr>
              <a:t>&gt;1 M€:  +18 pb</a:t>
            </a:r>
            <a:endParaRPr lang="en-US" sz="1300" dirty="0"/>
          </a:p>
        </p:txBody>
      </p:sp>
      <p:sp>
        <p:nvSpPr>
          <p:cNvPr id="11" name="Text 8"/>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2" name="Text 9"/>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Banco de España, Boletín Estadístico, cuadros 19.5 (TEDR), 19.6 (TAE) y 19.13 (volúmenes). Cuña = TAE − TEDR, cálculo propio. Media enero-julio 2026.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Cuenta de resultados modelizada del préstamo PYME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En % del saldo medio · Tramo ≤1 M€ · 2026 · Las filas en ocre son supuestos, no observaciones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Concepto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España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Alemania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Francia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Italia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 Bajos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Irlanda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338328">
                <a:tc>
                  <a:txBody>
                    <a:bodyPr/>
                    <a:lstStyle/>
                    <a:p>
                      <a:pPr algn="l" indent="0" marL="0">
                        <a:buNone/>
                      </a:pPr>
                      <a:r>
                        <a:rPr lang="en-US" sz="1100" dirty="0">
                          <a:solidFill>
                            <a:srgbClr val="2B3A42"/>
                          </a:solidFill>
                          <a:latin typeface="Calibri" pitchFamily="34" charset="0"/>
                          <a:ea typeface="Calibri" pitchFamily="34" charset="-122"/>
                          <a:cs typeface="Calibri" pitchFamily="34" charset="-120"/>
                        </a:rPr>
                        <a:t>Precio (tipo MIR)</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3.41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4.39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3.77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4.25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3.94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4.50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5.37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 Comisiones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b="1" dirty="0">
                          <a:solidFill>
                            <a:srgbClr val="1C3F4E"/>
                          </a:solidFill>
                          <a:latin typeface="Calibri" pitchFamily="34" charset="0"/>
                          <a:ea typeface="Calibri" pitchFamily="34" charset="-122"/>
                          <a:cs typeface="Calibri" pitchFamily="34" charset="-120"/>
                        </a:rPr>
                        <a:t>= Ingreso total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4.28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5.26</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4.64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5.12</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4.81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5.37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6.24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8328">
                <a:tc>
                  <a:txBody>
                    <a:bodyPr/>
                    <a:lstStyle/>
                    <a:p>
                      <a:pPr algn="l" indent="0" marL="0">
                        <a:buNone/>
                      </a:pPr>
                      <a:r>
                        <a:rPr lang="en-US" sz="1100" dirty="0">
                          <a:solidFill>
                            <a:srgbClr val="2B3A42"/>
                          </a:solidFill>
                          <a:latin typeface="Calibri" pitchFamily="34" charset="0"/>
                          <a:ea typeface="Calibri" pitchFamily="34" charset="-122"/>
                          <a:cs typeface="Calibri" pitchFamily="34" charset="-120"/>
                        </a:rPr>
                        <a:t>− Coste de fondos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38328">
                <a:tc>
                  <a:txBody>
                    <a:bodyPr/>
                    <a:lstStyle/>
                    <a:p>
                      <a:pPr algn="l" indent="0" marL="0">
                        <a:buNone/>
                      </a:pPr>
                      <a:r>
                        <a:rPr lang="en-US" sz="1100" b="1" dirty="0">
                          <a:solidFill>
                            <a:srgbClr val="1C3F4E"/>
                          </a:solidFill>
                          <a:latin typeface="Calibri" pitchFamily="34" charset="0"/>
                          <a:ea typeface="Calibri" pitchFamily="34" charset="-122"/>
                          <a:cs typeface="Calibri" pitchFamily="34" charset="-120"/>
                        </a:rPr>
                        <a:t>= Margen bruto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2.05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3.03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2.41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2.89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2.58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3.14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4.01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 Coste del riesgo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0.59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0.40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0.68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0.40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 Gastos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1.67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1.35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0.90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2.30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b="1" dirty="0">
                          <a:solidFill>
                            <a:srgbClr val="1C3F4E"/>
                          </a:solidFill>
                          <a:latin typeface="Calibri" pitchFamily="34" charset="0"/>
                          <a:ea typeface="Calibri" pitchFamily="34" charset="-122"/>
                          <a:cs typeface="Calibri" pitchFamily="34" charset="-120"/>
                        </a:rPr>
                        <a:t>= Resultado antes de imp.</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0.59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0.96</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0.15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0.74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1.18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1.11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1.31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Capital asignado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8.13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5.99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6.83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7.21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10.93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6.09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12.81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ROE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7.7 %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8.1 %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13.7 %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7.7 %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1C3F4E"/>
          </a:solidFill>
          <a:ln w="12700">
            <a:solidFill>
              <a:srgbClr val="1C3F4E"/>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p>
        </p:txBody>
      </p:sp>
      <p:sp>
        <p:nvSpPr>
          <p:cNvPr id="7" name="Shape 4"/>
          <p:cNvSpPr/>
          <p:nvPr/>
        </p:nvSpPr>
        <p:spPr>
          <a:xfrm>
            <a:off x="2103120" y="5623560"/>
            <a:ext cx="1371600" cy="256032"/>
          </a:xfrm>
          <a:prstGeom prst="roundRect">
            <a:avLst>
              <a:gd name="adj" fmla="val 42857"/>
            </a:avLst>
          </a:prstGeom>
          <a:solidFill>
            <a:srgbClr val="C9992B"/>
          </a:solidFill>
          <a:ln w="12700">
            <a:solidFill>
              <a:srgbClr val="C9992B"/>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Supuesto</a:t>
            </a:r>
            <a:endParaRPr lang="en-US" sz="90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6E7F88"/>
                </a:solidFill>
                <a:latin typeface="Calibri" pitchFamily="34" charset="0"/>
                <a:ea typeface="Calibri" pitchFamily="34" charset="-122"/>
                <a:cs typeface="Calibri" pitchFamily="34" charset="-120"/>
              </a:rPr>
              <a:t>Solo la fila de comisiones es supuesto. Riesgo y capital son ahora observados por país.</a:t>
            </a:r>
            <a:endParaRPr lang="en-US" sz="1000" dirty="0"/>
          </a:p>
        </p:txBody>
      </p:sp>
      <p:sp>
        <p:nvSpPr>
          <p:cNvPr id="10" name="Text 7"/>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Precio: BCE MIR. Comisiones: cuña española de 87 pb aplicada a los seis (único supuesto material). Riesgo: PD × LGD de la clase IRB de PYME (COREP C 9.02). Gastos: eficiencia EBA sobre margen. Capital: densidad de RWA observada de la cartera PYME sobre CET1. Impuesto 25 %.</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ROE modelizado del préstamo PYME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Con la cuña de comisiones española aplicada a los seis países · 2026</a:t>
            </a:r>
            <a:endParaRPr lang="en-US" sz="13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EF2F3"/>
          </a:solidFill>
          <a:ln w="12700">
            <a:solidFill>
              <a:srgbClr val="DCE4E7"/>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1C3F4E"/>
                </a:solidFill>
                <a:latin typeface="Cambria" pitchFamily="34" charset="0"/>
                <a:ea typeface="Cambria" pitchFamily="34" charset="-122"/>
                <a:cs typeface="Cambria" pitchFamily="34" charset="-120"/>
              </a:rPr>
              <a:t>Cómo leerlo</a:t>
            </a:r>
            <a:endParaRPr lang="en-US" sz="1500" dirty="0"/>
          </a:p>
        </p:txBody>
      </p:sp>
      <p:sp>
        <p:nvSpPr>
          <p:cNvPr id="7" name="Text 4"/>
          <p:cNvSpPr txBox="1"/>
          <p:nvPr/>
        </p:nvSpPr>
        <p:spPr>
          <a:xfrm>
            <a:off x="7772400" y="2157984"/>
            <a:ext cx="3703320" cy="3163824"/>
          </a:xfrm>
          <a:prstGeom prst="rect">
            <a:avLst/>
          </a:prstGeom>
          <a:noFill/>
          <a:ln/>
        </p:spPr>
        <p:txBody>
          <a:bodyPr wrap="square" lIns="0" tIns="0" rIns="0" bIns="0" rtlCol="0" anchor="ctr"/>
          <a:lstStyle/>
          <a:p>
            <a:pPr indent="0" marL="0">
              <a:buNone/>
            </a:pPr>
            <a:r>
              <a:rPr lang="en-US" sz="1050" b="1" dirty="0">
                <a:solidFill>
                  <a:srgbClr val="2B3A42"/>
                </a:solidFill>
                <a:latin typeface="Calibri" pitchFamily="34" charset="0"/>
                <a:ea typeface="Calibri" pitchFamily="34" charset="-122"/>
                <a:cs typeface="Calibri" pitchFamily="34" charset="-120"/>
              </a:rPr>
              <a:t>Países Bajos y Alemania encabezan</a:t>
            </a:r>
            <a:endParaRPr lang="en-US" sz="1050" dirty="0"/>
          </a:p>
          <a:p>
            <a:pPr indent="0" marL="0">
              <a:buNone/>
            </a:pPr>
            <a:r>
              <a:rPr lang="en-US" sz="1050" dirty="0">
                <a:solidFill>
                  <a:srgbClr val="2B3A42"/>
                </a:solidFill>
                <a:latin typeface="Calibri" pitchFamily="34" charset="0"/>
                <a:ea typeface="Calibri" pitchFamily="34" charset="-122"/>
                <a:cs typeface="Calibri" pitchFamily="34" charset="-120"/>
              </a:rPr>
              <a:t>por la misma razón: un coste del riesgo bajo (0,35 % y 0,40 %) y la menor densidad de RWA (37 % y 35 %), que reduce el capital a inmovilizar.
</a:t>
            </a:r>
            <a:endParaRPr lang="en-US" sz="1050" dirty="0"/>
          </a:p>
          <a:p>
            <a:pPr indent="0" marL="0">
              <a:buNone/>
            </a:pPr>
            <a:r>
              <a:rPr lang="en-US" sz="1050" b="1" dirty="0">
                <a:solidFill>
                  <a:srgbClr val="2B3A42"/>
                </a:solidFill>
                <a:latin typeface="Calibri" pitchFamily="34" charset="0"/>
                <a:ea typeface="Calibri" pitchFamily="34" charset="-122"/>
                <a:cs typeface="Calibri" pitchFamily="34" charset="-120"/>
              </a:rPr>
              <a:t>España cae al quinto puesto</a:t>
            </a:r>
            <a:endParaRPr lang="en-US" sz="1050" dirty="0"/>
          </a:p>
          <a:p>
            <a:pPr indent="0" marL="0">
              <a:buNone/>
            </a:pPr>
            <a:r>
              <a:rPr lang="en-US" sz="1050" dirty="0">
                <a:solidFill>
                  <a:srgbClr val="2B3A42"/>
                </a:solidFill>
                <a:latin typeface="Calibri" pitchFamily="34" charset="0"/>
                <a:ea typeface="Calibri" pitchFamily="34" charset="-122"/>
                <a:cs typeface="Calibri" pitchFamily="34" charset="-120"/>
              </a:rPr>
              <a:t>por combinar el precio más bajo con una densidad de RWA del 59,5 %: consume casi el doble de capital que Alemania.
</a:t>
            </a:r>
            <a:endParaRPr lang="en-US" sz="1050" dirty="0"/>
          </a:p>
          <a:p>
            <a:pPr indent="0" marL="0">
              <a:buNone/>
            </a:pPr>
            <a:r>
              <a:rPr lang="en-US" sz="1050" b="1" dirty="0">
                <a:solidFill>
                  <a:srgbClr val="2B3A42"/>
                </a:solidFill>
                <a:latin typeface="Calibri" pitchFamily="34" charset="0"/>
                <a:ea typeface="Calibri" pitchFamily="34" charset="-122"/>
                <a:cs typeface="Calibri" pitchFamily="34" charset="-120"/>
              </a:rPr>
              <a:t>Irlanda lo ilustra al revés</a:t>
            </a:r>
            <a:endParaRPr lang="en-US" sz="1050" dirty="0"/>
          </a:p>
          <a:p>
            <a:pPr indent="0" marL="0">
              <a:buNone/>
            </a:pPr>
            <a:r>
              <a:rPr lang="en-US" sz="1050" dirty="0">
                <a:solidFill>
                  <a:srgbClr val="2B3A42"/>
                </a:solidFill>
                <a:latin typeface="Calibri" pitchFamily="34" charset="0"/>
                <a:ea typeface="Calibri" pitchFamily="34" charset="-122"/>
                <a:cs typeface="Calibri" pitchFamily="34" charset="-120"/>
              </a:rPr>
              <a:t>— precio más alto (5,37 %) y mejor PD, pero densidad del 70 % y cost-income del 57 %: se queda en 7,7 %.
</a:t>
            </a:r>
            <a:endParaRPr lang="en-US" sz="1050" dirty="0"/>
          </a:p>
          <a:p>
            <a:pPr indent="0" marL="0">
              <a:buNone/>
            </a:pPr>
            <a:r>
              <a:rPr lang="en-US" sz="1050" b="1" dirty="0">
                <a:solidFill>
                  <a:srgbClr val="2B3A42"/>
                </a:solidFill>
                <a:latin typeface="Calibri" pitchFamily="34" charset="0"/>
                <a:ea typeface="Calibri" pitchFamily="34" charset="-122"/>
                <a:cs typeface="Calibri" pitchFamily="34" charset="-120"/>
              </a:rPr>
              <a:t>Francia queda última</a:t>
            </a:r>
            <a:endParaRPr lang="en-US" sz="1050" dirty="0"/>
          </a:p>
          <a:p>
            <a:pPr indent="0" marL="0">
              <a:buNone/>
            </a:pPr>
            <a:r>
              <a:rPr lang="en-US" sz="1050" dirty="0">
                <a:solidFill>
                  <a:srgbClr val="2B3A42"/>
                </a:solidFill>
                <a:latin typeface="Calibri" pitchFamily="34" charset="0"/>
                <a:ea typeface="Calibri" pitchFamily="34" charset="-122"/>
                <a:cs typeface="Calibri" pitchFamily="34" charset="-120"/>
              </a:rPr>
              <a:t>con un 1,7 %, y en negativo si no se asume comisión alguna.</a:t>
            </a:r>
            <a:endParaRPr lang="en-US" sz="105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ROE modelizado, no observado. Depende del supuesto de comisiones: ver lámina siguiente de sensibilidad. Tipo impositivo 25 % uniforme.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Sensibilidad al supuesto de comisiones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Cuánto depende el ROE de la cuña que se asuma · Solo la columna de 87 pb está observada, y solo para España</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País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25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87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7B3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150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365760">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España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5.5 %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Alemania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7.2 %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12.1 %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12.8 %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15.6 %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Francia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1.6 %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Italia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7.6 %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11.1 %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8.1 %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P. Bajos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11.6 %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13.7 %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14.4 %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17.3 %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Irlanda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7.6 %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9.2 %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7EDE4"/>
          </a:solidFill>
          <a:ln w="12700">
            <a:solidFill>
              <a:srgbClr val="C97B3C"/>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C97B3C"/>
                </a:solidFill>
                <a:latin typeface="Cambria" pitchFamily="34" charset="0"/>
                <a:ea typeface="Cambria" pitchFamily="34" charset="-122"/>
                <a:cs typeface="Cambri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87 pb es la cuña observada en España (TAE − TEDR, tramo ≤1 M€, media 2026, Banco de España). Para los otros cinco países no existe dato equivalente.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Coste de los recursos: la liquidez de empresas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Lo que el banco paga por el depósito frente a lo que obtiene en la facilidad del BCE (2,09 %) · Media 2026</a:t>
            </a:r>
            <a:endParaRPr lang="en-US" sz="1300" dirty="0"/>
          </a:p>
        </p:txBody>
      </p:sp>
      <p:graphicFrame>
        <p:nvGraphicFramePr>
          <p:cNvPr id="4" name="Chart 0" descr=""/>
          <p:cNvGraphicFramePr/>
          <p:nvPr/>
        </p:nvGraphicFramePr>
        <p:xfrm>
          <a:off x="548640" y="1691640"/>
          <a:ext cx="685800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91640"/>
            <a:ext cx="3959352" cy="3566160"/>
          </a:xfrm>
          <a:prstGeom prst="roundRect">
            <a:avLst>
              <a:gd name="adj" fmla="val 1538"/>
            </a:avLst>
          </a:prstGeom>
          <a:solidFill>
            <a:srgbClr val="EEF2F3"/>
          </a:solidFill>
          <a:ln w="12700">
            <a:solidFill>
              <a:srgbClr val="DCE4E7"/>
            </a:solidFill>
            <a:prstDash val="solid"/>
          </a:ln>
        </p:spPr>
      </p:sp>
      <p:sp>
        <p:nvSpPr>
          <p:cNvPr id="6" name="Text 3"/>
          <p:cNvSpPr txBox="1"/>
          <p:nvPr/>
        </p:nvSpPr>
        <p:spPr>
          <a:xfrm>
            <a:off x="7863840" y="1828800"/>
            <a:ext cx="3611880" cy="548640"/>
          </a:xfrm>
          <a:prstGeom prst="rect">
            <a:avLst/>
          </a:prstGeom>
          <a:noFill/>
          <a:ln/>
        </p:spPr>
        <p:txBody>
          <a:bodyPr wrap="square" lIns="0" tIns="0" rIns="0" bIns="0" rtlCol="0" anchor="ctr"/>
          <a:lstStyle/>
          <a:p>
            <a:pPr indent="0" marL="0">
              <a:buNone/>
            </a:pPr>
            <a:r>
              <a:rPr lang="en-US" sz="1400" b="1" dirty="0">
                <a:solidFill>
                  <a:srgbClr val="1C3F4E"/>
                </a:solidFill>
                <a:latin typeface="Cambria" pitchFamily="34" charset="0"/>
                <a:ea typeface="Cambria" pitchFamily="34" charset="-122"/>
                <a:cs typeface="Cambria" pitchFamily="34" charset="-120"/>
              </a:rPr>
              <a:t>Portugal capta la liquidez más barata</a:t>
            </a:r>
            <a:endParaRPr lang="en-US" sz="1400" dirty="0"/>
          </a:p>
        </p:txBody>
      </p:sp>
      <p:sp>
        <p:nvSpPr>
          <p:cNvPr id="7" name="Text 4"/>
          <p:cNvSpPr txBox="1"/>
          <p:nvPr/>
        </p:nvSpPr>
        <p:spPr>
          <a:xfrm>
            <a:off x="7863840" y="2423160"/>
            <a:ext cx="3611880" cy="265176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Paga un 0,07 % por el depósito a la vista de empresas y puede colocarlo al 2,09 % en el BCE: 202 pb de margen sin riesgo ni consumo de capital.</a:t>
            </a:r>
            <a:endParaRPr lang="en-US" sz="1150" dirty="0"/>
          </a:p>
          <a:p>
            <a:pPr indent="0" marL="0">
              <a:buNone/>
            </a:pPr>
            <a:endParaRPr lang="en-US" sz="1150" dirty="0"/>
          </a:p>
          <a:p>
            <a:pPr indent="0" marL="0">
              <a:buNone/>
            </a:pPr>
            <a:r>
              <a:rPr lang="en-US" sz="1150" dirty="0">
                <a:solidFill>
                  <a:srgbClr val="2B3A42"/>
                </a:solidFill>
                <a:latin typeface="Calibri" pitchFamily="34" charset="0"/>
                <a:ea typeface="Calibri" pitchFamily="34" charset="-122"/>
                <a:cs typeface="Calibri" pitchFamily="34" charset="-120"/>
              </a:rPr>
              <a:t>Países Bajos es el extremo opuesto, con 124 pb, porque paga un 0,85 %.</a:t>
            </a:r>
            <a:endParaRPr lang="en-US" sz="1150" dirty="0"/>
          </a:p>
          <a:p>
            <a:pPr indent="0" marL="0">
              <a:buNone/>
            </a:pPr>
            <a:endParaRPr lang="en-US" sz="1150" dirty="0"/>
          </a:p>
          <a:p>
            <a:pPr indent="0" marL="0">
              <a:buNone/>
            </a:pPr>
            <a:r>
              <a:rPr lang="en-US" sz="1150" dirty="0">
                <a:solidFill>
                  <a:srgbClr val="2B3A42"/>
                </a:solidFill>
                <a:latin typeface="Calibri" pitchFamily="34" charset="0"/>
                <a:ea typeface="Calibri" pitchFamily="34" charset="-122"/>
                <a:cs typeface="Calibri" pitchFamily="34" charset="-120"/>
              </a:rPr>
              <a:t>Este margen no depende del crédito y por eso se modela aparte de la cuenta del préstamo.</a:t>
            </a:r>
            <a:endParaRPr lang="en-US" sz="115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BCE, datasets MIR (tipos de depósito de sociedades no financieras) y FM (facilidad de depósito). El margen mostrado es sobre depósito a la vista; el depósito a plazo se remunera entre el 1,77 % y el 2,58 % según país.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Coste del riesgo por segmento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La PYME es el peor segmento en los seis países · Ratio de NPL · 2026-Q1 · Muestra de bancos del EBA</a:t>
            </a:r>
            <a:endParaRPr lang="en-US" sz="13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BEDEB"/>
          </a:solidFill>
          <a:ln w="12700">
            <a:solidFill>
              <a:srgbClr val="B04A3F"/>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400" b="1" dirty="0">
                <a:solidFill>
                  <a:srgbClr val="B04A3F"/>
                </a:solidFill>
                <a:latin typeface="Cambria" pitchFamily="34" charset="0"/>
                <a:ea typeface="Cambria" pitchFamily="34" charset="-122"/>
                <a:cs typeface="Cambria" pitchFamily="34" charset="-120"/>
              </a:rPr>
              <a:t>Prima de riesgo PYME</a:t>
            </a:r>
            <a:endParaRPr lang="en-US" sz="14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España  +2,39</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Italia  +1,50</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Francia  +1,19</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Portugal  +0,58</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Alemania  +0,51</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P. Bajos  +0,27</a:t>
            </a:r>
            <a:endParaRPr lang="en-US" sz="1100" dirty="0"/>
          </a:p>
          <a:p>
            <a:pPr indent="0" marL="0">
              <a:buNone/>
            </a:pP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España tiene el peor NPL de PYME de los seis (5,38 %) y a la vez el spread de precio más estrecho.</a:t>
            </a:r>
            <a:endParaRPr lang="en-US" sz="110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Risk Dashboard, anexo de datos Q1 2026, desgloses «of which SMEs» y «of which CRE». Es la muestra de bancos del EBA, no el sistema completo.</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Coste del riesgo: PD × LGD de la cartera PYME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Parámetros IRB de la clase «Corporates – Of Which: SME» · Mediana de entidades declarantes · 2026-Q1</a:t>
            </a:r>
            <a:endParaRPr lang="en-US" sz="13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PD</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LGD</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PD × LGD</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35204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España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1.73 %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34.4 %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0.59 %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Alemania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1.26 %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31.4 %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0.40 %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Francia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2.15 %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31.5 %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0.68 %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Italia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2.26 %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35.6 %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0.80 %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Portugal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1.26 %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40.0 %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0.50 %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P. Bajos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1.18 %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29.7 %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0.35 %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Irlanda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1.08 %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37.3 %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0.40 %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bl>
          </a:graphicData>
        </a:graphic>
      </p:graphicFrame>
      <p:sp>
        <p:nvSpPr>
          <p:cNvPr id="6" name="Text 2"/>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Italia tiene la peor combinación (PD 2,26 % y LGD 35,6 %) y Países Bajos la mejor (1,18 % y 29,7 %). Irlanda tiene la PD más baja de los siete, 1,08 %, pero una LGD del 37,3 %. Portugal tiene la LGD más alta, un 40 %, compensada por una PD baja.</a:t>
            </a:r>
            <a:endParaRPr lang="en-US" sz="1200" dirty="0"/>
          </a:p>
        </p:txBody>
      </p:sp>
      <p:sp>
        <p:nvSpPr>
          <p:cNvPr id="7" name="Text 3"/>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anexo de parámetros de riesgo del Risk Dashboard Q1 2026, origen COREP C 9.02. Se usa la mediana de entidades y no la media ponderada, que se deja arrastrar por carteras grandes con parámetros extremos.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Spread PYME frente a gran empresa en PD y LGD</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Parámetros IRB, mediana de entidades · 2026-Q1 · La PYME falla más pero recupera mejor</a:t>
            </a:r>
            <a:endParaRPr lang="en-US" sz="13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Spread PYME − gran empresa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España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Alemania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Francia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Italia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Portugal</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 Bajos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Irlanda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32918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PD (puntos básicos)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+116</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+76</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+155</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+159</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+93</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+66</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+82</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2918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LGD (puntos porcentuales)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2E7D5B"/>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2E7D5B"/>
                          </a:solidFill>
                          <a:latin typeface="Calibri" pitchFamily="34" charset="0"/>
                          <a:ea typeface="Calibri" pitchFamily="34" charset="-122"/>
                          <a:cs typeface="Calibri" pitchFamily="34" charset="-120"/>
                        </a:rPr>
                        <a:t>-8.1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2E7D5B"/>
                          </a:solidFill>
                          <a:latin typeface="Calibri" pitchFamily="34" charset="0"/>
                          <a:ea typeface="Calibri" pitchFamily="34" charset="-122"/>
                          <a:cs typeface="Calibri" pitchFamily="34" charset="-120"/>
                        </a:rPr>
                        <a:t>-8.5</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2E7D5B"/>
                          </a:solidFill>
                          <a:latin typeface="Calibri" pitchFamily="34" charset="0"/>
                          <a:ea typeface="Calibri" pitchFamily="34" charset="-122"/>
                          <a:cs typeface="Calibri" pitchFamily="34" charset="-120"/>
                        </a:rPr>
                        <a:t>-4.4</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2E7D5B"/>
                          </a:solidFill>
                          <a:latin typeface="Calibri" pitchFamily="34" charset="0"/>
                          <a:ea typeface="Calibri" pitchFamily="34" charset="-122"/>
                          <a:cs typeface="Calibri" pitchFamily="34" charset="-120"/>
                        </a:rPr>
                        <a:t>-10.3</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2E7D5B"/>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r>
              <a:tr h="329184">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PD × LGD (puntos básicos)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+44</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+53</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BF2EA"/>
          </a:solidFill>
          <a:ln w="12700">
            <a:solidFill>
              <a:srgbClr val="C9992B"/>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8A5A2B"/>
                </a:solidFill>
                <a:latin typeface="Calibri" pitchFamily="34" charset="0"/>
                <a:ea typeface="Calibri" pitchFamily="34" charset="-122"/>
                <a:cs typeface="Calibri" pitchFamily="34" charset="-120"/>
              </a:rPr>
              <a:t>Cautela con el LGD de gran empresa. </a:t>
            </a:r>
            <a:pPr indent="0" marL="0">
              <a:buNone/>
            </a:pPr>
            <a:r>
              <a:rPr lang="en-US" sz="1000" dirty="0">
                <a:solidFill>
                  <a:srgbClr val="2B3A42"/>
                </a:solidFill>
                <a:latin typeface="Calibri" pitchFamily="34" charset="0"/>
                <a:ea typeface="Calibri" pitchFamily="34" charset="-122"/>
                <a:cs typeface="Calibri"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anexo de parámetros de riesgo del Risk Dashboard Q1 2026, origen COREP C 9.02. Clases «Corporates – Of Which: SME» y «Corporates – Of Which: Large corporates».</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Consumo de capital: densidad de RWA de la cartera PYME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RWA sobre valor de exposición · EU-wide Transparency Exercise · Junio 2025 · Incorpora ya el factor de apoyo a PYME del art. 501 CRR</a:t>
            </a:r>
            <a:endParaRPr lang="en-US" sz="13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7EDE4"/>
          </a:solidFill>
          <a:ln w="12700">
            <a:solidFill>
              <a:srgbClr val="C97B3C"/>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C97B3C"/>
                </a:solidFill>
                <a:latin typeface="Cambria" pitchFamily="34" charset="0"/>
                <a:ea typeface="Cambria" pitchFamily="34" charset="-122"/>
                <a:cs typeface="Cambri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sp>
        <p:nvSpPr>
          <p:cNvPr id="8" name="Shape 5"/>
          <p:cNvSpPr/>
          <p:nvPr/>
        </p:nvSpPr>
        <p:spPr>
          <a:xfrm>
            <a:off x="7498080" y="3794760"/>
            <a:ext cx="4142232" cy="1463040"/>
          </a:xfrm>
          <a:prstGeom prst="roundRect">
            <a:avLst>
              <a:gd name="adj" fmla="val 3750"/>
            </a:avLst>
          </a:prstGeom>
          <a:solidFill>
            <a:srgbClr val="EEF2F3"/>
          </a:solidFill>
          <a:ln w="12700">
            <a:solidFill>
              <a:srgbClr val="DCE4E7"/>
            </a:solidFill>
            <a:prstDash val="solid"/>
          </a:ln>
        </p:spPr>
      </p:sp>
      <p:sp>
        <p:nvSpPr>
          <p:cNvPr id="9" name="Text 6"/>
          <p:cNvSpPr txBox="1"/>
          <p:nvPr/>
        </p:nvSpPr>
        <p:spPr>
          <a:xfrm>
            <a:off x="7699248" y="3913632"/>
            <a:ext cx="3749040" cy="274320"/>
          </a:xfrm>
          <a:prstGeom prst="rect">
            <a:avLst/>
          </a:prstGeom>
          <a:noFill/>
          <a:ln/>
        </p:spPr>
        <p:txBody>
          <a:bodyPr wrap="square" lIns="0" tIns="0" rIns="0" bIns="0" rtlCol="0" anchor="ctr"/>
          <a:lstStyle/>
          <a:p>
            <a:pPr indent="0" marL="0">
              <a:buNone/>
            </a:pPr>
            <a:r>
              <a:rPr lang="en-US" sz="1200" b="1" dirty="0">
                <a:solidFill>
                  <a:srgbClr val="1C3F4E"/>
                </a:solidFill>
                <a:latin typeface="Cambria" pitchFamily="34" charset="0"/>
                <a:ea typeface="Cambria" pitchFamily="34" charset="-122"/>
                <a:cs typeface="Cambria" pitchFamily="34" charset="-120"/>
              </a:rPr>
              <a:t>Exposición PYME (M€)</a:t>
            </a:r>
            <a:endParaRPr lang="en-US" sz="1200" dirty="0"/>
          </a:p>
        </p:txBody>
      </p:sp>
      <p:sp>
        <p:nvSpPr>
          <p:cNvPr id="10" name="Text 7"/>
          <p:cNvSpPr txBox="1"/>
          <p:nvPr/>
        </p:nvSpPr>
        <p:spPr>
          <a:xfrm>
            <a:off x="7699248" y="4224528"/>
            <a:ext cx="3749040" cy="914400"/>
          </a:xfrm>
          <a:prstGeom prst="rect">
            <a:avLst/>
          </a:prstGeom>
          <a:noFill/>
          <a:ln/>
        </p:spPr>
        <p:txBody>
          <a:bodyPr wrap="square" lIns="0" tIns="0" rIns="0" bIns="0" rtlCol="0" anchor="ctr"/>
          <a:lstStyle/>
          <a:p>
            <a:pPr indent="0" marL="0">
              <a:buNone/>
            </a:pPr>
            <a:r>
              <a:rPr lang="en-US" sz="1050" dirty="0">
                <a:solidFill>
                  <a:srgbClr val="2B3A42"/>
                </a:solidFill>
                <a:latin typeface="Calibri" pitchFamily="34" charset="0"/>
                <a:ea typeface="Calibri" pitchFamily="34" charset="-122"/>
                <a:cs typeface="Calibri" pitchFamily="34" charset="-120"/>
              </a:rPr>
              <a:t>España: 308k   ·   Alemania: 317k   ·   Francia: 961k   ·   Italia: 252k   ·   Portugal: 30k   ·   P. Bajos: 259k   ·   Irlanda: 17k</a:t>
            </a:r>
            <a:endParaRPr lang="en-US" sz="105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Eficiencia, capital y peso de las comisiones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Indicadores del sistema bancario · 2026-Q1 · Nivel de grupo consolidado, no de segmento PYME</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Indicador</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España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Alemania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Francia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Italia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 Bajos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Irlanda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Ratio de NPL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2.60 %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2.16 %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1.97 %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1.91 %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1.35 %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1.10 %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Coste del riesgo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1.22 %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0.75 %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0.55 %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0.36 %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0.29 %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0.24 %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Eficiencia (cost-income)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55.1 %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65.6 %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46.8 %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34.8 %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53.5 %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57.4 %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ROE del sistema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18.5 %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14.9 %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9.4 %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Ratio CET1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13.7 %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15.9 %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15.6 %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17.8 %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18.3 %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Comisiones / ingresos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23.9 %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32.0 %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33.7 %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33.8 %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21.8 %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20.4 %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18.4 %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EF2F3"/>
          </a:solidFill>
          <a:ln w="12700">
            <a:solidFill>
              <a:srgbClr val="DCE4E7"/>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BF2EA"/>
          </a:solidFill>
          <a:ln w="12700">
            <a:solidFill>
              <a:srgbClr val="C9992B"/>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8A5A2B"/>
                </a:solidFill>
                <a:latin typeface="Cambria" pitchFamily="34" charset="0"/>
                <a:ea typeface="Cambria" pitchFamily="34" charset="-122"/>
                <a:cs typeface="Cambri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Risk Dashboard, anexo de datos Q1 2026, indicadores AQT_3.2, PFT_43, PFT_23, PFT_21, SVC_3 y PFT_26.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Circulante: líneas de crédito y descubiertos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Tipo de nueva producción a empresas · Media 2026 · Serie A2Z1, que excluye deuda de tarjeta</a:t>
            </a:r>
            <a:endParaRPr lang="en-US" sz="13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BEDEB"/>
          </a:solidFill>
          <a:ln w="12700">
            <a:solidFill>
              <a:srgbClr val="B04A3F"/>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B04A3F"/>
                </a:solidFill>
                <a:latin typeface="Cambria" pitchFamily="34" charset="0"/>
                <a:ea typeface="Cambria" pitchFamily="34" charset="-122"/>
                <a:cs typeface="Cambria" pitchFamily="34" charset="-120"/>
              </a:rPr>
              <a:t>Hueco: no hay volumen por país</a:t>
            </a:r>
            <a:endParaRPr lang="en-US" sz="1300" dirty="0"/>
          </a:p>
        </p:txBody>
      </p:sp>
      <p:sp>
        <p:nvSpPr>
          <p:cNvPr id="7" name="Text 4"/>
          <p:cNvSpPr txBox="1"/>
          <p:nvPr/>
        </p:nvSpPr>
        <p:spPr>
          <a:xfrm>
            <a:off x="7699248" y="2194560"/>
            <a:ext cx="3749040" cy="114300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El BCE publica el tipo de circulante por país, pero el volumen de nueva producción solo existe para el agregado de zona euro. No se puede calcular el peso del circulante en la cartera de cada país con fuentes oficiales.</a:t>
            </a:r>
            <a:endParaRPr lang="en-US" sz="1100" dirty="0"/>
          </a:p>
        </p:txBody>
      </p:sp>
      <p:sp>
        <p:nvSpPr>
          <p:cNvPr id="8" name="Shape 5"/>
          <p:cNvSpPr/>
          <p:nvPr/>
        </p:nvSpPr>
        <p:spPr>
          <a:xfrm>
            <a:off x="7498080" y="3611880"/>
            <a:ext cx="4142232" cy="1737360"/>
          </a:xfrm>
          <a:prstGeom prst="roundRect">
            <a:avLst>
              <a:gd name="adj" fmla="val 3158"/>
            </a:avLst>
          </a:prstGeom>
          <a:solidFill>
            <a:srgbClr val="EEF2F3"/>
          </a:solidFill>
          <a:ln w="12700">
            <a:solidFill>
              <a:srgbClr val="DCE4E7"/>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BCE, dataset MIR, serie A2Z1 (revolving y descubiertos a sociedades no financieras). El dato de julio de 2026 es provisional en España, Alemania, Francia, Italia y zona euro.</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Hipoteca PYME: no existe como estadística oficial europea</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El bloque se cubre con exposición a inmueble comercial, que es el proxy disponible</a:t>
            </a:r>
            <a:endParaRPr lang="en-US" sz="1300" dirty="0"/>
          </a:p>
        </p:txBody>
      </p:sp>
      <p:sp>
        <p:nvSpPr>
          <p:cNvPr id="4" name="Shape 2"/>
          <p:cNvSpPr/>
          <p:nvPr/>
        </p:nvSpPr>
        <p:spPr>
          <a:xfrm>
            <a:off x="548640" y="1645920"/>
            <a:ext cx="11091672" cy="1143000"/>
          </a:xfrm>
          <a:prstGeom prst="roundRect">
            <a:avLst>
              <a:gd name="adj" fmla="val 4800"/>
            </a:avLst>
          </a:prstGeom>
          <a:solidFill>
            <a:srgbClr val="FBEDEB"/>
          </a:solidFill>
          <a:ln w="12700">
            <a:solidFill>
              <a:srgbClr val="B04A3F"/>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B04A3F"/>
                </a:solidFill>
                <a:latin typeface="Cambria" pitchFamily="34" charset="0"/>
                <a:ea typeface="Cambria" pitchFamily="34" charset="-122"/>
                <a:cs typeface="Cambri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El dataset MIR del BCE publica préstamos para adquisición de vivienda solo del sector hogares. No hay desglose de préstamo con garantía inmobiliaria a empresas en ninguno de los seis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3017520"/>
            <a:ext cx="10789920" cy="320040"/>
          </a:xfrm>
          <a:prstGeom prst="rect">
            <a:avLst/>
          </a:prstGeom>
          <a:noFill/>
          <a:ln/>
        </p:spPr>
        <p:txBody>
          <a:bodyPr wrap="square" lIns="0" tIns="0" rIns="0" bIns="0" rtlCol="0" anchor="ctr"/>
          <a:lstStyle/>
          <a:p>
            <a:pPr indent="0" marL="0">
              <a:buNone/>
            </a:pPr>
            <a:r>
              <a:rPr lang="en-US" sz="1600" b="1" dirty="0">
                <a:solidFill>
                  <a:srgbClr val="1C3F4E"/>
                </a:solidFill>
                <a:latin typeface="Cambria" pitchFamily="34" charset="0"/>
                <a:ea typeface="Cambria" pitchFamily="34" charset="-122"/>
                <a:cs typeface="Cambria" pitchFamily="34" charset="-120"/>
              </a:rPr>
              <a:t>Proxy disponible: calidad de la cartera de inmueble comercial</a:t>
            </a:r>
            <a:endParaRPr lang="en-US" sz="1600" dirty="0"/>
          </a:p>
        </p:txBody>
      </p:sp>
      <p:graphicFrame>
        <p:nvGraphicFramePr>
          <p:cNvPr id="8" name="Chart 0" descr=""/>
          <p:cNvGraphicFramePr/>
          <p:nvPr/>
        </p:nvGraphicFramePr>
        <p:xfrm>
          <a:off x="548640" y="3474720"/>
          <a:ext cx="10789920" cy="21945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Risk Dashboard Q1 2026, desglose «of which CRE». Alemania destaca con el peor NPL de inmueble comercial de los seis (6,81 %), muy por encima de su NPL total (1,61 %).</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Factoring y confirming: volumen sí, precio no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Volumen cedido 2025 y penetración sobre PIB · El precio no es obtenible con fuentes públicas</a:t>
            </a:r>
            <a:endParaRPr lang="en-US" sz="13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BEDEB"/>
          </a:solidFill>
          <a:ln w="12700">
            <a:solidFill>
              <a:srgbClr val="B04A3F"/>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B04A3F"/>
                </a:solidFill>
                <a:latin typeface="Cambria" pitchFamily="34" charset="0"/>
                <a:ea typeface="Cambria" pitchFamily="34" charset="-122"/>
                <a:cs typeface="Cambri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EF2F3"/>
          </a:solidFill>
          <a:ln w="12700">
            <a:solidFill>
              <a:srgbClr val="DCE4E7"/>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Volumen cedido 2025 (M€):  España 270k  ·  Alemania 423k  ·  Francia 439k  ·  Italia 297k  ·  Portugal 52k  ·  P. Bajos 165k  ·  Irlanda 29k</a:t>
            </a:r>
            <a:endParaRPr lang="en-US" sz="1150" dirty="0"/>
          </a:p>
        </p:txBody>
      </p:sp>
      <p:sp>
        <p:nvSpPr>
          <p:cNvPr id="12" name="Text 9"/>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Fuentes: EUF (datos anuales 2025), AEF para el desglose español, Assifact para el italiano. El turnover es importe cedido en el año, no saldo vivo: no comparable con cartera de crédito.</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Comparables banco a banco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Cuentas de resultados 2026 · De nueve bancos analizados, solo dos publican segmento de empresas con desglose de comisiones</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Banco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Segmento publicado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Ingresos M€</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Comisiones M€</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Com./ing.</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Eficiencia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Commerzbank</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Alemania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2E7D5B"/>
                          </a:solidFill>
                          <a:latin typeface="Calibri" pitchFamily="34" charset="0"/>
                          <a:ea typeface="Calibri" pitchFamily="34" charset="-122"/>
                          <a:cs typeface="Calibri" pitchFamily="34" charset="-120"/>
                        </a:rPr>
                        <a:t>Corporate Clients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376</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30,5 %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ABN AMRO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P. Bajos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2E7D5B"/>
                          </a:solidFill>
                          <a:latin typeface="Calibri" pitchFamily="34" charset="0"/>
                          <a:ea typeface="Calibri" pitchFamily="34" charset="-122"/>
                          <a:cs typeface="Calibri" pitchFamily="34" charset="-120"/>
                        </a:rPr>
                        <a:t>Corporate Banking</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1.694</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25,3 %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49,5 %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Intesa Sanpaolo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Italia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2E7D5B"/>
                          </a:solidFill>
                          <a:latin typeface="Calibri" pitchFamily="34" charset="0"/>
                          <a:ea typeface="Calibri" pitchFamily="34" charset="-122"/>
                          <a:cs typeface="Calibri" pitchFamily="34" charset="-120"/>
                        </a:rPr>
                        <a:t>Banca dei Territori</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6.205</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no desglosa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46,7 %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CaixaBank</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España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B04A3F"/>
                          </a:solidFill>
                          <a:latin typeface="Calibri" pitchFamily="34" charset="0"/>
                          <a:ea typeface="Calibri" pitchFamily="34" charset="-122"/>
                          <a:cs typeface="Calibri" pitchFamily="34" charset="-120"/>
                        </a:rPr>
                        <a:t>no tiene segmento empresas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8.338</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2.075</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24,9 %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39,6 %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BPER Banca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Italia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B04A3F"/>
                          </a:solidFill>
                          <a:latin typeface="Calibri" pitchFamily="34" charset="0"/>
                          <a:ea typeface="Calibri" pitchFamily="34" charset="-122"/>
                          <a:cs typeface="Calibri" pitchFamily="34" charset="-120"/>
                        </a:rPr>
                        <a:t>no desglosa por división</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3.876</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1.353</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34,9 %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41,4 %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i="1" dirty="0">
                          <a:solidFill>
                            <a:srgbClr val="6E7F88"/>
                          </a:solidFill>
                          <a:latin typeface="Calibri" pitchFamily="34" charset="0"/>
                          <a:ea typeface="Calibri" pitchFamily="34" charset="-122"/>
                          <a:cs typeface="Calibri" pitchFamily="34" charset="-120"/>
                        </a:rPr>
                        <a:t>ING · SocGen · BNP</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i="1" dirty="0">
                          <a:solidFill>
                            <a:srgbClr val="6E7F88"/>
                          </a:solidFill>
                          <a:latin typeface="Calibri" pitchFamily="34" charset="0"/>
                          <a:ea typeface="Calibri" pitchFamily="34" charset="-122"/>
                          <a:cs typeface="Calibri" pitchFamily="34" charset="-120"/>
                        </a:rPr>
                        <a:t>no accesible: bloqueo antibot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BEDEB"/>
          </a:solidFill>
          <a:ln w="12700">
            <a:solidFill>
              <a:srgbClr val="B04A3F"/>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B04A3F"/>
                </a:solidFill>
                <a:latin typeface="Cambria" pitchFamily="34" charset="0"/>
                <a:ea typeface="Cambria" pitchFamily="34" charset="-122"/>
                <a:cs typeface="Cambri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Supuestos del modelo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Cada uno declarado, con su origen y su efecto · Dos de los iniciales han dejado de ser supuestos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600200"/>
                <a:gridCol w="4114800"/>
                <a:gridCol w="2898648"/>
              </a:tblGrid>
              <a:tr h="5669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Supuesto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Valor</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Origen</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Efecto si cambia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Cuña de comisiones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87 pb</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Observada en España (TAE − TEDR, tramo ≤1 M€). Aplicada a los otros cinco países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B04A3F"/>
                          </a:solidFill>
                          <a:latin typeface="Calibri" pitchFamily="34" charset="0"/>
                          <a:ea typeface="Calibri" pitchFamily="34" charset="-122"/>
                          <a:cs typeface="Calibri" pitchFamily="34" charset="-120"/>
                        </a:rPr>
                        <a:t>ALTO. Mueve el ROE entre 3 y 12 puntos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Coste de fondos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Euríbor 3m 2,23 %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Observado. Igual para los seis países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MEDIO. Desplaza todos los ROE en paralelo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Coste del riesgo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PD × LGD por 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YA NO ES SUPUESTO. Parámetros IRB de la clase «Corporates – Of Which: SME», mediana de entidades (COREP C 9.02)</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Densidad de RWA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35 % a 61 % por 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YA NO ES SUPUESTO. RWA sobre exposición de la cartera PYME (EBA Transparency Exercise)</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Tipo impositivo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25 %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Uniforme, no por 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BAJO. Escala proporcional</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Eficiencia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EBA por 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Observada, pero de grupo consolidado y no de segmento PYME</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MEDIO. Penaliza a países con banca universal compleja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Text 2"/>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El modelo completo y reproducible está en scripts/modelo_roe.py del repositorio. Cada fila del CSV de salida declara si el valor es observado o supuesto.</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2C36"/>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9FB3BC"/>
                </a:solidFill>
                <a:latin typeface="Calibri" pitchFamily="34" charset="0"/>
                <a:ea typeface="Calibri" pitchFamily="34" charset="-122"/>
                <a:cs typeface="Calibri" pitchFamily="34" charset="-120"/>
              </a:rPr>
              <a:t>Cuatro límites que conviene tener delante antes de usar cualquier cifra de este deck</a:t>
            </a:r>
            <a:endParaRPr lang="en-US" sz="1300" dirty="0"/>
          </a:p>
        </p:txBody>
      </p:sp>
      <p:sp>
        <p:nvSpPr>
          <p:cNvPr id="4" name="Shape 2"/>
          <p:cNvSpPr/>
          <p:nvPr/>
        </p:nvSpPr>
        <p:spPr>
          <a:xfrm>
            <a:off x="548640" y="1700784"/>
            <a:ext cx="384048" cy="384048"/>
          </a:xfrm>
          <a:prstGeom prst="ellipse">
            <a:avLst/>
          </a:prstGeom>
          <a:solidFill>
            <a:srgbClr val="C97B3C"/>
          </a:solidFill>
          <a:ln w="12700">
            <a:solidFill>
              <a:srgbClr val="C97B3C"/>
            </a:solidFill>
            <a:prstDash val="solid"/>
          </a:ln>
        </p:spPr>
      </p:sp>
      <p:sp>
        <p:nvSpPr>
          <p:cNvPr id="5" name="Text 3"/>
          <p:cNvSpPr txBox="1"/>
          <p:nvPr/>
        </p:nvSpPr>
        <p:spPr>
          <a:xfrm>
            <a:off x="548640" y="1700784"/>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143000" y="1645920"/>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Rentabilidad comparable entre países</a:t>
            </a:r>
            <a:endParaRPr lang="en-US" sz="1500" dirty="0"/>
          </a:p>
        </p:txBody>
      </p:sp>
      <p:sp>
        <p:nvSpPr>
          <p:cNvPr id="7" name="Text 5"/>
          <p:cNvSpPr txBox="1"/>
          <p:nvPr/>
        </p:nvSpPr>
        <p:spPr>
          <a:xfrm>
            <a:off x="1143000" y="1975104"/>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150" dirty="0"/>
          </a:p>
        </p:txBody>
      </p:sp>
      <p:sp>
        <p:nvSpPr>
          <p:cNvPr id="8" name="Shape 6"/>
          <p:cNvSpPr/>
          <p:nvPr/>
        </p:nvSpPr>
        <p:spPr>
          <a:xfrm>
            <a:off x="548640" y="2816352"/>
            <a:ext cx="384048" cy="384048"/>
          </a:xfrm>
          <a:prstGeom prst="ellipse">
            <a:avLst/>
          </a:prstGeom>
          <a:solidFill>
            <a:srgbClr val="C97B3C"/>
          </a:solidFill>
          <a:ln w="12700">
            <a:solidFill>
              <a:srgbClr val="C97B3C"/>
            </a:solidFill>
            <a:prstDash val="solid"/>
          </a:ln>
        </p:spPr>
      </p:sp>
      <p:sp>
        <p:nvSpPr>
          <p:cNvPr id="9" name="Text 7"/>
          <p:cNvSpPr txBox="1"/>
          <p:nvPr/>
        </p:nvSpPr>
        <p:spPr>
          <a:xfrm>
            <a:off x="548640" y="2816352"/>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143000" y="2761488"/>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El negocio PYME de cada banco</a:t>
            </a:r>
            <a:endParaRPr lang="en-US" sz="1500" dirty="0"/>
          </a:p>
        </p:txBody>
      </p:sp>
      <p:sp>
        <p:nvSpPr>
          <p:cNvPr id="11" name="Text 9"/>
          <p:cNvSpPr txBox="1"/>
          <p:nvPr/>
        </p:nvSpPr>
        <p:spPr>
          <a:xfrm>
            <a:off x="1143000" y="3090672"/>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150" dirty="0"/>
          </a:p>
        </p:txBody>
      </p:sp>
      <p:sp>
        <p:nvSpPr>
          <p:cNvPr id="12" name="Shape 10"/>
          <p:cNvSpPr/>
          <p:nvPr/>
        </p:nvSpPr>
        <p:spPr>
          <a:xfrm>
            <a:off x="548640" y="3931920"/>
            <a:ext cx="384048" cy="384048"/>
          </a:xfrm>
          <a:prstGeom prst="ellipse">
            <a:avLst/>
          </a:prstGeom>
          <a:solidFill>
            <a:srgbClr val="C97B3C"/>
          </a:solidFill>
          <a:ln w="12700">
            <a:solidFill>
              <a:srgbClr val="C97B3C"/>
            </a:solidFill>
            <a:prstDash val="solid"/>
          </a:ln>
        </p:spPr>
      </p:sp>
      <p:sp>
        <p:nvSpPr>
          <p:cNvPr id="13" name="Text 11"/>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3</a:t>
            </a:r>
            <a:endParaRPr lang="en-US" sz="1500" dirty="0"/>
          </a:p>
        </p:txBody>
      </p:sp>
      <p:sp>
        <p:nvSpPr>
          <p:cNvPr id="14" name="Text 12"/>
          <p:cNvSpPr txBox="1"/>
          <p:nvPr/>
        </p:nvSpPr>
        <p:spPr>
          <a:xfrm>
            <a:off x="1143000" y="3877056"/>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El precio del factoring y del confirming</a:t>
            </a:r>
            <a:endParaRPr lang="en-US" sz="1500" dirty="0"/>
          </a:p>
        </p:txBody>
      </p:sp>
      <p:sp>
        <p:nvSpPr>
          <p:cNvPr id="15" name="Text 13"/>
          <p:cNvSpPr txBox="1"/>
          <p:nvPr/>
        </p:nvSpPr>
        <p:spPr>
          <a:xfrm>
            <a:off x="1143000" y="4206240"/>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No es obtenible con fuentes públicas gratuitas en ninguno de los seis países. Es el único bloque que se cierra sin ningún dato de su objetivo.</a:t>
            </a:r>
            <a:endParaRPr lang="en-US" sz="1150" dirty="0"/>
          </a:p>
        </p:txBody>
      </p:sp>
      <p:sp>
        <p:nvSpPr>
          <p:cNvPr id="16" name="Shape 14"/>
          <p:cNvSpPr/>
          <p:nvPr/>
        </p:nvSpPr>
        <p:spPr>
          <a:xfrm>
            <a:off x="548640" y="5047488"/>
            <a:ext cx="384048" cy="384048"/>
          </a:xfrm>
          <a:prstGeom prst="ellipse">
            <a:avLst/>
          </a:prstGeom>
          <a:solidFill>
            <a:srgbClr val="C97B3C"/>
          </a:solidFill>
          <a:ln w="12700">
            <a:solidFill>
              <a:srgbClr val="C97B3C"/>
            </a:solidFill>
            <a:prstDash val="solid"/>
          </a:ln>
        </p:spPr>
      </p:sp>
      <p:sp>
        <p:nvSpPr>
          <p:cNvPr id="17" name="Text 15"/>
          <p:cNvSpPr txBox="1"/>
          <p:nvPr/>
        </p:nvSpPr>
        <p:spPr>
          <a:xfrm>
            <a:off x="548640" y="5047488"/>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4</a:t>
            </a:r>
            <a:endParaRPr lang="en-US" sz="1500" dirty="0"/>
          </a:p>
        </p:txBody>
      </p:sp>
      <p:sp>
        <p:nvSpPr>
          <p:cNvPr id="18" name="Text 16"/>
          <p:cNvSpPr txBox="1"/>
          <p:nvPr/>
        </p:nvSpPr>
        <p:spPr>
          <a:xfrm>
            <a:off x="1143000" y="4992624"/>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La hipoteca a PYME</a:t>
            </a:r>
            <a:endParaRPr lang="en-US" sz="1500" dirty="0"/>
          </a:p>
        </p:txBody>
      </p:sp>
      <p:sp>
        <p:nvSpPr>
          <p:cNvPr id="19" name="Text 17"/>
          <p:cNvSpPr txBox="1"/>
          <p:nvPr/>
        </p:nvSpPr>
        <p:spPr>
          <a:xfrm>
            <a:off x="1143000" y="5321808"/>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No existe como estadística oficial europea. Lo que se muestra es exposición a inmueble comercial, que es otra cosa.</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Fuentes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Nueve fuentes, 25.370 observaciones, cada fila trazable a su serie de origen</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606040"/>
                <a:gridCol w="4251960"/>
                <a:gridCol w="2560320"/>
                <a:gridCol w="1664208"/>
              </a:tblGrid>
              <a:tr h="40233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Bloque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Fuente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Cobertura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Último dato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Precio y volumen</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BCE, ECB Data Portal, dataset MIR</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mensual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2026-07</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Tipos oficiales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BCE, dataset FM (facilidad de depósito, MRO, Euríbor)</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Zona euro, diario</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2026-09</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Encuesta PYME</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BCE, SAFE (Q8B y brecha de financiación)</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semestral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Q8B hasta 2022-S1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Riesgo, eficiencia, capital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EBA Risk Dashboard, anexo de datos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trimestral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2026-Q1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Comisiones y volumen España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Banco de España, Boletín Estadístico, cap. 19</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España, mensual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2026-07</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TAEG empresas Italia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Banca d'Italia, STACORIS, tavola TRI30951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Italia, trimestral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2026-Q1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Spread PYME</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OCDE, Financing SMEs and Entrepreneurs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5 países, sin Alemania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2022</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Factoring</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EUF, AEF y Assifact</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anual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2025</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Comparables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Cuentas de resultados de 5 bancos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5 bancos de 9</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2026-H1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2026-09-16T14:43:54Z</dcterms:created>
  <dcterms:modified xsi:type="dcterms:W3CDTF">2026-09-16T14:43:54Z</dcterms:modified>
</cp:coreProperties>
</file>