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7.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21.7</c:v>
                </c:pt>
                <c:pt idx="1">
                  <c:v>20.5</c:v>
                </c:pt>
                <c:pt idx="2">
                  <c:v>17.6</c:v>
                </c:pt>
                <c:pt idx="3">
                  <c:v>13.9</c:v>
                </c:pt>
                <c:pt idx="4">
                  <c:v>11.8</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38.813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417320"/>
                <a:gridCol w="1572768"/>
                <a:gridCol w="1188720"/>
                <a:gridCol w="960120"/>
                <a:gridCol w="1133856"/>
                <a:gridCol w="1325880"/>
                <a:gridCol w="1170432"/>
                <a:gridCol w="1033272"/>
              </a:tblGrid>
              <a:tr h="274320">
                <a:tc>
                  <a:txBody>
                    <a:bodyPr/>
                    <a:lstStyle/>
                    <a:p>
                      <a:pPr algn="l" indent="0" marL="0">
                        <a:buNone/>
                      </a:pP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Cartera PYME</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en España, M€</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Densidad</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de RWA</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CET1</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Eficiencia</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Mora PYME</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en España</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Coste del</a:t>
                      </a:r>
                      <a:endParaRPr lang="en-US" sz="750" dirty="0">
                        <a:latin typeface="Verdana" charset="0"/>
                        <a:ea typeface="Verdana" charset="0"/>
                        <a:cs typeface="Verdana" charset="0"/>
                      </a:endParaRPr>
                    </a:p>
                    <a:p>
                      <a:pPr algn="ctr" indent="0" marL="0">
                        <a:buNone/>
                      </a:pPr>
                      <a:r>
                        <a:rPr lang="en-US" sz="750" b="1" dirty="0">
                          <a:solidFill>
                            <a:srgbClr val="FFFFFF"/>
                          </a:solidFill>
                          <a:latin typeface="Verdana" pitchFamily="34" charset="0"/>
                          <a:ea typeface="Verdana" pitchFamily="34" charset="-122"/>
                          <a:cs typeface="Verdana" pitchFamily="34" charset="-120"/>
                        </a:rPr>
                        <a:t>riesgo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ROE</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Bankinter</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14.553</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53,3 %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12,57 %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2,34 %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21,7 %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Sabadell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22.324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37,3 %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13,06 %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41,0 %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5,91 %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20,5 %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CaixaBank</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48.736</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49,2 %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12,25 %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40,5 %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5,30 %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BBVA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24.410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71,0 %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13,34 %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34,3 %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3,98 %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13,9 %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Santander</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32.325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62,7 %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818181"/>
                          </a:solidFill>
                          <a:latin typeface="Verdana" pitchFamily="34" charset="0"/>
                          <a:ea typeface="Verdana" pitchFamily="34" charset="-122"/>
                          <a:cs typeface="Verdana" pitchFamily="34" charset="-120"/>
                        </a:rPr>
                        <a:t>7,80 %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61888"/>
            <a:ext cx="11091672" cy="201168"/>
          </a:xfrm>
          <a:prstGeom prst="rect">
            <a:avLst/>
          </a:prstGeom>
          <a:noFill/>
          <a:ln/>
        </p:spPr>
        <p:txBody>
          <a:bodyPr wrap="square" lIns="0" tIns="0" rIns="0" bIns="0" rtlCol="0" anchor="ctr"/>
          <a:lstStyle/>
          <a:p>
            <a:pPr indent="0" marL="0">
              <a:buNone/>
            </a:pPr>
            <a:r>
              <a:rPr lang="en-US" sz="800" i="1" dirty="0">
                <a:solidFill>
                  <a:srgbClr val="818181"/>
                </a:solidFill>
                <a:latin typeface="Verdana" pitchFamily="34" charset="0"/>
                <a:ea typeface="Verdana" pitchFamily="34" charset="-122"/>
                <a:cs typeface="Verdana" pitchFamily="34" charset="-120"/>
              </a:rPr>
              <a:t>Las dos columnas en gris son las que más separan a un banco de otro. Las de eficiencia y CET1 son de grupo consolidado; las de cartera, densidad y mora son de contraparte española.</a:t>
            </a:r>
            <a:endParaRPr lang="en-US" sz="80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mide habilidad comercial</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Precio, comisiones, coste de los recursos y fiscalidad son COMUNES a los cinco: ningún banco los publica por segmento. Todos ingresan el mismo 4,28 %. Lo que separa es riesgo, capital y gastos, no el precio que cada uno consigue.</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+5,1</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de los cinco y aun así queda segundo, por una densidad de RWA del 37,3 %, la más baja. BBVA tiene la mejor eficiencia tras Bankinter y queda cuarto, por una densidad del 71,0 %, la más alta. El capital manda otra vez sobre todo lo demás.</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Cartera PYME, densidad de RWA y mora: EBA, EU-wide Transparency Exercise, partidas 2520503 a 2520533 con contraparte de Country = 28 (España), junio de 2025, que es el dato armonizado más reciente. CET1 y eficiencia: mismo ejercicio, nivel de GRUPO consolidado, que en Santander y BBVA está dominado por el negocio internacional; igualar su eficiencia a la del mejor solo movería su ROE 1,0 y 0,2 puntos, así que no altera el orden. Coste del riesgo: PD × LGD de PYME de España (0,59 %) escalado por la mora relativa de cada banco, que es un supuesto; sin escalar, el orden sería Bankinter 18,2 · Sabadell 21,3 · CaixaBank 17,5 · BBVA 12,7 · Santander 14,0 %. Tipo impositivo del 30 % (art. 29 LIS) para los cinco.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Solo las cinco filas marcadas «del banco» cambian de una columna a otra</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15184"/>
                <a:gridCol w="960120"/>
                <a:gridCol w="1503274"/>
                <a:gridCol w="1503274"/>
                <a:gridCol w="1503274"/>
                <a:gridCol w="1503274"/>
                <a:gridCol w="1503274"/>
              </a:tblGrid>
              <a:tr h="315468">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818181"/>
                          </a:solidFill>
                          <a:latin typeface="Verdana" pitchFamily="34" charset="0"/>
                          <a:ea typeface="Verdana" pitchFamily="34" charset="-122"/>
                          <a:cs typeface="Verdana" pitchFamily="34" charset="-120"/>
                        </a:rPr>
                        <a:t>Común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818181"/>
                          </a:solidFill>
                          <a:latin typeface="Verdana" pitchFamily="34" charset="0"/>
                          <a:ea typeface="Verdana" pitchFamily="34" charset="-122"/>
                          <a:cs typeface="Verdana" pitchFamily="34" charset="-120"/>
                        </a:rPr>
                        <a:t>Común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818181"/>
                          </a:solidFill>
                          <a:latin typeface="Verdana" pitchFamily="34" charset="0"/>
                          <a:ea typeface="Verdana" pitchFamily="34" charset="-122"/>
                          <a:cs typeface="Verdana" pitchFamily="34" charset="-120"/>
                        </a:rPr>
                        <a:t>Común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818181"/>
                          </a:solidFill>
                          <a:latin typeface="Verdana" pitchFamily="34" charset="0"/>
                          <a:ea typeface="Verdana" pitchFamily="34" charset="-122"/>
                          <a:cs typeface="Verdana" pitchFamily="34" charset="-120"/>
                        </a:rPr>
                        <a:t>Común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818181"/>
                          </a:solidFill>
                          <a:latin typeface="Verdana" pitchFamily="34" charset="0"/>
                          <a:ea typeface="Verdana" pitchFamily="34" charset="-122"/>
                          <a:cs typeface="Verdana" pitchFamily="34" charset="-120"/>
                        </a:rPr>
                        <a:t>Común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Del 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0,26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0,43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Del 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Del 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2,08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Del 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818181"/>
                          </a:solidFill>
                          <a:latin typeface="Verdana" pitchFamily="34" charset="0"/>
                          <a:ea typeface="Verdana" pitchFamily="34" charset="-122"/>
                          <a:cs typeface="Verdana" pitchFamily="34" charset="-120"/>
                        </a:rPr>
                        <a:t>Común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Del 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21,7 %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541264"/>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541264"/>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541264"/>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541264"/>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Del banco</a:t>
            </a:r>
            <a:endParaRPr lang="en-US" sz="850" dirty="0"/>
          </a:p>
        </p:txBody>
      </p:sp>
      <p:sp>
        <p:nvSpPr>
          <p:cNvPr id="9" name="Shape 6"/>
          <p:cNvSpPr/>
          <p:nvPr/>
        </p:nvSpPr>
        <p:spPr>
          <a:xfrm>
            <a:off x="3511296" y="5541264"/>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541264"/>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486400"/>
            <a:ext cx="6492240" cy="438912"/>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Ningún banco publica precio ni comisiones de PYME, así que las cinco primeras filas y el impuesto son idénticos por construcción. Lo que separa a un banco de otro es solo riesgo, gastos y capital.</a:t>
            </a:r>
            <a:endParaRPr lang="en-US" sz="9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de PYME de España escalado por la mora PYME española de cada banco (supuesto).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(0,76 %,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−0,76).</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38.813 observaciones, cada fila trazable a su serie de origen</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2026-09-17T14:49:10Z</dcterms:created>
  <dcterms:modified xsi:type="dcterms:W3CDTF">2026-09-17T14:49:10Z</dcterms:modified>
</cp:coreProperties>
</file>