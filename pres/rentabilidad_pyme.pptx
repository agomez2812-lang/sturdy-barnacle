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C97B3C"/>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3.42</c:v>
                </c:pt>
                <c:pt idx="1">
                  <c:v>4.56</c:v>
                </c:pt>
                <c:pt idx="2">
                  <c:v>3.99</c:v>
                </c:pt>
                <c:pt idx="3">
                  <c:v>4.65</c:v>
                </c:pt>
                <c:pt idx="4">
                  <c:v>4.36</c:v>
                </c:pt>
                <c:pt idx="5">
                  <c:v>4.57</c:v>
                </c:pt>
              </c:numCache>
            </c:numRef>
          </c:val>
        </c:ser>
        <c:ser>
          <c:idx val="1"/>
          <c:order val="1"/>
          <c:tx>
            <c:strRef>
              <c:f>Sheet1!$C$1</c:f>
              <c:strCache>
                <c:ptCount val="1"/>
                <c:pt idx="0">
                  <c:v>Más de 1 M€</c:v>
                </c:pt>
              </c:strCache>
            </c:strRef>
          </c:tx>
          <c:spPr>
            <a:solidFill>
              <a:srgbClr val="1C3F4E"/>
            </a:solidFill>
            <a:effectLst/>
          </c:spPr>
          <c:invertIfNegative val="0"/>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3.46</c:v>
                </c:pt>
                <c:pt idx="1">
                  <c:v>3.41</c:v>
                </c:pt>
                <c:pt idx="2">
                  <c:v>3.49</c:v>
                </c:pt>
                <c:pt idx="3">
                  <c:v>3.22</c:v>
                </c:pt>
                <c:pt idx="4">
                  <c:v>3.71</c:v>
                </c:pt>
                <c:pt idx="5">
                  <c:v>3.37</c:v>
                </c:pt>
              </c:numCache>
            </c:numRef>
          </c:val>
        </c:ser>
        <c:dLbls>
          <c:numFmt formatCode="#,##0" sourceLinked="0"/>
          <c:txPr>
            <a:bodyPr/>
            <a:lstStyle/>
            <a:p>
              <a:pPr>
                <a:defRPr b="0" i="0" strike="noStrike" sz="10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C97B3C"/>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1C3F4E"/>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8.33</c:v>
                </c:pt>
                <c:pt idx="1">
                  <c:v>8.56</c:v>
                </c:pt>
                <c:pt idx="2">
                  <c:v>4.32</c:v>
                </c:pt>
                <c:pt idx="3">
                  <c:v>10.53</c:v>
                </c:pt>
                <c:pt idx="4">
                  <c:v>10.54</c:v>
                </c:pt>
                <c:pt idx="5">
                  <c:v>10.24</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13"/>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Depósito a la vista</c:v>
                </c:pt>
              </c:strCache>
            </c:strRef>
          </c:tx>
          <c:spPr>
            <a:solidFill>
              <a:srgbClr val="6E7F88"/>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0.44</c:v>
                </c:pt>
                <c:pt idx="1">
                  <c:v>0.72</c:v>
                </c:pt>
                <c:pt idx="2">
                  <c:v>0.52</c:v>
                </c:pt>
                <c:pt idx="3">
                  <c:v>0.56</c:v>
                </c:pt>
                <c:pt idx="4">
                  <c:v>0.07</c:v>
                </c:pt>
                <c:pt idx="5">
                  <c:v>0.85</c:v>
                </c:pt>
              </c:numCache>
            </c:numRef>
          </c:val>
        </c:ser>
        <c:ser>
          <c:idx val="1"/>
          <c:order val="1"/>
          <c:tx>
            <c:strRef>
              <c:f>Sheet1!$C$1</c:f>
              <c:strCache>
                <c:ptCount val="1"/>
                <c:pt idx="0">
                  <c:v>Margen sobre facilidad BCE</c:v>
                </c:pt>
              </c:strCache>
            </c:strRef>
          </c:tx>
          <c:spPr>
            <a:solidFill>
              <a:srgbClr val="2E7D5B"/>
            </a:solidFill>
            <a:effectLst/>
          </c:spPr>
          <c:invertIfNegative val="0"/>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1.65</c:v>
                </c:pt>
                <c:pt idx="1">
                  <c:v>1.37</c:v>
                </c:pt>
                <c:pt idx="2">
                  <c:v>1.57</c:v>
                </c:pt>
                <c:pt idx="3">
                  <c:v>1.53</c:v>
                </c:pt>
                <c:pt idx="4">
                  <c:v>2.02</c:v>
                </c:pt>
                <c:pt idx="5">
                  <c:v>1.24</c:v>
                </c:pt>
              </c:numCache>
            </c:numRef>
          </c:val>
        </c:ser>
        <c:dLbls>
          <c:numFmt formatCode="#,##0" sourceLinked="0"/>
          <c:txPr>
            <a:bodyPr/>
            <a:lstStyle/>
            <a:p>
              <a:pPr>
                <a:defRPr b="0" i="0" strike="noStrike" sz="1000" u="none">
                  <a:solidFill>
                    <a:srgbClr val="FFFFFF"/>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B9C6C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2.6</c:v>
                </c:pt>
                <c:pt idx="1">
                  <c:v>1.61</c:v>
                </c:pt>
                <c:pt idx="2">
                  <c:v>2.16</c:v>
                </c:pt>
                <c:pt idx="3">
                  <c:v>1.97</c:v>
                </c:pt>
                <c:pt idx="4">
                  <c:v>1.91</c:v>
                </c:pt>
                <c:pt idx="5">
                  <c:v>1.35</c:v>
                </c:pt>
              </c:numCache>
            </c:numRef>
          </c:val>
        </c:ser>
        <c:ser>
          <c:idx val="1"/>
          <c:order val="1"/>
          <c:tx>
            <c:strRef>
              <c:f>Sheet1!$C$1</c:f>
              <c:strCache>
                <c:ptCount val="1"/>
                <c:pt idx="0">
                  <c:v>Empresas</c:v>
                </c:pt>
              </c:strCache>
            </c:strRef>
          </c:tx>
          <c:spPr>
            <a:solidFill>
              <a:srgbClr val="1C3F4E"/>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Sheet1!$C$2:$C$7</c:f>
              <c:numCache>
                <c:formatCode>General</c:formatCode>
                <c:ptCount val="6"/>
                <c:pt idx="0">
                  <c:v>2.99</c:v>
                </c:pt>
                <c:pt idx="1">
                  <c:v>3.81</c:v>
                </c:pt>
                <c:pt idx="2">
                  <c:v>3.94</c:v>
                </c:pt>
                <c:pt idx="3">
                  <c:v>3.4</c:v>
                </c:pt>
                <c:pt idx="4">
                  <c:v>3.65</c:v>
                </c:pt>
                <c:pt idx="5">
                  <c:v>2.86</c:v>
                </c:pt>
              </c:numCache>
            </c:numRef>
          </c:val>
        </c:ser>
        <c:ser>
          <c:idx val="2"/>
          <c:order val="2"/>
          <c:tx>
            <c:strRef>
              <c:f>Sheet1!$D$1</c:f>
              <c:strCache>
                <c:ptCount val="1"/>
                <c:pt idx="0">
                  <c:v>PYME</c:v>
                </c:pt>
              </c:strCache>
            </c:strRef>
          </c:tx>
          <c:spPr>
            <a:solidFill>
              <a:srgbClr val="B04A3F"/>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Sheet1!$D$2:$D$7</c:f>
              <c:numCache>
                <c:formatCode>General</c:formatCode>
                <c:ptCount val="6"/>
                <c:pt idx="0">
                  <c:v>5.38</c:v>
                </c:pt>
                <c:pt idx="1">
                  <c:v>4.32</c:v>
                </c:pt>
                <c:pt idx="2">
                  <c:v>5.12</c:v>
                </c:pt>
                <c:pt idx="3">
                  <c:v>4.9</c:v>
                </c:pt>
                <c:pt idx="4">
                  <c:v>4.22</c:v>
                </c:pt>
                <c:pt idx="5">
                  <c:v>3.13</c:v>
                </c:pt>
              </c:numCache>
            </c:numRef>
          </c:val>
        </c:ser>
        <c:ser>
          <c:idx val="3"/>
          <c:order val="3"/>
          <c:tx>
            <c:strRef>
              <c:f>Sheet1!$E$1</c:f>
              <c:strCache>
                <c:ptCount val="1"/>
                <c:pt idx="0">
                  <c:v>Inmueble comercial</c:v>
                </c:pt>
              </c:strCache>
            </c:strRef>
          </c:tx>
          <c:spPr>
            <a:solidFill>
              <a:srgbClr val="C97B3C"/>
            </a:solidFill>
            <a:effectLst/>
          </c:spPr>
          <c:invertIfNegative val="0"/>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Sheet1!$E$2:$E$7</c:f>
              <c:numCache>
                <c:formatCode>General</c:formatCode>
                <c:ptCount val="6"/>
                <c:pt idx="0">
                  <c:v>4.25</c:v>
                </c:pt>
                <c:pt idx="1">
                  <c:v>6.81</c:v>
                </c:pt>
                <c:pt idx="2">
                  <c:v>3.86</c:v>
                </c:pt>
                <c:pt idx="3">
                  <c:v>4.27</c:v>
                </c:pt>
                <c:pt idx="4">
                  <c:v>3.83</c:v>
                </c:pt>
                <c:pt idx="5">
                  <c:v>3.06</c:v>
                </c:pt>
              </c:numCache>
            </c:numRef>
          </c:val>
        </c:ser>
        <c:dLbls>
          <c:numFmt formatCode="#,##0" sourceLinked="0"/>
          <c:txPr>
            <a:bodyPr/>
            <a:lstStyle/>
            <a:p>
              <a:pPr>
                <a:defRPr b="0" i="0" strike="noStrike" sz="8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3.58</c:v>
                </c:pt>
                <c:pt idx="1">
                  <c:v>4.95</c:v>
                </c:pt>
                <c:pt idx="2">
                  <c:v>3.39</c:v>
                </c:pt>
                <c:pt idx="3">
                  <c:v>4.11</c:v>
                </c:pt>
                <c:pt idx="4">
                  <c:v>4.41</c:v>
                </c:pt>
                <c:pt idx="5">
                  <c:v>2.46</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NPL inmueble comercial</c:v>
                </c:pt>
              </c:strCache>
            </c:strRef>
          </c:tx>
          <c:spPr>
            <a:solidFill>
              <a:srgbClr val="C97B3C"/>
            </a:solidFill>
            <a:effectLst/>
          </c:spPr>
          <c:invertIfNegative val="0"/>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4.25</c:v>
                </c:pt>
                <c:pt idx="1">
                  <c:v>6.81</c:v>
                </c:pt>
                <c:pt idx="2">
                  <c:v>3.86</c:v>
                </c:pt>
                <c:pt idx="3">
                  <c:v>4.27</c:v>
                </c:pt>
                <c:pt idx="4">
                  <c:v>3.83</c:v>
                </c:pt>
                <c:pt idx="5">
                  <c:v>3.06</c:v>
                </c:pt>
              </c:numCache>
            </c:numRef>
          </c:val>
        </c:ser>
        <c:dLbls>
          <c:numFmt formatCode="#,##0" sourceLinked="0"/>
          <c:txPr>
            <a:bodyPr/>
            <a:lstStyle/>
            <a:p>
              <a:pPr>
                <a:defRPr b="0" i="0" strike="noStrike" sz="12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Penetración sobre PIB</c:v>
                </c:pt>
              </c:strCache>
            </c:strRef>
          </c:tx>
          <c:spPr>
            <a:solidFill>
              <a:srgbClr val="1C3F4E"/>
            </a:solidFill>
            <a:effectLst/>
          </c:spPr>
          <c:invertIfNegative val="0"/>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cat>
            <c:multiLvlStrRef>
              <c:f>Sheet1!$A$2:$A$7</c:f>
              <c:multiLvlStrCache>
                <c:ptCount val="6"/>
                <c:lvl>
                  <c:pt idx="0">
                    <c:v>España</c:v>
                  </c:pt>
                  <c:pt idx="1">
                    <c:v>Alemania</c:v>
                  </c:pt>
                  <c:pt idx="2">
                    <c:v>Francia</c:v>
                  </c:pt>
                  <c:pt idx="3">
                    <c:v>Italia</c:v>
                  </c:pt>
                  <c:pt idx="4">
                    <c:v>Portugal</c:v>
                  </c:pt>
                  <c:pt idx="5">
                    <c:v>P. Bajos</c:v>
                  </c:pt>
                </c:lvl>
              </c:multiLvlStrCache>
            </c:multiLvlStrRef>
          </c:cat>
          <c:val>
            <c:numRef>
              <c:f>Sheet1!$B$2:$B$7</c:f>
              <c:numCache>
                <c:formatCode>General</c:formatCode>
                <c:ptCount val="6"/>
                <c:pt idx="0">
                  <c:v>16.5</c:v>
                </c:pt>
                <c:pt idx="1">
                  <c:v>9.5</c:v>
                </c:pt>
                <c:pt idx="2">
                  <c:v>14.8</c:v>
                </c:pt>
                <c:pt idx="3">
                  <c:v>13.2</c:v>
                </c:pt>
                <c:pt idx="4">
                  <c:v>20.7</c:v>
                </c:pt>
                <c:pt idx="5">
                  <c:v>14</c:v>
                </c:pt>
              </c:numCache>
            </c:numRef>
          </c:val>
        </c:ser>
        <c:dLbls>
          <c:numFmt formatCode="#,##0" sourceLinked="0"/>
          <c:txPr>
            <a:bodyPr/>
            <a:lstStyle/>
            <a:p>
              <a:pPr>
                <a:defRPr b="0" i="0" strike="noStrike" sz="1100" u="none">
                  <a:solidFill>
                    <a:srgbClr val="2B3A42"/>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3A42"/>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E7F8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y cuentas de resultados de bancos.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2286000"/>
            <a:ext cx="9601200" cy="82296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Rentabilidad del negocio PYME</a:t>
            </a:r>
            <a:endParaRPr lang="en-US" sz="4200" dirty="0"/>
          </a:p>
        </p:txBody>
      </p:sp>
      <p:sp>
        <p:nvSpPr>
          <p:cNvPr id="3" name="Text 1"/>
          <p:cNvSpPr txBox="1"/>
          <p:nvPr/>
        </p:nvSpPr>
        <p:spPr>
          <a:xfrm>
            <a:off x="548640" y="3154680"/>
            <a:ext cx="9601200" cy="457200"/>
          </a:xfrm>
          <a:prstGeom prst="rect">
            <a:avLst/>
          </a:prstGeom>
          <a:noFill/>
          <a:ln/>
        </p:spPr>
        <p:txBody>
          <a:bodyPr wrap="square" lIns="0" tIns="0" rIns="0" bIns="0" rtlCol="0" anchor="ctr"/>
          <a:lstStyle/>
          <a:p>
            <a:pPr indent="0" marL="0">
              <a:buNone/>
            </a:pPr>
            <a:r>
              <a:rPr lang="en-US" sz="1800" dirty="0">
                <a:solidFill>
                  <a:srgbClr val="9FB3BC"/>
                </a:solidFill>
                <a:latin typeface="Calibri" pitchFamily="34" charset="0"/>
                <a:ea typeface="Calibri" pitchFamily="34" charset="-122"/>
                <a:cs typeface="Calibri" pitchFamily="34" charset="-120"/>
              </a:rPr>
              <a:t>España · Alemania · Francia · Italia · Portugal · Países Bajos</a:t>
            </a:r>
            <a:endParaRPr lang="en-US" sz="1800" dirty="0"/>
          </a:p>
        </p:txBody>
      </p:sp>
      <p:sp>
        <p:nvSpPr>
          <p:cNvPr id="4" name="Text 2"/>
          <p:cNvSpPr txBox="1"/>
          <p:nvPr/>
        </p:nvSpPr>
        <p:spPr>
          <a:xfrm>
            <a:off x="548640" y="3794760"/>
            <a:ext cx="9601200" cy="365760"/>
          </a:xfrm>
          <a:prstGeom prst="rect">
            <a:avLst/>
          </a:prstGeom>
          <a:noFill/>
          <a:ln/>
        </p:spPr>
        <p:txBody>
          <a:bodyPr wrap="square" lIns="0" tIns="0" rIns="0" bIns="0" rtlCol="0" anchor="ctr"/>
          <a:lstStyle/>
          <a:p>
            <a:pPr indent="0" marL="0">
              <a:buNone/>
            </a:pPr>
            <a:r>
              <a:rPr lang="en-US" sz="1300" dirty="0">
                <a:solidFill>
                  <a:srgbClr val="C97B3C"/>
                </a:solidFill>
                <a:latin typeface="Calibri" pitchFamily="34" charset="0"/>
                <a:ea typeface="Calibri" pitchFamily="34" charset="-122"/>
                <a:cs typeface="Calibri" pitchFamily="34" charset="-120"/>
              </a:rPr>
              <a:t>Cinco productos · Datos oficiales 2026 · Modelo de ROE con supuestos declarados</a:t>
            </a:r>
            <a:endParaRPr lang="en-US" sz="1300" dirty="0"/>
          </a:p>
        </p:txBody>
      </p:sp>
      <p:sp>
        <p:nvSpPr>
          <p:cNvPr id="5" name="Text 3"/>
          <p:cNvSpPr txBox="1"/>
          <p:nvPr/>
        </p:nvSpPr>
        <p:spPr>
          <a:xfrm>
            <a:off x="548640" y="5943600"/>
            <a:ext cx="9601200" cy="320040"/>
          </a:xfrm>
          <a:prstGeom prst="rect">
            <a:avLst/>
          </a:prstGeom>
          <a:noFill/>
          <a:ln/>
        </p:spPr>
        <p:txBody>
          <a:bodyPr wrap="square" lIns="0" tIns="0" rIns="0" bIns="0" rtlCol="0" anchor="ctr"/>
          <a:lstStyle/>
          <a:p>
            <a:pPr indent="0" marL="0">
              <a:buNone/>
            </a:pPr>
            <a:r>
              <a:rPr lang="en-US" sz="1100" dirty="0">
                <a:solidFill>
                  <a:srgbClr val="6E7F88"/>
                </a:solidFill>
                <a:latin typeface="Calibri" pitchFamily="34" charset="0"/>
                <a:ea typeface="Calibri" pitchFamily="34" charset="-122"/>
                <a:cs typeface="Calibri" pitchFamily="34" charset="-120"/>
              </a:rPr>
              <a:t>25.370 observaciones · 9 fuentes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Objetivo y método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mide, con qué datos y dónde están los límites</a:t>
            </a:r>
            <a:endParaRPr lang="en-US" sz="1300" dirty="0"/>
          </a:p>
        </p:txBody>
      </p:sp>
      <p:sp>
        <p:nvSpPr>
          <p:cNvPr id="4" name="Shape 2"/>
          <p:cNvSpPr/>
          <p:nvPr/>
        </p:nvSpPr>
        <p:spPr>
          <a:xfrm>
            <a:off x="548640" y="1600200"/>
            <a:ext cx="11091672" cy="1069848"/>
          </a:xfrm>
          <a:prstGeom prst="roundRect">
            <a:avLst>
              <a:gd name="adj" fmla="val 5128"/>
            </a:avLst>
          </a:prstGeom>
          <a:solidFill>
            <a:srgbClr val="EEF2F3"/>
          </a:solidFill>
          <a:ln w="12700">
            <a:solidFill>
              <a:srgbClr val="DCE4E7"/>
            </a:solidFill>
            <a:prstDash val="solid"/>
          </a:ln>
        </p:spPr>
      </p:sp>
      <p:sp>
        <p:nvSpPr>
          <p:cNvPr id="5" name="Text 3"/>
          <p:cNvSpPr txBox="1"/>
          <p:nvPr/>
        </p:nvSpPr>
        <p:spPr>
          <a:xfrm>
            <a:off x="777240" y="170992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Objetivo</a:t>
            </a:r>
            <a:endParaRPr lang="en-US" sz="1400" dirty="0"/>
          </a:p>
        </p:txBody>
      </p:sp>
      <p:sp>
        <p:nvSpPr>
          <p:cNvPr id="6" name="Text 4"/>
          <p:cNvSpPr txBox="1"/>
          <p:nvPr/>
        </p:nvSpPr>
        <p:spPr>
          <a:xfrm>
            <a:off x="3200400" y="170992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Comparar la rentabilidad del negocio PYME entre seis países europeos, producto a producto, sobre datos oficiales y no sobre estimaciones de mercado.</a:t>
            </a:r>
            <a:endParaRPr lang="en-US" sz="1200" dirty="0"/>
          </a:p>
        </p:txBody>
      </p:sp>
      <p:sp>
        <p:nvSpPr>
          <p:cNvPr id="7" name="Shape 5"/>
          <p:cNvSpPr/>
          <p:nvPr/>
        </p:nvSpPr>
        <p:spPr>
          <a:xfrm>
            <a:off x="548640" y="2788920"/>
            <a:ext cx="11091672" cy="1069848"/>
          </a:xfrm>
          <a:prstGeom prst="roundRect">
            <a:avLst>
              <a:gd name="adj" fmla="val 5128"/>
            </a:avLst>
          </a:prstGeom>
          <a:solidFill>
            <a:srgbClr val="EEF2F3"/>
          </a:solidFill>
          <a:ln w="12700">
            <a:solidFill>
              <a:srgbClr val="DCE4E7"/>
            </a:solidFill>
            <a:prstDash val="solid"/>
          </a:ln>
        </p:spPr>
      </p:sp>
      <p:sp>
        <p:nvSpPr>
          <p:cNvPr id="8" name="Text 6"/>
          <p:cNvSpPr txBox="1"/>
          <p:nvPr/>
        </p:nvSpPr>
        <p:spPr>
          <a:xfrm>
            <a:off x="777240" y="289864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Alcance</a:t>
            </a:r>
            <a:endParaRPr lang="en-US" sz="1400" dirty="0"/>
          </a:p>
        </p:txBody>
      </p:sp>
      <p:sp>
        <p:nvSpPr>
          <p:cNvPr id="9" name="Text 7"/>
          <p:cNvSpPr txBox="1"/>
          <p:nvPr/>
        </p:nvSpPr>
        <p:spPr>
          <a:xfrm>
            <a:off x="3200400" y="289864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0" name="Shape 8"/>
          <p:cNvSpPr/>
          <p:nvPr/>
        </p:nvSpPr>
        <p:spPr>
          <a:xfrm>
            <a:off x="548640" y="3977640"/>
            <a:ext cx="11091672" cy="1069848"/>
          </a:xfrm>
          <a:prstGeom prst="roundRect">
            <a:avLst>
              <a:gd name="adj" fmla="val 5128"/>
            </a:avLst>
          </a:prstGeom>
          <a:solidFill>
            <a:srgbClr val="EEF2F3"/>
          </a:solidFill>
          <a:ln w="12700">
            <a:solidFill>
              <a:srgbClr val="DCE4E7"/>
            </a:solidFill>
            <a:prstDash val="solid"/>
          </a:ln>
        </p:spPr>
      </p:sp>
      <p:sp>
        <p:nvSpPr>
          <p:cNvPr id="11" name="Text 9"/>
          <p:cNvSpPr txBox="1"/>
          <p:nvPr/>
        </p:nvSpPr>
        <p:spPr>
          <a:xfrm>
            <a:off x="777240" y="4087368"/>
            <a:ext cx="2286000" cy="292608"/>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Método</a:t>
            </a:r>
            <a:endParaRPr lang="en-US" sz="1400" dirty="0"/>
          </a:p>
        </p:txBody>
      </p:sp>
      <p:sp>
        <p:nvSpPr>
          <p:cNvPr id="12" name="Text 10"/>
          <p:cNvSpPr txBox="1"/>
          <p:nvPr/>
        </p:nvSpPr>
        <p:spPr>
          <a:xfrm>
            <a:off x="3200400" y="408736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3" name="Shape 11"/>
          <p:cNvSpPr/>
          <p:nvPr/>
        </p:nvSpPr>
        <p:spPr>
          <a:xfrm>
            <a:off x="548640" y="5166360"/>
            <a:ext cx="11091672" cy="1069848"/>
          </a:xfrm>
          <a:prstGeom prst="roundRect">
            <a:avLst>
              <a:gd name="adj" fmla="val 5128"/>
            </a:avLst>
          </a:prstGeom>
          <a:solidFill>
            <a:srgbClr val="F7EDE4"/>
          </a:solidFill>
          <a:ln w="12700">
            <a:solidFill>
              <a:srgbClr val="C97B3C"/>
            </a:solidFill>
            <a:prstDash val="solid"/>
          </a:ln>
        </p:spPr>
      </p:sp>
      <p:sp>
        <p:nvSpPr>
          <p:cNvPr id="14" name="Text 12"/>
          <p:cNvSpPr txBox="1"/>
          <p:nvPr/>
        </p:nvSpPr>
        <p:spPr>
          <a:xfrm>
            <a:off x="777240" y="5276088"/>
            <a:ext cx="22860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Límite principal</a:t>
            </a:r>
            <a:endParaRPr lang="en-US" sz="1400" dirty="0"/>
          </a:p>
        </p:txBody>
      </p:sp>
      <p:sp>
        <p:nvSpPr>
          <p:cNvPr id="15" name="Text 13"/>
          <p:cNvSpPr txBox="1"/>
          <p:nvPr/>
        </p:nvSpPr>
        <p:spPr>
          <a:xfrm>
            <a:off x="3200400" y="5276088"/>
            <a:ext cx="8165592" cy="841248"/>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6" name="Text 14"/>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Detalle completo de fuentes, supuestos y huecos en notas.md del repositorio del proyecto.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Mapa de fiabilidad del dato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Qué se puede afirmar y con qué respaldo, producto a producto y país a país</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Producto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Precio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Volumen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Préstamo PYME por tramo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ESPAÑA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Circulante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Hipoteca PYME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PROXY CRE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Factoring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Confirming</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SOLO ES e IT</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B04A3F"/>
                    </a:solidFill>
                  </a:tcPr>
                </a:tc>
              </a:tr>
              <a:tr h="402336">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Depósitos de empresa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2E7D5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PARCIAL</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992B"/>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6E7F88"/>
                    </a:solidFill>
                  </a:tcPr>
                </a:tc>
              </a:tr>
            </a:tbl>
          </a:graphicData>
        </a:graphic>
      </p:graphicFrame>
      <p:sp>
        <p:nvSpPr>
          <p:cNvPr id="5" name="Text 2"/>
          <p:cNvSpPr txBox="1"/>
          <p:nvPr/>
        </p:nvSpPr>
        <p:spPr>
          <a:xfrm>
            <a:off x="548640" y="5074920"/>
            <a:ext cx="11091672" cy="54864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mapa de huecos es en sí un resultado: cuatro de los cinco productos no tienen precio con comisiones en ningún país salvo España, y la hipoteca a PYME no existe como estadística oficial europea.</a:t>
            </a:r>
            <a:endParaRPr lang="en-US" sz="1200" dirty="0"/>
          </a:p>
        </p:txBody>
      </p:sp>
      <p:sp>
        <p:nvSpPr>
          <p:cNvPr id="6" name="Shape 3"/>
          <p:cNvSpPr/>
          <p:nvPr/>
        </p:nvSpPr>
        <p:spPr>
          <a:xfrm>
            <a:off x="548640" y="5806440"/>
            <a:ext cx="1371600" cy="256032"/>
          </a:xfrm>
          <a:prstGeom prst="roundRect">
            <a:avLst>
              <a:gd name="adj" fmla="val 42857"/>
            </a:avLst>
          </a:prstGeom>
          <a:solidFill>
            <a:srgbClr val="2E7D5B"/>
          </a:solidFill>
          <a:ln w="12700">
            <a:solidFill>
              <a:srgbClr val="2E7D5B"/>
            </a:solidFill>
            <a:prstDash val="solid"/>
          </a:ln>
        </p:spPr>
      </p:sp>
      <p:sp>
        <p:nvSpPr>
          <p:cNvPr id="7" name="Text 4"/>
          <p:cNvSpPr txBox="1"/>
          <p:nvPr/>
        </p:nvSpPr>
        <p:spPr>
          <a:xfrm>
            <a:off x="5486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8" name="Shape 5"/>
          <p:cNvSpPr/>
          <p:nvPr/>
        </p:nvSpPr>
        <p:spPr>
          <a:xfrm>
            <a:off x="2377440" y="5806440"/>
            <a:ext cx="1371600" cy="256032"/>
          </a:xfrm>
          <a:prstGeom prst="roundRect">
            <a:avLst>
              <a:gd name="adj" fmla="val 42857"/>
            </a:avLst>
          </a:prstGeom>
          <a:solidFill>
            <a:srgbClr val="C9992B"/>
          </a:solidFill>
          <a:ln w="12700">
            <a:solidFill>
              <a:srgbClr val="C9992B"/>
            </a:solidFill>
            <a:prstDash val="solid"/>
          </a:ln>
        </p:spPr>
      </p:sp>
      <p:sp>
        <p:nvSpPr>
          <p:cNvPr id="9" name="Text 6"/>
          <p:cNvSpPr txBox="1"/>
          <p:nvPr/>
        </p:nvSpPr>
        <p:spPr>
          <a:xfrm>
            <a:off x="23774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PARCIAL o SUPUESTO</a:t>
            </a:r>
            <a:endParaRPr lang="en-US" sz="900" dirty="0"/>
          </a:p>
        </p:txBody>
      </p:sp>
      <p:sp>
        <p:nvSpPr>
          <p:cNvPr id="10" name="Shape 7"/>
          <p:cNvSpPr/>
          <p:nvPr/>
        </p:nvSpPr>
        <p:spPr>
          <a:xfrm>
            <a:off x="4206240" y="5806440"/>
            <a:ext cx="1371600" cy="256032"/>
          </a:xfrm>
          <a:prstGeom prst="roundRect">
            <a:avLst>
              <a:gd name="adj" fmla="val 42857"/>
            </a:avLst>
          </a:prstGeom>
          <a:solidFill>
            <a:srgbClr val="B04A3F"/>
          </a:solidFill>
          <a:ln w="12700">
            <a:solidFill>
              <a:srgbClr val="B04A3F"/>
            </a:solidFill>
            <a:prstDash val="solid"/>
          </a:ln>
        </p:spPr>
      </p:sp>
      <p:sp>
        <p:nvSpPr>
          <p:cNvPr id="11" name="Text 8"/>
          <p:cNvSpPr txBox="1"/>
          <p:nvPr/>
        </p:nvSpPr>
        <p:spPr>
          <a:xfrm>
            <a:off x="4206240" y="580644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NO EXISTE</a:t>
            </a:r>
            <a:endParaRPr lang="en-US" sz="9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BCE (MIR), EBA Risk Dashboard, Banco de España (Boletín Estadístico), Banca d'Italia (STACORIS), OCDE, EUF.</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Precio: tipo de nueva producción por tramo de importe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Media 2026 ponderada por volumen · Fijación inicial total · Sin comisiones</a:t>
            </a:r>
            <a:endParaRPr lang="en-US" sz="1300" dirty="0"/>
          </a:p>
        </p:txBody>
      </p:sp>
      <p:graphicFrame>
        <p:nvGraphicFramePr>
          <p:cNvPr id="4" name="Chart 0" descr=""/>
          <p:cNvGraphicFramePr/>
          <p:nvPr/>
        </p:nvGraphicFramePr>
        <p:xfrm>
          <a:off x="548640" y="1600200"/>
          <a:ext cx="685800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00200"/>
            <a:ext cx="3959352" cy="1828800"/>
          </a:xfrm>
          <a:prstGeom prst="roundRect">
            <a:avLst>
              <a:gd name="adj" fmla="val 3000"/>
            </a:avLst>
          </a:prstGeom>
          <a:solidFill>
            <a:srgbClr val="EEF2F3"/>
          </a:solidFill>
          <a:ln w="12700">
            <a:solidFill>
              <a:srgbClr val="DCE4E7"/>
            </a:solidFill>
            <a:prstDash val="solid"/>
          </a:ln>
        </p:spPr>
      </p:sp>
      <p:sp>
        <p:nvSpPr>
          <p:cNvPr id="6" name="Text 3"/>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Peso del tramo ≤1 M€ sobre la nueva producción</a:t>
            </a:r>
            <a:endParaRPr lang="en-US" sz="1300" dirty="0"/>
          </a:p>
        </p:txBody>
      </p:sp>
      <p:sp>
        <p:nvSpPr>
          <p:cNvPr id="7" name="Text 4"/>
          <p:cNvSpPr txBox="1"/>
          <p:nvPr/>
        </p:nvSpPr>
        <p:spPr>
          <a:xfrm>
            <a:off x="7863840" y="2240280"/>
            <a:ext cx="3611880" cy="1097280"/>
          </a:xfrm>
          <a:prstGeom prst="rect">
            <a:avLst/>
          </a:prstGeom>
          <a:noFill/>
          <a:ln/>
        </p:spPr>
        <p:txBody>
          <a:bodyPr wrap="square" lIns="0" tIns="0" rIns="0" bIns="0" rtlCol="0" anchor="ctr"/>
          <a:lstStyle/>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España: 50.5 %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Alemania: 17.8 %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Francia: 30 %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Italia: 34.6 %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Portugal: 51.1 %</a:t>
            </a:r>
            <a:endParaRPr lang="en-US" sz="1100" dirty="0"/>
          </a:p>
          <a:p>
            <a:pPr indent="0" marL="0">
              <a:lnSpc>
                <a:spcPts val="1500"/>
              </a:lnSpc>
              <a:buNone/>
            </a:pPr>
            <a:r>
              <a:rPr lang="en-US" sz="1100" dirty="0">
                <a:solidFill>
                  <a:srgbClr val="2B3A42"/>
                </a:solidFill>
                <a:latin typeface="Calibri" pitchFamily="34" charset="0"/>
                <a:ea typeface="Calibri" pitchFamily="34" charset="-122"/>
                <a:cs typeface="Calibri" pitchFamily="34" charset="-120"/>
              </a:rPr>
              <a:t>P. Bajos: 7.6 %</a:t>
            </a:r>
            <a:endParaRPr lang="en-US" sz="1100" dirty="0"/>
          </a:p>
        </p:txBody>
      </p:sp>
      <p:sp>
        <p:nvSpPr>
          <p:cNvPr id="8" name="Shape 5"/>
          <p:cNvSpPr/>
          <p:nvPr/>
        </p:nvSpPr>
        <p:spPr>
          <a:xfrm>
            <a:off x="7680960" y="3611880"/>
            <a:ext cx="3959352" cy="1645920"/>
          </a:xfrm>
          <a:prstGeom prst="roundRect">
            <a:avLst>
              <a:gd name="adj" fmla="val 3333"/>
            </a:avLst>
          </a:prstGeom>
          <a:solidFill>
            <a:srgbClr val="F7EDE4"/>
          </a:solidFill>
          <a:ln w="12700">
            <a:solidFill>
              <a:srgbClr val="C97B3C"/>
            </a:solidFill>
            <a:prstDash val="solid"/>
          </a:ln>
        </p:spPr>
      </p:sp>
      <p:sp>
        <p:nvSpPr>
          <p:cNvPr id="9" name="Text 6"/>
          <p:cNvSpPr txBox="1"/>
          <p:nvPr/>
        </p:nvSpPr>
        <p:spPr>
          <a:xfrm>
            <a:off x="7863840" y="3749040"/>
            <a:ext cx="3611880" cy="320040"/>
          </a:xfrm>
          <a:prstGeom prst="rect">
            <a:avLst/>
          </a:prstGeom>
          <a:noFill/>
          <a:ln/>
        </p:spPr>
        <p:txBody>
          <a:bodyPr wrap="square" lIns="0" tIns="0" rIns="0" bIns="0" rtlCol="0" anchor="ctr"/>
          <a:lstStyle/>
          <a:p>
            <a:pPr indent="0" marL="0">
              <a:buNone/>
            </a:pPr>
            <a:r>
              <a:rPr lang="en-US" sz="1300" b="1" dirty="0">
                <a:solidFill>
                  <a:srgbClr val="C97B3C"/>
                </a:solidFill>
                <a:latin typeface="Cambria" pitchFamily="34" charset="0"/>
                <a:ea typeface="Cambria" pitchFamily="34" charset="-122"/>
                <a:cs typeface="Cambria" pitchFamily="34" charset="-120"/>
              </a:rPr>
              <a:t>Un mismo spread no significa lo mismo</a:t>
            </a:r>
            <a:endParaRPr lang="en-US" sz="1300" dirty="0"/>
          </a:p>
        </p:txBody>
      </p:sp>
      <p:sp>
        <p:nvSpPr>
          <p:cNvPr id="10" name="Text 7"/>
          <p:cNvSpPr txBox="1"/>
          <p:nvPr/>
        </p:nvSpPr>
        <p:spPr>
          <a:xfrm>
            <a:off x="7863840" y="4114800"/>
            <a:ext cx="3611880" cy="100584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En España y Portugal la mitad de la nueva producción es de importe ≤1 M€. En Países Bajos es el 7,6 %. Cualquier comparación de rentabilidad debe normalizar por este peso.</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ECB Data Portal, dataset MIR. Tipo anual equivalente (AAR/NDER), que excluye comisiones. Media enero-julio 2026 ponderada por volumen mensual.</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El hallazgo que cambia la lectura: España cobra por comisión</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Único país de los seis donde existe un tipo con comisiones para empresas · Media 2026</a:t>
            </a:r>
            <a:endParaRPr lang="en-US" sz="1300" dirty="0"/>
          </a:p>
        </p:txBody>
      </p:sp>
      <p:graphicFrame>
        <p:nvGraphicFramePr>
          <p:cNvPr id="4" name="Chart 0" descr=""/>
          <p:cNvGraphicFramePr/>
          <p:nvPr/>
        </p:nvGraphicFramePr>
        <p:xfrm>
          <a:off x="548640"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06640" y="1645920"/>
            <a:ext cx="4233672" cy="1600200"/>
          </a:xfrm>
          <a:prstGeom prst="roundRect">
            <a:avLst>
              <a:gd name="adj" fmla="val 3429"/>
            </a:avLst>
          </a:prstGeom>
          <a:solidFill>
            <a:srgbClr val="F7EDE4"/>
          </a:solidFill>
          <a:ln w="12700">
            <a:solidFill>
              <a:srgbClr val="C97B3C"/>
            </a:solidFill>
            <a:prstDash val="solid"/>
          </a:ln>
        </p:spPr>
      </p:sp>
      <p:sp>
        <p:nvSpPr>
          <p:cNvPr id="6" name="Text 3"/>
          <p:cNvSpPr txBox="1"/>
          <p:nvPr/>
        </p:nvSpPr>
        <p:spPr>
          <a:xfrm>
            <a:off x="7589520" y="1783080"/>
            <a:ext cx="388620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Spread PYME según qué se mida</a:t>
            </a:r>
            <a:endParaRPr lang="en-US" sz="1400" dirty="0"/>
          </a:p>
        </p:txBody>
      </p:sp>
      <p:sp>
        <p:nvSpPr>
          <p:cNvPr id="7" name="Text 4"/>
          <p:cNvSpPr txBox="1"/>
          <p:nvPr/>
        </p:nvSpPr>
        <p:spPr>
          <a:xfrm>
            <a:off x="7589520" y="2194560"/>
            <a:ext cx="3886200" cy="914400"/>
          </a:xfrm>
          <a:prstGeom prst="rect">
            <a:avLst/>
          </a:prstGeom>
          <a:noFill/>
          <a:ln/>
        </p:spPr>
        <p:txBody>
          <a:bodyPr wrap="square" lIns="0" tIns="0" rIns="0" bIns="0" rtlCol="0" anchor="ctr"/>
          <a:lstStyle/>
          <a:p>
            <a:pPr indent="0" marL="0">
              <a:buNone/>
            </a:pPr>
            <a:r>
              <a:rPr lang="en-US" sz="2000" b="1" dirty="0">
                <a:solidFill>
                  <a:srgbClr val="B04A3F"/>
                </a:solidFill>
                <a:latin typeface="Calibri" pitchFamily="34" charset="0"/>
                <a:ea typeface="Calibri" pitchFamily="34" charset="-122"/>
                <a:cs typeface="Calibri" pitchFamily="34" charset="-120"/>
              </a:rPr>
              <a:t>−2 pb</a:t>
            </a:r>
            <a:pPr indent="0" marL="0">
              <a:buNone/>
            </a:pPr>
            <a:r>
              <a:rPr lang="en-US" sz="1200" dirty="0">
                <a:solidFill>
                  <a:srgbClr val="2B3A42"/>
                </a:solidFill>
                <a:latin typeface="Calibri" pitchFamily="34" charset="0"/>
                <a:ea typeface="Calibri" pitchFamily="34" charset="-122"/>
                <a:cs typeface="Calibri" pitchFamily="34" charset="-120"/>
              </a:rPr>
              <a:t>  medido en TEDR</a:t>
            </a:r>
            <a:endParaRPr lang="en-US" sz="2000" dirty="0"/>
          </a:p>
          <a:p>
            <a:pPr indent="0" marL="0">
              <a:buNone/>
            </a:pPr>
            <a:r>
              <a:rPr lang="en-US" sz="2000" b="1" dirty="0">
                <a:solidFill>
                  <a:srgbClr val="2E7D5B"/>
                </a:solidFill>
                <a:latin typeface="Calibri" pitchFamily="34" charset="0"/>
                <a:ea typeface="Calibri" pitchFamily="34" charset="-122"/>
                <a:cs typeface="Calibri" pitchFamily="34" charset="-120"/>
              </a:rPr>
              <a:t>+81 pb</a:t>
            </a:r>
            <a:pPr indent="0" marL="0">
              <a:buNone/>
            </a:pPr>
            <a:r>
              <a:rPr lang="en-US" sz="1200" dirty="0">
                <a:solidFill>
                  <a:srgbClr val="2B3A42"/>
                </a:solidFill>
                <a:latin typeface="Calibri" pitchFamily="34" charset="0"/>
                <a:ea typeface="Calibri" pitchFamily="34" charset="-122"/>
                <a:cs typeface="Calibri" pitchFamily="34" charset="-120"/>
              </a:rPr>
              <a:t>  medido en TAE</a:t>
            </a:r>
            <a:endParaRPr lang="en-US" sz="2000" dirty="0"/>
          </a:p>
        </p:txBody>
      </p:sp>
      <p:sp>
        <p:nvSpPr>
          <p:cNvPr id="8" name="Shape 5"/>
          <p:cNvSpPr/>
          <p:nvPr/>
        </p:nvSpPr>
        <p:spPr>
          <a:xfrm>
            <a:off x="7406640" y="3429000"/>
            <a:ext cx="4233672" cy="1691640"/>
          </a:xfrm>
          <a:prstGeom prst="roundRect">
            <a:avLst>
              <a:gd name="adj" fmla="val 3243"/>
            </a:avLst>
          </a:prstGeom>
          <a:solidFill>
            <a:srgbClr val="EEF2F3"/>
          </a:solidFill>
          <a:ln w="12700">
            <a:solidFill>
              <a:srgbClr val="DCE4E7"/>
            </a:solidFill>
            <a:prstDash val="solid"/>
          </a:ln>
        </p:spPr>
      </p:sp>
      <p:sp>
        <p:nvSpPr>
          <p:cNvPr id="9" name="Text 6"/>
          <p:cNvSpPr txBox="1"/>
          <p:nvPr/>
        </p:nvSpPr>
        <p:spPr>
          <a:xfrm>
            <a:off x="7589520" y="3566160"/>
            <a:ext cx="38862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Cuña de comisiones por tramo</a:t>
            </a:r>
            <a:endParaRPr lang="en-US" sz="1300" dirty="0"/>
          </a:p>
        </p:txBody>
      </p:sp>
      <p:sp>
        <p:nvSpPr>
          <p:cNvPr id="10" name="Text 7"/>
          <p:cNvSpPr txBox="1"/>
          <p:nvPr/>
        </p:nvSpPr>
        <p:spPr>
          <a:xfrm>
            <a:off x="7589520" y="3931920"/>
            <a:ext cx="3886200" cy="1005840"/>
          </a:xfrm>
          <a:prstGeom prst="rect">
            <a:avLst/>
          </a:prstGeom>
          <a:noFill/>
          <a:ln/>
        </p:spPr>
        <p:txBody>
          <a:bodyPr wrap="square" lIns="0" tIns="0" rIns="0" bIns="0" rtlCol="0" anchor="ctr"/>
          <a:lstStyle/>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 M€:  +102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0,25–1 M€:  +36 pb</a:t>
            </a:r>
            <a:endParaRPr lang="en-US" sz="1300" dirty="0"/>
          </a:p>
          <a:p>
            <a:pPr indent="0" marL="0">
              <a:lnSpc>
                <a:spcPts val="2000"/>
              </a:lnSpc>
              <a:buNone/>
            </a:pPr>
            <a:r>
              <a:rPr lang="en-US" sz="1300" dirty="0">
                <a:solidFill>
                  <a:srgbClr val="2B3A42"/>
                </a:solidFill>
                <a:latin typeface="Calibri" pitchFamily="34" charset="0"/>
                <a:ea typeface="Calibri" pitchFamily="34" charset="-122"/>
                <a:cs typeface="Calibri" pitchFamily="34" charset="-120"/>
              </a:rPr>
              <a:t>&gt;1 M€:  +18 pb</a:t>
            </a:r>
            <a:endParaRPr lang="en-US" sz="1300" dirty="0"/>
          </a:p>
        </p:txBody>
      </p:sp>
      <p:sp>
        <p:nvSpPr>
          <p:cNvPr id="11" name="Text 8"/>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Banco de España, Boletín Estadístico, cuadros 19.5 (TEDR), 19.6 (TAE) y 19.13 (volúmenes). Cuña = TAE − TEDR, cálculo propio. Media enero-julio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Cuenta de resultados modelizada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En % del saldo medio · Tramo ≤1 M€ · 2026 · Las filas en ocre son supuestos, no observaciones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743200"/>
                <a:gridCol w="1540764"/>
                <a:gridCol w="1540764"/>
                <a:gridCol w="1540764"/>
                <a:gridCol w="1540764"/>
                <a:gridCol w="1540764"/>
                <a:gridCol w="1540764"/>
              </a:tblGrid>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Concepto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Precio (tipo MIR)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4.39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3.94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4.50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Comisiones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Ingreso total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4.28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5.26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4.64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5.12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4.81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5.37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2B3A42"/>
                          </a:solidFill>
                          <a:latin typeface="Calibri" pitchFamily="34" charset="0"/>
                          <a:ea typeface="Calibri" pitchFamily="34" charset="-122"/>
                          <a:cs typeface="Calibri" pitchFamily="34" charset="-120"/>
                        </a:rPr>
                        <a:t>− Coste de fondos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2.23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Margen bruto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3.03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2.41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2.89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2.58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3.14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0.32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0.26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0.31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0.29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0.19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 Gastos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1.35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0.90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1C3F4E"/>
                          </a:solidFill>
                          <a:latin typeface="Calibri" pitchFamily="34" charset="0"/>
                          <a:ea typeface="Calibri" pitchFamily="34" charset="-122"/>
                          <a:cs typeface="Calibri" pitchFamily="34" charset="-120"/>
                        </a:rPr>
                        <a:t>= Resultado antes de imp.</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0.52</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1.25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1.43</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b="1" dirty="0">
                          <a:solidFill>
                            <a:srgbClr val="1C3F4E"/>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338328">
                <a:tc>
                  <a:txBody>
                    <a:bodyPr/>
                    <a:lstStyle/>
                    <a:p>
                      <a:pPr algn="l" indent="0" marL="0">
                        <a:buNone/>
                      </a:pPr>
                      <a:r>
                        <a:rPr lang="en-US" sz="1100" dirty="0">
                          <a:solidFill>
                            <a:srgbClr val="8A5A2B"/>
                          </a:solidFill>
                          <a:latin typeface="Calibri" pitchFamily="34" charset="0"/>
                          <a:ea typeface="Calibri" pitchFamily="34" charset="-122"/>
                          <a:cs typeface="Calibri" pitchFamily="34" charset="-120"/>
                        </a:rPr>
                        <a:t>Capital asignado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9.66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9.05</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8.87</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10.16</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c>
                  <a:txBody>
                    <a:bodyPr/>
                    <a:lstStyle/>
                    <a:p>
                      <a:pPr algn="ctr" indent="0" marL="0">
                        <a:buNone/>
                      </a:pPr>
                      <a:r>
                        <a:rPr lang="en-US" sz="1100" dirty="0">
                          <a:solidFill>
                            <a:srgbClr val="8A5A2B"/>
                          </a:solidFill>
                          <a:latin typeface="Calibri" pitchFamily="34" charset="0"/>
                          <a:ea typeface="Calibri" pitchFamily="34" charset="-122"/>
                          <a:cs typeface="Calibri" pitchFamily="34" charset="-120"/>
                        </a:rPr>
                        <a:t>9.34</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BF2EA"/>
                    </a:solidFill>
                  </a:tcPr>
                </a:tc>
              </a:tr>
              <a:tr h="3383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ROE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4.3 %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bl>
          </a:graphicData>
        </a:graphic>
      </p:graphicFrame>
      <p:sp>
        <p:nvSpPr>
          <p:cNvPr id="5" name="Shape 2"/>
          <p:cNvSpPr/>
          <p:nvPr/>
        </p:nvSpPr>
        <p:spPr>
          <a:xfrm>
            <a:off x="548640" y="5623560"/>
            <a:ext cx="1371600" cy="256032"/>
          </a:xfrm>
          <a:prstGeom prst="roundRect">
            <a:avLst>
              <a:gd name="adj" fmla="val 42857"/>
            </a:avLst>
          </a:prstGeom>
          <a:solidFill>
            <a:srgbClr val="1C3F4E"/>
          </a:solidFill>
          <a:ln w="12700">
            <a:solidFill>
              <a:srgbClr val="1C3F4E"/>
            </a:solidFill>
            <a:prstDash val="solid"/>
          </a:ln>
        </p:spPr>
      </p:sp>
      <p:sp>
        <p:nvSpPr>
          <p:cNvPr id="6" name="Text 3"/>
          <p:cNvSpPr txBox="1"/>
          <p:nvPr/>
        </p:nvSpPr>
        <p:spPr>
          <a:xfrm>
            <a:off x="54864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Observado</a:t>
            </a:r>
            <a:endParaRPr lang="en-US" sz="900" dirty="0"/>
          </a:p>
        </p:txBody>
      </p:sp>
      <p:sp>
        <p:nvSpPr>
          <p:cNvPr id="7" name="Shape 4"/>
          <p:cNvSpPr/>
          <p:nvPr/>
        </p:nvSpPr>
        <p:spPr>
          <a:xfrm>
            <a:off x="2103120" y="5623560"/>
            <a:ext cx="1371600" cy="256032"/>
          </a:xfrm>
          <a:prstGeom prst="roundRect">
            <a:avLst>
              <a:gd name="adj" fmla="val 42857"/>
            </a:avLst>
          </a:prstGeom>
          <a:solidFill>
            <a:srgbClr val="C9992B"/>
          </a:solidFill>
          <a:ln w="12700">
            <a:solidFill>
              <a:srgbClr val="C9992B"/>
            </a:solidFill>
            <a:prstDash val="solid"/>
          </a:ln>
        </p:spPr>
      </p:sp>
      <p:sp>
        <p:nvSpPr>
          <p:cNvPr id="8" name="Text 5"/>
          <p:cNvSpPr txBox="1"/>
          <p:nvPr/>
        </p:nvSpPr>
        <p:spPr>
          <a:xfrm>
            <a:off x="2103120" y="5623560"/>
            <a:ext cx="137160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Supuesto</a:t>
            </a:r>
            <a:endParaRPr lang="en-US" sz="900" dirty="0"/>
          </a:p>
        </p:txBody>
      </p:sp>
      <p:sp>
        <p:nvSpPr>
          <p:cNvPr id="9" name="Text 6"/>
          <p:cNvSpPr txBox="1"/>
          <p:nvPr/>
        </p:nvSpPr>
        <p:spPr>
          <a:xfrm>
            <a:off x="3931920" y="5623560"/>
            <a:ext cx="7772400" cy="274320"/>
          </a:xfrm>
          <a:prstGeom prst="rect">
            <a:avLst/>
          </a:prstGeom>
          <a:noFill/>
          <a:ln/>
        </p:spPr>
        <p:txBody>
          <a:bodyPr wrap="square" lIns="0" tIns="0" rIns="0" bIns="0" rtlCol="0" anchor="ctr"/>
          <a:lstStyle/>
          <a:p>
            <a:pPr indent="0" marL="0">
              <a:buNone/>
            </a:pPr>
            <a:r>
              <a:rPr lang="en-US" sz="1000" dirty="0">
                <a:solidFill>
                  <a:srgbClr val="6E7F88"/>
                </a:solidFill>
                <a:latin typeface="Calibri" pitchFamily="34" charset="0"/>
                <a:ea typeface="Calibri" pitchFamily="34" charset="-122"/>
                <a:cs typeface="Calibri" pitchFamily="34" charset="-120"/>
              </a:rPr>
              <a:t>El coste de fondos es el Euríbor 3m, igual para los seis. El negocio de depósito se modela aparte.</a:t>
            </a:r>
            <a:endParaRPr lang="en-US" sz="1000" dirty="0"/>
          </a:p>
        </p:txBody>
      </p:sp>
      <p:sp>
        <p:nvSpPr>
          <p:cNvPr id="10" name="Text 7"/>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Precio: BCE MIR. Comisiones: cuña española de 87 pb aplicada a los seis (supuesto). Riesgo: NPL PYME del EBA × factor flujo/stock 0,06. Gastos: eficiencia EBA sobre margen. Capital: densidad RWA 57 % sobre CET1 observado. Impuesto 25 %.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ROE modelizado del préstamo PYME</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Con la cuña de comisiones española aplicada a los seis países · 2026</a:t>
            </a:r>
            <a:endParaRPr lang="en-US" sz="1300" dirty="0"/>
          </a:p>
        </p:txBody>
      </p:sp>
      <p:graphicFrame>
        <p:nvGraphicFramePr>
          <p:cNvPr id="4" name="Chart 0" descr=""/>
          <p:cNvGraphicFramePr/>
          <p:nvPr/>
        </p:nvGraphicFramePr>
        <p:xfrm>
          <a:off x="548640"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645920"/>
            <a:ext cx="4050792" cy="3749040"/>
          </a:xfrm>
          <a:prstGeom prst="roundRect">
            <a:avLst>
              <a:gd name="adj" fmla="val 1463"/>
            </a:avLst>
          </a:prstGeom>
          <a:solidFill>
            <a:srgbClr val="EEF2F3"/>
          </a:solidFill>
          <a:ln w="12700">
            <a:solidFill>
              <a:srgbClr val="DCE4E7"/>
            </a:solidFill>
            <a:prstDash val="solid"/>
          </a:ln>
        </p:spPr>
      </p:sp>
      <p:sp>
        <p:nvSpPr>
          <p:cNvPr id="6" name="Text 3"/>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1C3F4E"/>
                </a:solidFill>
                <a:latin typeface="Cambria" pitchFamily="34" charset="0"/>
                <a:ea typeface="Cambria" pitchFamily="34" charset="-122"/>
                <a:cs typeface="Cambria" pitchFamily="34" charset="-120"/>
              </a:rPr>
              <a:t>Cómo leerlo</a:t>
            </a:r>
            <a:endParaRPr lang="en-US" sz="1500" dirty="0"/>
          </a:p>
        </p:txBody>
      </p:sp>
      <p:sp>
        <p:nvSpPr>
          <p:cNvPr id="7" name="Text 4"/>
          <p:cNvSpPr txBox="1"/>
          <p:nvPr/>
        </p:nvSpPr>
        <p:spPr>
          <a:xfrm>
            <a:off x="7772400" y="2194560"/>
            <a:ext cx="3703320" cy="3017520"/>
          </a:xfrm>
          <a:prstGeom prst="rect">
            <a:avLst/>
          </a:prstGeom>
          <a:noFill/>
          <a:ln/>
        </p:spPr>
        <p:txBody>
          <a:bodyPr wrap="square" lIns="0" tIns="0" rIns="0" bIns="0" rtlCol="0" anchor="ctr"/>
          <a:lstStyle/>
          <a:p>
            <a:pPr indent="0" marL="0">
              <a:buNone/>
            </a:pPr>
            <a:r>
              <a:rPr lang="en-US" sz="1150" b="1" dirty="0">
                <a:solidFill>
                  <a:srgbClr val="2B3A42"/>
                </a:solidFill>
                <a:latin typeface="Calibri" pitchFamily="34" charset="0"/>
                <a:ea typeface="Calibri" pitchFamily="34" charset="-122"/>
                <a:cs typeface="Calibri" pitchFamily="34" charset="-120"/>
              </a:rPr>
              <a:t>Italia, Portugal y Países Bajos encabezan</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por combinaciones distintas: Italia por precio, Portugal por eficiencia y bajo riesgo, Países Bajos por el menor NPL de PYME de los seis.
</a:t>
            </a:r>
            <a:endParaRPr lang="en-US" sz="1150" dirty="0"/>
          </a:p>
          <a:p>
            <a:pPr indent="0" marL="0">
              <a:buNone/>
            </a:pPr>
            <a:r>
              <a:rPr lang="en-US" sz="1150" b="1" dirty="0">
                <a:solidFill>
                  <a:srgbClr val="2B3A42"/>
                </a:solidFill>
                <a:latin typeface="Calibri" pitchFamily="34" charset="0"/>
                <a:ea typeface="Calibri" pitchFamily="34" charset="-122"/>
                <a:cs typeface="Calibri" pitchFamily="34" charset="-120"/>
              </a:rPr>
              <a:t>Francia queda último</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por el precio más bajo de los seis combinado con la peor eficiencia (65,6 %).
</a:t>
            </a:r>
            <a:endParaRPr lang="en-US" sz="1150" dirty="0"/>
          </a:p>
          <a:p>
            <a:pPr indent="0" marL="0">
              <a:buNone/>
            </a:pPr>
            <a:r>
              <a:rPr lang="en-US" sz="1150" b="1" dirty="0">
                <a:solidFill>
                  <a:srgbClr val="2B3A42"/>
                </a:solidFill>
                <a:latin typeface="Calibri" pitchFamily="34" charset="0"/>
                <a:ea typeface="Calibri" pitchFamily="34" charset="-122"/>
                <a:cs typeface="Calibri" pitchFamily="34" charset="-120"/>
              </a:rPr>
              <a:t>España está en la media</a:t>
            </a: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pese al spread más estrecho, gracias a la mejor eficiencia después de Portugal.</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ROE modelizado, no observado. Depende del supuesto de comisiones: ver lámina siguiente de sensibilidad. Tipo impositivo 25 % uniforme.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Sensibilidad al supuesto de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Cuánto depende el ROE de la cuña que se asuma · Solo la columna de 87 pb está observada, y solo para España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914400"/>
        </p:xfrm>
        <a:graphic>
          <a:graphicData uri="http://schemas.openxmlformats.org/drawingml/2006/table">
            <a:tbl>
              <a:tblPr/>
              <a:tblGrid>
                <a:gridCol w="2468880"/>
                <a:gridCol w="1440180"/>
                <a:gridCol w="1440180"/>
                <a:gridCol w="1440180"/>
                <a:gridCol w="1440180"/>
                <a:gridCol w="1440180"/>
                <a:gridCol w="144018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País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25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87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C97B3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100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150 pb</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8.3 %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9.0 %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8.6 %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9.0 %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4.3 %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10.5 %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10.5 %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11.2 %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420624">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7.9 %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b="1" dirty="0">
                          <a:solidFill>
                            <a:srgbClr val="8A5A2B"/>
                          </a:solidFill>
                          <a:latin typeface="Calibri" pitchFamily="34" charset="0"/>
                          <a:ea typeface="Calibri" pitchFamily="34" charset="-122"/>
                          <a:cs typeface="Calibri" pitchFamily="34" charset="-120"/>
                        </a:rPr>
                        <a:t>10.2 %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7EDE4"/>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Shape 2"/>
          <p:cNvSpPr/>
          <p:nvPr/>
        </p:nvSpPr>
        <p:spPr>
          <a:xfrm>
            <a:off x="548640" y="4572000"/>
            <a:ext cx="11091672" cy="1417320"/>
          </a:xfrm>
          <a:prstGeom prst="roundRect">
            <a:avLst>
              <a:gd name="adj" fmla="val 3871"/>
            </a:avLst>
          </a:prstGeom>
          <a:solidFill>
            <a:srgbClr val="F7EDE4"/>
          </a:solidFill>
          <a:ln w="12700">
            <a:solidFill>
              <a:srgbClr val="C97B3C"/>
            </a:solidFill>
            <a:prstDash val="solid"/>
          </a:ln>
        </p:spPr>
      </p:sp>
      <p:sp>
        <p:nvSpPr>
          <p:cNvPr id="6" name="Text 3"/>
          <p:cNvSpPr txBox="1"/>
          <p:nvPr/>
        </p:nvSpPr>
        <p:spPr>
          <a:xfrm>
            <a:off x="777240" y="4709160"/>
            <a:ext cx="10789920" cy="292608"/>
          </a:xfrm>
          <a:prstGeom prst="rect">
            <a:avLst/>
          </a:prstGeom>
          <a:noFill/>
          <a:ln/>
        </p:spPr>
        <p:txBody>
          <a:bodyPr wrap="square" lIns="0" tIns="0" rIns="0" bIns="0" rtlCol="0" anchor="ctr"/>
          <a:lstStyle/>
          <a:p>
            <a:pPr indent="0" marL="0">
              <a:buNone/>
            </a:pPr>
            <a:r>
              <a:rPr lang="en-US" sz="1400" b="1" dirty="0">
                <a:solidFill>
                  <a:srgbClr val="C97B3C"/>
                </a:solidFill>
                <a:latin typeface="Cambria" pitchFamily="34" charset="0"/>
                <a:ea typeface="Cambria" pitchFamily="34" charset="-122"/>
                <a:cs typeface="Cambria" pitchFamily="34" charset="-120"/>
              </a:rPr>
              <a:t>Lo que el supuesto cambia y lo que no</a:t>
            </a:r>
            <a:endParaRPr lang="en-US" sz="1400" dirty="0"/>
          </a:p>
        </p:txBody>
      </p:sp>
      <p:sp>
        <p:nvSpPr>
          <p:cNvPr id="7" name="Text 4"/>
          <p:cNvSpPr txBox="1"/>
          <p:nvPr/>
        </p:nvSpPr>
        <p:spPr>
          <a:xfrm>
            <a:off x="777240" y="5029200"/>
            <a:ext cx="10789920" cy="8229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87 pb es la cuña observada en España (TAE − TEDR, tramo ≤1 M€, media 2026, Banco de España). Para los otros cinco países no existe dato equivalente.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 los recursos: la liquidez de empresas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Lo que el banco paga por el depósito frente a lo que obtiene en la facilidad del BCE (2,09 %) · Media 2026</a:t>
            </a:r>
            <a:endParaRPr lang="en-US" sz="1300" dirty="0"/>
          </a:p>
        </p:txBody>
      </p:sp>
      <p:graphicFrame>
        <p:nvGraphicFramePr>
          <p:cNvPr id="4" name="Chart 0" descr=""/>
          <p:cNvGraphicFramePr/>
          <p:nvPr/>
        </p:nvGraphicFramePr>
        <p:xfrm>
          <a:off x="548640" y="1691640"/>
          <a:ext cx="685800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691640"/>
            <a:ext cx="3959352" cy="3566160"/>
          </a:xfrm>
          <a:prstGeom prst="roundRect">
            <a:avLst>
              <a:gd name="adj" fmla="val 1538"/>
            </a:avLst>
          </a:prstGeom>
          <a:solidFill>
            <a:srgbClr val="EEF2F3"/>
          </a:solidFill>
          <a:ln w="12700">
            <a:solidFill>
              <a:srgbClr val="DCE4E7"/>
            </a:solidFill>
            <a:prstDash val="solid"/>
          </a:ln>
        </p:spPr>
      </p:sp>
      <p:sp>
        <p:nvSpPr>
          <p:cNvPr id="6" name="Text 3"/>
          <p:cNvSpPr txBox="1"/>
          <p:nvPr/>
        </p:nvSpPr>
        <p:spPr>
          <a:xfrm>
            <a:off x="7863840" y="1828800"/>
            <a:ext cx="3611880" cy="548640"/>
          </a:xfrm>
          <a:prstGeom prst="rect">
            <a:avLst/>
          </a:prstGeom>
          <a:noFill/>
          <a:ln/>
        </p:spPr>
        <p:txBody>
          <a:bodyPr wrap="square" lIns="0" tIns="0" rIns="0" bIns="0" rtlCol="0" anchor="ctr"/>
          <a:lstStyle/>
          <a:p>
            <a:pPr indent="0" marL="0">
              <a:buNone/>
            </a:pPr>
            <a:r>
              <a:rPr lang="en-US" sz="1400" b="1" dirty="0">
                <a:solidFill>
                  <a:srgbClr val="1C3F4E"/>
                </a:solidFill>
                <a:latin typeface="Cambria" pitchFamily="34" charset="0"/>
                <a:ea typeface="Cambria" pitchFamily="34" charset="-122"/>
                <a:cs typeface="Cambria" pitchFamily="34" charset="-120"/>
              </a:rPr>
              <a:t>Portugal capta la liquidez más barata</a:t>
            </a:r>
            <a:endParaRPr lang="en-US" sz="1400" dirty="0"/>
          </a:p>
        </p:txBody>
      </p:sp>
      <p:sp>
        <p:nvSpPr>
          <p:cNvPr id="7" name="Text 4"/>
          <p:cNvSpPr txBox="1"/>
          <p:nvPr/>
        </p:nvSpPr>
        <p:spPr>
          <a:xfrm>
            <a:off x="7863840" y="2423160"/>
            <a:ext cx="3611880" cy="2651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Paga un 0,07 % por el depósito a la vista de empresas y puede colocarlo al 2,09 % en el BCE: 202 pb de margen sin riesgo ni consumo de capital.</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Países Bajos es el extremo opuesto, con 124 pb, porque paga un 0,85 %.</a:t>
            </a:r>
            <a:endParaRPr lang="en-US" sz="1150" dirty="0"/>
          </a:p>
          <a:p>
            <a:pPr indent="0" marL="0">
              <a:buNone/>
            </a:pPr>
            <a:endParaRPr lang="en-US" sz="1150" dirty="0"/>
          </a:p>
          <a:p>
            <a:pPr indent="0" marL="0">
              <a:buNone/>
            </a:pPr>
            <a:r>
              <a:rPr lang="en-US" sz="1150" dirty="0">
                <a:solidFill>
                  <a:srgbClr val="2B3A42"/>
                </a:solidFill>
                <a:latin typeface="Calibri" pitchFamily="34" charset="0"/>
                <a:ea typeface="Calibri" pitchFamily="34" charset="-122"/>
                <a:cs typeface="Calibri" pitchFamily="34" charset="-120"/>
              </a:rPr>
              <a:t>Este margen no depende del crédito y por eso se modela aparte de la cuenta del préstamo.</a:t>
            </a:r>
            <a:endParaRPr lang="en-US" sz="115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datasets MIR (tipos de depósito de sociedades no financieras) y FM (facilidad de depósito). El margen mostrado es sobre depósito a la vista; el depósito a plazo se remunera entre el 1,77 % y el 2,58 % según país.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Coste del riesgo por segmento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La PYME es el peor segmento en los seis países · Ratio de NPL · 2026-Q1 · Muestra de bancos del EBA</a:t>
            </a:r>
            <a:endParaRPr lang="en-US" sz="1300" dirty="0"/>
          </a:p>
        </p:txBody>
      </p:sp>
      <p:graphicFrame>
        <p:nvGraphicFramePr>
          <p:cNvPr id="4" name="Chart 0" descr=""/>
          <p:cNvGraphicFramePr/>
          <p:nvPr/>
        </p:nvGraphicFramePr>
        <p:xfrm>
          <a:off x="548640"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092440" y="1645920"/>
            <a:ext cx="3547872" cy="3749040"/>
          </a:xfrm>
          <a:prstGeom prst="roundRect">
            <a:avLst>
              <a:gd name="adj" fmla="val 1546"/>
            </a:avLst>
          </a:prstGeom>
          <a:solidFill>
            <a:srgbClr val="FBEDEB"/>
          </a:solidFill>
          <a:ln w="12700">
            <a:solidFill>
              <a:srgbClr val="B04A3F"/>
            </a:solidFill>
            <a:prstDash val="solid"/>
          </a:ln>
        </p:spPr>
      </p:sp>
      <p:sp>
        <p:nvSpPr>
          <p:cNvPr id="6" name="Text 3"/>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Prima de riesgo PYME</a:t>
            </a:r>
            <a:endParaRPr lang="en-US" sz="1400" dirty="0"/>
          </a:p>
        </p:txBody>
      </p:sp>
      <p:sp>
        <p:nvSpPr>
          <p:cNvPr id="7" name="Text 4"/>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+2,39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Italia  +1,50</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Francia  +1,19</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Portugal  +0,58</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Alemania  +0,51</a:t>
            </a: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P. Bajos  +0,27</a:t>
            </a:r>
            <a:endParaRPr lang="en-US" sz="1100" dirty="0"/>
          </a:p>
          <a:p>
            <a:pPr indent="0" marL="0">
              <a:buNone/>
            </a:pPr>
            <a:endParaRPr lang="en-US" sz="1100" dirty="0"/>
          </a:p>
          <a:p>
            <a:pPr indent="0" marL="0">
              <a:buNone/>
            </a:pPr>
            <a:r>
              <a:rPr lang="en-US" sz="1100" dirty="0">
                <a:solidFill>
                  <a:srgbClr val="2B3A42"/>
                </a:solidFill>
                <a:latin typeface="Calibri" pitchFamily="34" charset="0"/>
                <a:ea typeface="Calibri" pitchFamily="34" charset="-122"/>
                <a:cs typeface="Calibri" pitchFamily="34" charset="-120"/>
              </a:rPr>
              <a:t>España tiene el peor NPL de PYME de los seis (5,38 %) y a la vez el spread de precio más estrecho.</a:t>
            </a:r>
            <a:endParaRPr lang="en-US" sz="1100" dirty="0"/>
          </a:p>
        </p:txBody>
      </p:sp>
      <p:sp>
        <p:nvSpPr>
          <p:cNvPr id="8" name="Text 5"/>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desgloses «of which SMEs» y «of which CRE». Es la muestra de bancos del EBA, no el sistema completo.</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Eficiencia, capital y peso de las comisiones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Indicadores del sistema bancario · 2026-Q1 · Nivel de grupo consolidado, no de segmento PYME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91672" cy="914400"/>
        </p:xfrm>
        <a:graphic>
          <a:graphicData uri="http://schemas.openxmlformats.org/drawingml/2006/table">
            <a:tbl>
              <a:tblPr/>
              <a:tblGrid>
                <a:gridCol w="2743200"/>
                <a:gridCol w="1540764"/>
                <a:gridCol w="1540764"/>
                <a:gridCol w="1540764"/>
                <a:gridCol w="1540764"/>
                <a:gridCol w="1540764"/>
                <a:gridCol w="1540764"/>
              </a:tblGrid>
              <a:tr h="43891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Indicador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España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Alemania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Francia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Italia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 Bajos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de NPL</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1.91 %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Coste del riesgo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1.22 %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0.75 %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0.55 %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0.36 %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0.21 %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Eficiencia (cost-income)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42.1 %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55.1 %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46.8 %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34.8 %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53.5 %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ROE del sistema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18.5 %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8.0 %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6.3 %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14.9 %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10.1 %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Ratio CET1</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15.6 %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17.8 %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16.4 %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38912">
                <a:tc>
                  <a:txBody>
                    <a:bodyPr/>
                    <a:lstStyle/>
                    <a:p>
                      <a:pPr algn="l" indent="0" marL="0">
                        <a:buNone/>
                      </a:pPr>
                      <a:r>
                        <a:rPr lang="en-US" sz="1100" b="1" dirty="0">
                          <a:solidFill>
                            <a:srgbClr val="2B3A42"/>
                          </a:solidFill>
                          <a:latin typeface="Calibri" pitchFamily="34" charset="0"/>
                          <a:ea typeface="Calibri" pitchFamily="34" charset="-122"/>
                          <a:cs typeface="Calibri" pitchFamily="34" charset="-120"/>
                        </a:rPr>
                        <a:t>Comisiones / ingresos</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23.9 %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32.0 %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33.7 %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33.8 %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21.8 %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ctr" indent="0" marL="0">
                        <a:buNone/>
                      </a:pPr>
                      <a:r>
                        <a:rPr lang="en-US" sz="1100" dirty="0">
                          <a:solidFill>
                            <a:srgbClr val="2B3A42"/>
                          </a:solidFill>
                          <a:latin typeface="Calibri" pitchFamily="34" charset="0"/>
                          <a:ea typeface="Calibri" pitchFamily="34" charset="-122"/>
                          <a:cs typeface="Calibri" pitchFamily="34" charset="-120"/>
                        </a:rPr>
                        <a:t>20.4 %</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bl>
          </a:graphicData>
        </a:graphic>
      </p:graphicFrame>
      <p:sp>
        <p:nvSpPr>
          <p:cNvPr id="5" name="Shape 2"/>
          <p:cNvSpPr/>
          <p:nvPr/>
        </p:nvSpPr>
        <p:spPr>
          <a:xfrm>
            <a:off x="548640" y="4663440"/>
            <a:ext cx="5486400" cy="1371600"/>
          </a:xfrm>
          <a:prstGeom prst="roundRect">
            <a:avLst>
              <a:gd name="adj" fmla="val 4000"/>
            </a:avLst>
          </a:prstGeom>
          <a:solidFill>
            <a:srgbClr val="EEF2F3"/>
          </a:solidFill>
          <a:ln w="12700">
            <a:solidFill>
              <a:srgbClr val="DCE4E7"/>
            </a:solidFill>
            <a:prstDash val="solid"/>
          </a:ln>
        </p:spPr>
      </p:sp>
      <p:sp>
        <p:nvSpPr>
          <p:cNvPr id="6" name="Text 3"/>
          <p:cNvSpPr txBox="1"/>
          <p:nvPr/>
        </p:nvSpPr>
        <p:spPr>
          <a:xfrm>
            <a:off x="749808" y="4800600"/>
            <a:ext cx="507492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Por qué España rinde pese al spread estrecho</a:t>
            </a:r>
            <a:endParaRPr lang="en-US" sz="1300" dirty="0"/>
          </a:p>
        </p:txBody>
      </p:sp>
      <p:sp>
        <p:nvSpPr>
          <p:cNvPr id="7" name="Text 4"/>
          <p:cNvSpPr txBox="1"/>
          <p:nvPr/>
        </p:nvSpPr>
        <p:spPr>
          <a:xfrm>
            <a:off x="749808" y="5138928"/>
            <a:ext cx="507492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Segunda mejor eficiencia (42,1 %) y el mayor ROE de sistema (18,5 %). Compensa por volumen y coste operativo, no por precio.</a:t>
            </a:r>
            <a:endParaRPr lang="en-US" sz="1150" dirty="0"/>
          </a:p>
        </p:txBody>
      </p:sp>
      <p:sp>
        <p:nvSpPr>
          <p:cNvPr id="8" name="Shape 5"/>
          <p:cNvSpPr/>
          <p:nvPr/>
        </p:nvSpPr>
        <p:spPr>
          <a:xfrm>
            <a:off x="6263640" y="4663440"/>
            <a:ext cx="5376672" cy="1371600"/>
          </a:xfrm>
          <a:prstGeom prst="roundRect">
            <a:avLst>
              <a:gd name="adj" fmla="val 4000"/>
            </a:avLst>
          </a:prstGeom>
          <a:solidFill>
            <a:srgbClr val="FBF2EA"/>
          </a:solidFill>
          <a:ln w="12700">
            <a:solidFill>
              <a:srgbClr val="C9992B"/>
            </a:solidFill>
            <a:prstDash val="solid"/>
          </a:ln>
        </p:spPr>
      </p:sp>
      <p:sp>
        <p:nvSpPr>
          <p:cNvPr id="9" name="Text 6"/>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8A5A2B"/>
                </a:solidFill>
                <a:latin typeface="Cambria" pitchFamily="34" charset="0"/>
                <a:ea typeface="Cambria" pitchFamily="34" charset="-122"/>
                <a:cs typeface="Cambria" pitchFamily="34" charset="-120"/>
              </a:rPr>
              <a:t>Advertencia sobre estas cifras</a:t>
            </a:r>
            <a:endParaRPr lang="en-US" sz="1300" dirty="0"/>
          </a:p>
        </p:txBody>
      </p:sp>
      <p:sp>
        <p:nvSpPr>
          <p:cNvPr id="10" name="Text 7"/>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anexo de datos Q1 2026, indicadores AQT_3.2, PFT_43, PFT_23, PFT_21, SVC_3 y PFT_26.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Circulante: líneas de crédito y descubiertos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Tipo de nueva producción a empresas · Media 2026 · Serie A2Z1, que excluye deuda de tarjeta</a:t>
            </a:r>
            <a:endParaRPr lang="en-US" sz="1300" dirty="0"/>
          </a:p>
        </p:txBody>
      </p:sp>
      <p:graphicFrame>
        <p:nvGraphicFramePr>
          <p:cNvPr id="4" name="Chart 0" descr=""/>
          <p:cNvGraphicFramePr/>
          <p:nvPr/>
        </p:nvGraphicFramePr>
        <p:xfrm>
          <a:off x="548640"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498080" y="1691640"/>
            <a:ext cx="4142232" cy="1737360"/>
          </a:xfrm>
          <a:prstGeom prst="roundRect">
            <a:avLst>
              <a:gd name="adj" fmla="val 3158"/>
            </a:avLst>
          </a:prstGeom>
          <a:solidFill>
            <a:srgbClr val="FBEDEB"/>
          </a:solidFill>
          <a:ln w="12700">
            <a:solidFill>
              <a:srgbClr val="B04A3F"/>
            </a:solidFill>
            <a:prstDash val="solid"/>
          </a:ln>
        </p:spPr>
      </p:sp>
      <p:sp>
        <p:nvSpPr>
          <p:cNvPr id="6" name="Text 3"/>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Hueco: no hay volumen por país</a:t>
            </a:r>
            <a:endParaRPr lang="en-US" sz="1300" dirty="0"/>
          </a:p>
        </p:txBody>
      </p:sp>
      <p:sp>
        <p:nvSpPr>
          <p:cNvPr id="7" name="Text 4"/>
          <p:cNvSpPr txBox="1"/>
          <p:nvPr/>
        </p:nvSpPr>
        <p:spPr>
          <a:xfrm>
            <a:off x="7699248" y="219456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BCE publica el tipo de circulante por país, pero el volumen de nueva producción solo existe para el agregado de zona euro. No se puede calcular el peso del circulante en la cartera de cada país con fuentes oficiales.</a:t>
            </a:r>
            <a:endParaRPr lang="en-US" sz="1100" dirty="0"/>
          </a:p>
        </p:txBody>
      </p:sp>
      <p:sp>
        <p:nvSpPr>
          <p:cNvPr id="8" name="Shape 5"/>
          <p:cNvSpPr/>
          <p:nvPr/>
        </p:nvSpPr>
        <p:spPr>
          <a:xfrm>
            <a:off x="7498080" y="3611880"/>
            <a:ext cx="4142232" cy="1737360"/>
          </a:xfrm>
          <a:prstGeom prst="roundRect">
            <a:avLst>
              <a:gd name="adj" fmla="val 3158"/>
            </a:avLst>
          </a:prstGeom>
          <a:solidFill>
            <a:srgbClr val="EEF2F3"/>
          </a:solidFill>
          <a:ln w="12700">
            <a:solidFill>
              <a:srgbClr val="DCE4E7"/>
            </a:solidFill>
            <a:prstDash val="solid"/>
          </a:ln>
        </p:spPr>
      </p:sp>
      <p:sp>
        <p:nvSpPr>
          <p:cNvPr id="9" name="Text 6"/>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Dos perímetros distintos</a:t>
            </a:r>
            <a:endParaRPr lang="en-US" sz="1300" dirty="0"/>
          </a:p>
        </p:txBody>
      </p:sp>
      <p:sp>
        <p:nvSpPr>
          <p:cNvPr id="10" name="Text 7"/>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1" name="Text 8"/>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BCE, dataset MIR, serie A2Z1 (revolving y descubiertos a sociedades no financieras). El dato de julio de 2026 es provisional en España, Alemania, Francia, Italia y zona euro.</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Hipoteca PYME: no existe como estadística oficial europea</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El bloque se cubre con exposición a inmueble comercial, que es el proxy disponible</a:t>
            </a:r>
            <a:endParaRPr lang="en-US" sz="1300" dirty="0"/>
          </a:p>
        </p:txBody>
      </p:sp>
      <p:sp>
        <p:nvSpPr>
          <p:cNvPr id="4" name="Shape 2"/>
          <p:cNvSpPr/>
          <p:nvPr/>
        </p:nvSpPr>
        <p:spPr>
          <a:xfrm>
            <a:off x="548640" y="1645920"/>
            <a:ext cx="11091672" cy="1143000"/>
          </a:xfrm>
          <a:prstGeom prst="roundRect">
            <a:avLst>
              <a:gd name="adj" fmla="val 4800"/>
            </a:avLst>
          </a:prstGeom>
          <a:solidFill>
            <a:srgbClr val="FBEDEB"/>
          </a:solidFill>
          <a:ln w="12700">
            <a:solidFill>
              <a:srgbClr val="B04A3F"/>
            </a:solidFill>
            <a:prstDash val="solid"/>
          </a:ln>
        </p:spPr>
      </p:sp>
      <p:sp>
        <p:nvSpPr>
          <p:cNvPr id="5" name="Text 3"/>
          <p:cNvSpPr txBox="1"/>
          <p:nvPr/>
        </p:nvSpPr>
        <p:spPr>
          <a:xfrm>
            <a:off x="777240" y="1764792"/>
            <a:ext cx="10789920" cy="274320"/>
          </a:xfrm>
          <a:prstGeom prst="rect">
            <a:avLst/>
          </a:prstGeom>
          <a:noFill/>
          <a:ln/>
        </p:spPr>
        <p:txBody>
          <a:bodyPr wrap="square" lIns="0" tIns="0" rIns="0" bIns="0" rtlCol="0" anchor="ctr"/>
          <a:lstStyle/>
          <a:p>
            <a:pPr indent="0" marL="0">
              <a:buNone/>
            </a:pPr>
            <a:r>
              <a:rPr lang="en-US" sz="1400" b="1" dirty="0">
                <a:solidFill>
                  <a:srgbClr val="B04A3F"/>
                </a:solidFill>
                <a:latin typeface="Cambria" pitchFamily="34" charset="0"/>
                <a:ea typeface="Cambria" pitchFamily="34" charset="-122"/>
                <a:cs typeface="Cambria" pitchFamily="34" charset="-120"/>
              </a:rPr>
              <a:t>Qué falta y por qué</a:t>
            </a:r>
            <a:endParaRPr lang="en-US" sz="1400" dirty="0"/>
          </a:p>
        </p:txBody>
      </p:sp>
      <p:sp>
        <p:nvSpPr>
          <p:cNvPr id="6" name="Text 4"/>
          <p:cNvSpPr txBox="1"/>
          <p:nvPr/>
        </p:nvSpPr>
        <p:spPr>
          <a:xfrm>
            <a:off x="777240" y="2084832"/>
            <a:ext cx="10789920" cy="640080"/>
          </a:xfrm>
          <a:prstGeom prst="rect">
            <a:avLst/>
          </a:prstGeom>
          <a:noFill/>
          <a:ln/>
        </p:spPr>
        <p:txBody>
          <a:bodyPr wrap="square" lIns="0" tIns="0" rIns="0" bIns="0" rtlCol="0" anchor="ctr"/>
          <a:lstStyle/>
          <a:p>
            <a:pPr indent="0" marL="0">
              <a:buNone/>
            </a:pPr>
            <a:r>
              <a:rPr lang="en-US" sz="1200" dirty="0">
                <a:solidFill>
                  <a:srgbClr val="2B3A42"/>
                </a:solidFill>
                <a:latin typeface="Calibri" pitchFamily="34" charset="0"/>
                <a:ea typeface="Calibri" pitchFamily="34" charset="-122"/>
                <a:cs typeface="Calibri" pitchFamily="34" charset="-120"/>
              </a:rPr>
              <a:t>El dataset MIR del BCE publica préstamos para adquisición de vivienda solo del sector hogares. No hay desglose de préstamo con garantía inmobiliaria a empresas en ninguno de los seis países. El crédito con garantía real a PYME queda subsumido en la serie genérica por tramo de importe, y su precio no es observable por separado.</a:t>
            </a:r>
            <a:endParaRPr lang="en-US" sz="1200" dirty="0"/>
          </a:p>
        </p:txBody>
      </p:sp>
      <p:sp>
        <p:nvSpPr>
          <p:cNvPr id="7" name="Text 5"/>
          <p:cNvSpPr txBox="1"/>
          <p:nvPr/>
        </p:nvSpPr>
        <p:spPr>
          <a:xfrm>
            <a:off x="548640" y="3017520"/>
            <a:ext cx="10789920" cy="320040"/>
          </a:xfrm>
          <a:prstGeom prst="rect">
            <a:avLst/>
          </a:prstGeom>
          <a:noFill/>
          <a:ln/>
        </p:spPr>
        <p:txBody>
          <a:bodyPr wrap="square" lIns="0" tIns="0" rIns="0" bIns="0" rtlCol="0" anchor="ctr"/>
          <a:lstStyle/>
          <a:p>
            <a:pPr indent="0" marL="0">
              <a:buNone/>
            </a:pPr>
            <a:r>
              <a:rPr lang="en-US" sz="1600" b="1" dirty="0">
                <a:solidFill>
                  <a:srgbClr val="1C3F4E"/>
                </a:solidFill>
                <a:latin typeface="Cambria" pitchFamily="34" charset="0"/>
                <a:ea typeface="Cambria" pitchFamily="34" charset="-122"/>
                <a:cs typeface="Cambria" pitchFamily="34" charset="-120"/>
              </a:rPr>
              <a:t>Proxy disponible: calidad de la cartera de inmueble comercial</a:t>
            </a:r>
            <a:endParaRPr lang="en-US" sz="1600" dirty="0"/>
          </a:p>
        </p:txBody>
      </p:sp>
      <p:graphicFrame>
        <p:nvGraphicFramePr>
          <p:cNvPr id="8" name="Chart 0" descr=""/>
          <p:cNvGraphicFramePr/>
          <p:nvPr/>
        </p:nvGraphicFramePr>
        <p:xfrm>
          <a:off x="548640" y="3474720"/>
          <a:ext cx="10789920" cy="2194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 EBA Risk Dashboard Q1 2026, desglose «of which CRE». Alemania destaca con el peor NPL de inmueble comercial de los seis (6,81 %), muy por encima de su NPL total (1,61 %).</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Factoring y confirming: volumen sí, precio no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Volumen cedido 2025 y penetración sobre PIB · El precio no es obtenible con fuentes públicas</a:t>
            </a:r>
            <a:endParaRPr lang="en-US" sz="1300" dirty="0"/>
          </a:p>
        </p:txBody>
      </p:sp>
      <p:graphicFrame>
        <p:nvGraphicFramePr>
          <p:cNvPr id="4" name="Chart 0" descr=""/>
          <p:cNvGraphicFramePr/>
          <p:nvPr/>
        </p:nvGraphicFramePr>
        <p:xfrm>
          <a:off x="548640" y="1691640"/>
          <a:ext cx="6309360" cy="32918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132320" y="1691640"/>
            <a:ext cx="4507992" cy="1783080"/>
          </a:xfrm>
          <a:prstGeom prst="roundRect">
            <a:avLst>
              <a:gd name="adj" fmla="val 3077"/>
            </a:avLst>
          </a:prstGeom>
          <a:solidFill>
            <a:srgbClr val="FBEDEB"/>
          </a:solidFill>
          <a:ln w="12700">
            <a:solidFill>
              <a:srgbClr val="B04A3F"/>
            </a:solidFill>
            <a:prstDash val="solid"/>
          </a:ln>
        </p:spPr>
      </p:sp>
      <p:sp>
        <p:nvSpPr>
          <p:cNvPr id="6" name="Text 3"/>
          <p:cNvSpPr txBox="1"/>
          <p:nvPr/>
        </p:nvSpPr>
        <p:spPr>
          <a:xfrm>
            <a:off x="7333488" y="1810512"/>
            <a:ext cx="4114800" cy="292608"/>
          </a:xfrm>
          <a:prstGeom prst="rect">
            <a:avLst/>
          </a:prstGeom>
          <a:noFill/>
          <a:ln/>
        </p:spPr>
        <p:txBody>
          <a:bodyPr wrap="square" lIns="0" tIns="0" rIns="0" bIns="0" rtlCol="0" anchor="ctr"/>
          <a:lstStyle/>
          <a:p>
            <a:pPr indent="0" marL="0">
              <a:buNone/>
            </a:pPr>
            <a:r>
              <a:rPr lang="en-US" sz="1300" b="1" dirty="0">
                <a:solidFill>
                  <a:srgbClr val="B04A3F"/>
                </a:solidFill>
                <a:latin typeface="Cambria" pitchFamily="34" charset="0"/>
                <a:ea typeface="Cambria" pitchFamily="34" charset="-122"/>
                <a:cs typeface="Cambria" pitchFamily="34" charset="-120"/>
              </a:rPr>
              <a:t>La tabla de la EUF no es comparable</a:t>
            </a:r>
            <a:endParaRPr lang="en-US" sz="1300" dirty="0"/>
          </a:p>
        </p:txBody>
      </p:sp>
      <p:sp>
        <p:nvSpPr>
          <p:cNvPr id="7" name="Text 4"/>
          <p:cNvSpPr txBox="1"/>
          <p:nvPr/>
        </p:nvSpPr>
        <p:spPr>
          <a:xfrm>
            <a:off x="7333488" y="2176272"/>
            <a:ext cx="4114800" cy="118872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El 52,6 % de la cifra española es confirming. En Italia el confirming es el 1,9 %. Comparar los 269.885 M€ de España con los 297.445 M€ de Italia es comparar pago confirmado a proveedores contra cesión de facturas.</a:t>
            </a:r>
            <a:endParaRPr lang="en-US" sz="1100" dirty="0"/>
          </a:p>
        </p:txBody>
      </p:sp>
      <p:sp>
        <p:nvSpPr>
          <p:cNvPr id="8" name="Shape 5"/>
          <p:cNvSpPr/>
          <p:nvPr/>
        </p:nvSpPr>
        <p:spPr>
          <a:xfrm>
            <a:off x="7132320" y="3639312"/>
            <a:ext cx="4507992" cy="1344168"/>
          </a:xfrm>
          <a:prstGeom prst="roundRect">
            <a:avLst>
              <a:gd name="adj" fmla="val 4082"/>
            </a:avLst>
          </a:prstGeom>
          <a:solidFill>
            <a:srgbClr val="EEF2F3"/>
          </a:solidFill>
          <a:ln w="12700">
            <a:solidFill>
              <a:srgbClr val="DCE4E7"/>
            </a:solidFill>
            <a:prstDash val="solid"/>
          </a:ln>
        </p:spPr>
      </p:sp>
      <p:sp>
        <p:nvSpPr>
          <p:cNvPr id="9" name="Text 6"/>
          <p:cNvSpPr txBox="1"/>
          <p:nvPr/>
        </p:nvSpPr>
        <p:spPr>
          <a:xfrm>
            <a:off x="7333488" y="3758184"/>
            <a:ext cx="4114800" cy="274320"/>
          </a:xfrm>
          <a:prstGeom prst="rect">
            <a:avLst/>
          </a:prstGeom>
          <a:noFill/>
          <a:ln/>
        </p:spPr>
        <p:txBody>
          <a:bodyPr wrap="square" lIns="0" tIns="0" rIns="0" bIns="0" rtlCol="0" anchor="ctr"/>
          <a:lstStyle/>
          <a:p>
            <a:pPr indent="0" marL="0">
              <a:buNone/>
            </a:pPr>
            <a:r>
              <a:rPr lang="en-US" sz="1300" b="1" dirty="0">
                <a:solidFill>
                  <a:srgbClr val="1C3F4E"/>
                </a:solidFill>
                <a:latin typeface="Cambria" pitchFamily="34" charset="0"/>
                <a:ea typeface="Cambria" pitchFamily="34" charset="-122"/>
                <a:cs typeface="Cambria" pitchFamily="34" charset="-120"/>
              </a:rPr>
              <a:t>Sin precio en ninguna fuente</a:t>
            </a:r>
            <a:endParaRPr lang="en-US" sz="1300" dirty="0"/>
          </a:p>
        </p:txBody>
      </p:sp>
      <p:sp>
        <p:nvSpPr>
          <p:cNvPr id="10" name="Text 7"/>
          <p:cNvSpPr txBox="1"/>
          <p:nvPr/>
        </p:nvSpPr>
        <p:spPr>
          <a:xfrm>
            <a:off x="7333488" y="4096512"/>
            <a:ext cx="4114800" cy="822960"/>
          </a:xfrm>
          <a:prstGeom prst="rect">
            <a:avLst/>
          </a:prstGeom>
          <a:noFill/>
          <a:ln/>
        </p:spPr>
        <p:txBody>
          <a:bodyPr wrap="square" lIns="0" tIns="0" rIns="0" bIns="0" rtlCol="0" anchor="ctr"/>
          <a:lstStyle/>
          <a:p>
            <a:pPr indent="0" marL="0">
              <a:buNone/>
            </a:pPr>
            <a:r>
              <a:rPr lang="en-US" sz="1100" dirty="0">
                <a:solidFill>
                  <a:srgbClr val="2B3A42"/>
                </a:solidFill>
                <a:latin typeface="Calibri" pitchFamily="34" charset="0"/>
                <a:ea typeface="Calibri" pitchFamily="34" charset="-122"/>
                <a:cs typeface="Calibri" pitchFamily="34" charset="-120"/>
              </a:rPr>
              <a:t>Ni EUF, ni AEF, ni Assifact, ni la OCDE publican comisión de cesión o tipo de descuento. Las cuentas de las filiales especializadas están en registros de pago.</a:t>
            </a:r>
            <a:endParaRPr lang="en-US" sz="1100" dirty="0"/>
          </a:p>
        </p:txBody>
      </p:sp>
      <p:sp>
        <p:nvSpPr>
          <p:cNvPr id="11" name="Text 8"/>
          <p:cNvSpPr txBox="1"/>
          <p:nvPr/>
        </p:nvSpPr>
        <p:spPr>
          <a:xfrm>
            <a:off x="548640" y="51206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Volumen cedido 2025 (M€):  España 270k  ·  Alemania 423k  ·  Francia 439k  ·  Italia 297k  ·  Portugal 52k  ·  P. Bajos 165k</a:t>
            </a:r>
            <a:endParaRPr lang="en-US" sz="1150" dirty="0"/>
          </a:p>
        </p:txBody>
      </p:sp>
      <p:sp>
        <p:nvSpPr>
          <p:cNvPr id="12" name="Text 9"/>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Fuentes: EUF (datos anuales 2025), AEF para el desglose español, Assifact para el italiano. El turnover es importe cedido en el año, no saldo vivo: no comparable con cartera de crédito.</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Supuestos del modelo</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Cada uno declarado, con su origen y su efecto sobre el resultado</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468880"/>
                <a:gridCol w="1600200"/>
                <a:gridCol w="4114800"/>
                <a:gridCol w="2898648"/>
              </a:tblGrid>
              <a:tr h="56692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Supuesto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Valor</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Origen</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Efecto si cambia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Cuña de comisiones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87 pb</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en España (TAE − TEDR, tramo ≤1 M€). Aplicada a los otros cinco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Mueve el ROE entre 3 y 12 puntos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Coste de fondos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Euríbor 3m 2,23 %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Observado. Igual para los seis países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Desplaza todos los ROE en paralelo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Factor flujo/stock del riesgo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0,06</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Calibrado para reproducir los dos costes de riesgo de segmento observados: ABN AMRO 0,15 % y CaixaBank 0,24 %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Altera el orden entre países con NPL dispar</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Densidad de RWA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57 %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Ponderación 75 % de PYME minorista por el factor de apoyo del art. 501 CRR</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b="1" dirty="0">
                          <a:solidFill>
                            <a:srgbClr val="B04A3F"/>
                          </a:solidFill>
                          <a:latin typeface="Calibri" pitchFamily="34" charset="0"/>
                          <a:ea typeface="Calibri" pitchFamily="34" charset="-122"/>
                          <a:cs typeface="Calibri" pitchFamily="34" charset="-120"/>
                        </a:rPr>
                        <a:t>ALTO en nivel, nulo en orden: afecta igual a los seis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Tipo impositivo</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25 %</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Uniforme, no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BAJO. Escala proporcional</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r h="566928">
                <a:tc>
                  <a:txBody>
                    <a:bodyPr/>
                    <a:lstStyle/>
                    <a:p>
                      <a:pPr algn="l" indent="0" marL="0">
                        <a:buNone/>
                      </a:pPr>
                      <a:r>
                        <a:rPr lang="en-US" sz="1000" b="1" dirty="0">
                          <a:solidFill>
                            <a:srgbClr val="2B3A42"/>
                          </a:solidFill>
                          <a:latin typeface="Calibri" pitchFamily="34" charset="0"/>
                          <a:ea typeface="Calibri" pitchFamily="34" charset="-122"/>
                          <a:cs typeface="Calibri" pitchFamily="34" charset="-120"/>
                        </a:rPr>
                        <a:t>Eficiencia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EBA por país</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Observada, pero de grupo consolidado y no de segmento PYME</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c>
                  <a:txBody>
                    <a:bodyPr/>
                    <a:lstStyle/>
                    <a:p>
                      <a:pPr algn="l" indent="0" marL="0">
                        <a:buNone/>
                      </a:pPr>
                      <a:r>
                        <a:rPr lang="en-US" sz="1000" dirty="0">
                          <a:solidFill>
                            <a:srgbClr val="2B3A42"/>
                          </a:solidFill>
                          <a:latin typeface="Calibri" pitchFamily="34" charset="0"/>
                          <a:ea typeface="Calibri" pitchFamily="34" charset="-122"/>
                          <a:cs typeface="Calibri" pitchFamily="34" charset="-120"/>
                        </a:rPr>
                        <a:t>MEDIO. Penaliza a países con banca universal compleja</a:t>
                      </a:r>
                      <a:endParaRPr lang="en-US" sz="10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tcPr>
                </a:tc>
              </a:tr>
            </a:tbl>
          </a:graphicData>
        </a:graphic>
      </p:graphicFrame>
      <p:sp>
        <p:nvSpPr>
          <p:cNvPr id="5" name="Text 2"/>
          <p:cNvSpPr txBox="1"/>
          <p:nvPr/>
        </p:nvSpPr>
        <p:spPr>
          <a:xfrm>
            <a:off x="548640" y="6327648"/>
            <a:ext cx="11091672" cy="274320"/>
          </a:xfrm>
          <a:prstGeom prst="rect">
            <a:avLst/>
          </a:prstGeom>
          <a:noFill/>
          <a:ln/>
        </p:spPr>
        <p:txBody>
          <a:bodyPr wrap="square" lIns="0" tIns="0" rIns="0" bIns="0" rtlCol="0" anchor="ctr"/>
          <a:lstStyle/>
          <a:p>
            <a:pPr indent="0" marL="0">
              <a:buNone/>
            </a:pPr>
            <a:r>
              <a:rPr lang="en-US" sz="900" i="1" dirty="0">
                <a:solidFill>
                  <a:srgbClr val="6E7F88"/>
                </a:solidFill>
                <a:latin typeface="Calibri" pitchFamily="34" charset="0"/>
                <a:ea typeface="Calibri" pitchFamily="34" charset="-122"/>
                <a:cs typeface="Calibri" pitchFamily="34" charset="-120"/>
              </a:rPr>
              <a:t>El modelo completo y reproducible está en scripts/modelo_roe.py del repositorio. Cada fila del CSV de salida declara si el valor es observado o supuesto.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2C36"/>
        </a:solidFill>
      </p:bgPr>
    </p:bg>
    <p:spTree>
      <p:nvGrpSpPr>
        <p:cNvPr id="1" name=""/>
        <p:cNvGrpSpPr/>
        <p:nvPr/>
      </p:nvGrpSpPr>
      <p:grpSpPr>
        <a:xfrm>
          <a:off x="0" y="0"/>
          <a:ext cx="0" cy="0"/>
          <a:chOff x="0" y="0"/>
          <a:chExt cx="0" cy="0"/>
        </a:xfrm>
      </p:grpSpPr>
      <p:sp>
        <p:nvSpPr>
          <p:cNvPr id="2" name="Text 0"/>
          <p:cNvSpPr txBox="1"/>
          <p:nvPr/>
        </p:nvSpPr>
        <p:spPr>
          <a:xfrm>
            <a:off x="548640" y="502920"/>
            <a:ext cx="11091672" cy="5486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Lo que estos datos no permiten afirmar</a:t>
            </a:r>
            <a:endParaRPr lang="en-US" sz="3000" dirty="0"/>
          </a:p>
        </p:txBody>
      </p:sp>
      <p:sp>
        <p:nvSpPr>
          <p:cNvPr id="3" name="Text 1"/>
          <p:cNvSpPr txBox="1"/>
          <p:nvPr/>
        </p:nvSpPr>
        <p:spPr>
          <a:xfrm>
            <a:off x="548640" y="1078992"/>
            <a:ext cx="11091672" cy="365760"/>
          </a:xfrm>
          <a:prstGeom prst="rect">
            <a:avLst/>
          </a:prstGeom>
          <a:noFill/>
          <a:ln/>
        </p:spPr>
        <p:txBody>
          <a:bodyPr wrap="square" lIns="0" tIns="0" rIns="0" bIns="0" rtlCol="0" anchor="ctr"/>
          <a:lstStyle/>
          <a:p>
            <a:pPr indent="0" marL="0">
              <a:buNone/>
            </a:pPr>
            <a:r>
              <a:rPr lang="en-US" sz="1300" dirty="0">
                <a:solidFill>
                  <a:srgbClr val="9FB3BC"/>
                </a:solidFill>
                <a:latin typeface="Calibri" pitchFamily="34" charset="0"/>
                <a:ea typeface="Calibri" pitchFamily="34" charset="-122"/>
                <a:cs typeface="Calibri" pitchFamily="34" charset="-120"/>
              </a:rPr>
              <a:t>Cuatro límites que conviene tener delante antes de usar cualquier cifra de este deck</a:t>
            </a:r>
            <a:endParaRPr lang="en-US" sz="1300" dirty="0"/>
          </a:p>
        </p:txBody>
      </p:sp>
      <p:sp>
        <p:nvSpPr>
          <p:cNvPr id="4" name="Shape 2"/>
          <p:cNvSpPr/>
          <p:nvPr/>
        </p:nvSpPr>
        <p:spPr>
          <a:xfrm>
            <a:off x="548640" y="1700784"/>
            <a:ext cx="384048" cy="384048"/>
          </a:xfrm>
          <a:prstGeom prst="ellipse">
            <a:avLst/>
          </a:prstGeom>
          <a:solidFill>
            <a:srgbClr val="C97B3C"/>
          </a:solidFill>
          <a:ln w="12700">
            <a:solidFill>
              <a:srgbClr val="C97B3C"/>
            </a:solidFill>
            <a:prstDash val="solid"/>
          </a:ln>
        </p:spPr>
      </p:sp>
      <p:sp>
        <p:nvSpPr>
          <p:cNvPr id="5" name="Text 3"/>
          <p:cNvSpPr txBox="1"/>
          <p:nvPr/>
        </p:nvSpPr>
        <p:spPr>
          <a:xfrm>
            <a:off x="548640" y="1700784"/>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143000" y="1645920"/>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Rentabilidad comparable entre países</a:t>
            </a:r>
            <a:endParaRPr lang="en-US" sz="1500" dirty="0"/>
          </a:p>
        </p:txBody>
      </p:sp>
      <p:sp>
        <p:nvSpPr>
          <p:cNvPr id="7" name="Text 5"/>
          <p:cNvSpPr txBox="1"/>
          <p:nvPr/>
        </p:nvSpPr>
        <p:spPr>
          <a:xfrm>
            <a:off x="1143000" y="1975104"/>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Solo España e Italia publican un tipo con comisiones para empresas, y con perímetros distintos entre sí. Para los otros cuatro la comisión es supuesto. El ROE comparado es una hipótesis ordenada, no una medición.</a:t>
            </a:r>
            <a:endParaRPr lang="en-US" sz="1150" dirty="0"/>
          </a:p>
        </p:txBody>
      </p:sp>
      <p:sp>
        <p:nvSpPr>
          <p:cNvPr id="8" name="Shape 6"/>
          <p:cNvSpPr/>
          <p:nvPr/>
        </p:nvSpPr>
        <p:spPr>
          <a:xfrm>
            <a:off x="548640" y="2816352"/>
            <a:ext cx="384048" cy="384048"/>
          </a:xfrm>
          <a:prstGeom prst="ellipse">
            <a:avLst/>
          </a:prstGeom>
          <a:solidFill>
            <a:srgbClr val="C97B3C"/>
          </a:solidFill>
          <a:ln w="12700">
            <a:solidFill>
              <a:srgbClr val="C97B3C"/>
            </a:solidFill>
            <a:prstDash val="solid"/>
          </a:ln>
        </p:spPr>
      </p:sp>
      <p:sp>
        <p:nvSpPr>
          <p:cNvPr id="9" name="Text 7"/>
          <p:cNvSpPr txBox="1"/>
          <p:nvPr/>
        </p:nvSpPr>
        <p:spPr>
          <a:xfrm>
            <a:off x="548640" y="2816352"/>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143000" y="2761488"/>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negocio PYME de cada banco</a:t>
            </a:r>
            <a:endParaRPr lang="en-US" sz="1500" dirty="0"/>
          </a:p>
        </p:txBody>
      </p:sp>
      <p:sp>
        <p:nvSpPr>
          <p:cNvPr id="11" name="Text 9"/>
          <p:cNvSpPr txBox="1"/>
          <p:nvPr/>
        </p:nvSpPr>
        <p:spPr>
          <a:xfrm>
            <a:off x="1143000" y="3090672"/>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150" dirty="0"/>
          </a:p>
        </p:txBody>
      </p:sp>
      <p:sp>
        <p:nvSpPr>
          <p:cNvPr id="12" name="Shape 10"/>
          <p:cNvSpPr/>
          <p:nvPr/>
        </p:nvSpPr>
        <p:spPr>
          <a:xfrm>
            <a:off x="548640" y="3931920"/>
            <a:ext cx="384048" cy="384048"/>
          </a:xfrm>
          <a:prstGeom prst="ellipse">
            <a:avLst/>
          </a:prstGeom>
          <a:solidFill>
            <a:srgbClr val="C97B3C"/>
          </a:solidFill>
          <a:ln w="12700">
            <a:solidFill>
              <a:srgbClr val="C97B3C"/>
            </a:solidFill>
            <a:prstDash val="solid"/>
          </a:ln>
        </p:spPr>
      </p:sp>
      <p:sp>
        <p:nvSpPr>
          <p:cNvPr id="13" name="Text 11"/>
          <p:cNvSpPr txBox="1"/>
          <p:nvPr/>
        </p:nvSpPr>
        <p:spPr>
          <a:xfrm>
            <a:off x="548640" y="3931920"/>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143000" y="3877056"/>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El precio del factoring y del confirming</a:t>
            </a:r>
            <a:endParaRPr lang="en-US" sz="1500" dirty="0"/>
          </a:p>
        </p:txBody>
      </p:sp>
      <p:sp>
        <p:nvSpPr>
          <p:cNvPr id="15" name="Text 13"/>
          <p:cNvSpPr txBox="1"/>
          <p:nvPr/>
        </p:nvSpPr>
        <p:spPr>
          <a:xfrm>
            <a:off x="1143000" y="4206240"/>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es obtenible con fuentes públicas gratuitas en ninguno de los seis países. Es el único bloque que se cierra sin ningún dato de su objetivo.</a:t>
            </a:r>
            <a:endParaRPr lang="en-US" sz="1150" dirty="0"/>
          </a:p>
        </p:txBody>
      </p:sp>
      <p:sp>
        <p:nvSpPr>
          <p:cNvPr id="16" name="Shape 14"/>
          <p:cNvSpPr/>
          <p:nvPr/>
        </p:nvSpPr>
        <p:spPr>
          <a:xfrm>
            <a:off x="548640" y="5047488"/>
            <a:ext cx="384048" cy="384048"/>
          </a:xfrm>
          <a:prstGeom prst="ellipse">
            <a:avLst/>
          </a:prstGeom>
          <a:solidFill>
            <a:srgbClr val="C97B3C"/>
          </a:solidFill>
          <a:ln w="12700">
            <a:solidFill>
              <a:srgbClr val="C97B3C"/>
            </a:solidFill>
            <a:prstDash val="solid"/>
          </a:ln>
        </p:spPr>
      </p:sp>
      <p:sp>
        <p:nvSpPr>
          <p:cNvPr id="17" name="Text 15"/>
          <p:cNvSpPr txBox="1"/>
          <p:nvPr/>
        </p:nvSpPr>
        <p:spPr>
          <a:xfrm>
            <a:off x="548640" y="5047488"/>
            <a:ext cx="384048" cy="384048"/>
          </a:xfrm>
          <a:prstGeom prst="rect">
            <a:avLst/>
          </a:prstGeom>
          <a:noFill/>
          <a:ln/>
        </p:spPr>
        <p:txBody>
          <a:bodyPr wrap="square" lIns="0" tIns="0" rIns="0" bIns="0" rtlCol="0" anchor="ctr"/>
          <a:lstStyle/>
          <a:p>
            <a:pPr algn="ctr" indent="0" marL="0">
              <a:buNone/>
            </a:pPr>
            <a:r>
              <a:rPr lang="en-US" sz="1500" b="1" dirty="0">
                <a:solidFill>
                  <a:srgbClr val="122C36"/>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143000" y="4992624"/>
            <a:ext cx="10515600" cy="292608"/>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La hipoteca a PYME</a:t>
            </a:r>
            <a:endParaRPr lang="en-US" sz="1500" dirty="0"/>
          </a:p>
        </p:txBody>
      </p:sp>
      <p:sp>
        <p:nvSpPr>
          <p:cNvPr id="19" name="Text 17"/>
          <p:cNvSpPr txBox="1"/>
          <p:nvPr/>
        </p:nvSpPr>
        <p:spPr>
          <a:xfrm>
            <a:off x="1143000" y="5321808"/>
            <a:ext cx="10515600" cy="658368"/>
          </a:xfrm>
          <a:prstGeom prst="rect">
            <a:avLst/>
          </a:prstGeom>
          <a:noFill/>
          <a:ln/>
        </p:spPr>
        <p:txBody>
          <a:bodyPr wrap="square" lIns="0" tIns="0" rIns="0" bIns="0" rtlCol="0" anchor="ctr"/>
          <a:lstStyle/>
          <a:p>
            <a:pPr indent="0" marL="0">
              <a:buNone/>
            </a:pPr>
            <a:r>
              <a:rPr lang="en-US" sz="1150" dirty="0">
                <a:solidFill>
                  <a:srgbClr val="C3D2D8"/>
                </a:solidFill>
                <a:latin typeface="Calibri" pitchFamily="34" charset="0"/>
                <a:ea typeface="Calibri" pitchFamily="34" charset="-122"/>
                <a:cs typeface="Calibri" pitchFamily="34" charset="-120"/>
              </a:rPr>
              <a:t>No existe como estadística oficial europea. Lo que se muestra es exposición a inmueble comercial, que es otra cosa.</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10896"/>
            <a:ext cx="11091672" cy="658368"/>
          </a:xfrm>
          <a:prstGeom prst="rect">
            <a:avLst/>
          </a:prstGeom>
          <a:noFill/>
          <a:ln/>
        </p:spPr>
        <p:txBody>
          <a:bodyPr wrap="square" lIns="0" tIns="0" rIns="0" bIns="0" rtlCol="0" anchor="ctr"/>
          <a:lstStyle/>
          <a:p>
            <a:pPr indent="0" marL="0">
              <a:buNone/>
            </a:pPr>
            <a:r>
              <a:rPr lang="en-US" sz="3000" b="1" dirty="0">
                <a:solidFill>
                  <a:srgbClr val="1C3F4E"/>
                </a:solidFill>
                <a:latin typeface="Cambria" pitchFamily="34" charset="0"/>
                <a:ea typeface="Cambria" pitchFamily="34" charset="-122"/>
                <a:cs typeface="Cambria" pitchFamily="34" charset="-120"/>
              </a:rPr>
              <a:t>Fuentes</a:t>
            </a:r>
            <a:endParaRPr lang="en-US" sz="3000" dirty="0"/>
          </a:p>
        </p:txBody>
      </p:sp>
      <p:sp>
        <p:nvSpPr>
          <p:cNvPr id="3" name="Text 1"/>
          <p:cNvSpPr txBox="1"/>
          <p:nvPr/>
        </p:nvSpPr>
        <p:spPr>
          <a:xfrm>
            <a:off x="548640" y="932688"/>
            <a:ext cx="11091672" cy="384048"/>
          </a:xfrm>
          <a:prstGeom prst="rect">
            <a:avLst/>
          </a:prstGeom>
          <a:noFill/>
          <a:ln/>
        </p:spPr>
        <p:txBody>
          <a:bodyPr wrap="square" lIns="0" tIns="0" rIns="0" bIns="0" rtlCol="0" anchor="ctr"/>
          <a:lstStyle/>
          <a:p>
            <a:pPr indent="0" marL="0">
              <a:buNone/>
            </a:pPr>
            <a:r>
              <a:rPr lang="en-US" sz="1300" dirty="0">
                <a:solidFill>
                  <a:srgbClr val="6E7F88"/>
                </a:solidFill>
                <a:latin typeface="Calibri" pitchFamily="34" charset="0"/>
                <a:ea typeface="Calibri" pitchFamily="34" charset="-122"/>
                <a:cs typeface="Calibri" pitchFamily="34" charset="-120"/>
              </a:rPr>
              <a:t>Nueve fuentes, 25.370 observaciones, cada fila trazable a su serie de origen</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27632"/>
          <a:ext cx="11091672" cy="914400"/>
        </p:xfrm>
        <a:graphic>
          <a:graphicData uri="http://schemas.openxmlformats.org/drawingml/2006/table">
            <a:tbl>
              <a:tblPr/>
              <a:tblGrid>
                <a:gridCol w="2606040"/>
                <a:gridCol w="4251960"/>
                <a:gridCol w="2560320"/>
                <a:gridCol w="1664208"/>
              </a:tblGrid>
              <a:tr h="402336">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Bloque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Fuente</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Cobertura</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Último dato</a:t>
                      </a:r>
                      <a:endParaRPr lang="en-US" sz="110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1C3F4E"/>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Precio y volumen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ECB Data Portal, dataset MIR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Tipos oficiales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dataset FM (facilidad de depósito, MRO, Euríbor)</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Zona euro, diario</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Encuesta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BCE, SAFE (Q8B y brecha de financiación)</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semestral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Q8B hasta 2022-S1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Riesgo, eficiencia, capital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EBA Risk Dashboard, anexo de datos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Comisiones y volumen España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Banco de España, Boletín Estadístico, cap. 19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España, mensual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2026-07</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TAEG empresas Italia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Banca d'Italia, STACORIS, tavola TRI30951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Italia, trimestral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2026-Q1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Spread PYME</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OCDE, Financing SMEs and Entrepreneurs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países, sin Alemania</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2022</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Factoring</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EUF, AEF y Assifact</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6 países, anual</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2025</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EEF2F3"/>
                    </a:solidFill>
                  </a:tcPr>
                </a:tc>
              </a:tr>
              <a:tr h="402336">
                <a:tc>
                  <a:txBody>
                    <a:bodyPr/>
                    <a:lstStyle/>
                    <a:p>
                      <a:pPr algn="l" indent="0" marL="0">
                        <a:buNone/>
                      </a:pPr>
                      <a:r>
                        <a:rPr lang="en-US" sz="1050" b="1" dirty="0">
                          <a:solidFill>
                            <a:srgbClr val="2B3A42"/>
                          </a:solidFill>
                          <a:latin typeface="Calibri" pitchFamily="34" charset="0"/>
                          <a:ea typeface="Calibri" pitchFamily="34" charset="-122"/>
                          <a:cs typeface="Calibri" pitchFamily="34" charset="-120"/>
                        </a:rPr>
                        <a:t>Comparables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Cuentas de resultados de 5 bancos</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5 bancos de 9</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3A42"/>
                          </a:solidFill>
                          <a:latin typeface="Calibri" pitchFamily="34" charset="0"/>
                          <a:ea typeface="Calibri" pitchFamily="34" charset="-122"/>
                          <a:cs typeface="Calibri" pitchFamily="34" charset="-120"/>
                        </a:rPr>
                        <a:t>2026-H1</a:t>
                      </a:r>
                      <a:endParaRPr lang="en-US" sz="1050" dirty="0">
                        <a:latin typeface="Calibri" charset="0"/>
                        <a:ea typeface="Calibri" charset="0"/>
                        <a:cs typeface="Calibri" charset="0"/>
                      </a:endParaRPr>
                    </a:p>
                  </a:txBody>
                  <a:tcPr marL="91440" marR="91440" marT="45720" marB="45720" anchor="ctr">
                    <a:lnL w="6350" cap="flat" cmpd="sng" algn="ctr">
                      <a:solidFill>
                        <a:srgbClr val="D6DEE1"/>
                      </a:solidFill>
                      <a:prstDash val="solid"/>
                      <a:round/>
                      <a:headEnd type="none" w="med" len="med"/>
                      <a:tailEnd type="none" w="med" len="med"/>
                    </a:lnL>
                    <a:lnR w="6350" cap="flat" cmpd="sng" algn="ctr">
                      <a:solidFill>
                        <a:srgbClr val="D6DEE1"/>
                      </a:solidFill>
                      <a:prstDash val="solid"/>
                      <a:round/>
                      <a:headEnd type="none" w="med" len="med"/>
                      <a:tailEnd type="none" w="med" len="med"/>
                    </a:lnR>
                    <a:lnT w="6350" cap="flat" cmpd="sng" algn="ctr">
                      <a:solidFill>
                        <a:srgbClr val="D6DEE1"/>
                      </a:solidFill>
                      <a:prstDash val="solid"/>
                      <a:round/>
                      <a:headEnd type="none" w="med" len="med"/>
                      <a:tailEnd type="none" w="med" len="med"/>
                    </a:lnT>
                    <a:lnB w="6350" cap="flat" cmpd="sng" algn="ctr">
                      <a:solidFill>
                        <a:srgbClr val="D6DEE1"/>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1672" cy="365760"/>
          </a:xfrm>
          <a:prstGeom prst="rect">
            <a:avLst/>
          </a:prstGeom>
          <a:noFill/>
          <a:ln/>
        </p:spPr>
        <p:txBody>
          <a:bodyPr wrap="square" lIns="0" tIns="0" rIns="0" bIns="0" rtlCol="0" anchor="ctr"/>
          <a:lstStyle/>
          <a:p>
            <a:pPr indent="0" marL="0">
              <a:buNone/>
            </a:pPr>
            <a:r>
              <a:rPr lang="en-US" sz="1150" dirty="0">
                <a:solidFill>
                  <a:srgbClr val="2B3A42"/>
                </a:solidFill>
                <a:latin typeface="Calibri" pitchFamily="34" charset="0"/>
                <a:ea typeface="Calibri" pitchFamily="34" charset="-122"/>
                <a:cs typeface="Calibri"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2026-09-16T14:07:11Z</dcterms:created>
  <dcterms:modified xsi:type="dcterms:W3CDTF">2026-09-16T14:07:11Z</dcterms:modified>
</cp:coreProperties>
</file>