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0.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A1A1A1"/>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12.5</c:v>
                </c:pt>
                <c:pt idx="1">
                  <c:v>16.88</c:v>
                </c:pt>
                <c:pt idx="2">
                  <c:v>4.97</c:v>
                </c:pt>
                <c:pt idx="3">
                  <c:v>15.18</c:v>
                </c:pt>
                <c:pt idx="4">
                  <c:v>13.98</c:v>
                </c:pt>
                <c:pt idx="5">
                  <c:v>20.2</c:v>
                </c:pt>
                <c:pt idx="6">
                  <c:v>13.82</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ponderada por volumen · Fijación inicial total · Sin comisiones</a:t>
            </a:r>
            <a:endParaRPr lang="en-US" sz="11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12,5 %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5,0 %: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4,3 %.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+18.1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(5,0 %)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FD6BA"/>
          </a:solidFill>
          <a:ln w="12700">
            <a:solidFill>
              <a:srgbClr val="FFAB7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FCCE8"/>
          </a:solidFill>
          <a:ln w="12700">
            <a:solidFill>
              <a:srgbClr val="FF8AC2"/>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CACACA"/>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y 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y lo que se deriva para una decisión de entrada</a:t>
            </a:r>
            <a:endParaRPr lang="en-US" sz="1100" dirty="0"/>
          </a:p>
        </p:txBody>
      </p:sp>
      <p:sp>
        <p:nvSpPr>
          <p:cNvPr id="4" name="Shape 2"/>
          <p:cNvSpPr/>
          <p:nvPr/>
        </p:nvSpPr>
        <p:spPr>
          <a:xfrm>
            <a:off x="548640" y="1609344"/>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60934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7276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856232"/>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sexta entre los bancos locales.</a:t>
            </a:r>
            <a:endParaRPr lang="en-US" sz="950" dirty="0"/>
          </a:p>
        </p:txBody>
      </p:sp>
      <p:sp>
        <p:nvSpPr>
          <p:cNvPr id="8" name="Shape 6"/>
          <p:cNvSpPr/>
          <p:nvPr/>
        </p:nvSpPr>
        <p:spPr>
          <a:xfrm>
            <a:off x="548640" y="2551176"/>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551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51460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798064"/>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Francia es el peor mercado para su banca (5,0 %) y el cuarto mejor para un entrante eficiente (21,8 %). Lo que se compra al entrar no es el margen del mercado, es la distancia respecto al incumbente.</a:t>
            </a:r>
            <a:endParaRPr lang="en-US" sz="950" dirty="0"/>
          </a:p>
        </p:txBody>
      </p:sp>
      <p:sp>
        <p:nvSpPr>
          <p:cNvPr id="12" name="Shape 10"/>
          <p:cNvSpPr/>
          <p:nvPr/>
        </p:nvSpPr>
        <p:spPr>
          <a:xfrm>
            <a:off x="548640" y="3493008"/>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45643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España es el mercado donde menos vale entrar eficiente</a:t>
            </a:r>
            <a:endParaRPr lang="en-US" sz="1250" dirty="0"/>
          </a:p>
        </p:txBody>
      </p:sp>
      <p:sp>
        <p:nvSpPr>
          <p:cNvPr id="15" name="Text 13"/>
          <p:cNvSpPr txBox="1"/>
          <p:nvPr/>
        </p:nvSpPr>
        <p:spPr>
          <a:xfrm>
            <a:off x="1051560" y="3739896"/>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Solo gana 1,2 puntos de ROE. Su banca ya es la segunda más eficiente (42,1 %), sus recursos ya son baratos (0,75 %, por debajo del 0,80 % del entrante) y arrastra una densidad de RWA del 59,5 % y el 30 % de impuesto del art. 29 LIS.</a:t>
            </a:r>
            <a:endParaRPr lang="en-US" sz="950" dirty="0"/>
          </a:p>
        </p:txBody>
      </p:sp>
      <p:sp>
        <p:nvSpPr>
          <p:cNvPr id="16" name="Shape 14"/>
          <p:cNvSpPr/>
          <p:nvPr/>
        </p:nvSpPr>
        <p:spPr>
          <a:xfrm>
            <a:off x="548640" y="4434840"/>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439826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9" name="Text 17"/>
          <p:cNvSpPr txBox="1"/>
          <p:nvPr/>
        </p:nvSpPr>
        <p:spPr>
          <a:xfrm>
            <a:off x="1051560" y="4681728"/>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50" dirty="0"/>
          </a:p>
        </p:txBody>
      </p:sp>
      <p:sp>
        <p:nvSpPr>
          <p:cNvPr id="20" name="Shape 18"/>
          <p:cNvSpPr/>
          <p:nvPr/>
        </p:nvSpPr>
        <p:spPr>
          <a:xfrm>
            <a:off x="548640" y="537667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5376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534009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3" name="Text 21"/>
          <p:cNvSpPr txBox="1"/>
          <p:nvPr/>
        </p:nvSpPr>
        <p:spPr>
          <a:xfrm>
            <a:off x="1051560" y="5623560"/>
            <a:ext cx="10607040" cy="566928"/>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Antes de decidir, conviene validarla en el mercado objetivo: mueve el ROE entre 3 y 8 puntos.</a:t>
            </a:r>
            <a:endParaRPr lang="en-US" sz="950" dirty="0"/>
          </a:p>
        </p:txBody>
      </p:sp>
      <p:sp>
        <p:nvSpPr>
          <p:cNvPr id="24" name="Text 2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4 se apoyan en datos observados por país; la 5 señala el supuesto que las condiciona. El escenario de entrante no incorpora coste de entrada, escala mínima ni curva de aprendizaje de riesgo.</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este análisis en una decisión</a:t>
            </a:r>
            <a:endParaRPr lang="en-US" sz="1100" dirty="0"/>
          </a:p>
        </p:txBody>
      </p:sp>
      <p:sp>
        <p:nvSpPr>
          <p:cNvPr id="4" name="Shape 2"/>
          <p:cNvSpPr/>
          <p:nvPr/>
        </p:nvSpPr>
        <p:spPr>
          <a:xfrm>
            <a:off x="548640" y="1600200"/>
            <a:ext cx="2057400" cy="658368"/>
          </a:xfrm>
          <a:prstGeom prst="roundRect">
            <a:avLst>
              <a:gd name="adj" fmla="val 6944"/>
            </a:avLst>
          </a:prstGeom>
          <a:solidFill>
            <a:srgbClr val="FFD6BA"/>
          </a:solidFill>
          <a:ln w="12700">
            <a:solidFill>
              <a:srgbClr val="FFAB70"/>
            </a:solidFill>
            <a:prstDash val="solid"/>
          </a:ln>
        </p:spPr>
      </p:sp>
      <p:sp>
        <p:nvSpPr>
          <p:cNvPr id="5" name="Text 3"/>
          <p:cNvSpPr txBox="1"/>
          <p:nvPr/>
        </p:nvSpPr>
        <p:spPr>
          <a:xfrm>
            <a:off x="548640" y="1600200"/>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6" name="Text 4"/>
          <p:cNvSpPr txBox="1"/>
          <p:nvPr/>
        </p:nvSpPr>
        <p:spPr>
          <a:xfrm>
            <a:off x="2788920" y="1627632"/>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Países Bajos y Alemania</a:t>
            </a:r>
            <a:endParaRPr lang="en-US" sz="1100" dirty="0"/>
          </a:p>
        </p:txBody>
      </p:sp>
      <p:sp>
        <p:nvSpPr>
          <p:cNvPr id="7" name="Text 5"/>
          <p:cNvSpPr txBox="1"/>
          <p:nvPr/>
        </p:nvSpPr>
        <p:spPr>
          <a:xfrm>
            <a:off x="5943600" y="1627632"/>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900" dirty="0"/>
          </a:p>
        </p:txBody>
      </p:sp>
      <p:sp>
        <p:nvSpPr>
          <p:cNvPr id="8" name="Shape 6"/>
          <p:cNvSpPr/>
          <p:nvPr/>
        </p:nvSpPr>
        <p:spPr>
          <a:xfrm>
            <a:off x="548640" y="2368296"/>
            <a:ext cx="2057400" cy="658368"/>
          </a:xfrm>
          <a:prstGeom prst="roundRect">
            <a:avLst>
              <a:gd name="adj" fmla="val 6944"/>
            </a:avLst>
          </a:prstGeom>
          <a:solidFill>
            <a:srgbClr val="FFD6BA"/>
          </a:solidFill>
          <a:ln w="12700">
            <a:solidFill>
              <a:srgbClr val="FFAB70"/>
            </a:solidFill>
            <a:prstDash val="solid"/>
          </a:ln>
        </p:spPr>
      </p:sp>
      <p:sp>
        <p:nvSpPr>
          <p:cNvPr id="9" name="Text 7"/>
          <p:cNvSpPr txBox="1"/>
          <p:nvPr/>
        </p:nvSpPr>
        <p:spPr>
          <a:xfrm>
            <a:off x="548640" y="2368296"/>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Estudiar</a:t>
            </a:r>
            <a:endParaRPr lang="en-US" sz="1100" dirty="0"/>
          </a:p>
        </p:txBody>
      </p:sp>
      <p:sp>
        <p:nvSpPr>
          <p:cNvPr id="10" name="Text 8"/>
          <p:cNvSpPr txBox="1"/>
          <p:nvPr/>
        </p:nvSpPr>
        <p:spPr>
          <a:xfrm>
            <a:off x="2788920" y="2395728"/>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Francia e Irlanda</a:t>
            </a:r>
            <a:endParaRPr lang="en-US" sz="1100" dirty="0"/>
          </a:p>
        </p:txBody>
      </p:sp>
      <p:sp>
        <p:nvSpPr>
          <p:cNvPr id="11" name="Text 9"/>
          <p:cNvSpPr txBox="1"/>
          <p:nvPr/>
        </p:nvSpPr>
        <p:spPr>
          <a:xfrm>
            <a:off x="5943600" y="2395728"/>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900" dirty="0"/>
          </a:p>
        </p:txBody>
      </p:sp>
      <p:sp>
        <p:nvSpPr>
          <p:cNvPr id="12" name="Shape 10"/>
          <p:cNvSpPr/>
          <p:nvPr/>
        </p:nvSpPr>
        <p:spPr>
          <a:xfrm>
            <a:off x="548640" y="3136392"/>
            <a:ext cx="2057400" cy="658368"/>
          </a:xfrm>
          <a:prstGeom prst="roundRect">
            <a:avLst>
              <a:gd name="adj" fmla="val 6944"/>
            </a:avLst>
          </a:prstGeom>
          <a:solidFill>
            <a:srgbClr val="FFD6BA"/>
          </a:solidFill>
          <a:ln w="12700">
            <a:solidFill>
              <a:srgbClr val="FFAB70"/>
            </a:solidFill>
            <a:prstDash val="solid"/>
          </a:ln>
        </p:spPr>
      </p:sp>
      <p:sp>
        <p:nvSpPr>
          <p:cNvPr id="13" name="Text 11"/>
          <p:cNvSpPr txBox="1"/>
          <p:nvPr/>
        </p:nvSpPr>
        <p:spPr>
          <a:xfrm>
            <a:off x="548640" y="3136392"/>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Descartar</a:t>
            </a:r>
            <a:endParaRPr lang="en-US" sz="1100" dirty="0"/>
          </a:p>
        </p:txBody>
      </p:sp>
      <p:sp>
        <p:nvSpPr>
          <p:cNvPr id="14" name="Text 12"/>
          <p:cNvSpPr txBox="1"/>
          <p:nvPr/>
        </p:nvSpPr>
        <p:spPr>
          <a:xfrm>
            <a:off x="2788920" y="3163824"/>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y Portugal</a:t>
            </a:r>
            <a:endParaRPr lang="en-US" sz="1100" dirty="0"/>
          </a:p>
        </p:txBody>
      </p:sp>
      <p:sp>
        <p:nvSpPr>
          <p:cNvPr id="15" name="Text 13"/>
          <p:cNvSpPr txBox="1"/>
          <p:nvPr/>
        </p:nvSpPr>
        <p:spPr>
          <a:xfrm>
            <a:off x="5943600" y="3163824"/>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900" dirty="0"/>
          </a:p>
        </p:txBody>
      </p:sp>
      <p:sp>
        <p:nvSpPr>
          <p:cNvPr id="16" name="Shape 14"/>
          <p:cNvSpPr/>
          <p:nvPr/>
        </p:nvSpPr>
        <p:spPr>
          <a:xfrm>
            <a:off x="548640" y="3904488"/>
            <a:ext cx="2057400" cy="658368"/>
          </a:xfrm>
          <a:prstGeom prst="roundRect">
            <a:avLst>
              <a:gd name="adj" fmla="val 6944"/>
            </a:avLst>
          </a:prstGeom>
          <a:solidFill>
            <a:srgbClr val="E5E5E5"/>
          </a:solidFill>
          <a:ln w="12700">
            <a:solidFill>
              <a:srgbClr val="CACACA"/>
            </a:solidFill>
            <a:prstDash val="solid"/>
          </a:ln>
        </p:spPr>
      </p:sp>
      <p:sp>
        <p:nvSpPr>
          <p:cNvPr id="17" name="Text 15"/>
          <p:cNvSpPr txBox="1"/>
          <p:nvPr/>
        </p:nvSpPr>
        <p:spPr>
          <a:xfrm>
            <a:off x="548640" y="3904488"/>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Validar antes de decidir</a:t>
            </a:r>
            <a:endParaRPr lang="en-US" sz="1100" dirty="0"/>
          </a:p>
        </p:txBody>
      </p:sp>
      <p:sp>
        <p:nvSpPr>
          <p:cNvPr id="18" name="Text 16"/>
          <p:cNvSpPr txBox="1"/>
          <p:nvPr/>
        </p:nvSpPr>
        <p:spPr>
          <a:xfrm>
            <a:off x="2788920" y="3931920"/>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en el mercado objetivo</a:t>
            </a:r>
            <a:endParaRPr lang="en-US" sz="1100" dirty="0"/>
          </a:p>
        </p:txBody>
      </p:sp>
      <p:sp>
        <p:nvSpPr>
          <p:cNvPr id="19" name="Text 17"/>
          <p:cNvSpPr txBox="1"/>
          <p:nvPr/>
        </p:nvSpPr>
        <p:spPr>
          <a:xfrm>
            <a:off x="5943600" y="3931920"/>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900" dirty="0"/>
          </a:p>
        </p:txBody>
      </p:sp>
      <p:sp>
        <p:nvSpPr>
          <p:cNvPr id="20" name="Shape 18"/>
          <p:cNvSpPr/>
          <p:nvPr/>
        </p:nvSpPr>
        <p:spPr>
          <a:xfrm>
            <a:off x="548640" y="4672584"/>
            <a:ext cx="2057400" cy="658368"/>
          </a:xfrm>
          <a:prstGeom prst="roundRect">
            <a:avLst>
              <a:gd name="adj" fmla="val 6944"/>
            </a:avLst>
          </a:prstGeom>
          <a:solidFill>
            <a:srgbClr val="E5E5E5"/>
          </a:solidFill>
          <a:ln w="12700">
            <a:solidFill>
              <a:srgbClr val="CACACA"/>
            </a:solidFill>
            <a:prstDash val="solid"/>
          </a:ln>
        </p:spPr>
      </p:sp>
      <p:sp>
        <p:nvSpPr>
          <p:cNvPr id="21" name="Text 19"/>
          <p:cNvSpPr txBox="1"/>
          <p:nvPr/>
        </p:nvSpPr>
        <p:spPr>
          <a:xfrm>
            <a:off x="548640" y="4672584"/>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Completar</a:t>
            </a:r>
            <a:endParaRPr lang="en-US" sz="1100" dirty="0"/>
          </a:p>
        </p:txBody>
      </p:sp>
      <p:sp>
        <p:nvSpPr>
          <p:cNvPr id="22" name="Text 20"/>
          <p:cNvSpPr txBox="1"/>
          <p:nvPr/>
        </p:nvSpPr>
        <p:spPr>
          <a:xfrm>
            <a:off x="2788920" y="4700016"/>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Densidad de RWA propia</a:t>
            </a:r>
            <a:endParaRPr lang="en-US" sz="1100" dirty="0"/>
          </a:p>
        </p:txBody>
      </p:sp>
      <p:sp>
        <p:nvSpPr>
          <p:cNvPr id="23" name="Text 21"/>
          <p:cNvSpPr txBox="1"/>
          <p:nvPr/>
        </p:nvSpPr>
        <p:spPr>
          <a:xfrm>
            <a:off x="5943600" y="4700016"/>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900" dirty="0"/>
          </a:p>
        </p:txBody>
      </p:sp>
      <p:sp>
        <p:nvSpPr>
          <p:cNvPr id="24" name="Shape 22"/>
          <p:cNvSpPr/>
          <p:nvPr/>
        </p:nvSpPr>
        <p:spPr>
          <a:xfrm>
            <a:off x="548640" y="5440680"/>
            <a:ext cx="2057400" cy="658368"/>
          </a:xfrm>
          <a:prstGeom prst="roundRect">
            <a:avLst>
              <a:gd name="adj" fmla="val 6944"/>
            </a:avLst>
          </a:prstGeom>
          <a:solidFill>
            <a:srgbClr val="E5E5E5"/>
          </a:solidFill>
          <a:ln w="12700">
            <a:solidFill>
              <a:srgbClr val="CACACA"/>
            </a:solidFill>
            <a:prstDash val="solid"/>
          </a:ln>
        </p:spPr>
      </p:sp>
      <p:sp>
        <p:nvSpPr>
          <p:cNvPr id="25" name="Text 23"/>
          <p:cNvSpPr txBox="1"/>
          <p:nvPr/>
        </p:nvSpPr>
        <p:spPr>
          <a:xfrm>
            <a:off x="548640" y="5440680"/>
            <a:ext cx="2057400" cy="65836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a:t>
            </a:r>
            <a:endParaRPr lang="en-US" sz="1100" dirty="0"/>
          </a:p>
        </p:txBody>
      </p:sp>
      <p:sp>
        <p:nvSpPr>
          <p:cNvPr id="26" name="Text 24"/>
          <p:cNvSpPr txBox="1"/>
          <p:nvPr/>
        </p:nvSpPr>
        <p:spPr>
          <a:xfrm>
            <a:off x="2788920" y="5468112"/>
            <a:ext cx="3017520" cy="603504"/>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Precio del factoring y del confirming</a:t>
            </a:r>
            <a:endParaRPr lang="en-US" sz="1100" dirty="0"/>
          </a:p>
        </p:txBody>
      </p:sp>
      <p:sp>
        <p:nvSpPr>
          <p:cNvPr id="27" name="Text 25"/>
          <p:cNvSpPr txBox="1"/>
          <p:nvPr/>
        </p:nvSpPr>
        <p:spPr>
          <a:xfrm>
            <a:off x="5943600" y="5468112"/>
            <a:ext cx="5715000" cy="603504"/>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Nueve fuentes, 25.370 observaciones, cada fila trazable a su serie de origen</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anexo de datos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2026-09-17T08:55:29Z</dcterms:created>
  <dcterms:modified xsi:type="dcterms:W3CDTF">2026-09-17T08:55:29Z</dcterms:modified>
</cp:coreProperties>
</file>