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Verdana" pitchFamily="34" charset="0"/>
                <a:ea typeface="Verdana" pitchFamily="34" charset="-122"/>
                <a:cs typeface="Verdan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A1A1A1"/>
                </a:solidFill>
                <a:latin typeface="Verdana" pitchFamily="34" charset="0"/>
                <a:ea typeface="Verdana" pitchFamily="34" charset="-122"/>
                <a:cs typeface="Verdana" pitchFamily="34" charset="-120"/>
              </a:rPr>
              <a:t>España · Alemania · Francia · Italia · Portugal · Países Bajos · Irlanda</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F56600"/>
                </a:solidFill>
                <a:latin typeface="Verdana" pitchFamily="34" charset="0"/>
                <a:ea typeface="Verdana" pitchFamily="34" charset="-122"/>
                <a:cs typeface="Verdana"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39.508 observaciones · 13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Objetivo y método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mide, con qué datos y dónde están los límites</a:t>
            </a:r>
            <a:endParaRPr lang="en-US" sz="1100" dirty="0"/>
          </a:p>
        </p:txBody>
      </p:sp>
      <p:sp>
        <p:nvSpPr>
          <p:cNvPr id="4" name="Shape 2"/>
          <p:cNvSpPr/>
          <p:nvPr/>
        </p:nvSpPr>
        <p:spPr>
          <a:xfrm>
            <a:off x="548640" y="1600200"/>
            <a:ext cx="11091672" cy="1069848"/>
          </a:xfrm>
          <a:prstGeom prst="roundRect">
            <a:avLst>
              <a:gd name="adj" fmla="val 5128"/>
            </a:avLst>
          </a:prstGeom>
          <a:solidFill>
            <a:srgbClr val="E5E5E5"/>
          </a:solidFill>
          <a:ln w="12700">
            <a:solidFill>
              <a:srgbClr val="CACACA"/>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5E5E5"/>
          </a:solidFill>
          <a:ln w="12700">
            <a:solidFill>
              <a:srgbClr val="CACACA"/>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5E5E5"/>
          </a:solidFill>
          <a:ln w="12700">
            <a:solidFill>
              <a:srgbClr val="CACACA"/>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FD6BA"/>
          </a:solidFill>
          <a:ln w="12700">
            <a:solidFill>
              <a:srgbClr val="F56600"/>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Siete países · Precio, riesgo, capital y rentabilidad del préstamo PYME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Francia es la mitad, Irlanda es el 0,8 %</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100" dirty="0"/>
          </a:p>
        </p:txBody>
      </p:sp>
      <p:graphicFrame>
        <p:nvGraphicFramePr>
          <p:cNvPr id="4" name="Chart 0" descr=""/>
          <p:cNvGraphicFramePr/>
          <p:nvPr/>
        </p:nvGraphicFramePr>
        <p:xfrm>
          <a:off x="548640"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6" name="Text 3"/>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7"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9" name="Text 5"/>
          <p:cNvSpPr txBox="1"/>
          <p:nvPr/>
        </p:nvSpPr>
        <p:spPr>
          <a:xfrm>
            <a:off x="548640"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0" name="Shape 6"/>
          <p:cNvSpPr/>
          <p:nvPr/>
        </p:nvSpPr>
        <p:spPr>
          <a:xfrm>
            <a:off x="548640" y="4937760"/>
            <a:ext cx="5577840" cy="1097280"/>
          </a:xfrm>
          <a:prstGeom prst="roundRect">
            <a:avLst>
              <a:gd name="adj" fmla="val 4167"/>
            </a:avLst>
          </a:prstGeom>
          <a:solidFill>
            <a:srgbClr val="FFD6BA"/>
          </a:solidFill>
          <a:ln w="12700">
            <a:solidFill>
              <a:srgbClr val="FFAB70"/>
            </a:solidFill>
            <a:prstDash val="solid"/>
          </a:ln>
        </p:spPr>
      </p:sp>
      <p:sp>
        <p:nvSpPr>
          <p:cNvPr id="11" name="Text 7"/>
          <p:cNvSpPr txBox="1"/>
          <p:nvPr/>
        </p:nvSpPr>
        <p:spPr>
          <a:xfrm>
            <a:off x="694944"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2" name="Text 8"/>
          <p:cNvSpPr txBox="1"/>
          <p:nvPr/>
        </p:nvSpPr>
        <p:spPr>
          <a:xfrm>
            <a:off x="694944"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3" name="Shape 9"/>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4" name="Text 10"/>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5" name="Text 11"/>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6"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Precio de Préstamos a Pymes por tramo de importe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100" dirty="0"/>
          </a:p>
        </p:txBody>
      </p:sp>
      <p:graphicFrame>
        <p:nvGraphicFramePr>
          <p:cNvPr id="4" name="Chart 0" descr=""/>
          <p:cNvGraphicFramePr/>
          <p:nvPr/>
        </p:nvGraphicFramePr>
        <p:xfrm>
          <a:off x="548640"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7" name="Text 4"/>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8" name="Shape 5"/>
          <p:cNvSpPr/>
          <p:nvPr/>
        </p:nvSpPr>
        <p:spPr>
          <a:xfrm>
            <a:off x="7680960" y="3858768"/>
            <a:ext cx="3959352" cy="1399032"/>
          </a:xfrm>
          <a:prstGeom prst="roundRect">
            <a:avLst>
              <a:gd name="adj" fmla="val 3922"/>
            </a:avLst>
          </a:prstGeom>
          <a:solidFill>
            <a:srgbClr val="FFD6BA"/>
          </a:solidFill>
          <a:ln w="12700">
            <a:solidFill>
              <a:srgbClr val="FFAB70"/>
            </a:solidFill>
            <a:prstDash val="solid"/>
          </a:ln>
        </p:spPr>
      </p:sp>
      <p:sp>
        <p:nvSpPr>
          <p:cNvPr id="9" name="Text 6"/>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0" name="Text 7"/>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F56600"/>
          </a:solidFill>
          <a:ln w="12700">
            <a:solidFill>
              <a:srgbClr val="F56600"/>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7" name="Shape 4"/>
          <p:cNvSpPr/>
          <p:nvPr/>
        </p:nvSpPr>
        <p:spPr>
          <a:xfrm>
            <a:off x="2103120" y="5623560"/>
            <a:ext cx="1371600" cy="256032"/>
          </a:xfrm>
          <a:prstGeom prst="roundRect">
            <a:avLst>
              <a:gd name="adj" fmla="val 42857"/>
            </a:avLst>
          </a:prstGeom>
          <a:solidFill>
            <a:srgbClr val="FFAB70"/>
          </a:solidFill>
          <a:ln w="12700">
            <a:solidFill>
              <a:srgbClr val="FFAB70"/>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modelizado del préstamo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1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7" name="Text 4"/>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Sensibilidad al supuesto de comisiones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80160"/>
          </a:xfrm>
          <a:prstGeom prst="roundRect">
            <a:avLst>
              <a:gd name="adj" fmla="val 4286"/>
            </a:avLst>
          </a:prstGeom>
          <a:solidFill>
            <a:srgbClr val="FFD6BA"/>
          </a:solidFill>
          <a:ln w="12700">
            <a:solidFill>
              <a:srgbClr val="FFAB70"/>
            </a:solidFill>
            <a:prstDash val="solid"/>
          </a:ln>
        </p:spPr>
      </p:sp>
      <p:sp>
        <p:nvSpPr>
          <p:cNvPr id="6" name="Text 3"/>
          <p:cNvSpPr txBox="1"/>
          <p:nvPr/>
        </p:nvSpPr>
        <p:spPr>
          <a:xfrm>
            <a:off x="777240"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7" name="Text 4"/>
          <p:cNvSpPr txBox="1"/>
          <p:nvPr/>
        </p:nvSpPr>
        <p:spPr>
          <a:xfrm>
            <a:off x="777240"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Simulación: entrante eficiente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100" dirty="0"/>
          </a:p>
        </p:txBody>
      </p:sp>
      <p:sp>
        <p:nvSpPr>
          <p:cNvPr id="4" name="Shape 2"/>
          <p:cNvSpPr/>
          <p:nvPr/>
        </p:nvSpPr>
        <p:spPr>
          <a:xfrm>
            <a:off x="548640" y="1572768"/>
            <a:ext cx="11091672" cy="475488"/>
          </a:xfrm>
          <a:prstGeom prst="roundRect">
            <a:avLst>
              <a:gd name="adj" fmla="val 11538"/>
            </a:avLst>
          </a:prstGeom>
          <a:solidFill>
            <a:srgbClr val="FFD6BA"/>
          </a:solidFill>
          <a:ln w="12700">
            <a:solidFill>
              <a:srgbClr val="FFAB70"/>
            </a:solidFill>
            <a:prstDash val="solid"/>
          </a:ln>
        </p:spPr>
      </p:sp>
      <p:sp>
        <p:nvSpPr>
          <p:cNvPr id="5" name="Text 3"/>
          <p:cNvSpPr txBox="1"/>
          <p:nvPr/>
        </p:nvSpPr>
        <p:spPr>
          <a:xfrm>
            <a:off x="777240"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6" name="Chart 0" descr=""/>
          <p:cNvGraphicFramePr/>
          <p:nvPr/>
        </p:nvGraphicFramePr>
        <p:xfrm>
          <a:off x="548640"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8" name="Shape 4"/>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9" name="Text 5"/>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0" name="Text 6"/>
          <p:cNvSpPr txBox="1"/>
          <p:nvPr/>
        </p:nvSpPr>
        <p:spPr>
          <a:xfrm>
            <a:off x="548640" y="5440680"/>
            <a:ext cx="11091672"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1"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 los recursos de empresa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100" dirty="0"/>
          </a:p>
        </p:txBody>
      </p:sp>
      <p:graphicFrame>
        <p:nvGraphicFramePr>
          <p:cNvPr id="4" name="Chart 0" descr=""/>
          <p:cNvGraphicFramePr/>
          <p:nvPr/>
        </p:nvGraphicFramePr>
        <p:xfrm>
          <a:off x="548640"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Shape 2"/>
          <p:cNvSpPr/>
          <p:nvPr/>
        </p:nvSpPr>
        <p:spPr>
          <a:xfrm>
            <a:off x="7452360" y="4425696"/>
            <a:ext cx="4187952" cy="640080"/>
          </a:xfrm>
          <a:prstGeom prst="roundRect">
            <a:avLst>
              <a:gd name="adj" fmla="val 8571"/>
            </a:avLst>
          </a:prstGeom>
          <a:solidFill>
            <a:srgbClr val="FFD6BA"/>
          </a:solidFill>
          <a:ln w="12700">
            <a:solidFill>
              <a:srgbClr val="FFAB70"/>
            </a:solidFill>
            <a:prstDash val="solid"/>
          </a:ln>
        </p:spPr>
      </p:sp>
      <p:sp>
        <p:nvSpPr>
          <p:cNvPr id="7" name="Text 3"/>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157216"/>
          <a:ext cx="11091672"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Coste del riesgo = PD ×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100" dirty="0"/>
          </a:p>
        </p:txBody>
      </p:sp>
      <p:graphicFrame>
        <p:nvGraphicFramePr>
          <p:cNvPr id="4" name="Chart 0" descr=""/>
          <p:cNvGraphicFramePr/>
          <p:nvPr/>
        </p:nvGraphicFramePr>
        <p:xfrm>
          <a:off x="548640"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6" name="Text 2"/>
          <p:cNvSpPr txBox="1"/>
          <p:nvPr/>
        </p:nvSpPr>
        <p:spPr>
          <a:xfrm>
            <a:off x="548640" y="5303520"/>
            <a:ext cx="11091672"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7" name="Text 3"/>
          <p:cNvSpPr txBox="1"/>
          <p:nvPr/>
        </p:nvSpPr>
        <p:spPr>
          <a:xfrm>
            <a:off x="548640" y="5742432"/>
            <a:ext cx="11091672"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8"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Infraestructura de información crediticia de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5" name="Shape 2"/>
          <p:cNvSpPr/>
          <p:nvPr/>
        </p:nvSpPr>
        <p:spPr>
          <a:xfrm>
            <a:off x="548640" y="4754880"/>
            <a:ext cx="11091672" cy="1325880"/>
          </a:xfrm>
          <a:prstGeom prst="roundRect">
            <a:avLst>
              <a:gd name="adj" fmla="val 4138"/>
            </a:avLst>
          </a:prstGeom>
          <a:solidFill>
            <a:srgbClr val="FFD6BA"/>
          </a:solidFill>
          <a:ln w="12700">
            <a:solidFill>
              <a:srgbClr val="FFAB70"/>
            </a:solidFill>
            <a:prstDash val="solid"/>
          </a:ln>
        </p:spPr>
      </p:sp>
      <p:sp>
        <p:nvSpPr>
          <p:cNvPr id="6" name="Text 3"/>
          <p:cNvSpPr txBox="1"/>
          <p:nvPr/>
        </p:nvSpPr>
        <p:spPr>
          <a:xfrm>
            <a:off x="777240"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7" name="Text 4"/>
          <p:cNvSpPr txBox="1"/>
          <p:nvPr/>
        </p:nvSpPr>
        <p:spPr>
          <a:xfrm>
            <a:off x="777240"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Los dos ejes: información selecciona, recobro recupera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100" dirty="0"/>
          </a:p>
        </p:txBody>
      </p:sp>
      <p:sp>
        <p:nvSpPr>
          <p:cNvPr id="4" name="Shape 2"/>
          <p:cNvSpPr/>
          <p:nvPr/>
        </p:nvSpPr>
        <p:spPr>
          <a:xfrm>
            <a:off x="1051560" y="1645920"/>
            <a:ext cx="5806440" cy="3703320"/>
          </a:xfrm>
          <a:prstGeom prst="rect">
            <a:avLst/>
          </a:prstGeom>
          <a:solidFill>
            <a:srgbClr val="FFFFFF"/>
          </a:solidFill>
          <a:ln w="9525">
            <a:solidFill>
              <a:srgbClr val="CACACA"/>
            </a:solidFill>
            <a:prstDash val="solid"/>
          </a:ln>
        </p:spPr>
      </p:sp>
      <p:sp>
        <p:nvSpPr>
          <p:cNvPr id="5" name="Shape 3"/>
          <p:cNvSpPr/>
          <p:nvPr/>
        </p:nvSpPr>
        <p:spPr>
          <a:xfrm>
            <a:off x="3954780" y="1645920"/>
            <a:ext cx="2903220" cy="1851660"/>
          </a:xfrm>
          <a:prstGeom prst="rect">
            <a:avLst/>
          </a:prstGeom>
          <a:solidFill>
            <a:srgbClr val="FFD6BA"/>
          </a:solidFill>
          <a:ln w="12700">
            <a:solidFill>
              <a:srgbClr val="FFFFFF"/>
            </a:solidFill>
            <a:prstDash val="solid"/>
          </a:ln>
        </p:spPr>
      </p:sp>
      <p:sp>
        <p:nvSpPr>
          <p:cNvPr id="6" name="Shape 4"/>
          <p:cNvSpPr/>
          <p:nvPr/>
        </p:nvSpPr>
        <p:spPr>
          <a:xfrm>
            <a:off x="1051560" y="3497580"/>
            <a:ext cx="2903220" cy="1851660"/>
          </a:xfrm>
          <a:prstGeom prst="rect">
            <a:avLst/>
          </a:prstGeom>
          <a:solidFill>
            <a:srgbClr val="E5E5E5"/>
          </a:solidFill>
          <a:ln w="12700">
            <a:solidFill>
              <a:srgbClr val="FFFFFF"/>
            </a:solidFill>
            <a:prstDash val="solid"/>
          </a:ln>
        </p:spPr>
      </p:sp>
      <p:sp>
        <p:nvSpPr>
          <p:cNvPr id="7" name="Shape 5"/>
          <p:cNvSpPr/>
          <p:nvPr/>
        </p:nvSpPr>
        <p:spPr>
          <a:xfrm>
            <a:off x="3954780" y="1645920"/>
            <a:ext cx="0" cy="3703320"/>
          </a:xfrm>
          <a:prstGeom prst="line">
            <a:avLst/>
          </a:prstGeom>
          <a:noFill/>
          <a:ln w="9525">
            <a:solidFill>
              <a:srgbClr val="CACACA"/>
            </a:solidFill>
            <a:prstDash val="dash"/>
          </a:ln>
        </p:spPr>
      </p:sp>
      <p:sp>
        <p:nvSpPr>
          <p:cNvPr id="8" name="Shape 6"/>
          <p:cNvSpPr/>
          <p:nvPr/>
        </p:nvSpPr>
        <p:spPr>
          <a:xfrm>
            <a:off x="1051560" y="3497580"/>
            <a:ext cx="5806440" cy="0"/>
          </a:xfrm>
          <a:prstGeom prst="line">
            <a:avLst/>
          </a:prstGeom>
          <a:noFill/>
          <a:ln w="9525">
            <a:solidFill>
              <a:srgbClr val="CACACA"/>
            </a:solidFill>
            <a:prstDash val="dash"/>
          </a:ln>
        </p:spPr>
      </p:sp>
      <p:sp>
        <p:nvSpPr>
          <p:cNvPr id="9" name="Text 7"/>
          <p:cNvSpPr txBox="1"/>
          <p:nvPr/>
        </p:nvSpPr>
        <p:spPr>
          <a:xfrm>
            <a:off x="402793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0" name="Text 8"/>
          <p:cNvSpPr txBox="1"/>
          <p:nvPr/>
        </p:nvSpPr>
        <p:spPr>
          <a:xfrm>
            <a:off x="1124712"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1" name="Text 9"/>
          <p:cNvSpPr txBox="1"/>
          <p:nvPr/>
        </p:nvSpPr>
        <p:spPr>
          <a:xfrm>
            <a:off x="402793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2" name="Text 10"/>
          <p:cNvSpPr txBox="1"/>
          <p:nvPr/>
        </p:nvSpPr>
        <p:spPr>
          <a:xfrm>
            <a:off x="1124712"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3" name="Text 11"/>
          <p:cNvSpPr txBox="1"/>
          <p:nvPr/>
        </p:nvSpPr>
        <p:spPr>
          <a:xfrm>
            <a:off x="1051560"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4" name="Text 12"/>
          <p:cNvSpPr txBox="1"/>
          <p:nvPr/>
        </p:nvSpPr>
        <p:spPr>
          <a:xfrm>
            <a:off x="493776"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5" name="Shape 13"/>
          <p:cNvSpPr/>
          <p:nvPr/>
        </p:nvSpPr>
        <p:spPr>
          <a:xfrm>
            <a:off x="4474616" y="3045775"/>
            <a:ext cx="474574" cy="474574"/>
          </a:xfrm>
          <a:prstGeom prst="ellipse">
            <a:avLst/>
          </a:prstGeom>
          <a:solidFill>
            <a:srgbClr val="FFAB70"/>
          </a:solidFill>
          <a:ln w="9525">
            <a:solidFill>
              <a:srgbClr val="2B2B2B"/>
            </a:solidFill>
            <a:prstDash val="solid"/>
          </a:ln>
        </p:spPr>
      </p:sp>
      <p:sp>
        <p:nvSpPr>
          <p:cNvPr id="16" name="Text 14"/>
          <p:cNvSpPr txBox="1"/>
          <p:nvPr/>
        </p:nvSpPr>
        <p:spPr>
          <a:xfrm>
            <a:off x="3194456"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7" name="Shape 15"/>
          <p:cNvSpPr/>
          <p:nvPr/>
        </p:nvSpPr>
        <p:spPr>
          <a:xfrm>
            <a:off x="5096408" y="2662276"/>
            <a:ext cx="345643" cy="345643"/>
          </a:xfrm>
          <a:prstGeom prst="ellipse">
            <a:avLst/>
          </a:prstGeom>
          <a:solidFill>
            <a:srgbClr val="77BFEE"/>
          </a:solidFill>
          <a:ln w="9525">
            <a:solidFill>
              <a:srgbClr val="2B2B2B"/>
            </a:solidFill>
            <a:prstDash val="solid"/>
          </a:ln>
        </p:spPr>
      </p:sp>
      <p:sp>
        <p:nvSpPr>
          <p:cNvPr id="18" name="Text 16"/>
          <p:cNvSpPr txBox="1"/>
          <p:nvPr/>
        </p:nvSpPr>
        <p:spPr>
          <a:xfrm>
            <a:off x="3816248"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19" name="Shape 17"/>
          <p:cNvSpPr/>
          <p:nvPr/>
        </p:nvSpPr>
        <p:spPr>
          <a:xfrm>
            <a:off x="1909039" y="3265780"/>
            <a:ext cx="589788" cy="589788"/>
          </a:xfrm>
          <a:prstGeom prst="ellipse">
            <a:avLst/>
          </a:prstGeom>
          <a:solidFill>
            <a:srgbClr val="FF8AC2"/>
          </a:solidFill>
          <a:ln w="9525">
            <a:solidFill>
              <a:srgbClr val="2B2B2B"/>
            </a:solidFill>
            <a:prstDash val="solid"/>
          </a:ln>
        </p:spPr>
      </p:sp>
      <p:sp>
        <p:nvSpPr>
          <p:cNvPr id="20" name="Text 18"/>
          <p:cNvSpPr txBox="1"/>
          <p:nvPr/>
        </p:nvSpPr>
        <p:spPr>
          <a:xfrm>
            <a:off x="2544547"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1" name="Shape 19"/>
          <p:cNvSpPr/>
          <p:nvPr/>
        </p:nvSpPr>
        <p:spPr>
          <a:xfrm>
            <a:off x="5180076" y="4376913"/>
            <a:ext cx="619963" cy="619963"/>
          </a:xfrm>
          <a:prstGeom prst="ellipse">
            <a:avLst/>
          </a:prstGeom>
          <a:solidFill>
            <a:srgbClr val="FF8AC2"/>
          </a:solidFill>
          <a:ln w="9525">
            <a:solidFill>
              <a:srgbClr val="2B2B2B"/>
            </a:solidFill>
            <a:prstDash val="solid"/>
          </a:ln>
        </p:spPr>
      </p:sp>
      <p:sp>
        <p:nvSpPr>
          <p:cNvPr id="22" name="Text 20"/>
          <p:cNvSpPr txBox="1"/>
          <p:nvPr/>
        </p:nvSpPr>
        <p:spPr>
          <a:xfrm>
            <a:off x="3899916"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3" name="Shape 21"/>
          <p:cNvSpPr/>
          <p:nvPr/>
        </p:nvSpPr>
        <p:spPr>
          <a:xfrm>
            <a:off x="4544339" y="4346875"/>
            <a:ext cx="345643" cy="345643"/>
          </a:xfrm>
          <a:prstGeom prst="ellipse">
            <a:avLst/>
          </a:prstGeom>
          <a:solidFill>
            <a:srgbClr val="77BFEE"/>
          </a:solidFill>
          <a:ln w="9525">
            <a:solidFill>
              <a:srgbClr val="2B2B2B"/>
            </a:solidFill>
            <a:prstDash val="solid"/>
          </a:ln>
        </p:spPr>
      </p:sp>
      <p:sp>
        <p:nvSpPr>
          <p:cNvPr id="24" name="Text 22"/>
          <p:cNvSpPr txBox="1"/>
          <p:nvPr/>
        </p:nvSpPr>
        <p:spPr>
          <a:xfrm>
            <a:off x="4935703"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5" name="Shape 23"/>
          <p:cNvSpPr/>
          <p:nvPr/>
        </p:nvSpPr>
        <p:spPr>
          <a:xfrm>
            <a:off x="3992728" y="2758425"/>
            <a:ext cx="323698" cy="323698"/>
          </a:xfrm>
          <a:prstGeom prst="ellipse">
            <a:avLst/>
          </a:prstGeom>
          <a:solidFill>
            <a:srgbClr val="77BFEE"/>
          </a:solidFill>
          <a:ln w="9525">
            <a:solidFill>
              <a:srgbClr val="2B2B2B"/>
            </a:solidFill>
            <a:prstDash val="solid"/>
          </a:ln>
        </p:spPr>
      </p:sp>
      <p:sp>
        <p:nvSpPr>
          <p:cNvPr id="26" name="Text 24"/>
          <p:cNvSpPr txBox="1"/>
          <p:nvPr/>
        </p:nvSpPr>
        <p:spPr>
          <a:xfrm>
            <a:off x="2712568"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7" name="Shape 25"/>
          <p:cNvSpPr/>
          <p:nvPr/>
        </p:nvSpPr>
        <p:spPr>
          <a:xfrm>
            <a:off x="5778322" y="2131741"/>
            <a:ext cx="296266" cy="296266"/>
          </a:xfrm>
          <a:prstGeom prst="ellipse">
            <a:avLst/>
          </a:prstGeom>
          <a:solidFill>
            <a:srgbClr val="77BFEE"/>
          </a:solidFill>
          <a:ln w="9525">
            <a:solidFill>
              <a:srgbClr val="2B2B2B"/>
            </a:solidFill>
            <a:prstDash val="solid"/>
          </a:ln>
        </p:spPr>
      </p:sp>
      <p:sp>
        <p:nvSpPr>
          <p:cNvPr id="28" name="Text 26"/>
          <p:cNvSpPr txBox="1"/>
          <p:nvPr/>
        </p:nvSpPr>
        <p:spPr>
          <a:xfrm>
            <a:off x="4498162"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29" name="Text 27"/>
          <p:cNvSpPr txBox="1"/>
          <p:nvPr/>
        </p:nvSpPr>
        <p:spPr>
          <a:xfrm>
            <a:off x="1051560"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0" name="Text 28"/>
          <p:cNvSpPr txBox="1"/>
          <p:nvPr/>
        </p:nvSpPr>
        <p:spPr>
          <a:xfrm>
            <a:off x="7114032" y="1645920"/>
            <a:ext cx="452628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526280"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2" name="Text 29"/>
          <p:cNvSpPr txBox="1"/>
          <p:nvPr/>
        </p:nvSpPr>
        <p:spPr>
          <a:xfrm>
            <a:off x="7114032" y="3127248"/>
            <a:ext cx="452628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3" name="Shape 30"/>
          <p:cNvSpPr/>
          <p:nvPr/>
        </p:nvSpPr>
        <p:spPr>
          <a:xfrm>
            <a:off x="7114032" y="3401568"/>
            <a:ext cx="4526280" cy="1170432"/>
          </a:xfrm>
          <a:prstGeom prst="roundRect">
            <a:avLst>
              <a:gd name="adj" fmla="val 3906"/>
            </a:avLst>
          </a:prstGeom>
          <a:solidFill>
            <a:srgbClr val="FFD6BA"/>
          </a:solidFill>
          <a:ln w="12700">
            <a:solidFill>
              <a:srgbClr val="FFAB70"/>
            </a:solidFill>
            <a:prstDash val="solid"/>
          </a:ln>
        </p:spPr>
      </p:sp>
      <p:sp>
        <p:nvSpPr>
          <p:cNvPr id="34" name="Text 31"/>
          <p:cNvSpPr txBox="1"/>
          <p:nvPr/>
        </p:nvSpPr>
        <p:spPr>
          <a:xfrm>
            <a:off x="7260336" y="3474720"/>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5" name="Text 32"/>
          <p:cNvSpPr txBox="1"/>
          <p:nvPr/>
        </p:nvSpPr>
        <p:spPr>
          <a:xfrm>
            <a:off x="7260336" y="3712464"/>
            <a:ext cx="4233672"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6" name="Shape 33"/>
          <p:cNvSpPr/>
          <p:nvPr/>
        </p:nvSpPr>
        <p:spPr>
          <a:xfrm>
            <a:off x="7114032" y="4645152"/>
            <a:ext cx="4526280" cy="1389888"/>
          </a:xfrm>
          <a:prstGeom prst="roundRect">
            <a:avLst>
              <a:gd name="adj" fmla="val 3289"/>
            </a:avLst>
          </a:prstGeom>
          <a:solidFill>
            <a:srgbClr val="E5E5E5"/>
          </a:solidFill>
          <a:ln w="12700">
            <a:solidFill>
              <a:srgbClr val="CACACA"/>
            </a:solidFill>
            <a:prstDash val="solid"/>
          </a:ln>
        </p:spPr>
      </p:sp>
      <p:sp>
        <p:nvSpPr>
          <p:cNvPr id="37" name="Text 34"/>
          <p:cNvSpPr txBox="1"/>
          <p:nvPr/>
        </p:nvSpPr>
        <p:spPr>
          <a:xfrm>
            <a:off x="7260336" y="4718304"/>
            <a:ext cx="423367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38" name="Text 35"/>
          <p:cNvSpPr txBox="1"/>
          <p:nvPr/>
        </p:nvSpPr>
        <p:spPr>
          <a:xfrm>
            <a:off x="7260336" y="4956048"/>
            <a:ext cx="4233672"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39" name="Text 3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¿Se paga el riesgo? Entre mercados, no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100" dirty="0"/>
          </a:p>
        </p:txBody>
      </p:sp>
      <p:graphicFrame>
        <p:nvGraphicFramePr>
          <p:cNvPr id="4" name="Chart 0" descr=""/>
          <p:cNvGraphicFramePr/>
          <p:nvPr/>
        </p:nvGraphicFramePr>
        <p:xfrm>
          <a:off x="548640"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6" name="Shape 3"/>
          <p:cNvSpPr/>
          <p:nvPr/>
        </p:nvSpPr>
        <p:spPr>
          <a:xfrm>
            <a:off x="548640" y="5102352"/>
            <a:ext cx="6629400" cy="950976"/>
          </a:xfrm>
          <a:prstGeom prst="roundRect">
            <a:avLst>
              <a:gd name="adj" fmla="val 4808"/>
            </a:avLst>
          </a:prstGeom>
          <a:solidFill>
            <a:srgbClr val="FFD6BA"/>
          </a:solidFill>
          <a:ln w="12700">
            <a:solidFill>
              <a:srgbClr val="FFAB70"/>
            </a:solidFill>
            <a:prstDash val="solid"/>
          </a:ln>
        </p:spPr>
      </p:sp>
      <p:sp>
        <p:nvSpPr>
          <p:cNvPr id="7" name="Text 4"/>
          <p:cNvSpPr txBox="1"/>
          <p:nvPr/>
        </p:nvSpPr>
        <p:spPr>
          <a:xfrm>
            <a:off x="694944"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8" name="Text 5"/>
          <p:cNvSpPr txBox="1"/>
          <p:nvPr/>
        </p:nvSpPr>
        <p:spPr>
          <a:xfrm>
            <a:off x="694944"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9" name="Text 6"/>
          <p:cNvSpPr txBox="1"/>
          <p:nvPr/>
        </p:nvSpPr>
        <p:spPr>
          <a:xfrm>
            <a:off x="7479792" y="1664208"/>
            <a:ext cx="4160520"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0" name="Text 7"/>
          <p:cNvSpPr txBox="1"/>
          <p:nvPr/>
        </p:nvSpPr>
        <p:spPr>
          <a:xfrm>
            <a:off x="7479792" y="1901952"/>
            <a:ext cx="416052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1" name="Text 8"/>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2" name="Shape 9"/>
          <p:cNvSpPr/>
          <p:nvPr/>
        </p:nvSpPr>
        <p:spPr>
          <a:xfrm>
            <a:off x="8686800" y="2199132"/>
            <a:ext cx="2179320" cy="137160"/>
          </a:xfrm>
          <a:prstGeom prst="rect">
            <a:avLst/>
          </a:prstGeom>
          <a:solidFill>
            <a:srgbClr val="FFAB70"/>
          </a:solidFill>
          <a:ln w="6350">
            <a:solidFill>
              <a:srgbClr val="FFAB70"/>
            </a:solidFill>
            <a:prstDash val="solid"/>
          </a:ln>
        </p:spPr>
      </p:sp>
      <p:sp>
        <p:nvSpPr>
          <p:cNvPr id="13" name="Text 10"/>
          <p:cNvSpPr txBox="1"/>
          <p:nvPr/>
        </p:nvSpPr>
        <p:spPr>
          <a:xfrm>
            <a:off x="11018520"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4" name="Text 11"/>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5" name="Shape 12"/>
          <p:cNvSpPr/>
          <p:nvPr/>
        </p:nvSpPr>
        <p:spPr>
          <a:xfrm>
            <a:off x="8686800" y="2473452"/>
            <a:ext cx="1828800" cy="137160"/>
          </a:xfrm>
          <a:prstGeom prst="rect">
            <a:avLst/>
          </a:prstGeom>
          <a:solidFill>
            <a:srgbClr val="FFAB70"/>
          </a:solidFill>
          <a:ln w="6350">
            <a:solidFill>
              <a:srgbClr val="FFAB70"/>
            </a:solidFill>
            <a:prstDash val="solid"/>
          </a:ln>
        </p:spPr>
      </p:sp>
      <p:sp>
        <p:nvSpPr>
          <p:cNvPr id="16" name="Text 13"/>
          <p:cNvSpPr txBox="1"/>
          <p:nvPr/>
        </p:nvSpPr>
        <p:spPr>
          <a:xfrm>
            <a:off x="11018520"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7" name="Text 14"/>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18" name="Shape 15"/>
          <p:cNvSpPr/>
          <p:nvPr/>
        </p:nvSpPr>
        <p:spPr>
          <a:xfrm>
            <a:off x="8686800" y="2747772"/>
            <a:ext cx="1752600" cy="137160"/>
          </a:xfrm>
          <a:prstGeom prst="rect">
            <a:avLst/>
          </a:prstGeom>
          <a:solidFill>
            <a:srgbClr val="FFAB70"/>
          </a:solidFill>
          <a:ln w="6350">
            <a:solidFill>
              <a:srgbClr val="FFAB70"/>
            </a:solidFill>
            <a:prstDash val="solid"/>
          </a:ln>
        </p:spPr>
      </p:sp>
      <p:sp>
        <p:nvSpPr>
          <p:cNvPr id="19" name="Text 16"/>
          <p:cNvSpPr txBox="1"/>
          <p:nvPr/>
        </p:nvSpPr>
        <p:spPr>
          <a:xfrm>
            <a:off x="11018520"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0" name="Text 17"/>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1" name="Shape 18"/>
          <p:cNvSpPr/>
          <p:nvPr/>
        </p:nvSpPr>
        <p:spPr>
          <a:xfrm>
            <a:off x="8686800" y="3022092"/>
            <a:ext cx="990600" cy="137160"/>
          </a:xfrm>
          <a:prstGeom prst="rect">
            <a:avLst/>
          </a:prstGeom>
          <a:solidFill>
            <a:srgbClr val="FFD6BA"/>
          </a:solidFill>
          <a:ln w="6350">
            <a:solidFill>
              <a:srgbClr val="FFAB70"/>
            </a:solidFill>
            <a:prstDash val="solid"/>
          </a:ln>
        </p:spPr>
      </p:sp>
      <p:sp>
        <p:nvSpPr>
          <p:cNvPr id="22" name="Text 19"/>
          <p:cNvSpPr txBox="1"/>
          <p:nvPr/>
        </p:nvSpPr>
        <p:spPr>
          <a:xfrm>
            <a:off x="11018520"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3" name="Text 20"/>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4" name="Shape 21"/>
          <p:cNvSpPr/>
          <p:nvPr/>
        </p:nvSpPr>
        <p:spPr>
          <a:xfrm>
            <a:off x="8686800" y="3296412"/>
            <a:ext cx="899160" cy="137160"/>
          </a:xfrm>
          <a:prstGeom prst="rect">
            <a:avLst/>
          </a:prstGeom>
          <a:solidFill>
            <a:srgbClr val="FFD6BA"/>
          </a:solidFill>
          <a:ln w="6350">
            <a:solidFill>
              <a:srgbClr val="FFAB70"/>
            </a:solidFill>
            <a:prstDash val="solid"/>
          </a:ln>
        </p:spPr>
      </p:sp>
      <p:sp>
        <p:nvSpPr>
          <p:cNvPr id="25" name="Text 22"/>
          <p:cNvSpPr txBox="1"/>
          <p:nvPr/>
        </p:nvSpPr>
        <p:spPr>
          <a:xfrm>
            <a:off x="11018520"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6" name="Text 23"/>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7" name="Shape 24"/>
          <p:cNvSpPr/>
          <p:nvPr/>
        </p:nvSpPr>
        <p:spPr>
          <a:xfrm>
            <a:off x="8686800" y="3570732"/>
            <a:ext cx="746760" cy="137160"/>
          </a:xfrm>
          <a:prstGeom prst="rect">
            <a:avLst/>
          </a:prstGeom>
          <a:solidFill>
            <a:srgbClr val="FFD6BA"/>
          </a:solidFill>
          <a:ln w="6350">
            <a:solidFill>
              <a:srgbClr val="FFAB70"/>
            </a:solidFill>
            <a:prstDash val="solid"/>
          </a:ln>
        </p:spPr>
      </p:sp>
      <p:sp>
        <p:nvSpPr>
          <p:cNvPr id="28" name="Text 25"/>
          <p:cNvSpPr txBox="1"/>
          <p:nvPr/>
        </p:nvSpPr>
        <p:spPr>
          <a:xfrm>
            <a:off x="11018520"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29" name="Text 26"/>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0" name="Shape 27"/>
          <p:cNvSpPr/>
          <p:nvPr/>
        </p:nvSpPr>
        <p:spPr>
          <a:xfrm>
            <a:off x="8686800" y="3845052"/>
            <a:ext cx="60960" cy="137160"/>
          </a:xfrm>
          <a:prstGeom prst="rect">
            <a:avLst/>
          </a:prstGeom>
          <a:solidFill>
            <a:srgbClr val="FFCCE8"/>
          </a:solidFill>
          <a:ln w="6350">
            <a:solidFill>
              <a:srgbClr val="FF8AC2"/>
            </a:solidFill>
            <a:prstDash val="solid"/>
          </a:ln>
        </p:spPr>
      </p:sp>
      <p:sp>
        <p:nvSpPr>
          <p:cNvPr id="31" name="Text 28"/>
          <p:cNvSpPr txBox="1"/>
          <p:nvPr/>
        </p:nvSpPr>
        <p:spPr>
          <a:xfrm>
            <a:off x="11018520"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2" name="Shape 29"/>
          <p:cNvSpPr/>
          <p:nvPr/>
        </p:nvSpPr>
        <p:spPr>
          <a:xfrm>
            <a:off x="7479792" y="4096512"/>
            <a:ext cx="4160520" cy="914400"/>
          </a:xfrm>
          <a:prstGeom prst="roundRect">
            <a:avLst>
              <a:gd name="adj" fmla="val 5000"/>
            </a:avLst>
          </a:prstGeom>
          <a:solidFill>
            <a:srgbClr val="C7E3F9"/>
          </a:solidFill>
          <a:ln w="12700">
            <a:solidFill>
              <a:srgbClr val="77BFEE"/>
            </a:solidFill>
            <a:prstDash val="solid"/>
          </a:ln>
        </p:spPr>
      </p:sp>
      <p:sp>
        <p:nvSpPr>
          <p:cNvPr id="33" name="Text 30"/>
          <p:cNvSpPr txBox="1"/>
          <p:nvPr/>
        </p:nvSpPr>
        <p:spPr>
          <a:xfrm>
            <a:off x="7626096" y="41696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4" name="Text 31"/>
          <p:cNvSpPr txBox="1"/>
          <p:nvPr/>
        </p:nvSpPr>
        <p:spPr>
          <a:xfrm>
            <a:off x="7626096" y="4389120"/>
            <a:ext cx="3867912"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5" name="Shape 32"/>
          <p:cNvSpPr/>
          <p:nvPr/>
        </p:nvSpPr>
        <p:spPr>
          <a:xfrm>
            <a:off x="7479792" y="5102352"/>
            <a:ext cx="4160520" cy="950976"/>
          </a:xfrm>
          <a:prstGeom prst="roundRect">
            <a:avLst>
              <a:gd name="adj" fmla="val 4808"/>
            </a:avLst>
          </a:prstGeom>
          <a:solidFill>
            <a:srgbClr val="E5E5E5"/>
          </a:solidFill>
          <a:ln w="12700">
            <a:solidFill>
              <a:srgbClr val="CACACA"/>
            </a:solidFill>
            <a:prstDash val="solid"/>
          </a:ln>
        </p:spPr>
      </p:sp>
      <p:sp>
        <p:nvSpPr>
          <p:cNvPr id="36" name="Text 33"/>
          <p:cNvSpPr txBox="1"/>
          <p:nvPr/>
        </p:nvSpPr>
        <p:spPr>
          <a:xfrm>
            <a:off x="7626096" y="517550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7" name="Text 34"/>
          <p:cNvSpPr txBox="1"/>
          <p:nvPr/>
        </p:nvSpPr>
        <p:spPr>
          <a:xfrm>
            <a:off x="7626096" y="5413248"/>
            <a:ext cx="3867912"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38" name="Text 3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Consumo de capital de la cartera PYME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100" dirty="0"/>
          </a:p>
        </p:txBody>
      </p:sp>
      <p:graphicFrame>
        <p:nvGraphicFramePr>
          <p:cNvPr id="4" name="Chart 0" descr=""/>
          <p:cNvGraphicFramePr/>
          <p:nvPr/>
        </p:nvGraphicFramePr>
        <p:xfrm>
          <a:off x="548640"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920240"/>
          </a:xfrm>
          <a:prstGeom prst="roundRect">
            <a:avLst>
              <a:gd name="adj" fmla="val 2857"/>
            </a:avLst>
          </a:prstGeom>
          <a:solidFill>
            <a:srgbClr val="FFD6BA"/>
          </a:solidFill>
          <a:ln w="12700">
            <a:solidFill>
              <a:srgbClr val="FFAB70"/>
            </a:solidFill>
            <a:prstDash val="solid"/>
          </a:ln>
        </p:spPr>
      </p:sp>
      <p:sp>
        <p:nvSpPr>
          <p:cNvPr id="6" name="Text 3"/>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7" name="Text 4"/>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Text 5"/>
          <p:cNvSpPr txBox="1"/>
          <p:nvPr/>
        </p:nvSpPr>
        <p:spPr>
          <a:xfrm>
            <a:off x="548640" y="5394960"/>
            <a:ext cx="11091672"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0"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Eficiencia, capital y comisiones en Sistema Bancario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2026-Q1 · Nivel de grupo consolidado, no de segmento PYME</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5E5E5"/>
          </a:solidFill>
          <a:ln w="12700">
            <a:solidFill>
              <a:srgbClr val="CACACA"/>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FD6BA"/>
          </a:solidFill>
          <a:ln w="12700">
            <a:solidFill>
              <a:srgbClr val="FFAB70"/>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Circulante: líneas de crédito y descubiertos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1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7" name="Text 4"/>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8" name="Shape 5"/>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Préstamo frente a circulante: 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100" dirty="0"/>
          </a:p>
        </p:txBody>
      </p:sp>
      <p:graphicFrame>
        <p:nvGraphicFramePr>
          <p:cNvPr id="4" name="Chart 0" descr=""/>
          <p:cNvGraphicFramePr/>
          <p:nvPr/>
        </p:nvGraphicFramePr>
        <p:xfrm>
          <a:off x="548640"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3"/>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9" name="Text 5"/>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0" name="Shape 6"/>
          <p:cNvSpPr/>
          <p:nvPr/>
        </p:nvSpPr>
        <p:spPr>
          <a:xfrm>
            <a:off x="8065008" y="5248656"/>
            <a:ext cx="3575304" cy="804672"/>
          </a:xfrm>
          <a:prstGeom prst="roundRect">
            <a:avLst>
              <a:gd name="adj" fmla="val 5682"/>
            </a:avLst>
          </a:prstGeom>
          <a:solidFill>
            <a:srgbClr val="FFD6BA"/>
          </a:solidFill>
          <a:ln w="12700">
            <a:solidFill>
              <a:srgbClr val="FFAB70"/>
            </a:solidFill>
            <a:prstDash val="solid"/>
          </a:ln>
        </p:spPr>
      </p:sp>
      <p:sp>
        <p:nvSpPr>
          <p:cNvPr id="11" name="Text 7"/>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2" name="Text 8"/>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del circulante: se cobra por dos sitios, se consume capital por dos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100" dirty="0"/>
          </a:p>
        </p:txBody>
      </p:sp>
      <p:graphicFrame>
        <p:nvGraphicFramePr>
          <p:cNvPr id="4" name="Chart 0" descr=""/>
          <p:cNvGraphicFramePr/>
          <p:nvPr/>
        </p:nvGraphicFramePr>
        <p:xfrm>
          <a:off x="548640"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6" name="Text 3"/>
          <p:cNvSpPr txBox="1"/>
          <p:nvPr/>
        </p:nvSpPr>
        <p:spPr>
          <a:xfrm>
            <a:off x="548640" y="5138928"/>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5394960"/>
          <a:ext cx="6720840" cy="914400"/>
        </p:xfrm>
        <a:graphic>
          <a:graphicData uri="http://schemas.openxmlformats.org/drawingml/2006/table">
            <a:tbl>
              <a:tblPr/>
              <a:tblGrid>
                <a:gridCol w="1920240"/>
                <a:gridCol w="800100"/>
                <a:gridCol w="800100"/>
                <a:gridCol w="800100"/>
                <a:gridCol w="800100"/>
                <a:gridCol w="800100"/>
                <a:gridCol w="800100"/>
              </a:tblGrid>
              <a:tr h="19202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920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Shape 4"/>
          <p:cNvSpPr/>
          <p:nvPr/>
        </p:nvSpPr>
        <p:spPr>
          <a:xfrm>
            <a:off x="7452360" y="1755648"/>
            <a:ext cx="4187952" cy="1024128"/>
          </a:xfrm>
          <a:prstGeom prst="roundRect">
            <a:avLst>
              <a:gd name="adj" fmla="val 4464"/>
            </a:avLst>
          </a:prstGeom>
          <a:solidFill>
            <a:srgbClr val="E5E5E5"/>
          </a:solidFill>
          <a:ln w="12700">
            <a:solidFill>
              <a:srgbClr val="CACACA"/>
            </a:solidFill>
            <a:prstDash val="solid"/>
          </a:ln>
        </p:spPr>
      </p:sp>
      <p:sp>
        <p:nvSpPr>
          <p:cNvPr id="9" name="Text 5"/>
          <p:cNvSpPr txBox="1"/>
          <p:nvPr/>
        </p:nvSpPr>
        <p:spPr>
          <a:xfrm>
            <a:off x="7598664" y="1828800"/>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0" name="Text 6"/>
          <p:cNvSpPr txBox="1"/>
          <p:nvPr/>
        </p:nvSpPr>
        <p:spPr>
          <a:xfrm>
            <a:off x="7598664" y="2066544"/>
            <a:ext cx="3895344"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1" name="Shape 7"/>
          <p:cNvSpPr/>
          <p:nvPr/>
        </p:nvSpPr>
        <p:spPr>
          <a:xfrm>
            <a:off x="7452360" y="2871216"/>
            <a:ext cx="4187952" cy="1188720"/>
          </a:xfrm>
          <a:prstGeom prst="roundRect">
            <a:avLst>
              <a:gd name="adj" fmla="val 3846"/>
            </a:avLst>
          </a:prstGeom>
          <a:solidFill>
            <a:srgbClr val="FFCCE8"/>
          </a:solidFill>
          <a:ln w="12700">
            <a:solidFill>
              <a:srgbClr val="FF8AC2"/>
            </a:solidFill>
            <a:prstDash val="solid"/>
          </a:ln>
        </p:spPr>
      </p:sp>
      <p:sp>
        <p:nvSpPr>
          <p:cNvPr id="12" name="Text 8"/>
          <p:cNvSpPr txBox="1"/>
          <p:nvPr/>
        </p:nvSpPr>
        <p:spPr>
          <a:xfrm>
            <a:off x="7598664" y="294436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3" name="Text 9"/>
          <p:cNvSpPr txBox="1"/>
          <p:nvPr/>
        </p:nvSpPr>
        <p:spPr>
          <a:xfrm>
            <a:off x="7598664" y="3182112"/>
            <a:ext cx="3895344"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4" name="Shape 10"/>
          <p:cNvSpPr/>
          <p:nvPr/>
        </p:nvSpPr>
        <p:spPr>
          <a:xfrm>
            <a:off x="7452360" y="4151376"/>
            <a:ext cx="4187952" cy="1133856"/>
          </a:xfrm>
          <a:prstGeom prst="roundRect">
            <a:avLst>
              <a:gd name="adj" fmla="val 4032"/>
            </a:avLst>
          </a:prstGeom>
          <a:solidFill>
            <a:srgbClr val="FFD6BA"/>
          </a:solidFill>
          <a:ln w="12700">
            <a:solidFill>
              <a:srgbClr val="FFAB70"/>
            </a:solidFill>
            <a:prstDash val="solid"/>
          </a:ln>
        </p:spPr>
      </p:sp>
      <p:sp>
        <p:nvSpPr>
          <p:cNvPr id="15" name="Text 11"/>
          <p:cNvSpPr txBox="1"/>
          <p:nvPr/>
        </p:nvSpPr>
        <p:spPr>
          <a:xfrm>
            <a:off x="7598664" y="4224528"/>
            <a:ext cx="389534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6" name="Text 12"/>
          <p:cNvSpPr txBox="1"/>
          <p:nvPr/>
        </p:nvSpPr>
        <p:spPr>
          <a:xfrm>
            <a:off x="7598664" y="4462272"/>
            <a:ext cx="3895344"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17" name="Shape 13"/>
          <p:cNvSpPr/>
          <p:nvPr/>
        </p:nvSpPr>
        <p:spPr>
          <a:xfrm>
            <a:off x="7452360" y="5376672"/>
            <a:ext cx="4187952" cy="676656"/>
          </a:xfrm>
          <a:prstGeom prst="roundRect">
            <a:avLst>
              <a:gd name="adj" fmla="val 6757"/>
            </a:avLst>
          </a:prstGeom>
          <a:solidFill>
            <a:srgbClr val="E5E5E5"/>
          </a:solidFill>
          <a:ln w="12700">
            <a:solidFill>
              <a:srgbClr val="CACACA"/>
            </a:solidFill>
            <a:prstDash val="solid"/>
          </a:ln>
        </p:spPr>
      </p:sp>
      <p:sp>
        <p:nvSpPr>
          <p:cNvPr id="18" name="Text 14"/>
          <p:cNvSpPr txBox="1"/>
          <p:nvPr/>
        </p:nvSpPr>
        <p:spPr>
          <a:xfrm>
            <a:off x="7598664" y="5431536"/>
            <a:ext cx="3895344"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19" name="Text 15"/>
          <p:cNvSpPr txBox="1"/>
          <p:nvPr/>
        </p:nvSpPr>
        <p:spPr>
          <a:xfrm>
            <a:off x="7598664" y="5632704"/>
            <a:ext cx="3895344"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0" name="Text 1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Comparables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11091672"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5" name="Shape 2"/>
          <p:cNvSpPr/>
          <p:nvPr/>
        </p:nvSpPr>
        <p:spPr>
          <a:xfrm>
            <a:off x="548640" y="4800600"/>
            <a:ext cx="11091672" cy="1234440"/>
          </a:xfrm>
          <a:prstGeom prst="roundRect">
            <a:avLst>
              <a:gd name="adj" fmla="val 4444"/>
            </a:avLst>
          </a:prstGeom>
          <a:solidFill>
            <a:srgbClr val="FFCCE8"/>
          </a:solidFill>
          <a:ln w="12700">
            <a:solidFill>
              <a:srgbClr val="FF8AC2"/>
            </a:solidFill>
            <a:prstDash val="solid"/>
          </a:ln>
        </p:spPr>
      </p:sp>
      <p:sp>
        <p:nvSpPr>
          <p:cNvPr id="6" name="Text 3"/>
          <p:cNvSpPr txBox="1"/>
          <p:nvPr/>
        </p:nvSpPr>
        <p:spPr>
          <a:xfrm>
            <a:off x="777240"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7" name="Text 4"/>
          <p:cNvSpPr txBox="1"/>
          <p:nvPr/>
        </p:nvSpPr>
        <p:spPr>
          <a:xfrm>
            <a:off x="777240"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8" name="Text 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España: mercado, productos y competidores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demanda, lo que puede pagar, los productos y los cinco grandes bancos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Qué pide la pyme española y qué le duele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100" dirty="0"/>
          </a:p>
        </p:txBody>
      </p:sp>
      <p:graphicFrame>
        <p:nvGraphicFramePr>
          <p:cNvPr id="4" name="Chart 0" descr=""/>
          <p:cNvGraphicFramePr/>
          <p:nvPr/>
        </p:nvGraphicFramePr>
        <p:xfrm>
          <a:off x="548640"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6" name="Text 3"/>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7"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114800"/>
            <a:ext cx="2697480" cy="932688"/>
          </a:xfrm>
          <a:prstGeom prst="roundRect">
            <a:avLst>
              <a:gd name="adj" fmla="val 4902"/>
            </a:avLst>
          </a:prstGeom>
          <a:solidFill>
            <a:srgbClr val="E5E5E5"/>
          </a:solidFill>
          <a:ln w="12700">
            <a:solidFill>
              <a:srgbClr val="CACACA"/>
            </a:solidFill>
            <a:prstDash val="solid"/>
          </a:ln>
        </p:spPr>
      </p:sp>
      <p:sp>
        <p:nvSpPr>
          <p:cNvPr id="9" name="Text 5"/>
          <p:cNvSpPr txBox="1"/>
          <p:nvPr/>
        </p:nvSpPr>
        <p:spPr>
          <a:xfrm>
            <a:off x="67665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0" name="Text 6"/>
          <p:cNvSpPr txBox="1"/>
          <p:nvPr/>
        </p:nvSpPr>
        <p:spPr>
          <a:xfrm>
            <a:off x="67665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1" name="Text 7"/>
          <p:cNvSpPr txBox="1"/>
          <p:nvPr/>
        </p:nvSpPr>
        <p:spPr>
          <a:xfrm>
            <a:off x="67665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2" name="Shape 8"/>
          <p:cNvSpPr/>
          <p:nvPr/>
        </p:nvSpPr>
        <p:spPr>
          <a:xfrm>
            <a:off x="3392424" y="4114800"/>
            <a:ext cx="2697480" cy="932688"/>
          </a:xfrm>
          <a:prstGeom prst="roundRect">
            <a:avLst>
              <a:gd name="adj" fmla="val 4902"/>
            </a:avLst>
          </a:prstGeom>
          <a:solidFill>
            <a:srgbClr val="E5E5E5"/>
          </a:solidFill>
          <a:ln w="12700">
            <a:solidFill>
              <a:srgbClr val="CACACA"/>
            </a:solidFill>
            <a:prstDash val="solid"/>
          </a:ln>
        </p:spPr>
      </p:sp>
      <p:sp>
        <p:nvSpPr>
          <p:cNvPr id="13" name="Text 9"/>
          <p:cNvSpPr txBox="1"/>
          <p:nvPr/>
        </p:nvSpPr>
        <p:spPr>
          <a:xfrm>
            <a:off x="352044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4" name="Text 10"/>
          <p:cNvSpPr txBox="1"/>
          <p:nvPr/>
        </p:nvSpPr>
        <p:spPr>
          <a:xfrm>
            <a:off x="352044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5" name="Text 11"/>
          <p:cNvSpPr txBox="1"/>
          <p:nvPr/>
        </p:nvSpPr>
        <p:spPr>
          <a:xfrm>
            <a:off x="352044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6" name="Shape 12"/>
          <p:cNvSpPr/>
          <p:nvPr/>
        </p:nvSpPr>
        <p:spPr>
          <a:xfrm>
            <a:off x="6236208" y="4114800"/>
            <a:ext cx="2697480" cy="932688"/>
          </a:xfrm>
          <a:prstGeom prst="roundRect">
            <a:avLst>
              <a:gd name="adj" fmla="val 4902"/>
            </a:avLst>
          </a:prstGeom>
          <a:solidFill>
            <a:srgbClr val="E5E5E5"/>
          </a:solidFill>
          <a:ln w="12700">
            <a:solidFill>
              <a:srgbClr val="CACACA"/>
            </a:solidFill>
            <a:prstDash val="solid"/>
          </a:ln>
        </p:spPr>
      </p:sp>
      <p:sp>
        <p:nvSpPr>
          <p:cNvPr id="17" name="Text 13"/>
          <p:cNvSpPr txBox="1"/>
          <p:nvPr/>
        </p:nvSpPr>
        <p:spPr>
          <a:xfrm>
            <a:off x="6364224"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18" name="Text 14"/>
          <p:cNvSpPr txBox="1"/>
          <p:nvPr/>
        </p:nvSpPr>
        <p:spPr>
          <a:xfrm>
            <a:off x="6364224"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19" name="Text 15"/>
          <p:cNvSpPr txBox="1"/>
          <p:nvPr/>
        </p:nvSpPr>
        <p:spPr>
          <a:xfrm>
            <a:off x="6364224"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0" name="Shape 16"/>
          <p:cNvSpPr/>
          <p:nvPr/>
        </p:nvSpPr>
        <p:spPr>
          <a:xfrm>
            <a:off x="9079992" y="4114800"/>
            <a:ext cx="2697480" cy="932688"/>
          </a:xfrm>
          <a:prstGeom prst="roundRect">
            <a:avLst>
              <a:gd name="adj" fmla="val 4902"/>
            </a:avLst>
          </a:prstGeom>
          <a:solidFill>
            <a:srgbClr val="E5E5E5"/>
          </a:solidFill>
          <a:ln w="12700">
            <a:solidFill>
              <a:srgbClr val="CACACA"/>
            </a:solidFill>
            <a:prstDash val="solid"/>
          </a:ln>
        </p:spPr>
      </p:sp>
      <p:sp>
        <p:nvSpPr>
          <p:cNvPr id="21" name="Text 17"/>
          <p:cNvSpPr txBox="1"/>
          <p:nvPr/>
        </p:nvSpPr>
        <p:spPr>
          <a:xfrm>
            <a:off x="92080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2" name="Text 18"/>
          <p:cNvSpPr txBox="1"/>
          <p:nvPr/>
        </p:nvSpPr>
        <p:spPr>
          <a:xfrm>
            <a:off x="92080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3" name="Text 19"/>
          <p:cNvSpPr txBox="1"/>
          <p:nvPr/>
        </p:nvSpPr>
        <p:spPr>
          <a:xfrm>
            <a:off x="92080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4" name="Shape 20"/>
          <p:cNvSpPr/>
          <p:nvPr/>
        </p:nvSpPr>
        <p:spPr>
          <a:xfrm>
            <a:off x="548640" y="5175504"/>
            <a:ext cx="11091672" cy="877824"/>
          </a:xfrm>
          <a:prstGeom prst="roundRect">
            <a:avLst>
              <a:gd name="adj" fmla="val 5208"/>
            </a:avLst>
          </a:prstGeom>
          <a:solidFill>
            <a:srgbClr val="FFD6BA"/>
          </a:solidFill>
          <a:ln w="12700">
            <a:solidFill>
              <a:srgbClr val="FFAB70"/>
            </a:solidFill>
            <a:prstDash val="solid"/>
          </a:ln>
        </p:spPr>
      </p:sp>
      <p:sp>
        <p:nvSpPr>
          <p:cNvPr id="25" name="Text 21"/>
          <p:cNvSpPr txBox="1"/>
          <p:nvPr/>
        </p:nvSpPr>
        <p:spPr>
          <a:xfrm>
            <a:off x="694944"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6" name="Text 22"/>
          <p:cNvSpPr txBox="1"/>
          <p:nvPr/>
        </p:nvSpPr>
        <p:spPr>
          <a:xfrm>
            <a:off x="694944"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Entre las que sí ven obstáculos, el primero es el precio (21,6 %), muy por delante de la falta de comprensión del negocio por la entidad (10,5 %). El crédito se concede: el problema no es el acceso, es a cuánto.</a:t>
            </a:r>
            <a:endParaRPr lang="en-US" sz="900" dirty="0"/>
          </a:p>
        </p:txBody>
      </p:sp>
      <p:sp>
        <p:nvSpPr>
          <p:cNvPr id="27" name="Text 2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Cuánto puede pagar una pyme: el techo del precio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100" dirty="0"/>
          </a:p>
        </p:txBody>
      </p:sp>
      <p:graphicFrame>
        <p:nvGraphicFramePr>
          <p:cNvPr id="4" name="Chart 0" descr=""/>
          <p:cNvGraphicFramePr/>
          <p:nvPr/>
        </p:nvGraphicFramePr>
        <p:xfrm>
          <a:off x="548640"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2"/>
          <p:cNvSpPr/>
          <p:nvPr/>
        </p:nvSpPr>
        <p:spPr>
          <a:xfrm>
            <a:off x="7086600" y="1810512"/>
            <a:ext cx="4553712" cy="1444752"/>
          </a:xfrm>
          <a:prstGeom prst="roundRect">
            <a:avLst>
              <a:gd name="adj" fmla="val 3165"/>
            </a:avLst>
          </a:prstGeom>
          <a:solidFill>
            <a:srgbClr val="FFD6BA"/>
          </a:solidFill>
          <a:ln w="12700">
            <a:solidFill>
              <a:srgbClr val="FFAB70"/>
            </a:solidFill>
            <a:prstDash val="solid"/>
          </a:ln>
        </p:spPr>
      </p:sp>
      <p:sp>
        <p:nvSpPr>
          <p:cNvPr id="7" name="Text 3"/>
          <p:cNvSpPr txBox="1"/>
          <p:nvPr/>
        </p:nvSpPr>
        <p:spPr>
          <a:xfrm>
            <a:off x="7232904" y="188366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8" name="Text 4"/>
          <p:cNvSpPr txBox="1"/>
          <p:nvPr/>
        </p:nvSpPr>
        <p:spPr>
          <a:xfrm>
            <a:off x="7232904" y="2121408"/>
            <a:ext cx="4261104"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9" name="Shape 5"/>
          <p:cNvSpPr/>
          <p:nvPr/>
        </p:nvSpPr>
        <p:spPr>
          <a:xfrm>
            <a:off x="7086600" y="3346704"/>
            <a:ext cx="4553712" cy="1298448"/>
          </a:xfrm>
          <a:prstGeom prst="roundRect">
            <a:avLst>
              <a:gd name="adj" fmla="val 3521"/>
            </a:avLst>
          </a:prstGeom>
          <a:solidFill>
            <a:srgbClr val="C7E3F9"/>
          </a:solidFill>
          <a:ln w="12700">
            <a:solidFill>
              <a:srgbClr val="77BFEE"/>
            </a:solidFill>
            <a:prstDash val="solid"/>
          </a:ln>
        </p:spPr>
      </p:sp>
      <p:sp>
        <p:nvSpPr>
          <p:cNvPr id="10" name="Text 6"/>
          <p:cNvSpPr txBox="1"/>
          <p:nvPr/>
        </p:nvSpPr>
        <p:spPr>
          <a:xfrm>
            <a:off x="7232904" y="3419856"/>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1" name="Text 7"/>
          <p:cNvSpPr txBox="1"/>
          <p:nvPr/>
        </p:nvSpPr>
        <p:spPr>
          <a:xfrm>
            <a:off x="7232904" y="3657600"/>
            <a:ext cx="4261104"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2" name="Shape 8"/>
          <p:cNvSpPr/>
          <p:nvPr/>
        </p:nvSpPr>
        <p:spPr>
          <a:xfrm>
            <a:off x="7086600" y="4736592"/>
            <a:ext cx="4553712" cy="1316736"/>
          </a:xfrm>
          <a:prstGeom prst="roundRect">
            <a:avLst>
              <a:gd name="adj" fmla="val 3472"/>
            </a:avLst>
          </a:prstGeom>
          <a:solidFill>
            <a:srgbClr val="E5E5E5"/>
          </a:solidFill>
          <a:ln w="12700">
            <a:solidFill>
              <a:srgbClr val="CACACA"/>
            </a:solidFill>
            <a:prstDash val="solid"/>
          </a:ln>
        </p:spPr>
      </p:sp>
      <p:sp>
        <p:nvSpPr>
          <p:cNvPr id="13" name="Text 9"/>
          <p:cNvSpPr txBox="1"/>
          <p:nvPr/>
        </p:nvSpPr>
        <p:spPr>
          <a:xfrm>
            <a:off x="7232904" y="4809744"/>
            <a:ext cx="426110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4" name="Text 10"/>
          <p:cNvSpPr txBox="1"/>
          <p:nvPr/>
        </p:nvSpPr>
        <p:spPr>
          <a:xfrm>
            <a:off x="7232904" y="5047488"/>
            <a:ext cx="4261104"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5"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Las comisiones son muy relevantes: impacto en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1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2212848"/>
          </a:xfrm>
          <a:prstGeom prst="roundRect">
            <a:avLst>
              <a:gd name="adj" fmla="val 2479"/>
            </a:avLst>
          </a:prstGeom>
          <a:solidFill>
            <a:srgbClr val="FFD6BA"/>
          </a:solidFill>
          <a:ln w="12700">
            <a:solidFill>
              <a:srgbClr val="FFAB70"/>
            </a:solidFill>
            <a:prstDash val="solid"/>
          </a:ln>
        </p:spPr>
      </p:sp>
      <p:sp>
        <p:nvSpPr>
          <p:cNvPr id="6" name="Text 3"/>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7" name="Text 4"/>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8" name="Text 5"/>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9" name="Text 6"/>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0" name="Text 7"/>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1" name="Text 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autónomo paga 115 pb más que la sociedad pequeña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100" dirty="0"/>
          </a:p>
        </p:txBody>
      </p:sp>
      <p:graphicFrame>
        <p:nvGraphicFramePr>
          <p:cNvPr id="4" name="Chart 0" descr=""/>
          <p:cNvGraphicFramePr/>
          <p:nvPr/>
        </p:nvGraphicFramePr>
        <p:xfrm>
          <a:off x="548640"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6" name="Shape 3"/>
          <p:cNvSpPr/>
          <p:nvPr/>
        </p:nvSpPr>
        <p:spPr>
          <a:xfrm>
            <a:off x="548640" y="5084064"/>
            <a:ext cx="6675120" cy="969264"/>
          </a:xfrm>
          <a:prstGeom prst="roundRect">
            <a:avLst>
              <a:gd name="adj" fmla="val 4717"/>
            </a:avLst>
          </a:prstGeom>
          <a:solidFill>
            <a:srgbClr val="FFD6BA"/>
          </a:solidFill>
          <a:ln w="12700">
            <a:solidFill>
              <a:srgbClr val="FFAB70"/>
            </a:solidFill>
            <a:prstDash val="solid"/>
          </a:ln>
        </p:spPr>
      </p:sp>
      <p:sp>
        <p:nvSpPr>
          <p:cNvPr id="7" name="Text 4"/>
          <p:cNvSpPr txBox="1"/>
          <p:nvPr/>
        </p:nvSpPr>
        <p:spPr>
          <a:xfrm>
            <a:off x="694944"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8" name="Text 5"/>
          <p:cNvSpPr txBox="1"/>
          <p:nvPr/>
        </p:nvSpPr>
        <p:spPr>
          <a:xfrm>
            <a:off x="694944"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9" name="Shape 6"/>
          <p:cNvSpPr/>
          <p:nvPr/>
        </p:nvSpPr>
        <p:spPr>
          <a:xfrm>
            <a:off x="7406640" y="1755648"/>
            <a:ext cx="4233672" cy="1335024"/>
          </a:xfrm>
          <a:prstGeom prst="roundRect">
            <a:avLst>
              <a:gd name="adj" fmla="val 3425"/>
            </a:avLst>
          </a:prstGeom>
          <a:solidFill>
            <a:srgbClr val="C7E3F9"/>
          </a:solidFill>
          <a:ln w="12700">
            <a:solidFill>
              <a:srgbClr val="77BFEE"/>
            </a:solidFill>
            <a:prstDash val="solid"/>
          </a:ln>
        </p:spPr>
      </p:sp>
      <p:sp>
        <p:nvSpPr>
          <p:cNvPr id="10" name="Text 7"/>
          <p:cNvSpPr txBox="1"/>
          <p:nvPr/>
        </p:nvSpPr>
        <p:spPr>
          <a:xfrm>
            <a:off x="7552944" y="1828800"/>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1" name="Text 8"/>
          <p:cNvSpPr txBox="1"/>
          <p:nvPr/>
        </p:nvSpPr>
        <p:spPr>
          <a:xfrm>
            <a:off x="7552944" y="2066544"/>
            <a:ext cx="3941064"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2" name="Shape 9"/>
          <p:cNvSpPr/>
          <p:nvPr/>
        </p:nvSpPr>
        <p:spPr>
          <a:xfrm>
            <a:off x="7406640" y="3182112"/>
            <a:ext cx="4233672" cy="1188720"/>
          </a:xfrm>
          <a:prstGeom prst="roundRect">
            <a:avLst>
              <a:gd name="adj" fmla="val 3846"/>
            </a:avLst>
          </a:prstGeom>
          <a:solidFill>
            <a:srgbClr val="E5E5E5"/>
          </a:solidFill>
          <a:ln w="12700">
            <a:solidFill>
              <a:srgbClr val="CACACA"/>
            </a:solidFill>
            <a:prstDash val="solid"/>
          </a:ln>
        </p:spPr>
      </p:sp>
      <p:sp>
        <p:nvSpPr>
          <p:cNvPr id="13" name="Text 10"/>
          <p:cNvSpPr txBox="1"/>
          <p:nvPr/>
        </p:nvSpPr>
        <p:spPr>
          <a:xfrm>
            <a:off x="7552944" y="325526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4" name="Text 11"/>
          <p:cNvSpPr txBox="1"/>
          <p:nvPr/>
        </p:nvSpPr>
        <p:spPr>
          <a:xfrm>
            <a:off x="7552944" y="3493008"/>
            <a:ext cx="3941064"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5" name="Shape 12"/>
          <p:cNvSpPr/>
          <p:nvPr/>
        </p:nvSpPr>
        <p:spPr>
          <a:xfrm>
            <a:off x="7406640" y="4462272"/>
            <a:ext cx="4233672" cy="1591056"/>
          </a:xfrm>
          <a:prstGeom prst="roundRect">
            <a:avLst>
              <a:gd name="adj" fmla="val 2874"/>
            </a:avLst>
          </a:prstGeom>
          <a:solidFill>
            <a:srgbClr val="FFCCE8"/>
          </a:solidFill>
          <a:ln w="12700">
            <a:solidFill>
              <a:srgbClr val="FF8AC2"/>
            </a:solidFill>
            <a:prstDash val="solid"/>
          </a:ln>
        </p:spPr>
      </p:sp>
      <p:sp>
        <p:nvSpPr>
          <p:cNvPr id="16" name="Text 13"/>
          <p:cNvSpPr txBox="1"/>
          <p:nvPr/>
        </p:nvSpPr>
        <p:spPr>
          <a:xfrm>
            <a:off x="7552944" y="4535424"/>
            <a:ext cx="39410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7" name="Text 14"/>
          <p:cNvSpPr txBox="1"/>
          <p:nvPr/>
        </p:nvSpPr>
        <p:spPr>
          <a:xfrm>
            <a:off x="7552944" y="4773168"/>
            <a:ext cx="3941064"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18" name="Text 1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circulante en España: el producto más pedido y el peor medido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100" dirty="0"/>
          </a:p>
        </p:txBody>
      </p:sp>
      <p:sp>
        <p:nvSpPr>
          <p:cNvPr id="4" name="Shape 2"/>
          <p:cNvSpPr/>
          <p:nvPr/>
        </p:nvSpPr>
        <p:spPr>
          <a:xfrm>
            <a:off x="548640" y="1737360"/>
            <a:ext cx="2697480" cy="987552"/>
          </a:xfrm>
          <a:prstGeom prst="roundRect">
            <a:avLst>
              <a:gd name="adj" fmla="val 4630"/>
            </a:avLst>
          </a:prstGeom>
          <a:solidFill>
            <a:srgbClr val="E5E5E5"/>
          </a:solidFill>
          <a:ln w="12700">
            <a:solidFill>
              <a:srgbClr val="CACACA"/>
            </a:solidFill>
            <a:prstDash val="solid"/>
          </a:ln>
        </p:spPr>
      </p:sp>
      <p:sp>
        <p:nvSpPr>
          <p:cNvPr id="5" name="Text 3"/>
          <p:cNvSpPr txBox="1"/>
          <p:nvPr/>
        </p:nvSpPr>
        <p:spPr>
          <a:xfrm>
            <a:off x="67665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6" name="Text 4"/>
          <p:cNvSpPr txBox="1"/>
          <p:nvPr/>
        </p:nvSpPr>
        <p:spPr>
          <a:xfrm>
            <a:off x="67665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7" name="Text 5"/>
          <p:cNvSpPr txBox="1"/>
          <p:nvPr/>
        </p:nvSpPr>
        <p:spPr>
          <a:xfrm>
            <a:off x="67665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8" name="Shape 6"/>
          <p:cNvSpPr/>
          <p:nvPr/>
        </p:nvSpPr>
        <p:spPr>
          <a:xfrm>
            <a:off x="3392424" y="1737360"/>
            <a:ext cx="2697480" cy="987552"/>
          </a:xfrm>
          <a:prstGeom prst="roundRect">
            <a:avLst>
              <a:gd name="adj" fmla="val 4630"/>
            </a:avLst>
          </a:prstGeom>
          <a:solidFill>
            <a:srgbClr val="E5E5E5"/>
          </a:solidFill>
          <a:ln w="12700">
            <a:solidFill>
              <a:srgbClr val="CACACA"/>
            </a:solidFill>
            <a:prstDash val="solid"/>
          </a:ln>
        </p:spPr>
      </p:sp>
      <p:sp>
        <p:nvSpPr>
          <p:cNvPr id="9" name="Text 7"/>
          <p:cNvSpPr txBox="1"/>
          <p:nvPr/>
        </p:nvSpPr>
        <p:spPr>
          <a:xfrm>
            <a:off x="352044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0" name="Text 8"/>
          <p:cNvSpPr txBox="1"/>
          <p:nvPr/>
        </p:nvSpPr>
        <p:spPr>
          <a:xfrm>
            <a:off x="352044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1" name="Text 9"/>
          <p:cNvSpPr txBox="1"/>
          <p:nvPr/>
        </p:nvSpPr>
        <p:spPr>
          <a:xfrm>
            <a:off x="352044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2" name="Shape 10"/>
          <p:cNvSpPr/>
          <p:nvPr/>
        </p:nvSpPr>
        <p:spPr>
          <a:xfrm>
            <a:off x="6236208" y="1737360"/>
            <a:ext cx="2697480" cy="987552"/>
          </a:xfrm>
          <a:prstGeom prst="roundRect">
            <a:avLst>
              <a:gd name="adj" fmla="val 4630"/>
            </a:avLst>
          </a:prstGeom>
          <a:solidFill>
            <a:srgbClr val="E5E5E5"/>
          </a:solidFill>
          <a:ln w="12700">
            <a:solidFill>
              <a:srgbClr val="CACACA"/>
            </a:solidFill>
            <a:prstDash val="solid"/>
          </a:ln>
        </p:spPr>
      </p:sp>
      <p:sp>
        <p:nvSpPr>
          <p:cNvPr id="13" name="Text 11"/>
          <p:cNvSpPr txBox="1"/>
          <p:nvPr/>
        </p:nvSpPr>
        <p:spPr>
          <a:xfrm>
            <a:off x="6364224"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4" name="Text 12"/>
          <p:cNvSpPr txBox="1"/>
          <p:nvPr/>
        </p:nvSpPr>
        <p:spPr>
          <a:xfrm>
            <a:off x="6364224"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5" name="Text 13"/>
          <p:cNvSpPr txBox="1"/>
          <p:nvPr/>
        </p:nvSpPr>
        <p:spPr>
          <a:xfrm>
            <a:off x="6364224"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6" name="Shape 14"/>
          <p:cNvSpPr/>
          <p:nvPr/>
        </p:nvSpPr>
        <p:spPr>
          <a:xfrm>
            <a:off x="9079992" y="1737360"/>
            <a:ext cx="2697480" cy="987552"/>
          </a:xfrm>
          <a:prstGeom prst="roundRect">
            <a:avLst>
              <a:gd name="adj" fmla="val 4630"/>
            </a:avLst>
          </a:prstGeom>
          <a:solidFill>
            <a:srgbClr val="E5E5E5"/>
          </a:solidFill>
          <a:ln w="12700">
            <a:solidFill>
              <a:srgbClr val="CACACA"/>
            </a:solidFill>
            <a:prstDash val="solid"/>
          </a:ln>
        </p:spPr>
      </p:sp>
      <p:sp>
        <p:nvSpPr>
          <p:cNvPr id="17" name="Text 15"/>
          <p:cNvSpPr txBox="1"/>
          <p:nvPr/>
        </p:nvSpPr>
        <p:spPr>
          <a:xfrm>
            <a:off x="92080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18" name="Text 16"/>
          <p:cNvSpPr txBox="1"/>
          <p:nvPr/>
        </p:nvSpPr>
        <p:spPr>
          <a:xfrm>
            <a:off x="92080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19" name="Text 17"/>
          <p:cNvSpPr txBox="1"/>
          <p:nvPr/>
        </p:nvSpPr>
        <p:spPr>
          <a:xfrm>
            <a:off x="92080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0" name="Chart 0" descr=""/>
          <p:cNvGraphicFramePr/>
          <p:nvPr/>
        </p:nvGraphicFramePr>
        <p:xfrm>
          <a:off x="548640"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2" name="Shape 19"/>
          <p:cNvSpPr/>
          <p:nvPr/>
        </p:nvSpPr>
        <p:spPr>
          <a:xfrm>
            <a:off x="7360920" y="2926080"/>
            <a:ext cx="4279392" cy="1481328"/>
          </a:xfrm>
          <a:prstGeom prst="roundRect">
            <a:avLst>
              <a:gd name="adj" fmla="val 3086"/>
            </a:avLst>
          </a:prstGeom>
          <a:solidFill>
            <a:srgbClr val="FFD6BA"/>
          </a:solidFill>
          <a:ln w="12700">
            <a:solidFill>
              <a:srgbClr val="FFAB70"/>
            </a:solidFill>
            <a:prstDash val="solid"/>
          </a:ln>
        </p:spPr>
      </p:sp>
      <p:sp>
        <p:nvSpPr>
          <p:cNvPr id="23" name="Text 20"/>
          <p:cNvSpPr txBox="1"/>
          <p:nvPr/>
        </p:nvSpPr>
        <p:spPr>
          <a:xfrm>
            <a:off x="7507224" y="2999232"/>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4" name="Text 21"/>
          <p:cNvSpPr txBox="1"/>
          <p:nvPr/>
        </p:nvSpPr>
        <p:spPr>
          <a:xfrm>
            <a:off x="7507224" y="3236976"/>
            <a:ext cx="3986784"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5" name="Shape 22"/>
          <p:cNvSpPr/>
          <p:nvPr/>
        </p:nvSpPr>
        <p:spPr>
          <a:xfrm>
            <a:off x="7360920" y="4517136"/>
            <a:ext cx="4279392" cy="1536192"/>
          </a:xfrm>
          <a:prstGeom prst="roundRect">
            <a:avLst>
              <a:gd name="adj" fmla="val 2976"/>
            </a:avLst>
          </a:prstGeom>
          <a:solidFill>
            <a:srgbClr val="C7E3F9"/>
          </a:solidFill>
          <a:ln w="12700">
            <a:solidFill>
              <a:srgbClr val="77BFEE"/>
            </a:solidFill>
            <a:prstDash val="solid"/>
          </a:ln>
        </p:spPr>
      </p:sp>
      <p:sp>
        <p:nvSpPr>
          <p:cNvPr id="26" name="Text 23"/>
          <p:cNvSpPr txBox="1"/>
          <p:nvPr/>
        </p:nvSpPr>
        <p:spPr>
          <a:xfrm>
            <a:off x="7507224" y="4590288"/>
            <a:ext cx="398678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7" name="Text 24"/>
          <p:cNvSpPr txBox="1"/>
          <p:nvPr/>
        </p:nvSpPr>
        <p:spPr>
          <a:xfrm>
            <a:off x="7507224" y="4828032"/>
            <a:ext cx="3986784"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28" name="Text 25"/>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Factoring y confirming: España es un caso aparte en Europa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100" dirty="0"/>
          </a:p>
        </p:txBody>
      </p:sp>
      <p:graphicFrame>
        <p:nvGraphicFramePr>
          <p:cNvPr id="4" name="Chart 0" descr=""/>
          <p:cNvGraphicFramePr/>
          <p:nvPr/>
        </p:nvGraphicFramePr>
        <p:xfrm>
          <a:off x="548640"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6" name="Shape 3"/>
          <p:cNvSpPr/>
          <p:nvPr/>
        </p:nvSpPr>
        <p:spPr>
          <a:xfrm>
            <a:off x="7296912" y="1810512"/>
            <a:ext cx="4343400" cy="1572768"/>
          </a:xfrm>
          <a:prstGeom prst="roundRect">
            <a:avLst>
              <a:gd name="adj" fmla="val 2907"/>
            </a:avLst>
          </a:prstGeom>
          <a:solidFill>
            <a:srgbClr val="FFCCE8"/>
          </a:solidFill>
          <a:ln w="12700">
            <a:solidFill>
              <a:srgbClr val="FF8AC2"/>
            </a:solidFill>
            <a:prstDash val="solid"/>
          </a:ln>
        </p:spPr>
      </p:sp>
      <p:sp>
        <p:nvSpPr>
          <p:cNvPr id="7" name="Text 4"/>
          <p:cNvSpPr txBox="1"/>
          <p:nvPr/>
        </p:nvSpPr>
        <p:spPr>
          <a:xfrm>
            <a:off x="7443216" y="1883664"/>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8" name="Text 5"/>
          <p:cNvSpPr txBox="1"/>
          <p:nvPr/>
        </p:nvSpPr>
        <p:spPr>
          <a:xfrm>
            <a:off x="7443216" y="2121408"/>
            <a:ext cx="4050792"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9" name="Shape 6"/>
          <p:cNvSpPr/>
          <p:nvPr/>
        </p:nvSpPr>
        <p:spPr>
          <a:xfrm>
            <a:off x="7296912" y="3493008"/>
            <a:ext cx="4343400" cy="1335024"/>
          </a:xfrm>
          <a:prstGeom prst="roundRect">
            <a:avLst>
              <a:gd name="adj" fmla="val 3425"/>
            </a:avLst>
          </a:prstGeom>
          <a:solidFill>
            <a:srgbClr val="E5E5E5"/>
          </a:solidFill>
          <a:ln w="12700">
            <a:solidFill>
              <a:srgbClr val="CACACA"/>
            </a:solidFill>
            <a:prstDash val="solid"/>
          </a:ln>
        </p:spPr>
      </p:sp>
      <p:sp>
        <p:nvSpPr>
          <p:cNvPr id="10" name="Text 7"/>
          <p:cNvSpPr txBox="1"/>
          <p:nvPr/>
        </p:nvSpPr>
        <p:spPr>
          <a:xfrm>
            <a:off x="7443216" y="356616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1" name="Text 8"/>
          <p:cNvSpPr txBox="1"/>
          <p:nvPr/>
        </p:nvSpPr>
        <p:spPr>
          <a:xfrm>
            <a:off x="7443216" y="3803904"/>
            <a:ext cx="4050792"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2" name="Shape 9"/>
          <p:cNvSpPr/>
          <p:nvPr/>
        </p:nvSpPr>
        <p:spPr>
          <a:xfrm>
            <a:off x="548640" y="4882896"/>
            <a:ext cx="11091672" cy="1170432"/>
          </a:xfrm>
          <a:prstGeom prst="roundRect">
            <a:avLst>
              <a:gd name="adj" fmla="val 3906"/>
            </a:avLst>
          </a:prstGeom>
          <a:solidFill>
            <a:srgbClr val="FFD6BA"/>
          </a:solidFill>
          <a:ln w="12700">
            <a:solidFill>
              <a:srgbClr val="FFAB70"/>
            </a:solidFill>
            <a:prstDash val="solid"/>
          </a:ln>
        </p:spPr>
      </p:sp>
      <p:sp>
        <p:nvSpPr>
          <p:cNvPr id="13" name="Text 10"/>
          <p:cNvSpPr txBox="1"/>
          <p:nvPr/>
        </p:nvSpPr>
        <p:spPr>
          <a:xfrm>
            <a:off x="694944"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4" name="Text 11"/>
          <p:cNvSpPr txBox="1"/>
          <p:nvPr/>
        </p:nvSpPr>
        <p:spPr>
          <a:xfrm>
            <a:off x="694944"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5" name="Text 1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El mercado: 142.000 M€ de cartera PYME entre los cinco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100" dirty="0"/>
          </a:p>
        </p:txBody>
      </p:sp>
      <p:graphicFrame>
        <p:nvGraphicFramePr>
          <p:cNvPr id="4" name="Chart 0" descr=""/>
          <p:cNvGraphicFramePr/>
          <p:nvPr/>
        </p:nvGraphicFramePr>
        <p:xfrm>
          <a:off x="548640"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3"/>
          <p:cNvSpPr/>
          <p:nvPr/>
        </p:nvSpPr>
        <p:spPr>
          <a:xfrm>
            <a:off x="7296912" y="4224528"/>
            <a:ext cx="4343400" cy="1042416"/>
          </a:xfrm>
          <a:prstGeom prst="roundRect">
            <a:avLst>
              <a:gd name="adj" fmla="val 4386"/>
            </a:avLst>
          </a:prstGeom>
          <a:solidFill>
            <a:srgbClr val="FFD6BA"/>
          </a:solidFill>
          <a:ln w="12700">
            <a:solidFill>
              <a:srgbClr val="FFAB70"/>
            </a:solidFill>
            <a:prstDash val="solid"/>
          </a:ln>
        </p:spPr>
      </p:sp>
      <p:sp>
        <p:nvSpPr>
          <p:cNvPr id="8" name="Text 4"/>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9" name="Text 5"/>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0" name="Shape 6"/>
          <p:cNvSpPr/>
          <p:nvPr/>
        </p:nvSpPr>
        <p:spPr>
          <a:xfrm>
            <a:off x="548640" y="4956048"/>
            <a:ext cx="6492240" cy="1097280"/>
          </a:xfrm>
          <a:prstGeom prst="roundRect">
            <a:avLst>
              <a:gd name="adj" fmla="val 4167"/>
            </a:avLst>
          </a:prstGeom>
          <a:solidFill>
            <a:srgbClr val="C7E3F9"/>
          </a:solidFill>
          <a:ln w="12700">
            <a:solidFill>
              <a:srgbClr val="77BFEE"/>
            </a:solidFill>
            <a:prstDash val="solid"/>
          </a:ln>
        </p:spPr>
      </p:sp>
      <p:sp>
        <p:nvSpPr>
          <p:cNvPr id="11" name="Text 7"/>
          <p:cNvSpPr txBox="1"/>
          <p:nvPr/>
        </p:nvSpPr>
        <p:spPr>
          <a:xfrm>
            <a:off x="694944"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2" name="Text 8"/>
          <p:cNvSpPr txBox="1"/>
          <p:nvPr/>
        </p:nvSpPr>
        <p:spPr>
          <a:xfrm>
            <a:off x="694944"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3"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Mora y cobertura de la cartera PYME española, trimestre a trimestre</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100" dirty="0"/>
          </a:p>
        </p:txBody>
      </p:sp>
      <p:graphicFrame>
        <p:nvGraphicFramePr>
          <p:cNvPr id="4" name="Chart 0" descr=""/>
          <p:cNvGraphicFramePr/>
          <p:nvPr/>
        </p:nvGraphicFramePr>
        <p:xfrm>
          <a:off x="548640"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6" name="Text 3"/>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7"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48640" y="4882896"/>
            <a:ext cx="3639312" cy="1170432"/>
          </a:xfrm>
          <a:prstGeom prst="roundRect">
            <a:avLst>
              <a:gd name="adj" fmla="val 3906"/>
            </a:avLst>
          </a:prstGeom>
          <a:solidFill>
            <a:srgbClr val="C7E3F9"/>
          </a:solidFill>
          <a:ln w="12700">
            <a:solidFill>
              <a:srgbClr val="77BFEE"/>
            </a:solidFill>
            <a:prstDash val="solid"/>
          </a:ln>
        </p:spPr>
      </p:sp>
      <p:sp>
        <p:nvSpPr>
          <p:cNvPr id="9" name="Text 5"/>
          <p:cNvSpPr txBox="1"/>
          <p:nvPr/>
        </p:nvSpPr>
        <p:spPr>
          <a:xfrm>
            <a:off x="67665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0" name="Text 6"/>
          <p:cNvSpPr txBox="1"/>
          <p:nvPr/>
        </p:nvSpPr>
        <p:spPr>
          <a:xfrm>
            <a:off x="67665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1" name="Shape 7"/>
          <p:cNvSpPr/>
          <p:nvPr/>
        </p:nvSpPr>
        <p:spPr>
          <a:xfrm>
            <a:off x="4352544" y="4882896"/>
            <a:ext cx="3639312" cy="1170432"/>
          </a:xfrm>
          <a:prstGeom prst="roundRect">
            <a:avLst>
              <a:gd name="adj" fmla="val 3906"/>
            </a:avLst>
          </a:prstGeom>
          <a:solidFill>
            <a:srgbClr val="FFCCE8"/>
          </a:solidFill>
          <a:ln w="12700">
            <a:solidFill>
              <a:srgbClr val="FF8AC2"/>
            </a:solidFill>
            <a:prstDash val="solid"/>
          </a:ln>
        </p:spPr>
      </p:sp>
      <p:sp>
        <p:nvSpPr>
          <p:cNvPr id="12" name="Text 8"/>
          <p:cNvSpPr txBox="1"/>
          <p:nvPr/>
        </p:nvSpPr>
        <p:spPr>
          <a:xfrm>
            <a:off x="4480560"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3" name="Text 9"/>
          <p:cNvSpPr txBox="1"/>
          <p:nvPr/>
        </p:nvSpPr>
        <p:spPr>
          <a:xfrm>
            <a:off x="4480560"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4" name="Shape 10"/>
          <p:cNvSpPr/>
          <p:nvPr/>
        </p:nvSpPr>
        <p:spPr>
          <a:xfrm>
            <a:off x="8156448" y="4882896"/>
            <a:ext cx="3639312" cy="1170432"/>
          </a:xfrm>
          <a:prstGeom prst="roundRect">
            <a:avLst>
              <a:gd name="adj" fmla="val 3906"/>
            </a:avLst>
          </a:prstGeom>
          <a:solidFill>
            <a:srgbClr val="FFD6BA"/>
          </a:solidFill>
          <a:ln w="12700">
            <a:solidFill>
              <a:srgbClr val="FFAB70"/>
            </a:solidFill>
            <a:prstDash val="solid"/>
          </a:ln>
        </p:spPr>
      </p:sp>
      <p:sp>
        <p:nvSpPr>
          <p:cNvPr id="15" name="Text 11"/>
          <p:cNvSpPr txBox="1"/>
          <p:nvPr/>
        </p:nvSpPr>
        <p:spPr>
          <a:xfrm>
            <a:off x="8284464"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6" name="Text 12"/>
          <p:cNvSpPr txBox="1"/>
          <p:nvPr/>
        </p:nvSpPr>
        <p:spPr>
          <a:xfrm>
            <a:off x="8284464"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7" name="Text 13"/>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ROE PYME de la banca española,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100" dirty="0"/>
          </a:p>
        </p:txBody>
      </p:sp>
      <p:graphicFrame>
        <p:nvGraphicFramePr>
          <p:cNvPr id="4" name="Chart 0" descr=""/>
          <p:cNvGraphicFramePr/>
          <p:nvPr/>
        </p:nvGraphicFramePr>
        <p:xfrm>
          <a:off x="548640"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4315968"/>
          <a:ext cx="11091672"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6" name="Text 2"/>
          <p:cNvSpPr txBox="1"/>
          <p:nvPr/>
        </p:nvSpPr>
        <p:spPr>
          <a:xfrm>
            <a:off x="548640" y="5907024"/>
            <a:ext cx="11091672" cy="274320"/>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7" name="Shape 3"/>
          <p:cNvSpPr/>
          <p:nvPr/>
        </p:nvSpPr>
        <p:spPr>
          <a:xfrm>
            <a:off x="7205472" y="1755648"/>
            <a:ext cx="4434840" cy="1133856"/>
          </a:xfrm>
          <a:prstGeom prst="roundRect">
            <a:avLst>
              <a:gd name="adj" fmla="val 4032"/>
            </a:avLst>
          </a:prstGeom>
          <a:solidFill>
            <a:srgbClr val="FFCCE8"/>
          </a:solidFill>
          <a:ln w="12700">
            <a:solidFill>
              <a:srgbClr val="FF8AC2"/>
            </a:solidFill>
            <a:prstDash val="solid"/>
          </a:ln>
        </p:spPr>
      </p:sp>
      <p:sp>
        <p:nvSpPr>
          <p:cNvPr id="8" name="Text 4"/>
          <p:cNvSpPr txBox="1"/>
          <p:nvPr/>
        </p:nvSpPr>
        <p:spPr>
          <a:xfrm>
            <a:off x="7351776" y="1828800"/>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9" name="Text 5"/>
          <p:cNvSpPr txBox="1"/>
          <p:nvPr/>
        </p:nvSpPr>
        <p:spPr>
          <a:xfrm>
            <a:off x="7351776" y="2066544"/>
            <a:ext cx="414223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0" name="Text 6"/>
          <p:cNvSpPr txBox="1"/>
          <p:nvPr/>
        </p:nvSpPr>
        <p:spPr>
          <a:xfrm>
            <a:off x="7205472" y="3017520"/>
            <a:ext cx="4434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1" name="Text 7"/>
          <p:cNvSpPr txBox="1"/>
          <p:nvPr/>
        </p:nvSpPr>
        <p:spPr>
          <a:xfrm>
            <a:off x="7205472" y="3236976"/>
            <a:ext cx="443484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434840"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3" name="Shape 8"/>
          <p:cNvSpPr/>
          <p:nvPr/>
        </p:nvSpPr>
        <p:spPr>
          <a:xfrm>
            <a:off x="7205472" y="4809744"/>
            <a:ext cx="4434840" cy="1097280"/>
          </a:xfrm>
          <a:prstGeom prst="roundRect">
            <a:avLst>
              <a:gd name="adj" fmla="val 4167"/>
            </a:avLst>
          </a:prstGeom>
          <a:solidFill>
            <a:srgbClr val="FFD6BA"/>
          </a:solidFill>
          <a:ln w="12700">
            <a:solidFill>
              <a:srgbClr val="FFAB70"/>
            </a:solidFill>
            <a:prstDash val="solid"/>
          </a:ln>
        </p:spPr>
      </p:sp>
      <p:sp>
        <p:nvSpPr>
          <p:cNvPr id="14" name="Text 9"/>
          <p:cNvSpPr txBox="1"/>
          <p:nvPr/>
        </p:nvSpPr>
        <p:spPr>
          <a:xfrm>
            <a:off x="7351776" y="4882896"/>
            <a:ext cx="414223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5" name="Text 10"/>
          <p:cNvSpPr txBox="1"/>
          <p:nvPr/>
        </p:nvSpPr>
        <p:spPr>
          <a:xfrm>
            <a:off x="7351776" y="5120640"/>
            <a:ext cx="4142232"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6" name="Text 11"/>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Cuenta de resultados del préstamo PYME, banco a banco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5" name="Shape 2"/>
          <p:cNvSpPr/>
          <p:nvPr/>
        </p:nvSpPr>
        <p:spPr>
          <a:xfrm>
            <a:off x="548640" y="5760720"/>
            <a:ext cx="1371600" cy="256032"/>
          </a:xfrm>
          <a:prstGeom prst="roundRect">
            <a:avLst>
              <a:gd name="adj" fmla="val 42857"/>
            </a:avLst>
          </a:prstGeom>
          <a:solidFill>
            <a:srgbClr val="E5E5E5"/>
          </a:solidFill>
          <a:ln w="12700">
            <a:solidFill>
              <a:srgbClr val="E5E5E5"/>
            </a:solidFill>
            <a:prstDash val="solid"/>
          </a:ln>
        </p:spPr>
      </p:sp>
      <p:sp>
        <p:nvSpPr>
          <p:cNvPr id="6" name="Text 3"/>
          <p:cNvSpPr txBox="1"/>
          <p:nvPr/>
        </p:nvSpPr>
        <p:spPr>
          <a:xfrm>
            <a:off x="54864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7" name="Shape 4"/>
          <p:cNvSpPr/>
          <p:nvPr/>
        </p:nvSpPr>
        <p:spPr>
          <a:xfrm>
            <a:off x="2029968" y="5760720"/>
            <a:ext cx="1371600" cy="256032"/>
          </a:xfrm>
          <a:prstGeom prst="roundRect">
            <a:avLst>
              <a:gd name="adj" fmla="val 42857"/>
            </a:avLst>
          </a:prstGeom>
          <a:solidFill>
            <a:srgbClr val="C7E3F9"/>
          </a:solidFill>
          <a:ln w="12700">
            <a:solidFill>
              <a:srgbClr val="C7E3F9"/>
            </a:solidFill>
            <a:prstDash val="solid"/>
          </a:ln>
        </p:spPr>
      </p:sp>
      <p:sp>
        <p:nvSpPr>
          <p:cNvPr id="8" name="Text 5"/>
          <p:cNvSpPr txBox="1"/>
          <p:nvPr/>
        </p:nvSpPr>
        <p:spPr>
          <a:xfrm>
            <a:off x="202996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9" name="Shape 6"/>
          <p:cNvSpPr/>
          <p:nvPr/>
        </p:nvSpPr>
        <p:spPr>
          <a:xfrm>
            <a:off x="3511296" y="5760720"/>
            <a:ext cx="1371600" cy="256032"/>
          </a:xfrm>
          <a:prstGeom prst="roundRect">
            <a:avLst>
              <a:gd name="adj" fmla="val 42857"/>
            </a:avLst>
          </a:prstGeom>
          <a:solidFill>
            <a:srgbClr val="FFD6BA"/>
          </a:solidFill>
          <a:ln w="12700">
            <a:solidFill>
              <a:srgbClr val="FFD6BA"/>
            </a:solidFill>
            <a:prstDash val="solid"/>
          </a:ln>
        </p:spPr>
      </p:sp>
      <p:sp>
        <p:nvSpPr>
          <p:cNvPr id="10" name="Text 7"/>
          <p:cNvSpPr txBox="1"/>
          <p:nvPr/>
        </p:nvSpPr>
        <p:spPr>
          <a:xfrm>
            <a:off x="3511296"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5212080" y="5669280"/>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sostienen los datos de los siete países</a:t>
            </a:r>
            <a:endParaRPr lang="en-US" sz="1100" dirty="0"/>
          </a:p>
        </p:txBody>
      </p:sp>
      <p:sp>
        <p:nvSpPr>
          <p:cNvPr id="4" name="Shape 2"/>
          <p:cNvSpPr/>
          <p:nvPr/>
        </p:nvSpPr>
        <p:spPr>
          <a:xfrm>
            <a:off x="548640" y="1554480"/>
            <a:ext cx="329184" cy="329184"/>
          </a:xfrm>
          <a:prstGeom prst="ellipse">
            <a:avLst/>
          </a:prstGeom>
          <a:solidFill>
            <a:srgbClr val="F56600"/>
          </a:solidFill>
          <a:ln w="12700">
            <a:solidFill>
              <a:srgbClr val="F56600"/>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8" name="Shape 6"/>
          <p:cNvSpPr/>
          <p:nvPr/>
        </p:nvSpPr>
        <p:spPr>
          <a:xfrm>
            <a:off x="548640" y="2327148"/>
            <a:ext cx="329184" cy="329184"/>
          </a:xfrm>
          <a:prstGeom prst="ellipse">
            <a:avLst/>
          </a:prstGeom>
          <a:solidFill>
            <a:srgbClr val="F56600"/>
          </a:solidFill>
          <a:ln w="12700">
            <a:solidFill>
              <a:srgbClr val="F56600"/>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2" name="Shape 10"/>
          <p:cNvSpPr/>
          <p:nvPr/>
        </p:nvSpPr>
        <p:spPr>
          <a:xfrm>
            <a:off x="548640" y="3099816"/>
            <a:ext cx="329184" cy="329184"/>
          </a:xfrm>
          <a:prstGeom prst="ellipse">
            <a:avLst/>
          </a:prstGeom>
          <a:solidFill>
            <a:srgbClr val="F56600"/>
          </a:solidFill>
          <a:ln w="12700">
            <a:solidFill>
              <a:srgbClr val="F56600"/>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6" name="Shape 14"/>
          <p:cNvSpPr/>
          <p:nvPr/>
        </p:nvSpPr>
        <p:spPr>
          <a:xfrm>
            <a:off x="548640" y="3872484"/>
            <a:ext cx="329184" cy="329184"/>
          </a:xfrm>
          <a:prstGeom prst="ellipse">
            <a:avLst/>
          </a:prstGeom>
          <a:solidFill>
            <a:srgbClr val="F56600"/>
          </a:solidFill>
          <a:ln w="12700">
            <a:solidFill>
              <a:srgbClr val="F56600"/>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0" name="Shape 18"/>
          <p:cNvSpPr/>
          <p:nvPr/>
        </p:nvSpPr>
        <p:spPr>
          <a:xfrm>
            <a:off x="548640" y="4645152"/>
            <a:ext cx="329184" cy="329184"/>
          </a:xfrm>
          <a:prstGeom prst="ellipse">
            <a:avLst/>
          </a:prstGeom>
          <a:solidFill>
            <a:srgbClr val="F56600"/>
          </a:solidFill>
          <a:ln w="12700">
            <a:solidFill>
              <a:srgbClr val="F56600"/>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4" name="Shape 22"/>
          <p:cNvSpPr/>
          <p:nvPr/>
        </p:nvSpPr>
        <p:spPr>
          <a:xfrm>
            <a:off x="548640" y="5417820"/>
            <a:ext cx="329184" cy="329184"/>
          </a:xfrm>
          <a:prstGeom prst="ellipse">
            <a:avLst/>
          </a:prstGeom>
          <a:solidFill>
            <a:srgbClr val="F56600"/>
          </a:solidFill>
          <a:ln w="12700">
            <a:solidFill>
              <a:srgbClr val="F56600"/>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Conclusiones: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Lo que añade el bloque español, que no se ve en el agregado europeo</a:t>
            </a:r>
            <a:endParaRPr lang="en-US" sz="1100" dirty="0"/>
          </a:p>
        </p:txBody>
      </p:sp>
      <p:sp>
        <p:nvSpPr>
          <p:cNvPr id="4" name="Shape 2"/>
          <p:cNvSpPr/>
          <p:nvPr/>
        </p:nvSpPr>
        <p:spPr>
          <a:xfrm>
            <a:off x="548640" y="1554480"/>
            <a:ext cx="329184" cy="329184"/>
          </a:xfrm>
          <a:prstGeom prst="ellipse">
            <a:avLst/>
          </a:prstGeom>
          <a:solidFill>
            <a:srgbClr val="77BFEE"/>
          </a:solidFill>
          <a:ln w="12700">
            <a:solidFill>
              <a:srgbClr val="77BFEE"/>
            </a:solidFill>
            <a:prstDash val="solid"/>
          </a:ln>
        </p:spPr>
      </p:sp>
      <p:sp>
        <p:nvSpPr>
          <p:cNvPr id="5" name="Text 3"/>
          <p:cNvSpPr txBox="1"/>
          <p:nvPr/>
        </p:nvSpPr>
        <p:spPr>
          <a:xfrm>
            <a:off x="548640"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6" name="Text 4"/>
          <p:cNvSpPr txBox="1"/>
          <p:nvPr/>
        </p:nvSpPr>
        <p:spPr>
          <a:xfrm>
            <a:off x="1051560"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problema no es el acceso, es el precio</a:t>
            </a:r>
            <a:endParaRPr lang="en-US" sz="1250" dirty="0"/>
          </a:p>
        </p:txBody>
      </p:sp>
      <p:sp>
        <p:nvSpPr>
          <p:cNvPr id="7" name="Text 5"/>
          <p:cNvSpPr txBox="1"/>
          <p:nvPr/>
        </p:nvSpPr>
        <p:spPr>
          <a:xfrm>
            <a:off x="1051560"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Entre las que sí ven obstáculos, el primero es el precio (21,6 %). Un entrante que compita por disponibilidad se equivoca de eje.</a:t>
            </a:r>
            <a:endParaRPr lang="en-US" sz="900" dirty="0"/>
          </a:p>
        </p:txBody>
      </p:sp>
      <p:sp>
        <p:nvSpPr>
          <p:cNvPr id="8" name="Shape 6"/>
          <p:cNvSpPr/>
          <p:nvPr/>
        </p:nvSpPr>
        <p:spPr>
          <a:xfrm>
            <a:off x="548640" y="2327148"/>
            <a:ext cx="329184" cy="329184"/>
          </a:xfrm>
          <a:prstGeom prst="ellipse">
            <a:avLst/>
          </a:prstGeom>
          <a:solidFill>
            <a:srgbClr val="77BFEE"/>
          </a:solidFill>
          <a:ln w="12700">
            <a:solidFill>
              <a:srgbClr val="77BFEE"/>
            </a:solidFill>
            <a:prstDash val="solid"/>
          </a:ln>
        </p:spPr>
      </p:sp>
      <p:sp>
        <p:nvSpPr>
          <p:cNvPr id="9" name="Text 7"/>
          <p:cNvSpPr txBox="1"/>
          <p:nvPr/>
        </p:nvSpPr>
        <p:spPr>
          <a:xfrm>
            <a:off x="548640"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0" name="Text 8"/>
          <p:cNvSpPr txBox="1"/>
          <p:nvPr/>
        </p:nvSpPr>
        <p:spPr>
          <a:xfrm>
            <a:off x="1051560"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de colchón, y ese es el techo</a:t>
            </a:r>
            <a:endParaRPr lang="en-US" sz="1250" dirty="0"/>
          </a:p>
        </p:txBody>
      </p:sp>
      <p:sp>
        <p:nvSpPr>
          <p:cNvPr id="11" name="Text 9"/>
          <p:cNvSpPr txBox="1"/>
          <p:nvPr/>
        </p:nvSpPr>
        <p:spPr>
          <a:xfrm>
            <a:off x="1051560"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Por encima de esa diferencia, endeudarse deja de crearle valor y la demanda se corta sola. La mediana tiene 6,1 puntos: es otro cliente, no el mismo más grande.</a:t>
            </a:r>
            <a:endParaRPr lang="en-US" sz="900" dirty="0"/>
          </a:p>
        </p:txBody>
      </p:sp>
      <p:sp>
        <p:nvSpPr>
          <p:cNvPr id="12" name="Shape 10"/>
          <p:cNvSpPr/>
          <p:nvPr/>
        </p:nvSpPr>
        <p:spPr>
          <a:xfrm>
            <a:off x="548640" y="3099816"/>
            <a:ext cx="329184" cy="329184"/>
          </a:xfrm>
          <a:prstGeom prst="ellipse">
            <a:avLst/>
          </a:prstGeom>
          <a:solidFill>
            <a:srgbClr val="77BFEE"/>
          </a:solidFill>
          <a:ln w="12700">
            <a:solidFill>
              <a:srgbClr val="77BFEE"/>
            </a:solidFill>
            <a:prstDash val="solid"/>
          </a:ln>
        </p:spPr>
      </p:sp>
      <p:sp>
        <p:nvSpPr>
          <p:cNvPr id="13" name="Text 11"/>
          <p:cNvSpPr txBox="1"/>
          <p:nvPr/>
        </p:nvSpPr>
        <p:spPr>
          <a:xfrm>
            <a:off x="548640"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4" name="Text 12"/>
          <p:cNvSpPr txBox="1"/>
          <p:nvPr/>
        </p:nvSpPr>
        <p:spPr>
          <a:xfrm>
            <a:off x="1051560"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demanda va al circulante, que es el producto peor medido</a:t>
            </a:r>
            <a:endParaRPr lang="en-US" sz="1250" dirty="0"/>
          </a:p>
        </p:txBody>
      </p:sp>
      <p:sp>
        <p:nvSpPr>
          <p:cNvPr id="15" name="Text 13"/>
          <p:cNvSpPr txBox="1"/>
          <p:nvPr/>
        </p:nvSpPr>
        <p:spPr>
          <a:xfrm>
            <a:off x="1051560"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6" name="Shape 14"/>
          <p:cNvSpPr/>
          <p:nvPr/>
        </p:nvSpPr>
        <p:spPr>
          <a:xfrm>
            <a:off x="548640" y="3872484"/>
            <a:ext cx="329184" cy="329184"/>
          </a:xfrm>
          <a:prstGeom prst="ellipse">
            <a:avLst/>
          </a:prstGeom>
          <a:solidFill>
            <a:srgbClr val="77BFEE"/>
          </a:solidFill>
          <a:ln w="12700">
            <a:solidFill>
              <a:srgbClr val="77BFEE"/>
            </a:solidFill>
            <a:prstDash val="solid"/>
          </a:ln>
        </p:spPr>
      </p:sp>
      <p:sp>
        <p:nvSpPr>
          <p:cNvPr id="17" name="Text 15"/>
          <p:cNvSpPr txBox="1"/>
          <p:nvPr/>
        </p:nvSpPr>
        <p:spPr>
          <a:xfrm>
            <a:off x="548640"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8" name="Text 16"/>
          <p:cNvSpPr txBox="1"/>
          <p:nvPr/>
        </p:nvSpPr>
        <p:spPr>
          <a:xfrm>
            <a:off x="1051560"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bancos españoles manda el capital, no la eficiencia</a:t>
            </a:r>
            <a:endParaRPr lang="en-US" sz="1250" dirty="0"/>
          </a:p>
        </p:txBody>
      </p:sp>
      <p:sp>
        <p:nvSpPr>
          <p:cNvPr id="19" name="Text 17"/>
          <p:cNvSpPr txBox="1"/>
          <p:nvPr/>
        </p:nvSpPr>
        <p:spPr>
          <a:xfrm>
            <a:off x="1051560"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por una densidad de RWA del 37,3 %. BBVA tiene la segunda mejor eficiencia (34,3 %) y queda cuarto, con una densidad del 71,0 %. Misma conclusión que en Europa, pero aquí sin diferencias de mercado que la expliquen.</a:t>
            </a:r>
            <a:endParaRPr lang="en-US" sz="900" dirty="0"/>
          </a:p>
        </p:txBody>
      </p:sp>
      <p:sp>
        <p:nvSpPr>
          <p:cNvPr id="20" name="Shape 18"/>
          <p:cNvSpPr/>
          <p:nvPr/>
        </p:nvSpPr>
        <p:spPr>
          <a:xfrm>
            <a:off x="548640" y="4645152"/>
            <a:ext cx="329184" cy="329184"/>
          </a:xfrm>
          <a:prstGeom prst="ellipse">
            <a:avLst/>
          </a:prstGeom>
          <a:solidFill>
            <a:srgbClr val="77BFEE"/>
          </a:solidFill>
          <a:ln w="12700">
            <a:solidFill>
              <a:srgbClr val="77BFEE"/>
            </a:solidFill>
            <a:prstDash val="solid"/>
          </a:ln>
        </p:spPr>
      </p:sp>
      <p:sp>
        <p:nvSpPr>
          <p:cNvPr id="21" name="Text 19"/>
          <p:cNvSpPr txBox="1"/>
          <p:nvPr/>
        </p:nvSpPr>
        <p:spPr>
          <a:xfrm>
            <a:off x="548640"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2" name="Text 20"/>
          <p:cNvSpPr txBox="1"/>
          <p:nvPr/>
        </p:nvSpPr>
        <p:spPr>
          <a:xfrm>
            <a:off x="1051560"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capacidad competitiva se mide en precio, no en ROE</a:t>
            </a:r>
            <a:endParaRPr lang="en-US" sz="1250" dirty="0"/>
          </a:p>
        </p:txBody>
      </p:sp>
      <p:sp>
        <p:nvSpPr>
          <p:cNvPr id="23" name="Text 21"/>
          <p:cNvSpPr txBox="1"/>
          <p:nvPr/>
        </p:nvSpPr>
        <p:spPr>
          <a:xfrm>
            <a:off x="1051560"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Son 119 pb de margen de maniobra en precio, que es lo que de verdad se puede usar para ganar cliente.</a:t>
            </a:r>
            <a:endParaRPr lang="en-US" sz="900" dirty="0"/>
          </a:p>
        </p:txBody>
      </p:sp>
      <p:sp>
        <p:nvSpPr>
          <p:cNvPr id="24" name="Shape 22"/>
          <p:cNvSpPr/>
          <p:nvPr/>
        </p:nvSpPr>
        <p:spPr>
          <a:xfrm>
            <a:off x="548640" y="5417820"/>
            <a:ext cx="329184" cy="329184"/>
          </a:xfrm>
          <a:prstGeom prst="ellipse">
            <a:avLst/>
          </a:prstGeom>
          <a:solidFill>
            <a:srgbClr val="77BFEE"/>
          </a:solidFill>
          <a:ln w="12700">
            <a:solidFill>
              <a:srgbClr val="77BFEE"/>
            </a:solidFill>
            <a:prstDash val="solid"/>
          </a:ln>
        </p:spPr>
      </p:sp>
      <p:sp>
        <p:nvSpPr>
          <p:cNvPr id="25" name="Text 23"/>
          <p:cNvSpPr txBox="1"/>
          <p:nvPr/>
        </p:nvSpPr>
        <p:spPr>
          <a:xfrm>
            <a:off x="548640"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6" name="Text 24"/>
          <p:cNvSpPr txBox="1"/>
          <p:nvPr/>
        </p:nvSpPr>
        <p:spPr>
          <a:xfrm>
            <a:off x="1051560"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es un segmento aparte que la estadística esconde</a:t>
            </a:r>
            <a:endParaRPr lang="en-US" sz="1250" dirty="0"/>
          </a:p>
        </p:txBody>
      </p:sp>
      <p:sp>
        <p:nvSpPr>
          <p:cNvPr id="27" name="Text 25"/>
          <p:cNvSpPr txBox="1"/>
          <p:nvPr/>
        </p:nvSpPr>
        <p:spPr>
          <a:xfrm>
            <a:off x="1051560"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y el SEC 2010 lo clasifica en hogares, así que no aparece en ninguna serie de empresas. Son 840 M€ al mes de nueva producción.</a:t>
            </a:r>
            <a:endParaRPr lang="en-US" sz="90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y 3 salen de la encuesta CESGAR y son porcentajes de empresas, no niveles. La 2 sale de la Central de Balances del Banco de España, ejercicio 2024.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entrada en el mercado europeo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100" dirty="0"/>
          </a:p>
        </p:txBody>
      </p:sp>
      <p:sp>
        <p:nvSpPr>
          <p:cNvPr id="4" name="Shape 2"/>
          <p:cNvSpPr/>
          <p:nvPr/>
        </p:nvSpPr>
        <p:spPr>
          <a:xfrm>
            <a:off x="548640" y="1517904"/>
            <a:ext cx="2057400" cy="457200"/>
          </a:xfrm>
          <a:prstGeom prst="roundRect">
            <a:avLst>
              <a:gd name="adj" fmla="val 10000"/>
            </a:avLst>
          </a:prstGeom>
          <a:solidFill>
            <a:srgbClr val="FFD6BA"/>
          </a:solidFill>
          <a:ln w="12700">
            <a:solidFill>
              <a:srgbClr val="FFAB70"/>
            </a:solidFill>
            <a:prstDash val="solid"/>
          </a:ln>
        </p:spPr>
      </p:sp>
      <p:sp>
        <p:nvSpPr>
          <p:cNvPr id="5" name="Text 3"/>
          <p:cNvSpPr txBox="1"/>
          <p:nvPr/>
        </p:nvSpPr>
        <p:spPr>
          <a:xfrm>
            <a:off x="548640"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6" name="Text 4"/>
          <p:cNvSpPr txBox="1"/>
          <p:nvPr/>
        </p:nvSpPr>
        <p:spPr>
          <a:xfrm>
            <a:off x="2788920"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7" name="Text 5"/>
          <p:cNvSpPr txBox="1"/>
          <p:nvPr/>
        </p:nvSpPr>
        <p:spPr>
          <a:xfrm>
            <a:off x="5943600"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8" name="Shape 6"/>
          <p:cNvSpPr/>
          <p:nvPr/>
        </p:nvSpPr>
        <p:spPr>
          <a:xfrm>
            <a:off x="548640" y="2025396"/>
            <a:ext cx="2057400" cy="457200"/>
          </a:xfrm>
          <a:prstGeom prst="roundRect">
            <a:avLst>
              <a:gd name="adj" fmla="val 10000"/>
            </a:avLst>
          </a:prstGeom>
          <a:solidFill>
            <a:srgbClr val="FFD6BA"/>
          </a:solidFill>
          <a:ln w="12700">
            <a:solidFill>
              <a:srgbClr val="FFAB70"/>
            </a:solidFill>
            <a:prstDash val="solid"/>
          </a:ln>
        </p:spPr>
      </p:sp>
      <p:sp>
        <p:nvSpPr>
          <p:cNvPr id="9" name="Text 7"/>
          <p:cNvSpPr txBox="1"/>
          <p:nvPr/>
        </p:nvSpPr>
        <p:spPr>
          <a:xfrm>
            <a:off x="548640"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0" name="Text 8"/>
          <p:cNvSpPr txBox="1"/>
          <p:nvPr/>
        </p:nvSpPr>
        <p:spPr>
          <a:xfrm>
            <a:off x="2788920"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1" name="Text 9"/>
          <p:cNvSpPr txBox="1"/>
          <p:nvPr/>
        </p:nvSpPr>
        <p:spPr>
          <a:xfrm>
            <a:off x="5943600"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2" name="Shape 10"/>
          <p:cNvSpPr/>
          <p:nvPr/>
        </p:nvSpPr>
        <p:spPr>
          <a:xfrm>
            <a:off x="548640" y="2532888"/>
            <a:ext cx="2057400" cy="457200"/>
          </a:xfrm>
          <a:prstGeom prst="roundRect">
            <a:avLst>
              <a:gd name="adj" fmla="val 10000"/>
            </a:avLst>
          </a:prstGeom>
          <a:solidFill>
            <a:srgbClr val="FFD6BA"/>
          </a:solidFill>
          <a:ln w="12700">
            <a:solidFill>
              <a:srgbClr val="FFAB70"/>
            </a:solidFill>
            <a:prstDash val="solid"/>
          </a:ln>
        </p:spPr>
      </p:sp>
      <p:sp>
        <p:nvSpPr>
          <p:cNvPr id="13" name="Text 11"/>
          <p:cNvSpPr txBox="1"/>
          <p:nvPr/>
        </p:nvSpPr>
        <p:spPr>
          <a:xfrm>
            <a:off x="548640"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4" name="Text 12"/>
          <p:cNvSpPr txBox="1"/>
          <p:nvPr/>
        </p:nvSpPr>
        <p:spPr>
          <a:xfrm>
            <a:off x="2788920"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5" name="Text 13"/>
          <p:cNvSpPr txBox="1"/>
          <p:nvPr/>
        </p:nvSpPr>
        <p:spPr>
          <a:xfrm>
            <a:off x="5943600"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6" name="Shape 14"/>
          <p:cNvSpPr/>
          <p:nvPr/>
        </p:nvSpPr>
        <p:spPr>
          <a:xfrm>
            <a:off x="548640" y="3040380"/>
            <a:ext cx="2057400" cy="457200"/>
          </a:xfrm>
          <a:prstGeom prst="roundRect">
            <a:avLst>
              <a:gd name="adj" fmla="val 10000"/>
            </a:avLst>
          </a:prstGeom>
          <a:solidFill>
            <a:srgbClr val="E5E5E5"/>
          </a:solidFill>
          <a:ln w="12700">
            <a:solidFill>
              <a:srgbClr val="CACACA"/>
            </a:solidFill>
            <a:prstDash val="solid"/>
          </a:ln>
        </p:spPr>
      </p:sp>
      <p:sp>
        <p:nvSpPr>
          <p:cNvPr id="17" name="Text 15"/>
          <p:cNvSpPr txBox="1"/>
          <p:nvPr/>
        </p:nvSpPr>
        <p:spPr>
          <a:xfrm>
            <a:off x="548640"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18" name="Text 16"/>
          <p:cNvSpPr txBox="1"/>
          <p:nvPr/>
        </p:nvSpPr>
        <p:spPr>
          <a:xfrm>
            <a:off x="2788920"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19" name="Text 17"/>
          <p:cNvSpPr txBox="1"/>
          <p:nvPr/>
        </p:nvSpPr>
        <p:spPr>
          <a:xfrm>
            <a:off x="5943600"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0" name="Shape 18"/>
          <p:cNvSpPr/>
          <p:nvPr/>
        </p:nvSpPr>
        <p:spPr>
          <a:xfrm>
            <a:off x="548640" y="3547872"/>
            <a:ext cx="2057400" cy="457200"/>
          </a:xfrm>
          <a:prstGeom prst="roundRect">
            <a:avLst>
              <a:gd name="adj" fmla="val 10000"/>
            </a:avLst>
          </a:prstGeom>
          <a:solidFill>
            <a:srgbClr val="E5E5E5"/>
          </a:solidFill>
          <a:ln w="12700">
            <a:solidFill>
              <a:srgbClr val="CACACA"/>
            </a:solidFill>
            <a:prstDash val="solid"/>
          </a:ln>
        </p:spPr>
      </p:sp>
      <p:sp>
        <p:nvSpPr>
          <p:cNvPr id="21" name="Text 19"/>
          <p:cNvSpPr txBox="1"/>
          <p:nvPr/>
        </p:nvSpPr>
        <p:spPr>
          <a:xfrm>
            <a:off x="548640"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2" name="Text 20"/>
          <p:cNvSpPr txBox="1"/>
          <p:nvPr/>
        </p:nvSpPr>
        <p:spPr>
          <a:xfrm>
            <a:off x="2788920"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3" name="Text 21"/>
          <p:cNvSpPr txBox="1"/>
          <p:nvPr/>
        </p:nvSpPr>
        <p:spPr>
          <a:xfrm>
            <a:off x="5943600"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4" name="Shape 22"/>
          <p:cNvSpPr/>
          <p:nvPr/>
        </p:nvSpPr>
        <p:spPr>
          <a:xfrm>
            <a:off x="548640" y="4055364"/>
            <a:ext cx="2057400" cy="457200"/>
          </a:xfrm>
          <a:prstGeom prst="roundRect">
            <a:avLst>
              <a:gd name="adj" fmla="val 10000"/>
            </a:avLst>
          </a:prstGeom>
          <a:solidFill>
            <a:srgbClr val="E5E5E5"/>
          </a:solidFill>
          <a:ln w="12700">
            <a:solidFill>
              <a:srgbClr val="CACACA"/>
            </a:solidFill>
            <a:prstDash val="solid"/>
          </a:ln>
        </p:spPr>
      </p:sp>
      <p:sp>
        <p:nvSpPr>
          <p:cNvPr id="25" name="Text 23"/>
          <p:cNvSpPr txBox="1"/>
          <p:nvPr/>
        </p:nvSpPr>
        <p:spPr>
          <a:xfrm>
            <a:off x="548640"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6" name="Text 24"/>
          <p:cNvSpPr txBox="1"/>
          <p:nvPr/>
        </p:nvSpPr>
        <p:spPr>
          <a:xfrm>
            <a:off x="2788920"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7" name="Text 25"/>
          <p:cNvSpPr txBox="1"/>
          <p:nvPr/>
        </p:nvSpPr>
        <p:spPr>
          <a:xfrm>
            <a:off x="5943600"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28" name="Shape 26"/>
          <p:cNvSpPr/>
          <p:nvPr/>
        </p:nvSpPr>
        <p:spPr>
          <a:xfrm>
            <a:off x="548640" y="4562856"/>
            <a:ext cx="2057400" cy="457200"/>
          </a:xfrm>
          <a:prstGeom prst="roundRect">
            <a:avLst>
              <a:gd name="adj" fmla="val 10000"/>
            </a:avLst>
          </a:prstGeom>
          <a:solidFill>
            <a:srgbClr val="C7E3F9"/>
          </a:solidFill>
          <a:ln w="12700">
            <a:solidFill>
              <a:srgbClr val="77BFEE"/>
            </a:solidFill>
            <a:prstDash val="solid"/>
          </a:ln>
        </p:spPr>
      </p:sp>
      <p:sp>
        <p:nvSpPr>
          <p:cNvPr id="29" name="Text 27"/>
          <p:cNvSpPr txBox="1"/>
          <p:nvPr/>
        </p:nvSpPr>
        <p:spPr>
          <a:xfrm>
            <a:off x="548640"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0" name="Text 28"/>
          <p:cNvSpPr txBox="1"/>
          <p:nvPr/>
        </p:nvSpPr>
        <p:spPr>
          <a:xfrm>
            <a:off x="2788920"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1" name="Text 29"/>
          <p:cNvSpPr txBox="1"/>
          <p:nvPr/>
        </p:nvSpPr>
        <p:spPr>
          <a:xfrm>
            <a:off x="5943600"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2" name="Shape 30"/>
          <p:cNvSpPr/>
          <p:nvPr/>
        </p:nvSpPr>
        <p:spPr>
          <a:xfrm>
            <a:off x="548640" y="5070348"/>
            <a:ext cx="2057400" cy="457200"/>
          </a:xfrm>
          <a:prstGeom prst="roundRect">
            <a:avLst>
              <a:gd name="adj" fmla="val 10000"/>
            </a:avLst>
          </a:prstGeom>
          <a:solidFill>
            <a:srgbClr val="C7E3F9"/>
          </a:solidFill>
          <a:ln w="12700">
            <a:solidFill>
              <a:srgbClr val="77BFEE"/>
            </a:solidFill>
            <a:prstDash val="solid"/>
          </a:ln>
        </p:spPr>
      </p:sp>
      <p:sp>
        <p:nvSpPr>
          <p:cNvPr id="33" name="Text 31"/>
          <p:cNvSpPr txBox="1"/>
          <p:nvPr/>
        </p:nvSpPr>
        <p:spPr>
          <a:xfrm>
            <a:off x="548640"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4" name="Text 32"/>
          <p:cNvSpPr txBox="1"/>
          <p:nvPr/>
        </p:nvSpPr>
        <p:spPr>
          <a:xfrm>
            <a:off x="2788920"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5" name="Text 33"/>
          <p:cNvSpPr txBox="1"/>
          <p:nvPr/>
        </p:nvSpPr>
        <p:spPr>
          <a:xfrm>
            <a:off x="5943600"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6" name="Shape 34"/>
          <p:cNvSpPr/>
          <p:nvPr/>
        </p:nvSpPr>
        <p:spPr>
          <a:xfrm>
            <a:off x="548640" y="5577840"/>
            <a:ext cx="2057400" cy="457200"/>
          </a:xfrm>
          <a:prstGeom prst="roundRect">
            <a:avLst>
              <a:gd name="adj" fmla="val 10000"/>
            </a:avLst>
          </a:prstGeom>
          <a:solidFill>
            <a:srgbClr val="C7E3F9"/>
          </a:solidFill>
          <a:ln w="12700">
            <a:solidFill>
              <a:srgbClr val="77BFEE"/>
            </a:solidFill>
            <a:prstDash val="solid"/>
          </a:ln>
        </p:spPr>
      </p:sp>
      <p:sp>
        <p:nvSpPr>
          <p:cNvPr id="37" name="Text 35"/>
          <p:cNvSpPr txBox="1"/>
          <p:nvPr/>
        </p:nvSpPr>
        <p:spPr>
          <a:xfrm>
            <a:off x="548640"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38" name="Text 36"/>
          <p:cNvSpPr txBox="1"/>
          <p:nvPr/>
        </p:nvSpPr>
        <p:spPr>
          <a:xfrm>
            <a:off x="2788920"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39" name="Text 37"/>
          <p:cNvSpPr txBox="1"/>
          <p:nvPr/>
        </p:nvSpPr>
        <p:spPr>
          <a:xfrm>
            <a:off x="5943600"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0" name="Text 38"/>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Recomendaciones: España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haría un banco español con este análisis, hoy</a:t>
            </a:r>
            <a:endParaRPr lang="en-US" sz="1100" dirty="0"/>
          </a:p>
        </p:txBody>
      </p:sp>
      <p:sp>
        <p:nvSpPr>
          <p:cNvPr id="4" name="Shape 2"/>
          <p:cNvSpPr/>
          <p:nvPr/>
        </p:nvSpPr>
        <p:spPr>
          <a:xfrm>
            <a:off x="548640" y="1536192"/>
            <a:ext cx="2240280" cy="566928"/>
          </a:xfrm>
          <a:prstGeom prst="roundRect">
            <a:avLst>
              <a:gd name="adj" fmla="val 8065"/>
            </a:avLst>
          </a:prstGeom>
          <a:solidFill>
            <a:srgbClr val="C7E3F9"/>
          </a:solidFill>
          <a:ln w="12700">
            <a:solidFill>
              <a:srgbClr val="77BFEE"/>
            </a:solidFill>
            <a:prstDash val="solid"/>
          </a:ln>
        </p:spPr>
      </p:sp>
      <p:sp>
        <p:nvSpPr>
          <p:cNvPr id="5" name="Text 3"/>
          <p:cNvSpPr txBox="1"/>
          <p:nvPr/>
        </p:nvSpPr>
        <p:spPr>
          <a:xfrm>
            <a:off x="548640"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6" name="Text 4"/>
          <p:cNvSpPr txBox="1"/>
          <p:nvPr/>
        </p:nvSpPr>
        <p:spPr>
          <a:xfrm>
            <a:off x="2971800"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7" name="Text 5"/>
          <p:cNvSpPr txBox="1"/>
          <p:nvPr/>
        </p:nvSpPr>
        <p:spPr>
          <a:xfrm>
            <a:off x="6172200"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8" name="Shape 6"/>
          <p:cNvSpPr/>
          <p:nvPr/>
        </p:nvSpPr>
        <p:spPr>
          <a:xfrm>
            <a:off x="548640" y="2194560"/>
            <a:ext cx="2240280" cy="566928"/>
          </a:xfrm>
          <a:prstGeom prst="roundRect">
            <a:avLst>
              <a:gd name="adj" fmla="val 8065"/>
            </a:avLst>
          </a:prstGeom>
          <a:solidFill>
            <a:srgbClr val="C7E3F9"/>
          </a:solidFill>
          <a:ln w="12700">
            <a:solidFill>
              <a:srgbClr val="77BFEE"/>
            </a:solidFill>
            <a:prstDash val="solid"/>
          </a:ln>
        </p:spPr>
      </p:sp>
      <p:sp>
        <p:nvSpPr>
          <p:cNvPr id="9" name="Text 7"/>
          <p:cNvSpPr txBox="1"/>
          <p:nvPr/>
        </p:nvSpPr>
        <p:spPr>
          <a:xfrm>
            <a:off x="548640"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0" name="Text 8"/>
          <p:cNvSpPr txBox="1"/>
          <p:nvPr/>
        </p:nvSpPr>
        <p:spPr>
          <a:xfrm>
            <a:off x="2971800"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1" name="Text 9"/>
          <p:cNvSpPr txBox="1"/>
          <p:nvPr/>
        </p:nvSpPr>
        <p:spPr>
          <a:xfrm>
            <a:off x="6172200"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2" name="Shape 10"/>
          <p:cNvSpPr/>
          <p:nvPr/>
        </p:nvSpPr>
        <p:spPr>
          <a:xfrm>
            <a:off x="548640" y="2852928"/>
            <a:ext cx="2240280" cy="566928"/>
          </a:xfrm>
          <a:prstGeom prst="roundRect">
            <a:avLst>
              <a:gd name="adj" fmla="val 8065"/>
            </a:avLst>
          </a:prstGeom>
          <a:solidFill>
            <a:srgbClr val="C7E3F9"/>
          </a:solidFill>
          <a:ln w="12700">
            <a:solidFill>
              <a:srgbClr val="77BFEE"/>
            </a:solidFill>
            <a:prstDash val="solid"/>
          </a:ln>
        </p:spPr>
      </p:sp>
      <p:sp>
        <p:nvSpPr>
          <p:cNvPr id="13" name="Text 11"/>
          <p:cNvSpPr txBox="1"/>
          <p:nvPr/>
        </p:nvSpPr>
        <p:spPr>
          <a:xfrm>
            <a:off x="548640"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4" name="Text 12"/>
          <p:cNvSpPr txBox="1"/>
          <p:nvPr/>
        </p:nvSpPr>
        <p:spPr>
          <a:xfrm>
            <a:off x="2971800"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5" name="Text 13"/>
          <p:cNvSpPr txBox="1"/>
          <p:nvPr/>
        </p:nvSpPr>
        <p:spPr>
          <a:xfrm>
            <a:off x="6172200"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6" name="Shape 14"/>
          <p:cNvSpPr/>
          <p:nvPr/>
        </p:nvSpPr>
        <p:spPr>
          <a:xfrm>
            <a:off x="548640" y="3511296"/>
            <a:ext cx="2240280" cy="566928"/>
          </a:xfrm>
          <a:prstGeom prst="roundRect">
            <a:avLst>
              <a:gd name="adj" fmla="val 8065"/>
            </a:avLst>
          </a:prstGeom>
          <a:solidFill>
            <a:srgbClr val="E5E5E5"/>
          </a:solidFill>
          <a:ln w="12700">
            <a:solidFill>
              <a:srgbClr val="CACACA"/>
            </a:solidFill>
            <a:prstDash val="solid"/>
          </a:ln>
        </p:spPr>
      </p:sp>
      <p:sp>
        <p:nvSpPr>
          <p:cNvPr id="17" name="Text 15"/>
          <p:cNvSpPr txBox="1"/>
          <p:nvPr/>
        </p:nvSpPr>
        <p:spPr>
          <a:xfrm>
            <a:off x="548640"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18" name="Text 16"/>
          <p:cNvSpPr txBox="1"/>
          <p:nvPr/>
        </p:nvSpPr>
        <p:spPr>
          <a:xfrm>
            <a:off x="2971800"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19" name="Text 17"/>
          <p:cNvSpPr txBox="1"/>
          <p:nvPr/>
        </p:nvSpPr>
        <p:spPr>
          <a:xfrm>
            <a:off x="6172200"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0" name="Shape 18"/>
          <p:cNvSpPr/>
          <p:nvPr/>
        </p:nvSpPr>
        <p:spPr>
          <a:xfrm>
            <a:off x="548640" y="4169664"/>
            <a:ext cx="2240280" cy="566928"/>
          </a:xfrm>
          <a:prstGeom prst="roundRect">
            <a:avLst>
              <a:gd name="adj" fmla="val 8065"/>
            </a:avLst>
          </a:prstGeom>
          <a:solidFill>
            <a:srgbClr val="E5E5E5"/>
          </a:solidFill>
          <a:ln w="12700">
            <a:solidFill>
              <a:srgbClr val="CACACA"/>
            </a:solidFill>
            <a:prstDash val="solid"/>
          </a:ln>
        </p:spPr>
      </p:sp>
      <p:sp>
        <p:nvSpPr>
          <p:cNvPr id="21" name="Text 19"/>
          <p:cNvSpPr txBox="1"/>
          <p:nvPr/>
        </p:nvSpPr>
        <p:spPr>
          <a:xfrm>
            <a:off x="548640"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2" name="Text 20"/>
          <p:cNvSpPr txBox="1"/>
          <p:nvPr/>
        </p:nvSpPr>
        <p:spPr>
          <a:xfrm>
            <a:off x="2971800"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3" name="Text 21"/>
          <p:cNvSpPr txBox="1"/>
          <p:nvPr/>
        </p:nvSpPr>
        <p:spPr>
          <a:xfrm>
            <a:off x="6172200"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4" name="Shape 22"/>
          <p:cNvSpPr/>
          <p:nvPr/>
        </p:nvSpPr>
        <p:spPr>
          <a:xfrm>
            <a:off x="548640" y="4828032"/>
            <a:ext cx="2240280" cy="566928"/>
          </a:xfrm>
          <a:prstGeom prst="roundRect">
            <a:avLst>
              <a:gd name="adj" fmla="val 8065"/>
            </a:avLst>
          </a:prstGeom>
          <a:solidFill>
            <a:srgbClr val="E5E5E5"/>
          </a:solidFill>
          <a:ln w="12700">
            <a:solidFill>
              <a:srgbClr val="CACACA"/>
            </a:solidFill>
            <a:prstDash val="solid"/>
          </a:ln>
        </p:spPr>
      </p:sp>
      <p:sp>
        <p:nvSpPr>
          <p:cNvPr id="25" name="Text 23"/>
          <p:cNvSpPr txBox="1"/>
          <p:nvPr/>
        </p:nvSpPr>
        <p:spPr>
          <a:xfrm>
            <a:off x="548640"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6" name="Text 24"/>
          <p:cNvSpPr txBox="1"/>
          <p:nvPr/>
        </p:nvSpPr>
        <p:spPr>
          <a:xfrm>
            <a:off x="2971800"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7" name="Text 25"/>
          <p:cNvSpPr txBox="1"/>
          <p:nvPr/>
        </p:nvSpPr>
        <p:spPr>
          <a:xfrm>
            <a:off x="6172200"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28" name="Text 2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Anexos</a:t>
            </a:r>
            <a:endParaRPr lang="en-US" sz="2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Datos</a:t>
            </a:r>
            <a:endParaRPr lang="en-US" sz="2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Fuentes</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Trece fuentes, 39.508 observaciones, cada fila trazable a su serie de origen</a:t>
            </a:r>
            <a:endParaRPr lang="en-US" sz="11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11091672"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Mapa de fiabilidad del dato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1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6" name="Shape 3"/>
          <p:cNvSpPr/>
          <p:nvPr/>
        </p:nvSpPr>
        <p:spPr>
          <a:xfrm>
            <a:off x="548640" y="5806440"/>
            <a:ext cx="1371600" cy="256032"/>
          </a:xfrm>
          <a:prstGeom prst="roundRect">
            <a:avLst>
              <a:gd name="adj" fmla="val 42857"/>
            </a:avLst>
          </a:prstGeom>
          <a:solidFill>
            <a:srgbClr val="77BFEE"/>
          </a:solidFill>
          <a:ln w="12700">
            <a:solidFill>
              <a:srgbClr val="77BFEE"/>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8" name="Shape 5"/>
          <p:cNvSpPr/>
          <p:nvPr/>
        </p:nvSpPr>
        <p:spPr>
          <a:xfrm>
            <a:off x="2377440" y="5806440"/>
            <a:ext cx="1371600" cy="256032"/>
          </a:xfrm>
          <a:prstGeom prst="roundRect">
            <a:avLst>
              <a:gd name="adj" fmla="val 42857"/>
            </a:avLst>
          </a:prstGeom>
          <a:solidFill>
            <a:srgbClr val="FFAB70"/>
          </a:solidFill>
          <a:ln w="12700">
            <a:solidFill>
              <a:srgbClr val="FFAB70"/>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0" name="Shape 7"/>
          <p:cNvSpPr/>
          <p:nvPr/>
        </p:nvSpPr>
        <p:spPr>
          <a:xfrm>
            <a:off x="4206240" y="5806440"/>
            <a:ext cx="1371600" cy="256032"/>
          </a:xfrm>
          <a:prstGeom prst="roundRect">
            <a:avLst>
              <a:gd name="adj" fmla="val 42857"/>
            </a:avLst>
          </a:prstGeom>
          <a:solidFill>
            <a:srgbClr val="FF8AC2"/>
          </a:solidFill>
          <a:ln w="12700">
            <a:solidFill>
              <a:srgbClr val="FF8AC2"/>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4" name="Shape 2"/>
          <p:cNvSpPr/>
          <p:nvPr/>
        </p:nvSpPr>
        <p:spPr>
          <a:xfrm>
            <a:off x="548640" y="1627632"/>
            <a:ext cx="347472" cy="347472"/>
          </a:xfrm>
          <a:prstGeom prst="ellipse">
            <a:avLst/>
          </a:prstGeom>
          <a:solidFill>
            <a:srgbClr val="F56600"/>
          </a:solidFill>
          <a:ln w="12700">
            <a:solidFill>
              <a:srgbClr val="F56600"/>
            </a:solidFill>
            <a:prstDash val="solid"/>
          </a:ln>
        </p:spPr>
      </p:sp>
      <p:sp>
        <p:nvSpPr>
          <p:cNvPr id="5" name="Text 3"/>
          <p:cNvSpPr txBox="1"/>
          <p:nvPr/>
        </p:nvSpPr>
        <p:spPr>
          <a:xfrm>
            <a:off x="548640"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6" name="Text 4"/>
          <p:cNvSpPr txBox="1"/>
          <p:nvPr/>
        </p:nvSpPr>
        <p:spPr>
          <a:xfrm>
            <a:off x="1097280"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7" name="Text 5"/>
          <p:cNvSpPr txBox="1"/>
          <p:nvPr/>
        </p:nvSpPr>
        <p:spPr>
          <a:xfrm>
            <a:off x="1097280"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8" name="Shape 6"/>
          <p:cNvSpPr/>
          <p:nvPr/>
        </p:nvSpPr>
        <p:spPr>
          <a:xfrm>
            <a:off x="548640" y="2532888"/>
            <a:ext cx="347472" cy="347472"/>
          </a:xfrm>
          <a:prstGeom prst="ellipse">
            <a:avLst/>
          </a:prstGeom>
          <a:solidFill>
            <a:srgbClr val="F56600"/>
          </a:solidFill>
          <a:ln w="12700">
            <a:solidFill>
              <a:srgbClr val="F56600"/>
            </a:solidFill>
            <a:prstDash val="solid"/>
          </a:ln>
        </p:spPr>
      </p:sp>
      <p:sp>
        <p:nvSpPr>
          <p:cNvPr id="9" name="Text 7"/>
          <p:cNvSpPr txBox="1"/>
          <p:nvPr/>
        </p:nvSpPr>
        <p:spPr>
          <a:xfrm>
            <a:off x="548640"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0" name="Text 8"/>
          <p:cNvSpPr txBox="1"/>
          <p:nvPr/>
        </p:nvSpPr>
        <p:spPr>
          <a:xfrm>
            <a:off x="1097280"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1" name="Text 9"/>
          <p:cNvSpPr txBox="1"/>
          <p:nvPr/>
        </p:nvSpPr>
        <p:spPr>
          <a:xfrm>
            <a:off x="1097280"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2" name="Shape 10"/>
          <p:cNvSpPr/>
          <p:nvPr/>
        </p:nvSpPr>
        <p:spPr>
          <a:xfrm>
            <a:off x="548640" y="3438144"/>
            <a:ext cx="347472" cy="347472"/>
          </a:xfrm>
          <a:prstGeom prst="ellipse">
            <a:avLst/>
          </a:prstGeom>
          <a:solidFill>
            <a:srgbClr val="F56600"/>
          </a:solidFill>
          <a:ln w="12700">
            <a:solidFill>
              <a:srgbClr val="F56600"/>
            </a:solidFill>
            <a:prstDash val="solid"/>
          </a:ln>
        </p:spPr>
      </p:sp>
      <p:sp>
        <p:nvSpPr>
          <p:cNvPr id="13" name="Text 11"/>
          <p:cNvSpPr txBox="1"/>
          <p:nvPr/>
        </p:nvSpPr>
        <p:spPr>
          <a:xfrm>
            <a:off x="548640"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4" name="Text 12"/>
          <p:cNvSpPr txBox="1"/>
          <p:nvPr/>
        </p:nvSpPr>
        <p:spPr>
          <a:xfrm>
            <a:off x="1097280"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5" name="Text 13"/>
          <p:cNvSpPr txBox="1"/>
          <p:nvPr/>
        </p:nvSpPr>
        <p:spPr>
          <a:xfrm>
            <a:off x="1097280"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6" name="Shape 14"/>
          <p:cNvSpPr/>
          <p:nvPr/>
        </p:nvSpPr>
        <p:spPr>
          <a:xfrm>
            <a:off x="548640" y="4343400"/>
            <a:ext cx="347472" cy="347472"/>
          </a:xfrm>
          <a:prstGeom prst="ellipse">
            <a:avLst/>
          </a:prstGeom>
          <a:solidFill>
            <a:srgbClr val="F56600"/>
          </a:solidFill>
          <a:ln w="12700">
            <a:solidFill>
              <a:srgbClr val="F56600"/>
            </a:solidFill>
            <a:prstDash val="solid"/>
          </a:ln>
        </p:spPr>
      </p:sp>
      <p:sp>
        <p:nvSpPr>
          <p:cNvPr id="17" name="Text 15"/>
          <p:cNvSpPr txBox="1"/>
          <p:nvPr/>
        </p:nvSpPr>
        <p:spPr>
          <a:xfrm>
            <a:off x="548640"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18" name="Text 16"/>
          <p:cNvSpPr txBox="1"/>
          <p:nvPr/>
        </p:nvSpPr>
        <p:spPr>
          <a:xfrm>
            <a:off x="1097280"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19" name="Text 17"/>
          <p:cNvSpPr txBox="1"/>
          <p:nvPr/>
        </p:nvSpPr>
        <p:spPr>
          <a:xfrm>
            <a:off x="1097280"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0" name="Shape 18"/>
          <p:cNvSpPr/>
          <p:nvPr/>
        </p:nvSpPr>
        <p:spPr>
          <a:xfrm>
            <a:off x="548640" y="5248656"/>
            <a:ext cx="347472" cy="347472"/>
          </a:xfrm>
          <a:prstGeom prst="ellipse">
            <a:avLst/>
          </a:prstGeom>
          <a:solidFill>
            <a:srgbClr val="F56600"/>
          </a:solidFill>
          <a:ln w="12700">
            <a:solidFill>
              <a:srgbClr val="F56600"/>
            </a:solidFill>
            <a:prstDash val="solid"/>
          </a:ln>
        </p:spPr>
      </p:sp>
      <p:sp>
        <p:nvSpPr>
          <p:cNvPr id="21" name="Text 19"/>
          <p:cNvSpPr txBox="1"/>
          <p:nvPr/>
        </p:nvSpPr>
        <p:spPr>
          <a:xfrm>
            <a:off x="548640"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2" name="Text 20"/>
          <p:cNvSpPr txBox="1"/>
          <p:nvPr/>
        </p:nvSpPr>
        <p:spPr>
          <a:xfrm>
            <a:off x="1097280"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3" name="Text 21"/>
          <p:cNvSpPr txBox="1"/>
          <p:nvPr/>
        </p:nvSpPr>
        <p:spPr>
          <a:xfrm>
            <a:off x="1097280"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Supuestos del modelo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1672"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5" name="Text 2"/>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Información relevante</a:t>
            </a:r>
            <a:endParaRPr lang="en-US" sz="2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NPL por segmento</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1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8" name="Text 5"/>
          <p:cNvSpPr txBox="1"/>
          <p:nvPr/>
        </p:nvSpPr>
        <p:spPr>
          <a:xfrm>
            <a:off x="548640"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9" name="Text 6"/>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Spread PYME frente a gran empresa: PD y LGD</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100" dirty="0"/>
          </a:p>
        </p:txBody>
      </p:sp>
      <p:graphicFrame>
        <p:nvGraphicFramePr>
          <p:cNvPr id="4" name="Chart 0" descr=""/>
          <p:cNvGraphicFramePr/>
          <p:nvPr/>
        </p:nvGraphicFramePr>
        <p:xfrm>
          <a:off x="548640"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950208"/>
          <a:ext cx="11091672"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2"/>
          <p:cNvSpPr/>
          <p:nvPr/>
        </p:nvSpPr>
        <p:spPr>
          <a:xfrm>
            <a:off x="548640" y="5440680"/>
            <a:ext cx="11091672" cy="777240"/>
          </a:xfrm>
          <a:prstGeom prst="roundRect">
            <a:avLst>
              <a:gd name="adj" fmla="val 7059"/>
            </a:avLst>
          </a:prstGeom>
          <a:solidFill>
            <a:srgbClr val="FFD6BA"/>
          </a:solidFill>
          <a:ln w="12700">
            <a:solidFill>
              <a:srgbClr val="FFAB70"/>
            </a:solidFill>
            <a:prstDash val="solid"/>
          </a:ln>
        </p:spPr>
      </p:sp>
      <p:sp>
        <p:nvSpPr>
          <p:cNvPr id="8" name="Text 3"/>
          <p:cNvSpPr txBox="1"/>
          <p:nvPr/>
        </p:nvSpPr>
        <p:spPr>
          <a:xfrm>
            <a:off x="749808" y="5532120"/>
            <a:ext cx="10835640" cy="621792"/>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100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1000" dirty="0"/>
          </a:p>
        </p:txBody>
      </p:sp>
      <p:sp>
        <p:nvSpPr>
          <p:cNvPr id="9" name="Text 4"/>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Mitigar el coste del riesgo: dónde está la palanca</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100" dirty="0"/>
          </a:p>
        </p:txBody>
      </p:sp>
      <p:graphicFrame>
        <p:nvGraphicFramePr>
          <p:cNvPr id="4" name="Chart 0" descr=""/>
          <p:cNvGraphicFramePr/>
          <p:nvPr/>
        </p:nvGraphicFramePr>
        <p:xfrm>
          <a:off x="548640"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27632"/>
            <a:ext cx="4187952" cy="1874520"/>
          </a:xfrm>
          <a:prstGeom prst="roundRect">
            <a:avLst>
              <a:gd name="adj" fmla="val 2927"/>
            </a:avLst>
          </a:prstGeom>
          <a:solidFill>
            <a:srgbClr val="FFD6BA"/>
          </a:solidFill>
          <a:ln w="12700">
            <a:solidFill>
              <a:srgbClr val="FFAB70"/>
            </a:solidFill>
            <a:prstDash val="solid"/>
          </a:ln>
        </p:spPr>
      </p:sp>
      <p:sp>
        <p:nvSpPr>
          <p:cNvPr id="6" name="Text 3"/>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7" name="Text 4"/>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8" name="Shape 5"/>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9" name="Text 6"/>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0" name="Text 7"/>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1" name="Text 8"/>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2" name="Text 9"/>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292608"/>
            <a:ext cx="11091672" cy="749808"/>
          </a:xfrm>
          <a:prstGeom prst="rect">
            <a:avLst/>
          </a:prstGeom>
          <a:noFill/>
          <a:ln/>
        </p:spPr>
        <p:txBody>
          <a:bodyPr wrap="square" lIns="0" tIns="0" rIns="0" bIns="0" rtlCol="0" anchor="ctr"/>
          <a:lstStyle/>
          <a:p>
            <a:pPr indent="0" marL="0">
              <a:buNone/>
            </a:pPr>
            <a:r>
              <a:rPr lang="en-US" sz="2500" b="1" dirty="0">
                <a:solidFill>
                  <a:srgbClr val="F56600"/>
                </a:solidFill>
                <a:latin typeface="Verdana" pitchFamily="34" charset="0"/>
                <a:ea typeface="Verdana" pitchFamily="34" charset="-122"/>
                <a:cs typeface="Verdana" pitchFamily="34" charset="-120"/>
              </a:rPr>
              <a:t>Hipoteca PYME: no existe estadística oficial</a:t>
            </a:r>
            <a:endParaRPr lang="en-US" sz="2500" dirty="0"/>
          </a:p>
        </p:txBody>
      </p:sp>
      <p:sp>
        <p:nvSpPr>
          <p:cNvPr id="3" name="Text 1"/>
          <p:cNvSpPr txBox="1"/>
          <p:nvPr/>
        </p:nvSpPr>
        <p:spPr>
          <a:xfrm>
            <a:off x="548640" y="987552"/>
            <a:ext cx="11091672" cy="384048"/>
          </a:xfrm>
          <a:prstGeom prst="rect">
            <a:avLst/>
          </a:prstGeom>
          <a:noFill/>
          <a:ln/>
        </p:spPr>
        <p:txBody>
          <a:bodyPr wrap="square" lIns="0" tIns="0" rIns="0" bIns="0" rtlCol="0" anchor="ctr"/>
          <a:lstStyle/>
          <a:p>
            <a:pPr indent="0" marL="0">
              <a:buNone/>
            </a:pPr>
            <a:r>
              <a:rPr lang="en-US" sz="110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100" dirty="0"/>
          </a:p>
        </p:txBody>
      </p:sp>
      <p:sp>
        <p:nvSpPr>
          <p:cNvPr id="4" name="Shape 2"/>
          <p:cNvSpPr/>
          <p:nvPr/>
        </p:nvSpPr>
        <p:spPr>
          <a:xfrm>
            <a:off x="548640" y="1645920"/>
            <a:ext cx="11091672" cy="1143000"/>
          </a:xfrm>
          <a:prstGeom prst="roundRect">
            <a:avLst>
              <a:gd name="adj" fmla="val 4800"/>
            </a:avLst>
          </a:prstGeom>
          <a:solidFill>
            <a:srgbClr val="FFCCE8"/>
          </a:solidFill>
          <a:ln w="12700">
            <a:solidFill>
              <a:srgbClr val="FF8AC2"/>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8" name="Text 6"/>
          <p:cNvSpPr txBox="1"/>
          <p:nvPr/>
        </p:nvSpPr>
        <p:spPr>
          <a:xfrm>
            <a:off x="548640"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9" name="Chart 0" descr=""/>
          <p:cNvGraphicFramePr/>
          <p:nvPr/>
        </p:nvGraphicFramePr>
        <p:xfrm>
          <a:off x="548640"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6181344"/>
            <a:ext cx="11091672" cy="512064"/>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2026-09-18T08:51:08Z</dcterms:created>
  <dcterms:modified xsi:type="dcterms:W3CDTF">2026-09-18T08:51:08Z</dcterms:modified>
</cp:coreProperties>
</file>