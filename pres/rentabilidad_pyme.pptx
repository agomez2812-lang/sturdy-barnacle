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9.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Más de 1 M€</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13.4</c:v>
                </c:pt>
                <c:pt idx="1">
                  <c:v>18.11</c:v>
                </c:pt>
                <c:pt idx="2">
                  <c:v>5.03</c:v>
                </c:pt>
                <c:pt idx="3">
                  <c:v>15.77</c:v>
                </c:pt>
                <c:pt idx="4">
                  <c:v>14.87</c:v>
                </c:pt>
                <c:pt idx="5">
                  <c:v>20.42</c:v>
                </c:pt>
                <c:pt idx="6">
                  <c:v>12.2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3"/>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0.75</c:v>
                </c:pt>
                <c:pt idx="1">
                  <c:v>1.16</c:v>
                </c:pt>
                <c:pt idx="2">
                  <c:v>1.34</c:v>
                </c:pt>
                <c:pt idx="3">
                  <c:v>0.76</c:v>
                </c:pt>
                <c:pt idx="4">
                  <c:v>0.71</c:v>
                </c:pt>
                <c:pt idx="5">
                  <c:v>1.06</c:v>
                </c:pt>
                <c:pt idx="6">
                  <c:v>0.41</c:v>
                </c:pt>
              </c:numCache>
            </c:numRef>
          </c:val>
        </c:ser>
        <c:ser>
          <c:idx val="1"/>
          <c:order val="1"/>
          <c:tx>
            <c:strRef>
              <c:f>Sheet1!$C$1</c:f>
              <c:strCache>
                <c:ptCount val="1"/>
                <c:pt idx="0">
                  <c:v>Margen sobre la facilidad del BCE</c:v>
                </c:pt>
              </c:strCache>
            </c:strRef>
          </c:tx>
          <c:spPr>
            <a:solidFill>
              <a:srgbClr val="237DFF"/>
            </a:solidFill>
            <a:effectLst/>
          </c:spPr>
          <c:invertIfNegative val="0"/>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1.34</c:v>
                </c:pt>
                <c:pt idx="1">
                  <c:v>0.93</c:v>
                </c:pt>
                <c:pt idx="2">
                  <c:v>0.75</c:v>
                </c:pt>
                <c:pt idx="3">
                  <c:v>1.33</c:v>
                </c:pt>
                <c:pt idx="4">
                  <c:v>1.38</c:v>
                </c:pt>
                <c:pt idx="5">
                  <c:v>1.03</c:v>
                </c:pt>
                <c:pt idx="6">
                  <c:v>1.68</c:v>
                </c:pt>
              </c:numCache>
            </c:numRef>
          </c:val>
        </c:ser>
        <c:dLbls>
          <c:numFmt formatCode="#,##0"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B9C6CC"/>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DC005F"/>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DC005F"/>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DC005F"/>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B9C6CC"/>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B9C6CC"/>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9FB3BC"/>
                </a:solidFill>
                <a:latin typeface="Verdana" pitchFamily="34" charset="0"/>
                <a:ea typeface="Verdana" pitchFamily="34" charset="-122"/>
                <a:cs typeface="Verdana" pitchFamily="34" charset="-120"/>
              </a:rPr>
              <a:t>España · Alemania · Francia · Italia · Portugal · Países Bajos</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25.370 observaciones · 9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DCE4E7"/>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seis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DCE4E7"/>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DCE4E7"/>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7EDE4"/>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SOLO ESPAÑA</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PROXY CRE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PARCIAL</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SOLO ES e IT</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DC005F"/>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37DFF"/>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PARCIAL</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n/a</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818181"/>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n/a</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818181"/>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n/a</a:t>
                      </a:r>
                      <a:endParaRPr lang="en-US" sz="9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818181"/>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seis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237DFF"/>
          </a:solidFill>
          <a:ln w="12700">
            <a:solidFill>
              <a:srgbClr val="237DFF"/>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p>
        </p:txBody>
      </p:sp>
      <p:sp>
        <p:nvSpPr>
          <p:cNvPr id="8" name="Shape 5"/>
          <p:cNvSpPr/>
          <p:nvPr/>
        </p:nvSpPr>
        <p:spPr>
          <a:xfrm>
            <a:off x="2377440" y="5806440"/>
            <a:ext cx="1371600" cy="256032"/>
          </a:xfrm>
          <a:prstGeom prst="roundRect">
            <a:avLst>
              <a:gd name="adj" fmla="val 42857"/>
            </a:avLst>
          </a:prstGeom>
          <a:solidFill>
            <a:srgbClr val="F56600"/>
          </a:solidFill>
          <a:ln w="12700">
            <a:solidFill>
              <a:srgbClr val="F5660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Verdana" pitchFamily="34" charset="0"/>
                <a:ea typeface="Verdana" pitchFamily="34" charset="-122"/>
                <a:cs typeface="Verdana" pitchFamily="34" charset="-120"/>
              </a:rPr>
              <a:t>PARCIAL o SUPUESTO</a:t>
            </a:r>
            <a:endParaRPr lang="en-US" sz="900" dirty="0"/>
          </a:p>
        </p:txBody>
      </p:sp>
      <p:sp>
        <p:nvSpPr>
          <p:cNvPr id="10" name="Shape 7"/>
          <p:cNvSpPr/>
          <p:nvPr/>
        </p:nvSpPr>
        <p:spPr>
          <a:xfrm>
            <a:off x="4206240" y="5806440"/>
            <a:ext cx="1371600" cy="256032"/>
          </a:xfrm>
          <a:prstGeom prst="roundRect">
            <a:avLst>
              <a:gd name="adj" fmla="val 42857"/>
            </a:avLst>
          </a:prstGeom>
          <a:solidFill>
            <a:srgbClr val="DC005F"/>
          </a:solidFill>
          <a:ln w="12700">
            <a:solidFill>
              <a:srgbClr val="DC005F"/>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Verdana" pitchFamily="34" charset="0"/>
                <a:ea typeface="Verdana" pitchFamily="34" charset="-122"/>
                <a:cs typeface="Verdana" pitchFamily="34" charset="-120"/>
              </a:rPr>
              <a:t>NO EXISTE</a:t>
            </a:r>
            <a:endParaRPr lang="en-US" sz="90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ponderada por volumen · Fijación inicial total · Sin comisiones</a:t>
            </a:r>
            <a:endParaRPr lang="en-US" sz="1100" dirty="0"/>
          </a:p>
        </p:txBody>
      </p:sp>
      <p:graphicFrame>
        <p:nvGraphicFramePr>
          <p:cNvPr id="4" name="Chart 0" descr=""/>
          <p:cNvGraphicFramePr/>
          <p:nvPr/>
        </p:nvGraphicFramePr>
        <p:xfrm>
          <a:off x="548640" y="1600200"/>
          <a:ext cx="68580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DCE4E7"/>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7EDE4"/>
          </a:solidFill>
          <a:ln w="12700">
            <a:solidFill>
              <a:srgbClr val="F5660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DEEE2"/>
          </a:solidFill>
          <a:ln w="12700">
            <a:solidFill>
              <a:srgbClr val="F5660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DC005F"/>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237DFF"/>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3832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33832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38328">
                <a:tc>
                  <a:txBody>
                    <a:bodyPr/>
                    <a:lstStyle/>
                    <a:p>
                      <a:pPr algn="l" indent="0" marL="0">
                        <a:buNone/>
                      </a:pPr>
                      <a:r>
                        <a:rPr lang="en-US" sz="1100" dirty="0">
                          <a:solidFill>
                            <a:srgbClr val="8A5A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832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1.34</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3832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3.54</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3.30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4.32</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5.83</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8328">
                <a:tc>
                  <a:txBody>
                    <a:bodyPr/>
                    <a:lstStyle/>
                    <a:p>
                      <a:pPr algn="l" indent="0" marL="0">
                        <a:buNone/>
                      </a:pPr>
                      <a:r>
                        <a:rPr lang="en-US" sz="1100" dirty="0">
                          <a:solidFill>
                            <a:srgbClr val="8A5A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dirty="0">
                          <a:solidFill>
                            <a:srgbClr val="8A5A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1.49</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2.27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2.04</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1.43</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2.31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3.35</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1.45</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0.46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1.52</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2.17</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1.66</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2.08</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8328">
                <a:tc>
                  <a:txBody>
                    <a:bodyPr/>
                    <a:lstStyle/>
                    <a:p>
                      <a:pPr algn="l" indent="0" marL="0">
                        <a:buNone/>
                      </a:pPr>
                      <a:r>
                        <a:rPr lang="en-US" sz="1100" dirty="0">
                          <a:solidFill>
                            <a:srgbClr val="8A5A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18.1 %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Verdana" pitchFamily="34" charset="0"/>
                <a:ea typeface="Verdana" pitchFamily="34" charset="-122"/>
                <a:cs typeface="Verdana" pitchFamily="34" charset="-120"/>
              </a:rPr>
              <a:t>Observado</a:t>
            </a:r>
            <a:endParaRPr lang="en-US" sz="900" dirty="0"/>
          </a:p>
        </p:txBody>
      </p:sp>
      <p:sp>
        <p:nvSpPr>
          <p:cNvPr id="7" name="Shape 4"/>
          <p:cNvSpPr/>
          <p:nvPr/>
        </p:nvSpPr>
        <p:spPr>
          <a:xfrm>
            <a:off x="2103120" y="5623560"/>
            <a:ext cx="1371600" cy="256032"/>
          </a:xfrm>
          <a:prstGeom prst="roundRect">
            <a:avLst>
              <a:gd name="adj" fmla="val 42857"/>
            </a:avLst>
          </a:prstGeom>
          <a:solidFill>
            <a:srgbClr val="F56600"/>
          </a:solidFill>
          <a:ln w="12700">
            <a:solidFill>
              <a:srgbClr val="F5660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Verdana" pitchFamily="34" charset="0"/>
                <a:ea typeface="Verdana" pitchFamily="34" charset="-122"/>
                <a:cs typeface="Verdana" pitchFamily="34" charset="-120"/>
              </a:rPr>
              <a:t>Supuesto</a:t>
            </a:r>
            <a:endParaRPr lang="en-US" sz="90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y capital son observados por país.</a:t>
            </a:r>
            <a:endParaRPr lang="en-US" sz="1000" dirty="0"/>
          </a:p>
        </p:txBody>
      </p:sp>
      <p:sp>
        <p:nvSpPr>
          <p:cNvPr id="10" name="Text 7"/>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25 %.</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Con la cuña de comisiones española aplicada a los seis países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DCE4E7"/>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la misma razón: un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cae al quinto puesto</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combinar el precio más bajo con una densidad de RWA del 59,5 %: consume casi el doble de capital que Alemania.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lo ilustra al revés</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 precio más alto (5,37 %) y mejor PD, pero densidad del 70 % y cost-income del 57 %: se queda en 7,7 %.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1,7 %, y en negativo si no se asume comisión alguna.</a:t>
            </a:r>
            <a:endParaRPr lang="en-US" sz="9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de sensibilidad. Tipo impositivo 25 % uniforme.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13.4 %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18.1 %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5.0 %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15.8 %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24.0 %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7EDE4"/>
          </a:solidFill>
          <a:ln w="12700">
            <a:solidFill>
              <a:srgbClr val="F5660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cinco países no existe dato equivalente.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Tipos del MIR ponderados por la mezcla real de saldos del BSI · Media 2026 · Es el coste de fondos que usa el modelo</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0.75</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1.16</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2.58</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1.34</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2.31</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1.77</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0.71</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2.14</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1.06</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1.90</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0.41</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80560"/>
            <a:ext cx="4187952" cy="777240"/>
          </a:xfrm>
          <a:prstGeom prst="roundRect">
            <a:avLst>
              <a:gd name="adj" fmla="val 7059"/>
            </a:avLst>
          </a:prstGeom>
          <a:solidFill>
            <a:srgbClr val="F7EDE4"/>
          </a:solidFill>
          <a:ln w="12700">
            <a:solidFill>
              <a:srgbClr val="F56600"/>
            </a:solidFill>
            <a:prstDash val="solid"/>
          </a:ln>
        </p:spPr>
      </p:sp>
      <p:sp>
        <p:nvSpPr>
          <p:cNvPr id="7" name="Text 3"/>
          <p:cNvSpPr txBox="1"/>
          <p:nvPr/>
        </p:nvSpPr>
        <p:spPr>
          <a:xfrm>
            <a:off x="7635240" y="4572000"/>
            <a:ext cx="3840480" cy="621792"/>
          </a:xfrm>
          <a:prstGeom prst="rect">
            <a:avLst/>
          </a:prstGeom>
          <a:noFill/>
          <a:ln/>
        </p:spPr>
        <p:txBody>
          <a:bodyPr wrap="square" lIns="0" tIns="0" rIns="0" bIns="0" rtlCol="0" anchor="ctr"/>
          <a:lstStyle/>
          <a:p>
            <a:pPr indent="0" marL="0">
              <a:buNone/>
            </a:pPr>
            <a:r>
              <a:rPr lang="en-US" sz="10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a:t>
            </a:r>
            <a:endParaRPr lang="en-US" sz="1000" dirty="0"/>
          </a:p>
        </p:txBody>
      </p:sp>
      <p:sp>
        <p:nvSpPr>
          <p:cNvPr id="8" name="Text 4"/>
          <p:cNvSpPr txBox="1"/>
          <p:nvPr/>
        </p:nvSpPr>
        <p:spPr>
          <a:xfrm>
            <a:off x="548640" y="539496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Irlanda capta los recursos más baratos de los siete, un 0,41 %, y Francia los más caros, un 1,34 %: tres veces más. Es el segundo factor que más separa el ROE, por detrás del capital.</a:t>
            </a:r>
            <a:endParaRPr lang="en-US" sz="1200" dirty="0"/>
          </a:p>
        </p:txBody>
      </p:sp>
      <p:sp>
        <p:nvSpPr>
          <p:cNvPr id="9"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Fuentes: BCE, dataset MIR (tipos de depósito de sociedades no financieras, nueva producción) y dataset BSI (saldos L21 vista y L22 plazo, sector 2240) para la ponderación. Facilidad de depósito del BCE al 2,09 %.</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BEDEB"/>
          </a:solidFill>
          <a:ln w="12700">
            <a:solidFill>
              <a:srgbClr val="DC005F"/>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DC005F"/>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DC005F"/>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50" b="1" dirty="0">
                          <a:solidFill>
                            <a:srgbClr val="237DFF"/>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37DFF"/>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37DFF"/>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37DFF"/>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EDEB"/>
                    </a:solidFill>
                  </a:tcPr>
                </a:tc>
                <a:tc>
                  <a:txBody>
                    <a:bodyPr/>
                    <a:lstStyle/>
                    <a:p>
                      <a:pPr algn="ctr" indent="0" marL="0">
                        <a:buNone/>
                      </a:pPr>
                      <a:r>
                        <a:rPr lang="en-US" sz="1050" b="1" dirty="0">
                          <a:solidFill>
                            <a:srgbClr val="237DFF"/>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c>
                  <a:txBody>
                    <a:bodyPr/>
                    <a:lstStyle/>
                    <a:p>
                      <a:pPr algn="ctr" indent="0" marL="0">
                        <a:buNone/>
                      </a:pPr>
                      <a:r>
                        <a:rPr lang="en-US" sz="1050" b="1" dirty="0">
                          <a:solidFill>
                            <a:srgbClr val="237DFF"/>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AF3EE"/>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c>
                  <a:txBody>
                    <a:bodyPr/>
                    <a:lstStyle/>
                    <a:p>
                      <a:pPr algn="ctr" indent="0" marL="0">
                        <a:buNone/>
                      </a:pPr>
                      <a:r>
                        <a:rPr lang="en-US" sz="1050" b="1" dirty="0">
                          <a:solidFill>
                            <a:srgbClr val="DC005F"/>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3DED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BF2EA"/>
          </a:solidFill>
          <a:ln w="12700">
            <a:solidFill>
              <a:srgbClr val="F5660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8A5A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7EDE4"/>
          </a:solidFill>
          <a:ln w="12700">
            <a:solidFill>
              <a:srgbClr val="F5660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F56600"/>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DEEE2"/>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DCE4E7"/>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BF2EA"/>
          </a:solidFill>
          <a:ln w="12700">
            <a:solidFill>
              <a:srgbClr val="F5660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8A5A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 nueva producción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BEDEB"/>
          </a:solidFill>
          <a:ln w="12700">
            <a:solidFill>
              <a:srgbClr val="DC005F"/>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DC005F"/>
                </a:solidFill>
                <a:latin typeface="Verdana" pitchFamily="34" charset="0"/>
                <a:ea typeface="Verdana" pitchFamily="34" charset="-122"/>
                <a:cs typeface="Verdan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DCE4E7"/>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El dato de julio de 2026 es provisional en España, Alemania, Francia, Italia y zona euro.</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BEDEB"/>
          </a:solidFill>
          <a:ln w="12700">
            <a:solidFill>
              <a:srgbClr val="DC005F"/>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DC005F"/>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seis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volumen sí, precio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cedido 2025 y penetración sobre PIB · El precio no es obtenible con fuentes públicas</a:t>
            </a:r>
            <a:endParaRPr lang="en-US" sz="11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BEDEB"/>
          </a:solidFill>
          <a:ln w="12700">
            <a:solidFill>
              <a:srgbClr val="DC005F"/>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DC005F"/>
                </a:solidFill>
                <a:latin typeface="Verdana" pitchFamily="34" charset="0"/>
                <a:ea typeface="Verdana" pitchFamily="34" charset="-122"/>
                <a:cs typeface="Verdan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5E5E5"/>
          </a:solidFill>
          <a:ln w="12700">
            <a:solidFill>
              <a:srgbClr val="DCE4E7"/>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Volumen cedido 2025 (M€):  España 270k  ·  Alemania 423k  ·  Francia 439k  ·  Italia 297k  ·  Portugal 52k  ·  P. Bajos 165k  ·  Irlanda 29k</a:t>
            </a:r>
            <a:endParaRPr lang="en-US" sz="115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Fuentes: EUF (datos anuales 2025), AEF para el desglose español, Assifact para el italiano. El turnover es importe cedido en el año, no saldo vivo: no comparable con cartera de crédito.</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37DFF"/>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37DFF"/>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237DFF"/>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DC005F"/>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DC005F"/>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BEDEB"/>
          </a:solidFill>
          <a:ln w="12700">
            <a:solidFill>
              <a:srgbClr val="DC005F"/>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DC005F"/>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cinco países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DC005F"/>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0,41 % a 1,34 % por país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DC005F"/>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25 %</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Uniforme, no por país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BAJO. Escala proporcional</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Text 2"/>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9FB3BC"/>
                </a:solidFill>
                <a:latin typeface="Verdana" pitchFamily="34" charset="0"/>
                <a:ea typeface="Verdana" pitchFamily="34" charset="-122"/>
                <a:cs typeface="Verdana"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F56600"/>
          </a:solidFill>
          <a:ln w="12700">
            <a:solidFill>
              <a:srgbClr val="F56600"/>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F56600"/>
          </a:solidFill>
          <a:ln w="12700">
            <a:solidFill>
              <a:srgbClr val="F56600"/>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F56600"/>
          </a:solidFill>
          <a:ln w="12700">
            <a:solidFill>
              <a:srgbClr val="F56600"/>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Verdana" pitchFamily="34" charset="0"/>
                <a:ea typeface="Verdana" pitchFamily="34" charset="-122"/>
                <a:cs typeface="Verdana" pitchFamily="34" charset="-120"/>
              </a:rPr>
              <a:t>No es obtenible con fuentes públicas gratuitas en ninguno de los seis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F56600"/>
          </a:solidFill>
          <a:ln w="12700">
            <a:solidFill>
              <a:srgbClr val="F56600"/>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2B2B2B"/>
                </a:solidFill>
                <a:latin typeface="Verdana" pitchFamily="34" charset="0"/>
                <a:ea typeface="Verdana" pitchFamily="34" charset="-122"/>
                <a:cs typeface="Verdan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Verdana" pitchFamily="34" charset="0"/>
                <a:ea typeface="Verdana" pitchFamily="34" charset="-122"/>
                <a:cs typeface="Verdan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Nueve fuentes, 25.370 observaciones, cada fila trazable a su serie de origen</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606040"/>
                <a:gridCol w="4251960"/>
                <a:gridCol w="2560320"/>
                <a:gridCol w="1664208"/>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56600"/>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anexo de datos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6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5E5E5"/>
                    </a:solidFill>
                  </a:tcPr>
                </a:tc>
              </a:tr>
              <a:tr h="402336">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2026-09-17T07:36:07Z</dcterms:created>
  <dcterms:modified xsi:type="dcterms:W3CDTF">2026-09-17T07:36:07Z</dcterms:modified>
</cp:coreProperties>
</file>