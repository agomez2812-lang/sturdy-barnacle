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0.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Más de 1 M€</c:v>
                </c:pt>
              </c:strCache>
            </c:strRef>
          </c:tx>
          <c:spPr>
            <a:solidFill>
              <a:srgbClr val="A1A1A1"/>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12.5</c:v>
                </c:pt>
                <c:pt idx="1">
                  <c:v>16.88</c:v>
                </c:pt>
                <c:pt idx="2">
                  <c:v>4.97</c:v>
                </c:pt>
                <c:pt idx="3">
                  <c:v>15.18</c:v>
                </c:pt>
                <c:pt idx="4">
                  <c:v>13.98</c:v>
                </c:pt>
                <c:pt idx="5">
                  <c:v>20.2</c:v>
                </c:pt>
                <c:pt idx="6">
                  <c:v>13.82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12.5</c:v>
                </c:pt>
                <c:pt idx="1">
                  <c:v>16.88</c:v>
                </c:pt>
                <c:pt idx="2">
                  <c:v>4.97</c:v>
                </c:pt>
                <c:pt idx="3">
                  <c:v>15.18</c:v>
                </c:pt>
                <c:pt idx="4">
                  <c:v>13.98</c:v>
                </c:pt>
                <c:pt idx="5">
                  <c:v>20.2</c:v>
                </c:pt>
                <c:pt idx="6">
                  <c:v>13.82</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0.75</c:v>
                </c:pt>
                <c:pt idx="1">
                  <c:v>1.16</c:v>
                </c:pt>
                <c:pt idx="2">
                  <c:v>1.34</c:v>
                </c:pt>
                <c:pt idx="3">
                  <c:v>0.76</c:v>
                </c:pt>
                <c:pt idx="4">
                  <c:v>0.71</c:v>
                </c:pt>
                <c:pt idx="5">
                  <c:v>1.06</c:v>
                </c:pt>
                <c:pt idx="6">
                  <c:v>0.41</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1.34</c:v>
                </c:pt>
                <c:pt idx="1">
                  <c:v>0.93</c:v>
                </c:pt>
                <c:pt idx="2">
                  <c:v>0.75</c:v>
                </c:pt>
                <c:pt idx="3">
                  <c:v>1.33</c:v>
                </c:pt>
                <c:pt idx="4">
                  <c:v>1.38</c:v>
                </c:pt>
                <c:pt idx="5">
                  <c:v>1.03</c:v>
                </c:pt>
                <c:pt idx="6">
                  <c:v>1.68</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5.43</c:v>
                </c:pt>
                <c:pt idx="1">
                  <c:v>3.97</c:v>
                </c:pt>
                <c:pt idx="2">
                  <c:v>3.71</c:v>
                </c:pt>
                <c:pt idx="3">
                  <c:v>3.59</c:v>
                </c:pt>
                <c:pt idx="4">
                  <c:v>2.94</c:v>
                </c:pt>
                <c:pt idx="5">
                  <c:v>2.62</c:v>
                </c:pt>
                <c:pt idx="6">
                  <c:v>3.56</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38.451 observaciones · 11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ponderada por volumen · Fijación inicial total · Sin comisiones</a:t>
            </a:r>
            <a:endParaRPr lang="en-US" sz="1100" dirty="0"/>
          </a:p>
        </p:txBody>
      </p:sp>
      <p:graphicFrame>
        <p:nvGraphicFramePr>
          <p:cNvPr id="4" name="Chart 0" descr=""/>
          <p:cNvGraphicFramePr/>
          <p:nvPr/>
        </p:nvGraphicFramePr>
        <p:xfrm>
          <a:off x="548640" y="1600200"/>
          <a:ext cx="68580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0.46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2.08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12,5 %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5,0 %: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4,3 %.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+18.1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(5,0 %)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Tipos del MIR ponderados por la mezcla real de saldos del BSI · Media 2026 · Es el coste de fondos que usa el modelo</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1.16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1.34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2.14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0.41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80560"/>
            <a:ext cx="4187952" cy="777240"/>
          </a:xfrm>
          <a:prstGeom prst="roundRect">
            <a:avLst>
              <a:gd name="adj" fmla="val 7059"/>
            </a:avLst>
          </a:prstGeom>
          <a:solidFill>
            <a:srgbClr val="FFD6BA"/>
          </a:solidFill>
          <a:ln w="12700">
            <a:solidFill>
              <a:srgbClr val="FFAB70"/>
            </a:solidFill>
            <a:prstDash val="solid"/>
          </a:ln>
        </p:spPr>
      </p:sp>
      <p:sp>
        <p:nvSpPr>
          <p:cNvPr id="7" name="Text 3"/>
          <p:cNvSpPr txBox="1"/>
          <p:nvPr/>
        </p:nvSpPr>
        <p:spPr>
          <a:xfrm>
            <a:off x="7635240" y="4572000"/>
            <a:ext cx="3840480" cy="621792"/>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a:t>
            </a:r>
            <a:endParaRPr lang="en-US" sz="1000" dirty="0"/>
          </a:p>
        </p:txBody>
      </p:sp>
      <p:sp>
        <p:nvSpPr>
          <p:cNvPr id="8" name="Text 4"/>
          <p:cNvSpPr txBox="1"/>
          <p:nvPr/>
        </p:nvSpPr>
        <p:spPr>
          <a:xfrm>
            <a:off x="548640" y="539496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Irlanda capta los recursos más baratos de los siete, un 0,41 %, y Francia los más caros, un 1,34 %: tres veces más. Es el segundo factor que más separa el ROE, por detrás del capital.</a:t>
            </a:r>
            <a:endParaRPr lang="en-US" sz="1200" dirty="0"/>
          </a:p>
        </p:txBody>
      </p:sp>
      <p:sp>
        <p:nvSpPr>
          <p:cNvPr id="9"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de sociedades no financieras, nueva producción) y dataset BSI (saldos L21 vista y L22 plazo, sector 2240) para la ponderación.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 paga el riesgo? Entre mercados,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100" dirty="0"/>
          </a:p>
        </p:txBody>
      </p:sp>
      <p:graphicFrame>
        <p:nvGraphicFramePr>
          <p:cNvPr id="4" name="Chart 0" descr=""/>
          <p:cNvGraphicFramePr/>
          <p:nvPr/>
        </p:nvGraphicFramePr>
        <p:xfrm>
          <a:off x="548640"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6" name="Shape 3"/>
          <p:cNvSpPr/>
          <p:nvPr/>
        </p:nvSpPr>
        <p:spPr>
          <a:xfrm>
            <a:off x="548640" y="5102352"/>
            <a:ext cx="6629400" cy="950976"/>
          </a:xfrm>
          <a:prstGeom prst="roundRect">
            <a:avLst>
              <a:gd name="adj" fmla="val 4808"/>
            </a:avLst>
          </a:prstGeom>
          <a:solidFill>
            <a:srgbClr val="FFD6BA"/>
          </a:solidFill>
          <a:ln w="12700">
            <a:solidFill>
              <a:srgbClr val="FFAB70"/>
            </a:solidFill>
            <a:prstDash val="solid"/>
          </a:ln>
        </p:spPr>
      </p:sp>
      <p:sp>
        <p:nvSpPr>
          <p:cNvPr id="7" name="Text 4"/>
          <p:cNvSpPr txBox="1"/>
          <p:nvPr/>
        </p:nvSpPr>
        <p:spPr>
          <a:xfrm>
            <a:off x="694944"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−0,88 contra la PD</a:t>
            </a:r>
            <a:endParaRPr lang="en-US" sz="1100" dirty="0"/>
          </a:p>
        </p:txBody>
      </p:sp>
      <p:sp>
        <p:nvSpPr>
          <p:cNvPr id="8" name="Text 5"/>
          <p:cNvSpPr txBox="1"/>
          <p:nvPr/>
        </p:nvSpPr>
        <p:spPr>
          <a:xfrm>
            <a:off x="694944"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(5,43 %); Francia, la segunda peor PD (2,15 %) y el menor (2,62 %).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9" name="Text 6"/>
          <p:cNvSpPr txBox="1"/>
          <p:nvPr/>
        </p:nvSpPr>
        <p:spPr>
          <a:xfrm>
            <a:off x="7479792" y="1664208"/>
            <a:ext cx="416052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0" name="Text 7"/>
          <p:cNvSpPr txBox="1"/>
          <p:nvPr/>
        </p:nvSpPr>
        <p:spPr>
          <a:xfrm>
            <a:off x="7479792" y="1901952"/>
            <a:ext cx="416052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1" name="Text 8"/>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2" name="Shape 9"/>
          <p:cNvSpPr/>
          <p:nvPr/>
        </p:nvSpPr>
        <p:spPr>
          <a:xfrm>
            <a:off x="8686800" y="2199132"/>
            <a:ext cx="2179320" cy="137160"/>
          </a:xfrm>
          <a:prstGeom prst="rect">
            <a:avLst/>
          </a:prstGeom>
          <a:solidFill>
            <a:srgbClr val="FFAB70"/>
          </a:solidFill>
          <a:ln w="6350">
            <a:solidFill>
              <a:srgbClr val="FFAB70"/>
            </a:solidFill>
            <a:prstDash val="solid"/>
          </a:ln>
        </p:spPr>
      </p:sp>
      <p:sp>
        <p:nvSpPr>
          <p:cNvPr id="13" name="Text 10"/>
          <p:cNvSpPr txBox="1"/>
          <p:nvPr/>
        </p:nvSpPr>
        <p:spPr>
          <a:xfrm>
            <a:off x="11018520"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4" name="Text 11"/>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5" name="Shape 12"/>
          <p:cNvSpPr/>
          <p:nvPr/>
        </p:nvSpPr>
        <p:spPr>
          <a:xfrm>
            <a:off x="8686800" y="2473452"/>
            <a:ext cx="1828800" cy="137160"/>
          </a:xfrm>
          <a:prstGeom prst="rect">
            <a:avLst/>
          </a:prstGeom>
          <a:solidFill>
            <a:srgbClr val="FFAB70"/>
          </a:solidFill>
          <a:ln w="6350">
            <a:solidFill>
              <a:srgbClr val="FFAB70"/>
            </a:solidFill>
            <a:prstDash val="solid"/>
          </a:ln>
        </p:spPr>
      </p:sp>
      <p:sp>
        <p:nvSpPr>
          <p:cNvPr id="16" name="Text 13"/>
          <p:cNvSpPr txBox="1"/>
          <p:nvPr/>
        </p:nvSpPr>
        <p:spPr>
          <a:xfrm>
            <a:off x="11018520"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7" name="Text 14"/>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18" name="Shape 15"/>
          <p:cNvSpPr/>
          <p:nvPr/>
        </p:nvSpPr>
        <p:spPr>
          <a:xfrm>
            <a:off x="8686800" y="2747772"/>
            <a:ext cx="1752600" cy="137160"/>
          </a:xfrm>
          <a:prstGeom prst="rect">
            <a:avLst/>
          </a:prstGeom>
          <a:solidFill>
            <a:srgbClr val="FFAB70"/>
          </a:solidFill>
          <a:ln w="6350">
            <a:solidFill>
              <a:srgbClr val="FFAB70"/>
            </a:solidFill>
            <a:prstDash val="solid"/>
          </a:ln>
        </p:spPr>
      </p:sp>
      <p:sp>
        <p:nvSpPr>
          <p:cNvPr id="19" name="Text 16"/>
          <p:cNvSpPr txBox="1"/>
          <p:nvPr/>
        </p:nvSpPr>
        <p:spPr>
          <a:xfrm>
            <a:off x="11018520"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0" name="Text 17"/>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1" name="Shape 18"/>
          <p:cNvSpPr/>
          <p:nvPr/>
        </p:nvSpPr>
        <p:spPr>
          <a:xfrm>
            <a:off x="8686800" y="3022092"/>
            <a:ext cx="990600" cy="137160"/>
          </a:xfrm>
          <a:prstGeom prst="rect">
            <a:avLst/>
          </a:prstGeom>
          <a:solidFill>
            <a:srgbClr val="FFD6BA"/>
          </a:solidFill>
          <a:ln w="6350">
            <a:solidFill>
              <a:srgbClr val="FFAB70"/>
            </a:solidFill>
            <a:prstDash val="solid"/>
          </a:ln>
        </p:spPr>
      </p:sp>
      <p:sp>
        <p:nvSpPr>
          <p:cNvPr id="22" name="Text 19"/>
          <p:cNvSpPr txBox="1"/>
          <p:nvPr/>
        </p:nvSpPr>
        <p:spPr>
          <a:xfrm>
            <a:off x="11018520"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3" name="Text 20"/>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4" name="Shape 21"/>
          <p:cNvSpPr/>
          <p:nvPr/>
        </p:nvSpPr>
        <p:spPr>
          <a:xfrm>
            <a:off x="8686800" y="3296412"/>
            <a:ext cx="899160" cy="137160"/>
          </a:xfrm>
          <a:prstGeom prst="rect">
            <a:avLst/>
          </a:prstGeom>
          <a:solidFill>
            <a:srgbClr val="FFD6BA"/>
          </a:solidFill>
          <a:ln w="6350">
            <a:solidFill>
              <a:srgbClr val="FFAB70"/>
            </a:solidFill>
            <a:prstDash val="solid"/>
          </a:ln>
        </p:spPr>
      </p:sp>
      <p:sp>
        <p:nvSpPr>
          <p:cNvPr id="25" name="Text 22"/>
          <p:cNvSpPr txBox="1"/>
          <p:nvPr/>
        </p:nvSpPr>
        <p:spPr>
          <a:xfrm>
            <a:off x="11018520"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6" name="Text 23"/>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7" name="Shape 24"/>
          <p:cNvSpPr/>
          <p:nvPr/>
        </p:nvSpPr>
        <p:spPr>
          <a:xfrm>
            <a:off x="8686800" y="3570732"/>
            <a:ext cx="746760" cy="137160"/>
          </a:xfrm>
          <a:prstGeom prst="rect">
            <a:avLst/>
          </a:prstGeom>
          <a:solidFill>
            <a:srgbClr val="FFD6BA"/>
          </a:solidFill>
          <a:ln w="6350">
            <a:solidFill>
              <a:srgbClr val="FFAB70"/>
            </a:solidFill>
            <a:prstDash val="solid"/>
          </a:ln>
        </p:spPr>
      </p:sp>
      <p:sp>
        <p:nvSpPr>
          <p:cNvPr id="28" name="Text 25"/>
          <p:cNvSpPr txBox="1"/>
          <p:nvPr/>
        </p:nvSpPr>
        <p:spPr>
          <a:xfrm>
            <a:off x="11018520"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29" name="Text 26"/>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0" name="Shape 27"/>
          <p:cNvSpPr/>
          <p:nvPr/>
        </p:nvSpPr>
        <p:spPr>
          <a:xfrm>
            <a:off x="8686800" y="3845052"/>
            <a:ext cx="60960" cy="137160"/>
          </a:xfrm>
          <a:prstGeom prst="rect">
            <a:avLst/>
          </a:prstGeom>
          <a:solidFill>
            <a:srgbClr val="FFCCE8"/>
          </a:solidFill>
          <a:ln w="6350">
            <a:solidFill>
              <a:srgbClr val="FF8AC2"/>
            </a:solidFill>
            <a:prstDash val="solid"/>
          </a:ln>
        </p:spPr>
      </p:sp>
      <p:sp>
        <p:nvSpPr>
          <p:cNvPr id="31" name="Text 28"/>
          <p:cNvSpPr txBox="1"/>
          <p:nvPr/>
        </p:nvSpPr>
        <p:spPr>
          <a:xfrm>
            <a:off x="11018520"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2" name="Shape 29"/>
          <p:cNvSpPr/>
          <p:nvPr/>
        </p:nvSpPr>
        <p:spPr>
          <a:xfrm>
            <a:off x="7479792" y="4096512"/>
            <a:ext cx="4160520" cy="914400"/>
          </a:xfrm>
          <a:prstGeom prst="roundRect">
            <a:avLst>
              <a:gd name="adj" fmla="val 5000"/>
            </a:avLst>
          </a:prstGeom>
          <a:solidFill>
            <a:srgbClr val="C7E3F9"/>
          </a:solidFill>
          <a:ln w="12700">
            <a:solidFill>
              <a:srgbClr val="77BFEE"/>
            </a:solidFill>
            <a:prstDash val="solid"/>
          </a:ln>
        </p:spPr>
      </p:sp>
      <p:sp>
        <p:nvSpPr>
          <p:cNvPr id="33" name="Text 30"/>
          <p:cNvSpPr txBox="1"/>
          <p:nvPr/>
        </p:nvSpPr>
        <p:spPr>
          <a:xfrm>
            <a:off x="7626096" y="41696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4" name="Text 31"/>
          <p:cNvSpPr txBox="1"/>
          <p:nvPr/>
        </p:nvSpPr>
        <p:spPr>
          <a:xfrm>
            <a:off x="7626096" y="4389120"/>
            <a:ext cx="3867912"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+0,86 con el ROE.</a:t>
            </a:r>
            <a:endParaRPr lang="en-US" sz="850" dirty="0"/>
          </a:p>
        </p:txBody>
      </p:sp>
      <p:sp>
        <p:nvSpPr>
          <p:cNvPr id="35" name="Shape 32"/>
          <p:cNvSpPr/>
          <p:nvPr/>
        </p:nvSpPr>
        <p:spPr>
          <a:xfrm>
            <a:off x="7479792" y="5102352"/>
            <a:ext cx="4160520" cy="950976"/>
          </a:xfrm>
          <a:prstGeom prst="roundRect">
            <a:avLst>
              <a:gd name="adj" fmla="val 4808"/>
            </a:avLst>
          </a:prstGeom>
          <a:solidFill>
            <a:srgbClr val="E5E5E5"/>
          </a:solidFill>
          <a:ln w="12700">
            <a:solidFill>
              <a:srgbClr val="CACACA"/>
            </a:solidFill>
            <a:prstDash val="solid"/>
          </a:ln>
        </p:spPr>
      </p:sp>
      <p:sp>
        <p:nvSpPr>
          <p:cNvPr id="36" name="Text 33"/>
          <p:cNvSpPr txBox="1"/>
          <p:nvPr/>
        </p:nvSpPr>
        <p:spPr>
          <a:xfrm>
            <a:off x="7626096" y="517550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7" name="Text 34"/>
          <p:cNvSpPr txBox="1"/>
          <p:nvPr/>
        </p:nvSpPr>
        <p:spPr>
          <a:xfrm>
            <a:off x="7626096" y="5413248"/>
            <a:ext cx="3867912"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38" name="Text 3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 nueva producción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El dato de julio de 2026 es provisional en España, Alemania, Francia, Italia y zona euro.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FCCE8"/>
          </a:solidFill>
          <a:ln w="12700">
            <a:solidFill>
              <a:srgbClr val="FF8AC2"/>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CACACA"/>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0,41 % a 1,34 %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y 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y lo que se deriva para una decisión de entrada</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sexta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(5,0 %) y el cuarto mejor para un entrante eficiente (21,8 %).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España es el mercado donde menos vale entrar eficiente</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gana 1,2 puntos de ROE. Su banca ya es la segunda más eficiente (42,1 %), sus recursos ya son baratos (0,75 %, por debajo del 0,80 % del entrante) y arrastra una densidad de RWA del 59,5 % y el 30 % de impuesto del art. 29 LIS.</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 22 %. Y el eje que mejor predice la PD no es la información disponible (ρ = −0,23) sino el entorno de recobro (ρ = −0,79): donde ejecutar es lento y caro, el impago se enquista. Y no se compensa cobrando: entre mercados el margen neto de riesgo cae con la PD (ρ = −0,88).</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Antes de decidir, conviene validarla en el mercado objetivo: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de la conclusión 5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este análisis en una decisión</a:t>
            </a:r>
            <a:endParaRPr lang="en-US" sz="1100" dirty="0"/>
          </a:p>
        </p:txBody>
      </p:sp>
      <p:sp>
        <p:nvSpPr>
          <p:cNvPr id="4" name="Shape 2"/>
          <p:cNvSpPr/>
          <p:nvPr/>
        </p:nvSpPr>
        <p:spPr>
          <a:xfrm>
            <a:off x="548640" y="1517904"/>
            <a:ext cx="2057400" cy="457200"/>
          </a:xfrm>
          <a:prstGeom prst="roundRect">
            <a:avLst>
              <a:gd name="adj" fmla="val 10000"/>
            </a:avLst>
          </a:prstGeom>
          <a:solidFill>
            <a:srgbClr val="FFD6BA"/>
          </a:solidFill>
          <a:ln w="12700">
            <a:solidFill>
              <a:srgbClr val="FFAB70"/>
            </a:solidFill>
            <a:prstDash val="solid"/>
          </a:ln>
        </p:spPr>
      </p:sp>
      <p:sp>
        <p:nvSpPr>
          <p:cNvPr id="5" name="Text 3"/>
          <p:cNvSpPr txBox="1"/>
          <p:nvPr/>
        </p:nvSpPr>
        <p:spPr>
          <a:xfrm>
            <a:off x="548640"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025396"/>
            <a:ext cx="2057400" cy="457200"/>
          </a:xfrm>
          <a:prstGeom prst="roundRect">
            <a:avLst>
              <a:gd name="adj" fmla="val 10000"/>
            </a:avLst>
          </a:prstGeom>
          <a:solidFill>
            <a:srgbClr val="FFD6BA"/>
          </a:solidFill>
          <a:ln w="12700">
            <a:solidFill>
              <a:srgbClr val="FFAB70"/>
            </a:solidFill>
            <a:prstDash val="solid"/>
          </a:ln>
        </p:spPr>
      </p:sp>
      <p:sp>
        <p:nvSpPr>
          <p:cNvPr id="9" name="Text 7"/>
          <p:cNvSpPr txBox="1"/>
          <p:nvPr/>
        </p:nvSpPr>
        <p:spPr>
          <a:xfrm>
            <a:off x="548640"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532888"/>
            <a:ext cx="2057400" cy="457200"/>
          </a:xfrm>
          <a:prstGeom prst="roundRect">
            <a:avLst>
              <a:gd name="adj" fmla="val 10000"/>
            </a:avLst>
          </a:prstGeom>
          <a:solidFill>
            <a:srgbClr val="FFD6BA"/>
          </a:solidFill>
          <a:ln w="12700">
            <a:solidFill>
              <a:srgbClr val="FFAB70"/>
            </a:solidFill>
            <a:prstDash val="solid"/>
          </a:ln>
        </p:spPr>
      </p:sp>
      <p:sp>
        <p:nvSpPr>
          <p:cNvPr id="13" name="Text 11"/>
          <p:cNvSpPr txBox="1"/>
          <p:nvPr/>
        </p:nvSpPr>
        <p:spPr>
          <a:xfrm>
            <a:off x="548640"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040380"/>
            <a:ext cx="2057400" cy="457200"/>
          </a:xfrm>
          <a:prstGeom prst="roundRect">
            <a:avLst>
              <a:gd name="adj" fmla="val 10000"/>
            </a:avLst>
          </a:prstGeom>
          <a:solidFill>
            <a:srgbClr val="E5E5E5"/>
          </a:solidFill>
          <a:ln w="12700">
            <a:solidFill>
              <a:srgbClr val="CACACA"/>
            </a:solidFill>
            <a:prstDash val="solid"/>
          </a:ln>
        </p:spPr>
      </p:sp>
      <p:sp>
        <p:nvSpPr>
          <p:cNvPr id="17" name="Text 15"/>
          <p:cNvSpPr txBox="1"/>
          <p:nvPr/>
        </p:nvSpPr>
        <p:spPr>
          <a:xfrm>
            <a:off x="548640"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547872"/>
            <a:ext cx="2057400" cy="457200"/>
          </a:xfrm>
          <a:prstGeom prst="roundRect">
            <a:avLst>
              <a:gd name="adj" fmla="val 10000"/>
            </a:avLst>
          </a:prstGeom>
          <a:solidFill>
            <a:srgbClr val="E5E5E5"/>
          </a:solidFill>
          <a:ln w="12700">
            <a:solidFill>
              <a:srgbClr val="CACACA"/>
            </a:solidFill>
            <a:prstDash val="solid"/>
          </a:ln>
        </p:spPr>
      </p:sp>
      <p:sp>
        <p:nvSpPr>
          <p:cNvPr id="21" name="Text 19"/>
          <p:cNvSpPr txBox="1"/>
          <p:nvPr/>
        </p:nvSpPr>
        <p:spPr>
          <a:xfrm>
            <a:off x="548640"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055364"/>
            <a:ext cx="2057400" cy="457200"/>
          </a:xfrm>
          <a:prstGeom prst="roundRect">
            <a:avLst>
              <a:gd name="adj" fmla="val 10000"/>
            </a:avLst>
          </a:prstGeom>
          <a:solidFill>
            <a:srgbClr val="E5E5E5"/>
          </a:solidFill>
          <a:ln w="12700">
            <a:solidFill>
              <a:srgbClr val="CACACA"/>
            </a:solidFill>
            <a:prstDash val="solid"/>
          </a:ln>
        </p:spPr>
      </p:sp>
      <p:sp>
        <p:nvSpPr>
          <p:cNvPr id="25" name="Text 23"/>
          <p:cNvSpPr txBox="1"/>
          <p:nvPr/>
        </p:nvSpPr>
        <p:spPr>
          <a:xfrm>
            <a:off x="548640"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4562856"/>
            <a:ext cx="2057400" cy="457200"/>
          </a:xfrm>
          <a:prstGeom prst="roundRect">
            <a:avLst>
              <a:gd name="adj" fmla="val 10000"/>
            </a:avLst>
          </a:prstGeom>
          <a:solidFill>
            <a:srgbClr val="C7E3F9"/>
          </a:solidFill>
          <a:ln w="12700">
            <a:solidFill>
              <a:srgbClr val="77BFEE"/>
            </a:solidFill>
            <a:prstDash val="solid"/>
          </a:ln>
        </p:spPr>
      </p:sp>
      <p:sp>
        <p:nvSpPr>
          <p:cNvPr id="29" name="Text 27"/>
          <p:cNvSpPr txBox="1"/>
          <p:nvPr/>
        </p:nvSpPr>
        <p:spPr>
          <a:xfrm>
            <a:off x="548640"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070348"/>
            <a:ext cx="2057400" cy="457200"/>
          </a:xfrm>
          <a:prstGeom prst="roundRect">
            <a:avLst>
              <a:gd name="adj" fmla="val 10000"/>
            </a:avLst>
          </a:prstGeom>
          <a:solidFill>
            <a:srgbClr val="C7E3F9"/>
          </a:solidFill>
          <a:ln w="12700">
            <a:solidFill>
              <a:srgbClr val="77BFEE"/>
            </a:solidFill>
            <a:prstDash val="solid"/>
          </a:ln>
        </p:spPr>
      </p:sp>
      <p:sp>
        <p:nvSpPr>
          <p:cNvPr id="33" name="Text 31"/>
          <p:cNvSpPr txBox="1"/>
          <p:nvPr/>
        </p:nvSpPr>
        <p:spPr>
          <a:xfrm>
            <a:off x="548640"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Shape 34"/>
          <p:cNvSpPr/>
          <p:nvPr/>
        </p:nvSpPr>
        <p:spPr>
          <a:xfrm>
            <a:off x="548640" y="5577840"/>
            <a:ext cx="2057400" cy="457200"/>
          </a:xfrm>
          <a:prstGeom prst="roundRect">
            <a:avLst>
              <a:gd name="adj" fmla="val 10000"/>
            </a:avLst>
          </a:prstGeom>
          <a:solidFill>
            <a:srgbClr val="C7E3F9"/>
          </a:solidFill>
          <a:ln w="12700">
            <a:solidFill>
              <a:srgbClr val="77BFEE"/>
            </a:solidFill>
            <a:prstDash val="solid"/>
          </a:ln>
        </p:spPr>
      </p:sp>
      <p:sp>
        <p:nvSpPr>
          <p:cNvPr id="37" name="Text 35"/>
          <p:cNvSpPr txBox="1"/>
          <p:nvPr/>
        </p:nvSpPr>
        <p:spPr>
          <a:xfrm>
            <a:off x="548640"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38" name="Text 36"/>
          <p:cNvSpPr txBox="1"/>
          <p:nvPr/>
        </p:nvSpPr>
        <p:spPr>
          <a:xfrm>
            <a:off x="2788920"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39" name="Text 37"/>
          <p:cNvSpPr txBox="1"/>
          <p:nvPr/>
        </p:nvSpPr>
        <p:spPr>
          <a:xfrm>
            <a:off x="5943600"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+0,86).</a:t>
            </a:r>
            <a:endParaRPr lang="en-US" sz="850" dirty="0"/>
          </a:p>
        </p:txBody>
      </p:sp>
      <p:sp>
        <p:nvSpPr>
          <p:cNvPr id="40" name="Text 3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F56600"/>
          </a:solidFill>
          <a:ln w="12700">
            <a:solidFill>
              <a:srgbClr val="F56600"/>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F56600"/>
          </a:solidFill>
          <a:ln w="12700">
            <a:solidFill>
              <a:srgbClr val="F56600"/>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F56600"/>
          </a:solidFill>
          <a:ln w="12700">
            <a:solidFill>
              <a:srgbClr val="F56600"/>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F56600"/>
          </a:solidFill>
          <a:ln w="12700">
            <a:solidFill>
              <a:srgbClr val="F56600"/>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Once fuentes, 38.451 observaciones, cada fila trazable a su serie de origen</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5661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5661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2026-09-17T09:42:35Z</dcterms:created>
  <dcterms:modified xsi:type="dcterms:W3CDTF">2026-09-17T09:42:35Z</dcterms:modified>
</cp:coreProperties>
</file>