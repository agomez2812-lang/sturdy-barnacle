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6.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9.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0.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1.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2.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Hasta 0,25 M€</c:v>
                </c:pt>
              </c:strCache>
            </c:strRef>
          </c:tx>
          <c:spPr>
            <a:solidFill>
              <a:srgbClr val="C97B3C"/>
            </a:solidFill>
            <a:effectLst/>
          </c:spPr>
          <c:invertIfNegative val="0"/>
          <c:dLbls>
            <c:numFmt formatCode="#,##0" sourceLinked="0"/>
            <c:txPr>
              <a:bodyPr/>
              <a:lstStyle/>
              <a:p>
                <a:pPr>
                  <a:defRPr b="0" i="0" strike="noStrike" sz="1000" u="none">
                    <a:solidFill>
                      <a:srgbClr val="2B3A42"/>
                    </a:solidFill>
                    <a:latin typeface="Arial"/>
                  </a:defRPr>
                </a:pPr>
              </a:p>
            </c:txPr>
            <c:showLegendKey val="0"/>
            <c:showVal val="1"/>
            <c:showCatName val="0"/>
            <c:showSerName val="0"/>
            <c:showPercent val="0"/>
            <c:showBubbleSize val="0"/>
            <c:showLeaderLines val="0"/>
          </c:dLbls>
          <c:cat>
            <c:multiLvlStrRef>
              <c:f>Sheet1!$A$2:$A$7</c:f>
              <c:multiLvlStrCache>
                <c:ptCount val="6"/>
                <c:lvl>
                  <c:pt idx="0">
                    <c:v>España</c:v>
                  </c:pt>
                  <c:pt idx="1">
                    <c:v>Alemania</c:v>
                  </c:pt>
                  <c:pt idx="2">
                    <c:v>Francia</c:v>
                  </c:pt>
                  <c:pt idx="3">
                    <c:v>Italia</c:v>
                  </c:pt>
                  <c:pt idx="4">
                    <c:v>Portugal</c:v>
                  </c:pt>
                  <c:pt idx="5">
                    <c:v>P. Bajos</c:v>
                  </c:pt>
                </c:lvl>
              </c:multiLvlStrCache>
            </c:multiLvlStrRef>
          </c:cat>
          <c:val>
            <c:numRef>
              <c:f>Sheet1!$B$2:$B$7</c:f>
              <c:numCache>
                <c:formatCode>General</c:formatCode>
                <c:ptCount val="6"/>
                <c:pt idx="0">
                  <c:v>3.42</c:v>
                </c:pt>
                <c:pt idx="1">
                  <c:v>4.56</c:v>
                </c:pt>
                <c:pt idx="2">
                  <c:v>3.99</c:v>
                </c:pt>
                <c:pt idx="3">
                  <c:v>4.65</c:v>
                </c:pt>
                <c:pt idx="4">
                  <c:v>4.36</c:v>
                </c:pt>
                <c:pt idx="5">
                  <c:v>4.57</c:v>
                </c:pt>
              </c:numCache>
            </c:numRef>
          </c:val>
        </c:ser>
        <c:ser>
          <c:idx val="1"/>
          <c:order val="1"/>
          <c:tx>
            <c:strRef>
              <c:f>Sheet1!$C$1</c:f>
              <c:strCache>
                <c:ptCount val="1"/>
                <c:pt idx="0">
                  <c:v>Más de 1 M€</c:v>
                </c:pt>
              </c:strCache>
            </c:strRef>
          </c:tx>
          <c:spPr>
            <a:solidFill>
              <a:srgbClr val="1C3F4E"/>
            </a:solidFill>
            <a:effectLst/>
          </c:spPr>
          <c:invertIfNegative val="0"/>
          <c:dLbls>
            <c:numFmt formatCode="#,##0" sourceLinked="0"/>
            <c:txPr>
              <a:bodyPr/>
              <a:lstStyle/>
              <a:p>
                <a:pPr>
                  <a:defRPr b="0" i="0" strike="noStrike" sz="1000" u="none">
                    <a:solidFill>
                      <a:srgbClr val="2B3A42"/>
                    </a:solidFill>
                    <a:latin typeface="Arial"/>
                  </a:defRPr>
                </a:pPr>
              </a:p>
            </c:txPr>
            <c:showLegendKey val="0"/>
            <c:showVal val="1"/>
            <c:showCatName val="0"/>
            <c:showSerName val="0"/>
            <c:showPercent val="0"/>
            <c:showBubbleSize val="0"/>
            <c:showLeaderLines val="0"/>
          </c:dLbls>
          <c:cat>
            <c:multiLvlStrRef>
              <c:f>Sheet1!$A$2:$A$7</c:f>
              <c:multiLvlStrCache>
                <c:ptCount val="6"/>
                <c:lvl>
                  <c:pt idx="0">
                    <c:v>España</c:v>
                  </c:pt>
                  <c:pt idx="1">
                    <c:v>Alemania</c:v>
                  </c:pt>
                  <c:pt idx="2">
                    <c:v>Francia</c:v>
                  </c:pt>
                  <c:pt idx="3">
                    <c:v>Italia</c:v>
                  </c:pt>
                  <c:pt idx="4">
                    <c:v>Portugal</c:v>
                  </c:pt>
                  <c:pt idx="5">
                    <c:v>P. Bajos</c:v>
                  </c:pt>
                </c:lvl>
              </c:multiLvlStrCache>
            </c:multiLvlStrRef>
          </c:cat>
          <c:val>
            <c:numRef>
              <c:f>Sheet1!$C$2:$C$7</c:f>
              <c:numCache>
                <c:formatCode>General</c:formatCode>
                <c:ptCount val="6"/>
                <c:pt idx="0">
                  <c:v>3.46</c:v>
                </c:pt>
                <c:pt idx="1">
                  <c:v>3.41</c:v>
                </c:pt>
                <c:pt idx="2">
                  <c:v>3.49</c:v>
                </c:pt>
                <c:pt idx="3">
                  <c:v>3.22</c:v>
                </c:pt>
                <c:pt idx="4">
                  <c:v>3.71</c:v>
                </c:pt>
                <c:pt idx="5">
                  <c:v>3.37</c:v>
                </c:pt>
              </c:numCache>
            </c:numRef>
          </c:val>
        </c:ser>
        <c:dLbls>
          <c:numFmt formatCode="#,##0" sourceLinked="0"/>
          <c:txPr>
            <a:bodyPr/>
            <a:lstStyle/>
            <a:p>
              <a:pPr>
                <a:defRPr b="0" i="0" strike="noStrike" sz="1000" u="none">
                  <a:solidFill>
                    <a:srgbClr val="2B3A42"/>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3A42"/>
                </a:solidFill>
                <a:latin typeface="Arial"/>
              </a:defRPr>
            </a:pPr>
            <a:endParaRPr lang="en-US"/>
          </a:p>
        </c:txPr>
        <c:crossAx val="2094734552"/>
        <c:crosses val="autoZero"/>
        <c:auto val="1"/>
        <c:lblAlgn val="ctr"/>
        <c:noMultiLvlLbl val="1"/>
      </c:catAx>
      <c:valAx>
        <c:axId val="2094734552"/>
        <c:scaling>
          <c:orientation val="minMax"/>
          <c:max val="5.5"/>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E7F8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TEDR (sin comisiones)</c:v>
                </c:pt>
              </c:strCache>
            </c:strRef>
          </c:tx>
          <c:spPr>
            <a:solidFill>
              <a:srgbClr val="1C3F4E"/>
            </a:solidFill>
            <a:effectLst/>
          </c:spPr>
          <c:invertIfNegative val="0"/>
          <c:dLbls>
            <c:numFmt formatCode="#,##0" sourceLinked="0"/>
            <c:txPr>
              <a:bodyPr/>
              <a:lstStyle/>
              <a:p>
                <a:pPr>
                  <a:defRPr b="0" i="0" strike="noStrike" sz="1100" u="none">
                    <a:solidFill>
                      <a:srgbClr val="2B3A42"/>
                    </a:solidFill>
                    <a:latin typeface="Arial"/>
                  </a:defRPr>
                </a:pPr>
              </a:p>
            </c:txPr>
            <c:showLegendKey val="0"/>
            <c:showVal val="1"/>
            <c:showCatName val="0"/>
            <c:showSerName val="0"/>
            <c:showPercent val="0"/>
            <c:showBubbleSize val="0"/>
            <c:showLeaderLines val="0"/>
          </c:dLbls>
          <c:cat>
            <c:multiLvlStrRef>
              <c:f>Sheet1!$A$2:$A$4</c:f>
              <c:multiLvlStrCache>
                <c:ptCount val="3"/>
                <c:lvl>
                  <c:pt idx="0">
                    <c:v>≤0,25 M€</c:v>
                  </c:pt>
                  <c:pt idx="1">
                    <c:v>0,25–1 M€</c:v>
                  </c:pt>
                  <c:pt idx="2">
                    <c:v>&gt;1 M€</c:v>
                  </c:pt>
                </c:lvl>
              </c:multiLvlStrCache>
            </c:multiLvlStrRef>
          </c:cat>
          <c:val>
            <c:numRef>
              <c:f>Sheet1!$B$2:$B$4</c:f>
              <c:numCache>
                <c:formatCode>General</c:formatCode>
                <c:ptCount val="3"/>
                <c:pt idx="0">
                  <c:v>3.42</c:v>
                </c:pt>
                <c:pt idx="1">
                  <c:v>3.36</c:v>
                </c:pt>
                <c:pt idx="2">
                  <c:v>3.44</c:v>
                </c:pt>
              </c:numCache>
            </c:numRef>
          </c:val>
        </c:ser>
        <c:ser>
          <c:idx val="1"/>
          <c:order val="1"/>
          <c:tx>
            <c:strRef>
              <c:f>Sheet1!$C$1</c:f>
              <c:strCache>
                <c:ptCount val="1"/>
                <c:pt idx="0">
                  <c:v>TAE (con comisiones)</c:v>
                </c:pt>
              </c:strCache>
            </c:strRef>
          </c:tx>
          <c:spPr>
            <a:solidFill>
              <a:srgbClr val="C97B3C"/>
            </a:solidFill>
            <a:effectLst/>
          </c:spPr>
          <c:invertIfNegative val="0"/>
          <c:dLbls>
            <c:numFmt formatCode="#,##0" sourceLinked="0"/>
            <c:txPr>
              <a:bodyPr/>
              <a:lstStyle/>
              <a:p>
                <a:pPr>
                  <a:defRPr b="0" i="0" strike="noStrike" sz="1100" u="none">
                    <a:solidFill>
                      <a:srgbClr val="2B3A42"/>
                    </a:solidFill>
                    <a:latin typeface="Arial"/>
                  </a:defRPr>
                </a:pPr>
              </a:p>
            </c:txPr>
            <c:showLegendKey val="0"/>
            <c:showVal val="1"/>
            <c:showCatName val="0"/>
            <c:showSerName val="0"/>
            <c:showPercent val="0"/>
            <c:showBubbleSize val="0"/>
            <c:showLeaderLines val="0"/>
          </c:dLbls>
          <c:cat>
            <c:multiLvlStrRef>
              <c:f>Sheet1!$A$2:$A$4</c:f>
              <c:multiLvlStrCache>
                <c:ptCount val="3"/>
                <c:lvl>
                  <c:pt idx="0">
                    <c:v>≤0,25 M€</c:v>
                  </c:pt>
                  <c:pt idx="1">
                    <c:v>0,25–1 M€</c:v>
                  </c:pt>
                  <c:pt idx="2">
                    <c:v>&gt;1 M€</c:v>
                  </c:pt>
                </c:lvl>
              </c:multiLvlStrCache>
            </c:multiLvlStrRef>
          </c:cat>
          <c:val>
            <c:numRef>
              <c:f>Sheet1!$C$2:$C$4</c:f>
              <c:numCache>
                <c:formatCode>General</c:formatCode>
                <c:ptCount val="3"/>
                <c:pt idx="0">
                  <c:v>4.43</c:v>
                </c:pt>
                <c:pt idx="1">
                  <c:v>3.72</c:v>
                </c:pt>
                <c:pt idx="2">
                  <c:v>3.62</c:v>
                </c:pt>
              </c:numCache>
            </c:numRef>
          </c:val>
        </c:ser>
        <c:dLbls>
          <c:numFmt formatCode="#,##0" sourceLinked="0"/>
          <c:txPr>
            <a:bodyPr/>
            <a:lstStyle/>
            <a:p>
              <a:pPr>
                <a:defRPr b="0" i="0" strike="noStrike" sz="1100" u="none">
                  <a:solidFill>
                    <a:srgbClr val="2B3A42"/>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A42"/>
                </a:solidFill>
                <a:latin typeface="Arial"/>
              </a:defRPr>
            </a:pPr>
            <a:endParaRPr lang="en-US"/>
          </a:p>
        </c:txPr>
        <c:crossAx val="2094734552"/>
        <c:crosses val="autoZero"/>
        <c:auto val="1"/>
        <c:lblAlgn val="ctr"/>
        <c:noMultiLvlLbl val="1"/>
      </c:catAx>
      <c:valAx>
        <c:axId val="2094734552"/>
        <c:scaling>
          <c:orientation val="minMax"/>
          <c:max val="5"/>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E7F8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ROE</c:v>
                </c:pt>
              </c:strCache>
            </c:strRef>
          </c:tx>
          <c:spPr>
            <a:solidFill>
              <a:srgbClr val="1C3F4E"/>
            </a:solidFill>
            <a:effectLst/>
          </c:spPr>
          <c:invertIfNegative val="0"/>
          <c:dLbls>
            <c:numFmt formatCode="#,##0" sourceLinked="0"/>
            <c:txPr>
              <a:bodyPr/>
              <a:lstStyle/>
              <a:p>
                <a:pPr>
                  <a:defRPr b="0" i="0" strike="noStrike" sz="1200" u="none">
                    <a:solidFill>
                      <a:srgbClr val="2B3A42"/>
                    </a:solidFill>
                    <a:latin typeface="Arial"/>
                  </a:defRPr>
                </a:pPr>
              </a:p>
            </c:txPr>
            <c:showLegendKey val="0"/>
            <c:showVal val="1"/>
            <c:showCatName val="0"/>
            <c:showSerName val="0"/>
            <c:showPercent val="0"/>
            <c:showBubbleSize val="0"/>
            <c:showLeaderLines val="0"/>
          </c:dLbls>
          <c:cat>
            <c:multiLvlStrRef>
              <c:f>Sheet1!$A$2:$A$7</c:f>
              <c:multiLvlStrCache>
                <c:ptCount val="6"/>
                <c:lvl>
                  <c:pt idx="0">
                    <c:v>España</c:v>
                  </c:pt>
                  <c:pt idx="1">
                    <c:v>Alemania</c:v>
                  </c:pt>
                  <c:pt idx="2">
                    <c:v>Francia</c:v>
                  </c:pt>
                  <c:pt idx="3">
                    <c:v>Italia</c:v>
                  </c:pt>
                  <c:pt idx="4">
                    <c:v>Portugal</c:v>
                  </c:pt>
                  <c:pt idx="5">
                    <c:v>P. Bajos</c:v>
                  </c:pt>
                </c:lvl>
              </c:multiLvlStrCache>
            </c:multiLvlStrRef>
          </c:cat>
          <c:val>
            <c:numRef>
              <c:f>Sheet1!$B$2:$B$7</c:f>
              <c:numCache>
                <c:formatCode>General</c:formatCode>
                <c:ptCount val="6"/>
                <c:pt idx="0">
                  <c:v>5.49</c:v>
                </c:pt>
                <c:pt idx="1">
                  <c:v>12.09</c:v>
                </c:pt>
                <c:pt idx="2">
                  <c:v>1.66</c:v>
                </c:pt>
                <c:pt idx="3">
                  <c:v>7.65</c:v>
                </c:pt>
                <c:pt idx="4">
                  <c:v>8.08</c:v>
                </c:pt>
                <c:pt idx="5">
                  <c:v>13.71</c:v>
                </c:pt>
              </c:numCache>
            </c:numRef>
          </c:val>
        </c:ser>
        <c:dLbls>
          <c:numFmt formatCode="#,##0" sourceLinked="0"/>
          <c:txPr>
            <a:bodyPr/>
            <a:lstStyle/>
            <a:p>
              <a:pPr>
                <a:defRPr b="0" i="0" strike="noStrike" sz="1200" u="none">
                  <a:solidFill>
                    <a:srgbClr val="2B3A42"/>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3A42"/>
                </a:solidFill>
                <a:latin typeface="Arial"/>
              </a:defRPr>
            </a:pPr>
            <a:endParaRPr lang="en-US"/>
          </a:p>
        </c:txPr>
        <c:crossAx val="2094734552"/>
        <c:crosses val="autoZero"/>
        <c:auto val="1"/>
        <c:lblAlgn val="ctr"/>
        <c:noMultiLvlLbl val="1"/>
      </c:catAx>
      <c:valAx>
        <c:axId val="2094734552"/>
        <c:scaling>
          <c:orientation val="minMax"/>
          <c:max val="13"/>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E7F8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Depósito a la vista</c:v>
                </c:pt>
              </c:strCache>
            </c:strRef>
          </c:tx>
          <c:spPr>
            <a:solidFill>
              <a:srgbClr val="6E7F88"/>
            </a:solidFill>
            <a:effectLst/>
          </c:spPr>
          <c:invertIfNegative val="0"/>
          <c:dLbls>
            <c:numFmt formatCode="#,##0" sourceLinked="0"/>
            <c:txPr>
              <a:bodyPr/>
              <a:lstStyle/>
              <a:p>
                <a:pPr>
                  <a:defRPr b="0" i="0" strike="noStrike" sz="100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España</c:v>
                  </c:pt>
                  <c:pt idx="1">
                    <c:v>Alemania</c:v>
                  </c:pt>
                  <c:pt idx="2">
                    <c:v>Francia</c:v>
                  </c:pt>
                  <c:pt idx="3">
                    <c:v>Italia</c:v>
                  </c:pt>
                  <c:pt idx="4">
                    <c:v>Portugal</c:v>
                  </c:pt>
                  <c:pt idx="5">
                    <c:v>P. Bajos</c:v>
                  </c:pt>
                </c:lvl>
              </c:multiLvlStrCache>
            </c:multiLvlStrRef>
          </c:cat>
          <c:val>
            <c:numRef>
              <c:f>Sheet1!$B$2:$B$7</c:f>
              <c:numCache>
                <c:formatCode>General</c:formatCode>
                <c:ptCount val="6"/>
                <c:pt idx="0">
                  <c:v>0.44</c:v>
                </c:pt>
                <c:pt idx="1">
                  <c:v>0.72</c:v>
                </c:pt>
                <c:pt idx="2">
                  <c:v>0.52</c:v>
                </c:pt>
                <c:pt idx="3">
                  <c:v>0.56</c:v>
                </c:pt>
                <c:pt idx="4">
                  <c:v>0.07</c:v>
                </c:pt>
                <c:pt idx="5">
                  <c:v>0.85</c:v>
                </c:pt>
              </c:numCache>
            </c:numRef>
          </c:val>
        </c:ser>
        <c:ser>
          <c:idx val="1"/>
          <c:order val="1"/>
          <c:tx>
            <c:strRef>
              <c:f>Sheet1!$C$1</c:f>
              <c:strCache>
                <c:ptCount val="1"/>
                <c:pt idx="0">
                  <c:v>Margen sobre facilidad BCE</c:v>
                </c:pt>
              </c:strCache>
            </c:strRef>
          </c:tx>
          <c:spPr>
            <a:solidFill>
              <a:srgbClr val="2E7D5B"/>
            </a:solidFill>
            <a:effectLst/>
          </c:spPr>
          <c:invertIfNegative val="0"/>
          <c:dLbls>
            <c:numFmt formatCode="#,##0" sourceLinked="0"/>
            <c:txPr>
              <a:bodyPr/>
              <a:lstStyle/>
              <a:p>
                <a:pPr>
                  <a:defRPr b="0" i="0" strike="noStrike" sz="100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España</c:v>
                  </c:pt>
                  <c:pt idx="1">
                    <c:v>Alemania</c:v>
                  </c:pt>
                  <c:pt idx="2">
                    <c:v>Francia</c:v>
                  </c:pt>
                  <c:pt idx="3">
                    <c:v>Italia</c:v>
                  </c:pt>
                  <c:pt idx="4">
                    <c:v>Portugal</c:v>
                  </c:pt>
                  <c:pt idx="5">
                    <c:v>P. Bajos</c:v>
                  </c:pt>
                </c:lvl>
              </c:multiLvlStrCache>
            </c:multiLvlStrRef>
          </c:cat>
          <c:val>
            <c:numRef>
              <c:f>Sheet1!$C$2:$C$7</c:f>
              <c:numCache>
                <c:formatCode>General</c:formatCode>
                <c:ptCount val="6"/>
                <c:pt idx="0">
                  <c:v>1.65</c:v>
                </c:pt>
                <c:pt idx="1">
                  <c:v>1.37</c:v>
                </c:pt>
                <c:pt idx="2">
                  <c:v>1.57</c:v>
                </c:pt>
                <c:pt idx="3">
                  <c:v>1.53</c:v>
                </c:pt>
                <c:pt idx="4">
                  <c:v>2.02</c:v>
                </c:pt>
                <c:pt idx="5">
                  <c:v>1.24</c:v>
                </c:pt>
              </c:numCache>
            </c:numRef>
          </c:val>
        </c:ser>
        <c:dLbls>
          <c:numFmt formatCode="#,##0" sourceLinked="0"/>
          <c:txPr>
            <a:bodyPr/>
            <a:lstStyle/>
            <a:p>
              <a:pPr>
                <a:defRPr b="0" i="0" strike="noStrike" sz="1000" u="none">
                  <a:solidFill>
                    <a:srgbClr val="FFFFFF"/>
                  </a:solidFill>
                  <a:latin typeface="Arial"/>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3A42"/>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E7F8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Total cartera</c:v>
                </c:pt>
              </c:strCache>
            </c:strRef>
          </c:tx>
          <c:spPr>
            <a:solidFill>
              <a:srgbClr val="B9C6CC"/>
            </a:solidFill>
            <a:effectLst/>
          </c:spPr>
          <c:invertIfNegative val="0"/>
          <c:dLbls>
            <c:numFmt formatCode="#,##0" sourceLinked="0"/>
            <c:txPr>
              <a:bodyPr/>
              <a:lstStyle/>
              <a:p>
                <a:pPr>
                  <a:defRPr b="0" i="0" strike="noStrike" sz="800" u="none">
                    <a:solidFill>
                      <a:srgbClr val="2B3A42"/>
                    </a:solidFill>
                    <a:latin typeface="Arial"/>
                  </a:defRPr>
                </a:pPr>
              </a:p>
            </c:txPr>
            <c:showLegendKey val="0"/>
            <c:showVal val="1"/>
            <c:showCatName val="0"/>
            <c:showSerName val="0"/>
            <c:showPercent val="0"/>
            <c:showBubbleSize val="0"/>
            <c:showLeaderLines val="0"/>
          </c:dLbls>
          <c:cat>
            <c:multiLvlStrRef>
              <c:f>Sheet1!$A$2:$A$7</c:f>
              <c:multiLvlStrCache>
                <c:ptCount val="6"/>
                <c:lvl>
                  <c:pt idx="0">
                    <c:v>España</c:v>
                  </c:pt>
                  <c:pt idx="1">
                    <c:v>Alemania</c:v>
                  </c:pt>
                  <c:pt idx="2">
                    <c:v>Francia</c:v>
                  </c:pt>
                  <c:pt idx="3">
                    <c:v>Italia</c:v>
                  </c:pt>
                  <c:pt idx="4">
                    <c:v>Portugal</c:v>
                  </c:pt>
                  <c:pt idx="5">
                    <c:v>P. Bajos</c:v>
                  </c:pt>
                </c:lvl>
              </c:multiLvlStrCache>
            </c:multiLvlStrRef>
          </c:cat>
          <c:val>
            <c:numRef>
              <c:f>Sheet1!$B$2:$B$7</c:f>
              <c:numCache>
                <c:formatCode>General</c:formatCode>
                <c:ptCount val="6"/>
                <c:pt idx="0">
                  <c:v>2.6</c:v>
                </c:pt>
                <c:pt idx="1">
                  <c:v>1.61</c:v>
                </c:pt>
                <c:pt idx="2">
                  <c:v>2.16</c:v>
                </c:pt>
                <c:pt idx="3">
                  <c:v>1.97</c:v>
                </c:pt>
                <c:pt idx="4">
                  <c:v>1.91</c:v>
                </c:pt>
                <c:pt idx="5">
                  <c:v>1.35</c:v>
                </c:pt>
              </c:numCache>
            </c:numRef>
          </c:val>
        </c:ser>
        <c:ser>
          <c:idx val="1"/>
          <c:order val="1"/>
          <c:tx>
            <c:strRef>
              <c:f>Sheet1!$C$1</c:f>
              <c:strCache>
                <c:ptCount val="1"/>
                <c:pt idx="0">
                  <c:v>Empresas</c:v>
                </c:pt>
              </c:strCache>
            </c:strRef>
          </c:tx>
          <c:spPr>
            <a:solidFill>
              <a:srgbClr val="1C3F4E"/>
            </a:solidFill>
            <a:effectLst/>
          </c:spPr>
          <c:invertIfNegative val="0"/>
          <c:dLbls>
            <c:numFmt formatCode="#,##0" sourceLinked="0"/>
            <c:txPr>
              <a:bodyPr/>
              <a:lstStyle/>
              <a:p>
                <a:pPr>
                  <a:defRPr b="0" i="0" strike="noStrike" sz="800" u="none">
                    <a:solidFill>
                      <a:srgbClr val="2B3A42"/>
                    </a:solidFill>
                    <a:latin typeface="Arial"/>
                  </a:defRPr>
                </a:pPr>
              </a:p>
            </c:txPr>
            <c:showLegendKey val="0"/>
            <c:showVal val="1"/>
            <c:showCatName val="0"/>
            <c:showSerName val="0"/>
            <c:showPercent val="0"/>
            <c:showBubbleSize val="0"/>
            <c:showLeaderLines val="0"/>
          </c:dLbls>
          <c:cat>
            <c:multiLvlStrRef>
              <c:f>Sheet1!$A$2:$A$7</c:f>
              <c:multiLvlStrCache>
                <c:ptCount val="6"/>
                <c:lvl>
                  <c:pt idx="0">
                    <c:v>España</c:v>
                  </c:pt>
                  <c:pt idx="1">
                    <c:v>Alemania</c:v>
                  </c:pt>
                  <c:pt idx="2">
                    <c:v>Francia</c:v>
                  </c:pt>
                  <c:pt idx="3">
                    <c:v>Italia</c:v>
                  </c:pt>
                  <c:pt idx="4">
                    <c:v>Portugal</c:v>
                  </c:pt>
                  <c:pt idx="5">
                    <c:v>P. Bajos</c:v>
                  </c:pt>
                </c:lvl>
              </c:multiLvlStrCache>
            </c:multiLvlStrRef>
          </c:cat>
          <c:val>
            <c:numRef>
              <c:f>Sheet1!$C$2:$C$7</c:f>
              <c:numCache>
                <c:formatCode>General</c:formatCode>
                <c:ptCount val="6"/>
                <c:pt idx="0">
                  <c:v>2.99</c:v>
                </c:pt>
                <c:pt idx="1">
                  <c:v>3.81</c:v>
                </c:pt>
                <c:pt idx="2">
                  <c:v>3.94</c:v>
                </c:pt>
                <c:pt idx="3">
                  <c:v>3.4</c:v>
                </c:pt>
                <c:pt idx="4">
                  <c:v>3.65</c:v>
                </c:pt>
                <c:pt idx="5">
                  <c:v>2.86</c:v>
                </c:pt>
              </c:numCache>
            </c:numRef>
          </c:val>
        </c:ser>
        <c:ser>
          <c:idx val="2"/>
          <c:order val="2"/>
          <c:tx>
            <c:strRef>
              <c:f>Sheet1!$D$1</c:f>
              <c:strCache>
                <c:ptCount val="1"/>
                <c:pt idx="0">
                  <c:v>PYME</c:v>
                </c:pt>
              </c:strCache>
            </c:strRef>
          </c:tx>
          <c:spPr>
            <a:solidFill>
              <a:srgbClr val="B04A3F"/>
            </a:solidFill>
            <a:effectLst/>
          </c:spPr>
          <c:invertIfNegative val="0"/>
          <c:dLbls>
            <c:numFmt formatCode="#,##0" sourceLinked="0"/>
            <c:txPr>
              <a:bodyPr/>
              <a:lstStyle/>
              <a:p>
                <a:pPr>
                  <a:defRPr b="0" i="0" strike="noStrike" sz="800" u="none">
                    <a:solidFill>
                      <a:srgbClr val="2B3A42"/>
                    </a:solidFill>
                    <a:latin typeface="Arial"/>
                  </a:defRPr>
                </a:pPr>
              </a:p>
            </c:txPr>
            <c:showLegendKey val="0"/>
            <c:showVal val="1"/>
            <c:showCatName val="0"/>
            <c:showSerName val="0"/>
            <c:showPercent val="0"/>
            <c:showBubbleSize val="0"/>
            <c:showLeaderLines val="0"/>
          </c:dLbls>
          <c:cat>
            <c:multiLvlStrRef>
              <c:f>Sheet1!$A$2:$A$7</c:f>
              <c:multiLvlStrCache>
                <c:ptCount val="6"/>
                <c:lvl>
                  <c:pt idx="0">
                    <c:v>España</c:v>
                  </c:pt>
                  <c:pt idx="1">
                    <c:v>Alemania</c:v>
                  </c:pt>
                  <c:pt idx="2">
                    <c:v>Francia</c:v>
                  </c:pt>
                  <c:pt idx="3">
                    <c:v>Italia</c:v>
                  </c:pt>
                  <c:pt idx="4">
                    <c:v>Portugal</c:v>
                  </c:pt>
                  <c:pt idx="5">
                    <c:v>P. Bajos</c:v>
                  </c:pt>
                </c:lvl>
              </c:multiLvlStrCache>
            </c:multiLvlStrRef>
          </c:cat>
          <c:val>
            <c:numRef>
              <c:f>Sheet1!$D$2:$D$7</c:f>
              <c:numCache>
                <c:formatCode>General</c:formatCode>
                <c:ptCount val="6"/>
                <c:pt idx="0">
                  <c:v>5.38</c:v>
                </c:pt>
                <c:pt idx="1">
                  <c:v>4.32</c:v>
                </c:pt>
                <c:pt idx="2">
                  <c:v>5.12</c:v>
                </c:pt>
                <c:pt idx="3">
                  <c:v>4.9</c:v>
                </c:pt>
                <c:pt idx="4">
                  <c:v>4.22</c:v>
                </c:pt>
                <c:pt idx="5">
                  <c:v>3.13</c:v>
                </c:pt>
              </c:numCache>
            </c:numRef>
          </c:val>
        </c:ser>
        <c:ser>
          <c:idx val="3"/>
          <c:order val="3"/>
          <c:tx>
            <c:strRef>
              <c:f>Sheet1!$E$1</c:f>
              <c:strCache>
                <c:ptCount val="1"/>
                <c:pt idx="0">
                  <c:v>Inmueble comercial</c:v>
                </c:pt>
              </c:strCache>
            </c:strRef>
          </c:tx>
          <c:spPr>
            <a:solidFill>
              <a:srgbClr val="C97B3C"/>
            </a:solidFill>
            <a:effectLst/>
          </c:spPr>
          <c:invertIfNegative val="0"/>
          <c:dLbls>
            <c:numFmt formatCode="#,##0" sourceLinked="0"/>
            <c:txPr>
              <a:bodyPr/>
              <a:lstStyle/>
              <a:p>
                <a:pPr>
                  <a:defRPr b="0" i="0" strike="noStrike" sz="800" u="none">
                    <a:solidFill>
                      <a:srgbClr val="2B3A42"/>
                    </a:solidFill>
                    <a:latin typeface="Arial"/>
                  </a:defRPr>
                </a:pPr>
              </a:p>
            </c:txPr>
            <c:showLegendKey val="0"/>
            <c:showVal val="1"/>
            <c:showCatName val="0"/>
            <c:showSerName val="0"/>
            <c:showPercent val="0"/>
            <c:showBubbleSize val="0"/>
            <c:showLeaderLines val="0"/>
          </c:dLbls>
          <c:cat>
            <c:multiLvlStrRef>
              <c:f>Sheet1!$A$2:$A$7</c:f>
              <c:multiLvlStrCache>
                <c:ptCount val="6"/>
                <c:lvl>
                  <c:pt idx="0">
                    <c:v>España</c:v>
                  </c:pt>
                  <c:pt idx="1">
                    <c:v>Alemania</c:v>
                  </c:pt>
                  <c:pt idx="2">
                    <c:v>Francia</c:v>
                  </c:pt>
                  <c:pt idx="3">
                    <c:v>Italia</c:v>
                  </c:pt>
                  <c:pt idx="4">
                    <c:v>Portugal</c:v>
                  </c:pt>
                  <c:pt idx="5">
                    <c:v>P. Bajos</c:v>
                  </c:pt>
                </c:lvl>
              </c:multiLvlStrCache>
            </c:multiLvlStrRef>
          </c:cat>
          <c:val>
            <c:numRef>
              <c:f>Sheet1!$E$2:$E$7</c:f>
              <c:numCache>
                <c:formatCode>General</c:formatCode>
                <c:ptCount val="6"/>
                <c:pt idx="0">
                  <c:v>4.25</c:v>
                </c:pt>
                <c:pt idx="1">
                  <c:v>6.81</c:v>
                </c:pt>
                <c:pt idx="2">
                  <c:v>3.86</c:v>
                </c:pt>
                <c:pt idx="3">
                  <c:v>4.27</c:v>
                </c:pt>
                <c:pt idx="4">
                  <c:v>3.83</c:v>
                </c:pt>
                <c:pt idx="5">
                  <c:v>3.06</c:v>
                </c:pt>
              </c:numCache>
            </c:numRef>
          </c:val>
        </c:ser>
        <c:dLbls>
          <c:numFmt formatCode="#,##0" sourceLinked="0"/>
          <c:txPr>
            <a:bodyPr/>
            <a:lstStyle/>
            <a:p>
              <a:pPr>
                <a:defRPr b="0" i="0" strike="noStrike" sz="800" u="none">
                  <a:solidFill>
                    <a:srgbClr val="2B3A42"/>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3A42"/>
                </a:solidFill>
                <a:latin typeface="Arial"/>
              </a:defRPr>
            </a:pPr>
            <a:endParaRPr lang="en-US"/>
          </a:p>
        </c:txPr>
        <c:crossAx val="2094734552"/>
        <c:crosses val="autoZero"/>
        <c:auto val="1"/>
        <c:lblAlgn val="ctr"/>
        <c:noMultiLvlLbl val="1"/>
      </c:catAx>
      <c:valAx>
        <c:axId val="2094734552"/>
        <c:scaling>
          <c:orientation val="minMax"/>
          <c:max val="8"/>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E7F8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PD × LGD</c:v>
                </c:pt>
              </c:strCache>
            </c:strRef>
          </c:tx>
          <c:spPr>
            <a:solidFill>
              <a:srgbClr val="B04A3F"/>
            </a:solidFill>
            <a:effectLst/>
          </c:spPr>
          <c:invertIfNegative val="0"/>
          <c:dLbls>
            <c:numFmt formatCode="#,##0" sourceLinked="0"/>
            <c:txPr>
              <a:bodyPr/>
              <a:lstStyle/>
              <a:p>
                <a:pPr>
                  <a:defRPr b="0" i="0" strike="noStrike" sz="1200" u="none">
                    <a:solidFill>
                      <a:srgbClr val="2B3A42"/>
                    </a:solidFill>
                    <a:latin typeface="Arial"/>
                  </a:defRPr>
                </a:pPr>
              </a:p>
            </c:txPr>
            <c:showLegendKey val="0"/>
            <c:showVal val="1"/>
            <c:showCatName val="0"/>
            <c:showSerName val="0"/>
            <c:showPercent val="0"/>
            <c:showBubbleSize val="0"/>
            <c:showLeaderLines val="0"/>
          </c:dLbls>
          <c:cat>
            <c:multiLvlStrRef>
              <c:f>Sheet1!$A$2:$A$7</c:f>
              <c:multiLvlStrCache>
                <c:ptCount val="6"/>
                <c:lvl>
                  <c:pt idx="0">
                    <c:v>España</c:v>
                  </c:pt>
                  <c:pt idx="1">
                    <c:v>Alemania</c:v>
                  </c:pt>
                  <c:pt idx="2">
                    <c:v>Francia</c:v>
                  </c:pt>
                  <c:pt idx="3">
                    <c:v>Italia</c:v>
                  </c:pt>
                  <c:pt idx="4">
                    <c:v>Portugal</c:v>
                  </c:pt>
                  <c:pt idx="5">
                    <c:v>P. Bajos</c:v>
                  </c:pt>
                </c:lvl>
              </c:multiLvlStrCache>
            </c:multiLvlStrRef>
          </c:cat>
          <c:val>
            <c:numRef>
              <c:f>Sheet1!$B$2:$B$7</c:f>
              <c:numCache>
                <c:formatCode>General</c:formatCode>
                <c:ptCount val="6"/>
                <c:pt idx="0">
                  <c:v>0.59</c:v>
                </c:pt>
                <c:pt idx="1">
                  <c:v>0.4</c:v>
                </c:pt>
                <c:pt idx="2">
                  <c:v>0.68</c:v>
                </c:pt>
                <c:pt idx="3">
                  <c:v>0.8</c:v>
                </c:pt>
                <c:pt idx="4">
                  <c:v>0.5</c:v>
                </c:pt>
                <c:pt idx="5">
                  <c:v>0.35</c:v>
                </c:pt>
              </c:numCache>
            </c:numRef>
          </c:val>
        </c:ser>
        <c:dLbls>
          <c:numFmt formatCode="#,##0" sourceLinked="0"/>
          <c:txPr>
            <a:bodyPr/>
            <a:lstStyle/>
            <a:p>
              <a:pPr>
                <a:defRPr b="0" i="0" strike="noStrike" sz="1200" u="none">
                  <a:solidFill>
                    <a:srgbClr val="2B3A42"/>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3A42"/>
                </a:solidFill>
                <a:latin typeface="Arial"/>
              </a:defRPr>
            </a:pPr>
            <a:endParaRPr lang="en-US"/>
          </a:p>
        </c:txPr>
        <c:crossAx val="2094734552"/>
        <c:crosses val="autoZero"/>
        <c:auto val="1"/>
        <c:lblAlgn val="ctr"/>
        <c:noMultiLvlLbl val="1"/>
      </c:catAx>
      <c:valAx>
        <c:axId val="2094734552"/>
        <c:scaling>
          <c:orientation val="minMax"/>
          <c:max val="1"/>
        </c:scaling>
        <c:delete val="0"/>
        <c:axPos val="l"/>
        <c:majorGridlines>
          <c:spPr>
            <a:ln w="12700" cap="flat">
              <a:solidFill>
                <a:srgbClr val="E3E9EB"/>
              </a:solidFill>
              <a:prstDash val="solid"/>
              <a:round/>
            </a:ln>
          </c:spPr>
        </c:majorGridlines>
        <c:numFmt formatCode="0.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E7F8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3F4E"/>
                </a:solidFill>
                <a:latin typeface="Arial"/>
              </a:defRPr>
            </a:pPr>
            <a:r>
              <a:rPr sz="1200" b="0" i="0" u="none" strike="noStrike">
                <a:solidFill>
                  <a:srgbClr val="1C3F4E"/>
                </a:solidFill>
                <a:latin typeface="Arial"/>
              </a:rPr>
              <a:t>Probabilidad de impago (PD)</a:t>
            </a:r>
          </a:p>
        </c:rich>
      </c:tx>
      <c:layout/>
      <c:overlay val="0"/>
    </c:title>
    <c:autoTitleDeleted val="0"/>
    <c:plotArea>
      <c:layout/>
      <c:barChart>
        <c:barDir val="col"/>
        <c:grouping val="clustered"/>
        <c:varyColors val="0"/>
        <c:ser>
          <c:idx val="0"/>
          <c:order val="0"/>
          <c:tx>
            <c:strRef>
              <c:f>Sheet1!$B$1</c:f>
              <c:strCache>
                <c:ptCount val="1"/>
                <c:pt idx="0">
                  <c:v>PD PYME</c:v>
                </c:pt>
              </c:strCache>
            </c:strRef>
          </c:tx>
          <c:spPr>
            <a:solidFill>
              <a:srgbClr val="B04A3F"/>
            </a:solidFill>
            <a:effectLst/>
          </c:spPr>
          <c:invertIfNegative val="0"/>
          <c:dLbls>
            <c:numFmt formatCode="#,##0" sourceLinked="0"/>
            <c:txPr>
              <a:bodyPr/>
              <a:lstStyle/>
              <a:p>
                <a:pPr>
                  <a:defRPr b="0" i="0" strike="noStrike" sz="800" u="none">
                    <a:solidFill>
                      <a:srgbClr val="2B3A42"/>
                    </a:solidFill>
                    <a:latin typeface="Arial"/>
                  </a:defRPr>
                </a:pPr>
              </a:p>
            </c:txPr>
            <c:showLegendKey val="0"/>
            <c:showVal val="1"/>
            <c:showCatName val="0"/>
            <c:showSerName val="0"/>
            <c:showPercent val="0"/>
            <c:showBubbleSize val="0"/>
            <c:showLeaderLines val="0"/>
          </c:dLbls>
          <c:cat>
            <c:multiLvlStrRef>
              <c:f>Sheet1!$A$2:$A$7</c:f>
              <c:multiLvlStrCache>
                <c:ptCount val="6"/>
                <c:lvl>
                  <c:pt idx="0">
                    <c:v>España</c:v>
                  </c:pt>
                  <c:pt idx="1">
                    <c:v>Alemania</c:v>
                  </c:pt>
                  <c:pt idx="2">
                    <c:v>Francia</c:v>
                  </c:pt>
                  <c:pt idx="3">
                    <c:v>Italia</c:v>
                  </c:pt>
                  <c:pt idx="4">
                    <c:v>Portugal</c:v>
                  </c:pt>
                  <c:pt idx="5">
                    <c:v>P. Bajos</c:v>
                  </c:pt>
                </c:lvl>
              </c:multiLvlStrCache>
            </c:multiLvlStrRef>
          </c:cat>
          <c:val>
            <c:numRef>
              <c:f>Sheet1!$B$2:$B$7</c:f>
              <c:numCache>
                <c:formatCode>General</c:formatCode>
                <c:ptCount val="6"/>
                <c:pt idx="0">
                  <c:v>1.73</c:v>
                </c:pt>
                <c:pt idx="1">
                  <c:v>1.26</c:v>
                </c:pt>
                <c:pt idx="2">
                  <c:v>2.15</c:v>
                </c:pt>
                <c:pt idx="3">
                  <c:v>2.26</c:v>
                </c:pt>
                <c:pt idx="4">
                  <c:v>1.26</c:v>
                </c:pt>
                <c:pt idx="5">
                  <c:v>1.18</c:v>
                </c:pt>
              </c:numCache>
            </c:numRef>
          </c:val>
        </c:ser>
        <c:ser>
          <c:idx val="1"/>
          <c:order val="1"/>
          <c:tx>
            <c:strRef>
              <c:f>Sheet1!$C$1</c:f>
              <c:strCache>
                <c:ptCount val="1"/>
                <c:pt idx="0">
                  <c:v>PD gran empresa</c:v>
                </c:pt>
              </c:strCache>
            </c:strRef>
          </c:tx>
          <c:spPr>
            <a:solidFill>
              <a:srgbClr val="B9C6CC"/>
            </a:solidFill>
            <a:effectLst/>
          </c:spPr>
          <c:invertIfNegative val="0"/>
          <c:dLbls>
            <c:numFmt formatCode="#,##0" sourceLinked="0"/>
            <c:txPr>
              <a:bodyPr/>
              <a:lstStyle/>
              <a:p>
                <a:pPr>
                  <a:defRPr b="0" i="0" strike="noStrike" sz="800" u="none">
                    <a:solidFill>
                      <a:srgbClr val="2B3A42"/>
                    </a:solidFill>
                    <a:latin typeface="Arial"/>
                  </a:defRPr>
                </a:pPr>
              </a:p>
            </c:txPr>
            <c:showLegendKey val="0"/>
            <c:showVal val="1"/>
            <c:showCatName val="0"/>
            <c:showSerName val="0"/>
            <c:showPercent val="0"/>
            <c:showBubbleSize val="0"/>
            <c:showLeaderLines val="0"/>
          </c:dLbls>
          <c:cat>
            <c:multiLvlStrRef>
              <c:f>Sheet1!$A$2:$A$7</c:f>
              <c:multiLvlStrCache>
                <c:ptCount val="6"/>
                <c:lvl>
                  <c:pt idx="0">
                    <c:v>España</c:v>
                  </c:pt>
                  <c:pt idx="1">
                    <c:v>Alemania</c:v>
                  </c:pt>
                  <c:pt idx="2">
                    <c:v>Francia</c:v>
                  </c:pt>
                  <c:pt idx="3">
                    <c:v>Italia</c:v>
                  </c:pt>
                  <c:pt idx="4">
                    <c:v>Portugal</c:v>
                  </c:pt>
                  <c:pt idx="5">
                    <c:v>P. Bajos</c:v>
                  </c:pt>
                </c:lvl>
              </c:multiLvlStrCache>
            </c:multiLvlStrRef>
          </c:cat>
          <c:val>
            <c:numRef>
              <c:f>Sheet1!$C$2:$C$7</c:f>
              <c:numCache>
                <c:formatCode>General</c:formatCode>
                <c:ptCount val="6"/>
                <c:pt idx="0">
                  <c:v>0.57</c:v>
                </c:pt>
                <c:pt idx="1">
                  <c:v>0.5</c:v>
                </c:pt>
                <c:pt idx="2">
                  <c:v>0.6</c:v>
                </c:pt>
                <c:pt idx="3">
                  <c:v>0.67</c:v>
                </c:pt>
                <c:pt idx="4">
                  <c:v>0.33</c:v>
                </c:pt>
                <c:pt idx="5">
                  <c:v>0.52</c:v>
                </c:pt>
              </c:numCache>
            </c:numRef>
          </c:val>
        </c:ser>
        <c:dLbls>
          <c:numFmt formatCode="#,##0" sourceLinked="0"/>
          <c:txPr>
            <a:bodyPr/>
            <a:lstStyle/>
            <a:p>
              <a:pPr>
                <a:defRPr b="0" i="0" strike="noStrike" sz="800" u="none">
                  <a:solidFill>
                    <a:srgbClr val="2B3A42"/>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3A42"/>
                </a:solidFill>
                <a:latin typeface="Arial"/>
              </a:defRPr>
            </a:pPr>
            <a:endParaRPr lang="en-US"/>
          </a:p>
        </c:txPr>
        <c:crossAx val="2094734552"/>
        <c:crosses val="autoZero"/>
        <c:auto val="1"/>
        <c:lblAlgn val="ctr"/>
        <c:noMultiLvlLbl val="1"/>
      </c:catAx>
      <c:valAx>
        <c:axId val="2094734552"/>
        <c:scaling>
          <c:orientation val="minMax"/>
          <c:max val="2.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E7F8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3F4E"/>
                </a:solidFill>
                <a:latin typeface="Arial"/>
              </a:defRPr>
            </a:pPr>
            <a:r>
              <a:rPr sz="1200" b="0" i="0" u="none" strike="noStrike">
                <a:solidFill>
                  <a:srgbClr val="1C3F4E"/>
                </a:solidFill>
                <a:latin typeface="Arial"/>
              </a:rPr>
              <a:t>Severidad de la pérdida (LGD)</a:t>
            </a:r>
          </a:p>
        </c:rich>
      </c:tx>
      <c:layout/>
      <c:overlay val="0"/>
    </c:title>
    <c:autoTitleDeleted val="0"/>
    <c:plotArea>
      <c:layout/>
      <c:barChart>
        <c:barDir val="col"/>
        <c:grouping val="clustered"/>
        <c:varyColors val="0"/>
        <c:ser>
          <c:idx val="0"/>
          <c:order val="0"/>
          <c:tx>
            <c:strRef>
              <c:f>Sheet1!$B$1</c:f>
              <c:strCache>
                <c:ptCount val="1"/>
                <c:pt idx="0">
                  <c:v>LGD PYME</c:v>
                </c:pt>
              </c:strCache>
            </c:strRef>
          </c:tx>
          <c:spPr>
            <a:solidFill>
              <a:srgbClr val="C97B3C"/>
            </a:solidFill>
            <a:effectLst/>
          </c:spPr>
          <c:invertIfNegative val="0"/>
          <c:dLbls>
            <c:numFmt formatCode="#,##0" sourceLinked="0"/>
            <c:txPr>
              <a:bodyPr/>
              <a:lstStyle/>
              <a:p>
                <a:pPr>
                  <a:defRPr b="0" i="0" strike="noStrike" sz="800" u="none">
                    <a:solidFill>
                      <a:srgbClr val="2B3A42"/>
                    </a:solidFill>
                    <a:latin typeface="Arial"/>
                  </a:defRPr>
                </a:pPr>
              </a:p>
            </c:txPr>
            <c:showLegendKey val="0"/>
            <c:showVal val="1"/>
            <c:showCatName val="0"/>
            <c:showSerName val="0"/>
            <c:showPercent val="0"/>
            <c:showBubbleSize val="0"/>
            <c:showLeaderLines val="0"/>
          </c:dLbls>
          <c:cat>
            <c:multiLvlStrRef>
              <c:f>Sheet1!$A$2:$A$7</c:f>
              <c:multiLvlStrCache>
                <c:ptCount val="6"/>
                <c:lvl>
                  <c:pt idx="0">
                    <c:v>España</c:v>
                  </c:pt>
                  <c:pt idx="1">
                    <c:v>Alemania</c:v>
                  </c:pt>
                  <c:pt idx="2">
                    <c:v>Francia</c:v>
                  </c:pt>
                  <c:pt idx="3">
                    <c:v>Italia</c:v>
                  </c:pt>
                  <c:pt idx="4">
                    <c:v>Portugal</c:v>
                  </c:pt>
                  <c:pt idx="5">
                    <c:v>P. Bajos</c:v>
                  </c:pt>
                </c:lvl>
              </c:multiLvlStrCache>
            </c:multiLvlStrRef>
          </c:cat>
          <c:val>
            <c:numRef>
              <c:f>Sheet1!$B$2:$B$7</c:f>
              <c:numCache>
                <c:formatCode>General</c:formatCode>
                <c:ptCount val="6"/>
                <c:pt idx="0">
                  <c:v>34.38</c:v>
                </c:pt>
                <c:pt idx="1">
                  <c:v>31.44</c:v>
                </c:pt>
                <c:pt idx="2">
                  <c:v>31.51</c:v>
                </c:pt>
                <c:pt idx="3">
                  <c:v>35.6</c:v>
                </c:pt>
                <c:pt idx="4">
                  <c:v>40</c:v>
                </c:pt>
                <c:pt idx="5">
                  <c:v>29.7</c:v>
                </c:pt>
              </c:numCache>
            </c:numRef>
          </c:val>
        </c:ser>
        <c:ser>
          <c:idx val="1"/>
          <c:order val="1"/>
          <c:tx>
            <c:strRef>
              <c:f>Sheet1!$C$1</c:f>
              <c:strCache>
                <c:ptCount val="1"/>
                <c:pt idx="0">
                  <c:v>LGD gran empresa</c:v>
                </c:pt>
              </c:strCache>
            </c:strRef>
          </c:tx>
          <c:spPr>
            <a:solidFill>
              <a:srgbClr val="B9C6CC"/>
            </a:solidFill>
            <a:effectLst/>
          </c:spPr>
          <c:invertIfNegative val="0"/>
          <c:dLbls>
            <c:numFmt formatCode="#,##0" sourceLinked="0"/>
            <c:txPr>
              <a:bodyPr/>
              <a:lstStyle/>
              <a:p>
                <a:pPr>
                  <a:defRPr b="0" i="0" strike="noStrike" sz="800" u="none">
                    <a:solidFill>
                      <a:srgbClr val="2B3A42"/>
                    </a:solidFill>
                    <a:latin typeface="Arial"/>
                  </a:defRPr>
                </a:pPr>
              </a:p>
            </c:txPr>
            <c:showLegendKey val="0"/>
            <c:showVal val="1"/>
            <c:showCatName val="0"/>
            <c:showSerName val="0"/>
            <c:showPercent val="0"/>
            <c:showBubbleSize val="0"/>
            <c:showLeaderLines val="0"/>
          </c:dLbls>
          <c:cat>
            <c:multiLvlStrRef>
              <c:f>Sheet1!$A$2:$A$7</c:f>
              <c:multiLvlStrCache>
                <c:ptCount val="6"/>
                <c:lvl>
                  <c:pt idx="0">
                    <c:v>España</c:v>
                  </c:pt>
                  <c:pt idx="1">
                    <c:v>Alemania</c:v>
                  </c:pt>
                  <c:pt idx="2">
                    <c:v>Francia</c:v>
                  </c:pt>
                  <c:pt idx="3">
                    <c:v>Italia</c:v>
                  </c:pt>
                  <c:pt idx="4">
                    <c:v>Portugal</c:v>
                  </c:pt>
                  <c:pt idx="5">
                    <c:v>P. Bajos</c:v>
                  </c:pt>
                </c:lvl>
              </c:multiLvlStrCache>
            </c:multiLvlStrRef>
          </c:cat>
          <c:val>
            <c:numRef>
              <c:f>Sheet1!$C$2:$C$7</c:f>
              <c:numCache>
                <c:formatCode>General</c:formatCode>
                <c:ptCount val="6"/>
                <c:pt idx="0">
                  <c:v>40</c:v>
                </c:pt>
                <c:pt idx="1">
                  <c:v>39.55</c:v>
                </c:pt>
                <c:pt idx="2">
                  <c:v>40</c:v>
                </c:pt>
                <c:pt idx="3">
                  <c:v>40</c:v>
                </c:pt>
                <c:pt idx="4">
                  <c:v>40</c:v>
                </c:pt>
                <c:pt idx="5">
                  <c:v>40</c:v>
                </c:pt>
              </c:numCache>
            </c:numRef>
          </c:val>
        </c:ser>
        <c:dLbls>
          <c:numFmt formatCode="#,##0" sourceLinked="0"/>
          <c:txPr>
            <a:bodyPr/>
            <a:lstStyle/>
            <a:p>
              <a:pPr>
                <a:defRPr b="0" i="0" strike="noStrike" sz="800" u="none">
                  <a:solidFill>
                    <a:srgbClr val="2B3A42"/>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3A42"/>
                </a:solidFill>
                <a:latin typeface="Arial"/>
              </a:defRPr>
            </a:pPr>
            <a:endParaRPr lang="en-US"/>
          </a:p>
        </c:txPr>
        <c:crossAx val="2094734552"/>
        <c:crosses val="autoZero"/>
        <c:auto val="1"/>
        <c:lblAlgn val="ctr"/>
        <c:noMultiLvlLbl val="1"/>
      </c:catAx>
      <c:valAx>
        <c:axId val="2094734552"/>
        <c:scaling>
          <c:orientation val="minMax"/>
          <c:max val="48"/>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E7F8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Densidad de RWA</c:v>
                </c:pt>
              </c:strCache>
            </c:strRef>
          </c:tx>
          <c:spPr>
            <a:solidFill>
              <a:srgbClr val="1C3F4E"/>
            </a:solidFill>
            <a:effectLst/>
          </c:spPr>
          <c:invertIfNegative val="0"/>
          <c:dLbls>
            <c:numFmt formatCode="#,##0" sourceLinked="0"/>
            <c:txPr>
              <a:bodyPr/>
              <a:lstStyle/>
              <a:p>
                <a:pPr>
                  <a:defRPr b="0" i="0" strike="noStrike" sz="1200" u="none">
                    <a:solidFill>
                      <a:srgbClr val="2B3A42"/>
                    </a:solidFill>
                    <a:latin typeface="Arial"/>
                  </a:defRPr>
                </a:pPr>
              </a:p>
            </c:txPr>
            <c:showLegendKey val="0"/>
            <c:showVal val="1"/>
            <c:showCatName val="0"/>
            <c:showSerName val="0"/>
            <c:showPercent val="0"/>
            <c:showBubbleSize val="0"/>
            <c:showLeaderLines val="0"/>
          </c:dLbls>
          <c:cat>
            <c:multiLvlStrRef>
              <c:f>Sheet1!$A$2:$A$7</c:f>
              <c:multiLvlStrCache>
                <c:ptCount val="6"/>
                <c:lvl>
                  <c:pt idx="0">
                    <c:v>España</c:v>
                  </c:pt>
                  <c:pt idx="1">
                    <c:v>Alemania</c:v>
                  </c:pt>
                  <c:pt idx="2">
                    <c:v>Francia</c:v>
                  </c:pt>
                  <c:pt idx="3">
                    <c:v>Italia</c:v>
                  </c:pt>
                  <c:pt idx="4">
                    <c:v>Portugal</c:v>
                  </c:pt>
                  <c:pt idx="5">
                    <c:v>P. Bajos</c:v>
                  </c:pt>
                </c:lvl>
              </c:multiLvlStrCache>
            </c:multiLvlStrRef>
          </c:cat>
          <c:val>
            <c:numRef>
              <c:f>Sheet1!$B$2:$B$7</c:f>
              <c:numCache>
                <c:formatCode>General</c:formatCode>
                <c:ptCount val="6"/>
                <c:pt idx="0">
                  <c:v>59.46</c:v>
                </c:pt>
                <c:pt idx="1">
                  <c:v>35.34</c:v>
                </c:pt>
                <c:pt idx="2">
                  <c:v>43</c:v>
                </c:pt>
                <c:pt idx="3">
                  <c:v>46.35</c:v>
                </c:pt>
                <c:pt idx="4">
                  <c:v>61.33</c:v>
                </c:pt>
                <c:pt idx="5">
                  <c:v>37.2</c:v>
                </c:pt>
              </c:numCache>
            </c:numRef>
          </c:val>
        </c:ser>
        <c:dLbls>
          <c:numFmt formatCode="#,##0" sourceLinked="0"/>
          <c:txPr>
            <a:bodyPr/>
            <a:lstStyle/>
            <a:p>
              <a:pPr>
                <a:defRPr b="0" i="0" strike="noStrike" sz="1200" u="none">
                  <a:solidFill>
                    <a:srgbClr val="2B3A42"/>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3A42"/>
                </a:solidFill>
                <a:latin typeface="Arial"/>
              </a:defRPr>
            </a:pPr>
            <a:endParaRPr lang="en-US"/>
          </a:p>
        </c:txPr>
        <c:crossAx val="2094734552"/>
        <c:crosses val="autoZero"/>
        <c:auto val="1"/>
        <c:lblAlgn val="ctr"/>
        <c:noMultiLvlLbl val="1"/>
      </c:catAx>
      <c:valAx>
        <c:axId val="2094734552"/>
        <c:scaling>
          <c:orientation val="minMax"/>
          <c:max val="70"/>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E7F8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Tipo circulante</c:v>
                </c:pt>
              </c:strCache>
            </c:strRef>
          </c:tx>
          <c:spPr>
            <a:solidFill>
              <a:srgbClr val="C97B3C"/>
            </a:solidFill>
            <a:effectLst/>
          </c:spPr>
          <c:invertIfNegative val="0"/>
          <c:dLbls>
            <c:numFmt formatCode="#,##0" sourceLinked="0"/>
            <c:txPr>
              <a:bodyPr/>
              <a:lstStyle/>
              <a:p>
                <a:pPr>
                  <a:defRPr b="0" i="0" strike="noStrike" sz="1200" u="none">
                    <a:solidFill>
                      <a:srgbClr val="2B3A42"/>
                    </a:solidFill>
                    <a:latin typeface="Arial"/>
                  </a:defRPr>
                </a:pPr>
              </a:p>
            </c:txPr>
            <c:showLegendKey val="0"/>
            <c:showVal val="1"/>
            <c:showCatName val="0"/>
            <c:showSerName val="0"/>
            <c:showPercent val="0"/>
            <c:showBubbleSize val="0"/>
            <c:showLeaderLines val="0"/>
          </c:dLbls>
          <c:cat>
            <c:multiLvlStrRef>
              <c:f>Sheet1!$A$2:$A$7</c:f>
              <c:multiLvlStrCache>
                <c:ptCount val="6"/>
                <c:lvl>
                  <c:pt idx="0">
                    <c:v>España</c:v>
                  </c:pt>
                  <c:pt idx="1">
                    <c:v>Alemania</c:v>
                  </c:pt>
                  <c:pt idx="2">
                    <c:v>Francia</c:v>
                  </c:pt>
                  <c:pt idx="3">
                    <c:v>Italia</c:v>
                  </c:pt>
                  <c:pt idx="4">
                    <c:v>Portugal</c:v>
                  </c:pt>
                  <c:pt idx="5">
                    <c:v>P. Bajos</c:v>
                  </c:pt>
                </c:lvl>
              </c:multiLvlStrCache>
            </c:multiLvlStrRef>
          </c:cat>
          <c:val>
            <c:numRef>
              <c:f>Sheet1!$B$2:$B$7</c:f>
              <c:numCache>
                <c:formatCode>General</c:formatCode>
                <c:ptCount val="6"/>
                <c:pt idx="0">
                  <c:v>3.58</c:v>
                </c:pt>
                <c:pt idx="1">
                  <c:v>4.95</c:v>
                </c:pt>
                <c:pt idx="2">
                  <c:v>3.39</c:v>
                </c:pt>
                <c:pt idx="3">
                  <c:v>4.11</c:v>
                </c:pt>
                <c:pt idx="4">
                  <c:v>4.41</c:v>
                </c:pt>
                <c:pt idx="5">
                  <c:v>2.46</c:v>
                </c:pt>
              </c:numCache>
            </c:numRef>
          </c:val>
        </c:ser>
        <c:dLbls>
          <c:numFmt formatCode="#,##0" sourceLinked="0"/>
          <c:txPr>
            <a:bodyPr/>
            <a:lstStyle/>
            <a:p>
              <a:pPr>
                <a:defRPr b="0" i="0" strike="noStrike" sz="1200" u="none">
                  <a:solidFill>
                    <a:srgbClr val="2B3A42"/>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3A42"/>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E7F8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NPL inmueble comercial</c:v>
                </c:pt>
              </c:strCache>
            </c:strRef>
          </c:tx>
          <c:spPr>
            <a:solidFill>
              <a:srgbClr val="C97B3C"/>
            </a:solidFill>
            <a:effectLst/>
          </c:spPr>
          <c:invertIfNegative val="0"/>
          <c:dLbls>
            <c:numFmt formatCode="#,##0" sourceLinked="0"/>
            <c:txPr>
              <a:bodyPr/>
              <a:lstStyle/>
              <a:p>
                <a:pPr>
                  <a:defRPr b="0" i="0" strike="noStrike" sz="1200" u="none">
                    <a:solidFill>
                      <a:srgbClr val="2B3A42"/>
                    </a:solidFill>
                    <a:latin typeface="Arial"/>
                  </a:defRPr>
                </a:pPr>
              </a:p>
            </c:txPr>
            <c:showLegendKey val="0"/>
            <c:showVal val="1"/>
            <c:showCatName val="0"/>
            <c:showSerName val="0"/>
            <c:showPercent val="0"/>
            <c:showBubbleSize val="0"/>
            <c:showLeaderLines val="0"/>
          </c:dLbls>
          <c:cat>
            <c:multiLvlStrRef>
              <c:f>Sheet1!$A$2:$A$7</c:f>
              <c:multiLvlStrCache>
                <c:ptCount val="6"/>
                <c:lvl>
                  <c:pt idx="0">
                    <c:v>España</c:v>
                  </c:pt>
                  <c:pt idx="1">
                    <c:v>Alemania</c:v>
                  </c:pt>
                  <c:pt idx="2">
                    <c:v>Francia</c:v>
                  </c:pt>
                  <c:pt idx="3">
                    <c:v>Italia</c:v>
                  </c:pt>
                  <c:pt idx="4">
                    <c:v>Portugal</c:v>
                  </c:pt>
                  <c:pt idx="5">
                    <c:v>P. Bajos</c:v>
                  </c:pt>
                </c:lvl>
              </c:multiLvlStrCache>
            </c:multiLvlStrRef>
          </c:cat>
          <c:val>
            <c:numRef>
              <c:f>Sheet1!$B$2:$B$7</c:f>
              <c:numCache>
                <c:formatCode>General</c:formatCode>
                <c:ptCount val="6"/>
                <c:pt idx="0">
                  <c:v>4.25</c:v>
                </c:pt>
                <c:pt idx="1">
                  <c:v>6.81</c:v>
                </c:pt>
                <c:pt idx="2">
                  <c:v>3.86</c:v>
                </c:pt>
                <c:pt idx="3">
                  <c:v>4.27</c:v>
                </c:pt>
                <c:pt idx="4">
                  <c:v>3.83</c:v>
                </c:pt>
                <c:pt idx="5">
                  <c:v>3.06</c:v>
                </c:pt>
              </c:numCache>
            </c:numRef>
          </c:val>
        </c:ser>
        <c:dLbls>
          <c:numFmt formatCode="#,##0" sourceLinked="0"/>
          <c:txPr>
            <a:bodyPr/>
            <a:lstStyle/>
            <a:p>
              <a:pPr>
                <a:defRPr b="0" i="0" strike="noStrike" sz="1200" u="none">
                  <a:solidFill>
                    <a:srgbClr val="2B3A42"/>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A42"/>
                </a:solidFill>
                <a:latin typeface="Arial"/>
              </a:defRPr>
            </a:pPr>
            <a:endParaRPr lang="en-US"/>
          </a:p>
        </c:txPr>
        <c:crossAx val="2094734552"/>
        <c:crosses val="autoZero"/>
        <c:auto val="1"/>
        <c:lblAlgn val="ctr"/>
        <c:noMultiLvlLbl val="1"/>
      </c:catAx>
      <c:valAx>
        <c:axId val="2094734552"/>
        <c:scaling>
          <c:orientation val="minMax"/>
          <c:max val="8"/>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E7F8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Penetración sobre PIB</c:v>
                </c:pt>
              </c:strCache>
            </c:strRef>
          </c:tx>
          <c:spPr>
            <a:solidFill>
              <a:srgbClr val="1C3F4E"/>
            </a:solidFill>
            <a:effectLst/>
          </c:spPr>
          <c:invertIfNegative val="0"/>
          <c:dLbls>
            <c:numFmt formatCode="#,##0" sourceLinked="0"/>
            <c:txPr>
              <a:bodyPr/>
              <a:lstStyle/>
              <a:p>
                <a:pPr>
                  <a:defRPr b="0" i="0" strike="noStrike" sz="1100" u="none">
                    <a:solidFill>
                      <a:srgbClr val="2B3A42"/>
                    </a:solidFill>
                    <a:latin typeface="Arial"/>
                  </a:defRPr>
                </a:pPr>
              </a:p>
            </c:txPr>
            <c:showLegendKey val="0"/>
            <c:showVal val="1"/>
            <c:showCatName val="0"/>
            <c:showSerName val="0"/>
            <c:showPercent val="0"/>
            <c:showBubbleSize val="0"/>
            <c:showLeaderLines val="0"/>
          </c:dLbls>
          <c:cat>
            <c:multiLvlStrRef>
              <c:f>Sheet1!$A$2:$A$7</c:f>
              <c:multiLvlStrCache>
                <c:ptCount val="6"/>
                <c:lvl>
                  <c:pt idx="0">
                    <c:v>España</c:v>
                  </c:pt>
                  <c:pt idx="1">
                    <c:v>Alemania</c:v>
                  </c:pt>
                  <c:pt idx="2">
                    <c:v>Francia</c:v>
                  </c:pt>
                  <c:pt idx="3">
                    <c:v>Italia</c:v>
                  </c:pt>
                  <c:pt idx="4">
                    <c:v>Portugal</c:v>
                  </c:pt>
                  <c:pt idx="5">
                    <c:v>P. Bajos</c:v>
                  </c:pt>
                </c:lvl>
              </c:multiLvlStrCache>
            </c:multiLvlStrRef>
          </c:cat>
          <c:val>
            <c:numRef>
              <c:f>Sheet1!$B$2:$B$7</c:f>
              <c:numCache>
                <c:formatCode>General</c:formatCode>
                <c:ptCount val="6"/>
                <c:pt idx="0">
                  <c:v>16.5</c:v>
                </c:pt>
                <c:pt idx="1">
                  <c:v>9.5</c:v>
                </c:pt>
                <c:pt idx="2">
                  <c:v>14.8</c:v>
                </c:pt>
                <c:pt idx="3">
                  <c:v>13.2</c:v>
                </c:pt>
                <c:pt idx="4">
                  <c:v>20.7</c:v>
                </c:pt>
                <c:pt idx="5">
                  <c:v>14</c:v>
                </c:pt>
              </c:numCache>
            </c:numRef>
          </c:val>
        </c:ser>
        <c:dLbls>
          <c:numFmt formatCode="#,##0" sourceLinked="0"/>
          <c:txPr>
            <a:bodyPr/>
            <a:lstStyle/>
            <a:p>
              <a:pPr>
                <a:defRPr b="0" i="0" strike="noStrike" sz="1100" u="none">
                  <a:solidFill>
                    <a:srgbClr val="2B3A42"/>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3A42"/>
                </a:solidFill>
                <a:latin typeface="Arial"/>
              </a:defRPr>
            </a:pPr>
            <a:endParaRPr lang="en-US"/>
          </a:p>
        </c:txPr>
        <c:crossAx val="2094734552"/>
        <c:crosses val="autoZero"/>
        <c:auto val="1"/>
        <c:lblAlgn val="ctr"/>
        <c:noMultiLvlLbl val="1"/>
      </c:catAx>
      <c:valAx>
        <c:axId val="2094734552"/>
        <c:scaling>
          <c:orientation val="minMax"/>
          <c:max val="24"/>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E7F8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Deck construido sobre datos oficiales del BCE, EBA, OCDE, Banco de España, Banca d'Italia, EUF y cuentas de resultados de bancos. El ROE es modelizado, no observado.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C36"/>
        </a:solidFill>
      </p:bgPr>
    </p:bg>
    <p:spTree>
      <p:nvGrpSpPr>
        <p:cNvPr id="1" name=""/>
        <p:cNvGrpSpPr/>
        <p:nvPr/>
      </p:nvGrpSpPr>
      <p:grpSpPr>
        <a:xfrm>
          <a:off x="0" y="0"/>
          <a:ext cx="0" cy="0"/>
          <a:chOff x="0" y="0"/>
          <a:chExt cx="0" cy="0"/>
        </a:xfrm>
      </p:grpSpPr>
      <p:sp>
        <p:nvSpPr>
          <p:cNvPr id="2" name="Text 0"/>
          <p:cNvSpPr txBox="1"/>
          <p:nvPr/>
        </p:nvSpPr>
        <p:spPr>
          <a:xfrm>
            <a:off x="548640" y="2286000"/>
            <a:ext cx="9601200" cy="82296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Rentabilidad del negocio PYME</a:t>
            </a:r>
            <a:endParaRPr lang="en-US" sz="4200" dirty="0"/>
          </a:p>
        </p:txBody>
      </p:sp>
      <p:sp>
        <p:nvSpPr>
          <p:cNvPr id="3" name="Text 1"/>
          <p:cNvSpPr txBox="1"/>
          <p:nvPr/>
        </p:nvSpPr>
        <p:spPr>
          <a:xfrm>
            <a:off x="548640" y="3154680"/>
            <a:ext cx="9601200" cy="457200"/>
          </a:xfrm>
          <a:prstGeom prst="rect">
            <a:avLst/>
          </a:prstGeom>
          <a:noFill/>
          <a:ln/>
        </p:spPr>
        <p:txBody>
          <a:bodyPr wrap="square" lIns="0" tIns="0" rIns="0" bIns="0" rtlCol="0" anchor="ctr"/>
          <a:lstStyle/>
          <a:p>
            <a:pPr indent="0" marL="0">
              <a:buNone/>
            </a:pPr>
            <a:r>
              <a:rPr lang="en-US" sz="1800" dirty="0">
                <a:solidFill>
                  <a:srgbClr val="9FB3BC"/>
                </a:solidFill>
                <a:latin typeface="Calibri" pitchFamily="34" charset="0"/>
                <a:ea typeface="Calibri" pitchFamily="34" charset="-122"/>
                <a:cs typeface="Calibri" pitchFamily="34" charset="-120"/>
              </a:rPr>
              <a:t>España · Alemania · Francia · Italia · Portugal · Países Bajos</a:t>
            </a:r>
            <a:endParaRPr lang="en-US" sz="1800" dirty="0"/>
          </a:p>
        </p:txBody>
      </p:sp>
      <p:sp>
        <p:nvSpPr>
          <p:cNvPr id="4" name="Text 2"/>
          <p:cNvSpPr txBox="1"/>
          <p:nvPr/>
        </p:nvSpPr>
        <p:spPr>
          <a:xfrm>
            <a:off x="548640" y="3794760"/>
            <a:ext cx="9601200" cy="365760"/>
          </a:xfrm>
          <a:prstGeom prst="rect">
            <a:avLst/>
          </a:prstGeom>
          <a:noFill/>
          <a:ln/>
        </p:spPr>
        <p:txBody>
          <a:bodyPr wrap="square" lIns="0" tIns="0" rIns="0" bIns="0" rtlCol="0" anchor="ctr"/>
          <a:lstStyle/>
          <a:p>
            <a:pPr indent="0" marL="0">
              <a:buNone/>
            </a:pPr>
            <a:r>
              <a:rPr lang="en-US" sz="1300" dirty="0">
                <a:solidFill>
                  <a:srgbClr val="C97B3C"/>
                </a:solidFill>
                <a:latin typeface="Calibri" pitchFamily="34" charset="0"/>
                <a:ea typeface="Calibri" pitchFamily="34" charset="-122"/>
                <a:cs typeface="Calibri" pitchFamily="34" charset="-120"/>
              </a:rPr>
              <a:t>Cinco productos · Datos oficiales 2026 · Modelo de ROE con supuestos declarados</a:t>
            </a:r>
            <a:endParaRPr lang="en-US" sz="1300" dirty="0"/>
          </a:p>
        </p:txBody>
      </p:sp>
      <p:sp>
        <p:nvSpPr>
          <p:cNvPr id="5" name="Text 3"/>
          <p:cNvSpPr txBox="1"/>
          <p:nvPr/>
        </p:nvSpPr>
        <p:spPr>
          <a:xfrm>
            <a:off x="548640" y="5943600"/>
            <a:ext cx="9601200" cy="320040"/>
          </a:xfrm>
          <a:prstGeom prst="rect">
            <a:avLst/>
          </a:prstGeom>
          <a:noFill/>
          <a:ln/>
        </p:spPr>
        <p:txBody>
          <a:bodyPr wrap="square" lIns="0" tIns="0" rIns="0" bIns="0" rtlCol="0" anchor="ctr"/>
          <a:lstStyle/>
          <a:p>
            <a:pPr indent="0" marL="0">
              <a:buNone/>
            </a:pPr>
            <a:r>
              <a:rPr lang="en-US" sz="1100" dirty="0">
                <a:solidFill>
                  <a:srgbClr val="6E7F88"/>
                </a:solidFill>
                <a:latin typeface="Calibri" pitchFamily="34" charset="0"/>
                <a:ea typeface="Calibri" pitchFamily="34" charset="-122"/>
                <a:cs typeface="Calibri" pitchFamily="34" charset="-120"/>
              </a:rPr>
              <a:t>25.370 observaciones · 9 fuentes · Septiembre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10896"/>
            <a:ext cx="11091672" cy="658368"/>
          </a:xfrm>
          <a:prstGeom prst="rect">
            <a:avLst/>
          </a:prstGeom>
          <a:noFill/>
          <a:ln/>
        </p:spPr>
        <p:txBody>
          <a:bodyPr wrap="square" lIns="0" tIns="0" rIns="0" bIns="0" rtlCol="0" anchor="ctr"/>
          <a:lstStyle/>
          <a:p>
            <a:pPr indent="0" marL="0">
              <a:buNone/>
            </a:pPr>
            <a:r>
              <a:rPr lang="en-US" sz="3000" b="1" dirty="0">
                <a:solidFill>
                  <a:srgbClr val="1C3F4E"/>
                </a:solidFill>
                <a:latin typeface="Cambria" pitchFamily="34" charset="0"/>
                <a:ea typeface="Cambria" pitchFamily="34" charset="-122"/>
                <a:cs typeface="Cambria" pitchFamily="34" charset="-120"/>
              </a:rPr>
              <a:t>Objetivo y método</a:t>
            </a:r>
            <a:endParaRPr lang="en-US" sz="3000" dirty="0"/>
          </a:p>
        </p:txBody>
      </p:sp>
      <p:sp>
        <p:nvSpPr>
          <p:cNvPr id="3" name="Text 1"/>
          <p:cNvSpPr txBox="1"/>
          <p:nvPr/>
        </p:nvSpPr>
        <p:spPr>
          <a:xfrm>
            <a:off x="548640" y="932688"/>
            <a:ext cx="11091672" cy="384048"/>
          </a:xfrm>
          <a:prstGeom prst="rect">
            <a:avLst/>
          </a:prstGeom>
          <a:noFill/>
          <a:ln/>
        </p:spPr>
        <p:txBody>
          <a:bodyPr wrap="square" lIns="0" tIns="0" rIns="0" bIns="0" rtlCol="0" anchor="ctr"/>
          <a:lstStyle/>
          <a:p>
            <a:pPr indent="0" marL="0">
              <a:buNone/>
            </a:pPr>
            <a:r>
              <a:rPr lang="en-US" sz="1300" dirty="0">
                <a:solidFill>
                  <a:srgbClr val="6E7F88"/>
                </a:solidFill>
                <a:latin typeface="Calibri" pitchFamily="34" charset="0"/>
                <a:ea typeface="Calibri" pitchFamily="34" charset="-122"/>
                <a:cs typeface="Calibri" pitchFamily="34" charset="-120"/>
              </a:rPr>
              <a:t>Qué se mide, con qué datos y dónde están los límites</a:t>
            </a:r>
            <a:endParaRPr lang="en-US" sz="1300" dirty="0"/>
          </a:p>
        </p:txBody>
      </p:sp>
      <p:sp>
        <p:nvSpPr>
          <p:cNvPr id="4" name="Shape 2"/>
          <p:cNvSpPr/>
          <p:nvPr/>
        </p:nvSpPr>
        <p:spPr>
          <a:xfrm>
            <a:off x="548640" y="1600200"/>
            <a:ext cx="11091672" cy="1069848"/>
          </a:xfrm>
          <a:prstGeom prst="roundRect">
            <a:avLst>
              <a:gd name="adj" fmla="val 5128"/>
            </a:avLst>
          </a:prstGeom>
          <a:solidFill>
            <a:srgbClr val="EEF2F3"/>
          </a:solidFill>
          <a:ln w="12700">
            <a:solidFill>
              <a:srgbClr val="DCE4E7"/>
            </a:solidFill>
            <a:prstDash val="solid"/>
          </a:ln>
        </p:spPr>
      </p:sp>
      <p:sp>
        <p:nvSpPr>
          <p:cNvPr id="5" name="Text 3"/>
          <p:cNvSpPr txBox="1"/>
          <p:nvPr/>
        </p:nvSpPr>
        <p:spPr>
          <a:xfrm>
            <a:off x="777240" y="1709928"/>
            <a:ext cx="2286000" cy="292608"/>
          </a:xfrm>
          <a:prstGeom prst="rect">
            <a:avLst/>
          </a:prstGeom>
          <a:noFill/>
          <a:ln/>
        </p:spPr>
        <p:txBody>
          <a:bodyPr wrap="square" lIns="0" tIns="0" rIns="0" bIns="0" rtlCol="0" anchor="ctr"/>
          <a:lstStyle/>
          <a:p>
            <a:pPr indent="0" marL="0">
              <a:buNone/>
            </a:pPr>
            <a:r>
              <a:rPr lang="en-US" sz="1400" b="1" dirty="0">
                <a:solidFill>
                  <a:srgbClr val="1C3F4E"/>
                </a:solidFill>
                <a:latin typeface="Cambria" pitchFamily="34" charset="0"/>
                <a:ea typeface="Cambria" pitchFamily="34" charset="-122"/>
                <a:cs typeface="Cambria" pitchFamily="34" charset="-120"/>
              </a:rPr>
              <a:t>Objetivo</a:t>
            </a:r>
            <a:endParaRPr lang="en-US" sz="1400" dirty="0"/>
          </a:p>
        </p:txBody>
      </p:sp>
      <p:sp>
        <p:nvSpPr>
          <p:cNvPr id="6" name="Text 4"/>
          <p:cNvSpPr txBox="1"/>
          <p:nvPr/>
        </p:nvSpPr>
        <p:spPr>
          <a:xfrm>
            <a:off x="3200400" y="1709928"/>
            <a:ext cx="8165592" cy="841248"/>
          </a:xfrm>
          <a:prstGeom prst="rect">
            <a:avLst/>
          </a:prstGeom>
          <a:noFill/>
          <a:ln/>
        </p:spPr>
        <p:txBody>
          <a:bodyPr wrap="square" lIns="0" tIns="0" rIns="0" bIns="0" rtlCol="0" anchor="ctr"/>
          <a:lstStyle/>
          <a:p>
            <a:pPr indent="0" marL="0">
              <a:buNone/>
            </a:pPr>
            <a:r>
              <a:rPr lang="en-US" sz="1200" dirty="0">
                <a:solidFill>
                  <a:srgbClr val="2B3A42"/>
                </a:solidFill>
                <a:latin typeface="Calibri" pitchFamily="34" charset="0"/>
                <a:ea typeface="Calibri" pitchFamily="34" charset="-122"/>
                <a:cs typeface="Calibri" pitchFamily="34" charset="-120"/>
              </a:rPr>
              <a:t>Comparar la rentabilidad del negocio PYME entre seis países europeos, producto a producto, sobre datos oficiales y no sobre estimaciones de mercado.</a:t>
            </a:r>
            <a:endParaRPr lang="en-US" sz="1200" dirty="0"/>
          </a:p>
        </p:txBody>
      </p:sp>
      <p:sp>
        <p:nvSpPr>
          <p:cNvPr id="7" name="Shape 5"/>
          <p:cNvSpPr/>
          <p:nvPr/>
        </p:nvSpPr>
        <p:spPr>
          <a:xfrm>
            <a:off x="548640" y="2788920"/>
            <a:ext cx="11091672" cy="1069848"/>
          </a:xfrm>
          <a:prstGeom prst="roundRect">
            <a:avLst>
              <a:gd name="adj" fmla="val 5128"/>
            </a:avLst>
          </a:prstGeom>
          <a:solidFill>
            <a:srgbClr val="EEF2F3"/>
          </a:solidFill>
          <a:ln w="12700">
            <a:solidFill>
              <a:srgbClr val="DCE4E7"/>
            </a:solidFill>
            <a:prstDash val="solid"/>
          </a:ln>
        </p:spPr>
      </p:sp>
      <p:sp>
        <p:nvSpPr>
          <p:cNvPr id="8" name="Text 6"/>
          <p:cNvSpPr txBox="1"/>
          <p:nvPr/>
        </p:nvSpPr>
        <p:spPr>
          <a:xfrm>
            <a:off x="777240" y="2898648"/>
            <a:ext cx="2286000" cy="292608"/>
          </a:xfrm>
          <a:prstGeom prst="rect">
            <a:avLst/>
          </a:prstGeom>
          <a:noFill/>
          <a:ln/>
        </p:spPr>
        <p:txBody>
          <a:bodyPr wrap="square" lIns="0" tIns="0" rIns="0" bIns="0" rtlCol="0" anchor="ctr"/>
          <a:lstStyle/>
          <a:p>
            <a:pPr indent="0" marL="0">
              <a:buNone/>
            </a:pPr>
            <a:r>
              <a:rPr lang="en-US" sz="1400" b="1" dirty="0">
                <a:solidFill>
                  <a:srgbClr val="1C3F4E"/>
                </a:solidFill>
                <a:latin typeface="Cambria" pitchFamily="34" charset="0"/>
                <a:ea typeface="Cambria" pitchFamily="34" charset="-122"/>
                <a:cs typeface="Cambria" pitchFamily="34" charset="-120"/>
              </a:rPr>
              <a:t>Alcance</a:t>
            </a:r>
            <a:endParaRPr lang="en-US" sz="1400" dirty="0"/>
          </a:p>
        </p:txBody>
      </p:sp>
      <p:sp>
        <p:nvSpPr>
          <p:cNvPr id="9" name="Text 7"/>
          <p:cNvSpPr txBox="1"/>
          <p:nvPr/>
        </p:nvSpPr>
        <p:spPr>
          <a:xfrm>
            <a:off x="3200400" y="2898648"/>
            <a:ext cx="8165592" cy="841248"/>
          </a:xfrm>
          <a:prstGeom prst="rect">
            <a:avLst/>
          </a:prstGeom>
          <a:noFill/>
          <a:ln/>
        </p:spPr>
        <p:txBody>
          <a:bodyPr wrap="square" lIns="0" tIns="0" rIns="0" bIns="0" rtlCol="0" anchor="ctr"/>
          <a:lstStyle/>
          <a:p>
            <a:pPr indent="0" marL="0">
              <a:buNone/>
            </a:pPr>
            <a:r>
              <a:rPr lang="en-US" sz="1200" dirty="0">
                <a:solidFill>
                  <a:srgbClr val="2B3A42"/>
                </a:solidFill>
                <a:latin typeface="Calibri" pitchFamily="34" charset="0"/>
                <a:ea typeface="Calibri" pitchFamily="34" charset="-122"/>
                <a:cs typeface="Calibri" pitchFamily="34" charset="-120"/>
              </a:rPr>
              <a:t>Hipotecas, préstamos, circulante, factoring y confirming, más el coste de los recursos. Segmentación por tramo de importe del préstamo, que es como segmenta la estadística oficial europea.</a:t>
            </a:r>
            <a:endParaRPr lang="en-US" sz="1200" dirty="0"/>
          </a:p>
        </p:txBody>
      </p:sp>
      <p:sp>
        <p:nvSpPr>
          <p:cNvPr id="10" name="Shape 8"/>
          <p:cNvSpPr/>
          <p:nvPr/>
        </p:nvSpPr>
        <p:spPr>
          <a:xfrm>
            <a:off x="548640" y="3977640"/>
            <a:ext cx="11091672" cy="1069848"/>
          </a:xfrm>
          <a:prstGeom prst="roundRect">
            <a:avLst>
              <a:gd name="adj" fmla="val 5128"/>
            </a:avLst>
          </a:prstGeom>
          <a:solidFill>
            <a:srgbClr val="EEF2F3"/>
          </a:solidFill>
          <a:ln w="12700">
            <a:solidFill>
              <a:srgbClr val="DCE4E7"/>
            </a:solidFill>
            <a:prstDash val="solid"/>
          </a:ln>
        </p:spPr>
      </p:sp>
      <p:sp>
        <p:nvSpPr>
          <p:cNvPr id="11" name="Text 9"/>
          <p:cNvSpPr txBox="1"/>
          <p:nvPr/>
        </p:nvSpPr>
        <p:spPr>
          <a:xfrm>
            <a:off x="777240" y="4087368"/>
            <a:ext cx="2286000" cy="292608"/>
          </a:xfrm>
          <a:prstGeom prst="rect">
            <a:avLst/>
          </a:prstGeom>
          <a:noFill/>
          <a:ln/>
        </p:spPr>
        <p:txBody>
          <a:bodyPr wrap="square" lIns="0" tIns="0" rIns="0" bIns="0" rtlCol="0" anchor="ctr"/>
          <a:lstStyle/>
          <a:p>
            <a:pPr indent="0" marL="0">
              <a:buNone/>
            </a:pPr>
            <a:r>
              <a:rPr lang="en-US" sz="1400" b="1" dirty="0">
                <a:solidFill>
                  <a:srgbClr val="1C3F4E"/>
                </a:solidFill>
                <a:latin typeface="Cambria" pitchFamily="34" charset="0"/>
                <a:ea typeface="Cambria" pitchFamily="34" charset="-122"/>
                <a:cs typeface="Cambria" pitchFamily="34" charset="-120"/>
              </a:rPr>
              <a:t>Método</a:t>
            </a:r>
            <a:endParaRPr lang="en-US" sz="1400" dirty="0"/>
          </a:p>
        </p:txBody>
      </p:sp>
      <p:sp>
        <p:nvSpPr>
          <p:cNvPr id="12" name="Text 10"/>
          <p:cNvSpPr txBox="1"/>
          <p:nvPr/>
        </p:nvSpPr>
        <p:spPr>
          <a:xfrm>
            <a:off x="3200400" y="4087368"/>
            <a:ext cx="8165592" cy="841248"/>
          </a:xfrm>
          <a:prstGeom prst="rect">
            <a:avLst/>
          </a:prstGeom>
          <a:noFill/>
          <a:ln/>
        </p:spPr>
        <p:txBody>
          <a:bodyPr wrap="square" lIns="0" tIns="0" rIns="0" bIns="0" rtlCol="0" anchor="ctr"/>
          <a:lstStyle/>
          <a:p>
            <a:pPr indent="0" marL="0">
              <a:buNone/>
            </a:pPr>
            <a:r>
              <a:rPr lang="en-US" sz="1200" dirty="0">
                <a:solidFill>
                  <a:srgbClr val="2B3A42"/>
                </a:solidFill>
                <a:latin typeface="Calibri" pitchFamily="34" charset="0"/>
                <a:ea typeface="Calibri" pitchFamily="34" charset="-122"/>
                <a:cs typeface="Calibri" pitchFamily="34" charset="-120"/>
              </a:rPr>
              <a:t>Cuenta de resultados en porcentaje del saldo medio: precio más comisiones, menos coste de fondos, riesgo y gastos. El capital se asigna por densidad de RWA sobre el CET1 observado.</a:t>
            </a:r>
            <a:endParaRPr lang="en-US" sz="1200" dirty="0"/>
          </a:p>
        </p:txBody>
      </p:sp>
      <p:sp>
        <p:nvSpPr>
          <p:cNvPr id="13" name="Shape 11"/>
          <p:cNvSpPr/>
          <p:nvPr/>
        </p:nvSpPr>
        <p:spPr>
          <a:xfrm>
            <a:off x="548640" y="5166360"/>
            <a:ext cx="11091672" cy="1069848"/>
          </a:xfrm>
          <a:prstGeom prst="roundRect">
            <a:avLst>
              <a:gd name="adj" fmla="val 5128"/>
            </a:avLst>
          </a:prstGeom>
          <a:solidFill>
            <a:srgbClr val="F7EDE4"/>
          </a:solidFill>
          <a:ln w="12700">
            <a:solidFill>
              <a:srgbClr val="C97B3C"/>
            </a:solidFill>
            <a:prstDash val="solid"/>
          </a:ln>
        </p:spPr>
      </p:sp>
      <p:sp>
        <p:nvSpPr>
          <p:cNvPr id="14" name="Text 12"/>
          <p:cNvSpPr txBox="1"/>
          <p:nvPr/>
        </p:nvSpPr>
        <p:spPr>
          <a:xfrm>
            <a:off x="777240" y="5276088"/>
            <a:ext cx="2286000" cy="292608"/>
          </a:xfrm>
          <a:prstGeom prst="rect">
            <a:avLst/>
          </a:prstGeom>
          <a:noFill/>
          <a:ln/>
        </p:spPr>
        <p:txBody>
          <a:bodyPr wrap="square" lIns="0" tIns="0" rIns="0" bIns="0" rtlCol="0" anchor="ctr"/>
          <a:lstStyle/>
          <a:p>
            <a:pPr indent="0" marL="0">
              <a:buNone/>
            </a:pPr>
            <a:r>
              <a:rPr lang="en-US" sz="1400" b="1" dirty="0">
                <a:solidFill>
                  <a:srgbClr val="C97B3C"/>
                </a:solidFill>
                <a:latin typeface="Cambria" pitchFamily="34" charset="0"/>
                <a:ea typeface="Cambria" pitchFamily="34" charset="-122"/>
                <a:cs typeface="Cambria" pitchFamily="34" charset="-120"/>
              </a:rPr>
              <a:t>Límite principal</a:t>
            </a:r>
            <a:endParaRPr lang="en-US" sz="1400" dirty="0"/>
          </a:p>
        </p:txBody>
      </p:sp>
      <p:sp>
        <p:nvSpPr>
          <p:cNvPr id="15" name="Text 13"/>
          <p:cNvSpPr txBox="1"/>
          <p:nvPr/>
        </p:nvSpPr>
        <p:spPr>
          <a:xfrm>
            <a:off x="3200400" y="5276088"/>
            <a:ext cx="8165592" cy="841248"/>
          </a:xfrm>
          <a:prstGeom prst="rect">
            <a:avLst/>
          </a:prstGeom>
          <a:noFill/>
          <a:ln/>
        </p:spPr>
        <p:txBody>
          <a:bodyPr wrap="square" lIns="0" tIns="0" rIns="0" bIns="0" rtlCol="0" anchor="ctr"/>
          <a:lstStyle/>
          <a:p>
            <a:pPr indent="0" marL="0">
              <a:buNone/>
            </a:pPr>
            <a:r>
              <a:rPr lang="en-US" sz="1200" dirty="0">
                <a:solidFill>
                  <a:srgbClr val="2B3A42"/>
                </a:solidFill>
                <a:latin typeface="Calibri" pitchFamily="34" charset="0"/>
                <a:ea typeface="Calibri" pitchFamily="34" charset="-122"/>
                <a:cs typeface="Calibri" pitchFamily="34" charset="-120"/>
              </a:rPr>
              <a:t>Solo España e Italia publican un tipo con comisiones para empresas. Para los otros cuatro países la comisión es un supuesto, no un dato. El ROE de esos países depende de ese supuesto.</a:t>
            </a:r>
            <a:endParaRPr lang="en-US" sz="1200" dirty="0"/>
          </a:p>
        </p:txBody>
      </p:sp>
      <p:sp>
        <p:nvSpPr>
          <p:cNvPr id="16" name="Text 14"/>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6E7F88"/>
                </a:solidFill>
                <a:latin typeface="Calibri" pitchFamily="34" charset="0"/>
                <a:ea typeface="Calibri" pitchFamily="34" charset="-122"/>
                <a:cs typeface="Calibri" pitchFamily="34" charset="-120"/>
              </a:rPr>
              <a:t>Detalle completo de fuentes, supuestos y huecos en notas.md del repositorio del proyecto.</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10896"/>
            <a:ext cx="11091672" cy="658368"/>
          </a:xfrm>
          <a:prstGeom prst="rect">
            <a:avLst/>
          </a:prstGeom>
          <a:noFill/>
          <a:ln/>
        </p:spPr>
        <p:txBody>
          <a:bodyPr wrap="square" lIns="0" tIns="0" rIns="0" bIns="0" rtlCol="0" anchor="ctr"/>
          <a:lstStyle/>
          <a:p>
            <a:pPr indent="0" marL="0">
              <a:buNone/>
            </a:pPr>
            <a:r>
              <a:rPr lang="en-US" sz="3000" b="1" dirty="0">
                <a:solidFill>
                  <a:srgbClr val="1C3F4E"/>
                </a:solidFill>
                <a:latin typeface="Cambria" pitchFamily="34" charset="0"/>
                <a:ea typeface="Cambria" pitchFamily="34" charset="-122"/>
                <a:cs typeface="Cambria" pitchFamily="34" charset="-120"/>
              </a:rPr>
              <a:t>Mapa de fiabilidad del dato</a:t>
            </a:r>
            <a:endParaRPr lang="en-US" sz="3000" dirty="0"/>
          </a:p>
        </p:txBody>
      </p:sp>
      <p:sp>
        <p:nvSpPr>
          <p:cNvPr id="3" name="Text 1"/>
          <p:cNvSpPr txBox="1"/>
          <p:nvPr/>
        </p:nvSpPr>
        <p:spPr>
          <a:xfrm>
            <a:off x="548640" y="932688"/>
            <a:ext cx="11091672" cy="384048"/>
          </a:xfrm>
          <a:prstGeom prst="rect">
            <a:avLst/>
          </a:prstGeom>
          <a:noFill/>
          <a:ln/>
        </p:spPr>
        <p:txBody>
          <a:bodyPr wrap="square" lIns="0" tIns="0" rIns="0" bIns="0" rtlCol="0" anchor="ctr"/>
          <a:lstStyle/>
          <a:p>
            <a:pPr indent="0" marL="0">
              <a:buNone/>
            </a:pPr>
            <a:r>
              <a:rPr lang="en-US" sz="1300" dirty="0">
                <a:solidFill>
                  <a:srgbClr val="6E7F88"/>
                </a:solidFill>
                <a:latin typeface="Calibri" pitchFamily="34" charset="0"/>
                <a:ea typeface="Calibri" pitchFamily="34" charset="-122"/>
                <a:cs typeface="Calibri" pitchFamily="34" charset="-120"/>
              </a:rPr>
              <a:t>Qué se puede afirmar y con qué respaldo, producto a producto y país a país</a:t>
            </a:r>
            <a:endParaRPr lang="en-US" sz="13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11091672" cy="914400"/>
        </p:xfrm>
        <a:graphic>
          <a:graphicData uri="http://schemas.openxmlformats.org/drawingml/2006/table">
            <a:tbl>
              <a:tblPr/>
              <a:tblGrid>
                <a:gridCol w="3017520"/>
                <a:gridCol w="1618488"/>
                <a:gridCol w="1618488"/>
                <a:gridCol w="1618488"/>
                <a:gridCol w="1618488"/>
                <a:gridCol w="1600200"/>
              </a:tblGrid>
              <a:tr h="402336">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Producto</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Precio</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Volumen</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Comisiones</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Riesgo</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Capital</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r>
              <a:tr h="402336">
                <a:tc>
                  <a:txBody>
                    <a:bodyPr/>
                    <a:lstStyle/>
                    <a:p>
                      <a:pPr algn="l" indent="0" marL="0">
                        <a:buNone/>
                      </a:pPr>
                      <a:r>
                        <a:rPr lang="en-US" sz="1100" b="1" dirty="0">
                          <a:solidFill>
                            <a:srgbClr val="2B3A42"/>
                          </a:solidFill>
                          <a:latin typeface="Calibri" pitchFamily="34" charset="0"/>
                          <a:ea typeface="Calibri" pitchFamily="34" charset="-122"/>
                          <a:cs typeface="Calibri" pitchFamily="34" charset="-120"/>
                        </a:rPr>
                        <a:t>Préstamo PYME por tramo</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OBSERVADO</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2E7D5B"/>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OBSERVADO</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2E7D5B"/>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SOLO ESPAÑA</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C9992B"/>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OBSERVADO</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2E7D5B"/>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OBSERVADO</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2E7D5B"/>
                    </a:solidFill>
                  </a:tcPr>
                </a:tc>
              </a:tr>
              <a:tr h="402336">
                <a:tc>
                  <a:txBody>
                    <a:bodyPr/>
                    <a:lstStyle/>
                    <a:p>
                      <a:pPr algn="l" indent="0" marL="0">
                        <a:buNone/>
                      </a:pPr>
                      <a:r>
                        <a:rPr lang="en-US" sz="1100" b="1" dirty="0">
                          <a:solidFill>
                            <a:srgbClr val="2B3A42"/>
                          </a:solidFill>
                          <a:latin typeface="Calibri" pitchFamily="34" charset="0"/>
                          <a:ea typeface="Calibri" pitchFamily="34" charset="-122"/>
                          <a:cs typeface="Calibri" pitchFamily="34" charset="-120"/>
                        </a:rPr>
                        <a:t>Circulante</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OBSERVADO</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2E7D5B"/>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NO EXISTE</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B04A3F"/>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NO EXISTE</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B04A3F"/>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OBSERVADO</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2E7D5B"/>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OBSERVADO</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2E7D5B"/>
                    </a:solidFill>
                  </a:tcPr>
                </a:tc>
              </a:tr>
              <a:tr h="402336">
                <a:tc>
                  <a:txBody>
                    <a:bodyPr/>
                    <a:lstStyle/>
                    <a:p>
                      <a:pPr algn="l" indent="0" marL="0">
                        <a:buNone/>
                      </a:pPr>
                      <a:r>
                        <a:rPr lang="en-US" sz="1100" b="1" dirty="0">
                          <a:solidFill>
                            <a:srgbClr val="2B3A42"/>
                          </a:solidFill>
                          <a:latin typeface="Calibri" pitchFamily="34" charset="0"/>
                          <a:ea typeface="Calibri" pitchFamily="34" charset="-122"/>
                          <a:cs typeface="Calibri" pitchFamily="34" charset="-120"/>
                        </a:rPr>
                        <a:t>Hipoteca PYME</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NO EXISTE</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B04A3F"/>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PROXY CRE</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C9992B"/>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NO EXISTE</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B04A3F"/>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OBSERVADO</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2E7D5B"/>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OBSERVADO</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2E7D5B"/>
                    </a:solidFill>
                  </a:tcPr>
                </a:tc>
              </a:tr>
              <a:tr h="402336">
                <a:tc>
                  <a:txBody>
                    <a:bodyPr/>
                    <a:lstStyle/>
                    <a:p>
                      <a:pPr algn="l" indent="0" marL="0">
                        <a:buNone/>
                      </a:pPr>
                      <a:r>
                        <a:rPr lang="en-US" sz="1100" b="1" dirty="0">
                          <a:solidFill>
                            <a:srgbClr val="2B3A42"/>
                          </a:solidFill>
                          <a:latin typeface="Calibri" pitchFamily="34" charset="0"/>
                          <a:ea typeface="Calibri" pitchFamily="34" charset="-122"/>
                          <a:cs typeface="Calibri" pitchFamily="34" charset="-120"/>
                        </a:rPr>
                        <a:t>Factoring</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NO EXISTE</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B04A3F"/>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OBSERVADO</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2E7D5B"/>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NO EXISTE</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B04A3F"/>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PARCIAL</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C9992B"/>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NO EXISTE</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B04A3F"/>
                    </a:solidFill>
                  </a:tcPr>
                </a:tc>
              </a:tr>
              <a:tr h="402336">
                <a:tc>
                  <a:txBody>
                    <a:bodyPr/>
                    <a:lstStyle/>
                    <a:p>
                      <a:pPr algn="l" indent="0" marL="0">
                        <a:buNone/>
                      </a:pPr>
                      <a:r>
                        <a:rPr lang="en-US" sz="1100" b="1" dirty="0">
                          <a:solidFill>
                            <a:srgbClr val="2B3A42"/>
                          </a:solidFill>
                          <a:latin typeface="Calibri" pitchFamily="34" charset="0"/>
                          <a:ea typeface="Calibri" pitchFamily="34" charset="-122"/>
                          <a:cs typeface="Calibri" pitchFamily="34" charset="-120"/>
                        </a:rPr>
                        <a:t>Confirming</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NO EXISTE</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B04A3F"/>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SOLO ES e IT</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C9992B"/>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NO EXISTE</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B04A3F"/>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NO EXISTE</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B04A3F"/>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NO EXISTE</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B04A3F"/>
                    </a:solidFill>
                  </a:tcPr>
                </a:tc>
              </a:tr>
              <a:tr h="402336">
                <a:tc>
                  <a:txBody>
                    <a:bodyPr/>
                    <a:lstStyle/>
                    <a:p>
                      <a:pPr algn="l" indent="0" marL="0">
                        <a:buNone/>
                      </a:pPr>
                      <a:r>
                        <a:rPr lang="en-US" sz="1100" b="1" dirty="0">
                          <a:solidFill>
                            <a:srgbClr val="2B3A42"/>
                          </a:solidFill>
                          <a:latin typeface="Calibri" pitchFamily="34" charset="0"/>
                          <a:ea typeface="Calibri" pitchFamily="34" charset="-122"/>
                          <a:cs typeface="Calibri" pitchFamily="34" charset="-120"/>
                        </a:rPr>
                        <a:t>Depósitos de empresa</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OBSERVADO</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2E7D5B"/>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PARCIAL</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C9992B"/>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n/a</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6E7F88"/>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n/a</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6E7F88"/>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n/a</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6E7F88"/>
                    </a:solidFill>
                  </a:tcPr>
                </a:tc>
              </a:tr>
            </a:tbl>
          </a:graphicData>
        </a:graphic>
      </p:graphicFrame>
      <p:sp>
        <p:nvSpPr>
          <p:cNvPr id="5" name="Text 2"/>
          <p:cNvSpPr txBox="1"/>
          <p:nvPr/>
        </p:nvSpPr>
        <p:spPr>
          <a:xfrm>
            <a:off x="548640" y="5074920"/>
            <a:ext cx="11091672" cy="548640"/>
          </a:xfrm>
          <a:prstGeom prst="rect">
            <a:avLst/>
          </a:prstGeom>
          <a:noFill/>
          <a:ln/>
        </p:spPr>
        <p:txBody>
          <a:bodyPr wrap="square" lIns="0" tIns="0" rIns="0" bIns="0" rtlCol="0" anchor="ctr"/>
          <a:lstStyle/>
          <a:p>
            <a:pPr indent="0" marL="0">
              <a:buNone/>
            </a:pPr>
            <a:r>
              <a:rPr lang="en-US" sz="1200" dirty="0">
                <a:solidFill>
                  <a:srgbClr val="2B3A42"/>
                </a:solidFill>
                <a:latin typeface="Calibri" pitchFamily="34" charset="0"/>
                <a:ea typeface="Calibri" pitchFamily="34" charset="-122"/>
                <a:cs typeface="Calibri" pitchFamily="34" charset="-120"/>
              </a:rPr>
              <a:t>El mapa de huecos es en sí un resultado. Tras incorporar los parámetros IRB del EBA, el riesgo y el capital de PYME son observados en los seis países. El hueco que queda es la comisión: solo España publica un tipo con comisiones para empresas.</a:t>
            </a:r>
            <a:endParaRPr lang="en-US" sz="1200" dirty="0"/>
          </a:p>
        </p:txBody>
      </p:sp>
      <p:sp>
        <p:nvSpPr>
          <p:cNvPr id="6" name="Shape 3"/>
          <p:cNvSpPr/>
          <p:nvPr/>
        </p:nvSpPr>
        <p:spPr>
          <a:xfrm>
            <a:off x="548640" y="5806440"/>
            <a:ext cx="1371600" cy="256032"/>
          </a:xfrm>
          <a:prstGeom prst="roundRect">
            <a:avLst>
              <a:gd name="adj" fmla="val 42857"/>
            </a:avLst>
          </a:prstGeom>
          <a:solidFill>
            <a:srgbClr val="2E7D5B"/>
          </a:solidFill>
          <a:ln w="12700">
            <a:solidFill>
              <a:srgbClr val="2E7D5B"/>
            </a:solidFill>
            <a:prstDash val="solid"/>
          </a:ln>
        </p:spPr>
      </p:sp>
      <p:sp>
        <p:nvSpPr>
          <p:cNvPr id="7" name="Text 4"/>
          <p:cNvSpPr txBox="1"/>
          <p:nvPr/>
        </p:nvSpPr>
        <p:spPr>
          <a:xfrm>
            <a:off x="548640" y="5806440"/>
            <a:ext cx="137160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OBSERVADO</a:t>
            </a:r>
            <a:endParaRPr lang="en-US" sz="900" dirty="0"/>
          </a:p>
        </p:txBody>
      </p:sp>
      <p:sp>
        <p:nvSpPr>
          <p:cNvPr id="8" name="Shape 5"/>
          <p:cNvSpPr/>
          <p:nvPr/>
        </p:nvSpPr>
        <p:spPr>
          <a:xfrm>
            <a:off x="2377440" y="5806440"/>
            <a:ext cx="1371600" cy="256032"/>
          </a:xfrm>
          <a:prstGeom prst="roundRect">
            <a:avLst>
              <a:gd name="adj" fmla="val 42857"/>
            </a:avLst>
          </a:prstGeom>
          <a:solidFill>
            <a:srgbClr val="C9992B"/>
          </a:solidFill>
          <a:ln w="12700">
            <a:solidFill>
              <a:srgbClr val="C9992B"/>
            </a:solidFill>
            <a:prstDash val="solid"/>
          </a:ln>
        </p:spPr>
      </p:sp>
      <p:sp>
        <p:nvSpPr>
          <p:cNvPr id="9" name="Text 6"/>
          <p:cNvSpPr txBox="1"/>
          <p:nvPr/>
        </p:nvSpPr>
        <p:spPr>
          <a:xfrm>
            <a:off x="2377440" y="5806440"/>
            <a:ext cx="137160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PARCIAL o SUPUESTO</a:t>
            </a:r>
            <a:endParaRPr lang="en-US" sz="900" dirty="0"/>
          </a:p>
        </p:txBody>
      </p:sp>
      <p:sp>
        <p:nvSpPr>
          <p:cNvPr id="10" name="Shape 7"/>
          <p:cNvSpPr/>
          <p:nvPr/>
        </p:nvSpPr>
        <p:spPr>
          <a:xfrm>
            <a:off x="4206240" y="5806440"/>
            <a:ext cx="1371600" cy="256032"/>
          </a:xfrm>
          <a:prstGeom prst="roundRect">
            <a:avLst>
              <a:gd name="adj" fmla="val 42857"/>
            </a:avLst>
          </a:prstGeom>
          <a:solidFill>
            <a:srgbClr val="B04A3F"/>
          </a:solidFill>
          <a:ln w="12700">
            <a:solidFill>
              <a:srgbClr val="B04A3F"/>
            </a:solidFill>
            <a:prstDash val="solid"/>
          </a:ln>
        </p:spPr>
      </p:sp>
      <p:sp>
        <p:nvSpPr>
          <p:cNvPr id="11" name="Text 8"/>
          <p:cNvSpPr txBox="1"/>
          <p:nvPr/>
        </p:nvSpPr>
        <p:spPr>
          <a:xfrm>
            <a:off x="4206240" y="5806440"/>
            <a:ext cx="137160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NO EXISTE</a:t>
            </a:r>
            <a:endParaRPr lang="en-US" sz="900" dirty="0"/>
          </a:p>
        </p:txBody>
      </p:sp>
      <p:sp>
        <p:nvSpPr>
          <p:cNvPr id="12" name="Text 9"/>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6E7F88"/>
                </a:solidFill>
                <a:latin typeface="Calibri" pitchFamily="34" charset="0"/>
                <a:ea typeface="Calibri" pitchFamily="34" charset="-122"/>
                <a:cs typeface="Calibri" pitchFamily="34" charset="-120"/>
              </a:rPr>
              <a:t>Fuentes: BCE (MIR), EBA Risk Dashboard, Banco de España (Boletín Estadístico), Banca d'Italia (STACORIS), OCDE, EUF.</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10896"/>
            <a:ext cx="11091672" cy="658368"/>
          </a:xfrm>
          <a:prstGeom prst="rect">
            <a:avLst/>
          </a:prstGeom>
          <a:noFill/>
          <a:ln/>
        </p:spPr>
        <p:txBody>
          <a:bodyPr wrap="square" lIns="0" tIns="0" rIns="0" bIns="0" rtlCol="0" anchor="ctr"/>
          <a:lstStyle/>
          <a:p>
            <a:pPr indent="0" marL="0">
              <a:buNone/>
            </a:pPr>
            <a:r>
              <a:rPr lang="en-US" sz="3000" b="1" dirty="0">
                <a:solidFill>
                  <a:srgbClr val="1C3F4E"/>
                </a:solidFill>
                <a:latin typeface="Cambria" pitchFamily="34" charset="0"/>
                <a:ea typeface="Cambria" pitchFamily="34" charset="-122"/>
                <a:cs typeface="Cambria" pitchFamily="34" charset="-120"/>
              </a:rPr>
              <a:t>Precio: tipo de nueva producción por tramo de importe</a:t>
            </a:r>
            <a:endParaRPr lang="en-US" sz="3000" dirty="0"/>
          </a:p>
        </p:txBody>
      </p:sp>
      <p:sp>
        <p:nvSpPr>
          <p:cNvPr id="3" name="Text 1"/>
          <p:cNvSpPr txBox="1"/>
          <p:nvPr/>
        </p:nvSpPr>
        <p:spPr>
          <a:xfrm>
            <a:off x="548640" y="932688"/>
            <a:ext cx="11091672" cy="384048"/>
          </a:xfrm>
          <a:prstGeom prst="rect">
            <a:avLst/>
          </a:prstGeom>
          <a:noFill/>
          <a:ln/>
        </p:spPr>
        <p:txBody>
          <a:bodyPr wrap="square" lIns="0" tIns="0" rIns="0" bIns="0" rtlCol="0" anchor="ctr"/>
          <a:lstStyle/>
          <a:p>
            <a:pPr indent="0" marL="0">
              <a:buNone/>
            </a:pPr>
            <a:r>
              <a:rPr lang="en-US" sz="1300" dirty="0">
                <a:solidFill>
                  <a:srgbClr val="6E7F88"/>
                </a:solidFill>
                <a:latin typeface="Calibri" pitchFamily="34" charset="0"/>
                <a:ea typeface="Calibri" pitchFamily="34" charset="-122"/>
                <a:cs typeface="Calibri" pitchFamily="34" charset="-120"/>
              </a:rPr>
              <a:t>Media 2026 ponderada por volumen · Fijación inicial total · Sin comisiones</a:t>
            </a:r>
            <a:endParaRPr lang="en-US" sz="1300" dirty="0"/>
          </a:p>
        </p:txBody>
      </p:sp>
      <p:graphicFrame>
        <p:nvGraphicFramePr>
          <p:cNvPr id="4" name="Chart 0" descr=""/>
          <p:cNvGraphicFramePr/>
          <p:nvPr/>
        </p:nvGraphicFramePr>
        <p:xfrm>
          <a:off x="548640" y="1600200"/>
          <a:ext cx="6858000" cy="36576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680960" y="1600200"/>
            <a:ext cx="3959352" cy="1828800"/>
          </a:xfrm>
          <a:prstGeom prst="roundRect">
            <a:avLst>
              <a:gd name="adj" fmla="val 3000"/>
            </a:avLst>
          </a:prstGeom>
          <a:solidFill>
            <a:srgbClr val="EEF2F3"/>
          </a:solidFill>
          <a:ln w="12700">
            <a:solidFill>
              <a:srgbClr val="DCE4E7"/>
            </a:solidFill>
            <a:prstDash val="solid"/>
          </a:ln>
        </p:spPr>
      </p:sp>
      <p:sp>
        <p:nvSpPr>
          <p:cNvPr id="6" name="Text 3"/>
          <p:cNvSpPr txBox="1"/>
          <p:nvPr/>
        </p:nvSpPr>
        <p:spPr>
          <a:xfrm>
            <a:off x="7863840" y="1737360"/>
            <a:ext cx="3611880" cy="457200"/>
          </a:xfrm>
          <a:prstGeom prst="rect">
            <a:avLst/>
          </a:prstGeom>
          <a:noFill/>
          <a:ln/>
        </p:spPr>
        <p:txBody>
          <a:bodyPr wrap="square" lIns="0" tIns="0" rIns="0" bIns="0" rtlCol="0" anchor="ctr"/>
          <a:lstStyle/>
          <a:p>
            <a:pPr indent="0" marL="0">
              <a:buNone/>
            </a:pPr>
            <a:r>
              <a:rPr lang="en-US" sz="1300" b="1" dirty="0">
                <a:solidFill>
                  <a:srgbClr val="1C3F4E"/>
                </a:solidFill>
                <a:latin typeface="Cambria" pitchFamily="34" charset="0"/>
                <a:ea typeface="Cambria" pitchFamily="34" charset="-122"/>
                <a:cs typeface="Cambria" pitchFamily="34" charset="-120"/>
              </a:rPr>
              <a:t>Peso del tramo ≤1 M€ sobre la nueva producción</a:t>
            </a:r>
            <a:endParaRPr lang="en-US" sz="1300" dirty="0"/>
          </a:p>
        </p:txBody>
      </p:sp>
      <p:sp>
        <p:nvSpPr>
          <p:cNvPr id="7" name="Text 4"/>
          <p:cNvSpPr txBox="1"/>
          <p:nvPr/>
        </p:nvSpPr>
        <p:spPr>
          <a:xfrm>
            <a:off x="7863840" y="2240280"/>
            <a:ext cx="3611880" cy="1097280"/>
          </a:xfrm>
          <a:prstGeom prst="rect">
            <a:avLst/>
          </a:prstGeom>
          <a:noFill/>
          <a:ln/>
        </p:spPr>
        <p:txBody>
          <a:bodyPr wrap="square" lIns="0" tIns="0" rIns="0" bIns="0" rtlCol="0" anchor="ctr"/>
          <a:lstStyle/>
          <a:p>
            <a:pPr indent="0" marL="0">
              <a:lnSpc>
                <a:spcPts val="1500"/>
              </a:lnSpc>
              <a:buNone/>
            </a:pPr>
            <a:r>
              <a:rPr lang="en-US" sz="1100" dirty="0">
                <a:solidFill>
                  <a:srgbClr val="2B3A42"/>
                </a:solidFill>
                <a:latin typeface="Calibri" pitchFamily="34" charset="0"/>
                <a:ea typeface="Calibri" pitchFamily="34" charset="-122"/>
                <a:cs typeface="Calibri" pitchFamily="34" charset="-120"/>
              </a:rPr>
              <a:t>España: 50.5 %</a:t>
            </a:r>
            <a:endParaRPr lang="en-US" sz="1100" dirty="0"/>
          </a:p>
          <a:p>
            <a:pPr indent="0" marL="0">
              <a:lnSpc>
                <a:spcPts val="1500"/>
              </a:lnSpc>
              <a:buNone/>
            </a:pPr>
            <a:r>
              <a:rPr lang="en-US" sz="1100" dirty="0">
                <a:solidFill>
                  <a:srgbClr val="2B3A42"/>
                </a:solidFill>
                <a:latin typeface="Calibri" pitchFamily="34" charset="0"/>
                <a:ea typeface="Calibri" pitchFamily="34" charset="-122"/>
                <a:cs typeface="Calibri" pitchFamily="34" charset="-120"/>
              </a:rPr>
              <a:t>Alemania: 17.8 %</a:t>
            </a:r>
            <a:endParaRPr lang="en-US" sz="1100" dirty="0"/>
          </a:p>
          <a:p>
            <a:pPr indent="0" marL="0">
              <a:lnSpc>
                <a:spcPts val="1500"/>
              </a:lnSpc>
              <a:buNone/>
            </a:pPr>
            <a:r>
              <a:rPr lang="en-US" sz="1100" dirty="0">
                <a:solidFill>
                  <a:srgbClr val="2B3A42"/>
                </a:solidFill>
                <a:latin typeface="Calibri" pitchFamily="34" charset="0"/>
                <a:ea typeface="Calibri" pitchFamily="34" charset="-122"/>
                <a:cs typeface="Calibri" pitchFamily="34" charset="-120"/>
              </a:rPr>
              <a:t>Francia: 30 %</a:t>
            </a:r>
            <a:endParaRPr lang="en-US" sz="1100" dirty="0"/>
          </a:p>
          <a:p>
            <a:pPr indent="0" marL="0">
              <a:lnSpc>
                <a:spcPts val="1500"/>
              </a:lnSpc>
              <a:buNone/>
            </a:pPr>
            <a:r>
              <a:rPr lang="en-US" sz="1100" dirty="0">
                <a:solidFill>
                  <a:srgbClr val="2B3A42"/>
                </a:solidFill>
                <a:latin typeface="Calibri" pitchFamily="34" charset="0"/>
                <a:ea typeface="Calibri" pitchFamily="34" charset="-122"/>
                <a:cs typeface="Calibri" pitchFamily="34" charset="-120"/>
              </a:rPr>
              <a:t>Italia: 34.6 %</a:t>
            </a:r>
            <a:endParaRPr lang="en-US" sz="1100" dirty="0"/>
          </a:p>
          <a:p>
            <a:pPr indent="0" marL="0">
              <a:lnSpc>
                <a:spcPts val="1500"/>
              </a:lnSpc>
              <a:buNone/>
            </a:pPr>
            <a:r>
              <a:rPr lang="en-US" sz="1100" dirty="0">
                <a:solidFill>
                  <a:srgbClr val="2B3A42"/>
                </a:solidFill>
                <a:latin typeface="Calibri" pitchFamily="34" charset="0"/>
                <a:ea typeface="Calibri" pitchFamily="34" charset="-122"/>
                <a:cs typeface="Calibri" pitchFamily="34" charset="-120"/>
              </a:rPr>
              <a:t>Portugal: 51.1 %</a:t>
            </a:r>
            <a:endParaRPr lang="en-US" sz="1100" dirty="0"/>
          </a:p>
          <a:p>
            <a:pPr indent="0" marL="0">
              <a:lnSpc>
                <a:spcPts val="1500"/>
              </a:lnSpc>
              <a:buNone/>
            </a:pPr>
            <a:r>
              <a:rPr lang="en-US" sz="1100" dirty="0">
                <a:solidFill>
                  <a:srgbClr val="2B3A42"/>
                </a:solidFill>
                <a:latin typeface="Calibri" pitchFamily="34" charset="0"/>
                <a:ea typeface="Calibri" pitchFamily="34" charset="-122"/>
                <a:cs typeface="Calibri" pitchFamily="34" charset="-120"/>
              </a:rPr>
              <a:t>P. Bajos: 7.6 %</a:t>
            </a:r>
            <a:endParaRPr lang="en-US" sz="1100" dirty="0"/>
          </a:p>
        </p:txBody>
      </p:sp>
      <p:sp>
        <p:nvSpPr>
          <p:cNvPr id="8" name="Shape 5"/>
          <p:cNvSpPr/>
          <p:nvPr/>
        </p:nvSpPr>
        <p:spPr>
          <a:xfrm>
            <a:off x="7680960" y="3611880"/>
            <a:ext cx="3959352" cy="1645920"/>
          </a:xfrm>
          <a:prstGeom prst="roundRect">
            <a:avLst>
              <a:gd name="adj" fmla="val 3333"/>
            </a:avLst>
          </a:prstGeom>
          <a:solidFill>
            <a:srgbClr val="F7EDE4"/>
          </a:solidFill>
          <a:ln w="12700">
            <a:solidFill>
              <a:srgbClr val="C97B3C"/>
            </a:solidFill>
            <a:prstDash val="solid"/>
          </a:ln>
        </p:spPr>
      </p:sp>
      <p:sp>
        <p:nvSpPr>
          <p:cNvPr id="9" name="Text 6"/>
          <p:cNvSpPr txBox="1"/>
          <p:nvPr/>
        </p:nvSpPr>
        <p:spPr>
          <a:xfrm>
            <a:off x="7863840" y="3749040"/>
            <a:ext cx="3611880" cy="320040"/>
          </a:xfrm>
          <a:prstGeom prst="rect">
            <a:avLst/>
          </a:prstGeom>
          <a:noFill/>
          <a:ln/>
        </p:spPr>
        <p:txBody>
          <a:bodyPr wrap="square" lIns="0" tIns="0" rIns="0" bIns="0" rtlCol="0" anchor="ctr"/>
          <a:lstStyle/>
          <a:p>
            <a:pPr indent="0" marL="0">
              <a:buNone/>
            </a:pPr>
            <a:r>
              <a:rPr lang="en-US" sz="1300" b="1" dirty="0">
                <a:solidFill>
                  <a:srgbClr val="C97B3C"/>
                </a:solidFill>
                <a:latin typeface="Cambria" pitchFamily="34" charset="0"/>
                <a:ea typeface="Cambria" pitchFamily="34" charset="-122"/>
                <a:cs typeface="Cambria" pitchFamily="34" charset="-120"/>
              </a:rPr>
              <a:t>Un mismo spread no significa lo mismo</a:t>
            </a:r>
            <a:endParaRPr lang="en-US" sz="1300" dirty="0"/>
          </a:p>
        </p:txBody>
      </p:sp>
      <p:sp>
        <p:nvSpPr>
          <p:cNvPr id="10" name="Text 7"/>
          <p:cNvSpPr txBox="1"/>
          <p:nvPr/>
        </p:nvSpPr>
        <p:spPr>
          <a:xfrm>
            <a:off x="7863840" y="4114800"/>
            <a:ext cx="3611880" cy="1005840"/>
          </a:xfrm>
          <a:prstGeom prst="rect">
            <a:avLst/>
          </a:prstGeom>
          <a:noFill/>
          <a:ln/>
        </p:spPr>
        <p:txBody>
          <a:bodyPr wrap="square" lIns="0" tIns="0" rIns="0" bIns="0" rtlCol="0" anchor="ctr"/>
          <a:lstStyle/>
          <a:p>
            <a:pPr indent="0" marL="0">
              <a:buNone/>
            </a:pPr>
            <a:r>
              <a:rPr lang="en-US" sz="1100" dirty="0">
                <a:solidFill>
                  <a:srgbClr val="2B3A42"/>
                </a:solidFill>
                <a:latin typeface="Calibri" pitchFamily="34" charset="0"/>
                <a:ea typeface="Calibri" pitchFamily="34" charset="-122"/>
                <a:cs typeface="Calibri" pitchFamily="34" charset="-120"/>
              </a:rPr>
              <a:t>En España y Portugal la mitad de la nueva producción es de importe ≤1 M€. En Países Bajos es el 7,6 %. Cualquier comparación de rentabilidad debe normalizar por este peso.</a:t>
            </a:r>
            <a:endParaRPr lang="en-US" sz="1100" dirty="0"/>
          </a:p>
        </p:txBody>
      </p:sp>
      <p:sp>
        <p:nvSpPr>
          <p:cNvPr id="11" name="Text 8"/>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6E7F88"/>
                </a:solidFill>
                <a:latin typeface="Calibri" pitchFamily="34" charset="0"/>
                <a:ea typeface="Calibri" pitchFamily="34" charset="-122"/>
                <a:cs typeface="Calibri" pitchFamily="34" charset="-120"/>
              </a:rPr>
              <a:t>Fuente: BCE, ECB Data Portal, dataset MIR. Tipo anual equivalente (AAR/NDER), que excluye comisiones. Media enero-julio 2026 ponderada por volumen mensual.</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10896"/>
            <a:ext cx="11091672" cy="658368"/>
          </a:xfrm>
          <a:prstGeom prst="rect">
            <a:avLst/>
          </a:prstGeom>
          <a:noFill/>
          <a:ln/>
        </p:spPr>
        <p:txBody>
          <a:bodyPr wrap="square" lIns="0" tIns="0" rIns="0" bIns="0" rtlCol="0" anchor="ctr"/>
          <a:lstStyle/>
          <a:p>
            <a:pPr indent="0" marL="0">
              <a:buNone/>
            </a:pPr>
            <a:r>
              <a:rPr lang="en-US" sz="3000" b="1" dirty="0">
                <a:solidFill>
                  <a:srgbClr val="1C3F4E"/>
                </a:solidFill>
                <a:latin typeface="Cambria" pitchFamily="34" charset="0"/>
                <a:ea typeface="Cambria" pitchFamily="34" charset="-122"/>
                <a:cs typeface="Cambria" pitchFamily="34" charset="-120"/>
              </a:rPr>
              <a:t>El hallazgo que cambia la lectura: España cobra por comisión</a:t>
            </a:r>
            <a:endParaRPr lang="en-US" sz="3000" dirty="0"/>
          </a:p>
        </p:txBody>
      </p:sp>
      <p:sp>
        <p:nvSpPr>
          <p:cNvPr id="3" name="Text 1"/>
          <p:cNvSpPr txBox="1"/>
          <p:nvPr/>
        </p:nvSpPr>
        <p:spPr>
          <a:xfrm>
            <a:off x="548640" y="932688"/>
            <a:ext cx="11091672" cy="384048"/>
          </a:xfrm>
          <a:prstGeom prst="rect">
            <a:avLst/>
          </a:prstGeom>
          <a:noFill/>
          <a:ln/>
        </p:spPr>
        <p:txBody>
          <a:bodyPr wrap="square" lIns="0" tIns="0" rIns="0" bIns="0" rtlCol="0" anchor="ctr"/>
          <a:lstStyle/>
          <a:p>
            <a:pPr indent="0" marL="0">
              <a:buNone/>
            </a:pPr>
            <a:r>
              <a:rPr lang="en-US" sz="1300" dirty="0">
                <a:solidFill>
                  <a:srgbClr val="6E7F88"/>
                </a:solidFill>
                <a:latin typeface="Calibri" pitchFamily="34" charset="0"/>
                <a:ea typeface="Calibri" pitchFamily="34" charset="-122"/>
                <a:cs typeface="Calibri" pitchFamily="34" charset="-120"/>
              </a:rPr>
              <a:t>Único país de los seis donde existe un tipo con comisiones para empresas · Media 2026</a:t>
            </a:r>
            <a:endParaRPr lang="en-US" sz="1300" dirty="0"/>
          </a:p>
        </p:txBody>
      </p:sp>
      <p:graphicFrame>
        <p:nvGraphicFramePr>
          <p:cNvPr id="4" name="Chart 0" descr=""/>
          <p:cNvGraphicFramePr/>
          <p:nvPr/>
        </p:nvGraphicFramePr>
        <p:xfrm>
          <a:off x="548640" y="1645920"/>
          <a:ext cx="6583680" cy="34747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06640" y="1645920"/>
            <a:ext cx="4233672" cy="1600200"/>
          </a:xfrm>
          <a:prstGeom prst="roundRect">
            <a:avLst>
              <a:gd name="adj" fmla="val 3429"/>
            </a:avLst>
          </a:prstGeom>
          <a:solidFill>
            <a:srgbClr val="F7EDE4"/>
          </a:solidFill>
          <a:ln w="12700">
            <a:solidFill>
              <a:srgbClr val="C97B3C"/>
            </a:solidFill>
            <a:prstDash val="solid"/>
          </a:ln>
        </p:spPr>
      </p:sp>
      <p:sp>
        <p:nvSpPr>
          <p:cNvPr id="6" name="Text 3"/>
          <p:cNvSpPr txBox="1"/>
          <p:nvPr/>
        </p:nvSpPr>
        <p:spPr>
          <a:xfrm>
            <a:off x="7589520" y="1783080"/>
            <a:ext cx="3886200" cy="292608"/>
          </a:xfrm>
          <a:prstGeom prst="rect">
            <a:avLst/>
          </a:prstGeom>
          <a:noFill/>
          <a:ln/>
        </p:spPr>
        <p:txBody>
          <a:bodyPr wrap="square" lIns="0" tIns="0" rIns="0" bIns="0" rtlCol="0" anchor="ctr"/>
          <a:lstStyle/>
          <a:p>
            <a:pPr indent="0" marL="0">
              <a:buNone/>
            </a:pPr>
            <a:r>
              <a:rPr lang="en-US" sz="1400" b="1" dirty="0">
                <a:solidFill>
                  <a:srgbClr val="C97B3C"/>
                </a:solidFill>
                <a:latin typeface="Cambria" pitchFamily="34" charset="0"/>
                <a:ea typeface="Cambria" pitchFamily="34" charset="-122"/>
                <a:cs typeface="Cambria" pitchFamily="34" charset="-120"/>
              </a:rPr>
              <a:t>Spread PYME según qué se mida</a:t>
            </a:r>
            <a:endParaRPr lang="en-US" sz="1400" dirty="0"/>
          </a:p>
        </p:txBody>
      </p:sp>
      <p:sp>
        <p:nvSpPr>
          <p:cNvPr id="7" name="Text 4"/>
          <p:cNvSpPr txBox="1"/>
          <p:nvPr/>
        </p:nvSpPr>
        <p:spPr>
          <a:xfrm>
            <a:off x="7589520" y="2194560"/>
            <a:ext cx="3886200" cy="914400"/>
          </a:xfrm>
          <a:prstGeom prst="rect">
            <a:avLst/>
          </a:prstGeom>
          <a:noFill/>
          <a:ln/>
        </p:spPr>
        <p:txBody>
          <a:bodyPr wrap="square" lIns="0" tIns="0" rIns="0" bIns="0" rtlCol="0" anchor="ctr"/>
          <a:lstStyle/>
          <a:p>
            <a:pPr indent="0" marL="0">
              <a:buNone/>
            </a:pPr>
            <a:r>
              <a:rPr lang="en-US" sz="2000" b="1" dirty="0">
                <a:solidFill>
                  <a:srgbClr val="B04A3F"/>
                </a:solidFill>
                <a:latin typeface="Calibri" pitchFamily="34" charset="0"/>
                <a:ea typeface="Calibri" pitchFamily="34" charset="-122"/>
                <a:cs typeface="Calibri" pitchFamily="34" charset="-120"/>
              </a:rPr>
              <a:t>−2 pb</a:t>
            </a:r>
            <a:pPr indent="0" marL="0">
              <a:buNone/>
            </a:pPr>
            <a:r>
              <a:rPr lang="en-US" sz="1200" dirty="0">
                <a:solidFill>
                  <a:srgbClr val="2B3A42"/>
                </a:solidFill>
                <a:latin typeface="Calibri" pitchFamily="34" charset="0"/>
                <a:ea typeface="Calibri" pitchFamily="34" charset="-122"/>
                <a:cs typeface="Calibri" pitchFamily="34" charset="-120"/>
              </a:rPr>
              <a:t>  medido en TEDR</a:t>
            </a:r>
            <a:endParaRPr lang="en-US" sz="2000" dirty="0"/>
          </a:p>
          <a:p>
            <a:pPr indent="0" marL="0">
              <a:buNone/>
            </a:pPr>
            <a:r>
              <a:rPr lang="en-US" sz="2000" b="1" dirty="0">
                <a:solidFill>
                  <a:srgbClr val="2E7D5B"/>
                </a:solidFill>
                <a:latin typeface="Calibri" pitchFamily="34" charset="0"/>
                <a:ea typeface="Calibri" pitchFamily="34" charset="-122"/>
                <a:cs typeface="Calibri" pitchFamily="34" charset="-120"/>
              </a:rPr>
              <a:t>+81 pb</a:t>
            </a:r>
            <a:pPr indent="0" marL="0">
              <a:buNone/>
            </a:pPr>
            <a:r>
              <a:rPr lang="en-US" sz="1200" dirty="0">
                <a:solidFill>
                  <a:srgbClr val="2B3A42"/>
                </a:solidFill>
                <a:latin typeface="Calibri" pitchFamily="34" charset="0"/>
                <a:ea typeface="Calibri" pitchFamily="34" charset="-122"/>
                <a:cs typeface="Calibri" pitchFamily="34" charset="-120"/>
              </a:rPr>
              <a:t>  medido en TAE</a:t>
            </a:r>
            <a:endParaRPr lang="en-US" sz="2000" dirty="0"/>
          </a:p>
        </p:txBody>
      </p:sp>
      <p:sp>
        <p:nvSpPr>
          <p:cNvPr id="8" name="Shape 5"/>
          <p:cNvSpPr/>
          <p:nvPr/>
        </p:nvSpPr>
        <p:spPr>
          <a:xfrm>
            <a:off x="7406640" y="3429000"/>
            <a:ext cx="4233672" cy="1691640"/>
          </a:xfrm>
          <a:prstGeom prst="roundRect">
            <a:avLst>
              <a:gd name="adj" fmla="val 3243"/>
            </a:avLst>
          </a:prstGeom>
          <a:solidFill>
            <a:srgbClr val="EEF2F3"/>
          </a:solidFill>
          <a:ln w="12700">
            <a:solidFill>
              <a:srgbClr val="DCE4E7"/>
            </a:solidFill>
            <a:prstDash val="solid"/>
          </a:ln>
        </p:spPr>
      </p:sp>
      <p:sp>
        <p:nvSpPr>
          <p:cNvPr id="9" name="Text 6"/>
          <p:cNvSpPr txBox="1"/>
          <p:nvPr/>
        </p:nvSpPr>
        <p:spPr>
          <a:xfrm>
            <a:off x="7589520" y="3566160"/>
            <a:ext cx="3886200" cy="274320"/>
          </a:xfrm>
          <a:prstGeom prst="rect">
            <a:avLst/>
          </a:prstGeom>
          <a:noFill/>
          <a:ln/>
        </p:spPr>
        <p:txBody>
          <a:bodyPr wrap="square" lIns="0" tIns="0" rIns="0" bIns="0" rtlCol="0" anchor="ctr"/>
          <a:lstStyle/>
          <a:p>
            <a:pPr indent="0" marL="0">
              <a:buNone/>
            </a:pPr>
            <a:r>
              <a:rPr lang="en-US" sz="1300" b="1" dirty="0">
                <a:solidFill>
                  <a:srgbClr val="1C3F4E"/>
                </a:solidFill>
                <a:latin typeface="Cambria" pitchFamily="34" charset="0"/>
                <a:ea typeface="Cambria" pitchFamily="34" charset="-122"/>
                <a:cs typeface="Cambria" pitchFamily="34" charset="-120"/>
              </a:rPr>
              <a:t>Cuña de comisiones por tramo</a:t>
            </a:r>
            <a:endParaRPr lang="en-US" sz="1300" dirty="0"/>
          </a:p>
        </p:txBody>
      </p:sp>
      <p:sp>
        <p:nvSpPr>
          <p:cNvPr id="10" name="Text 7"/>
          <p:cNvSpPr txBox="1"/>
          <p:nvPr/>
        </p:nvSpPr>
        <p:spPr>
          <a:xfrm>
            <a:off x="7589520" y="3931920"/>
            <a:ext cx="3886200" cy="1005840"/>
          </a:xfrm>
          <a:prstGeom prst="rect">
            <a:avLst/>
          </a:prstGeom>
          <a:noFill/>
          <a:ln/>
        </p:spPr>
        <p:txBody>
          <a:bodyPr wrap="square" lIns="0" tIns="0" rIns="0" bIns="0" rtlCol="0" anchor="ctr"/>
          <a:lstStyle/>
          <a:p>
            <a:pPr indent="0" marL="0">
              <a:lnSpc>
                <a:spcPts val="2000"/>
              </a:lnSpc>
              <a:buNone/>
            </a:pPr>
            <a:r>
              <a:rPr lang="en-US" sz="1300" dirty="0">
                <a:solidFill>
                  <a:srgbClr val="2B3A42"/>
                </a:solidFill>
                <a:latin typeface="Calibri" pitchFamily="34" charset="0"/>
                <a:ea typeface="Calibri" pitchFamily="34" charset="-122"/>
                <a:cs typeface="Calibri" pitchFamily="34" charset="-120"/>
              </a:rPr>
              <a:t>≤0,25 M€:  +102 pb</a:t>
            </a:r>
            <a:endParaRPr lang="en-US" sz="1300" dirty="0"/>
          </a:p>
          <a:p>
            <a:pPr indent="0" marL="0">
              <a:lnSpc>
                <a:spcPts val="2000"/>
              </a:lnSpc>
              <a:buNone/>
            </a:pPr>
            <a:r>
              <a:rPr lang="en-US" sz="1300" dirty="0">
                <a:solidFill>
                  <a:srgbClr val="2B3A42"/>
                </a:solidFill>
                <a:latin typeface="Calibri" pitchFamily="34" charset="0"/>
                <a:ea typeface="Calibri" pitchFamily="34" charset="-122"/>
                <a:cs typeface="Calibri" pitchFamily="34" charset="-120"/>
              </a:rPr>
              <a:t>0,25–1 M€:  +36 pb</a:t>
            </a:r>
            <a:endParaRPr lang="en-US" sz="1300" dirty="0"/>
          </a:p>
          <a:p>
            <a:pPr indent="0" marL="0">
              <a:lnSpc>
                <a:spcPts val="2000"/>
              </a:lnSpc>
              <a:buNone/>
            </a:pPr>
            <a:r>
              <a:rPr lang="en-US" sz="1300" dirty="0">
                <a:solidFill>
                  <a:srgbClr val="2B3A42"/>
                </a:solidFill>
                <a:latin typeface="Calibri" pitchFamily="34" charset="0"/>
                <a:ea typeface="Calibri" pitchFamily="34" charset="-122"/>
                <a:cs typeface="Calibri" pitchFamily="34" charset="-120"/>
              </a:rPr>
              <a:t>&gt;1 M€:  +18 pb</a:t>
            </a:r>
            <a:endParaRPr lang="en-US" sz="1300" dirty="0"/>
          </a:p>
        </p:txBody>
      </p:sp>
      <p:sp>
        <p:nvSpPr>
          <p:cNvPr id="11" name="Text 8"/>
          <p:cNvSpPr txBox="1"/>
          <p:nvPr/>
        </p:nvSpPr>
        <p:spPr>
          <a:xfrm>
            <a:off x="548640" y="5349240"/>
            <a:ext cx="11091672" cy="640080"/>
          </a:xfrm>
          <a:prstGeom prst="rect">
            <a:avLst/>
          </a:prstGeom>
          <a:noFill/>
          <a:ln/>
        </p:spPr>
        <p:txBody>
          <a:bodyPr wrap="square" lIns="0" tIns="0" rIns="0" bIns="0" rtlCol="0" anchor="ctr"/>
          <a:lstStyle/>
          <a:p>
            <a:pPr indent="0" marL="0">
              <a:buNone/>
            </a:pPr>
            <a:r>
              <a:rPr lang="en-US" sz="1200" dirty="0">
                <a:solidFill>
                  <a:srgbClr val="2B3A42"/>
                </a:solidFill>
                <a:latin typeface="Calibri" pitchFamily="34" charset="0"/>
                <a:ea typeface="Calibri" pitchFamily="34" charset="-122"/>
                <a:cs typeface="Calibri" pitchFamily="34" charset="-120"/>
              </a:rPr>
              <a:t>La banca española sí cobra más caro a la PYME: 81 pb más en coste total. Lo hace por comisión, no por tipo nominal. El MIR del BCE, que publica solo el tipo sin comisiones, no lo ve.</a:t>
            </a:r>
            <a:endParaRPr lang="en-US" sz="1200" dirty="0"/>
          </a:p>
        </p:txBody>
      </p:sp>
      <p:sp>
        <p:nvSpPr>
          <p:cNvPr id="12" name="Text 9"/>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6E7F88"/>
                </a:solidFill>
                <a:latin typeface="Calibri" pitchFamily="34" charset="0"/>
                <a:ea typeface="Calibri" pitchFamily="34" charset="-122"/>
                <a:cs typeface="Calibri" pitchFamily="34" charset="-120"/>
              </a:rPr>
              <a:t>Fuente: Banco de España, Boletín Estadístico, cuadros 19.5 (TEDR), 19.6 (TAE) y 19.13 (volúmenes). Cuña = TAE − TEDR, cálculo propio. Media enero-julio 2026.</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10896"/>
            <a:ext cx="11091672" cy="658368"/>
          </a:xfrm>
          <a:prstGeom prst="rect">
            <a:avLst/>
          </a:prstGeom>
          <a:noFill/>
          <a:ln/>
        </p:spPr>
        <p:txBody>
          <a:bodyPr wrap="square" lIns="0" tIns="0" rIns="0" bIns="0" rtlCol="0" anchor="ctr"/>
          <a:lstStyle/>
          <a:p>
            <a:pPr indent="0" marL="0">
              <a:buNone/>
            </a:pPr>
            <a:r>
              <a:rPr lang="en-US" sz="3000" b="1" dirty="0">
                <a:solidFill>
                  <a:srgbClr val="1C3F4E"/>
                </a:solidFill>
                <a:latin typeface="Cambria" pitchFamily="34" charset="0"/>
                <a:ea typeface="Cambria" pitchFamily="34" charset="-122"/>
                <a:cs typeface="Cambria" pitchFamily="34" charset="-120"/>
              </a:rPr>
              <a:t>Cuenta de resultados modelizada del préstamo PYME</a:t>
            </a:r>
            <a:endParaRPr lang="en-US" sz="3000" dirty="0"/>
          </a:p>
        </p:txBody>
      </p:sp>
      <p:sp>
        <p:nvSpPr>
          <p:cNvPr id="3" name="Text 1"/>
          <p:cNvSpPr txBox="1"/>
          <p:nvPr/>
        </p:nvSpPr>
        <p:spPr>
          <a:xfrm>
            <a:off x="548640" y="932688"/>
            <a:ext cx="11091672" cy="384048"/>
          </a:xfrm>
          <a:prstGeom prst="rect">
            <a:avLst/>
          </a:prstGeom>
          <a:noFill/>
          <a:ln/>
        </p:spPr>
        <p:txBody>
          <a:bodyPr wrap="square" lIns="0" tIns="0" rIns="0" bIns="0" rtlCol="0" anchor="ctr"/>
          <a:lstStyle/>
          <a:p>
            <a:pPr indent="0" marL="0">
              <a:buNone/>
            </a:pPr>
            <a:r>
              <a:rPr lang="en-US" sz="1300" dirty="0">
                <a:solidFill>
                  <a:srgbClr val="6E7F88"/>
                </a:solidFill>
                <a:latin typeface="Calibri" pitchFamily="34" charset="0"/>
                <a:ea typeface="Calibri" pitchFamily="34" charset="-122"/>
                <a:cs typeface="Calibri" pitchFamily="34" charset="-120"/>
              </a:rPr>
              <a:t>En % del saldo medio · Tramo ≤1 M€ · 2026 · Las filas en ocre son supuestos, no observaciones</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11091672" cy="914400"/>
        </p:xfrm>
        <a:graphic>
          <a:graphicData uri="http://schemas.openxmlformats.org/drawingml/2006/table">
            <a:tbl>
              <a:tblPr/>
              <a:tblGrid>
                <a:gridCol w="2743200"/>
                <a:gridCol w="1540764"/>
                <a:gridCol w="1540764"/>
                <a:gridCol w="1540764"/>
                <a:gridCol w="1540764"/>
                <a:gridCol w="1540764"/>
                <a:gridCol w="1540764"/>
              </a:tblGrid>
              <a:tr h="338328">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Concepto</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España</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Alemania</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Francia</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Italia</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Portugal</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 Bajos</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r>
              <a:tr h="338328">
                <a:tc>
                  <a:txBody>
                    <a:bodyPr/>
                    <a:lstStyle/>
                    <a:p>
                      <a:pPr algn="l" indent="0" marL="0">
                        <a:buNone/>
                      </a:pPr>
                      <a:r>
                        <a:rPr lang="en-US" sz="1100" dirty="0">
                          <a:solidFill>
                            <a:srgbClr val="2B3A42"/>
                          </a:solidFill>
                          <a:latin typeface="Calibri" pitchFamily="34" charset="0"/>
                          <a:ea typeface="Calibri" pitchFamily="34" charset="-122"/>
                          <a:cs typeface="Calibri" pitchFamily="34" charset="-120"/>
                        </a:rPr>
                        <a:t>Precio (tipo MIR)</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3.41</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4.39</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3.77</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4.25</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3.94</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4.50</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338328">
                <a:tc>
                  <a:txBody>
                    <a:bodyPr/>
                    <a:lstStyle/>
                    <a:p>
                      <a:pPr algn="l" indent="0" marL="0">
                        <a:buNone/>
                      </a:pPr>
                      <a:r>
                        <a:rPr lang="en-US" sz="1100" dirty="0">
                          <a:solidFill>
                            <a:srgbClr val="8A5A2B"/>
                          </a:solidFill>
                          <a:latin typeface="Calibri" pitchFamily="34" charset="0"/>
                          <a:ea typeface="Calibri" pitchFamily="34" charset="-122"/>
                          <a:cs typeface="Calibri" pitchFamily="34" charset="-120"/>
                        </a:rPr>
                        <a:t>+ Comisiones</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0.87</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0.87</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0.87</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0.87</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0.87</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0.87</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r>
              <a:tr h="338328">
                <a:tc>
                  <a:txBody>
                    <a:bodyPr/>
                    <a:lstStyle/>
                    <a:p>
                      <a:pPr algn="l" indent="0" marL="0">
                        <a:buNone/>
                      </a:pPr>
                      <a:r>
                        <a:rPr lang="en-US" sz="1100" b="1" dirty="0">
                          <a:solidFill>
                            <a:srgbClr val="1C3F4E"/>
                          </a:solidFill>
                          <a:latin typeface="Calibri" pitchFamily="34" charset="0"/>
                          <a:ea typeface="Calibri" pitchFamily="34" charset="-122"/>
                          <a:cs typeface="Calibri" pitchFamily="34" charset="-120"/>
                        </a:rPr>
                        <a:t>= Ingreso total</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4.28</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5.26</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4.64</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5.12</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4.81</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5.37</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r>
              <a:tr h="338328">
                <a:tc>
                  <a:txBody>
                    <a:bodyPr/>
                    <a:lstStyle/>
                    <a:p>
                      <a:pPr algn="l" indent="0" marL="0">
                        <a:buNone/>
                      </a:pPr>
                      <a:r>
                        <a:rPr lang="en-US" sz="1100" dirty="0">
                          <a:solidFill>
                            <a:srgbClr val="2B3A42"/>
                          </a:solidFill>
                          <a:latin typeface="Calibri" pitchFamily="34" charset="0"/>
                          <a:ea typeface="Calibri" pitchFamily="34" charset="-122"/>
                          <a:cs typeface="Calibri" pitchFamily="34" charset="-120"/>
                        </a:rPr>
                        <a:t>− Coste de fondos</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2.23</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2.23</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2.23</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2.23</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2.23</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2.23</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338328">
                <a:tc>
                  <a:txBody>
                    <a:bodyPr/>
                    <a:lstStyle/>
                    <a:p>
                      <a:pPr algn="l" indent="0" marL="0">
                        <a:buNone/>
                      </a:pPr>
                      <a:r>
                        <a:rPr lang="en-US" sz="1100" b="1" dirty="0">
                          <a:solidFill>
                            <a:srgbClr val="1C3F4E"/>
                          </a:solidFill>
                          <a:latin typeface="Calibri" pitchFamily="34" charset="0"/>
                          <a:ea typeface="Calibri" pitchFamily="34" charset="-122"/>
                          <a:cs typeface="Calibri" pitchFamily="34" charset="-120"/>
                        </a:rPr>
                        <a:t>= Margen bruto</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2.05</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3.03</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2.41</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2.89</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2.58</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3.14</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r>
              <a:tr h="338328">
                <a:tc>
                  <a:txBody>
                    <a:bodyPr/>
                    <a:lstStyle/>
                    <a:p>
                      <a:pPr algn="l" indent="0" marL="0">
                        <a:buNone/>
                      </a:pPr>
                      <a:r>
                        <a:rPr lang="en-US" sz="1100" dirty="0">
                          <a:solidFill>
                            <a:srgbClr val="8A5A2B"/>
                          </a:solidFill>
                          <a:latin typeface="Calibri" pitchFamily="34" charset="0"/>
                          <a:ea typeface="Calibri" pitchFamily="34" charset="-122"/>
                          <a:cs typeface="Calibri" pitchFamily="34" charset="-120"/>
                        </a:rPr>
                        <a:t>− Coste del riesgo</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0.59</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0.40</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0.68</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0.80</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0.50</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0.35</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r>
              <a:tr h="338328">
                <a:tc>
                  <a:txBody>
                    <a:bodyPr/>
                    <a:lstStyle/>
                    <a:p>
                      <a:pPr algn="l" indent="0" marL="0">
                        <a:buNone/>
                      </a:pPr>
                      <a:r>
                        <a:rPr lang="en-US" sz="1100" dirty="0">
                          <a:solidFill>
                            <a:srgbClr val="8A5A2B"/>
                          </a:solidFill>
                          <a:latin typeface="Calibri" pitchFamily="34" charset="0"/>
                          <a:ea typeface="Calibri" pitchFamily="34" charset="-122"/>
                          <a:cs typeface="Calibri" pitchFamily="34" charset="-120"/>
                        </a:rPr>
                        <a:t>− Gastos</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0.87</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1.67</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1.58</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1.35</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0.90</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1.68</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r>
              <a:tr h="338328">
                <a:tc>
                  <a:txBody>
                    <a:bodyPr/>
                    <a:lstStyle/>
                    <a:p>
                      <a:pPr algn="l" indent="0" marL="0">
                        <a:buNone/>
                      </a:pPr>
                      <a:r>
                        <a:rPr lang="en-US" sz="1100" b="1" dirty="0">
                          <a:solidFill>
                            <a:srgbClr val="1C3F4E"/>
                          </a:solidFill>
                          <a:latin typeface="Calibri" pitchFamily="34" charset="0"/>
                          <a:ea typeface="Calibri" pitchFamily="34" charset="-122"/>
                          <a:cs typeface="Calibri" pitchFamily="34" charset="-120"/>
                        </a:rPr>
                        <a:t>= Resultado antes de imp.</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0.59</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0.96</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0.15</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0.74</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1.18</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1.11</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r>
              <a:tr h="338328">
                <a:tc>
                  <a:txBody>
                    <a:bodyPr/>
                    <a:lstStyle/>
                    <a:p>
                      <a:pPr algn="l" indent="0" marL="0">
                        <a:buNone/>
                      </a:pPr>
                      <a:r>
                        <a:rPr lang="en-US" sz="1100" dirty="0">
                          <a:solidFill>
                            <a:srgbClr val="8A5A2B"/>
                          </a:solidFill>
                          <a:latin typeface="Calibri" pitchFamily="34" charset="0"/>
                          <a:ea typeface="Calibri" pitchFamily="34" charset="-122"/>
                          <a:cs typeface="Calibri" pitchFamily="34" charset="-120"/>
                        </a:rPr>
                        <a:t>Capital asignado</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8.13</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5.99</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6.83</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7.21</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10.93</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6.09</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r>
              <a:tr h="338328">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ROE</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5.5 %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12.1 %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1.7 %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7.7 %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8.1 %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13.7 %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r>
            </a:tbl>
          </a:graphicData>
        </a:graphic>
      </p:graphicFrame>
      <p:sp>
        <p:nvSpPr>
          <p:cNvPr id="5" name="Shape 2"/>
          <p:cNvSpPr/>
          <p:nvPr/>
        </p:nvSpPr>
        <p:spPr>
          <a:xfrm>
            <a:off x="548640" y="5623560"/>
            <a:ext cx="1371600" cy="256032"/>
          </a:xfrm>
          <a:prstGeom prst="roundRect">
            <a:avLst>
              <a:gd name="adj" fmla="val 42857"/>
            </a:avLst>
          </a:prstGeom>
          <a:solidFill>
            <a:srgbClr val="1C3F4E"/>
          </a:solidFill>
          <a:ln w="12700">
            <a:solidFill>
              <a:srgbClr val="1C3F4E"/>
            </a:solidFill>
            <a:prstDash val="solid"/>
          </a:ln>
        </p:spPr>
      </p:sp>
      <p:sp>
        <p:nvSpPr>
          <p:cNvPr id="6" name="Text 3"/>
          <p:cNvSpPr txBox="1"/>
          <p:nvPr/>
        </p:nvSpPr>
        <p:spPr>
          <a:xfrm>
            <a:off x="548640" y="5623560"/>
            <a:ext cx="137160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Observado</a:t>
            </a:r>
            <a:endParaRPr lang="en-US" sz="900" dirty="0"/>
          </a:p>
        </p:txBody>
      </p:sp>
      <p:sp>
        <p:nvSpPr>
          <p:cNvPr id="7" name="Shape 4"/>
          <p:cNvSpPr/>
          <p:nvPr/>
        </p:nvSpPr>
        <p:spPr>
          <a:xfrm>
            <a:off x="2103120" y="5623560"/>
            <a:ext cx="1371600" cy="256032"/>
          </a:xfrm>
          <a:prstGeom prst="roundRect">
            <a:avLst>
              <a:gd name="adj" fmla="val 42857"/>
            </a:avLst>
          </a:prstGeom>
          <a:solidFill>
            <a:srgbClr val="C9992B"/>
          </a:solidFill>
          <a:ln w="12700">
            <a:solidFill>
              <a:srgbClr val="C9992B"/>
            </a:solidFill>
            <a:prstDash val="solid"/>
          </a:ln>
        </p:spPr>
      </p:sp>
      <p:sp>
        <p:nvSpPr>
          <p:cNvPr id="8" name="Text 5"/>
          <p:cNvSpPr txBox="1"/>
          <p:nvPr/>
        </p:nvSpPr>
        <p:spPr>
          <a:xfrm>
            <a:off x="2103120" y="5623560"/>
            <a:ext cx="137160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Supuesto</a:t>
            </a:r>
            <a:endParaRPr lang="en-US" sz="900" dirty="0"/>
          </a:p>
        </p:txBody>
      </p:sp>
      <p:sp>
        <p:nvSpPr>
          <p:cNvPr id="9" name="Text 6"/>
          <p:cNvSpPr txBox="1"/>
          <p:nvPr/>
        </p:nvSpPr>
        <p:spPr>
          <a:xfrm>
            <a:off x="3931920" y="5623560"/>
            <a:ext cx="7772400" cy="274320"/>
          </a:xfrm>
          <a:prstGeom prst="rect">
            <a:avLst/>
          </a:prstGeom>
          <a:noFill/>
          <a:ln/>
        </p:spPr>
        <p:txBody>
          <a:bodyPr wrap="square" lIns="0" tIns="0" rIns="0" bIns="0" rtlCol="0" anchor="ctr"/>
          <a:lstStyle/>
          <a:p>
            <a:pPr indent="0" marL="0">
              <a:buNone/>
            </a:pPr>
            <a:r>
              <a:rPr lang="en-US" sz="1000" dirty="0">
                <a:solidFill>
                  <a:srgbClr val="6E7F88"/>
                </a:solidFill>
                <a:latin typeface="Calibri" pitchFamily="34" charset="0"/>
                <a:ea typeface="Calibri" pitchFamily="34" charset="-122"/>
                <a:cs typeface="Calibri" pitchFamily="34" charset="-120"/>
              </a:rPr>
              <a:t>Solo la fila de comisiones es supuesto. Riesgo y capital son ahora observados por país.</a:t>
            </a:r>
            <a:endParaRPr lang="en-US" sz="1000" dirty="0"/>
          </a:p>
        </p:txBody>
      </p:sp>
      <p:sp>
        <p:nvSpPr>
          <p:cNvPr id="10" name="Text 7"/>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6E7F88"/>
                </a:solidFill>
                <a:latin typeface="Calibri" pitchFamily="34" charset="0"/>
                <a:ea typeface="Calibri" pitchFamily="34" charset="-122"/>
                <a:cs typeface="Calibri" pitchFamily="34" charset="-120"/>
              </a:rPr>
              <a:t>Precio: BCE MIR. Comisiones: cuña española de 87 pb aplicada a los seis (único supuesto material). Riesgo: PD × LGD de la clase IRB de PYME (COREP C 9.02). Gastos: eficiencia EBA sobre margen. Capital: densidad de RWA observada de la cartera PYME sobre CET1. Impuesto 25 %.</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10896"/>
            <a:ext cx="11091672" cy="658368"/>
          </a:xfrm>
          <a:prstGeom prst="rect">
            <a:avLst/>
          </a:prstGeom>
          <a:noFill/>
          <a:ln/>
        </p:spPr>
        <p:txBody>
          <a:bodyPr wrap="square" lIns="0" tIns="0" rIns="0" bIns="0" rtlCol="0" anchor="ctr"/>
          <a:lstStyle/>
          <a:p>
            <a:pPr indent="0" marL="0">
              <a:buNone/>
            </a:pPr>
            <a:r>
              <a:rPr lang="en-US" sz="3000" b="1" dirty="0">
                <a:solidFill>
                  <a:srgbClr val="1C3F4E"/>
                </a:solidFill>
                <a:latin typeface="Cambria" pitchFamily="34" charset="0"/>
                <a:ea typeface="Cambria" pitchFamily="34" charset="-122"/>
                <a:cs typeface="Cambria" pitchFamily="34" charset="-120"/>
              </a:rPr>
              <a:t>ROE modelizado del préstamo PYME</a:t>
            </a:r>
            <a:endParaRPr lang="en-US" sz="3000" dirty="0"/>
          </a:p>
        </p:txBody>
      </p:sp>
      <p:sp>
        <p:nvSpPr>
          <p:cNvPr id="3" name="Text 1"/>
          <p:cNvSpPr txBox="1"/>
          <p:nvPr/>
        </p:nvSpPr>
        <p:spPr>
          <a:xfrm>
            <a:off x="548640" y="932688"/>
            <a:ext cx="11091672" cy="384048"/>
          </a:xfrm>
          <a:prstGeom prst="rect">
            <a:avLst/>
          </a:prstGeom>
          <a:noFill/>
          <a:ln/>
        </p:spPr>
        <p:txBody>
          <a:bodyPr wrap="square" lIns="0" tIns="0" rIns="0" bIns="0" rtlCol="0" anchor="ctr"/>
          <a:lstStyle/>
          <a:p>
            <a:pPr indent="0" marL="0">
              <a:buNone/>
            </a:pPr>
            <a:r>
              <a:rPr lang="en-US" sz="1300" dirty="0">
                <a:solidFill>
                  <a:srgbClr val="6E7F88"/>
                </a:solidFill>
                <a:latin typeface="Calibri" pitchFamily="34" charset="0"/>
                <a:ea typeface="Calibri" pitchFamily="34" charset="-122"/>
                <a:cs typeface="Calibri" pitchFamily="34" charset="-120"/>
              </a:rPr>
              <a:t>Con la cuña de comisiones española aplicada a los seis países · 2026</a:t>
            </a:r>
            <a:endParaRPr lang="en-US" sz="1300" dirty="0"/>
          </a:p>
        </p:txBody>
      </p:sp>
      <p:graphicFrame>
        <p:nvGraphicFramePr>
          <p:cNvPr id="4" name="Chart 0" descr=""/>
          <p:cNvGraphicFramePr/>
          <p:nvPr/>
        </p:nvGraphicFramePr>
        <p:xfrm>
          <a:off x="548640" y="1645920"/>
          <a:ext cx="6766560" cy="37490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589520" y="1645920"/>
            <a:ext cx="4050792" cy="3749040"/>
          </a:xfrm>
          <a:prstGeom prst="roundRect">
            <a:avLst>
              <a:gd name="adj" fmla="val 1463"/>
            </a:avLst>
          </a:prstGeom>
          <a:solidFill>
            <a:srgbClr val="EEF2F3"/>
          </a:solidFill>
          <a:ln w="12700">
            <a:solidFill>
              <a:srgbClr val="DCE4E7"/>
            </a:solidFill>
            <a:prstDash val="solid"/>
          </a:ln>
        </p:spPr>
      </p:sp>
      <p:sp>
        <p:nvSpPr>
          <p:cNvPr id="6" name="Text 3"/>
          <p:cNvSpPr txBox="1"/>
          <p:nvPr/>
        </p:nvSpPr>
        <p:spPr>
          <a:xfrm>
            <a:off x="7772400" y="1783080"/>
            <a:ext cx="3703320" cy="292608"/>
          </a:xfrm>
          <a:prstGeom prst="rect">
            <a:avLst/>
          </a:prstGeom>
          <a:noFill/>
          <a:ln/>
        </p:spPr>
        <p:txBody>
          <a:bodyPr wrap="square" lIns="0" tIns="0" rIns="0" bIns="0" rtlCol="0" anchor="ctr"/>
          <a:lstStyle/>
          <a:p>
            <a:pPr indent="0" marL="0">
              <a:buNone/>
            </a:pPr>
            <a:r>
              <a:rPr lang="en-US" sz="1500" b="1" dirty="0">
                <a:solidFill>
                  <a:srgbClr val="1C3F4E"/>
                </a:solidFill>
                <a:latin typeface="Cambria" pitchFamily="34" charset="0"/>
                <a:ea typeface="Cambria" pitchFamily="34" charset="-122"/>
                <a:cs typeface="Cambria" pitchFamily="34" charset="-120"/>
              </a:rPr>
              <a:t>Cómo leerlo</a:t>
            </a:r>
            <a:endParaRPr lang="en-US" sz="1500" dirty="0"/>
          </a:p>
        </p:txBody>
      </p:sp>
      <p:sp>
        <p:nvSpPr>
          <p:cNvPr id="7" name="Text 4"/>
          <p:cNvSpPr txBox="1"/>
          <p:nvPr/>
        </p:nvSpPr>
        <p:spPr>
          <a:xfrm>
            <a:off x="7772400" y="2194560"/>
            <a:ext cx="3703320" cy="3017520"/>
          </a:xfrm>
          <a:prstGeom prst="rect">
            <a:avLst/>
          </a:prstGeom>
          <a:noFill/>
          <a:ln/>
        </p:spPr>
        <p:txBody>
          <a:bodyPr wrap="square" lIns="0" tIns="0" rIns="0" bIns="0" rtlCol="0" anchor="ctr"/>
          <a:lstStyle/>
          <a:p>
            <a:pPr indent="0" marL="0">
              <a:buNone/>
            </a:pPr>
            <a:r>
              <a:rPr lang="en-US" sz="1150" b="1" dirty="0">
                <a:solidFill>
                  <a:srgbClr val="2B3A42"/>
                </a:solidFill>
                <a:latin typeface="Calibri" pitchFamily="34" charset="0"/>
                <a:ea typeface="Calibri" pitchFamily="34" charset="-122"/>
                <a:cs typeface="Calibri" pitchFamily="34" charset="-120"/>
              </a:rPr>
              <a:t>Países Bajos y Alemania encabezan</a:t>
            </a:r>
            <a:endParaRPr lang="en-US" sz="1150" dirty="0"/>
          </a:p>
          <a:p>
            <a:pPr indent="0" marL="0">
              <a:buNone/>
            </a:pPr>
            <a:r>
              <a:rPr lang="en-US" sz="1150" dirty="0">
                <a:solidFill>
                  <a:srgbClr val="2B3A42"/>
                </a:solidFill>
                <a:latin typeface="Calibri" pitchFamily="34" charset="0"/>
                <a:ea typeface="Calibri" pitchFamily="34" charset="-122"/>
                <a:cs typeface="Calibri" pitchFamily="34" charset="-120"/>
              </a:rPr>
              <a:t>por la misma razón: el menor coste del riesgo de los seis (0,35 % y 0,40 %) y la menor densidad de RWA (37 % y 35 %), que reduce el capital a inmovilizar.
</a:t>
            </a:r>
            <a:endParaRPr lang="en-US" sz="1150" dirty="0"/>
          </a:p>
          <a:p>
            <a:pPr indent="0" marL="0">
              <a:buNone/>
            </a:pPr>
            <a:r>
              <a:rPr lang="en-US" sz="1150" b="1" dirty="0">
                <a:solidFill>
                  <a:srgbClr val="2B3A42"/>
                </a:solidFill>
                <a:latin typeface="Calibri" pitchFamily="34" charset="0"/>
                <a:ea typeface="Calibri" pitchFamily="34" charset="-122"/>
                <a:cs typeface="Calibri" pitchFamily="34" charset="-120"/>
              </a:rPr>
              <a:t>España cae al quinto puesto</a:t>
            </a:r>
            <a:endParaRPr lang="en-US" sz="1150" dirty="0"/>
          </a:p>
          <a:p>
            <a:pPr indent="0" marL="0">
              <a:buNone/>
            </a:pPr>
            <a:r>
              <a:rPr lang="en-US" sz="1150" dirty="0">
                <a:solidFill>
                  <a:srgbClr val="2B3A42"/>
                </a:solidFill>
                <a:latin typeface="Calibri" pitchFamily="34" charset="0"/>
                <a:ea typeface="Calibri" pitchFamily="34" charset="-122"/>
                <a:cs typeface="Calibri" pitchFamily="34" charset="-120"/>
              </a:rPr>
              <a:t>por combinar el precio más bajo con una densidad de RWA del 59,5 %, la segunda mayor: cada euro de préstamo PYME consume casi el doble de capital que en Alemania.
</a:t>
            </a:r>
            <a:endParaRPr lang="en-US" sz="1150" dirty="0"/>
          </a:p>
          <a:p>
            <a:pPr indent="0" marL="0">
              <a:buNone/>
            </a:pPr>
            <a:r>
              <a:rPr lang="en-US" sz="1150" b="1" dirty="0">
                <a:solidFill>
                  <a:srgbClr val="2B3A42"/>
                </a:solidFill>
                <a:latin typeface="Calibri" pitchFamily="34" charset="0"/>
                <a:ea typeface="Calibri" pitchFamily="34" charset="-122"/>
                <a:cs typeface="Calibri" pitchFamily="34" charset="-120"/>
              </a:rPr>
              <a:t>Francia queda última</a:t>
            </a:r>
            <a:endParaRPr lang="en-US" sz="1150" dirty="0"/>
          </a:p>
          <a:p>
            <a:pPr indent="0" marL="0">
              <a:buNone/>
            </a:pPr>
            <a:r>
              <a:rPr lang="en-US" sz="1150" dirty="0">
                <a:solidFill>
                  <a:srgbClr val="2B3A42"/>
                </a:solidFill>
                <a:latin typeface="Calibri" pitchFamily="34" charset="0"/>
                <a:ea typeface="Calibri" pitchFamily="34" charset="-122"/>
                <a:cs typeface="Calibri" pitchFamily="34" charset="-120"/>
              </a:rPr>
              <a:t>con un 1,7 %, y en negativo si no se asume comisión alguna.</a:t>
            </a:r>
            <a:endParaRPr lang="en-US" sz="1150" dirty="0"/>
          </a:p>
        </p:txBody>
      </p:sp>
      <p:sp>
        <p:nvSpPr>
          <p:cNvPr id="8" name="Text 5"/>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6E7F88"/>
                </a:solidFill>
                <a:latin typeface="Calibri" pitchFamily="34" charset="0"/>
                <a:ea typeface="Calibri" pitchFamily="34" charset="-122"/>
                <a:cs typeface="Calibri" pitchFamily="34" charset="-120"/>
              </a:rPr>
              <a:t>ROE modelizado, no observado. Depende del supuesto de comisiones: ver lámina siguiente de sensibilidad. Tipo impositivo 25 % uniforme.</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10896"/>
            <a:ext cx="11091672" cy="658368"/>
          </a:xfrm>
          <a:prstGeom prst="rect">
            <a:avLst/>
          </a:prstGeom>
          <a:noFill/>
          <a:ln/>
        </p:spPr>
        <p:txBody>
          <a:bodyPr wrap="square" lIns="0" tIns="0" rIns="0" bIns="0" rtlCol="0" anchor="ctr"/>
          <a:lstStyle/>
          <a:p>
            <a:pPr indent="0" marL="0">
              <a:buNone/>
            </a:pPr>
            <a:r>
              <a:rPr lang="en-US" sz="3000" b="1" dirty="0">
                <a:solidFill>
                  <a:srgbClr val="1C3F4E"/>
                </a:solidFill>
                <a:latin typeface="Cambria" pitchFamily="34" charset="0"/>
                <a:ea typeface="Cambria" pitchFamily="34" charset="-122"/>
                <a:cs typeface="Cambria" pitchFamily="34" charset="-120"/>
              </a:rPr>
              <a:t>Sensibilidad al supuesto de comisiones</a:t>
            </a:r>
            <a:endParaRPr lang="en-US" sz="3000" dirty="0"/>
          </a:p>
        </p:txBody>
      </p:sp>
      <p:sp>
        <p:nvSpPr>
          <p:cNvPr id="3" name="Text 1"/>
          <p:cNvSpPr txBox="1"/>
          <p:nvPr/>
        </p:nvSpPr>
        <p:spPr>
          <a:xfrm>
            <a:off x="548640" y="932688"/>
            <a:ext cx="11091672" cy="384048"/>
          </a:xfrm>
          <a:prstGeom prst="rect">
            <a:avLst/>
          </a:prstGeom>
          <a:noFill/>
          <a:ln/>
        </p:spPr>
        <p:txBody>
          <a:bodyPr wrap="square" lIns="0" tIns="0" rIns="0" bIns="0" rtlCol="0" anchor="ctr"/>
          <a:lstStyle/>
          <a:p>
            <a:pPr indent="0" marL="0">
              <a:buNone/>
            </a:pPr>
            <a:r>
              <a:rPr lang="en-US" sz="1300" dirty="0">
                <a:solidFill>
                  <a:srgbClr val="6E7F88"/>
                </a:solidFill>
                <a:latin typeface="Calibri" pitchFamily="34" charset="0"/>
                <a:ea typeface="Calibri" pitchFamily="34" charset="-122"/>
                <a:cs typeface="Calibri" pitchFamily="34" charset="-120"/>
              </a:rPr>
              <a:t>Cuánto depende el ROE de la cuña que se asuma · Solo la columna de 87 pb está observada, y solo para España</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2468880"/>
                <a:gridCol w="1440180"/>
                <a:gridCol w="1440180"/>
                <a:gridCol w="1440180"/>
                <a:gridCol w="1440180"/>
                <a:gridCol w="1440180"/>
                <a:gridCol w="1440180"/>
              </a:tblGrid>
              <a:tr h="420624">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País</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0 pb</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25 pb</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50 pb</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87 pb</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C97B3C"/>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100 pb</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150 pb</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r>
              <a:tr h="420624">
                <a:tc>
                  <a:txBody>
                    <a:bodyPr/>
                    <a:lstStyle/>
                    <a:p>
                      <a:pPr algn="l" indent="0" marL="0">
                        <a:buNone/>
                      </a:pPr>
                      <a:r>
                        <a:rPr lang="en-US" sz="1100" b="1" dirty="0">
                          <a:solidFill>
                            <a:srgbClr val="2B3A42"/>
                          </a:solidFill>
                          <a:latin typeface="Calibri" pitchFamily="34" charset="0"/>
                          <a:ea typeface="Calibri" pitchFamily="34" charset="-122"/>
                          <a:cs typeface="Calibri" pitchFamily="34" charset="-120"/>
                        </a:rPr>
                        <a:t>España</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0.8 %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2.2 %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3.5 %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b="1" dirty="0">
                          <a:solidFill>
                            <a:srgbClr val="8A5A2B"/>
                          </a:solidFill>
                          <a:latin typeface="Calibri" pitchFamily="34" charset="0"/>
                          <a:ea typeface="Calibri" pitchFamily="34" charset="-122"/>
                          <a:cs typeface="Calibri" pitchFamily="34" charset="-120"/>
                        </a:rPr>
                        <a:t>5.5 %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7EDE4"/>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6.2 %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8.8 %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420624">
                <a:tc>
                  <a:txBody>
                    <a:bodyPr/>
                    <a:lstStyle/>
                    <a:p>
                      <a:pPr algn="l" indent="0" marL="0">
                        <a:buNone/>
                      </a:pPr>
                      <a:r>
                        <a:rPr lang="en-US" sz="1100" b="1" dirty="0">
                          <a:solidFill>
                            <a:srgbClr val="2B3A42"/>
                          </a:solidFill>
                          <a:latin typeface="Calibri" pitchFamily="34" charset="0"/>
                          <a:ea typeface="Calibri" pitchFamily="34" charset="-122"/>
                          <a:cs typeface="Calibri" pitchFamily="34" charset="-120"/>
                        </a:rPr>
                        <a:t>Alemania</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7.2 %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8.6 %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10.0 %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b="1" dirty="0">
                          <a:solidFill>
                            <a:srgbClr val="8A5A2B"/>
                          </a:solidFill>
                          <a:latin typeface="Calibri" pitchFamily="34" charset="0"/>
                          <a:ea typeface="Calibri" pitchFamily="34" charset="-122"/>
                          <a:cs typeface="Calibri" pitchFamily="34" charset="-120"/>
                        </a:rPr>
                        <a:t>12.1 %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7EDE4"/>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12.8 %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15.6 %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420624">
                <a:tc>
                  <a:txBody>
                    <a:bodyPr/>
                    <a:lstStyle/>
                    <a:p>
                      <a:pPr algn="l" indent="0" marL="0">
                        <a:buNone/>
                      </a:pPr>
                      <a:r>
                        <a:rPr lang="en-US" sz="1100" b="1" dirty="0">
                          <a:solidFill>
                            <a:srgbClr val="2B3A42"/>
                          </a:solidFill>
                          <a:latin typeface="Calibri" pitchFamily="34" charset="0"/>
                          <a:ea typeface="Calibri" pitchFamily="34" charset="-122"/>
                          <a:cs typeface="Calibri" pitchFamily="34" charset="-120"/>
                        </a:rPr>
                        <a:t>Francia</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-1.6 %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-0.7 %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0.3 %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b="1" dirty="0">
                          <a:solidFill>
                            <a:srgbClr val="8A5A2B"/>
                          </a:solidFill>
                          <a:latin typeface="Calibri" pitchFamily="34" charset="0"/>
                          <a:ea typeface="Calibri" pitchFamily="34" charset="-122"/>
                          <a:cs typeface="Calibri" pitchFamily="34" charset="-120"/>
                        </a:rPr>
                        <a:t>1.6 %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7EDE4"/>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2.1 %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4.0 %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420624">
                <a:tc>
                  <a:txBody>
                    <a:bodyPr/>
                    <a:lstStyle/>
                    <a:p>
                      <a:pPr algn="l" indent="0" marL="0">
                        <a:buNone/>
                      </a:pPr>
                      <a:r>
                        <a:rPr lang="en-US" sz="1100" b="1" dirty="0">
                          <a:solidFill>
                            <a:srgbClr val="2B3A42"/>
                          </a:solidFill>
                          <a:latin typeface="Calibri" pitchFamily="34" charset="0"/>
                          <a:ea typeface="Calibri" pitchFamily="34" charset="-122"/>
                          <a:cs typeface="Calibri" pitchFamily="34" charset="-120"/>
                        </a:rPr>
                        <a:t>Italia</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2.8 %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4.2 %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5.6 %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b="1" dirty="0">
                          <a:solidFill>
                            <a:srgbClr val="8A5A2B"/>
                          </a:solidFill>
                          <a:latin typeface="Calibri" pitchFamily="34" charset="0"/>
                          <a:ea typeface="Calibri" pitchFamily="34" charset="-122"/>
                          <a:cs typeface="Calibri" pitchFamily="34" charset="-120"/>
                        </a:rPr>
                        <a:t>7.6 %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7EDE4"/>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8.3 %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11.1 %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420624">
                <a:tc>
                  <a:txBody>
                    <a:bodyPr/>
                    <a:lstStyle/>
                    <a:p>
                      <a:pPr algn="l" indent="0" marL="0">
                        <a:buNone/>
                      </a:pPr>
                      <a:r>
                        <a:rPr lang="en-US" sz="1100" b="1" dirty="0">
                          <a:solidFill>
                            <a:srgbClr val="2B3A42"/>
                          </a:solidFill>
                          <a:latin typeface="Calibri" pitchFamily="34" charset="0"/>
                          <a:ea typeface="Calibri" pitchFamily="34" charset="-122"/>
                          <a:cs typeface="Calibri" pitchFamily="34" charset="-120"/>
                        </a:rPr>
                        <a:t>Portugal</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4.2 %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5.3 %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6.4 %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b="1" dirty="0">
                          <a:solidFill>
                            <a:srgbClr val="8A5A2B"/>
                          </a:solidFill>
                          <a:latin typeface="Calibri" pitchFamily="34" charset="0"/>
                          <a:ea typeface="Calibri" pitchFamily="34" charset="-122"/>
                          <a:cs typeface="Calibri" pitchFamily="34" charset="-120"/>
                        </a:rPr>
                        <a:t>8.1 %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7EDE4"/>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8.7 %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10.9 %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420624">
                <a:tc>
                  <a:txBody>
                    <a:bodyPr/>
                    <a:lstStyle/>
                    <a:p>
                      <a:pPr algn="l" indent="0" marL="0">
                        <a:buNone/>
                      </a:pPr>
                      <a:r>
                        <a:rPr lang="en-US" sz="1100" b="1" dirty="0">
                          <a:solidFill>
                            <a:srgbClr val="2B3A42"/>
                          </a:solidFill>
                          <a:latin typeface="Calibri" pitchFamily="34" charset="0"/>
                          <a:ea typeface="Calibri" pitchFamily="34" charset="-122"/>
                          <a:cs typeface="Calibri" pitchFamily="34" charset="-120"/>
                        </a:rPr>
                        <a:t>P. Bajos</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8.7 %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10.1 %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11.6 %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b="1" dirty="0">
                          <a:solidFill>
                            <a:srgbClr val="8A5A2B"/>
                          </a:solidFill>
                          <a:latin typeface="Calibri" pitchFamily="34" charset="0"/>
                          <a:ea typeface="Calibri" pitchFamily="34" charset="-122"/>
                          <a:cs typeface="Calibri" pitchFamily="34" charset="-120"/>
                        </a:rPr>
                        <a:t>13.7 %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7EDE4"/>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14.4 %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17.3 %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bl>
          </a:graphicData>
        </a:graphic>
      </p:graphicFrame>
      <p:sp>
        <p:nvSpPr>
          <p:cNvPr id="5" name="Shape 2"/>
          <p:cNvSpPr/>
          <p:nvPr/>
        </p:nvSpPr>
        <p:spPr>
          <a:xfrm>
            <a:off x="548640" y="4572000"/>
            <a:ext cx="11091672" cy="1417320"/>
          </a:xfrm>
          <a:prstGeom prst="roundRect">
            <a:avLst>
              <a:gd name="adj" fmla="val 3871"/>
            </a:avLst>
          </a:prstGeom>
          <a:solidFill>
            <a:srgbClr val="F7EDE4"/>
          </a:solidFill>
          <a:ln w="12700">
            <a:solidFill>
              <a:srgbClr val="C97B3C"/>
            </a:solidFill>
            <a:prstDash val="solid"/>
          </a:ln>
        </p:spPr>
      </p:sp>
      <p:sp>
        <p:nvSpPr>
          <p:cNvPr id="6" name="Text 3"/>
          <p:cNvSpPr txBox="1"/>
          <p:nvPr/>
        </p:nvSpPr>
        <p:spPr>
          <a:xfrm>
            <a:off x="777240" y="4709160"/>
            <a:ext cx="10789920" cy="292608"/>
          </a:xfrm>
          <a:prstGeom prst="rect">
            <a:avLst/>
          </a:prstGeom>
          <a:noFill/>
          <a:ln/>
        </p:spPr>
        <p:txBody>
          <a:bodyPr wrap="square" lIns="0" tIns="0" rIns="0" bIns="0" rtlCol="0" anchor="ctr"/>
          <a:lstStyle/>
          <a:p>
            <a:pPr indent="0" marL="0">
              <a:buNone/>
            </a:pPr>
            <a:r>
              <a:rPr lang="en-US" sz="1400" b="1" dirty="0">
                <a:solidFill>
                  <a:srgbClr val="C97B3C"/>
                </a:solidFill>
                <a:latin typeface="Cambria" pitchFamily="34" charset="0"/>
                <a:ea typeface="Cambria" pitchFamily="34" charset="-122"/>
                <a:cs typeface="Cambria" pitchFamily="34" charset="-120"/>
              </a:rPr>
              <a:t>Lo que el supuesto cambia y lo que no</a:t>
            </a:r>
            <a:endParaRPr lang="en-US" sz="1400" dirty="0"/>
          </a:p>
        </p:txBody>
      </p:sp>
      <p:sp>
        <p:nvSpPr>
          <p:cNvPr id="7" name="Text 4"/>
          <p:cNvSpPr txBox="1"/>
          <p:nvPr/>
        </p:nvSpPr>
        <p:spPr>
          <a:xfrm>
            <a:off x="777240" y="5029200"/>
            <a:ext cx="10789920" cy="822960"/>
          </a:xfrm>
          <a:prstGeom prst="rect">
            <a:avLst/>
          </a:prstGeom>
          <a:noFill/>
          <a:ln/>
        </p:spPr>
        <p:txBody>
          <a:bodyPr wrap="square" lIns="0" tIns="0" rIns="0" bIns="0" rtlCol="0" anchor="ctr"/>
          <a:lstStyle/>
          <a:p>
            <a:pPr indent="0" marL="0">
              <a:buNone/>
            </a:pPr>
            <a:r>
              <a:rPr lang="en-US" sz="1150" dirty="0">
                <a:solidFill>
                  <a:srgbClr val="2B3A42"/>
                </a:solidFill>
                <a:latin typeface="Calibri" pitchFamily="34" charset="0"/>
                <a:ea typeface="Calibri" pitchFamily="34" charset="-122"/>
                <a:cs typeface="Calibri" pitchFamily="34" charset="-120"/>
              </a:rPr>
              <a:t>El nivel del ROE se mueve mucho: España pasa del 3,5 % al 11,8 % según se asuma cero o 150 pb de comisión. El ordenamiento se mueve menos: Francia es último en todos los escenarios e Italia, Portugal y Países Bajos encabezan en todos. Lo que sí cambia es la posición relativa de España, que sube conforme se asume más comisión — y es el único país donde sabemos que la comisión es alta.</a:t>
            </a:r>
            <a:endParaRPr lang="en-US" sz="1150" dirty="0"/>
          </a:p>
        </p:txBody>
      </p:sp>
      <p:sp>
        <p:nvSpPr>
          <p:cNvPr id="8" name="Text 5"/>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6E7F88"/>
                </a:solidFill>
                <a:latin typeface="Calibri" pitchFamily="34" charset="0"/>
                <a:ea typeface="Calibri" pitchFamily="34" charset="-122"/>
                <a:cs typeface="Calibri" pitchFamily="34" charset="-120"/>
              </a:rPr>
              <a:t>87 pb es la cuña observada en España (TAE − TEDR, tramo ≤1 M€, media 2026, Banco de España). Para los otros cinco países no existe dato equivalente.</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10896"/>
            <a:ext cx="11091672" cy="658368"/>
          </a:xfrm>
          <a:prstGeom prst="rect">
            <a:avLst/>
          </a:prstGeom>
          <a:noFill/>
          <a:ln/>
        </p:spPr>
        <p:txBody>
          <a:bodyPr wrap="square" lIns="0" tIns="0" rIns="0" bIns="0" rtlCol="0" anchor="ctr"/>
          <a:lstStyle/>
          <a:p>
            <a:pPr indent="0" marL="0">
              <a:buNone/>
            </a:pPr>
            <a:r>
              <a:rPr lang="en-US" sz="3000" b="1" dirty="0">
                <a:solidFill>
                  <a:srgbClr val="1C3F4E"/>
                </a:solidFill>
                <a:latin typeface="Cambria" pitchFamily="34" charset="0"/>
                <a:ea typeface="Cambria" pitchFamily="34" charset="-122"/>
                <a:cs typeface="Cambria" pitchFamily="34" charset="-120"/>
              </a:rPr>
              <a:t>Coste de los recursos: la liquidez de empresas</a:t>
            </a:r>
            <a:endParaRPr lang="en-US" sz="3000" dirty="0"/>
          </a:p>
        </p:txBody>
      </p:sp>
      <p:sp>
        <p:nvSpPr>
          <p:cNvPr id="3" name="Text 1"/>
          <p:cNvSpPr txBox="1"/>
          <p:nvPr/>
        </p:nvSpPr>
        <p:spPr>
          <a:xfrm>
            <a:off x="548640" y="932688"/>
            <a:ext cx="11091672" cy="384048"/>
          </a:xfrm>
          <a:prstGeom prst="rect">
            <a:avLst/>
          </a:prstGeom>
          <a:noFill/>
          <a:ln/>
        </p:spPr>
        <p:txBody>
          <a:bodyPr wrap="square" lIns="0" tIns="0" rIns="0" bIns="0" rtlCol="0" anchor="ctr"/>
          <a:lstStyle/>
          <a:p>
            <a:pPr indent="0" marL="0">
              <a:buNone/>
            </a:pPr>
            <a:r>
              <a:rPr lang="en-US" sz="1300" dirty="0">
                <a:solidFill>
                  <a:srgbClr val="6E7F88"/>
                </a:solidFill>
                <a:latin typeface="Calibri" pitchFamily="34" charset="0"/>
                <a:ea typeface="Calibri" pitchFamily="34" charset="-122"/>
                <a:cs typeface="Calibri" pitchFamily="34" charset="-120"/>
              </a:rPr>
              <a:t>Lo que el banco paga por el depósito frente a lo que obtiene en la facilidad del BCE (2,09 %) · Media 2026</a:t>
            </a:r>
            <a:endParaRPr lang="en-US" sz="1300" dirty="0"/>
          </a:p>
        </p:txBody>
      </p:sp>
      <p:graphicFrame>
        <p:nvGraphicFramePr>
          <p:cNvPr id="4" name="Chart 0" descr=""/>
          <p:cNvGraphicFramePr/>
          <p:nvPr/>
        </p:nvGraphicFramePr>
        <p:xfrm>
          <a:off x="548640" y="1691640"/>
          <a:ext cx="6858000" cy="35661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680960" y="1691640"/>
            <a:ext cx="3959352" cy="3566160"/>
          </a:xfrm>
          <a:prstGeom prst="roundRect">
            <a:avLst>
              <a:gd name="adj" fmla="val 1538"/>
            </a:avLst>
          </a:prstGeom>
          <a:solidFill>
            <a:srgbClr val="EEF2F3"/>
          </a:solidFill>
          <a:ln w="12700">
            <a:solidFill>
              <a:srgbClr val="DCE4E7"/>
            </a:solidFill>
            <a:prstDash val="solid"/>
          </a:ln>
        </p:spPr>
      </p:sp>
      <p:sp>
        <p:nvSpPr>
          <p:cNvPr id="6" name="Text 3"/>
          <p:cNvSpPr txBox="1"/>
          <p:nvPr/>
        </p:nvSpPr>
        <p:spPr>
          <a:xfrm>
            <a:off x="7863840" y="1828800"/>
            <a:ext cx="3611880" cy="548640"/>
          </a:xfrm>
          <a:prstGeom prst="rect">
            <a:avLst/>
          </a:prstGeom>
          <a:noFill/>
          <a:ln/>
        </p:spPr>
        <p:txBody>
          <a:bodyPr wrap="square" lIns="0" tIns="0" rIns="0" bIns="0" rtlCol="0" anchor="ctr"/>
          <a:lstStyle/>
          <a:p>
            <a:pPr indent="0" marL="0">
              <a:buNone/>
            </a:pPr>
            <a:r>
              <a:rPr lang="en-US" sz="1400" b="1" dirty="0">
                <a:solidFill>
                  <a:srgbClr val="1C3F4E"/>
                </a:solidFill>
                <a:latin typeface="Cambria" pitchFamily="34" charset="0"/>
                <a:ea typeface="Cambria" pitchFamily="34" charset="-122"/>
                <a:cs typeface="Cambria" pitchFamily="34" charset="-120"/>
              </a:rPr>
              <a:t>Portugal capta la liquidez más barata</a:t>
            </a:r>
            <a:endParaRPr lang="en-US" sz="1400" dirty="0"/>
          </a:p>
        </p:txBody>
      </p:sp>
      <p:sp>
        <p:nvSpPr>
          <p:cNvPr id="7" name="Text 4"/>
          <p:cNvSpPr txBox="1"/>
          <p:nvPr/>
        </p:nvSpPr>
        <p:spPr>
          <a:xfrm>
            <a:off x="7863840" y="2423160"/>
            <a:ext cx="3611880" cy="2651760"/>
          </a:xfrm>
          <a:prstGeom prst="rect">
            <a:avLst/>
          </a:prstGeom>
          <a:noFill/>
          <a:ln/>
        </p:spPr>
        <p:txBody>
          <a:bodyPr wrap="square" lIns="0" tIns="0" rIns="0" bIns="0" rtlCol="0" anchor="ctr"/>
          <a:lstStyle/>
          <a:p>
            <a:pPr indent="0" marL="0">
              <a:buNone/>
            </a:pPr>
            <a:r>
              <a:rPr lang="en-US" sz="1150" dirty="0">
                <a:solidFill>
                  <a:srgbClr val="2B3A42"/>
                </a:solidFill>
                <a:latin typeface="Calibri" pitchFamily="34" charset="0"/>
                <a:ea typeface="Calibri" pitchFamily="34" charset="-122"/>
                <a:cs typeface="Calibri" pitchFamily="34" charset="-120"/>
              </a:rPr>
              <a:t>Paga un 0,07 % por el depósito a la vista de empresas y puede colocarlo al 2,09 % en el BCE: 202 pb de margen sin riesgo ni consumo de capital.</a:t>
            </a:r>
            <a:endParaRPr lang="en-US" sz="1150" dirty="0"/>
          </a:p>
          <a:p>
            <a:pPr indent="0" marL="0">
              <a:buNone/>
            </a:pPr>
            <a:endParaRPr lang="en-US" sz="1150" dirty="0"/>
          </a:p>
          <a:p>
            <a:pPr indent="0" marL="0">
              <a:buNone/>
            </a:pPr>
            <a:r>
              <a:rPr lang="en-US" sz="1150" dirty="0">
                <a:solidFill>
                  <a:srgbClr val="2B3A42"/>
                </a:solidFill>
                <a:latin typeface="Calibri" pitchFamily="34" charset="0"/>
                <a:ea typeface="Calibri" pitchFamily="34" charset="-122"/>
                <a:cs typeface="Calibri" pitchFamily="34" charset="-120"/>
              </a:rPr>
              <a:t>Países Bajos es el extremo opuesto, con 124 pb, porque paga un 0,85 %.</a:t>
            </a:r>
            <a:endParaRPr lang="en-US" sz="1150" dirty="0"/>
          </a:p>
          <a:p>
            <a:pPr indent="0" marL="0">
              <a:buNone/>
            </a:pPr>
            <a:endParaRPr lang="en-US" sz="1150" dirty="0"/>
          </a:p>
          <a:p>
            <a:pPr indent="0" marL="0">
              <a:buNone/>
            </a:pPr>
            <a:r>
              <a:rPr lang="en-US" sz="1150" dirty="0">
                <a:solidFill>
                  <a:srgbClr val="2B3A42"/>
                </a:solidFill>
                <a:latin typeface="Calibri" pitchFamily="34" charset="0"/>
                <a:ea typeface="Calibri" pitchFamily="34" charset="-122"/>
                <a:cs typeface="Calibri" pitchFamily="34" charset="-120"/>
              </a:rPr>
              <a:t>Este margen no depende del crédito y por eso se modela aparte de la cuenta del préstamo.</a:t>
            </a:r>
            <a:endParaRPr lang="en-US" sz="1150" dirty="0"/>
          </a:p>
        </p:txBody>
      </p:sp>
      <p:sp>
        <p:nvSpPr>
          <p:cNvPr id="8" name="Text 5"/>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6E7F88"/>
                </a:solidFill>
                <a:latin typeface="Calibri" pitchFamily="34" charset="0"/>
                <a:ea typeface="Calibri" pitchFamily="34" charset="-122"/>
                <a:cs typeface="Calibri" pitchFamily="34" charset="-120"/>
              </a:rPr>
              <a:t>Fuente: BCE, datasets MIR (tipos de depósito de sociedades no financieras) y FM (facilidad de depósito). El margen mostrado es sobre depósito a la vista; el depósito a plazo se remunera entre el 1,77 % y el 2,58 % según país.</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10896"/>
            <a:ext cx="11091672" cy="658368"/>
          </a:xfrm>
          <a:prstGeom prst="rect">
            <a:avLst/>
          </a:prstGeom>
          <a:noFill/>
          <a:ln/>
        </p:spPr>
        <p:txBody>
          <a:bodyPr wrap="square" lIns="0" tIns="0" rIns="0" bIns="0" rtlCol="0" anchor="ctr"/>
          <a:lstStyle/>
          <a:p>
            <a:pPr indent="0" marL="0">
              <a:buNone/>
            </a:pPr>
            <a:r>
              <a:rPr lang="en-US" sz="3000" b="1" dirty="0">
                <a:solidFill>
                  <a:srgbClr val="1C3F4E"/>
                </a:solidFill>
                <a:latin typeface="Cambria" pitchFamily="34" charset="0"/>
                <a:ea typeface="Cambria" pitchFamily="34" charset="-122"/>
                <a:cs typeface="Cambria" pitchFamily="34" charset="-120"/>
              </a:rPr>
              <a:t>Coste del riesgo por segmento</a:t>
            </a:r>
            <a:endParaRPr lang="en-US" sz="3000" dirty="0"/>
          </a:p>
        </p:txBody>
      </p:sp>
      <p:sp>
        <p:nvSpPr>
          <p:cNvPr id="3" name="Text 1"/>
          <p:cNvSpPr txBox="1"/>
          <p:nvPr/>
        </p:nvSpPr>
        <p:spPr>
          <a:xfrm>
            <a:off x="548640" y="932688"/>
            <a:ext cx="11091672" cy="384048"/>
          </a:xfrm>
          <a:prstGeom prst="rect">
            <a:avLst/>
          </a:prstGeom>
          <a:noFill/>
          <a:ln/>
        </p:spPr>
        <p:txBody>
          <a:bodyPr wrap="square" lIns="0" tIns="0" rIns="0" bIns="0" rtlCol="0" anchor="ctr"/>
          <a:lstStyle/>
          <a:p>
            <a:pPr indent="0" marL="0">
              <a:buNone/>
            </a:pPr>
            <a:r>
              <a:rPr lang="en-US" sz="1300" dirty="0">
                <a:solidFill>
                  <a:srgbClr val="6E7F88"/>
                </a:solidFill>
                <a:latin typeface="Calibri" pitchFamily="34" charset="0"/>
                <a:ea typeface="Calibri" pitchFamily="34" charset="-122"/>
                <a:cs typeface="Calibri" pitchFamily="34" charset="-120"/>
              </a:rPr>
              <a:t>La PYME es el peor segmento en los seis países · Ratio de NPL · 2026-Q1 · Muestra de bancos del EBA</a:t>
            </a:r>
            <a:endParaRPr lang="en-US" sz="1300" dirty="0"/>
          </a:p>
        </p:txBody>
      </p:sp>
      <p:graphicFrame>
        <p:nvGraphicFramePr>
          <p:cNvPr id="4" name="Chart 0" descr=""/>
          <p:cNvGraphicFramePr/>
          <p:nvPr/>
        </p:nvGraphicFramePr>
        <p:xfrm>
          <a:off x="548640" y="1645920"/>
          <a:ext cx="7315200" cy="37490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092440" y="1645920"/>
            <a:ext cx="3547872" cy="3749040"/>
          </a:xfrm>
          <a:prstGeom prst="roundRect">
            <a:avLst>
              <a:gd name="adj" fmla="val 1546"/>
            </a:avLst>
          </a:prstGeom>
          <a:solidFill>
            <a:srgbClr val="FBEDEB"/>
          </a:solidFill>
          <a:ln w="12700">
            <a:solidFill>
              <a:srgbClr val="B04A3F"/>
            </a:solidFill>
            <a:prstDash val="solid"/>
          </a:ln>
        </p:spPr>
      </p:sp>
      <p:sp>
        <p:nvSpPr>
          <p:cNvPr id="6" name="Text 3"/>
          <p:cNvSpPr txBox="1"/>
          <p:nvPr/>
        </p:nvSpPr>
        <p:spPr>
          <a:xfrm>
            <a:off x="8275320" y="1783080"/>
            <a:ext cx="3200400" cy="292608"/>
          </a:xfrm>
          <a:prstGeom prst="rect">
            <a:avLst/>
          </a:prstGeom>
          <a:noFill/>
          <a:ln/>
        </p:spPr>
        <p:txBody>
          <a:bodyPr wrap="square" lIns="0" tIns="0" rIns="0" bIns="0" rtlCol="0" anchor="ctr"/>
          <a:lstStyle/>
          <a:p>
            <a:pPr indent="0" marL="0">
              <a:buNone/>
            </a:pPr>
            <a:r>
              <a:rPr lang="en-US" sz="1400" b="1" dirty="0">
                <a:solidFill>
                  <a:srgbClr val="B04A3F"/>
                </a:solidFill>
                <a:latin typeface="Cambria" pitchFamily="34" charset="0"/>
                <a:ea typeface="Cambria" pitchFamily="34" charset="-122"/>
                <a:cs typeface="Cambria" pitchFamily="34" charset="-120"/>
              </a:rPr>
              <a:t>Prima de riesgo PYME</a:t>
            </a:r>
            <a:endParaRPr lang="en-US" sz="1400" dirty="0"/>
          </a:p>
        </p:txBody>
      </p:sp>
      <p:sp>
        <p:nvSpPr>
          <p:cNvPr id="7" name="Text 4"/>
          <p:cNvSpPr txBox="1"/>
          <p:nvPr/>
        </p:nvSpPr>
        <p:spPr>
          <a:xfrm>
            <a:off x="8275320" y="2194560"/>
            <a:ext cx="3200400" cy="3017520"/>
          </a:xfrm>
          <a:prstGeom prst="rect">
            <a:avLst/>
          </a:prstGeom>
          <a:noFill/>
          <a:ln/>
        </p:spPr>
        <p:txBody>
          <a:bodyPr wrap="square" lIns="0" tIns="0" rIns="0" bIns="0" rtlCol="0" anchor="ctr"/>
          <a:lstStyle/>
          <a:p>
            <a:pPr indent="0" marL="0">
              <a:buNone/>
            </a:pPr>
            <a:r>
              <a:rPr lang="en-US" sz="1100" dirty="0">
                <a:solidFill>
                  <a:srgbClr val="2B3A42"/>
                </a:solidFill>
                <a:latin typeface="Calibri" pitchFamily="34" charset="0"/>
                <a:ea typeface="Calibri" pitchFamily="34" charset="-122"/>
                <a:cs typeface="Calibri" pitchFamily="34" charset="-120"/>
              </a:rPr>
              <a:t>Diferencia entre el NPL de PYME y el de empresas, en puntos:</a:t>
            </a:r>
            <a:endParaRPr lang="en-US" sz="1100" dirty="0"/>
          </a:p>
          <a:p>
            <a:pPr indent="0" marL="0">
              <a:buNone/>
            </a:pPr>
            <a:endParaRPr lang="en-US" sz="1100" dirty="0"/>
          </a:p>
          <a:p>
            <a:pPr indent="0" marL="0">
              <a:buNone/>
            </a:pPr>
            <a:r>
              <a:rPr lang="en-US" sz="1100" dirty="0">
                <a:solidFill>
                  <a:srgbClr val="2B3A42"/>
                </a:solidFill>
                <a:latin typeface="Calibri" pitchFamily="34" charset="0"/>
                <a:ea typeface="Calibri" pitchFamily="34" charset="-122"/>
                <a:cs typeface="Calibri" pitchFamily="34" charset="-120"/>
              </a:rPr>
              <a:t>España  +2,39</a:t>
            </a:r>
            <a:endParaRPr lang="en-US" sz="1100" dirty="0"/>
          </a:p>
          <a:p>
            <a:pPr indent="0" marL="0">
              <a:buNone/>
            </a:pPr>
            <a:r>
              <a:rPr lang="en-US" sz="1100" dirty="0">
                <a:solidFill>
                  <a:srgbClr val="2B3A42"/>
                </a:solidFill>
                <a:latin typeface="Calibri" pitchFamily="34" charset="0"/>
                <a:ea typeface="Calibri" pitchFamily="34" charset="-122"/>
                <a:cs typeface="Calibri" pitchFamily="34" charset="-120"/>
              </a:rPr>
              <a:t>Italia  +1,50</a:t>
            </a:r>
            <a:endParaRPr lang="en-US" sz="1100" dirty="0"/>
          </a:p>
          <a:p>
            <a:pPr indent="0" marL="0">
              <a:buNone/>
            </a:pPr>
            <a:r>
              <a:rPr lang="en-US" sz="1100" dirty="0">
                <a:solidFill>
                  <a:srgbClr val="2B3A42"/>
                </a:solidFill>
                <a:latin typeface="Calibri" pitchFamily="34" charset="0"/>
                <a:ea typeface="Calibri" pitchFamily="34" charset="-122"/>
                <a:cs typeface="Calibri" pitchFamily="34" charset="-120"/>
              </a:rPr>
              <a:t>Francia  +1,19</a:t>
            </a:r>
            <a:endParaRPr lang="en-US" sz="1100" dirty="0"/>
          </a:p>
          <a:p>
            <a:pPr indent="0" marL="0">
              <a:buNone/>
            </a:pPr>
            <a:r>
              <a:rPr lang="en-US" sz="1100" dirty="0">
                <a:solidFill>
                  <a:srgbClr val="2B3A42"/>
                </a:solidFill>
                <a:latin typeface="Calibri" pitchFamily="34" charset="0"/>
                <a:ea typeface="Calibri" pitchFamily="34" charset="-122"/>
                <a:cs typeface="Calibri" pitchFamily="34" charset="-120"/>
              </a:rPr>
              <a:t>Portugal  +0,58</a:t>
            </a:r>
            <a:endParaRPr lang="en-US" sz="1100" dirty="0"/>
          </a:p>
          <a:p>
            <a:pPr indent="0" marL="0">
              <a:buNone/>
            </a:pPr>
            <a:r>
              <a:rPr lang="en-US" sz="1100" dirty="0">
                <a:solidFill>
                  <a:srgbClr val="2B3A42"/>
                </a:solidFill>
                <a:latin typeface="Calibri" pitchFamily="34" charset="0"/>
                <a:ea typeface="Calibri" pitchFamily="34" charset="-122"/>
                <a:cs typeface="Calibri" pitchFamily="34" charset="-120"/>
              </a:rPr>
              <a:t>Alemania  +0,51</a:t>
            </a:r>
            <a:endParaRPr lang="en-US" sz="1100" dirty="0"/>
          </a:p>
          <a:p>
            <a:pPr indent="0" marL="0">
              <a:buNone/>
            </a:pPr>
            <a:r>
              <a:rPr lang="en-US" sz="1100" dirty="0">
                <a:solidFill>
                  <a:srgbClr val="2B3A42"/>
                </a:solidFill>
                <a:latin typeface="Calibri" pitchFamily="34" charset="0"/>
                <a:ea typeface="Calibri" pitchFamily="34" charset="-122"/>
                <a:cs typeface="Calibri" pitchFamily="34" charset="-120"/>
              </a:rPr>
              <a:t>P. Bajos  +0,27</a:t>
            </a:r>
            <a:endParaRPr lang="en-US" sz="1100" dirty="0"/>
          </a:p>
          <a:p>
            <a:pPr indent="0" marL="0">
              <a:buNone/>
            </a:pPr>
            <a:endParaRPr lang="en-US" sz="1100" dirty="0"/>
          </a:p>
          <a:p>
            <a:pPr indent="0" marL="0">
              <a:buNone/>
            </a:pPr>
            <a:r>
              <a:rPr lang="en-US" sz="1100" dirty="0">
                <a:solidFill>
                  <a:srgbClr val="2B3A42"/>
                </a:solidFill>
                <a:latin typeface="Calibri" pitchFamily="34" charset="0"/>
                <a:ea typeface="Calibri" pitchFamily="34" charset="-122"/>
                <a:cs typeface="Calibri" pitchFamily="34" charset="-120"/>
              </a:rPr>
              <a:t>España tiene el peor NPL de PYME de los seis (5,38 %) y a la vez el spread de precio más estrecho.</a:t>
            </a:r>
            <a:endParaRPr lang="en-US" sz="1100" dirty="0"/>
          </a:p>
        </p:txBody>
      </p:sp>
      <p:sp>
        <p:nvSpPr>
          <p:cNvPr id="8" name="Text 5"/>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6E7F88"/>
                </a:solidFill>
                <a:latin typeface="Calibri" pitchFamily="34" charset="0"/>
                <a:ea typeface="Calibri" pitchFamily="34" charset="-122"/>
                <a:cs typeface="Calibri" pitchFamily="34" charset="-120"/>
              </a:rPr>
              <a:t>Fuente: EBA Risk Dashboard, anexo de datos Q1 2026, desgloses «of which SMEs» y «of which CRE». Es la muestra de bancos del EBA, no el sistema completo.</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10896"/>
            <a:ext cx="11091672" cy="658368"/>
          </a:xfrm>
          <a:prstGeom prst="rect">
            <a:avLst/>
          </a:prstGeom>
          <a:noFill/>
          <a:ln/>
        </p:spPr>
        <p:txBody>
          <a:bodyPr wrap="square" lIns="0" tIns="0" rIns="0" bIns="0" rtlCol="0" anchor="ctr"/>
          <a:lstStyle/>
          <a:p>
            <a:pPr indent="0" marL="0">
              <a:buNone/>
            </a:pPr>
            <a:r>
              <a:rPr lang="en-US" sz="3000" b="1" dirty="0">
                <a:solidFill>
                  <a:srgbClr val="1C3F4E"/>
                </a:solidFill>
                <a:latin typeface="Cambria" pitchFamily="34" charset="0"/>
                <a:ea typeface="Cambria" pitchFamily="34" charset="-122"/>
                <a:cs typeface="Cambria" pitchFamily="34" charset="-120"/>
              </a:rPr>
              <a:t>Coste del riesgo: PD × LGD de la cartera PYME</a:t>
            </a:r>
            <a:endParaRPr lang="en-US" sz="3000" dirty="0"/>
          </a:p>
        </p:txBody>
      </p:sp>
      <p:sp>
        <p:nvSpPr>
          <p:cNvPr id="3" name="Text 1"/>
          <p:cNvSpPr txBox="1"/>
          <p:nvPr/>
        </p:nvSpPr>
        <p:spPr>
          <a:xfrm>
            <a:off x="548640" y="932688"/>
            <a:ext cx="11091672" cy="384048"/>
          </a:xfrm>
          <a:prstGeom prst="rect">
            <a:avLst/>
          </a:prstGeom>
          <a:noFill/>
          <a:ln/>
        </p:spPr>
        <p:txBody>
          <a:bodyPr wrap="square" lIns="0" tIns="0" rIns="0" bIns="0" rtlCol="0" anchor="ctr"/>
          <a:lstStyle/>
          <a:p>
            <a:pPr indent="0" marL="0">
              <a:buNone/>
            </a:pPr>
            <a:r>
              <a:rPr lang="en-US" sz="1300" dirty="0">
                <a:solidFill>
                  <a:srgbClr val="6E7F88"/>
                </a:solidFill>
                <a:latin typeface="Calibri" pitchFamily="34" charset="0"/>
                <a:ea typeface="Calibri" pitchFamily="34" charset="-122"/>
                <a:cs typeface="Calibri" pitchFamily="34" charset="-120"/>
              </a:rPr>
              <a:t>Parámetros IRB de la clase «Corporates – Of Which: SME» · Mediana de entidades declarantes · 2026-Q1</a:t>
            </a:r>
            <a:endParaRPr lang="en-US" sz="1300" dirty="0"/>
          </a:p>
        </p:txBody>
      </p:sp>
      <p:graphicFrame>
        <p:nvGraphicFramePr>
          <p:cNvPr id="4" name="Chart 0" descr=""/>
          <p:cNvGraphicFramePr/>
          <p:nvPr/>
        </p:nvGraphicFramePr>
        <p:xfrm>
          <a:off x="548640" y="1645920"/>
          <a:ext cx="6492240" cy="356616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7315200" y="1645920"/>
          <a:ext cx="4325112" cy="914400"/>
        </p:xfrm>
        <a:graphic>
          <a:graphicData uri="http://schemas.openxmlformats.org/drawingml/2006/table">
            <a:tbl>
              <a:tblPr/>
              <a:tblGrid>
                <a:gridCol w="1463040"/>
                <a:gridCol w="932688"/>
                <a:gridCol w="932688"/>
                <a:gridCol w="996696"/>
              </a:tblGrid>
              <a:tr h="384048">
                <a:tc>
                  <a:txBody>
                    <a:bodyPr/>
                    <a:lstStyle/>
                    <a:p>
                      <a:pPr algn="l" indent="0" marL="0">
                        <a:buNone/>
                      </a:pP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PD</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LGD</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PD × LGD</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r>
              <a:tr h="384048">
                <a:tc>
                  <a:txBody>
                    <a:bodyPr/>
                    <a:lstStyle/>
                    <a:p>
                      <a:pPr algn="l" indent="0" marL="0">
                        <a:buNone/>
                      </a:pPr>
                      <a:r>
                        <a:rPr lang="en-US" sz="1050" b="1" dirty="0">
                          <a:solidFill>
                            <a:srgbClr val="2B3A42"/>
                          </a:solidFill>
                          <a:latin typeface="Calibri" pitchFamily="34" charset="0"/>
                          <a:ea typeface="Calibri" pitchFamily="34" charset="-122"/>
                          <a:cs typeface="Calibri" pitchFamily="34" charset="-120"/>
                        </a:rPr>
                        <a:t>España</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dirty="0">
                          <a:solidFill>
                            <a:srgbClr val="2B3A42"/>
                          </a:solidFill>
                          <a:latin typeface="Calibri" pitchFamily="34" charset="0"/>
                          <a:ea typeface="Calibri" pitchFamily="34" charset="-122"/>
                          <a:cs typeface="Calibri" pitchFamily="34" charset="-120"/>
                        </a:rPr>
                        <a:t>1.73 %</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dirty="0">
                          <a:solidFill>
                            <a:srgbClr val="2B3A42"/>
                          </a:solidFill>
                          <a:latin typeface="Calibri" pitchFamily="34" charset="0"/>
                          <a:ea typeface="Calibri" pitchFamily="34" charset="-122"/>
                          <a:cs typeface="Calibri" pitchFamily="34" charset="-120"/>
                        </a:rPr>
                        <a:t>34.4 %</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b="1" dirty="0">
                          <a:solidFill>
                            <a:srgbClr val="B04A3F"/>
                          </a:solidFill>
                          <a:latin typeface="Calibri" pitchFamily="34" charset="0"/>
                          <a:ea typeface="Calibri" pitchFamily="34" charset="-122"/>
                          <a:cs typeface="Calibri" pitchFamily="34" charset="-120"/>
                        </a:rPr>
                        <a:t>0.59 %</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EDEB"/>
                    </a:solidFill>
                  </a:tcPr>
                </a:tc>
              </a:tr>
              <a:tr h="384048">
                <a:tc>
                  <a:txBody>
                    <a:bodyPr/>
                    <a:lstStyle/>
                    <a:p>
                      <a:pPr algn="l" indent="0" marL="0">
                        <a:buNone/>
                      </a:pPr>
                      <a:r>
                        <a:rPr lang="en-US" sz="1050" b="1" dirty="0">
                          <a:solidFill>
                            <a:srgbClr val="2B3A42"/>
                          </a:solidFill>
                          <a:latin typeface="Calibri" pitchFamily="34" charset="0"/>
                          <a:ea typeface="Calibri" pitchFamily="34" charset="-122"/>
                          <a:cs typeface="Calibri" pitchFamily="34" charset="-120"/>
                        </a:rPr>
                        <a:t>Alemania</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dirty="0">
                          <a:solidFill>
                            <a:srgbClr val="2B3A42"/>
                          </a:solidFill>
                          <a:latin typeface="Calibri" pitchFamily="34" charset="0"/>
                          <a:ea typeface="Calibri" pitchFamily="34" charset="-122"/>
                          <a:cs typeface="Calibri" pitchFamily="34" charset="-120"/>
                        </a:rPr>
                        <a:t>1.26 %</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dirty="0">
                          <a:solidFill>
                            <a:srgbClr val="2B3A42"/>
                          </a:solidFill>
                          <a:latin typeface="Calibri" pitchFamily="34" charset="0"/>
                          <a:ea typeface="Calibri" pitchFamily="34" charset="-122"/>
                          <a:cs typeface="Calibri" pitchFamily="34" charset="-120"/>
                        </a:rPr>
                        <a:t>31.4 %</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b="1" dirty="0">
                          <a:solidFill>
                            <a:srgbClr val="B04A3F"/>
                          </a:solidFill>
                          <a:latin typeface="Calibri" pitchFamily="34" charset="0"/>
                          <a:ea typeface="Calibri" pitchFamily="34" charset="-122"/>
                          <a:cs typeface="Calibri" pitchFamily="34" charset="-120"/>
                        </a:rPr>
                        <a:t>0.40 %</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EDEB"/>
                    </a:solidFill>
                  </a:tcPr>
                </a:tc>
              </a:tr>
              <a:tr h="384048">
                <a:tc>
                  <a:txBody>
                    <a:bodyPr/>
                    <a:lstStyle/>
                    <a:p>
                      <a:pPr algn="l" indent="0" marL="0">
                        <a:buNone/>
                      </a:pPr>
                      <a:r>
                        <a:rPr lang="en-US" sz="1050" b="1" dirty="0">
                          <a:solidFill>
                            <a:srgbClr val="2B3A42"/>
                          </a:solidFill>
                          <a:latin typeface="Calibri" pitchFamily="34" charset="0"/>
                          <a:ea typeface="Calibri" pitchFamily="34" charset="-122"/>
                          <a:cs typeface="Calibri" pitchFamily="34" charset="-120"/>
                        </a:rPr>
                        <a:t>Francia</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dirty="0">
                          <a:solidFill>
                            <a:srgbClr val="2B3A42"/>
                          </a:solidFill>
                          <a:latin typeface="Calibri" pitchFamily="34" charset="0"/>
                          <a:ea typeface="Calibri" pitchFamily="34" charset="-122"/>
                          <a:cs typeface="Calibri" pitchFamily="34" charset="-120"/>
                        </a:rPr>
                        <a:t>2.15 %</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dirty="0">
                          <a:solidFill>
                            <a:srgbClr val="2B3A42"/>
                          </a:solidFill>
                          <a:latin typeface="Calibri" pitchFamily="34" charset="0"/>
                          <a:ea typeface="Calibri" pitchFamily="34" charset="-122"/>
                          <a:cs typeface="Calibri" pitchFamily="34" charset="-120"/>
                        </a:rPr>
                        <a:t>31.5 %</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b="1" dirty="0">
                          <a:solidFill>
                            <a:srgbClr val="B04A3F"/>
                          </a:solidFill>
                          <a:latin typeface="Calibri" pitchFamily="34" charset="0"/>
                          <a:ea typeface="Calibri" pitchFamily="34" charset="-122"/>
                          <a:cs typeface="Calibri" pitchFamily="34" charset="-120"/>
                        </a:rPr>
                        <a:t>0.68 %</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EDEB"/>
                    </a:solidFill>
                  </a:tcPr>
                </a:tc>
              </a:tr>
              <a:tr h="384048">
                <a:tc>
                  <a:txBody>
                    <a:bodyPr/>
                    <a:lstStyle/>
                    <a:p>
                      <a:pPr algn="l" indent="0" marL="0">
                        <a:buNone/>
                      </a:pPr>
                      <a:r>
                        <a:rPr lang="en-US" sz="1050" b="1" dirty="0">
                          <a:solidFill>
                            <a:srgbClr val="2B3A42"/>
                          </a:solidFill>
                          <a:latin typeface="Calibri" pitchFamily="34" charset="0"/>
                          <a:ea typeface="Calibri" pitchFamily="34" charset="-122"/>
                          <a:cs typeface="Calibri" pitchFamily="34" charset="-120"/>
                        </a:rPr>
                        <a:t>Italia</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dirty="0">
                          <a:solidFill>
                            <a:srgbClr val="2B3A42"/>
                          </a:solidFill>
                          <a:latin typeface="Calibri" pitchFamily="34" charset="0"/>
                          <a:ea typeface="Calibri" pitchFamily="34" charset="-122"/>
                          <a:cs typeface="Calibri" pitchFamily="34" charset="-120"/>
                        </a:rPr>
                        <a:t>2.26 %</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dirty="0">
                          <a:solidFill>
                            <a:srgbClr val="2B3A42"/>
                          </a:solidFill>
                          <a:latin typeface="Calibri" pitchFamily="34" charset="0"/>
                          <a:ea typeface="Calibri" pitchFamily="34" charset="-122"/>
                          <a:cs typeface="Calibri" pitchFamily="34" charset="-120"/>
                        </a:rPr>
                        <a:t>35.6 %</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b="1" dirty="0">
                          <a:solidFill>
                            <a:srgbClr val="B04A3F"/>
                          </a:solidFill>
                          <a:latin typeface="Calibri" pitchFamily="34" charset="0"/>
                          <a:ea typeface="Calibri" pitchFamily="34" charset="-122"/>
                          <a:cs typeface="Calibri" pitchFamily="34" charset="-120"/>
                        </a:rPr>
                        <a:t>0.80 %</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EDEB"/>
                    </a:solidFill>
                  </a:tcPr>
                </a:tc>
              </a:tr>
              <a:tr h="384048">
                <a:tc>
                  <a:txBody>
                    <a:bodyPr/>
                    <a:lstStyle/>
                    <a:p>
                      <a:pPr algn="l" indent="0" marL="0">
                        <a:buNone/>
                      </a:pPr>
                      <a:r>
                        <a:rPr lang="en-US" sz="1050" b="1" dirty="0">
                          <a:solidFill>
                            <a:srgbClr val="2B3A42"/>
                          </a:solidFill>
                          <a:latin typeface="Calibri" pitchFamily="34" charset="0"/>
                          <a:ea typeface="Calibri" pitchFamily="34" charset="-122"/>
                          <a:cs typeface="Calibri" pitchFamily="34" charset="-120"/>
                        </a:rPr>
                        <a:t>Portugal</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dirty="0">
                          <a:solidFill>
                            <a:srgbClr val="2B3A42"/>
                          </a:solidFill>
                          <a:latin typeface="Calibri" pitchFamily="34" charset="0"/>
                          <a:ea typeface="Calibri" pitchFamily="34" charset="-122"/>
                          <a:cs typeface="Calibri" pitchFamily="34" charset="-120"/>
                        </a:rPr>
                        <a:t>1.26 %</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dirty="0">
                          <a:solidFill>
                            <a:srgbClr val="2B3A42"/>
                          </a:solidFill>
                          <a:latin typeface="Calibri" pitchFamily="34" charset="0"/>
                          <a:ea typeface="Calibri" pitchFamily="34" charset="-122"/>
                          <a:cs typeface="Calibri" pitchFamily="34" charset="-120"/>
                        </a:rPr>
                        <a:t>40.0 %</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b="1" dirty="0">
                          <a:solidFill>
                            <a:srgbClr val="B04A3F"/>
                          </a:solidFill>
                          <a:latin typeface="Calibri" pitchFamily="34" charset="0"/>
                          <a:ea typeface="Calibri" pitchFamily="34" charset="-122"/>
                          <a:cs typeface="Calibri" pitchFamily="34" charset="-120"/>
                        </a:rPr>
                        <a:t>0.50 %</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EDEB"/>
                    </a:solidFill>
                  </a:tcPr>
                </a:tc>
              </a:tr>
              <a:tr h="384048">
                <a:tc>
                  <a:txBody>
                    <a:bodyPr/>
                    <a:lstStyle/>
                    <a:p>
                      <a:pPr algn="l" indent="0" marL="0">
                        <a:buNone/>
                      </a:pPr>
                      <a:r>
                        <a:rPr lang="en-US" sz="1050" b="1" dirty="0">
                          <a:solidFill>
                            <a:srgbClr val="2B3A42"/>
                          </a:solidFill>
                          <a:latin typeface="Calibri" pitchFamily="34" charset="0"/>
                          <a:ea typeface="Calibri" pitchFamily="34" charset="-122"/>
                          <a:cs typeface="Calibri" pitchFamily="34" charset="-120"/>
                        </a:rPr>
                        <a:t>P. Bajos</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dirty="0">
                          <a:solidFill>
                            <a:srgbClr val="2B3A42"/>
                          </a:solidFill>
                          <a:latin typeface="Calibri" pitchFamily="34" charset="0"/>
                          <a:ea typeface="Calibri" pitchFamily="34" charset="-122"/>
                          <a:cs typeface="Calibri" pitchFamily="34" charset="-120"/>
                        </a:rPr>
                        <a:t>1.18 %</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dirty="0">
                          <a:solidFill>
                            <a:srgbClr val="2B3A42"/>
                          </a:solidFill>
                          <a:latin typeface="Calibri" pitchFamily="34" charset="0"/>
                          <a:ea typeface="Calibri" pitchFamily="34" charset="-122"/>
                          <a:cs typeface="Calibri" pitchFamily="34" charset="-120"/>
                        </a:rPr>
                        <a:t>29.7 %</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b="1" dirty="0">
                          <a:solidFill>
                            <a:srgbClr val="B04A3F"/>
                          </a:solidFill>
                          <a:latin typeface="Calibri" pitchFamily="34" charset="0"/>
                          <a:ea typeface="Calibri" pitchFamily="34" charset="-122"/>
                          <a:cs typeface="Calibri" pitchFamily="34" charset="-120"/>
                        </a:rPr>
                        <a:t>0.35 %</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EDEB"/>
                    </a:solidFill>
                  </a:tcPr>
                </a:tc>
              </a:tr>
            </a:tbl>
          </a:graphicData>
        </a:graphic>
      </p:graphicFrame>
      <p:sp>
        <p:nvSpPr>
          <p:cNvPr id="6" name="Text 2"/>
          <p:cNvSpPr txBox="1"/>
          <p:nvPr/>
        </p:nvSpPr>
        <p:spPr>
          <a:xfrm>
            <a:off x="548640" y="5349240"/>
            <a:ext cx="11091672" cy="640080"/>
          </a:xfrm>
          <a:prstGeom prst="rect">
            <a:avLst/>
          </a:prstGeom>
          <a:noFill/>
          <a:ln/>
        </p:spPr>
        <p:txBody>
          <a:bodyPr wrap="square" lIns="0" tIns="0" rIns="0" bIns="0" rtlCol="0" anchor="ctr"/>
          <a:lstStyle/>
          <a:p>
            <a:pPr indent="0" marL="0">
              <a:buNone/>
            </a:pPr>
            <a:r>
              <a:rPr lang="en-US" sz="1200" dirty="0">
                <a:solidFill>
                  <a:srgbClr val="2B3A42"/>
                </a:solidFill>
                <a:latin typeface="Calibri" pitchFamily="34" charset="0"/>
                <a:ea typeface="Calibri" pitchFamily="34" charset="-122"/>
                <a:cs typeface="Calibri" pitchFamily="34" charset="-120"/>
              </a:rPr>
              <a:t>Italia tiene la peor combinación (PD 2,26 % y LGD 35,6 %) y Países Bajos la mejor (1,18 % y 29,7 %). Portugal tiene la LGD más alta de los seis, un 40 %, compensada por una PD baja.</a:t>
            </a:r>
            <a:endParaRPr lang="en-US" sz="1200" dirty="0"/>
          </a:p>
        </p:txBody>
      </p:sp>
      <p:sp>
        <p:nvSpPr>
          <p:cNvPr id="7" name="Text 3"/>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6E7F88"/>
                </a:solidFill>
                <a:latin typeface="Calibri" pitchFamily="34" charset="0"/>
                <a:ea typeface="Calibri" pitchFamily="34" charset="-122"/>
                <a:cs typeface="Calibri" pitchFamily="34" charset="-120"/>
              </a:rPr>
              <a:t>Fuente: EBA, anexo de parámetros de riesgo del Risk Dashboard Q1 2026, origen COREP C 9.02. Se usa la mediana de entidades y no la media ponderada, que se deja arrastrar por carteras grandes con parámetros extremos.</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10896"/>
            <a:ext cx="11091672" cy="658368"/>
          </a:xfrm>
          <a:prstGeom prst="rect">
            <a:avLst/>
          </a:prstGeom>
          <a:noFill/>
          <a:ln/>
        </p:spPr>
        <p:txBody>
          <a:bodyPr wrap="square" lIns="0" tIns="0" rIns="0" bIns="0" rtlCol="0" anchor="ctr"/>
          <a:lstStyle/>
          <a:p>
            <a:pPr indent="0" marL="0">
              <a:buNone/>
            </a:pPr>
            <a:r>
              <a:rPr lang="en-US" sz="3000" b="1" dirty="0">
                <a:solidFill>
                  <a:srgbClr val="1C3F4E"/>
                </a:solidFill>
                <a:latin typeface="Cambria" pitchFamily="34" charset="0"/>
                <a:ea typeface="Cambria" pitchFamily="34" charset="-122"/>
                <a:cs typeface="Cambria" pitchFamily="34" charset="-120"/>
              </a:rPr>
              <a:t>Spread PYME frente a gran empresa en PD y LGD</a:t>
            </a:r>
            <a:endParaRPr lang="en-US" sz="3000" dirty="0"/>
          </a:p>
        </p:txBody>
      </p:sp>
      <p:sp>
        <p:nvSpPr>
          <p:cNvPr id="3" name="Text 1"/>
          <p:cNvSpPr txBox="1"/>
          <p:nvPr/>
        </p:nvSpPr>
        <p:spPr>
          <a:xfrm>
            <a:off x="548640" y="932688"/>
            <a:ext cx="11091672" cy="384048"/>
          </a:xfrm>
          <a:prstGeom prst="rect">
            <a:avLst/>
          </a:prstGeom>
          <a:noFill/>
          <a:ln/>
        </p:spPr>
        <p:txBody>
          <a:bodyPr wrap="square" lIns="0" tIns="0" rIns="0" bIns="0" rtlCol="0" anchor="ctr"/>
          <a:lstStyle/>
          <a:p>
            <a:pPr indent="0" marL="0">
              <a:buNone/>
            </a:pPr>
            <a:r>
              <a:rPr lang="en-US" sz="1300" dirty="0">
                <a:solidFill>
                  <a:srgbClr val="6E7F88"/>
                </a:solidFill>
                <a:latin typeface="Calibri" pitchFamily="34" charset="0"/>
                <a:ea typeface="Calibri" pitchFamily="34" charset="-122"/>
                <a:cs typeface="Calibri" pitchFamily="34" charset="-120"/>
              </a:rPr>
              <a:t>Parámetros IRB, mediana de entidades · 2026-Q1 · La PYME falla más pero recupera mejor</a:t>
            </a:r>
            <a:endParaRPr lang="en-US" sz="1300" dirty="0"/>
          </a:p>
        </p:txBody>
      </p:sp>
      <p:graphicFrame>
        <p:nvGraphicFramePr>
          <p:cNvPr id="4" name="Chart 0" descr=""/>
          <p:cNvGraphicFramePr/>
          <p:nvPr/>
        </p:nvGraphicFramePr>
        <p:xfrm>
          <a:off x="548640" y="1600200"/>
          <a:ext cx="5943600" cy="21488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6355080" y="1600200"/>
          <a:ext cx="5285232" cy="2148840"/>
        </p:xfrm>
        <a:graphic xmlns:a="http://schemas.openxmlformats.org/drawingml/2006/main">
          <a:graphicData uri="http://schemas.openxmlformats.org/drawingml/2006/chart">
            <c:chart xmlns:c="http://schemas.openxmlformats.org/drawingml/2006/chart" r:id="rId2"/>
          </a:graphicData>
        </a:graphic>
      </p:graphicFrame>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3950208"/>
          <a:ext cx="11091672" cy="914400"/>
        </p:xfrm>
        <a:graphic>
          <a:graphicData uri="http://schemas.openxmlformats.org/drawingml/2006/table">
            <a:tbl>
              <a:tblPr/>
              <a:tblGrid>
                <a:gridCol w="2834640"/>
                <a:gridCol w="1389888"/>
                <a:gridCol w="1389888"/>
                <a:gridCol w="1389888"/>
                <a:gridCol w="1389888"/>
                <a:gridCol w="1389888"/>
                <a:gridCol w="1389888"/>
              </a:tblGrid>
              <a:tr h="347472">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Spread PYME − gran empresa</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España</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Alemania</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Francia</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Italia</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Portugal</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P. Bajos</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r>
              <a:tr h="347472">
                <a:tc>
                  <a:txBody>
                    <a:bodyPr/>
                    <a:lstStyle/>
                    <a:p>
                      <a:pPr algn="l" indent="0" marL="0">
                        <a:buNone/>
                      </a:pPr>
                      <a:r>
                        <a:rPr lang="en-US" sz="1050" b="1" dirty="0">
                          <a:solidFill>
                            <a:srgbClr val="2B3A42"/>
                          </a:solidFill>
                          <a:latin typeface="Calibri" pitchFamily="34" charset="0"/>
                          <a:ea typeface="Calibri" pitchFamily="34" charset="-122"/>
                          <a:cs typeface="Calibri" pitchFamily="34" charset="-120"/>
                        </a:rPr>
                        <a:t>PD (puntos básicos)</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b="1" dirty="0">
                          <a:solidFill>
                            <a:srgbClr val="B04A3F"/>
                          </a:solidFill>
                          <a:latin typeface="Calibri" pitchFamily="34" charset="0"/>
                          <a:ea typeface="Calibri" pitchFamily="34" charset="-122"/>
                          <a:cs typeface="Calibri" pitchFamily="34" charset="-120"/>
                        </a:rPr>
                        <a:t>+116</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EDEB"/>
                    </a:solidFill>
                  </a:tcPr>
                </a:tc>
                <a:tc>
                  <a:txBody>
                    <a:bodyPr/>
                    <a:lstStyle/>
                    <a:p>
                      <a:pPr algn="ctr" indent="0" marL="0">
                        <a:buNone/>
                      </a:pPr>
                      <a:r>
                        <a:rPr lang="en-US" sz="1050" b="1" dirty="0">
                          <a:solidFill>
                            <a:srgbClr val="B04A3F"/>
                          </a:solidFill>
                          <a:latin typeface="Calibri" pitchFamily="34" charset="0"/>
                          <a:ea typeface="Calibri" pitchFamily="34" charset="-122"/>
                          <a:cs typeface="Calibri" pitchFamily="34" charset="-120"/>
                        </a:rPr>
                        <a:t>+76</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EDEB"/>
                    </a:solidFill>
                  </a:tcPr>
                </a:tc>
                <a:tc>
                  <a:txBody>
                    <a:bodyPr/>
                    <a:lstStyle/>
                    <a:p>
                      <a:pPr algn="ctr" indent="0" marL="0">
                        <a:buNone/>
                      </a:pPr>
                      <a:r>
                        <a:rPr lang="en-US" sz="1050" b="1" dirty="0">
                          <a:solidFill>
                            <a:srgbClr val="B04A3F"/>
                          </a:solidFill>
                          <a:latin typeface="Calibri" pitchFamily="34" charset="0"/>
                          <a:ea typeface="Calibri" pitchFamily="34" charset="-122"/>
                          <a:cs typeface="Calibri" pitchFamily="34" charset="-120"/>
                        </a:rPr>
                        <a:t>+155</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EDEB"/>
                    </a:solidFill>
                  </a:tcPr>
                </a:tc>
                <a:tc>
                  <a:txBody>
                    <a:bodyPr/>
                    <a:lstStyle/>
                    <a:p>
                      <a:pPr algn="ctr" indent="0" marL="0">
                        <a:buNone/>
                      </a:pPr>
                      <a:r>
                        <a:rPr lang="en-US" sz="1050" b="1" dirty="0">
                          <a:solidFill>
                            <a:srgbClr val="B04A3F"/>
                          </a:solidFill>
                          <a:latin typeface="Calibri" pitchFamily="34" charset="0"/>
                          <a:ea typeface="Calibri" pitchFamily="34" charset="-122"/>
                          <a:cs typeface="Calibri" pitchFamily="34" charset="-120"/>
                        </a:rPr>
                        <a:t>+159</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EDEB"/>
                    </a:solidFill>
                  </a:tcPr>
                </a:tc>
                <a:tc>
                  <a:txBody>
                    <a:bodyPr/>
                    <a:lstStyle/>
                    <a:p>
                      <a:pPr algn="ctr" indent="0" marL="0">
                        <a:buNone/>
                      </a:pPr>
                      <a:r>
                        <a:rPr lang="en-US" sz="1050" b="1" dirty="0">
                          <a:solidFill>
                            <a:srgbClr val="B04A3F"/>
                          </a:solidFill>
                          <a:latin typeface="Calibri" pitchFamily="34" charset="0"/>
                          <a:ea typeface="Calibri" pitchFamily="34" charset="-122"/>
                          <a:cs typeface="Calibri" pitchFamily="34" charset="-120"/>
                        </a:rPr>
                        <a:t>+93</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EDEB"/>
                    </a:solidFill>
                  </a:tcPr>
                </a:tc>
                <a:tc>
                  <a:txBody>
                    <a:bodyPr/>
                    <a:lstStyle/>
                    <a:p>
                      <a:pPr algn="ctr" indent="0" marL="0">
                        <a:buNone/>
                      </a:pPr>
                      <a:r>
                        <a:rPr lang="en-US" sz="1050" b="1" dirty="0">
                          <a:solidFill>
                            <a:srgbClr val="B04A3F"/>
                          </a:solidFill>
                          <a:latin typeface="Calibri" pitchFamily="34" charset="0"/>
                          <a:ea typeface="Calibri" pitchFamily="34" charset="-122"/>
                          <a:cs typeface="Calibri" pitchFamily="34" charset="-120"/>
                        </a:rPr>
                        <a:t>+66</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EDEB"/>
                    </a:solidFill>
                  </a:tcPr>
                </a:tc>
              </a:tr>
              <a:tr h="347472">
                <a:tc>
                  <a:txBody>
                    <a:bodyPr/>
                    <a:lstStyle/>
                    <a:p>
                      <a:pPr algn="l" indent="0" marL="0">
                        <a:buNone/>
                      </a:pPr>
                      <a:r>
                        <a:rPr lang="en-US" sz="1050" b="1" dirty="0">
                          <a:solidFill>
                            <a:srgbClr val="2B3A42"/>
                          </a:solidFill>
                          <a:latin typeface="Calibri" pitchFamily="34" charset="0"/>
                          <a:ea typeface="Calibri" pitchFamily="34" charset="-122"/>
                          <a:cs typeface="Calibri" pitchFamily="34" charset="-120"/>
                        </a:rPr>
                        <a:t>LGD (puntos porcentuales)</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b="1" dirty="0">
                          <a:solidFill>
                            <a:srgbClr val="2E7D5B"/>
                          </a:solidFill>
                          <a:latin typeface="Calibri" pitchFamily="34" charset="0"/>
                          <a:ea typeface="Calibri" pitchFamily="34" charset="-122"/>
                          <a:cs typeface="Calibri" pitchFamily="34" charset="-120"/>
                        </a:rPr>
                        <a:t>-5.6</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AF3EE"/>
                    </a:solidFill>
                  </a:tcPr>
                </a:tc>
                <a:tc>
                  <a:txBody>
                    <a:bodyPr/>
                    <a:lstStyle/>
                    <a:p>
                      <a:pPr algn="ctr" indent="0" marL="0">
                        <a:buNone/>
                      </a:pPr>
                      <a:r>
                        <a:rPr lang="en-US" sz="1050" b="1" dirty="0">
                          <a:solidFill>
                            <a:srgbClr val="2E7D5B"/>
                          </a:solidFill>
                          <a:latin typeface="Calibri" pitchFamily="34" charset="0"/>
                          <a:ea typeface="Calibri" pitchFamily="34" charset="-122"/>
                          <a:cs typeface="Calibri" pitchFamily="34" charset="-120"/>
                        </a:rPr>
                        <a:t>-8.1</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AF3EE"/>
                    </a:solidFill>
                  </a:tcPr>
                </a:tc>
                <a:tc>
                  <a:txBody>
                    <a:bodyPr/>
                    <a:lstStyle/>
                    <a:p>
                      <a:pPr algn="ctr" indent="0" marL="0">
                        <a:buNone/>
                      </a:pPr>
                      <a:r>
                        <a:rPr lang="en-US" sz="1050" b="1" dirty="0">
                          <a:solidFill>
                            <a:srgbClr val="2E7D5B"/>
                          </a:solidFill>
                          <a:latin typeface="Calibri" pitchFamily="34" charset="0"/>
                          <a:ea typeface="Calibri" pitchFamily="34" charset="-122"/>
                          <a:cs typeface="Calibri" pitchFamily="34" charset="-120"/>
                        </a:rPr>
                        <a:t>-8.5</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AF3EE"/>
                    </a:solidFill>
                  </a:tcPr>
                </a:tc>
                <a:tc>
                  <a:txBody>
                    <a:bodyPr/>
                    <a:lstStyle/>
                    <a:p>
                      <a:pPr algn="ctr" indent="0" marL="0">
                        <a:buNone/>
                      </a:pPr>
                      <a:r>
                        <a:rPr lang="en-US" sz="1050" b="1" dirty="0">
                          <a:solidFill>
                            <a:srgbClr val="2E7D5B"/>
                          </a:solidFill>
                          <a:latin typeface="Calibri" pitchFamily="34" charset="0"/>
                          <a:ea typeface="Calibri" pitchFamily="34" charset="-122"/>
                          <a:cs typeface="Calibri" pitchFamily="34" charset="-120"/>
                        </a:rPr>
                        <a:t>-4.4</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AF3EE"/>
                    </a:solidFill>
                  </a:tcPr>
                </a:tc>
                <a:tc>
                  <a:txBody>
                    <a:bodyPr/>
                    <a:lstStyle/>
                    <a:p>
                      <a:pPr algn="ctr" indent="0" marL="0">
                        <a:buNone/>
                      </a:pPr>
                      <a:r>
                        <a:rPr lang="en-US" sz="1050" b="1" dirty="0">
                          <a:solidFill>
                            <a:srgbClr val="B04A3F"/>
                          </a:solidFill>
                          <a:latin typeface="Calibri" pitchFamily="34" charset="0"/>
                          <a:ea typeface="Calibri" pitchFamily="34" charset="-122"/>
                          <a:cs typeface="Calibri" pitchFamily="34" charset="-120"/>
                        </a:rPr>
                        <a:t>0.0</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EDEB"/>
                    </a:solidFill>
                  </a:tcPr>
                </a:tc>
                <a:tc>
                  <a:txBody>
                    <a:bodyPr/>
                    <a:lstStyle/>
                    <a:p>
                      <a:pPr algn="ctr" indent="0" marL="0">
                        <a:buNone/>
                      </a:pPr>
                      <a:r>
                        <a:rPr lang="en-US" sz="1050" b="1" dirty="0">
                          <a:solidFill>
                            <a:srgbClr val="2E7D5B"/>
                          </a:solidFill>
                          <a:latin typeface="Calibri" pitchFamily="34" charset="0"/>
                          <a:ea typeface="Calibri" pitchFamily="34" charset="-122"/>
                          <a:cs typeface="Calibri" pitchFamily="34" charset="-120"/>
                        </a:rPr>
                        <a:t>-10.3</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AF3EE"/>
                    </a:solidFill>
                  </a:tcPr>
                </a:tc>
              </a:tr>
              <a:tr h="347472">
                <a:tc>
                  <a:txBody>
                    <a:bodyPr/>
                    <a:lstStyle/>
                    <a:p>
                      <a:pPr algn="l" indent="0" marL="0">
                        <a:buNone/>
                      </a:pPr>
                      <a:r>
                        <a:rPr lang="en-US" sz="1050" b="1" dirty="0">
                          <a:solidFill>
                            <a:srgbClr val="2B3A42"/>
                          </a:solidFill>
                          <a:latin typeface="Calibri" pitchFamily="34" charset="0"/>
                          <a:ea typeface="Calibri" pitchFamily="34" charset="-122"/>
                          <a:cs typeface="Calibri" pitchFamily="34" charset="-120"/>
                        </a:rPr>
                        <a:t>PD × LGD (puntos básicos)</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050" b="1" dirty="0">
                          <a:solidFill>
                            <a:srgbClr val="B04A3F"/>
                          </a:solidFill>
                          <a:latin typeface="Calibri" pitchFamily="34" charset="0"/>
                          <a:ea typeface="Calibri" pitchFamily="34" charset="-122"/>
                          <a:cs typeface="Calibri" pitchFamily="34" charset="-120"/>
                        </a:rPr>
                        <a:t>+36</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3DEDA"/>
                    </a:solidFill>
                  </a:tcPr>
                </a:tc>
                <a:tc>
                  <a:txBody>
                    <a:bodyPr/>
                    <a:lstStyle/>
                    <a:p>
                      <a:pPr algn="ctr" indent="0" marL="0">
                        <a:buNone/>
                      </a:pPr>
                      <a:r>
                        <a:rPr lang="en-US" sz="1050" b="1" dirty="0">
                          <a:solidFill>
                            <a:srgbClr val="B04A3F"/>
                          </a:solidFill>
                          <a:latin typeface="Calibri" pitchFamily="34" charset="0"/>
                          <a:ea typeface="Calibri" pitchFamily="34" charset="-122"/>
                          <a:cs typeface="Calibri" pitchFamily="34" charset="-120"/>
                        </a:rPr>
                        <a:t>+20</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3DEDA"/>
                    </a:solidFill>
                  </a:tcPr>
                </a:tc>
                <a:tc>
                  <a:txBody>
                    <a:bodyPr/>
                    <a:lstStyle/>
                    <a:p>
                      <a:pPr algn="ctr" indent="0" marL="0">
                        <a:buNone/>
                      </a:pPr>
                      <a:r>
                        <a:rPr lang="en-US" sz="1050" b="1" dirty="0">
                          <a:solidFill>
                            <a:srgbClr val="B04A3F"/>
                          </a:solidFill>
                          <a:latin typeface="Calibri" pitchFamily="34" charset="0"/>
                          <a:ea typeface="Calibri" pitchFamily="34" charset="-122"/>
                          <a:cs typeface="Calibri" pitchFamily="34" charset="-120"/>
                        </a:rPr>
                        <a:t>+44</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3DEDA"/>
                    </a:solidFill>
                  </a:tcPr>
                </a:tc>
                <a:tc>
                  <a:txBody>
                    <a:bodyPr/>
                    <a:lstStyle/>
                    <a:p>
                      <a:pPr algn="ctr" indent="0" marL="0">
                        <a:buNone/>
                      </a:pPr>
                      <a:r>
                        <a:rPr lang="en-US" sz="1050" b="1" dirty="0">
                          <a:solidFill>
                            <a:srgbClr val="B04A3F"/>
                          </a:solidFill>
                          <a:latin typeface="Calibri" pitchFamily="34" charset="0"/>
                          <a:ea typeface="Calibri" pitchFamily="34" charset="-122"/>
                          <a:cs typeface="Calibri" pitchFamily="34" charset="-120"/>
                        </a:rPr>
                        <a:t>+53</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3DEDA"/>
                    </a:solidFill>
                  </a:tcPr>
                </a:tc>
                <a:tc>
                  <a:txBody>
                    <a:bodyPr/>
                    <a:lstStyle/>
                    <a:p>
                      <a:pPr algn="ctr" indent="0" marL="0">
                        <a:buNone/>
                      </a:pPr>
                      <a:r>
                        <a:rPr lang="en-US" sz="1050" b="1" dirty="0">
                          <a:solidFill>
                            <a:srgbClr val="B04A3F"/>
                          </a:solidFill>
                          <a:latin typeface="Calibri" pitchFamily="34" charset="0"/>
                          <a:ea typeface="Calibri" pitchFamily="34" charset="-122"/>
                          <a:cs typeface="Calibri" pitchFamily="34" charset="-120"/>
                        </a:rPr>
                        <a:t>+37</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3DEDA"/>
                    </a:solidFill>
                  </a:tcPr>
                </a:tc>
                <a:tc>
                  <a:txBody>
                    <a:bodyPr/>
                    <a:lstStyle/>
                    <a:p>
                      <a:pPr algn="ctr" indent="0" marL="0">
                        <a:buNone/>
                      </a:pPr>
                      <a:r>
                        <a:rPr lang="en-US" sz="1050" b="1" dirty="0">
                          <a:solidFill>
                            <a:srgbClr val="B04A3F"/>
                          </a:solidFill>
                          <a:latin typeface="Calibri" pitchFamily="34" charset="0"/>
                          <a:ea typeface="Calibri" pitchFamily="34" charset="-122"/>
                          <a:cs typeface="Calibri" pitchFamily="34" charset="-120"/>
                        </a:rPr>
                        <a:t>+14</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3DEDA"/>
                    </a:solidFill>
                  </a:tcPr>
                </a:tc>
              </a:tr>
            </a:tbl>
          </a:graphicData>
        </a:graphic>
      </p:graphicFrame>
      <p:sp>
        <p:nvSpPr>
          <p:cNvPr id="7" name="Shape 2"/>
          <p:cNvSpPr/>
          <p:nvPr/>
        </p:nvSpPr>
        <p:spPr>
          <a:xfrm>
            <a:off x="548640" y="5440680"/>
            <a:ext cx="11091672" cy="777240"/>
          </a:xfrm>
          <a:prstGeom prst="roundRect">
            <a:avLst>
              <a:gd name="adj" fmla="val 7059"/>
            </a:avLst>
          </a:prstGeom>
          <a:solidFill>
            <a:srgbClr val="FBF2EA"/>
          </a:solidFill>
          <a:ln w="12700">
            <a:solidFill>
              <a:srgbClr val="C9992B"/>
            </a:solidFill>
            <a:prstDash val="solid"/>
          </a:ln>
        </p:spPr>
      </p:sp>
      <p:sp>
        <p:nvSpPr>
          <p:cNvPr id="8" name="Text 3"/>
          <p:cNvSpPr txBox="1"/>
          <p:nvPr/>
        </p:nvSpPr>
        <p:spPr>
          <a:xfrm>
            <a:off x="749808" y="5532120"/>
            <a:ext cx="10835640" cy="621792"/>
          </a:xfrm>
          <a:prstGeom prst="rect">
            <a:avLst/>
          </a:prstGeom>
          <a:noFill/>
          <a:ln/>
        </p:spPr>
        <p:txBody>
          <a:bodyPr wrap="square" lIns="0" tIns="0" rIns="0" bIns="0" rtlCol="0" anchor="ctr"/>
          <a:lstStyle/>
          <a:p>
            <a:pPr indent="0" marL="0">
              <a:buNone/>
            </a:pPr>
            <a:r>
              <a:rPr lang="en-US" sz="1000" b="1" dirty="0">
                <a:solidFill>
                  <a:srgbClr val="8A5A2B"/>
                </a:solidFill>
                <a:latin typeface="Calibri" pitchFamily="34" charset="0"/>
                <a:ea typeface="Calibri" pitchFamily="34" charset="-122"/>
                <a:cs typeface="Calibri" pitchFamily="34" charset="-120"/>
              </a:rPr>
              <a:t>Cautela con el LGD de gran empresa. </a:t>
            </a:r>
            <a:pPr indent="0" marL="0">
              <a:buNone/>
            </a:pPr>
            <a:r>
              <a:rPr lang="en-US" sz="1000" dirty="0">
                <a:solidFill>
                  <a:srgbClr val="2B3A42"/>
                </a:solidFill>
                <a:latin typeface="Calibri" pitchFamily="34" charset="0"/>
                <a:ea typeface="Calibri" pitchFamily="34" charset="-122"/>
                <a:cs typeface="Calibri" pitchFamily="34" charset="-120"/>
              </a:rPr>
              <a:t>Está agrupado en el 40,0 % en los seis países y en todo el reparto (percentiles 25, 50 y 75), porque es el valor supervisor del IRB básico bajo CRR3, no una estimación propia. La ventaja de severidad de la PYME es real —viene de mayor garantía real— pero está exagerada por ese efecto: en media ponderada la brecha se reduce a la mitad (PYME 23,6–37,9 % frente a gran empresa 35,0–38,8 %). El spread de PD, en cambio, es sólido: la PD sí es estimación propia en ambas clases.</a:t>
            </a:r>
            <a:endParaRPr lang="en-US" sz="1000" dirty="0"/>
          </a:p>
        </p:txBody>
      </p:sp>
      <p:sp>
        <p:nvSpPr>
          <p:cNvPr id="9" name="Text 4"/>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6E7F88"/>
                </a:solidFill>
                <a:latin typeface="Calibri" pitchFamily="34" charset="0"/>
                <a:ea typeface="Calibri" pitchFamily="34" charset="-122"/>
                <a:cs typeface="Calibri" pitchFamily="34" charset="-120"/>
              </a:rPr>
              <a:t>Fuente: EBA, anexo de parámetros de riesgo del Risk Dashboard Q1 2026, origen COREP C 9.02. Clases «Corporates – Of Which: SME» y «Corporates – Of Which: Large corporates».</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10896"/>
            <a:ext cx="11091672" cy="658368"/>
          </a:xfrm>
          <a:prstGeom prst="rect">
            <a:avLst/>
          </a:prstGeom>
          <a:noFill/>
          <a:ln/>
        </p:spPr>
        <p:txBody>
          <a:bodyPr wrap="square" lIns="0" tIns="0" rIns="0" bIns="0" rtlCol="0" anchor="ctr"/>
          <a:lstStyle/>
          <a:p>
            <a:pPr indent="0" marL="0">
              <a:buNone/>
            </a:pPr>
            <a:r>
              <a:rPr lang="en-US" sz="3000" b="1" dirty="0">
                <a:solidFill>
                  <a:srgbClr val="1C3F4E"/>
                </a:solidFill>
                <a:latin typeface="Cambria" pitchFamily="34" charset="0"/>
                <a:ea typeface="Cambria" pitchFamily="34" charset="-122"/>
                <a:cs typeface="Cambria" pitchFamily="34" charset="-120"/>
              </a:rPr>
              <a:t>Consumo de capital: densidad de RWA de la cartera PYME</a:t>
            </a:r>
            <a:endParaRPr lang="en-US" sz="3000" dirty="0"/>
          </a:p>
        </p:txBody>
      </p:sp>
      <p:sp>
        <p:nvSpPr>
          <p:cNvPr id="3" name="Text 1"/>
          <p:cNvSpPr txBox="1"/>
          <p:nvPr/>
        </p:nvSpPr>
        <p:spPr>
          <a:xfrm>
            <a:off x="548640" y="932688"/>
            <a:ext cx="11091672" cy="384048"/>
          </a:xfrm>
          <a:prstGeom prst="rect">
            <a:avLst/>
          </a:prstGeom>
          <a:noFill/>
          <a:ln/>
        </p:spPr>
        <p:txBody>
          <a:bodyPr wrap="square" lIns="0" tIns="0" rIns="0" bIns="0" rtlCol="0" anchor="ctr"/>
          <a:lstStyle/>
          <a:p>
            <a:pPr indent="0" marL="0">
              <a:buNone/>
            </a:pPr>
            <a:r>
              <a:rPr lang="en-US" sz="1300" dirty="0">
                <a:solidFill>
                  <a:srgbClr val="6E7F88"/>
                </a:solidFill>
                <a:latin typeface="Calibri" pitchFamily="34" charset="0"/>
                <a:ea typeface="Calibri" pitchFamily="34" charset="-122"/>
                <a:cs typeface="Calibri" pitchFamily="34" charset="-120"/>
              </a:rPr>
              <a:t>RWA sobre valor de exposición · EU-wide Transparency Exercise · Junio 2025 · Incorpora ya el factor de apoyo a PYME del art. 501 CRR</a:t>
            </a:r>
            <a:endParaRPr lang="en-US" sz="1300" dirty="0"/>
          </a:p>
        </p:txBody>
      </p:sp>
      <p:graphicFrame>
        <p:nvGraphicFramePr>
          <p:cNvPr id="4" name="Chart 0" descr=""/>
          <p:cNvGraphicFramePr/>
          <p:nvPr/>
        </p:nvGraphicFramePr>
        <p:xfrm>
          <a:off x="548640" y="1691640"/>
          <a:ext cx="6675120" cy="35661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98080" y="1691640"/>
            <a:ext cx="4142232" cy="1920240"/>
          </a:xfrm>
          <a:prstGeom prst="roundRect">
            <a:avLst>
              <a:gd name="adj" fmla="val 2857"/>
            </a:avLst>
          </a:prstGeom>
          <a:solidFill>
            <a:srgbClr val="F7EDE4"/>
          </a:solidFill>
          <a:ln w="12700">
            <a:solidFill>
              <a:srgbClr val="C97B3C"/>
            </a:solidFill>
            <a:prstDash val="solid"/>
          </a:ln>
        </p:spPr>
      </p:sp>
      <p:sp>
        <p:nvSpPr>
          <p:cNvPr id="6" name="Text 3"/>
          <p:cNvSpPr txBox="1"/>
          <p:nvPr/>
        </p:nvSpPr>
        <p:spPr>
          <a:xfrm>
            <a:off x="7699248" y="1828800"/>
            <a:ext cx="3749040" cy="502920"/>
          </a:xfrm>
          <a:prstGeom prst="rect">
            <a:avLst/>
          </a:prstGeom>
          <a:noFill/>
          <a:ln/>
        </p:spPr>
        <p:txBody>
          <a:bodyPr wrap="square" lIns="0" tIns="0" rIns="0" bIns="0" rtlCol="0" anchor="ctr"/>
          <a:lstStyle/>
          <a:p>
            <a:pPr indent="0" marL="0">
              <a:buNone/>
            </a:pPr>
            <a:r>
              <a:rPr lang="en-US" sz="1300" b="1" dirty="0">
                <a:solidFill>
                  <a:srgbClr val="C97B3C"/>
                </a:solidFill>
                <a:latin typeface="Cambria" pitchFamily="34" charset="0"/>
                <a:ea typeface="Cambria" pitchFamily="34" charset="-122"/>
                <a:cs typeface="Cambria" pitchFamily="34" charset="-120"/>
              </a:rPr>
              <a:t>Casi el doble de capital en España que en Alemania</a:t>
            </a:r>
            <a:endParaRPr lang="en-US" sz="1300" dirty="0"/>
          </a:p>
        </p:txBody>
      </p:sp>
      <p:sp>
        <p:nvSpPr>
          <p:cNvPr id="7" name="Text 4"/>
          <p:cNvSpPr txBox="1"/>
          <p:nvPr/>
        </p:nvSpPr>
        <p:spPr>
          <a:xfrm>
            <a:off x="7699248" y="2359152"/>
            <a:ext cx="3749040" cy="1143000"/>
          </a:xfrm>
          <a:prstGeom prst="rect">
            <a:avLst/>
          </a:prstGeom>
          <a:noFill/>
          <a:ln/>
        </p:spPr>
        <p:txBody>
          <a:bodyPr wrap="square" lIns="0" tIns="0" rIns="0" bIns="0" rtlCol="0" anchor="ctr"/>
          <a:lstStyle/>
          <a:p>
            <a:pPr indent="0" marL="0">
              <a:buNone/>
            </a:pPr>
            <a:r>
              <a:rPr lang="en-US" sz="1100" dirty="0">
                <a:solidFill>
                  <a:srgbClr val="2B3A42"/>
                </a:solidFill>
                <a:latin typeface="Calibri" pitchFamily="34" charset="0"/>
                <a:ea typeface="Calibri" pitchFamily="34" charset="-122"/>
                <a:cs typeface="Calibri" pitchFamily="34" charset="-120"/>
              </a:rPr>
              <a:t>Un euro de préstamo PYME consume un 59,5 % de RWA en España y un 35,3 % en Alemania. Sobre el mismo margen, eso divide el ROE casi por dos. Es el factor que más mueve el ranking, por delante del precio.</a:t>
            </a:r>
            <a:endParaRPr lang="en-US" sz="1100" dirty="0"/>
          </a:p>
        </p:txBody>
      </p:sp>
      <p:sp>
        <p:nvSpPr>
          <p:cNvPr id="8" name="Shape 5"/>
          <p:cNvSpPr/>
          <p:nvPr/>
        </p:nvSpPr>
        <p:spPr>
          <a:xfrm>
            <a:off x="7498080" y="3794760"/>
            <a:ext cx="4142232" cy="1463040"/>
          </a:xfrm>
          <a:prstGeom prst="roundRect">
            <a:avLst>
              <a:gd name="adj" fmla="val 3750"/>
            </a:avLst>
          </a:prstGeom>
          <a:solidFill>
            <a:srgbClr val="EEF2F3"/>
          </a:solidFill>
          <a:ln w="12700">
            <a:solidFill>
              <a:srgbClr val="DCE4E7"/>
            </a:solidFill>
            <a:prstDash val="solid"/>
          </a:ln>
        </p:spPr>
      </p:sp>
      <p:sp>
        <p:nvSpPr>
          <p:cNvPr id="9" name="Text 6"/>
          <p:cNvSpPr txBox="1"/>
          <p:nvPr/>
        </p:nvSpPr>
        <p:spPr>
          <a:xfrm>
            <a:off x="7699248" y="3913632"/>
            <a:ext cx="3749040" cy="274320"/>
          </a:xfrm>
          <a:prstGeom prst="rect">
            <a:avLst/>
          </a:prstGeom>
          <a:noFill/>
          <a:ln/>
        </p:spPr>
        <p:txBody>
          <a:bodyPr wrap="square" lIns="0" tIns="0" rIns="0" bIns="0" rtlCol="0" anchor="ctr"/>
          <a:lstStyle/>
          <a:p>
            <a:pPr indent="0" marL="0">
              <a:buNone/>
            </a:pPr>
            <a:r>
              <a:rPr lang="en-US" sz="1200" b="1" dirty="0">
                <a:solidFill>
                  <a:srgbClr val="1C3F4E"/>
                </a:solidFill>
                <a:latin typeface="Cambria" pitchFamily="34" charset="0"/>
                <a:ea typeface="Cambria" pitchFamily="34" charset="-122"/>
                <a:cs typeface="Cambria" pitchFamily="34" charset="-120"/>
              </a:rPr>
              <a:t>Exposición PYME (M€)</a:t>
            </a:r>
            <a:endParaRPr lang="en-US" sz="1200" dirty="0"/>
          </a:p>
        </p:txBody>
      </p:sp>
      <p:sp>
        <p:nvSpPr>
          <p:cNvPr id="10" name="Text 7"/>
          <p:cNvSpPr txBox="1"/>
          <p:nvPr/>
        </p:nvSpPr>
        <p:spPr>
          <a:xfrm>
            <a:off x="7699248" y="4224528"/>
            <a:ext cx="3749040" cy="914400"/>
          </a:xfrm>
          <a:prstGeom prst="rect">
            <a:avLst/>
          </a:prstGeom>
          <a:noFill/>
          <a:ln/>
        </p:spPr>
        <p:txBody>
          <a:bodyPr wrap="square" lIns="0" tIns="0" rIns="0" bIns="0" rtlCol="0" anchor="ctr"/>
          <a:lstStyle/>
          <a:p>
            <a:pPr indent="0" marL="0">
              <a:buNone/>
            </a:pPr>
            <a:r>
              <a:rPr lang="en-US" sz="1050" dirty="0">
                <a:solidFill>
                  <a:srgbClr val="2B3A42"/>
                </a:solidFill>
                <a:latin typeface="Calibri" pitchFamily="34" charset="0"/>
                <a:ea typeface="Calibri" pitchFamily="34" charset="-122"/>
                <a:cs typeface="Calibri" pitchFamily="34" charset="-120"/>
              </a:rPr>
              <a:t>España: 308k   ·   Alemania: 317k   ·   Francia: 961k   ·   Italia: 252k   ·   Portugal: 30k   ·   P. Bajos: 259k</a:t>
            </a:r>
            <a:endParaRPr lang="en-US" sz="1050" dirty="0"/>
          </a:p>
        </p:txBody>
      </p:sp>
      <p:sp>
        <p:nvSpPr>
          <p:cNvPr id="11" name="Text 8"/>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6E7F88"/>
                </a:solidFill>
                <a:latin typeface="Calibri" pitchFamily="34" charset="0"/>
                <a:ea typeface="Calibri" pitchFamily="34" charset="-122"/>
                <a:cs typeface="Calibri" pitchFamily="34" charset="-120"/>
              </a:rPr>
              <a:t>Fuente: EBA, EU-wide Transparency Exercise 2025, fichero tr_cre.csv, partidas 2520523 (valor de exposición PYME) y 2520533 (RWA PYME), agregadas por supervisor nacional. La diferencia refleja el peso de modelos internos frente a método estándar y la garantía aportada.</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10896"/>
            <a:ext cx="11091672" cy="658368"/>
          </a:xfrm>
          <a:prstGeom prst="rect">
            <a:avLst/>
          </a:prstGeom>
          <a:noFill/>
          <a:ln/>
        </p:spPr>
        <p:txBody>
          <a:bodyPr wrap="square" lIns="0" tIns="0" rIns="0" bIns="0" rtlCol="0" anchor="ctr"/>
          <a:lstStyle/>
          <a:p>
            <a:pPr indent="0" marL="0">
              <a:buNone/>
            </a:pPr>
            <a:r>
              <a:rPr lang="en-US" sz="3000" b="1" dirty="0">
                <a:solidFill>
                  <a:srgbClr val="1C3F4E"/>
                </a:solidFill>
                <a:latin typeface="Cambria" pitchFamily="34" charset="0"/>
                <a:ea typeface="Cambria" pitchFamily="34" charset="-122"/>
                <a:cs typeface="Cambria" pitchFamily="34" charset="-120"/>
              </a:rPr>
              <a:t>Eficiencia, capital y peso de las comisiones</a:t>
            </a:r>
            <a:endParaRPr lang="en-US" sz="3000" dirty="0"/>
          </a:p>
        </p:txBody>
      </p:sp>
      <p:sp>
        <p:nvSpPr>
          <p:cNvPr id="3" name="Text 1"/>
          <p:cNvSpPr txBox="1"/>
          <p:nvPr/>
        </p:nvSpPr>
        <p:spPr>
          <a:xfrm>
            <a:off x="548640" y="932688"/>
            <a:ext cx="11091672" cy="384048"/>
          </a:xfrm>
          <a:prstGeom prst="rect">
            <a:avLst/>
          </a:prstGeom>
          <a:noFill/>
          <a:ln/>
        </p:spPr>
        <p:txBody>
          <a:bodyPr wrap="square" lIns="0" tIns="0" rIns="0" bIns="0" rtlCol="0" anchor="ctr"/>
          <a:lstStyle/>
          <a:p>
            <a:pPr indent="0" marL="0">
              <a:buNone/>
            </a:pPr>
            <a:r>
              <a:rPr lang="en-US" sz="1300" dirty="0">
                <a:solidFill>
                  <a:srgbClr val="6E7F88"/>
                </a:solidFill>
                <a:latin typeface="Calibri" pitchFamily="34" charset="0"/>
                <a:ea typeface="Calibri" pitchFamily="34" charset="-122"/>
                <a:cs typeface="Calibri" pitchFamily="34" charset="-120"/>
              </a:rPr>
              <a:t>Indicadores del sistema bancario · 2026-Q1 · Nivel de grupo consolidado, no de segmento PYME</a:t>
            </a:r>
            <a:endParaRPr lang="en-US" sz="13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91672" cy="914400"/>
        </p:xfrm>
        <a:graphic>
          <a:graphicData uri="http://schemas.openxmlformats.org/drawingml/2006/table">
            <a:tbl>
              <a:tblPr/>
              <a:tblGrid>
                <a:gridCol w="2743200"/>
                <a:gridCol w="1540764"/>
                <a:gridCol w="1540764"/>
                <a:gridCol w="1540764"/>
                <a:gridCol w="1540764"/>
                <a:gridCol w="1540764"/>
                <a:gridCol w="1540764"/>
              </a:tblGrid>
              <a:tr h="43891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Indicador</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España</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Alemania</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Francia</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Italia</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Portugal</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 Bajos</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r>
              <a:tr h="438912">
                <a:tc>
                  <a:txBody>
                    <a:bodyPr/>
                    <a:lstStyle/>
                    <a:p>
                      <a:pPr algn="l" indent="0" marL="0">
                        <a:buNone/>
                      </a:pPr>
                      <a:r>
                        <a:rPr lang="en-US" sz="1100" b="1" dirty="0">
                          <a:solidFill>
                            <a:srgbClr val="2B3A42"/>
                          </a:solidFill>
                          <a:latin typeface="Calibri" pitchFamily="34" charset="0"/>
                          <a:ea typeface="Calibri" pitchFamily="34" charset="-122"/>
                          <a:cs typeface="Calibri" pitchFamily="34" charset="-120"/>
                        </a:rPr>
                        <a:t>Ratio de NPL</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2.60 %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1.61 %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2.16 %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1.97 %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1.91 %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1.35 %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r>
              <a:tr h="438912">
                <a:tc>
                  <a:txBody>
                    <a:bodyPr/>
                    <a:lstStyle/>
                    <a:p>
                      <a:pPr algn="l" indent="0" marL="0">
                        <a:buNone/>
                      </a:pPr>
                      <a:r>
                        <a:rPr lang="en-US" sz="1100" b="1" dirty="0">
                          <a:solidFill>
                            <a:srgbClr val="2B3A42"/>
                          </a:solidFill>
                          <a:latin typeface="Calibri" pitchFamily="34" charset="0"/>
                          <a:ea typeface="Calibri" pitchFamily="34" charset="-122"/>
                          <a:cs typeface="Calibri" pitchFamily="34" charset="-120"/>
                        </a:rPr>
                        <a:t>Coste del riesgo</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1.22 %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0.75 %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0.55 %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0.36 %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0.29 %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0.21 %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r>
              <a:tr h="438912">
                <a:tc>
                  <a:txBody>
                    <a:bodyPr/>
                    <a:lstStyle/>
                    <a:p>
                      <a:pPr algn="l" indent="0" marL="0">
                        <a:buNone/>
                      </a:pPr>
                      <a:r>
                        <a:rPr lang="en-US" sz="1100" b="1" dirty="0">
                          <a:solidFill>
                            <a:srgbClr val="2B3A42"/>
                          </a:solidFill>
                          <a:latin typeface="Calibri" pitchFamily="34" charset="0"/>
                          <a:ea typeface="Calibri" pitchFamily="34" charset="-122"/>
                          <a:cs typeface="Calibri" pitchFamily="34" charset="-120"/>
                        </a:rPr>
                        <a:t>Eficiencia (cost-income)</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42.1 %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55.1 %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65.6 %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46.8 %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34.8 %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53.5 %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r>
              <a:tr h="438912">
                <a:tc>
                  <a:txBody>
                    <a:bodyPr/>
                    <a:lstStyle/>
                    <a:p>
                      <a:pPr algn="l" indent="0" marL="0">
                        <a:buNone/>
                      </a:pPr>
                      <a:r>
                        <a:rPr lang="en-US" sz="1100" b="1" dirty="0">
                          <a:solidFill>
                            <a:srgbClr val="2B3A42"/>
                          </a:solidFill>
                          <a:latin typeface="Calibri" pitchFamily="34" charset="0"/>
                          <a:ea typeface="Calibri" pitchFamily="34" charset="-122"/>
                          <a:cs typeface="Calibri" pitchFamily="34" charset="-120"/>
                        </a:rPr>
                        <a:t>ROE del sistema</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18.5 %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8.0 %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6.3 %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14.9 %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16.0 %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10.1 %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r>
              <a:tr h="438912">
                <a:tc>
                  <a:txBody>
                    <a:bodyPr/>
                    <a:lstStyle/>
                    <a:p>
                      <a:pPr algn="l" indent="0" marL="0">
                        <a:buNone/>
                      </a:pPr>
                      <a:r>
                        <a:rPr lang="en-US" sz="1100" b="1" dirty="0">
                          <a:solidFill>
                            <a:srgbClr val="2B3A42"/>
                          </a:solidFill>
                          <a:latin typeface="Calibri" pitchFamily="34" charset="0"/>
                          <a:ea typeface="Calibri" pitchFamily="34" charset="-122"/>
                          <a:cs typeface="Calibri" pitchFamily="34" charset="-120"/>
                        </a:rPr>
                        <a:t>Ratio CET1</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13.7 %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16.9 %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15.9 %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15.6 %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17.8 %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16.4 %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r>
              <a:tr h="438912">
                <a:tc>
                  <a:txBody>
                    <a:bodyPr/>
                    <a:lstStyle/>
                    <a:p>
                      <a:pPr algn="l" indent="0" marL="0">
                        <a:buNone/>
                      </a:pPr>
                      <a:r>
                        <a:rPr lang="en-US" sz="1100" b="1" dirty="0">
                          <a:solidFill>
                            <a:srgbClr val="2B3A42"/>
                          </a:solidFill>
                          <a:latin typeface="Calibri" pitchFamily="34" charset="0"/>
                          <a:ea typeface="Calibri" pitchFamily="34" charset="-122"/>
                          <a:cs typeface="Calibri" pitchFamily="34" charset="-120"/>
                        </a:rPr>
                        <a:t>Comisiones / ingresos</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23.9 %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32.0 %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33.7 %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33.8 %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21.8 %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20.4 %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r>
            </a:tbl>
          </a:graphicData>
        </a:graphic>
      </p:graphicFrame>
      <p:sp>
        <p:nvSpPr>
          <p:cNvPr id="5" name="Shape 2"/>
          <p:cNvSpPr/>
          <p:nvPr/>
        </p:nvSpPr>
        <p:spPr>
          <a:xfrm>
            <a:off x="548640" y="4663440"/>
            <a:ext cx="5486400" cy="1371600"/>
          </a:xfrm>
          <a:prstGeom prst="roundRect">
            <a:avLst>
              <a:gd name="adj" fmla="val 4000"/>
            </a:avLst>
          </a:prstGeom>
          <a:solidFill>
            <a:srgbClr val="EEF2F3"/>
          </a:solidFill>
          <a:ln w="12700">
            <a:solidFill>
              <a:srgbClr val="DCE4E7"/>
            </a:solidFill>
            <a:prstDash val="solid"/>
          </a:ln>
        </p:spPr>
      </p:sp>
      <p:sp>
        <p:nvSpPr>
          <p:cNvPr id="6" name="Text 3"/>
          <p:cNvSpPr txBox="1"/>
          <p:nvPr/>
        </p:nvSpPr>
        <p:spPr>
          <a:xfrm>
            <a:off x="749808" y="4800600"/>
            <a:ext cx="5074920" cy="292608"/>
          </a:xfrm>
          <a:prstGeom prst="rect">
            <a:avLst/>
          </a:prstGeom>
          <a:noFill/>
          <a:ln/>
        </p:spPr>
        <p:txBody>
          <a:bodyPr wrap="square" lIns="0" tIns="0" rIns="0" bIns="0" rtlCol="0" anchor="ctr"/>
          <a:lstStyle/>
          <a:p>
            <a:pPr indent="0" marL="0">
              <a:buNone/>
            </a:pPr>
            <a:r>
              <a:rPr lang="en-US" sz="1300" b="1" dirty="0">
                <a:solidFill>
                  <a:srgbClr val="1C3F4E"/>
                </a:solidFill>
                <a:latin typeface="Cambria" pitchFamily="34" charset="0"/>
                <a:ea typeface="Cambria" pitchFamily="34" charset="-122"/>
                <a:cs typeface="Cambria" pitchFamily="34" charset="-120"/>
              </a:rPr>
              <a:t>Por qué España rinde pese al spread estrecho</a:t>
            </a:r>
            <a:endParaRPr lang="en-US" sz="1300" dirty="0"/>
          </a:p>
        </p:txBody>
      </p:sp>
      <p:sp>
        <p:nvSpPr>
          <p:cNvPr id="7" name="Text 4"/>
          <p:cNvSpPr txBox="1"/>
          <p:nvPr/>
        </p:nvSpPr>
        <p:spPr>
          <a:xfrm>
            <a:off x="749808" y="5138928"/>
            <a:ext cx="5074920" cy="777240"/>
          </a:xfrm>
          <a:prstGeom prst="rect">
            <a:avLst/>
          </a:prstGeom>
          <a:noFill/>
          <a:ln/>
        </p:spPr>
        <p:txBody>
          <a:bodyPr wrap="square" lIns="0" tIns="0" rIns="0" bIns="0" rtlCol="0" anchor="ctr"/>
          <a:lstStyle/>
          <a:p>
            <a:pPr indent="0" marL="0">
              <a:buNone/>
            </a:pPr>
            <a:r>
              <a:rPr lang="en-US" sz="1150" dirty="0">
                <a:solidFill>
                  <a:srgbClr val="2B3A42"/>
                </a:solidFill>
                <a:latin typeface="Calibri" pitchFamily="34" charset="0"/>
                <a:ea typeface="Calibri" pitchFamily="34" charset="-122"/>
                <a:cs typeface="Calibri" pitchFamily="34" charset="-120"/>
              </a:rPr>
              <a:t>Segunda mejor eficiencia (42,1 %) y el mayor ROE de sistema (18,5 %). Compensa por volumen y coste operativo, no por precio.</a:t>
            </a:r>
            <a:endParaRPr lang="en-US" sz="1150" dirty="0"/>
          </a:p>
        </p:txBody>
      </p:sp>
      <p:sp>
        <p:nvSpPr>
          <p:cNvPr id="8" name="Shape 5"/>
          <p:cNvSpPr/>
          <p:nvPr/>
        </p:nvSpPr>
        <p:spPr>
          <a:xfrm>
            <a:off x="6263640" y="4663440"/>
            <a:ext cx="5376672" cy="1371600"/>
          </a:xfrm>
          <a:prstGeom prst="roundRect">
            <a:avLst>
              <a:gd name="adj" fmla="val 4000"/>
            </a:avLst>
          </a:prstGeom>
          <a:solidFill>
            <a:srgbClr val="FBF2EA"/>
          </a:solidFill>
          <a:ln w="12700">
            <a:solidFill>
              <a:srgbClr val="C9992B"/>
            </a:solidFill>
            <a:prstDash val="solid"/>
          </a:ln>
        </p:spPr>
      </p:sp>
      <p:sp>
        <p:nvSpPr>
          <p:cNvPr id="9" name="Text 6"/>
          <p:cNvSpPr txBox="1"/>
          <p:nvPr/>
        </p:nvSpPr>
        <p:spPr>
          <a:xfrm>
            <a:off x="6464808" y="4800600"/>
            <a:ext cx="4983480" cy="292608"/>
          </a:xfrm>
          <a:prstGeom prst="rect">
            <a:avLst/>
          </a:prstGeom>
          <a:noFill/>
          <a:ln/>
        </p:spPr>
        <p:txBody>
          <a:bodyPr wrap="square" lIns="0" tIns="0" rIns="0" bIns="0" rtlCol="0" anchor="ctr"/>
          <a:lstStyle/>
          <a:p>
            <a:pPr indent="0" marL="0">
              <a:buNone/>
            </a:pPr>
            <a:r>
              <a:rPr lang="en-US" sz="1300" b="1" dirty="0">
                <a:solidFill>
                  <a:srgbClr val="8A5A2B"/>
                </a:solidFill>
                <a:latin typeface="Cambria" pitchFamily="34" charset="0"/>
                <a:ea typeface="Cambria" pitchFamily="34" charset="-122"/>
                <a:cs typeface="Cambria" pitchFamily="34" charset="-120"/>
              </a:rPr>
              <a:t>Advertencia sobre estas cifras</a:t>
            </a:r>
            <a:endParaRPr lang="en-US" sz="1300" dirty="0"/>
          </a:p>
        </p:txBody>
      </p:sp>
      <p:sp>
        <p:nvSpPr>
          <p:cNvPr id="10" name="Text 7"/>
          <p:cNvSpPr txBox="1"/>
          <p:nvPr/>
        </p:nvSpPr>
        <p:spPr>
          <a:xfrm>
            <a:off x="6464808" y="5138928"/>
            <a:ext cx="4983480" cy="777240"/>
          </a:xfrm>
          <a:prstGeom prst="rect">
            <a:avLst/>
          </a:prstGeom>
          <a:noFill/>
          <a:ln/>
        </p:spPr>
        <p:txBody>
          <a:bodyPr wrap="square" lIns="0" tIns="0" rIns="0" bIns="0" rtlCol="0" anchor="ctr"/>
          <a:lstStyle/>
          <a:p>
            <a:pPr indent="0" marL="0">
              <a:buNone/>
            </a:pPr>
            <a:r>
              <a:rPr lang="en-US" sz="1150" dirty="0">
                <a:solidFill>
                  <a:srgbClr val="2B3A42"/>
                </a:solidFill>
                <a:latin typeface="Calibri" pitchFamily="34" charset="0"/>
                <a:ea typeface="Calibri" pitchFamily="34" charset="-122"/>
                <a:cs typeface="Calibri" pitchFamily="34" charset="-120"/>
              </a:rPr>
              <a:t>Son de grupo consolidado. El coste del riesgo español (1,22 %) está inflado por el negocio internacional: CaixaBank, doméstico, reporta 0,24 %. Por eso el modelo no usa esta fila.</a:t>
            </a:r>
            <a:endParaRPr lang="en-US" sz="1150" dirty="0"/>
          </a:p>
        </p:txBody>
      </p:sp>
      <p:sp>
        <p:nvSpPr>
          <p:cNvPr id="11" name="Text 8"/>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6E7F88"/>
                </a:solidFill>
                <a:latin typeface="Calibri" pitchFamily="34" charset="0"/>
                <a:ea typeface="Calibri" pitchFamily="34" charset="-122"/>
                <a:cs typeface="Calibri" pitchFamily="34" charset="-120"/>
              </a:rPr>
              <a:t>Fuente: EBA Risk Dashboard, anexo de datos Q1 2026, indicadores AQT_3.2, PFT_43, PFT_23, PFT_21, SVC_3 y PFT_26.</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10896"/>
            <a:ext cx="11091672" cy="658368"/>
          </a:xfrm>
          <a:prstGeom prst="rect">
            <a:avLst/>
          </a:prstGeom>
          <a:noFill/>
          <a:ln/>
        </p:spPr>
        <p:txBody>
          <a:bodyPr wrap="square" lIns="0" tIns="0" rIns="0" bIns="0" rtlCol="0" anchor="ctr"/>
          <a:lstStyle/>
          <a:p>
            <a:pPr indent="0" marL="0">
              <a:buNone/>
            </a:pPr>
            <a:r>
              <a:rPr lang="en-US" sz="3000" b="1" dirty="0">
                <a:solidFill>
                  <a:srgbClr val="1C3F4E"/>
                </a:solidFill>
                <a:latin typeface="Cambria" pitchFamily="34" charset="0"/>
                <a:ea typeface="Cambria" pitchFamily="34" charset="-122"/>
                <a:cs typeface="Cambria" pitchFamily="34" charset="-120"/>
              </a:rPr>
              <a:t>Circulante: líneas de crédito y descubiertos</a:t>
            </a:r>
            <a:endParaRPr lang="en-US" sz="3000" dirty="0"/>
          </a:p>
        </p:txBody>
      </p:sp>
      <p:sp>
        <p:nvSpPr>
          <p:cNvPr id="3" name="Text 1"/>
          <p:cNvSpPr txBox="1"/>
          <p:nvPr/>
        </p:nvSpPr>
        <p:spPr>
          <a:xfrm>
            <a:off x="548640" y="932688"/>
            <a:ext cx="11091672" cy="384048"/>
          </a:xfrm>
          <a:prstGeom prst="rect">
            <a:avLst/>
          </a:prstGeom>
          <a:noFill/>
          <a:ln/>
        </p:spPr>
        <p:txBody>
          <a:bodyPr wrap="square" lIns="0" tIns="0" rIns="0" bIns="0" rtlCol="0" anchor="ctr"/>
          <a:lstStyle/>
          <a:p>
            <a:pPr indent="0" marL="0">
              <a:buNone/>
            </a:pPr>
            <a:r>
              <a:rPr lang="en-US" sz="1300" dirty="0">
                <a:solidFill>
                  <a:srgbClr val="6E7F88"/>
                </a:solidFill>
                <a:latin typeface="Calibri" pitchFamily="34" charset="0"/>
                <a:ea typeface="Calibri" pitchFamily="34" charset="-122"/>
                <a:cs typeface="Calibri" pitchFamily="34" charset="-120"/>
              </a:rPr>
              <a:t>Tipo de nueva producción a empresas · Media 2026 · Serie A2Z1, que excluye deuda de tarjeta</a:t>
            </a:r>
            <a:endParaRPr lang="en-US" sz="1300" dirty="0"/>
          </a:p>
        </p:txBody>
      </p:sp>
      <p:graphicFrame>
        <p:nvGraphicFramePr>
          <p:cNvPr id="4" name="Chart 0" descr=""/>
          <p:cNvGraphicFramePr/>
          <p:nvPr/>
        </p:nvGraphicFramePr>
        <p:xfrm>
          <a:off x="548640" y="1691640"/>
          <a:ext cx="6675120" cy="36576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98080" y="1691640"/>
            <a:ext cx="4142232" cy="1737360"/>
          </a:xfrm>
          <a:prstGeom prst="roundRect">
            <a:avLst>
              <a:gd name="adj" fmla="val 3158"/>
            </a:avLst>
          </a:prstGeom>
          <a:solidFill>
            <a:srgbClr val="FBEDEB"/>
          </a:solidFill>
          <a:ln w="12700">
            <a:solidFill>
              <a:srgbClr val="B04A3F"/>
            </a:solidFill>
            <a:prstDash val="solid"/>
          </a:ln>
        </p:spPr>
      </p:sp>
      <p:sp>
        <p:nvSpPr>
          <p:cNvPr id="6" name="Text 3"/>
          <p:cNvSpPr txBox="1"/>
          <p:nvPr/>
        </p:nvSpPr>
        <p:spPr>
          <a:xfrm>
            <a:off x="7699248" y="1828800"/>
            <a:ext cx="3749040" cy="292608"/>
          </a:xfrm>
          <a:prstGeom prst="rect">
            <a:avLst/>
          </a:prstGeom>
          <a:noFill/>
          <a:ln/>
        </p:spPr>
        <p:txBody>
          <a:bodyPr wrap="square" lIns="0" tIns="0" rIns="0" bIns="0" rtlCol="0" anchor="ctr"/>
          <a:lstStyle/>
          <a:p>
            <a:pPr indent="0" marL="0">
              <a:buNone/>
            </a:pPr>
            <a:r>
              <a:rPr lang="en-US" sz="1300" b="1" dirty="0">
                <a:solidFill>
                  <a:srgbClr val="B04A3F"/>
                </a:solidFill>
                <a:latin typeface="Cambria" pitchFamily="34" charset="0"/>
                <a:ea typeface="Cambria" pitchFamily="34" charset="-122"/>
                <a:cs typeface="Cambria" pitchFamily="34" charset="-120"/>
              </a:rPr>
              <a:t>Hueco: no hay volumen por país</a:t>
            </a:r>
            <a:endParaRPr lang="en-US" sz="1300" dirty="0"/>
          </a:p>
        </p:txBody>
      </p:sp>
      <p:sp>
        <p:nvSpPr>
          <p:cNvPr id="7" name="Text 4"/>
          <p:cNvSpPr txBox="1"/>
          <p:nvPr/>
        </p:nvSpPr>
        <p:spPr>
          <a:xfrm>
            <a:off x="7699248" y="2194560"/>
            <a:ext cx="3749040" cy="1143000"/>
          </a:xfrm>
          <a:prstGeom prst="rect">
            <a:avLst/>
          </a:prstGeom>
          <a:noFill/>
          <a:ln/>
        </p:spPr>
        <p:txBody>
          <a:bodyPr wrap="square" lIns="0" tIns="0" rIns="0" bIns="0" rtlCol="0" anchor="ctr"/>
          <a:lstStyle/>
          <a:p>
            <a:pPr indent="0" marL="0">
              <a:buNone/>
            </a:pPr>
            <a:r>
              <a:rPr lang="en-US" sz="1100" dirty="0">
                <a:solidFill>
                  <a:srgbClr val="2B3A42"/>
                </a:solidFill>
                <a:latin typeface="Calibri" pitchFamily="34" charset="0"/>
                <a:ea typeface="Calibri" pitchFamily="34" charset="-122"/>
                <a:cs typeface="Calibri" pitchFamily="34" charset="-120"/>
              </a:rPr>
              <a:t>El BCE publica el tipo de circulante por país, pero el volumen de nueva producción solo existe para el agregado de zona euro. No se puede calcular el peso del circulante en la cartera de cada país con fuentes oficiales.</a:t>
            </a:r>
            <a:endParaRPr lang="en-US" sz="1100" dirty="0"/>
          </a:p>
        </p:txBody>
      </p:sp>
      <p:sp>
        <p:nvSpPr>
          <p:cNvPr id="8" name="Shape 5"/>
          <p:cNvSpPr/>
          <p:nvPr/>
        </p:nvSpPr>
        <p:spPr>
          <a:xfrm>
            <a:off x="7498080" y="3611880"/>
            <a:ext cx="4142232" cy="1737360"/>
          </a:xfrm>
          <a:prstGeom prst="roundRect">
            <a:avLst>
              <a:gd name="adj" fmla="val 3158"/>
            </a:avLst>
          </a:prstGeom>
          <a:solidFill>
            <a:srgbClr val="EEF2F3"/>
          </a:solidFill>
          <a:ln w="12700">
            <a:solidFill>
              <a:srgbClr val="DCE4E7"/>
            </a:solidFill>
            <a:prstDash val="solid"/>
          </a:ln>
        </p:spPr>
      </p:sp>
      <p:sp>
        <p:nvSpPr>
          <p:cNvPr id="9" name="Text 6"/>
          <p:cNvSpPr txBox="1"/>
          <p:nvPr/>
        </p:nvSpPr>
        <p:spPr>
          <a:xfrm>
            <a:off x="7699248" y="3749040"/>
            <a:ext cx="3749040" cy="292608"/>
          </a:xfrm>
          <a:prstGeom prst="rect">
            <a:avLst/>
          </a:prstGeom>
          <a:noFill/>
          <a:ln/>
        </p:spPr>
        <p:txBody>
          <a:bodyPr wrap="square" lIns="0" tIns="0" rIns="0" bIns="0" rtlCol="0" anchor="ctr"/>
          <a:lstStyle/>
          <a:p>
            <a:pPr indent="0" marL="0">
              <a:buNone/>
            </a:pPr>
            <a:r>
              <a:rPr lang="en-US" sz="1300" b="1" dirty="0">
                <a:solidFill>
                  <a:srgbClr val="1C3F4E"/>
                </a:solidFill>
                <a:latin typeface="Cambria" pitchFamily="34" charset="0"/>
                <a:ea typeface="Cambria" pitchFamily="34" charset="-122"/>
                <a:cs typeface="Cambria" pitchFamily="34" charset="-120"/>
              </a:rPr>
              <a:t>Dos perímetros distintos</a:t>
            </a:r>
            <a:endParaRPr lang="en-US" sz="1300" dirty="0"/>
          </a:p>
        </p:txBody>
      </p:sp>
      <p:sp>
        <p:nvSpPr>
          <p:cNvPr id="10" name="Text 7"/>
          <p:cNvSpPr txBox="1"/>
          <p:nvPr/>
        </p:nvSpPr>
        <p:spPr>
          <a:xfrm>
            <a:off x="7699248" y="4114800"/>
            <a:ext cx="3749040" cy="1143000"/>
          </a:xfrm>
          <a:prstGeom prst="rect">
            <a:avLst/>
          </a:prstGeom>
          <a:noFill/>
          <a:ln/>
        </p:spPr>
        <p:txBody>
          <a:bodyPr wrap="square" lIns="0" tIns="0" rIns="0" bIns="0" rtlCol="0" anchor="ctr"/>
          <a:lstStyle/>
          <a:p>
            <a:pPr indent="0" marL="0">
              <a:buNone/>
            </a:pPr>
            <a:r>
              <a:rPr lang="en-US" sz="1100" dirty="0">
                <a:solidFill>
                  <a:srgbClr val="2B3A42"/>
                </a:solidFill>
                <a:latin typeface="Calibri" pitchFamily="34" charset="0"/>
                <a:ea typeface="Calibri" pitchFamily="34" charset="-122"/>
                <a:cs typeface="Calibri" pitchFamily="34" charset="-120"/>
              </a:rPr>
              <a:t>A2Z1 son revolving y descubiertos. A2Z añade deuda de tarjeta. La diferencia va de 0 a 4 pb, mayor en Francia y zona euro. Se usa A2Z1, que es el perímetro de circulante de empresa.</a:t>
            </a:r>
            <a:endParaRPr lang="en-US" sz="1100" dirty="0"/>
          </a:p>
        </p:txBody>
      </p:sp>
      <p:sp>
        <p:nvSpPr>
          <p:cNvPr id="11" name="Text 8"/>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6E7F88"/>
                </a:solidFill>
                <a:latin typeface="Calibri" pitchFamily="34" charset="0"/>
                <a:ea typeface="Calibri" pitchFamily="34" charset="-122"/>
                <a:cs typeface="Calibri" pitchFamily="34" charset="-120"/>
              </a:rPr>
              <a:t>Fuente: BCE, dataset MIR, serie A2Z1 (revolving y descubiertos a sociedades no financieras). El dato de julio de 2026 es provisional en España, Alemania, Francia, Italia y zona euro.</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10896"/>
            <a:ext cx="11091672" cy="658368"/>
          </a:xfrm>
          <a:prstGeom prst="rect">
            <a:avLst/>
          </a:prstGeom>
          <a:noFill/>
          <a:ln/>
        </p:spPr>
        <p:txBody>
          <a:bodyPr wrap="square" lIns="0" tIns="0" rIns="0" bIns="0" rtlCol="0" anchor="ctr"/>
          <a:lstStyle/>
          <a:p>
            <a:pPr indent="0" marL="0">
              <a:buNone/>
            </a:pPr>
            <a:r>
              <a:rPr lang="en-US" sz="3000" b="1" dirty="0">
                <a:solidFill>
                  <a:srgbClr val="1C3F4E"/>
                </a:solidFill>
                <a:latin typeface="Cambria" pitchFamily="34" charset="0"/>
                <a:ea typeface="Cambria" pitchFamily="34" charset="-122"/>
                <a:cs typeface="Cambria" pitchFamily="34" charset="-120"/>
              </a:rPr>
              <a:t>Hipoteca PYME: no existe como estadística oficial europea</a:t>
            </a:r>
            <a:endParaRPr lang="en-US" sz="3000" dirty="0"/>
          </a:p>
        </p:txBody>
      </p:sp>
      <p:sp>
        <p:nvSpPr>
          <p:cNvPr id="3" name="Text 1"/>
          <p:cNvSpPr txBox="1"/>
          <p:nvPr/>
        </p:nvSpPr>
        <p:spPr>
          <a:xfrm>
            <a:off x="548640" y="932688"/>
            <a:ext cx="11091672" cy="384048"/>
          </a:xfrm>
          <a:prstGeom prst="rect">
            <a:avLst/>
          </a:prstGeom>
          <a:noFill/>
          <a:ln/>
        </p:spPr>
        <p:txBody>
          <a:bodyPr wrap="square" lIns="0" tIns="0" rIns="0" bIns="0" rtlCol="0" anchor="ctr"/>
          <a:lstStyle/>
          <a:p>
            <a:pPr indent="0" marL="0">
              <a:buNone/>
            </a:pPr>
            <a:r>
              <a:rPr lang="en-US" sz="1300" dirty="0">
                <a:solidFill>
                  <a:srgbClr val="6E7F88"/>
                </a:solidFill>
                <a:latin typeface="Calibri" pitchFamily="34" charset="0"/>
                <a:ea typeface="Calibri" pitchFamily="34" charset="-122"/>
                <a:cs typeface="Calibri" pitchFamily="34" charset="-120"/>
              </a:rPr>
              <a:t>El bloque se cubre con exposición a inmueble comercial, que es el proxy disponible</a:t>
            </a:r>
            <a:endParaRPr lang="en-US" sz="1300" dirty="0"/>
          </a:p>
        </p:txBody>
      </p:sp>
      <p:sp>
        <p:nvSpPr>
          <p:cNvPr id="4" name="Shape 2"/>
          <p:cNvSpPr/>
          <p:nvPr/>
        </p:nvSpPr>
        <p:spPr>
          <a:xfrm>
            <a:off x="548640" y="1645920"/>
            <a:ext cx="11091672" cy="1143000"/>
          </a:xfrm>
          <a:prstGeom prst="roundRect">
            <a:avLst>
              <a:gd name="adj" fmla="val 4800"/>
            </a:avLst>
          </a:prstGeom>
          <a:solidFill>
            <a:srgbClr val="FBEDEB"/>
          </a:solidFill>
          <a:ln w="12700">
            <a:solidFill>
              <a:srgbClr val="B04A3F"/>
            </a:solidFill>
            <a:prstDash val="solid"/>
          </a:ln>
        </p:spPr>
      </p:sp>
      <p:sp>
        <p:nvSpPr>
          <p:cNvPr id="5" name="Text 3"/>
          <p:cNvSpPr txBox="1"/>
          <p:nvPr/>
        </p:nvSpPr>
        <p:spPr>
          <a:xfrm>
            <a:off x="777240" y="1764792"/>
            <a:ext cx="10789920" cy="274320"/>
          </a:xfrm>
          <a:prstGeom prst="rect">
            <a:avLst/>
          </a:prstGeom>
          <a:noFill/>
          <a:ln/>
        </p:spPr>
        <p:txBody>
          <a:bodyPr wrap="square" lIns="0" tIns="0" rIns="0" bIns="0" rtlCol="0" anchor="ctr"/>
          <a:lstStyle/>
          <a:p>
            <a:pPr indent="0" marL="0">
              <a:buNone/>
            </a:pPr>
            <a:r>
              <a:rPr lang="en-US" sz="1400" b="1" dirty="0">
                <a:solidFill>
                  <a:srgbClr val="B04A3F"/>
                </a:solidFill>
                <a:latin typeface="Cambria" pitchFamily="34" charset="0"/>
                <a:ea typeface="Cambria" pitchFamily="34" charset="-122"/>
                <a:cs typeface="Cambria" pitchFamily="34" charset="-120"/>
              </a:rPr>
              <a:t>Qué falta y por qué</a:t>
            </a:r>
            <a:endParaRPr lang="en-US" sz="1400" dirty="0"/>
          </a:p>
        </p:txBody>
      </p:sp>
      <p:sp>
        <p:nvSpPr>
          <p:cNvPr id="6" name="Text 4"/>
          <p:cNvSpPr txBox="1"/>
          <p:nvPr/>
        </p:nvSpPr>
        <p:spPr>
          <a:xfrm>
            <a:off x="777240" y="2084832"/>
            <a:ext cx="10789920" cy="640080"/>
          </a:xfrm>
          <a:prstGeom prst="rect">
            <a:avLst/>
          </a:prstGeom>
          <a:noFill/>
          <a:ln/>
        </p:spPr>
        <p:txBody>
          <a:bodyPr wrap="square" lIns="0" tIns="0" rIns="0" bIns="0" rtlCol="0" anchor="ctr"/>
          <a:lstStyle/>
          <a:p>
            <a:pPr indent="0" marL="0">
              <a:buNone/>
            </a:pPr>
            <a:r>
              <a:rPr lang="en-US" sz="1200" dirty="0">
                <a:solidFill>
                  <a:srgbClr val="2B3A42"/>
                </a:solidFill>
                <a:latin typeface="Calibri" pitchFamily="34" charset="0"/>
                <a:ea typeface="Calibri" pitchFamily="34" charset="-122"/>
                <a:cs typeface="Calibri" pitchFamily="34" charset="-120"/>
              </a:rPr>
              <a:t>El dataset MIR del BCE publica préstamos para adquisición de vivienda solo del sector hogares. No hay desglose de préstamo con garantía inmobiliaria a empresas en ninguno de los seis países. El crédito con garantía real a PYME queda subsumido en la serie genérica por tramo de importe, y su precio no es observable por separado.</a:t>
            </a:r>
            <a:endParaRPr lang="en-US" sz="1200" dirty="0"/>
          </a:p>
        </p:txBody>
      </p:sp>
      <p:sp>
        <p:nvSpPr>
          <p:cNvPr id="7" name="Text 5"/>
          <p:cNvSpPr txBox="1"/>
          <p:nvPr/>
        </p:nvSpPr>
        <p:spPr>
          <a:xfrm>
            <a:off x="548640" y="3017520"/>
            <a:ext cx="10789920" cy="320040"/>
          </a:xfrm>
          <a:prstGeom prst="rect">
            <a:avLst/>
          </a:prstGeom>
          <a:noFill/>
          <a:ln/>
        </p:spPr>
        <p:txBody>
          <a:bodyPr wrap="square" lIns="0" tIns="0" rIns="0" bIns="0" rtlCol="0" anchor="ctr"/>
          <a:lstStyle/>
          <a:p>
            <a:pPr indent="0" marL="0">
              <a:buNone/>
            </a:pPr>
            <a:r>
              <a:rPr lang="en-US" sz="1600" b="1" dirty="0">
                <a:solidFill>
                  <a:srgbClr val="1C3F4E"/>
                </a:solidFill>
                <a:latin typeface="Cambria" pitchFamily="34" charset="0"/>
                <a:ea typeface="Cambria" pitchFamily="34" charset="-122"/>
                <a:cs typeface="Cambria" pitchFamily="34" charset="-120"/>
              </a:rPr>
              <a:t>Proxy disponible: calidad de la cartera de inmueble comercial</a:t>
            </a:r>
            <a:endParaRPr lang="en-US" sz="1600" dirty="0"/>
          </a:p>
        </p:txBody>
      </p:sp>
      <p:graphicFrame>
        <p:nvGraphicFramePr>
          <p:cNvPr id="8" name="Chart 0" descr=""/>
          <p:cNvGraphicFramePr/>
          <p:nvPr/>
        </p:nvGraphicFramePr>
        <p:xfrm>
          <a:off x="548640" y="3474720"/>
          <a:ext cx="10789920" cy="219456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6E7F88"/>
                </a:solidFill>
                <a:latin typeface="Calibri" pitchFamily="34" charset="0"/>
                <a:ea typeface="Calibri" pitchFamily="34" charset="-122"/>
                <a:cs typeface="Calibri" pitchFamily="34" charset="-120"/>
              </a:rPr>
              <a:t>Fuente: EBA Risk Dashboard Q1 2026, desglose «of which CRE». Alemania destaca con el peor NPL de inmueble comercial de los seis (6,81 %), muy por encima de su NPL total (1,61 %).</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310896"/>
            <a:ext cx="11091672" cy="658368"/>
          </a:xfrm>
          <a:prstGeom prst="rect">
            <a:avLst/>
          </a:prstGeom>
          <a:noFill/>
          <a:ln/>
        </p:spPr>
        <p:txBody>
          <a:bodyPr wrap="square" lIns="0" tIns="0" rIns="0" bIns="0" rtlCol="0" anchor="ctr"/>
          <a:lstStyle/>
          <a:p>
            <a:pPr indent="0" marL="0">
              <a:buNone/>
            </a:pPr>
            <a:r>
              <a:rPr lang="en-US" sz="3000" b="1" dirty="0">
                <a:solidFill>
                  <a:srgbClr val="1C3F4E"/>
                </a:solidFill>
                <a:latin typeface="Cambria" pitchFamily="34" charset="0"/>
                <a:ea typeface="Cambria" pitchFamily="34" charset="-122"/>
                <a:cs typeface="Cambria" pitchFamily="34" charset="-120"/>
              </a:rPr>
              <a:t>Factoring y confirming: volumen sí, precio no</a:t>
            </a:r>
            <a:endParaRPr lang="en-US" sz="3000" dirty="0"/>
          </a:p>
        </p:txBody>
      </p:sp>
      <p:sp>
        <p:nvSpPr>
          <p:cNvPr id="3" name="Text 1"/>
          <p:cNvSpPr txBox="1"/>
          <p:nvPr/>
        </p:nvSpPr>
        <p:spPr>
          <a:xfrm>
            <a:off x="548640" y="932688"/>
            <a:ext cx="11091672" cy="384048"/>
          </a:xfrm>
          <a:prstGeom prst="rect">
            <a:avLst/>
          </a:prstGeom>
          <a:noFill/>
          <a:ln/>
        </p:spPr>
        <p:txBody>
          <a:bodyPr wrap="square" lIns="0" tIns="0" rIns="0" bIns="0" rtlCol="0" anchor="ctr"/>
          <a:lstStyle/>
          <a:p>
            <a:pPr indent="0" marL="0">
              <a:buNone/>
            </a:pPr>
            <a:r>
              <a:rPr lang="en-US" sz="1300" dirty="0">
                <a:solidFill>
                  <a:srgbClr val="6E7F88"/>
                </a:solidFill>
                <a:latin typeface="Calibri" pitchFamily="34" charset="0"/>
                <a:ea typeface="Calibri" pitchFamily="34" charset="-122"/>
                <a:cs typeface="Calibri" pitchFamily="34" charset="-120"/>
              </a:rPr>
              <a:t>Volumen cedido 2025 y penetración sobre PIB · El precio no es obtenible con fuentes públicas</a:t>
            </a:r>
            <a:endParaRPr lang="en-US" sz="1300" dirty="0"/>
          </a:p>
        </p:txBody>
      </p:sp>
      <p:graphicFrame>
        <p:nvGraphicFramePr>
          <p:cNvPr id="4" name="Chart 0" descr=""/>
          <p:cNvGraphicFramePr/>
          <p:nvPr/>
        </p:nvGraphicFramePr>
        <p:xfrm>
          <a:off x="548640" y="1691640"/>
          <a:ext cx="6309360" cy="32918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132320" y="1691640"/>
            <a:ext cx="4507992" cy="1783080"/>
          </a:xfrm>
          <a:prstGeom prst="roundRect">
            <a:avLst>
              <a:gd name="adj" fmla="val 3077"/>
            </a:avLst>
          </a:prstGeom>
          <a:solidFill>
            <a:srgbClr val="FBEDEB"/>
          </a:solidFill>
          <a:ln w="12700">
            <a:solidFill>
              <a:srgbClr val="B04A3F"/>
            </a:solidFill>
            <a:prstDash val="solid"/>
          </a:ln>
        </p:spPr>
      </p:sp>
      <p:sp>
        <p:nvSpPr>
          <p:cNvPr id="6" name="Text 3"/>
          <p:cNvSpPr txBox="1"/>
          <p:nvPr/>
        </p:nvSpPr>
        <p:spPr>
          <a:xfrm>
            <a:off x="7333488" y="1810512"/>
            <a:ext cx="4114800" cy="292608"/>
          </a:xfrm>
          <a:prstGeom prst="rect">
            <a:avLst/>
          </a:prstGeom>
          <a:noFill/>
          <a:ln/>
        </p:spPr>
        <p:txBody>
          <a:bodyPr wrap="square" lIns="0" tIns="0" rIns="0" bIns="0" rtlCol="0" anchor="ctr"/>
          <a:lstStyle/>
          <a:p>
            <a:pPr indent="0" marL="0">
              <a:buNone/>
            </a:pPr>
            <a:r>
              <a:rPr lang="en-US" sz="1300" b="1" dirty="0">
                <a:solidFill>
                  <a:srgbClr val="B04A3F"/>
                </a:solidFill>
                <a:latin typeface="Cambria" pitchFamily="34" charset="0"/>
                <a:ea typeface="Cambria" pitchFamily="34" charset="-122"/>
                <a:cs typeface="Cambria" pitchFamily="34" charset="-120"/>
              </a:rPr>
              <a:t>La tabla de la EUF no es comparable</a:t>
            </a:r>
            <a:endParaRPr lang="en-US" sz="1300" dirty="0"/>
          </a:p>
        </p:txBody>
      </p:sp>
      <p:sp>
        <p:nvSpPr>
          <p:cNvPr id="7" name="Text 4"/>
          <p:cNvSpPr txBox="1"/>
          <p:nvPr/>
        </p:nvSpPr>
        <p:spPr>
          <a:xfrm>
            <a:off x="7333488" y="2176272"/>
            <a:ext cx="4114800" cy="1188720"/>
          </a:xfrm>
          <a:prstGeom prst="rect">
            <a:avLst/>
          </a:prstGeom>
          <a:noFill/>
          <a:ln/>
        </p:spPr>
        <p:txBody>
          <a:bodyPr wrap="square" lIns="0" tIns="0" rIns="0" bIns="0" rtlCol="0" anchor="ctr"/>
          <a:lstStyle/>
          <a:p>
            <a:pPr indent="0" marL="0">
              <a:buNone/>
            </a:pPr>
            <a:r>
              <a:rPr lang="en-US" sz="1100" dirty="0">
                <a:solidFill>
                  <a:srgbClr val="2B3A42"/>
                </a:solidFill>
                <a:latin typeface="Calibri" pitchFamily="34" charset="0"/>
                <a:ea typeface="Calibri" pitchFamily="34" charset="-122"/>
                <a:cs typeface="Calibri" pitchFamily="34" charset="-120"/>
              </a:rPr>
              <a:t>El 52,6 % de la cifra española es confirming. En Italia el confirming es el 1,9 %. Comparar los 269.885 M€ de España con los 297.445 M€ de Italia es comparar pago confirmado a proveedores contra cesión de facturas.</a:t>
            </a:r>
            <a:endParaRPr lang="en-US" sz="1100" dirty="0"/>
          </a:p>
        </p:txBody>
      </p:sp>
      <p:sp>
        <p:nvSpPr>
          <p:cNvPr id="8" name="Shape 5"/>
          <p:cNvSpPr/>
          <p:nvPr/>
        </p:nvSpPr>
        <p:spPr>
          <a:xfrm>
            <a:off x="7132320" y="3639312"/>
            <a:ext cx="4507992" cy="1344168"/>
          </a:xfrm>
          <a:prstGeom prst="roundRect">
            <a:avLst>
              <a:gd name="adj" fmla="val 4082"/>
            </a:avLst>
          </a:prstGeom>
          <a:solidFill>
            <a:srgbClr val="EEF2F3"/>
          </a:solidFill>
          <a:ln w="12700">
            <a:solidFill>
              <a:srgbClr val="DCE4E7"/>
            </a:solidFill>
            <a:prstDash val="solid"/>
          </a:ln>
        </p:spPr>
      </p:sp>
      <p:sp>
        <p:nvSpPr>
          <p:cNvPr id="9" name="Text 6"/>
          <p:cNvSpPr txBox="1"/>
          <p:nvPr/>
        </p:nvSpPr>
        <p:spPr>
          <a:xfrm>
            <a:off x="7333488" y="3758184"/>
            <a:ext cx="4114800" cy="274320"/>
          </a:xfrm>
          <a:prstGeom prst="rect">
            <a:avLst/>
          </a:prstGeom>
          <a:noFill/>
          <a:ln/>
        </p:spPr>
        <p:txBody>
          <a:bodyPr wrap="square" lIns="0" tIns="0" rIns="0" bIns="0" rtlCol="0" anchor="ctr"/>
          <a:lstStyle/>
          <a:p>
            <a:pPr indent="0" marL="0">
              <a:buNone/>
            </a:pPr>
            <a:r>
              <a:rPr lang="en-US" sz="1300" b="1" dirty="0">
                <a:solidFill>
                  <a:srgbClr val="1C3F4E"/>
                </a:solidFill>
                <a:latin typeface="Cambria" pitchFamily="34" charset="0"/>
                <a:ea typeface="Cambria" pitchFamily="34" charset="-122"/>
                <a:cs typeface="Cambria" pitchFamily="34" charset="-120"/>
              </a:rPr>
              <a:t>Sin precio en ninguna fuente</a:t>
            </a:r>
            <a:endParaRPr lang="en-US" sz="1300" dirty="0"/>
          </a:p>
        </p:txBody>
      </p:sp>
      <p:sp>
        <p:nvSpPr>
          <p:cNvPr id="10" name="Text 7"/>
          <p:cNvSpPr txBox="1"/>
          <p:nvPr/>
        </p:nvSpPr>
        <p:spPr>
          <a:xfrm>
            <a:off x="7333488" y="4096512"/>
            <a:ext cx="4114800" cy="822960"/>
          </a:xfrm>
          <a:prstGeom prst="rect">
            <a:avLst/>
          </a:prstGeom>
          <a:noFill/>
          <a:ln/>
        </p:spPr>
        <p:txBody>
          <a:bodyPr wrap="square" lIns="0" tIns="0" rIns="0" bIns="0" rtlCol="0" anchor="ctr"/>
          <a:lstStyle/>
          <a:p>
            <a:pPr indent="0" marL="0">
              <a:buNone/>
            </a:pPr>
            <a:r>
              <a:rPr lang="en-US" sz="1100" dirty="0">
                <a:solidFill>
                  <a:srgbClr val="2B3A42"/>
                </a:solidFill>
                <a:latin typeface="Calibri" pitchFamily="34" charset="0"/>
                <a:ea typeface="Calibri" pitchFamily="34" charset="-122"/>
                <a:cs typeface="Calibri" pitchFamily="34" charset="-120"/>
              </a:rPr>
              <a:t>Ni EUF, ni AEF, ni Assifact, ni la OCDE publican comisión de cesión o tipo de descuento. Las cuentas de las filiales especializadas están en registros de pago.</a:t>
            </a:r>
            <a:endParaRPr lang="en-US" sz="1100" dirty="0"/>
          </a:p>
        </p:txBody>
      </p:sp>
      <p:sp>
        <p:nvSpPr>
          <p:cNvPr id="11" name="Text 8"/>
          <p:cNvSpPr txBox="1"/>
          <p:nvPr/>
        </p:nvSpPr>
        <p:spPr>
          <a:xfrm>
            <a:off x="548640" y="5120640"/>
            <a:ext cx="11091672" cy="365760"/>
          </a:xfrm>
          <a:prstGeom prst="rect">
            <a:avLst/>
          </a:prstGeom>
          <a:noFill/>
          <a:ln/>
        </p:spPr>
        <p:txBody>
          <a:bodyPr wrap="square" lIns="0" tIns="0" rIns="0" bIns="0" rtlCol="0" anchor="ctr"/>
          <a:lstStyle/>
          <a:p>
            <a:pPr indent="0" marL="0">
              <a:buNone/>
            </a:pPr>
            <a:r>
              <a:rPr lang="en-US" sz="1150" dirty="0">
                <a:solidFill>
                  <a:srgbClr val="2B3A42"/>
                </a:solidFill>
                <a:latin typeface="Calibri" pitchFamily="34" charset="0"/>
                <a:ea typeface="Calibri" pitchFamily="34" charset="-122"/>
                <a:cs typeface="Calibri" pitchFamily="34" charset="-120"/>
              </a:rPr>
              <a:t>Volumen cedido 2025 (M€):  España 270k  ·  Alemania 423k  ·  Francia 439k  ·  Italia 297k  ·  Portugal 52k  ·  P. Bajos 165k</a:t>
            </a:r>
            <a:endParaRPr lang="en-US" sz="1150" dirty="0"/>
          </a:p>
        </p:txBody>
      </p:sp>
      <p:sp>
        <p:nvSpPr>
          <p:cNvPr id="12" name="Text 9"/>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6E7F88"/>
                </a:solidFill>
                <a:latin typeface="Calibri" pitchFamily="34" charset="0"/>
                <a:ea typeface="Calibri" pitchFamily="34" charset="-122"/>
                <a:cs typeface="Calibri" pitchFamily="34" charset="-120"/>
              </a:rPr>
              <a:t>Fuentes: EUF (datos anuales 2025), AEF para el desglose español, Assifact para el italiano. El turnover es importe cedido en el año, no saldo vivo: no comparable con cartera de crédito.</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310896"/>
            <a:ext cx="11091672" cy="658368"/>
          </a:xfrm>
          <a:prstGeom prst="rect">
            <a:avLst/>
          </a:prstGeom>
          <a:noFill/>
          <a:ln/>
        </p:spPr>
        <p:txBody>
          <a:bodyPr wrap="square" lIns="0" tIns="0" rIns="0" bIns="0" rtlCol="0" anchor="ctr"/>
          <a:lstStyle/>
          <a:p>
            <a:pPr indent="0" marL="0">
              <a:buNone/>
            </a:pPr>
            <a:r>
              <a:rPr lang="en-US" sz="3000" b="1" dirty="0">
                <a:solidFill>
                  <a:srgbClr val="1C3F4E"/>
                </a:solidFill>
                <a:latin typeface="Cambria" pitchFamily="34" charset="0"/>
                <a:ea typeface="Cambria" pitchFamily="34" charset="-122"/>
                <a:cs typeface="Cambria" pitchFamily="34" charset="-120"/>
              </a:rPr>
              <a:t>Comparables banco a banco</a:t>
            </a:r>
            <a:endParaRPr lang="en-US" sz="3000" dirty="0"/>
          </a:p>
        </p:txBody>
      </p:sp>
      <p:sp>
        <p:nvSpPr>
          <p:cNvPr id="3" name="Text 1"/>
          <p:cNvSpPr txBox="1"/>
          <p:nvPr/>
        </p:nvSpPr>
        <p:spPr>
          <a:xfrm>
            <a:off x="548640" y="932688"/>
            <a:ext cx="11091672" cy="384048"/>
          </a:xfrm>
          <a:prstGeom prst="rect">
            <a:avLst/>
          </a:prstGeom>
          <a:noFill/>
          <a:ln/>
        </p:spPr>
        <p:txBody>
          <a:bodyPr wrap="square" lIns="0" tIns="0" rIns="0" bIns="0" rtlCol="0" anchor="ctr"/>
          <a:lstStyle/>
          <a:p>
            <a:pPr indent="0" marL="0">
              <a:buNone/>
            </a:pPr>
            <a:r>
              <a:rPr lang="en-US" sz="1300" dirty="0">
                <a:solidFill>
                  <a:srgbClr val="6E7F88"/>
                </a:solidFill>
                <a:latin typeface="Calibri" pitchFamily="34" charset="0"/>
                <a:ea typeface="Calibri" pitchFamily="34" charset="-122"/>
                <a:cs typeface="Calibri" pitchFamily="34" charset="-120"/>
              </a:rPr>
              <a:t>Cuentas de resultados 2026 · De nueve bancos analizados, solo dos publican segmento de empresas con desglose de comisiones</a:t>
            </a:r>
            <a:endParaRPr lang="en-US" sz="13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664208"/>
          <a:ext cx="11091672" cy="914400"/>
        </p:xfrm>
        <a:graphic>
          <a:graphicData uri="http://schemas.openxmlformats.org/drawingml/2006/table">
            <a:tbl>
              <a:tblPr/>
              <a:tblGrid>
                <a:gridCol w="2194560"/>
                <a:gridCol w="1371600"/>
                <a:gridCol w="3017520"/>
                <a:gridCol w="1463040"/>
                <a:gridCol w="1463040"/>
                <a:gridCol w="1143000"/>
                <a:gridCol w="1353312"/>
              </a:tblGrid>
              <a:tr h="457200">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Banco</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País</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Segmento publicado</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Ingresos M€</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Comisiones M€</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Com./ing.</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Eficiencia</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r>
              <a:tr h="457200">
                <a:tc>
                  <a:txBody>
                    <a:bodyPr/>
                    <a:lstStyle/>
                    <a:p>
                      <a:pPr algn="l" indent="0" marL="0">
                        <a:buNone/>
                      </a:pPr>
                      <a:r>
                        <a:rPr lang="en-US" sz="1000" b="1" dirty="0">
                          <a:solidFill>
                            <a:srgbClr val="2B3A42"/>
                          </a:solidFill>
                          <a:latin typeface="Calibri" pitchFamily="34" charset="0"/>
                          <a:ea typeface="Calibri" pitchFamily="34" charset="-122"/>
                          <a:cs typeface="Calibri" pitchFamily="34" charset="-120"/>
                        </a:rPr>
                        <a:t>Commerzbank</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Alemania</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b="1" dirty="0">
                          <a:solidFill>
                            <a:srgbClr val="2E7D5B"/>
                          </a:solidFill>
                          <a:latin typeface="Calibri" pitchFamily="34" charset="0"/>
                          <a:ea typeface="Calibri" pitchFamily="34" charset="-122"/>
                          <a:cs typeface="Calibri" pitchFamily="34" charset="-120"/>
                        </a:rPr>
                        <a:t>Corporate Clients</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1.232</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376</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30,5 %</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457200">
                <a:tc>
                  <a:txBody>
                    <a:bodyPr/>
                    <a:lstStyle/>
                    <a:p>
                      <a:pPr algn="l" indent="0" marL="0">
                        <a:buNone/>
                      </a:pPr>
                      <a:r>
                        <a:rPr lang="en-US" sz="1000" b="1" dirty="0">
                          <a:solidFill>
                            <a:srgbClr val="2B3A42"/>
                          </a:solidFill>
                          <a:latin typeface="Calibri" pitchFamily="34" charset="0"/>
                          <a:ea typeface="Calibri" pitchFamily="34" charset="-122"/>
                          <a:cs typeface="Calibri" pitchFamily="34" charset="-120"/>
                        </a:rPr>
                        <a:t>ABN AMRO</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P. Bajos</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b="1" dirty="0">
                          <a:solidFill>
                            <a:srgbClr val="2E7D5B"/>
                          </a:solidFill>
                          <a:latin typeface="Calibri" pitchFamily="34" charset="0"/>
                          <a:ea typeface="Calibri" pitchFamily="34" charset="-122"/>
                          <a:cs typeface="Calibri" pitchFamily="34" charset="-120"/>
                        </a:rPr>
                        <a:t>Corporate Banking</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1.694</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429</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25,3 %</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49,5 %</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457200">
                <a:tc>
                  <a:txBody>
                    <a:bodyPr/>
                    <a:lstStyle/>
                    <a:p>
                      <a:pPr algn="l" indent="0" marL="0">
                        <a:buNone/>
                      </a:pPr>
                      <a:r>
                        <a:rPr lang="en-US" sz="1000" b="1" dirty="0">
                          <a:solidFill>
                            <a:srgbClr val="2B3A42"/>
                          </a:solidFill>
                          <a:latin typeface="Calibri" pitchFamily="34" charset="0"/>
                          <a:ea typeface="Calibri" pitchFamily="34" charset="-122"/>
                          <a:cs typeface="Calibri" pitchFamily="34" charset="-120"/>
                        </a:rPr>
                        <a:t>Intesa Sanpaolo</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Italia</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b="1" dirty="0">
                          <a:solidFill>
                            <a:srgbClr val="2E7D5B"/>
                          </a:solidFill>
                          <a:latin typeface="Calibri" pitchFamily="34" charset="0"/>
                          <a:ea typeface="Calibri" pitchFamily="34" charset="-122"/>
                          <a:cs typeface="Calibri" pitchFamily="34" charset="-120"/>
                        </a:rPr>
                        <a:t>Banca dei Territori</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6.205</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no desglosa</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46,7 %</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457200">
                <a:tc>
                  <a:txBody>
                    <a:bodyPr/>
                    <a:lstStyle/>
                    <a:p>
                      <a:pPr algn="l" indent="0" marL="0">
                        <a:buNone/>
                      </a:pPr>
                      <a:r>
                        <a:rPr lang="en-US" sz="1000" b="1" dirty="0">
                          <a:solidFill>
                            <a:srgbClr val="2B3A42"/>
                          </a:solidFill>
                          <a:latin typeface="Calibri" pitchFamily="34" charset="0"/>
                          <a:ea typeface="Calibri" pitchFamily="34" charset="-122"/>
                          <a:cs typeface="Calibri" pitchFamily="34" charset="-120"/>
                        </a:rPr>
                        <a:t>CaixaBank</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España</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B04A3F"/>
                          </a:solidFill>
                          <a:latin typeface="Calibri" pitchFamily="34" charset="0"/>
                          <a:ea typeface="Calibri" pitchFamily="34" charset="-122"/>
                          <a:cs typeface="Calibri" pitchFamily="34" charset="-120"/>
                        </a:rPr>
                        <a:t>no tiene segmento empresas</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8.338</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2.075</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24,9 %</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39,6 %</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457200">
                <a:tc>
                  <a:txBody>
                    <a:bodyPr/>
                    <a:lstStyle/>
                    <a:p>
                      <a:pPr algn="l" indent="0" marL="0">
                        <a:buNone/>
                      </a:pPr>
                      <a:r>
                        <a:rPr lang="en-US" sz="1000" b="1" dirty="0">
                          <a:solidFill>
                            <a:srgbClr val="2B3A42"/>
                          </a:solidFill>
                          <a:latin typeface="Calibri" pitchFamily="34" charset="0"/>
                          <a:ea typeface="Calibri" pitchFamily="34" charset="-122"/>
                          <a:cs typeface="Calibri" pitchFamily="34" charset="-120"/>
                        </a:rPr>
                        <a:t>BPER Banca</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Italia</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B04A3F"/>
                          </a:solidFill>
                          <a:latin typeface="Calibri" pitchFamily="34" charset="0"/>
                          <a:ea typeface="Calibri" pitchFamily="34" charset="-122"/>
                          <a:cs typeface="Calibri" pitchFamily="34" charset="-120"/>
                        </a:rPr>
                        <a:t>no desglosa por división</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3.876</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1.353</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34,9 %</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3A42"/>
                          </a:solidFill>
                          <a:latin typeface="Calibri" pitchFamily="34" charset="0"/>
                          <a:ea typeface="Calibri" pitchFamily="34" charset="-122"/>
                          <a:cs typeface="Calibri" pitchFamily="34" charset="-120"/>
                        </a:rPr>
                        <a:t>41,4 %</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457200">
                <a:tc>
                  <a:txBody>
                    <a:bodyPr/>
                    <a:lstStyle/>
                    <a:p>
                      <a:pPr algn="l" indent="0" marL="0">
                        <a:buNone/>
                      </a:pPr>
                      <a:r>
                        <a:rPr lang="en-US" sz="1000" b="1" i="1" dirty="0">
                          <a:solidFill>
                            <a:srgbClr val="6E7F88"/>
                          </a:solidFill>
                          <a:latin typeface="Calibri" pitchFamily="34" charset="0"/>
                          <a:ea typeface="Calibri" pitchFamily="34" charset="-122"/>
                          <a:cs typeface="Calibri" pitchFamily="34" charset="-120"/>
                        </a:rPr>
                        <a:t>ING · SocGen · BNP</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i="1" dirty="0">
                          <a:solidFill>
                            <a:srgbClr val="6E7F88"/>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i="1" dirty="0">
                          <a:solidFill>
                            <a:srgbClr val="6E7F88"/>
                          </a:solidFill>
                          <a:latin typeface="Calibri" pitchFamily="34" charset="0"/>
                          <a:ea typeface="Calibri" pitchFamily="34" charset="-122"/>
                          <a:cs typeface="Calibri" pitchFamily="34" charset="-120"/>
                        </a:rPr>
                        <a:t>no accesible: bloqueo antibot</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i="1" dirty="0">
                          <a:solidFill>
                            <a:srgbClr val="6E7F88"/>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i="1" dirty="0">
                          <a:solidFill>
                            <a:srgbClr val="6E7F88"/>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i="1" dirty="0">
                          <a:solidFill>
                            <a:srgbClr val="6E7F88"/>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i="1" dirty="0">
                          <a:solidFill>
                            <a:srgbClr val="6E7F88"/>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bl>
          </a:graphicData>
        </a:graphic>
      </p:graphicFrame>
      <p:sp>
        <p:nvSpPr>
          <p:cNvPr id="5" name="Shape 2"/>
          <p:cNvSpPr/>
          <p:nvPr/>
        </p:nvSpPr>
        <p:spPr>
          <a:xfrm>
            <a:off x="548640" y="4800600"/>
            <a:ext cx="11091672" cy="1234440"/>
          </a:xfrm>
          <a:prstGeom prst="roundRect">
            <a:avLst>
              <a:gd name="adj" fmla="val 4444"/>
            </a:avLst>
          </a:prstGeom>
          <a:solidFill>
            <a:srgbClr val="FBEDEB"/>
          </a:solidFill>
          <a:ln w="12700">
            <a:solidFill>
              <a:srgbClr val="B04A3F"/>
            </a:solidFill>
            <a:prstDash val="solid"/>
          </a:ln>
        </p:spPr>
      </p:sp>
      <p:sp>
        <p:nvSpPr>
          <p:cNvPr id="6" name="Text 3"/>
          <p:cNvSpPr txBox="1"/>
          <p:nvPr/>
        </p:nvSpPr>
        <p:spPr>
          <a:xfrm>
            <a:off x="777240" y="4919472"/>
            <a:ext cx="10789920" cy="274320"/>
          </a:xfrm>
          <a:prstGeom prst="rect">
            <a:avLst/>
          </a:prstGeom>
          <a:noFill/>
          <a:ln/>
        </p:spPr>
        <p:txBody>
          <a:bodyPr wrap="square" lIns="0" tIns="0" rIns="0" bIns="0" rtlCol="0" anchor="ctr"/>
          <a:lstStyle/>
          <a:p>
            <a:pPr indent="0" marL="0">
              <a:buNone/>
            </a:pPr>
            <a:r>
              <a:rPr lang="en-US" sz="1300" b="1" dirty="0">
                <a:solidFill>
                  <a:srgbClr val="B04A3F"/>
                </a:solidFill>
                <a:latin typeface="Cambria" pitchFamily="34" charset="0"/>
                <a:ea typeface="Cambria" pitchFamily="34" charset="-122"/>
                <a:cs typeface="Cambria" pitchFamily="34" charset="-120"/>
              </a:rPr>
              <a:t>Por qué esto no cierra la pata de comisiones</a:t>
            </a:r>
            <a:endParaRPr lang="en-US" sz="1300" dirty="0"/>
          </a:p>
        </p:txBody>
      </p:sp>
      <p:sp>
        <p:nvSpPr>
          <p:cNvPr id="7" name="Text 4"/>
          <p:cNvSpPr txBox="1"/>
          <p:nvPr/>
        </p:nvSpPr>
        <p:spPr>
          <a:xfrm>
            <a:off x="777240" y="5230368"/>
            <a:ext cx="10789920" cy="731520"/>
          </a:xfrm>
          <a:prstGeom prst="rect">
            <a:avLst/>
          </a:prstGeom>
          <a:noFill/>
          <a:ln/>
        </p:spPr>
        <p:txBody>
          <a:bodyPr wrap="square" lIns="0" tIns="0" rIns="0" bIns="0" rtlCol="0" anchor="ctr"/>
          <a:lstStyle/>
          <a:p>
            <a:pPr indent="0" marL="0">
              <a:buNone/>
            </a:pPr>
            <a:r>
              <a:rPr lang="en-US" sz="1100" dirty="0">
                <a:solidFill>
                  <a:srgbClr val="2B3A42"/>
                </a:solidFill>
                <a:latin typeface="Calibri" pitchFamily="34" charset="0"/>
                <a:ea typeface="Calibri" pitchFamily="34" charset="-122"/>
                <a:cs typeface="Calibri" pitchFamily="34" charset="-120"/>
              </a:rPr>
              <a:t>La NIIF 8 obliga a reportar por los segmentos que usa la dirección, y casi ninguno usa «PYME». El segmento de Commerzbank mezcla gran empresa, PYME, sector público e institucionales. En ABN AMRO la PYME neerlandesa ni siquiera está en Corporate Banking, sino en Personal &amp; Business Banking. El peso de comisiones del 25 % al 35 % sirve como orden de magnitud de la banca de empresas, no como medida del negocio PYME.</a:t>
            </a:r>
            <a:endParaRPr lang="en-US" sz="1100" dirty="0"/>
          </a:p>
        </p:txBody>
      </p:sp>
      <p:sp>
        <p:nvSpPr>
          <p:cNvPr id="8" name="Text 5"/>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6E7F88"/>
                </a:solidFill>
                <a:latin typeface="Calibri" pitchFamily="34" charset="0"/>
                <a:ea typeface="Calibri" pitchFamily="34" charset="-122"/>
                <a:cs typeface="Calibri" pitchFamily="34" charset="-120"/>
              </a:rPr>
              <a:t>Fuentes: comunicado de resultados Q2 2026 de Commerzbank; informe intermedio Q2 2026 de ABN AMRO; resultados 1H26 de Intesa Sanpaolo; Actividad y Resultados 1S26 de CaixaBank; resultados 1H26 de BPER. Cifras de segmento donde existe, de grupo en el resto.</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310896"/>
            <a:ext cx="11091672" cy="658368"/>
          </a:xfrm>
          <a:prstGeom prst="rect">
            <a:avLst/>
          </a:prstGeom>
          <a:noFill/>
          <a:ln/>
        </p:spPr>
        <p:txBody>
          <a:bodyPr wrap="square" lIns="0" tIns="0" rIns="0" bIns="0" rtlCol="0" anchor="ctr"/>
          <a:lstStyle/>
          <a:p>
            <a:pPr indent="0" marL="0">
              <a:buNone/>
            </a:pPr>
            <a:r>
              <a:rPr lang="en-US" sz="3000" b="1" dirty="0">
                <a:solidFill>
                  <a:srgbClr val="1C3F4E"/>
                </a:solidFill>
                <a:latin typeface="Cambria" pitchFamily="34" charset="0"/>
                <a:ea typeface="Cambria" pitchFamily="34" charset="-122"/>
                <a:cs typeface="Cambria" pitchFamily="34" charset="-120"/>
              </a:rPr>
              <a:t>Supuestos del modelo</a:t>
            </a:r>
            <a:endParaRPr lang="en-US" sz="3000" dirty="0"/>
          </a:p>
        </p:txBody>
      </p:sp>
      <p:sp>
        <p:nvSpPr>
          <p:cNvPr id="3" name="Text 1"/>
          <p:cNvSpPr txBox="1"/>
          <p:nvPr/>
        </p:nvSpPr>
        <p:spPr>
          <a:xfrm>
            <a:off x="548640" y="932688"/>
            <a:ext cx="11091672" cy="384048"/>
          </a:xfrm>
          <a:prstGeom prst="rect">
            <a:avLst/>
          </a:prstGeom>
          <a:noFill/>
          <a:ln/>
        </p:spPr>
        <p:txBody>
          <a:bodyPr wrap="square" lIns="0" tIns="0" rIns="0" bIns="0" rtlCol="0" anchor="ctr"/>
          <a:lstStyle/>
          <a:p>
            <a:pPr indent="0" marL="0">
              <a:buNone/>
            </a:pPr>
            <a:r>
              <a:rPr lang="en-US" sz="1300" dirty="0">
                <a:solidFill>
                  <a:srgbClr val="6E7F88"/>
                </a:solidFill>
                <a:latin typeface="Calibri" pitchFamily="34" charset="0"/>
                <a:ea typeface="Calibri" pitchFamily="34" charset="-122"/>
                <a:cs typeface="Calibri" pitchFamily="34" charset="-120"/>
              </a:rPr>
              <a:t>Cada uno declarado, con su origen y su efecto · Dos de los iniciales han dejado de ser supuestos</a:t>
            </a:r>
            <a:endParaRPr lang="en-US" sz="13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11091672" cy="914400"/>
        </p:xfrm>
        <a:graphic>
          <a:graphicData uri="http://schemas.openxmlformats.org/drawingml/2006/table">
            <a:tbl>
              <a:tblPr/>
              <a:tblGrid>
                <a:gridCol w="2468880"/>
                <a:gridCol w="1600200"/>
                <a:gridCol w="4114800"/>
                <a:gridCol w="2898648"/>
              </a:tblGrid>
              <a:tr h="566928">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Supuesto</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Valor</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Origen</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Efecto si cambia</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r>
              <a:tr h="566928">
                <a:tc>
                  <a:txBody>
                    <a:bodyPr/>
                    <a:lstStyle/>
                    <a:p>
                      <a:pPr algn="l" indent="0" marL="0">
                        <a:buNone/>
                      </a:pPr>
                      <a:r>
                        <a:rPr lang="en-US" sz="1000" b="1" dirty="0">
                          <a:solidFill>
                            <a:srgbClr val="2B3A42"/>
                          </a:solidFill>
                          <a:latin typeface="Calibri" pitchFamily="34" charset="0"/>
                          <a:ea typeface="Calibri" pitchFamily="34" charset="-122"/>
                          <a:cs typeface="Calibri" pitchFamily="34" charset="-120"/>
                        </a:rPr>
                        <a:t>Cuña de comisiones</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87 pb</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Observada en España (TAE − TEDR, tramo ≤1 M€). Aplicada a los otros cinco países</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b="1" dirty="0">
                          <a:solidFill>
                            <a:srgbClr val="B04A3F"/>
                          </a:solidFill>
                          <a:latin typeface="Calibri" pitchFamily="34" charset="0"/>
                          <a:ea typeface="Calibri" pitchFamily="34" charset="-122"/>
                          <a:cs typeface="Calibri" pitchFamily="34" charset="-120"/>
                        </a:rPr>
                        <a:t>ALTO. Mueve el ROE entre 3 y 12 puntos</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566928">
                <a:tc>
                  <a:txBody>
                    <a:bodyPr/>
                    <a:lstStyle/>
                    <a:p>
                      <a:pPr algn="l" indent="0" marL="0">
                        <a:buNone/>
                      </a:pPr>
                      <a:r>
                        <a:rPr lang="en-US" sz="1000" b="1" dirty="0">
                          <a:solidFill>
                            <a:srgbClr val="2B3A42"/>
                          </a:solidFill>
                          <a:latin typeface="Calibri" pitchFamily="34" charset="0"/>
                          <a:ea typeface="Calibri" pitchFamily="34" charset="-122"/>
                          <a:cs typeface="Calibri" pitchFamily="34" charset="-120"/>
                        </a:rPr>
                        <a:t>Coste de fondos</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Euríbor 3m 2,23 %</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Observado. Igual para los seis países</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MEDIO. Desplaza todos los ROE en paralelo</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566928">
                <a:tc>
                  <a:txBody>
                    <a:bodyPr/>
                    <a:lstStyle/>
                    <a:p>
                      <a:pPr algn="l" indent="0" marL="0">
                        <a:buNone/>
                      </a:pPr>
                      <a:r>
                        <a:rPr lang="en-US" sz="1000" b="1" dirty="0">
                          <a:solidFill>
                            <a:srgbClr val="2B3A42"/>
                          </a:solidFill>
                          <a:latin typeface="Calibri" pitchFamily="34" charset="0"/>
                          <a:ea typeface="Calibri" pitchFamily="34" charset="-122"/>
                          <a:cs typeface="Calibri" pitchFamily="34" charset="-120"/>
                        </a:rPr>
                        <a:t>Coste del riesgo</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PD × LGD por país</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YA NO ES SUPUESTO. Parámetros IRB de la clase «Corporates – Of Which: SME», mediana de entidades (COREP C 9.02)</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566928">
                <a:tc>
                  <a:txBody>
                    <a:bodyPr/>
                    <a:lstStyle/>
                    <a:p>
                      <a:pPr algn="l" indent="0" marL="0">
                        <a:buNone/>
                      </a:pPr>
                      <a:r>
                        <a:rPr lang="en-US" sz="1000" b="1" dirty="0">
                          <a:solidFill>
                            <a:srgbClr val="2B3A42"/>
                          </a:solidFill>
                          <a:latin typeface="Calibri" pitchFamily="34" charset="0"/>
                          <a:ea typeface="Calibri" pitchFamily="34" charset="-122"/>
                          <a:cs typeface="Calibri" pitchFamily="34" charset="-120"/>
                        </a:rPr>
                        <a:t>Densidad de RWA</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35 % a 61 % por país</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YA NO ES SUPUESTO. RWA sobre exposición de la cartera PYME (EBA Transparency Exercise)</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566928">
                <a:tc>
                  <a:txBody>
                    <a:bodyPr/>
                    <a:lstStyle/>
                    <a:p>
                      <a:pPr algn="l" indent="0" marL="0">
                        <a:buNone/>
                      </a:pPr>
                      <a:r>
                        <a:rPr lang="en-US" sz="1000" b="1" dirty="0">
                          <a:solidFill>
                            <a:srgbClr val="2B3A42"/>
                          </a:solidFill>
                          <a:latin typeface="Calibri" pitchFamily="34" charset="0"/>
                          <a:ea typeface="Calibri" pitchFamily="34" charset="-122"/>
                          <a:cs typeface="Calibri" pitchFamily="34" charset="-120"/>
                        </a:rPr>
                        <a:t>Tipo impositivo</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25 %</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Uniforme, no por país</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BAJO. Escala proporcional</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566928">
                <a:tc>
                  <a:txBody>
                    <a:bodyPr/>
                    <a:lstStyle/>
                    <a:p>
                      <a:pPr algn="l" indent="0" marL="0">
                        <a:buNone/>
                      </a:pPr>
                      <a:r>
                        <a:rPr lang="en-US" sz="1000" b="1" dirty="0">
                          <a:solidFill>
                            <a:srgbClr val="2B3A42"/>
                          </a:solidFill>
                          <a:latin typeface="Calibri" pitchFamily="34" charset="0"/>
                          <a:ea typeface="Calibri" pitchFamily="34" charset="-122"/>
                          <a:cs typeface="Calibri" pitchFamily="34" charset="-120"/>
                        </a:rPr>
                        <a:t>Eficiencia</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EBA por país</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Observada, pero de grupo consolidado y no de segmento PYME</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MEDIO. Penaliza a países con banca universal compleja</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bl>
          </a:graphicData>
        </a:graphic>
      </p:graphicFrame>
      <p:sp>
        <p:nvSpPr>
          <p:cNvPr id="5" name="Text 2"/>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6E7F88"/>
                </a:solidFill>
                <a:latin typeface="Calibri" pitchFamily="34" charset="0"/>
                <a:ea typeface="Calibri" pitchFamily="34" charset="-122"/>
                <a:cs typeface="Calibri" pitchFamily="34" charset="-120"/>
              </a:rPr>
              <a:t>El modelo completo y reproducible está en scripts/modelo_roe.py del repositorio. Cada fila del CSV de salida declara si el valor es observado o supuesto.</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22C36"/>
        </a:solidFill>
      </p:bgPr>
    </p:bg>
    <p:spTree>
      <p:nvGrpSpPr>
        <p:cNvPr id="1" name=""/>
        <p:cNvGrpSpPr/>
        <p:nvPr/>
      </p:nvGrpSpPr>
      <p:grpSpPr>
        <a:xfrm>
          <a:off x="0" y="0"/>
          <a:ext cx="0" cy="0"/>
          <a:chOff x="0" y="0"/>
          <a:chExt cx="0" cy="0"/>
        </a:xfrm>
      </p:grpSpPr>
      <p:sp>
        <p:nvSpPr>
          <p:cNvPr id="2" name="Text 0"/>
          <p:cNvSpPr txBox="1"/>
          <p:nvPr/>
        </p:nvSpPr>
        <p:spPr>
          <a:xfrm>
            <a:off x="548640" y="502920"/>
            <a:ext cx="11091672" cy="54864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Lo que estos datos no permiten afirmar</a:t>
            </a:r>
            <a:endParaRPr lang="en-US" sz="3000" dirty="0"/>
          </a:p>
        </p:txBody>
      </p:sp>
      <p:sp>
        <p:nvSpPr>
          <p:cNvPr id="3" name="Text 1"/>
          <p:cNvSpPr txBox="1"/>
          <p:nvPr/>
        </p:nvSpPr>
        <p:spPr>
          <a:xfrm>
            <a:off x="548640" y="1078992"/>
            <a:ext cx="11091672" cy="365760"/>
          </a:xfrm>
          <a:prstGeom prst="rect">
            <a:avLst/>
          </a:prstGeom>
          <a:noFill/>
          <a:ln/>
        </p:spPr>
        <p:txBody>
          <a:bodyPr wrap="square" lIns="0" tIns="0" rIns="0" bIns="0" rtlCol="0" anchor="ctr"/>
          <a:lstStyle/>
          <a:p>
            <a:pPr indent="0" marL="0">
              <a:buNone/>
            </a:pPr>
            <a:r>
              <a:rPr lang="en-US" sz="1300" dirty="0">
                <a:solidFill>
                  <a:srgbClr val="9FB3BC"/>
                </a:solidFill>
                <a:latin typeface="Calibri" pitchFamily="34" charset="0"/>
                <a:ea typeface="Calibri" pitchFamily="34" charset="-122"/>
                <a:cs typeface="Calibri" pitchFamily="34" charset="-120"/>
              </a:rPr>
              <a:t>Cuatro límites que conviene tener delante antes de usar cualquier cifra de este deck</a:t>
            </a:r>
            <a:endParaRPr lang="en-US" sz="1300" dirty="0"/>
          </a:p>
        </p:txBody>
      </p:sp>
      <p:sp>
        <p:nvSpPr>
          <p:cNvPr id="4" name="Shape 2"/>
          <p:cNvSpPr/>
          <p:nvPr/>
        </p:nvSpPr>
        <p:spPr>
          <a:xfrm>
            <a:off x="548640" y="1700784"/>
            <a:ext cx="384048" cy="384048"/>
          </a:xfrm>
          <a:prstGeom prst="ellipse">
            <a:avLst/>
          </a:prstGeom>
          <a:solidFill>
            <a:srgbClr val="C97B3C"/>
          </a:solidFill>
          <a:ln w="12700">
            <a:solidFill>
              <a:srgbClr val="C97B3C"/>
            </a:solidFill>
            <a:prstDash val="solid"/>
          </a:ln>
        </p:spPr>
      </p:sp>
      <p:sp>
        <p:nvSpPr>
          <p:cNvPr id="5" name="Text 3"/>
          <p:cNvSpPr txBox="1"/>
          <p:nvPr/>
        </p:nvSpPr>
        <p:spPr>
          <a:xfrm>
            <a:off x="548640" y="1700784"/>
            <a:ext cx="384048" cy="384048"/>
          </a:xfrm>
          <a:prstGeom prst="rect">
            <a:avLst/>
          </a:prstGeom>
          <a:noFill/>
          <a:ln/>
        </p:spPr>
        <p:txBody>
          <a:bodyPr wrap="square" lIns="0" tIns="0" rIns="0" bIns="0" rtlCol="0" anchor="ctr"/>
          <a:lstStyle/>
          <a:p>
            <a:pPr algn="ctr" indent="0" marL="0">
              <a:buNone/>
            </a:pPr>
            <a:r>
              <a:rPr lang="en-US" sz="1500" b="1" dirty="0">
                <a:solidFill>
                  <a:srgbClr val="122C36"/>
                </a:solidFill>
                <a:latin typeface="Cambria" pitchFamily="34" charset="0"/>
                <a:ea typeface="Cambria" pitchFamily="34" charset="-122"/>
                <a:cs typeface="Cambria" pitchFamily="34" charset="-120"/>
              </a:rPr>
              <a:t>1</a:t>
            </a:r>
            <a:endParaRPr lang="en-US" sz="1500" dirty="0"/>
          </a:p>
        </p:txBody>
      </p:sp>
      <p:sp>
        <p:nvSpPr>
          <p:cNvPr id="6" name="Text 4"/>
          <p:cNvSpPr txBox="1"/>
          <p:nvPr/>
        </p:nvSpPr>
        <p:spPr>
          <a:xfrm>
            <a:off x="1143000" y="1645920"/>
            <a:ext cx="10515600" cy="292608"/>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Rentabilidad comparable entre países</a:t>
            </a:r>
            <a:endParaRPr lang="en-US" sz="1500" dirty="0"/>
          </a:p>
        </p:txBody>
      </p:sp>
      <p:sp>
        <p:nvSpPr>
          <p:cNvPr id="7" name="Text 5"/>
          <p:cNvSpPr txBox="1"/>
          <p:nvPr/>
        </p:nvSpPr>
        <p:spPr>
          <a:xfrm>
            <a:off x="1143000" y="1975104"/>
            <a:ext cx="10515600" cy="658368"/>
          </a:xfrm>
          <a:prstGeom prst="rect">
            <a:avLst/>
          </a:prstGeom>
          <a:noFill/>
          <a:ln/>
        </p:spPr>
        <p:txBody>
          <a:bodyPr wrap="square" lIns="0" tIns="0" rIns="0" bIns="0" rtlCol="0" anchor="ctr"/>
          <a:lstStyle/>
          <a:p>
            <a:pPr indent="0" marL="0">
              <a:buNone/>
            </a:pPr>
            <a:r>
              <a:rPr lang="en-US" sz="1150" dirty="0">
                <a:solidFill>
                  <a:srgbClr val="C3D2D8"/>
                </a:solidFill>
                <a:latin typeface="Calibri" pitchFamily="34" charset="0"/>
                <a:ea typeface="Calibri" pitchFamily="34" charset="-122"/>
                <a:cs typeface="Calibri" pitchFamily="34" charset="-120"/>
              </a:rPr>
              <a:t>Riesgo y capital de PYME ya son observados por país. Lo que sigue siendo supuesto es la comisión: solo España e Italia publican un tipo con comisiones para empresas, y con perímetros distintos. El ROE comparado es una hipótesis ordenada, no una medición.</a:t>
            </a:r>
            <a:endParaRPr lang="en-US" sz="1150" dirty="0"/>
          </a:p>
        </p:txBody>
      </p:sp>
      <p:sp>
        <p:nvSpPr>
          <p:cNvPr id="8" name="Shape 6"/>
          <p:cNvSpPr/>
          <p:nvPr/>
        </p:nvSpPr>
        <p:spPr>
          <a:xfrm>
            <a:off x="548640" y="2816352"/>
            <a:ext cx="384048" cy="384048"/>
          </a:xfrm>
          <a:prstGeom prst="ellipse">
            <a:avLst/>
          </a:prstGeom>
          <a:solidFill>
            <a:srgbClr val="C97B3C"/>
          </a:solidFill>
          <a:ln w="12700">
            <a:solidFill>
              <a:srgbClr val="C97B3C"/>
            </a:solidFill>
            <a:prstDash val="solid"/>
          </a:ln>
        </p:spPr>
      </p:sp>
      <p:sp>
        <p:nvSpPr>
          <p:cNvPr id="9" name="Text 7"/>
          <p:cNvSpPr txBox="1"/>
          <p:nvPr/>
        </p:nvSpPr>
        <p:spPr>
          <a:xfrm>
            <a:off x="548640" y="2816352"/>
            <a:ext cx="384048" cy="384048"/>
          </a:xfrm>
          <a:prstGeom prst="rect">
            <a:avLst/>
          </a:prstGeom>
          <a:noFill/>
          <a:ln/>
        </p:spPr>
        <p:txBody>
          <a:bodyPr wrap="square" lIns="0" tIns="0" rIns="0" bIns="0" rtlCol="0" anchor="ctr"/>
          <a:lstStyle/>
          <a:p>
            <a:pPr algn="ctr" indent="0" marL="0">
              <a:buNone/>
            </a:pPr>
            <a:r>
              <a:rPr lang="en-US" sz="1500" b="1" dirty="0">
                <a:solidFill>
                  <a:srgbClr val="122C36"/>
                </a:solidFill>
                <a:latin typeface="Cambria" pitchFamily="34" charset="0"/>
                <a:ea typeface="Cambria" pitchFamily="34" charset="-122"/>
                <a:cs typeface="Cambria" pitchFamily="34" charset="-120"/>
              </a:rPr>
              <a:t>2</a:t>
            </a:r>
            <a:endParaRPr lang="en-US" sz="1500" dirty="0"/>
          </a:p>
        </p:txBody>
      </p:sp>
      <p:sp>
        <p:nvSpPr>
          <p:cNvPr id="10" name="Text 8"/>
          <p:cNvSpPr txBox="1"/>
          <p:nvPr/>
        </p:nvSpPr>
        <p:spPr>
          <a:xfrm>
            <a:off x="1143000" y="2761488"/>
            <a:ext cx="10515600" cy="292608"/>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El negocio PYME de cada banco</a:t>
            </a:r>
            <a:endParaRPr lang="en-US" sz="1500" dirty="0"/>
          </a:p>
        </p:txBody>
      </p:sp>
      <p:sp>
        <p:nvSpPr>
          <p:cNvPr id="11" name="Text 9"/>
          <p:cNvSpPr txBox="1"/>
          <p:nvPr/>
        </p:nvSpPr>
        <p:spPr>
          <a:xfrm>
            <a:off x="1143000" y="3090672"/>
            <a:ext cx="10515600" cy="658368"/>
          </a:xfrm>
          <a:prstGeom prst="rect">
            <a:avLst/>
          </a:prstGeom>
          <a:noFill/>
          <a:ln/>
        </p:spPr>
        <p:txBody>
          <a:bodyPr wrap="square" lIns="0" tIns="0" rIns="0" bIns="0" rtlCol="0" anchor="ctr"/>
          <a:lstStyle/>
          <a:p>
            <a:pPr indent="0" marL="0">
              <a:buNone/>
            </a:pPr>
            <a:r>
              <a:rPr lang="en-US" sz="1150" dirty="0">
                <a:solidFill>
                  <a:srgbClr val="C3D2D8"/>
                </a:solidFill>
                <a:latin typeface="Calibri" pitchFamily="34" charset="0"/>
                <a:ea typeface="Calibri" pitchFamily="34" charset="-122"/>
                <a:cs typeface="Calibri" pitchFamily="34" charset="-120"/>
              </a:rPr>
              <a:t>De nueve bancos analizados, solo dos publican cuenta de resultados de un segmento de empresas con desglose de comisiones, y ninguno aísla PYME. La NIIF 8 obliga a reportar por los segmentos que usa la dirección, y casi ninguno usa «PYME».</a:t>
            </a:r>
            <a:endParaRPr lang="en-US" sz="1150" dirty="0"/>
          </a:p>
        </p:txBody>
      </p:sp>
      <p:sp>
        <p:nvSpPr>
          <p:cNvPr id="12" name="Shape 10"/>
          <p:cNvSpPr/>
          <p:nvPr/>
        </p:nvSpPr>
        <p:spPr>
          <a:xfrm>
            <a:off x="548640" y="3931920"/>
            <a:ext cx="384048" cy="384048"/>
          </a:xfrm>
          <a:prstGeom prst="ellipse">
            <a:avLst/>
          </a:prstGeom>
          <a:solidFill>
            <a:srgbClr val="C97B3C"/>
          </a:solidFill>
          <a:ln w="12700">
            <a:solidFill>
              <a:srgbClr val="C97B3C"/>
            </a:solidFill>
            <a:prstDash val="solid"/>
          </a:ln>
        </p:spPr>
      </p:sp>
      <p:sp>
        <p:nvSpPr>
          <p:cNvPr id="13" name="Text 11"/>
          <p:cNvSpPr txBox="1"/>
          <p:nvPr/>
        </p:nvSpPr>
        <p:spPr>
          <a:xfrm>
            <a:off x="548640" y="3931920"/>
            <a:ext cx="384048" cy="384048"/>
          </a:xfrm>
          <a:prstGeom prst="rect">
            <a:avLst/>
          </a:prstGeom>
          <a:noFill/>
          <a:ln/>
        </p:spPr>
        <p:txBody>
          <a:bodyPr wrap="square" lIns="0" tIns="0" rIns="0" bIns="0" rtlCol="0" anchor="ctr"/>
          <a:lstStyle/>
          <a:p>
            <a:pPr algn="ctr" indent="0" marL="0">
              <a:buNone/>
            </a:pPr>
            <a:r>
              <a:rPr lang="en-US" sz="1500" b="1" dirty="0">
                <a:solidFill>
                  <a:srgbClr val="122C36"/>
                </a:solidFill>
                <a:latin typeface="Cambria" pitchFamily="34" charset="0"/>
                <a:ea typeface="Cambria" pitchFamily="34" charset="-122"/>
                <a:cs typeface="Cambria" pitchFamily="34" charset="-120"/>
              </a:rPr>
              <a:t>3</a:t>
            </a:r>
            <a:endParaRPr lang="en-US" sz="1500" dirty="0"/>
          </a:p>
        </p:txBody>
      </p:sp>
      <p:sp>
        <p:nvSpPr>
          <p:cNvPr id="14" name="Text 12"/>
          <p:cNvSpPr txBox="1"/>
          <p:nvPr/>
        </p:nvSpPr>
        <p:spPr>
          <a:xfrm>
            <a:off x="1143000" y="3877056"/>
            <a:ext cx="10515600" cy="292608"/>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El precio del factoring y del confirming</a:t>
            </a:r>
            <a:endParaRPr lang="en-US" sz="1500" dirty="0"/>
          </a:p>
        </p:txBody>
      </p:sp>
      <p:sp>
        <p:nvSpPr>
          <p:cNvPr id="15" name="Text 13"/>
          <p:cNvSpPr txBox="1"/>
          <p:nvPr/>
        </p:nvSpPr>
        <p:spPr>
          <a:xfrm>
            <a:off x="1143000" y="4206240"/>
            <a:ext cx="10515600" cy="658368"/>
          </a:xfrm>
          <a:prstGeom prst="rect">
            <a:avLst/>
          </a:prstGeom>
          <a:noFill/>
          <a:ln/>
        </p:spPr>
        <p:txBody>
          <a:bodyPr wrap="square" lIns="0" tIns="0" rIns="0" bIns="0" rtlCol="0" anchor="ctr"/>
          <a:lstStyle/>
          <a:p>
            <a:pPr indent="0" marL="0">
              <a:buNone/>
            </a:pPr>
            <a:r>
              <a:rPr lang="en-US" sz="1150" dirty="0">
                <a:solidFill>
                  <a:srgbClr val="C3D2D8"/>
                </a:solidFill>
                <a:latin typeface="Calibri" pitchFamily="34" charset="0"/>
                <a:ea typeface="Calibri" pitchFamily="34" charset="-122"/>
                <a:cs typeface="Calibri" pitchFamily="34" charset="-120"/>
              </a:rPr>
              <a:t>No es obtenible con fuentes públicas gratuitas en ninguno de los seis países. Es el único bloque que se cierra sin ningún dato de su objetivo.</a:t>
            </a:r>
            <a:endParaRPr lang="en-US" sz="1150" dirty="0"/>
          </a:p>
        </p:txBody>
      </p:sp>
      <p:sp>
        <p:nvSpPr>
          <p:cNvPr id="16" name="Shape 14"/>
          <p:cNvSpPr/>
          <p:nvPr/>
        </p:nvSpPr>
        <p:spPr>
          <a:xfrm>
            <a:off x="548640" y="5047488"/>
            <a:ext cx="384048" cy="384048"/>
          </a:xfrm>
          <a:prstGeom prst="ellipse">
            <a:avLst/>
          </a:prstGeom>
          <a:solidFill>
            <a:srgbClr val="C97B3C"/>
          </a:solidFill>
          <a:ln w="12700">
            <a:solidFill>
              <a:srgbClr val="C97B3C"/>
            </a:solidFill>
            <a:prstDash val="solid"/>
          </a:ln>
        </p:spPr>
      </p:sp>
      <p:sp>
        <p:nvSpPr>
          <p:cNvPr id="17" name="Text 15"/>
          <p:cNvSpPr txBox="1"/>
          <p:nvPr/>
        </p:nvSpPr>
        <p:spPr>
          <a:xfrm>
            <a:off x="548640" y="5047488"/>
            <a:ext cx="384048" cy="384048"/>
          </a:xfrm>
          <a:prstGeom prst="rect">
            <a:avLst/>
          </a:prstGeom>
          <a:noFill/>
          <a:ln/>
        </p:spPr>
        <p:txBody>
          <a:bodyPr wrap="square" lIns="0" tIns="0" rIns="0" bIns="0" rtlCol="0" anchor="ctr"/>
          <a:lstStyle/>
          <a:p>
            <a:pPr algn="ctr" indent="0" marL="0">
              <a:buNone/>
            </a:pPr>
            <a:r>
              <a:rPr lang="en-US" sz="1500" b="1" dirty="0">
                <a:solidFill>
                  <a:srgbClr val="122C36"/>
                </a:solidFill>
                <a:latin typeface="Cambria" pitchFamily="34" charset="0"/>
                <a:ea typeface="Cambria" pitchFamily="34" charset="-122"/>
                <a:cs typeface="Cambria" pitchFamily="34" charset="-120"/>
              </a:rPr>
              <a:t>4</a:t>
            </a:r>
            <a:endParaRPr lang="en-US" sz="1500" dirty="0"/>
          </a:p>
        </p:txBody>
      </p:sp>
      <p:sp>
        <p:nvSpPr>
          <p:cNvPr id="18" name="Text 16"/>
          <p:cNvSpPr txBox="1"/>
          <p:nvPr/>
        </p:nvSpPr>
        <p:spPr>
          <a:xfrm>
            <a:off x="1143000" y="4992624"/>
            <a:ext cx="10515600" cy="292608"/>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La hipoteca a PYME</a:t>
            </a:r>
            <a:endParaRPr lang="en-US" sz="1500" dirty="0"/>
          </a:p>
        </p:txBody>
      </p:sp>
      <p:sp>
        <p:nvSpPr>
          <p:cNvPr id="19" name="Text 17"/>
          <p:cNvSpPr txBox="1"/>
          <p:nvPr/>
        </p:nvSpPr>
        <p:spPr>
          <a:xfrm>
            <a:off x="1143000" y="5321808"/>
            <a:ext cx="10515600" cy="658368"/>
          </a:xfrm>
          <a:prstGeom prst="rect">
            <a:avLst/>
          </a:prstGeom>
          <a:noFill/>
          <a:ln/>
        </p:spPr>
        <p:txBody>
          <a:bodyPr wrap="square" lIns="0" tIns="0" rIns="0" bIns="0" rtlCol="0" anchor="ctr"/>
          <a:lstStyle/>
          <a:p>
            <a:pPr indent="0" marL="0">
              <a:buNone/>
            </a:pPr>
            <a:r>
              <a:rPr lang="en-US" sz="1150" dirty="0">
                <a:solidFill>
                  <a:srgbClr val="C3D2D8"/>
                </a:solidFill>
                <a:latin typeface="Calibri" pitchFamily="34" charset="0"/>
                <a:ea typeface="Calibri" pitchFamily="34" charset="-122"/>
                <a:cs typeface="Calibri" pitchFamily="34" charset="-120"/>
              </a:rPr>
              <a:t>No existe como estadística oficial europea. Lo que se muestra es exposición a inmueble comercial, que es otra cosa.</a:t>
            </a:r>
            <a:endParaRPr lang="en-US" sz="11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310896"/>
            <a:ext cx="11091672" cy="658368"/>
          </a:xfrm>
          <a:prstGeom prst="rect">
            <a:avLst/>
          </a:prstGeom>
          <a:noFill/>
          <a:ln/>
        </p:spPr>
        <p:txBody>
          <a:bodyPr wrap="square" lIns="0" tIns="0" rIns="0" bIns="0" rtlCol="0" anchor="ctr"/>
          <a:lstStyle/>
          <a:p>
            <a:pPr indent="0" marL="0">
              <a:buNone/>
            </a:pPr>
            <a:r>
              <a:rPr lang="en-US" sz="3000" b="1" dirty="0">
                <a:solidFill>
                  <a:srgbClr val="1C3F4E"/>
                </a:solidFill>
                <a:latin typeface="Cambria" pitchFamily="34" charset="0"/>
                <a:ea typeface="Cambria" pitchFamily="34" charset="-122"/>
                <a:cs typeface="Cambria" pitchFamily="34" charset="-120"/>
              </a:rPr>
              <a:t>Fuentes</a:t>
            </a:r>
            <a:endParaRPr lang="en-US" sz="3000" dirty="0"/>
          </a:p>
        </p:txBody>
      </p:sp>
      <p:sp>
        <p:nvSpPr>
          <p:cNvPr id="3" name="Text 1"/>
          <p:cNvSpPr txBox="1"/>
          <p:nvPr/>
        </p:nvSpPr>
        <p:spPr>
          <a:xfrm>
            <a:off x="548640" y="932688"/>
            <a:ext cx="11091672" cy="384048"/>
          </a:xfrm>
          <a:prstGeom prst="rect">
            <a:avLst/>
          </a:prstGeom>
          <a:noFill/>
          <a:ln/>
        </p:spPr>
        <p:txBody>
          <a:bodyPr wrap="square" lIns="0" tIns="0" rIns="0" bIns="0" rtlCol="0" anchor="ctr"/>
          <a:lstStyle/>
          <a:p>
            <a:pPr indent="0" marL="0">
              <a:buNone/>
            </a:pPr>
            <a:r>
              <a:rPr lang="en-US" sz="1300" dirty="0">
                <a:solidFill>
                  <a:srgbClr val="6E7F88"/>
                </a:solidFill>
                <a:latin typeface="Calibri" pitchFamily="34" charset="0"/>
                <a:ea typeface="Calibri" pitchFamily="34" charset="-122"/>
                <a:cs typeface="Calibri" pitchFamily="34" charset="-120"/>
              </a:rPr>
              <a:t>Nueve fuentes, 25.370 observaciones, cada fila trazable a su serie de origen</a:t>
            </a:r>
            <a:endParaRPr lang="en-US" sz="13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11091672" cy="914400"/>
        </p:xfrm>
        <a:graphic>
          <a:graphicData uri="http://schemas.openxmlformats.org/drawingml/2006/table">
            <a:tbl>
              <a:tblPr/>
              <a:tblGrid>
                <a:gridCol w="2606040"/>
                <a:gridCol w="4251960"/>
                <a:gridCol w="2560320"/>
                <a:gridCol w="1664208"/>
              </a:tblGrid>
              <a:tr h="402336">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Bloque</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Fuente</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Cobertura</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Último dato</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r>
              <a:tr h="402336">
                <a:tc>
                  <a:txBody>
                    <a:bodyPr/>
                    <a:lstStyle/>
                    <a:p>
                      <a:pPr algn="l" indent="0" marL="0">
                        <a:buNone/>
                      </a:pPr>
                      <a:r>
                        <a:rPr lang="en-US" sz="1050" b="1" dirty="0">
                          <a:solidFill>
                            <a:srgbClr val="2B3A42"/>
                          </a:solidFill>
                          <a:latin typeface="Calibri" pitchFamily="34" charset="0"/>
                          <a:ea typeface="Calibri" pitchFamily="34" charset="-122"/>
                          <a:cs typeface="Calibri" pitchFamily="34" charset="-120"/>
                        </a:rPr>
                        <a:t>Precio y volumen</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BCE, ECB Data Portal, dataset MIR</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6 países, mensual</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2026-07</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r>
              <a:tr h="402336">
                <a:tc>
                  <a:txBody>
                    <a:bodyPr/>
                    <a:lstStyle/>
                    <a:p>
                      <a:pPr algn="l" indent="0" marL="0">
                        <a:buNone/>
                      </a:pPr>
                      <a:r>
                        <a:rPr lang="en-US" sz="1050" b="1" dirty="0">
                          <a:solidFill>
                            <a:srgbClr val="2B3A42"/>
                          </a:solidFill>
                          <a:latin typeface="Calibri" pitchFamily="34" charset="0"/>
                          <a:ea typeface="Calibri" pitchFamily="34" charset="-122"/>
                          <a:cs typeface="Calibri" pitchFamily="34" charset="-120"/>
                        </a:rPr>
                        <a:t>Tipos oficiales</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BCE, dataset FM (facilidad de depósito, MRO, Euríbor)</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Zona euro, diario</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2026-09</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r>
              <a:tr h="402336">
                <a:tc>
                  <a:txBody>
                    <a:bodyPr/>
                    <a:lstStyle/>
                    <a:p>
                      <a:pPr algn="l" indent="0" marL="0">
                        <a:buNone/>
                      </a:pPr>
                      <a:r>
                        <a:rPr lang="en-US" sz="1050" b="1" dirty="0">
                          <a:solidFill>
                            <a:srgbClr val="2B3A42"/>
                          </a:solidFill>
                          <a:latin typeface="Calibri" pitchFamily="34" charset="0"/>
                          <a:ea typeface="Calibri" pitchFamily="34" charset="-122"/>
                          <a:cs typeface="Calibri" pitchFamily="34" charset="-120"/>
                        </a:rPr>
                        <a:t>Encuesta PYME</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BCE, SAFE (Q8B y brecha de financiación)</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6 países, semestral</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Q8B hasta 2022-S1</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r>
              <a:tr h="402336">
                <a:tc>
                  <a:txBody>
                    <a:bodyPr/>
                    <a:lstStyle/>
                    <a:p>
                      <a:pPr algn="l" indent="0" marL="0">
                        <a:buNone/>
                      </a:pPr>
                      <a:r>
                        <a:rPr lang="en-US" sz="1050" b="1" dirty="0">
                          <a:solidFill>
                            <a:srgbClr val="2B3A42"/>
                          </a:solidFill>
                          <a:latin typeface="Calibri" pitchFamily="34" charset="0"/>
                          <a:ea typeface="Calibri" pitchFamily="34" charset="-122"/>
                          <a:cs typeface="Calibri" pitchFamily="34" charset="-120"/>
                        </a:rPr>
                        <a:t>Riesgo, eficiencia, capital</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EBA Risk Dashboard, anexo de datos</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6 países, trimestral</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2026-Q1</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r>
              <a:tr h="402336">
                <a:tc>
                  <a:txBody>
                    <a:bodyPr/>
                    <a:lstStyle/>
                    <a:p>
                      <a:pPr algn="l" indent="0" marL="0">
                        <a:buNone/>
                      </a:pPr>
                      <a:r>
                        <a:rPr lang="en-US" sz="1050" b="1" dirty="0">
                          <a:solidFill>
                            <a:srgbClr val="2B3A42"/>
                          </a:solidFill>
                          <a:latin typeface="Calibri" pitchFamily="34" charset="0"/>
                          <a:ea typeface="Calibri" pitchFamily="34" charset="-122"/>
                          <a:cs typeface="Calibri" pitchFamily="34" charset="-120"/>
                        </a:rPr>
                        <a:t>Comisiones y volumen España</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Banco de España, Boletín Estadístico, cap. 19</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España, mensual</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2026-07</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r>
              <a:tr h="402336">
                <a:tc>
                  <a:txBody>
                    <a:bodyPr/>
                    <a:lstStyle/>
                    <a:p>
                      <a:pPr algn="l" indent="0" marL="0">
                        <a:buNone/>
                      </a:pPr>
                      <a:r>
                        <a:rPr lang="en-US" sz="1050" b="1" dirty="0">
                          <a:solidFill>
                            <a:srgbClr val="2B3A42"/>
                          </a:solidFill>
                          <a:latin typeface="Calibri" pitchFamily="34" charset="0"/>
                          <a:ea typeface="Calibri" pitchFamily="34" charset="-122"/>
                          <a:cs typeface="Calibri" pitchFamily="34" charset="-120"/>
                        </a:rPr>
                        <a:t>TAEG empresas Italia</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Banca d'Italia, STACORIS, tavola TRI30951</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Italia, trimestral</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2026-Q1</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r>
              <a:tr h="402336">
                <a:tc>
                  <a:txBody>
                    <a:bodyPr/>
                    <a:lstStyle/>
                    <a:p>
                      <a:pPr algn="l" indent="0" marL="0">
                        <a:buNone/>
                      </a:pPr>
                      <a:r>
                        <a:rPr lang="en-US" sz="1050" b="1" dirty="0">
                          <a:solidFill>
                            <a:srgbClr val="2B3A42"/>
                          </a:solidFill>
                          <a:latin typeface="Calibri" pitchFamily="34" charset="0"/>
                          <a:ea typeface="Calibri" pitchFamily="34" charset="-122"/>
                          <a:cs typeface="Calibri" pitchFamily="34" charset="-120"/>
                        </a:rPr>
                        <a:t>Spread PYME</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OCDE, Financing SMEs and Entrepreneurs</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5 países, sin Alemania</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2022</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r>
              <a:tr h="402336">
                <a:tc>
                  <a:txBody>
                    <a:bodyPr/>
                    <a:lstStyle/>
                    <a:p>
                      <a:pPr algn="l" indent="0" marL="0">
                        <a:buNone/>
                      </a:pPr>
                      <a:r>
                        <a:rPr lang="en-US" sz="1050" b="1" dirty="0">
                          <a:solidFill>
                            <a:srgbClr val="2B3A42"/>
                          </a:solidFill>
                          <a:latin typeface="Calibri" pitchFamily="34" charset="0"/>
                          <a:ea typeface="Calibri" pitchFamily="34" charset="-122"/>
                          <a:cs typeface="Calibri" pitchFamily="34" charset="-120"/>
                        </a:rPr>
                        <a:t>Factoring</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EUF, AEF y Assifact</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6 países, anual</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2025</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r>
              <a:tr h="402336">
                <a:tc>
                  <a:txBody>
                    <a:bodyPr/>
                    <a:lstStyle/>
                    <a:p>
                      <a:pPr algn="l" indent="0" marL="0">
                        <a:buNone/>
                      </a:pPr>
                      <a:r>
                        <a:rPr lang="en-US" sz="1050" b="1" dirty="0">
                          <a:solidFill>
                            <a:srgbClr val="2B3A42"/>
                          </a:solidFill>
                          <a:latin typeface="Calibri" pitchFamily="34" charset="0"/>
                          <a:ea typeface="Calibri" pitchFamily="34" charset="-122"/>
                          <a:cs typeface="Calibri" pitchFamily="34" charset="-120"/>
                        </a:rPr>
                        <a:t>Comparables</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Cuentas de resultados de 5 bancos</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5 bancos de 9</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2026-H1</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5806440"/>
            <a:ext cx="11091672" cy="365760"/>
          </a:xfrm>
          <a:prstGeom prst="rect">
            <a:avLst/>
          </a:prstGeom>
          <a:noFill/>
          <a:ln/>
        </p:spPr>
        <p:txBody>
          <a:bodyPr wrap="square" lIns="0" tIns="0" rIns="0" bIns="0" rtlCol="0" anchor="ctr"/>
          <a:lstStyle/>
          <a:p>
            <a:pPr indent="0" marL="0">
              <a:buNone/>
            </a:pPr>
            <a:r>
              <a:rPr lang="en-US" sz="1150" dirty="0">
                <a:solidFill>
                  <a:srgbClr val="2B3A42"/>
                </a:solidFill>
                <a:latin typeface="Calibri" pitchFamily="34" charset="0"/>
                <a:ea typeface="Calibri" pitchFamily="34" charset="-122"/>
                <a:cs typeface="Calibri" pitchFamily="34" charset="-120"/>
              </a:rPr>
              <a:t>Todos los datos, los extractores y el registro de huecos y decisiones metodológicas están en el repositorio del proyecto, en notas.md.</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Analisis PYME Europa</dc:creator>
  <cp:lastModifiedBy>Analisis PYME Europa</cp:lastModifiedBy>
  <cp:revision>1</cp:revision>
  <dcterms:created xsi:type="dcterms:W3CDTF">2026-09-16T14:28:17Z</dcterms:created>
  <dcterms:modified xsi:type="dcterms:W3CDTF">2026-09-16T14:28:17Z</dcterms:modified>
</cp:coreProperties>
</file>