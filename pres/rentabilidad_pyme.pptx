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A1A1A1"/>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38.451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ponderada por volumen · Fijación inicial total · Sin comisiones</a:t>
            </a:r>
            <a:endParaRPr lang="en-US" sz="11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0.46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2.08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12,5 %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5,0 %: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4,3 %.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+18.1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(5,0 %)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Tipos del MIR ponderados por la mezcla real de saldos del BSI · Media 2026 · Es el coste de fondos que usa el modelo</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1.34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0.41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FD6BA"/>
          </a:solidFill>
          <a:ln w="12700">
            <a:solidFill>
              <a:srgbClr val="FFAB70"/>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de sociedades no financieras, nueva producción) y dataset BSI (saldos L21 vista y L22 plazo, sector 2240) para la ponderación.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0,41 % a 1,34 %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sexta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(5,0 %)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(0,75 %,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36192"/>
            <a:ext cx="2057400" cy="530352"/>
          </a:xfrm>
          <a:prstGeom prst="roundRect">
            <a:avLst>
              <a:gd name="adj" fmla="val 8621"/>
            </a:avLst>
          </a:prstGeom>
          <a:solidFill>
            <a:srgbClr val="FFD6BA"/>
          </a:solidFill>
          <a:ln w="12700">
            <a:solidFill>
              <a:srgbClr val="FFAB70"/>
            </a:solidFill>
            <a:prstDash val="solid"/>
          </a:ln>
        </p:spPr>
      </p:sp>
      <p:sp>
        <p:nvSpPr>
          <p:cNvPr id="5" name="Text 3"/>
          <p:cNvSpPr txBox="1"/>
          <p:nvPr/>
        </p:nvSpPr>
        <p:spPr>
          <a:xfrm>
            <a:off x="548640" y="1536192"/>
            <a:ext cx="2057400" cy="530352"/>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54480"/>
            <a:ext cx="3017520" cy="493776"/>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54480"/>
            <a:ext cx="5715000" cy="49377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116836"/>
            <a:ext cx="2057400" cy="530352"/>
          </a:xfrm>
          <a:prstGeom prst="roundRect">
            <a:avLst>
              <a:gd name="adj" fmla="val 8621"/>
            </a:avLst>
          </a:prstGeom>
          <a:solidFill>
            <a:srgbClr val="FFD6BA"/>
          </a:solidFill>
          <a:ln w="12700">
            <a:solidFill>
              <a:srgbClr val="FFAB70"/>
            </a:solidFill>
            <a:prstDash val="solid"/>
          </a:ln>
        </p:spPr>
      </p:sp>
      <p:sp>
        <p:nvSpPr>
          <p:cNvPr id="9" name="Text 7"/>
          <p:cNvSpPr txBox="1"/>
          <p:nvPr/>
        </p:nvSpPr>
        <p:spPr>
          <a:xfrm>
            <a:off x="548640" y="2116836"/>
            <a:ext cx="2057400" cy="530352"/>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135124"/>
            <a:ext cx="3017520" cy="493776"/>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135124"/>
            <a:ext cx="5715000" cy="49377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697480"/>
            <a:ext cx="2057400" cy="530352"/>
          </a:xfrm>
          <a:prstGeom prst="roundRect">
            <a:avLst>
              <a:gd name="adj" fmla="val 8621"/>
            </a:avLst>
          </a:prstGeom>
          <a:solidFill>
            <a:srgbClr val="FFD6BA"/>
          </a:solidFill>
          <a:ln w="12700">
            <a:solidFill>
              <a:srgbClr val="FFAB70"/>
            </a:solidFill>
            <a:prstDash val="solid"/>
          </a:ln>
        </p:spPr>
      </p:sp>
      <p:sp>
        <p:nvSpPr>
          <p:cNvPr id="13" name="Text 11"/>
          <p:cNvSpPr txBox="1"/>
          <p:nvPr/>
        </p:nvSpPr>
        <p:spPr>
          <a:xfrm>
            <a:off x="548640" y="2697480"/>
            <a:ext cx="2057400" cy="530352"/>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715768"/>
            <a:ext cx="3017520" cy="493776"/>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715768"/>
            <a:ext cx="5715000" cy="49377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278124"/>
            <a:ext cx="2057400" cy="530352"/>
          </a:xfrm>
          <a:prstGeom prst="roundRect">
            <a:avLst>
              <a:gd name="adj" fmla="val 8621"/>
            </a:avLst>
          </a:prstGeom>
          <a:solidFill>
            <a:srgbClr val="E5E5E5"/>
          </a:solidFill>
          <a:ln w="12700">
            <a:solidFill>
              <a:srgbClr val="CACACA"/>
            </a:solidFill>
            <a:prstDash val="solid"/>
          </a:ln>
        </p:spPr>
      </p:sp>
      <p:sp>
        <p:nvSpPr>
          <p:cNvPr id="17" name="Text 15"/>
          <p:cNvSpPr txBox="1"/>
          <p:nvPr/>
        </p:nvSpPr>
        <p:spPr>
          <a:xfrm>
            <a:off x="548640" y="3278124"/>
            <a:ext cx="2057400" cy="530352"/>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296412"/>
            <a:ext cx="3017520" cy="493776"/>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296412"/>
            <a:ext cx="5715000" cy="49377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858768"/>
            <a:ext cx="2057400" cy="530352"/>
          </a:xfrm>
          <a:prstGeom prst="roundRect">
            <a:avLst>
              <a:gd name="adj" fmla="val 8621"/>
            </a:avLst>
          </a:prstGeom>
          <a:solidFill>
            <a:srgbClr val="E5E5E5"/>
          </a:solidFill>
          <a:ln w="12700">
            <a:solidFill>
              <a:srgbClr val="CACACA"/>
            </a:solidFill>
            <a:prstDash val="solid"/>
          </a:ln>
        </p:spPr>
      </p:sp>
      <p:sp>
        <p:nvSpPr>
          <p:cNvPr id="21" name="Text 19"/>
          <p:cNvSpPr txBox="1"/>
          <p:nvPr/>
        </p:nvSpPr>
        <p:spPr>
          <a:xfrm>
            <a:off x="548640" y="3858768"/>
            <a:ext cx="2057400" cy="530352"/>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877056"/>
            <a:ext cx="3017520" cy="493776"/>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877056"/>
            <a:ext cx="5715000" cy="49377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439412"/>
            <a:ext cx="2057400" cy="530352"/>
          </a:xfrm>
          <a:prstGeom prst="roundRect">
            <a:avLst>
              <a:gd name="adj" fmla="val 8621"/>
            </a:avLst>
          </a:prstGeom>
          <a:solidFill>
            <a:srgbClr val="E5E5E5"/>
          </a:solidFill>
          <a:ln w="12700">
            <a:solidFill>
              <a:srgbClr val="CACACA"/>
            </a:solidFill>
            <a:prstDash val="solid"/>
          </a:ln>
        </p:spPr>
      </p:sp>
      <p:sp>
        <p:nvSpPr>
          <p:cNvPr id="25" name="Text 23"/>
          <p:cNvSpPr txBox="1"/>
          <p:nvPr/>
        </p:nvSpPr>
        <p:spPr>
          <a:xfrm>
            <a:off x="548640" y="4439412"/>
            <a:ext cx="2057400" cy="530352"/>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457700"/>
            <a:ext cx="3017520" cy="493776"/>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457700"/>
            <a:ext cx="5715000" cy="49377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5020056"/>
            <a:ext cx="2057400" cy="530352"/>
          </a:xfrm>
          <a:prstGeom prst="roundRect">
            <a:avLst>
              <a:gd name="adj" fmla="val 8621"/>
            </a:avLst>
          </a:prstGeom>
          <a:solidFill>
            <a:srgbClr val="C7E3F9"/>
          </a:solidFill>
          <a:ln w="12700">
            <a:solidFill>
              <a:srgbClr val="77BFEE"/>
            </a:solidFill>
            <a:prstDash val="solid"/>
          </a:ln>
        </p:spPr>
      </p:sp>
      <p:sp>
        <p:nvSpPr>
          <p:cNvPr id="29" name="Text 27"/>
          <p:cNvSpPr txBox="1"/>
          <p:nvPr/>
        </p:nvSpPr>
        <p:spPr>
          <a:xfrm>
            <a:off x="548640" y="5020056"/>
            <a:ext cx="2057400" cy="530352"/>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5038344"/>
            <a:ext cx="3017520" cy="493776"/>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5038344"/>
            <a:ext cx="5715000" cy="49377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600700"/>
            <a:ext cx="2057400" cy="530352"/>
          </a:xfrm>
          <a:prstGeom prst="roundRect">
            <a:avLst>
              <a:gd name="adj" fmla="val 8621"/>
            </a:avLst>
          </a:prstGeom>
          <a:solidFill>
            <a:srgbClr val="C7E3F9"/>
          </a:solidFill>
          <a:ln w="12700">
            <a:solidFill>
              <a:srgbClr val="77BFEE"/>
            </a:solidFill>
            <a:prstDash val="solid"/>
          </a:ln>
        </p:spPr>
      </p:sp>
      <p:sp>
        <p:nvSpPr>
          <p:cNvPr id="33" name="Text 31"/>
          <p:cNvSpPr txBox="1"/>
          <p:nvPr/>
        </p:nvSpPr>
        <p:spPr>
          <a:xfrm>
            <a:off x="548640" y="5600700"/>
            <a:ext cx="2057400" cy="530352"/>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618988"/>
            <a:ext cx="3017520" cy="493776"/>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618988"/>
            <a:ext cx="5715000" cy="49377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Text 3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dos recomendaciones de riesgo se apoyan en la descomposición PD/LGD de los parámetros IRB del EBA y en los índices institucionales de Doing Business 2020.</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38.451 observaciones, cada fila trazable a su serie de origen</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2026-09-17T09:27:05Z</dcterms:created>
  <dcterms:modified xsi:type="dcterms:W3CDTF">2026-09-17T09:27:05Z</dcterms:modified>
</cp:coreProperties>
</file>