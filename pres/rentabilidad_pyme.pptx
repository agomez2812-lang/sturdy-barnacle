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9.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0.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Más de 1 M€</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13.4</c:v>
                </c:pt>
                <c:pt idx="1">
                  <c:v>16.88</c:v>
                </c:pt>
                <c:pt idx="2">
                  <c:v>4.97</c:v>
                </c:pt>
                <c:pt idx="3">
                  <c:v>15.18</c:v>
                </c:pt>
                <c:pt idx="4">
                  <c:v>13.98</c:v>
                </c:pt>
                <c:pt idx="5">
                  <c:v>20.2</c:v>
                </c:pt>
                <c:pt idx="6">
                  <c:v>14.23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0.75</c:v>
                </c:pt>
                <c:pt idx="1">
                  <c:v>1.16</c:v>
                </c:pt>
                <c:pt idx="2">
                  <c:v>1.34</c:v>
                </c:pt>
                <c:pt idx="3">
                  <c:v>0.76</c:v>
                </c:pt>
                <c:pt idx="4">
                  <c:v>0.71</c:v>
                </c:pt>
                <c:pt idx="5">
                  <c:v>1.06</c:v>
                </c:pt>
                <c:pt idx="6">
                  <c:v>0.41</c:v>
                </c:pt>
              </c:numCache>
            </c:numRef>
          </c:val>
        </c:ser>
        <c:ser>
          <c:idx val="1"/>
          <c:order val="1"/>
          <c:tx>
            <c:strRef>
              <c:f>Sheet1!$C$1</c:f>
              <c:strCache>
                <c:ptCount val="1"/>
                <c:pt idx="0">
                  <c:v>Margen sobre la facilidad del BCE</c:v>
                </c:pt>
              </c:strCache>
            </c:strRef>
          </c:tx>
          <c:spPr>
            <a:solidFill>
              <a:srgbClr val="237DFF"/>
            </a:solidFill>
            <a:effectLst/>
          </c:spPr>
          <c:invertIfNegative val="0"/>
          <c:dLbls>
            <c:numFmt formatCode="#,##0"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1.34</c:v>
                </c:pt>
                <c:pt idx="1">
                  <c:v>0.93</c:v>
                </c:pt>
                <c:pt idx="2">
                  <c:v>0.75</c:v>
                </c:pt>
                <c:pt idx="3">
                  <c:v>1.33</c:v>
                </c:pt>
                <c:pt idx="4">
                  <c:v>1.38</c:v>
                </c:pt>
                <c:pt idx="5">
                  <c:v>1.03</c:v>
                </c:pt>
                <c:pt idx="6">
                  <c:v>1.68</c:v>
                </c:pt>
              </c:numCache>
            </c:numRef>
          </c:val>
        </c:ser>
        <c:dLbls>
          <c:numFmt formatCode="#,##0"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B9C6CC"/>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DC005F"/>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DC005F"/>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DC005F"/>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B9C6CC"/>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B9C6CC"/>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9FB3BC"/>
                </a:solidFill>
                <a:latin typeface="Verdana" pitchFamily="34" charset="0"/>
                <a:ea typeface="Verdana" pitchFamily="34" charset="-122"/>
                <a:cs typeface="Verdana" pitchFamily="34" charset="-120"/>
              </a:rPr>
              <a:t>España · Alemania · Francia · Italia · Portugal · Países Bajos</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25.370 observaciones · 9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DCE4E7"/>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seis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DCE4E7"/>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DCE4E7"/>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7EDE4"/>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SOLO ESPAÑA</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PROXY CRE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PARCIAL</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SOLO ES e IT</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PARCIAL</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n/a</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818181"/>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n/a</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818181"/>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n/a</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818181"/>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seis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237DFF"/>
          </a:solidFill>
          <a:ln w="12700">
            <a:solidFill>
              <a:srgbClr val="237DFF"/>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p>
        </p:txBody>
      </p:sp>
      <p:sp>
        <p:nvSpPr>
          <p:cNvPr id="8" name="Shape 5"/>
          <p:cNvSpPr/>
          <p:nvPr/>
        </p:nvSpPr>
        <p:spPr>
          <a:xfrm>
            <a:off x="2377440" y="5806440"/>
            <a:ext cx="1371600" cy="256032"/>
          </a:xfrm>
          <a:prstGeom prst="roundRect">
            <a:avLst>
              <a:gd name="adj" fmla="val 42857"/>
            </a:avLst>
          </a:prstGeom>
          <a:solidFill>
            <a:srgbClr val="F56600"/>
          </a:solidFill>
          <a:ln w="12700">
            <a:solidFill>
              <a:srgbClr val="F5660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Verdana" pitchFamily="34" charset="0"/>
                <a:ea typeface="Verdana" pitchFamily="34" charset="-122"/>
                <a:cs typeface="Verdana" pitchFamily="34" charset="-120"/>
              </a:rPr>
              <a:t>PARCIAL o SUPUESTO</a:t>
            </a:r>
            <a:endParaRPr lang="en-US" sz="900" dirty="0"/>
          </a:p>
        </p:txBody>
      </p:sp>
      <p:sp>
        <p:nvSpPr>
          <p:cNvPr id="10" name="Shape 7"/>
          <p:cNvSpPr/>
          <p:nvPr/>
        </p:nvSpPr>
        <p:spPr>
          <a:xfrm>
            <a:off x="4206240" y="5806440"/>
            <a:ext cx="1371600" cy="256032"/>
          </a:xfrm>
          <a:prstGeom prst="roundRect">
            <a:avLst>
              <a:gd name="adj" fmla="val 42857"/>
            </a:avLst>
          </a:prstGeom>
          <a:solidFill>
            <a:srgbClr val="DC005F"/>
          </a:solidFill>
          <a:ln w="12700">
            <a:solidFill>
              <a:srgbClr val="DC005F"/>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Media 2026 ponderada por volumen · Fijación inicial total · Sin comisiones</a:t>
            </a:r>
            <a:endParaRPr lang="en-US" sz="1100" dirty="0"/>
          </a:p>
        </p:txBody>
      </p:sp>
      <p:graphicFrame>
        <p:nvGraphicFramePr>
          <p:cNvPr id="4" name="Chart 0" descr=""/>
          <p:cNvGraphicFramePr/>
          <p:nvPr/>
        </p:nvGraphicFramePr>
        <p:xfrm>
          <a:off x="548640" y="1600200"/>
          <a:ext cx="685800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DCE4E7"/>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7EDE4"/>
          </a:solidFill>
          <a:ln w="12700">
            <a:solidFill>
              <a:srgbClr val="F5660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DEEE2"/>
          </a:solidFill>
          <a:ln w="12700">
            <a:solidFill>
              <a:srgbClr val="F5660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DC005F"/>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237DFF"/>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15468">
                <a:tc>
                  <a:txBody>
                    <a:bodyPr/>
                    <a:lstStyle/>
                    <a:p>
                      <a:pPr algn="l" indent="0" marL="0">
                        <a:buNone/>
                      </a:pPr>
                      <a:r>
                        <a:rPr lang="en-US" sz="1100" dirty="0">
                          <a:solidFill>
                            <a:srgbClr val="8A5A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1.16</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1.34</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3.54</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3.30</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4.36</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4.10</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4.32</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5.83</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3.35</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1.45</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1.45</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0.46</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1.52</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1.66</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2.08</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15.2 %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14.0 %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14.2 %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p>
        </p:txBody>
      </p:sp>
      <p:sp>
        <p:nvSpPr>
          <p:cNvPr id="7" name="Shape 4"/>
          <p:cNvSpPr/>
          <p:nvPr/>
        </p:nvSpPr>
        <p:spPr>
          <a:xfrm>
            <a:off x="2103120" y="5623560"/>
            <a:ext cx="1371600" cy="256032"/>
          </a:xfrm>
          <a:prstGeom prst="roundRect">
            <a:avLst>
              <a:gd name="adj" fmla="val 42857"/>
            </a:avLst>
          </a:prstGeom>
          <a:solidFill>
            <a:srgbClr val="F56600"/>
          </a:solidFill>
          <a:ln w="12700">
            <a:solidFill>
              <a:srgbClr val="F5660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Verdana" pitchFamily="34" charset="0"/>
                <a:ea typeface="Verdana" pitchFamily="34" charset="-122"/>
                <a:cs typeface="Verdana" pitchFamily="34" charset="-120"/>
              </a:rPr>
              <a:t>Supuesto</a:t>
            </a:r>
            <a:endParaRPr lang="en-US" sz="90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DCE4E7"/>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13,4 %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al precio más bajo, gracias a la segunda mejor eficiencia. Su freno es una densidad de RWA del 59,5 %.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sube al cuarto puesto</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el impuesto: 12,5 % frente al 25-30 % del resto. Con tipo uniforme quedaría la sexta.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5,0 %: precio bajo, recursos caros y la peor eficiencia (65,6 %).</a:t>
            </a:r>
            <a:endParaRPr lang="en-US" sz="9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de sensibilidad. Tipo de sociedades combinado 2026 (Tax Foundation): ES 25,0 · DE 30,1 · FR 25,8 · IT 27,8 · PT 29,5 · NL 25,8 · IE 12,5. En Francia, la contribución excepcional del 36,1 % para grupos de más de 1.500 M€ de cifra de negocio dejaría su ROE en 4,3 %.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8.7 %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Verdana" pitchFamily="34" charset="0"/>
                          <a:ea typeface="Verdana" pitchFamily="34" charset="-122"/>
                          <a:cs typeface="Verdana" pitchFamily="34" charset="-120"/>
                        </a:rPr>
                        <a:t>13.4 %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16.7 %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13.6 %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3.6 %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Verdana" pitchFamily="34" charset="0"/>
                          <a:ea typeface="Verdana" pitchFamily="34" charset="-122"/>
                          <a:cs typeface="Verdana" pitchFamily="34" charset="-120"/>
                        </a:rPr>
                        <a:t>5.0 %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7.3 %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13.2 %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Verdana" pitchFamily="34" charset="0"/>
                          <a:ea typeface="Verdana" pitchFamily="34" charset="-122"/>
                          <a:cs typeface="Verdana" pitchFamily="34" charset="-120"/>
                        </a:rPr>
                        <a:t>15.2 %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10.3 %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Verdana" pitchFamily="34" charset="0"/>
                          <a:ea typeface="Verdana" pitchFamily="34" charset="-122"/>
                          <a:cs typeface="Verdana" pitchFamily="34" charset="-120"/>
                        </a:rPr>
                        <a:t>14.0 %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16.6 %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16.7 %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11.7 %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Verdana" pitchFamily="34" charset="0"/>
                          <a:ea typeface="Verdana" pitchFamily="34" charset="-122"/>
                          <a:cs typeface="Verdana" pitchFamily="34" charset="-120"/>
                        </a:rPr>
                        <a:t>14.2 %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14.6 %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7EDE4"/>
          </a:solidFill>
          <a:ln w="12700">
            <a:solidFill>
              <a:srgbClr val="F5660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cinco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Tipos del MIR ponderados por la mezcla real de saldos del BSI · Media 2026 · Es el coste de fondos que usa el modelo</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1.90</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0.75</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1.16</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2.58</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1.34</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2.31</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1.77</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0.71</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2.14</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1.06</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1.90</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0.41</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80560"/>
            <a:ext cx="4187952" cy="777240"/>
          </a:xfrm>
          <a:prstGeom prst="roundRect">
            <a:avLst>
              <a:gd name="adj" fmla="val 7059"/>
            </a:avLst>
          </a:prstGeom>
          <a:solidFill>
            <a:srgbClr val="F7EDE4"/>
          </a:solidFill>
          <a:ln w="12700">
            <a:solidFill>
              <a:srgbClr val="F56600"/>
            </a:solidFill>
            <a:prstDash val="solid"/>
          </a:ln>
        </p:spPr>
      </p:sp>
      <p:sp>
        <p:nvSpPr>
          <p:cNvPr id="7" name="Text 3"/>
          <p:cNvSpPr txBox="1"/>
          <p:nvPr/>
        </p:nvSpPr>
        <p:spPr>
          <a:xfrm>
            <a:off x="7635240" y="4572000"/>
            <a:ext cx="3840480" cy="621792"/>
          </a:xfrm>
          <a:prstGeom prst="rect">
            <a:avLst/>
          </a:prstGeom>
          <a:noFill/>
          <a:ln/>
        </p:spPr>
        <p:txBody>
          <a:bodyPr wrap="square" lIns="0" tIns="0" rIns="0" bIns="0" rtlCol="0" anchor="ctr"/>
          <a:lstStyle/>
          <a:p>
            <a:pPr indent="0" marL="0">
              <a:buNone/>
            </a:pPr>
            <a:r>
              <a:rPr lang="en-US" sz="10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a:t>
            </a:r>
            <a:endParaRPr lang="en-US" sz="1000" dirty="0"/>
          </a:p>
        </p:txBody>
      </p:sp>
      <p:sp>
        <p:nvSpPr>
          <p:cNvPr id="8" name="Text 4"/>
          <p:cNvSpPr txBox="1"/>
          <p:nvPr/>
        </p:nvSpPr>
        <p:spPr>
          <a:xfrm>
            <a:off x="548640" y="539496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Irlanda capta los recursos más baratos de los siete, un 0,41 %, y Francia los más caros, un 1,34 %: tres veces más. Es el segundo factor que más separa el ROE, por detrás del capital.</a:t>
            </a:r>
            <a:endParaRPr lang="en-US" sz="1200" dirty="0"/>
          </a:p>
        </p:txBody>
      </p:sp>
      <p:sp>
        <p:nvSpPr>
          <p:cNvPr id="9"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de sociedades no financieras, nueva producción) y dataset BSI (saldos L21 vista y L22 plazo, sector 2240) para la ponderación. Facilidad de depósito del BCE al 2,09 %.</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BEDEB"/>
          </a:solidFill>
          <a:ln w="12700">
            <a:solidFill>
              <a:srgbClr val="DC005F"/>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DC005F"/>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DC005F"/>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237DFF"/>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37DFF"/>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37DFF"/>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37DFF"/>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237DFF"/>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37DFF"/>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BF2EA"/>
          </a:solidFill>
          <a:ln w="12700">
            <a:solidFill>
              <a:srgbClr val="F5660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8A5A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7EDE4"/>
          </a:solidFill>
          <a:ln w="12700">
            <a:solidFill>
              <a:srgbClr val="F5660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F56600"/>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DEEE2"/>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F56600"/>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DEEE2"/>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F56600"/>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DEEE2"/>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F56600"/>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DEEE2"/>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F56600"/>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DEEE2"/>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F56600"/>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DEEE2"/>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F56600"/>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DEEE2"/>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DCE4E7"/>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BF2EA"/>
          </a:solidFill>
          <a:ln w="12700">
            <a:solidFill>
              <a:srgbClr val="F5660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8A5A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 nueva producción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BEDEB"/>
          </a:solidFill>
          <a:ln w="12700">
            <a:solidFill>
              <a:srgbClr val="DC005F"/>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DC005F"/>
                </a:solidFill>
                <a:latin typeface="Verdana" pitchFamily="34" charset="0"/>
                <a:ea typeface="Verdana" pitchFamily="34" charset="-122"/>
                <a:cs typeface="Verdana" pitchFamily="34" charset="-120"/>
              </a:rPr>
              <a:t>Hueco: no hay volumen por país</a:t>
            </a:r>
            <a:endParaRPr lang="en-US" sz="1300" dirty="0"/>
          </a:p>
        </p:txBody>
      </p:sp>
      <p:sp>
        <p:nvSpPr>
          <p:cNvPr id="7" name="Text 4"/>
          <p:cNvSpPr txBox="1"/>
          <p:nvPr/>
        </p:nvSpPr>
        <p:spPr>
          <a:xfrm>
            <a:off x="7699248" y="219456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BCE publica el tipo de circulante por país, pero el volumen de nueva producción solo existe para el agregado de zona euro. No se puede calcular el peso del circulante en la cartera de cada país con fuentes oficiales.</a:t>
            </a:r>
            <a:endParaRPr lang="en-US" sz="110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DCE4E7"/>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El dato de julio de 2026 es provisional en España, Alemania, Francia, Italia y zona euro.</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BEDEB"/>
          </a:solidFill>
          <a:ln w="12700">
            <a:solidFill>
              <a:srgbClr val="DC005F"/>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DC005F"/>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seis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volumen sí, precio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cedido 2025 y penetración sobre PIB · El precio no es obtenible con fuentes públicas</a:t>
            </a:r>
            <a:endParaRPr lang="en-US" sz="11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BEDEB"/>
          </a:solidFill>
          <a:ln w="12700">
            <a:solidFill>
              <a:srgbClr val="DC005F"/>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DC005F"/>
                </a:solidFill>
                <a:latin typeface="Verdana" pitchFamily="34" charset="0"/>
                <a:ea typeface="Verdana" pitchFamily="34" charset="-122"/>
                <a:cs typeface="Verdan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5E5E5"/>
          </a:solidFill>
          <a:ln w="12700">
            <a:solidFill>
              <a:srgbClr val="DCE4E7"/>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Volumen cedido 2025 (M€):  España 270k  ·  Alemania 423k  ·  Francia 439k  ·  Italia 297k  ·  Portugal 52k  ·  P. Bajos 165k  ·  Irlanda 29k</a:t>
            </a:r>
            <a:endParaRPr lang="en-US" sz="11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EUF (datos anuales 2025), AEF para el desglose español, Assifact para el italiano. El turnover es importe cedido en el año, no saldo vivo: no comparable con cartera de crédito.</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237DFF"/>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237DFF"/>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237DFF"/>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DC005F"/>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DC005F"/>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BEDEB"/>
          </a:solidFill>
          <a:ln w="12700">
            <a:solidFill>
              <a:srgbClr val="DC005F"/>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DC005F"/>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600200"/>
                <a:gridCol w="4114800"/>
                <a:gridCol w="2898648"/>
              </a:tblGrid>
              <a:tr h="56692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cinco países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DC005F"/>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0,41 % a 1,34 % por país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DC005F"/>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12,5 % a 30,1 %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combinado del impuesto de sociedades 2026 por país (Tax Foundation)</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Text 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9FB3BC"/>
                </a:solidFill>
                <a:latin typeface="Verdana" pitchFamily="34" charset="0"/>
                <a:ea typeface="Verdana" pitchFamily="34" charset="-122"/>
                <a:cs typeface="Verdana" pitchFamily="34" charset="-120"/>
              </a:rPr>
              <a:t>Cuatro límites que conviene tener delante antes de usar cualquier cifra de este deck</a:t>
            </a:r>
            <a:endParaRPr lang="en-US" sz="1300" dirty="0"/>
          </a:p>
        </p:txBody>
      </p:sp>
      <p:sp>
        <p:nvSpPr>
          <p:cNvPr id="4" name="Shape 2"/>
          <p:cNvSpPr/>
          <p:nvPr/>
        </p:nvSpPr>
        <p:spPr>
          <a:xfrm>
            <a:off x="548640" y="1700784"/>
            <a:ext cx="384048" cy="384048"/>
          </a:xfrm>
          <a:prstGeom prst="ellipse">
            <a:avLst/>
          </a:prstGeom>
          <a:solidFill>
            <a:srgbClr val="F56600"/>
          </a:solidFill>
          <a:ln w="12700">
            <a:solidFill>
              <a:srgbClr val="F56600"/>
            </a:solidFill>
            <a:prstDash val="solid"/>
          </a:ln>
        </p:spPr>
      </p:sp>
      <p:sp>
        <p:nvSpPr>
          <p:cNvPr id="5" name="Text 3"/>
          <p:cNvSpPr txBox="1"/>
          <p:nvPr/>
        </p:nvSpPr>
        <p:spPr>
          <a:xfrm>
            <a:off x="548640" y="1700784"/>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1</a:t>
            </a:r>
            <a:endParaRPr lang="en-US" sz="1500" dirty="0"/>
          </a:p>
        </p:txBody>
      </p:sp>
      <p:sp>
        <p:nvSpPr>
          <p:cNvPr id="6" name="Text 4"/>
          <p:cNvSpPr txBox="1"/>
          <p:nvPr/>
        </p:nvSpPr>
        <p:spPr>
          <a:xfrm>
            <a:off x="1143000" y="1645920"/>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Rentabilidad comparable entre países</a:t>
            </a:r>
            <a:endParaRPr lang="en-US" sz="1500" dirty="0"/>
          </a:p>
        </p:txBody>
      </p:sp>
      <p:sp>
        <p:nvSpPr>
          <p:cNvPr id="7" name="Text 5"/>
          <p:cNvSpPr txBox="1"/>
          <p:nvPr/>
        </p:nvSpPr>
        <p:spPr>
          <a:xfrm>
            <a:off x="1143000" y="1975104"/>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150" dirty="0"/>
          </a:p>
        </p:txBody>
      </p:sp>
      <p:sp>
        <p:nvSpPr>
          <p:cNvPr id="8" name="Shape 6"/>
          <p:cNvSpPr/>
          <p:nvPr/>
        </p:nvSpPr>
        <p:spPr>
          <a:xfrm>
            <a:off x="548640" y="2816352"/>
            <a:ext cx="384048" cy="384048"/>
          </a:xfrm>
          <a:prstGeom prst="ellipse">
            <a:avLst/>
          </a:prstGeom>
          <a:solidFill>
            <a:srgbClr val="F56600"/>
          </a:solidFill>
          <a:ln w="12700">
            <a:solidFill>
              <a:srgbClr val="F56600"/>
            </a:solidFill>
            <a:prstDash val="solid"/>
          </a:ln>
        </p:spPr>
      </p:sp>
      <p:sp>
        <p:nvSpPr>
          <p:cNvPr id="9" name="Text 7"/>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2</a:t>
            </a:r>
            <a:endParaRPr lang="en-US" sz="1500" dirty="0"/>
          </a:p>
        </p:txBody>
      </p:sp>
      <p:sp>
        <p:nvSpPr>
          <p:cNvPr id="10" name="Text 8"/>
          <p:cNvSpPr txBox="1"/>
          <p:nvPr/>
        </p:nvSpPr>
        <p:spPr>
          <a:xfrm>
            <a:off x="1143000" y="2761488"/>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negocio PYME de cada banco</a:t>
            </a:r>
            <a:endParaRPr lang="en-US" sz="1500" dirty="0"/>
          </a:p>
        </p:txBody>
      </p:sp>
      <p:sp>
        <p:nvSpPr>
          <p:cNvPr id="11" name="Text 9"/>
          <p:cNvSpPr txBox="1"/>
          <p:nvPr/>
        </p:nvSpPr>
        <p:spPr>
          <a:xfrm>
            <a:off x="1143000" y="3090672"/>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150" dirty="0"/>
          </a:p>
        </p:txBody>
      </p:sp>
      <p:sp>
        <p:nvSpPr>
          <p:cNvPr id="12" name="Shape 10"/>
          <p:cNvSpPr/>
          <p:nvPr/>
        </p:nvSpPr>
        <p:spPr>
          <a:xfrm>
            <a:off x="548640" y="3931920"/>
            <a:ext cx="384048" cy="384048"/>
          </a:xfrm>
          <a:prstGeom prst="ellipse">
            <a:avLst/>
          </a:prstGeom>
          <a:solidFill>
            <a:srgbClr val="F56600"/>
          </a:solidFill>
          <a:ln w="12700">
            <a:solidFill>
              <a:srgbClr val="F56600"/>
            </a:solidFill>
            <a:prstDash val="solid"/>
          </a:ln>
        </p:spPr>
      </p:sp>
      <p:sp>
        <p:nvSpPr>
          <p:cNvPr id="13" name="Text 11"/>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3</a:t>
            </a:r>
            <a:endParaRPr lang="en-US" sz="1500" dirty="0"/>
          </a:p>
        </p:txBody>
      </p:sp>
      <p:sp>
        <p:nvSpPr>
          <p:cNvPr id="14" name="Text 12"/>
          <p:cNvSpPr txBox="1"/>
          <p:nvPr/>
        </p:nvSpPr>
        <p:spPr>
          <a:xfrm>
            <a:off x="1143000" y="3877056"/>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precio del factoring y del confirming</a:t>
            </a:r>
            <a:endParaRPr lang="en-US" sz="1500" dirty="0"/>
          </a:p>
        </p:txBody>
      </p:sp>
      <p:sp>
        <p:nvSpPr>
          <p:cNvPr id="15" name="Text 13"/>
          <p:cNvSpPr txBox="1"/>
          <p:nvPr/>
        </p:nvSpPr>
        <p:spPr>
          <a:xfrm>
            <a:off x="1143000" y="4206240"/>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Verdana" pitchFamily="34" charset="0"/>
                <a:ea typeface="Verdana" pitchFamily="34" charset="-122"/>
                <a:cs typeface="Verdana" pitchFamily="34" charset="-120"/>
              </a:rPr>
              <a:t>No es obtenible con fuentes públicas gratuitas en ninguno de los seis países. Es el único bloque que se cierra sin ningún dato de su objetivo.</a:t>
            </a:r>
            <a:endParaRPr lang="en-US" sz="1150" dirty="0"/>
          </a:p>
        </p:txBody>
      </p:sp>
      <p:sp>
        <p:nvSpPr>
          <p:cNvPr id="16" name="Shape 14"/>
          <p:cNvSpPr/>
          <p:nvPr/>
        </p:nvSpPr>
        <p:spPr>
          <a:xfrm>
            <a:off x="548640" y="5047488"/>
            <a:ext cx="384048" cy="384048"/>
          </a:xfrm>
          <a:prstGeom prst="ellipse">
            <a:avLst/>
          </a:prstGeom>
          <a:solidFill>
            <a:srgbClr val="F56600"/>
          </a:solidFill>
          <a:ln w="12700">
            <a:solidFill>
              <a:srgbClr val="F56600"/>
            </a:solidFill>
            <a:prstDash val="solid"/>
          </a:ln>
        </p:spPr>
      </p:sp>
      <p:sp>
        <p:nvSpPr>
          <p:cNvPr id="17" name="Text 15"/>
          <p:cNvSpPr txBox="1"/>
          <p:nvPr/>
        </p:nvSpPr>
        <p:spPr>
          <a:xfrm>
            <a:off x="548640" y="5047488"/>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4</a:t>
            </a:r>
            <a:endParaRPr lang="en-US" sz="1500" dirty="0"/>
          </a:p>
        </p:txBody>
      </p:sp>
      <p:sp>
        <p:nvSpPr>
          <p:cNvPr id="18" name="Text 16"/>
          <p:cNvSpPr txBox="1"/>
          <p:nvPr/>
        </p:nvSpPr>
        <p:spPr>
          <a:xfrm>
            <a:off x="1143000" y="4992624"/>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La hipoteca a PYME</a:t>
            </a:r>
            <a:endParaRPr lang="en-US" sz="1500" dirty="0"/>
          </a:p>
        </p:txBody>
      </p:sp>
      <p:sp>
        <p:nvSpPr>
          <p:cNvPr id="19" name="Text 17"/>
          <p:cNvSpPr txBox="1"/>
          <p:nvPr/>
        </p:nvSpPr>
        <p:spPr>
          <a:xfrm>
            <a:off x="1143000" y="5321808"/>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Nueve fuentes, 25.370 observaciones, cada fila trazable a su serie de origen</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606040"/>
                <a:gridCol w="4251960"/>
                <a:gridCol w="2560320"/>
                <a:gridCol w="1664208"/>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anexo de datos</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2026-09-17T07:46:30Z</dcterms:created>
  <dcterms:modified xsi:type="dcterms:W3CDTF">2026-09-17T07:46:30Z</dcterms:modified>
</cp:coreProperties>
</file>