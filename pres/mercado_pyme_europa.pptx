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0.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2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2A6FB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B9B9B9"/>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valor</c:v>
                </c:pt>
              </c:strCache>
            </c:strRef>
          </c:tx>
          <c:spPr>
            <a:solidFill>
              <a:srgbClr val="F56600"/>
            </a:solidFill>
            <a:effectLst/>
          </c:spPr>
          <c:invertIfNegative val="0"/>
          <c:dLbls>
            <c:numFmt formatCode="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50.5</c:v>
                </c:pt>
                <c:pt idx="1">
                  <c:v>17.8</c:v>
                </c:pt>
                <c:pt idx="2">
                  <c:v>30</c:v>
                </c:pt>
                <c:pt idx="3">
                  <c:v>34.6</c:v>
                </c:pt>
                <c:pt idx="4">
                  <c:v>51.1</c:v>
                </c:pt>
                <c:pt idx="5">
                  <c:v>7.6</c:v>
                </c:pt>
                <c:pt idx="6">
                  <c:v>16.8</c:v>
                </c:pt>
              </c:numCache>
            </c:numRef>
          </c:val>
        </c:ser>
        <c:dLbls>
          <c:numFmt formatCode="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5"/>
          <c:min val="0"/>
        </c:scaling>
        <c:delete val="1"/>
        <c:axPos val="b"/>
        <c:majorGridlines>
          <c:spPr>
            <a:ln w="9525" cap="flat">
              <a:solidFill>
                <a:srgbClr val="E6E9EC"/>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Alemania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Sheet1!$B$2:$B$6</c:f>
              <c:numCache>
                <c:formatCode>General</c:formatCode>
                <c:ptCount val="5"/>
                <c:pt idx="0">
                  <c:v>0.53</c:v>
                </c:pt>
                <c:pt idx="1">
                  <c:v>1.4</c:v>
                </c:pt>
                <c:pt idx="2">
                  <c:v>1.03</c:v>
                </c:pt>
                <c:pt idx="3">
                  <c:v>1.22</c:v>
                </c:pt>
                <c:pt idx="4">
                  <c:v>1.16</c:v>
                </c:pt>
              </c:numCache>
            </c:numRef>
          </c:val>
          <c:smooth val="0"/>
        </c:ser>
        <c:ser>
          <c:idx val="1"/>
          <c:order val="1"/>
          <c:tx>
            <c:strRef>
              <c:f>Sheet1!$C$1</c:f>
              <c:strCache>
                <c:ptCount val="1"/>
                <c:pt idx="0">
                  <c:v>Francia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Sheet1!$C$2:$C$6</c:f>
              <c:numCache>
                <c:formatCode>General</c:formatCode>
                <c:ptCount val="5"/>
                <c:pt idx="0">
                  <c:v>0.33</c:v>
                </c:pt>
                <c:pt idx="1">
                  <c:v>-0.02</c:v>
                </c:pt>
                <c:pt idx="2">
                  <c:v>-0.01</c:v>
                </c:pt>
                <c:pt idx="3">
                  <c:v>0.46</c:v>
                </c:pt>
                <c:pt idx="4">
                  <c:v>0.5</c:v>
                </c:pt>
              </c:numCache>
            </c:numRef>
          </c:val>
          <c:smooth val="0"/>
        </c:ser>
        <c:ser>
          <c:idx val="2"/>
          <c:order val="2"/>
          <c:tx>
            <c:strRef>
              <c:f>Sheet1!$D$1</c:f>
              <c:strCache>
                <c:ptCount val="1"/>
                <c:pt idx="0">
                  <c:v>Italia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Sheet1!$D$2:$D$6</c:f>
              <c:numCache>
                <c:formatCode>General</c:formatCode>
                <c:ptCount val="5"/>
                <c:pt idx="0">
                  <c:v>1.23</c:v>
                </c:pt>
                <c:pt idx="1">
                  <c:v>0.94</c:v>
                </c:pt>
                <c:pt idx="2">
                  <c:v>0.93</c:v>
                </c:pt>
                <c:pt idx="3">
                  <c:v>1.25</c:v>
                </c:pt>
                <c:pt idx="4">
                  <c:v>1.44</c:v>
                </c:pt>
              </c:numCache>
            </c:numRef>
          </c:val>
          <c:smooth val="0"/>
        </c:ser>
        <c:ser>
          <c:idx val="3"/>
          <c:order val="3"/>
          <c:tx>
            <c:strRef>
              <c:f>Sheet1!$E$1</c:f>
              <c:strCache>
                <c:ptCount val="1"/>
                <c:pt idx="0">
                  <c:v>Portugal</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Sheet1!$E$2:$E$6</c:f>
              <c:numCache>
                <c:formatCode>General</c:formatCode>
                <c:ptCount val="5"/>
                <c:pt idx="0">
                  <c:v>0.76</c:v>
                </c:pt>
                <c:pt idx="1">
                  <c:v>0.62</c:v>
                </c:pt>
                <c:pt idx="2">
                  <c:v>0.57</c:v>
                </c:pt>
                <c:pt idx="3">
                  <c:v>0.66</c:v>
                </c:pt>
                <c:pt idx="4">
                  <c:v>0.67</c:v>
                </c:pt>
              </c:numCache>
            </c:numRef>
          </c:val>
          <c:smooth val="0"/>
        </c:ser>
        <c:ser>
          <c:idx val="4"/>
          <c:order val="4"/>
          <c:tx>
            <c:strRef>
              <c:f>Sheet1!$F$1</c:f>
              <c:strCache>
                <c:ptCount val="1"/>
                <c:pt idx="0">
                  <c:v>P. Bajos</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Sheet1!$F$2:$F$6</c:f>
              <c:numCache>
                <c:formatCode>General</c:formatCode>
                <c:ptCount val="5"/>
                <c:pt idx="0">
                  <c:v>1.61</c:v>
                </c:pt>
                <c:pt idx="1">
                  <c:v>1.56</c:v>
                </c:pt>
                <c:pt idx="2">
                  <c:v>0.87</c:v>
                </c:pt>
                <c:pt idx="3">
                  <c:v>1.01</c:v>
                </c:pt>
                <c:pt idx="4">
                  <c:v>1.2</c:v>
                </c:pt>
              </c:numCache>
            </c:numRef>
          </c:val>
          <c:smooth val="0"/>
        </c:ser>
        <c:ser>
          <c:idx val="5"/>
          <c:order val="5"/>
          <c:tx>
            <c:strRef>
              <c:f>Sheet1!$G$1</c:f>
              <c:strCache>
                <c:ptCount val="1"/>
                <c:pt idx="0">
                  <c:v>Irlanda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Sheet1!$G$2:$G$6</c:f>
              <c:numCache>
                <c:formatCode>General</c:formatCode>
                <c:ptCount val="5"/>
                <c:pt idx="0">
                  <c:v>1.64</c:v>
                </c:pt>
                <c:pt idx="1">
                  <c:v>0.7</c:v>
                </c:pt>
                <c:pt idx="2">
                  <c:v>0.29</c:v>
                </c:pt>
                <c:pt idx="3">
                  <c:v>0.68</c:v>
                </c:pt>
                <c:pt idx="4">
                  <c:v>0.62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6"/>
          <c:order val="6"/>
          <c:tx>
            <c:strRef>
              <c:f>Sheet1!$H$1</c:f>
              <c:strCache>
                <c:ptCount val="1"/>
                <c:pt idx="0">
                  <c:v>España</c:v>
                </c:pt>
              </c:strCache>
            </c:strRef>
          </c:tx>
          <c:spPr>
            <a:solidFill>
              <a:srgbClr val="F56600"/>
            </a:solidFill>
            <a:ln w="3810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Sheet1!$H$2:$H$6</c:f>
              <c:numCache>
                <c:formatCode>General</c:formatCode>
                <c:ptCount val="5"/>
                <c:pt idx="0">
                  <c:v>0.59</c:v>
                </c:pt>
                <c:pt idx="1">
                  <c:v>0.34</c:v>
                </c:pt>
                <c:pt idx="2">
                  <c:v>0.27</c:v>
                </c:pt>
                <c:pt idx="3">
                  <c:v>0.05</c:v>
                </c:pt>
                <c:pt idx="4">
                  <c:v>-0.03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2"/>
          <c:min val="-0.5"/>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Circulante</c:v>
                </c:pt>
              </c:strCache>
            </c:strRef>
          </c:tx>
          <c:spPr>
            <a:solidFill>
              <a:srgbClr val="F5660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ser>
          <c:idx val="1"/>
          <c:order val="1"/>
          <c:tx>
            <c:strRef>
              <c:f>Sheet1!$C$1</c:f>
              <c:strCache>
                <c:ptCount val="1"/>
                <c:pt idx="0">
                  <c:v>Préstamo, todas las cuantías</c:v>
                </c:pt>
              </c:strCache>
            </c:strRef>
          </c:tx>
          <c:spPr>
            <a:solidFill>
              <a:srgbClr val="B9B9B9"/>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Empresas</c:v>
                </c:pt>
              </c:strCache>
            </c:strRef>
          </c:tx>
          <c:spPr>
            <a:solidFill>
              <a:srgbClr val="F5660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Hogares</c:v>
                </c:pt>
              </c:strCache>
            </c:strRef>
          </c:tx>
          <c:spPr>
            <a:solidFill>
              <a:srgbClr val="2A6FB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0.4</c:v>
                </c:pt>
                <c:pt idx="1">
                  <c:v>0.88</c:v>
                </c:pt>
                <c:pt idx="2">
                  <c:v>1.18</c:v>
                </c:pt>
                <c:pt idx="3">
                  <c:v>0.6</c:v>
                </c:pt>
                <c:pt idx="4">
                  <c:v>0.83</c:v>
                </c:pt>
                <c:pt idx="5">
                  <c:v>1.24</c:v>
                </c:pt>
                <c:pt idx="6">
                  <c:v>0.36</c:v>
                </c:pt>
              </c:numCache>
            </c:numRef>
          </c:val>
        </c:ser>
        <c:ser>
          <c:idx val="2"/>
          <c:order val="2"/>
          <c:tx>
            <c:strRef>
              <c:f>Sheet1!$D$1</c:f>
              <c:strCache>
                <c:ptCount val="1"/>
                <c:pt idx="0">
                  <c:v>Sistema (empresas y hogares)</c:v>
                </c:pt>
              </c:strCache>
            </c:strRef>
          </c:tx>
          <c:spPr>
            <a:solidFill>
              <a:srgbClr val="B8336A"/>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0.49</c:v>
                </c:pt>
                <c:pt idx="1">
                  <c:v>0.93</c:v>
                </c:pt>
                <c:pt idx="2">
                  <c:v>1.19</c:v>
                </c:pt>
                <c:pt idx="3">
                  <c:v>0.64</c:v>
                </c:pt>
                <c:pt idx="4">
                  <c:v>0.8</c:v>
                </c:pt>
                <c:pt idx="5">
                  <c:v>1.18</c:v>
                </c:pt>
                <c:pt idx="6">
                  <c:v>0.36</c:v>
                </c:pt>
              </c:numCache>
            </c:numRef>
          </c:val>
        </c:ser>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Fue rechazada, % de las que solicitaron</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9.7</c:v>
                </c:pt>
                <c:pt idx="1">
                  <c:v>5.5</c:v>
                </c:pt>
                <c:pt idx="2">
                  <c:v>8.2</c:v>
                </c:pt>
                <c:pt idx="3">
                  <c:v>0.7</c:v>
                </c:pt>
                <c:pt idx="4">
                  <c:v>4.1</c:v>
                </c:pt>
                <c:pt idx="5">
                  <c:v>13.6</c:v>
                </c:pt>
                <c:pt idx="6">
                  <c:v>9.2</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España</c:v>
                </c:pt>
              </c:strCache>
            </c:strRef>
          </c:tx>
          <c:spPr>
            <a:solidFill>
              <a:srgbClr val="F56600"/>
            </a:solidFill>
            <a:ln w="28575"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6600"/>
              </a:solidFill>
              <a:ln w="9525" cap="flat">
                <a:solidFill>
                  <a:srgbClr val="F56600"/>
                </a:solidFill>
                <a:prstDash val="solid"/>
                <a:round/>
              </a:ln>
              <a:effectLst/>
            </c:spPr>
          </c:marker>
          <c:cat>
            <c:multiLvlStrRef>
              <c:f>Sheet1!$A$2:$A$22</c:f>
              <c:multiLvlStrCache>
                <c:ptCount val="21"/>
                <c:lvl>
                  <c:pt idx="0">
                    <c:v>2015-S1</c:v>
                  </c:pt>
                  <c:pt idx="1">
                    <c:v>2015-S2</c:v>
                  </c:pt>
                  <c:pt idx="2">
                    <c:v>2016-S1</c:v>
                  </c:pt>
                  <c:pt idx="3">
                    <c:v>2016-S2</c:v>
                  </c:pt>
                  <c:pt idx="4">
                    <c:v>2017-S1</c:v>
                  </c:pt>
                  <c:pt idx="5">
                    <c:v>2017-S2</c:v>
                  </c:pt>
                  <c:pt idx="6">
                    <c:v>2018-S1</c:v>
                  </c:pt>
                  <c:pt idx="7">
                    <c:v>2018-S2</c:v>
                  </c:pt>
                  <c:pt idx="8">
                    <c:v>2019-S1</c:v>
                  </c:pt>
                  <c:pt idx="9">
                    <c:v>2019-S2</c:v>
                  </c:pt>
                  <c:pt idx="10">
                    <c:v>2020-S1</c:v>
                  </c:pt>
                  <c:pt idx="11">
                    <c:v>2020-S2</c:v>
                  </c:pt>
                  <c:pt idx="12">
                    <c:v>2021-S1</c:v>
                  </c:pt>
                  <c:pt idx="13">
                    <c:v>2021-S2</c:v>
                  </c:pt>
                  <c:pt idx="14">
                    <c:v>2022-S1</c:v>
                  </c:pt>
                  <c:pt idx="15">
                    <c:v>2022-S2</c:v>
                  </c:pt>
                  <c:pt idx="16">
                    <c:v>2023-S1</c:v>
                  </c:pt>
                  <c:pt idx="17">
                    <c:v>2023-S2</c:v>
                  </c:pt>
                  <c:pt idx="18">
                    <c:v>2024-S1</c:v>
                  </c:pt>
                  <c:pt idx="19">
                    <c:v>2024-S2</c:v>
                  </c:pt>
                  <c:pt idx="20">
                    <c:v>2025-S1</c:v>
                  </c:pt>
                </c:lvl>
              </c:multiLvlStrCache>
            </c:multiLvlStrRef>
          </c:cat>
          <c:val>
            <c:numRef>
              <c:f>Sheet1!$B$2:$B$22</c:f>
              <c:numCache>
                <c:formatCode>General</c:formatCode>
                <c:ptCount val="21"/>
                <c:pt idx="0">
                  <c:v>-11.3</c:v>
                </c:pt>
                <c:pt idx="1">
                  <c:v>-12.7</c:v>
                </c:pt>
                <c:pt idx="2">
                  <c:v>-11.5</c:v>
                </c:pt>
                <c:pt idx="3">
                  <c:v>-9.8</c:v>
                </c:pt>
                <c:pt idx="4">
                  <c:v>-10.1</c:v>
                </c:pt>
                <c:pt idx="5">
                  <c:v>-11.3</c:v>
                </c:pt>
                <c:pt idx="6">
                  <c:v>-9.4</c:v>
                </c:pt>
                <c:pt idx="7">
                  <c:v>-6.1</c:v>
                </c:pt>
                <c:pt idx="8">
                  <c:v>-3.4</c:v>
                </c:pt>
                <c:pt idx="9">
                  <c:v>3.8</c:v>
                </c:pt>
                <c:pt idx="10">
                  <c:v>8.1</c:v>
                </c:pt>
                <c:pt idx="11">
                  <c:v>5.8</c:v>
                </c:pt>
                <c:pt idx="12">
                  <c:v>-1</c:v>
                </c:pt>
                <c:pt idx="13">
                  <c:v>2</c:v>
                </c:pt>
                <c:pt idx="14">
                  <c:v>8.5</c:v>
                </c:pt>
                <c:pt idx="15">
                  <c:v>7.4</c:v>
                </c:pt>
                <c:pt idx="16">
                  <c:v>4.4</c:v>
                </c:pt>
                <c:pt idx="17">
                  <c:v>-0.5</c:v>
                </c:pt>
                <c:pt idx="18">
                  <c:v>-2.7</c:v>
                </c:pt>
                <c:pt idx="19">
                  <c:v>-3.7</c:v>
                </c:pt>
                <c:pt idx="20">
                  <c:v>-1.3</c:v>
                </c:pt>
              </c:numCache>
            </c:numRef>
          </c:val>
          <c:smooth val="0"/>
        </c:ser>
        <c:ser>
          <c:idx val="1"/>
          <c:order val="1"/>
          <c:tx>
            <c:strRef>
              <c:f>Sheet1!$C$1</c:f>
              <c:strCache>
                <c:ptCount val="1"/>
                <c:pt idx="0">
                  <c:v>Zona euro</c:v>
                </c:pt>
              </c:strCache>
            </c:strRef>
          </c:tx>
          <c:spPr>
            <a:solidFill>
              <a:srgbClr val="2A6FB0"/>
            </a:solidFill>
            <a:ln w="28575" cap="flat">
              <a:solidFill>
                <a:srgbClr val="2A6F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6FB0"/>
              </a:solidFill>
              <a:ln w="9525" cap="flat">
                <a:solidFill>
                  <a:srgbClr val="2A6FB0"/>
                </a:solidFill>
                <a:prstDash val="solid"/>
                <a:round/>
              </a:ln>
              <a:effectLst/>
            </c:spPr>
          </c:marker>
          <c:cat>
            <c:multiLvlStrRef>
              <c:f>Sheet1!$A$2:$A$22</c:f>
              <c:multiLvlStrCache>
                <c:ptCount val="21"/>
                <c:lvl>
                  <c:pt idx="0">
                    <c:v>2015-S1</c:v>
                  </c:pt>
                  <c:pt idx="1">
                    <c:v>2015-S2</c:v>
                  </c:pt>
                  <c:pt idx="2">
                    <c:v>2016-S1</c:v>
                  </c:pt>
                  <c:pt idx="3">
                    <c:v>2016-S2</c:v>
                  </c:pt>
                  <c:pt idx="4">
                    <c:v>2017-S1</c:v>
                  </c:pt>
                  <c:pt idx="5">
                    <c:v>2017-S2</c:v>
                  </c:pt>
                  <c:pt idx="6">
                    <c:v>2018-S1</c:v>
                  </c:pt>
                  <c:pt idx="7">
                    <c:v>2018-S2</c:v>
                  </c:pt>
                  <c:pt idx="8">
                    <c:v>2019-S1</c:v>
                  </c:pt>
                  <c:pt idx="9">
                    <c:v>2019-S2</c:v>
                  </c:pt>
                  <c:pt idx="10">
                    <c:v>2020-S1</c:v>
                  </c:pt>
                  <c:pt idx="11">
                    <c:v>2020-S2</c:v>
                  </c:pt>
                  <c:pt idx="12">
                    <c:v>2021-S1</c:v>
                  </c:pt>
                  <c:pt idx="13">
                    <c:v>2021-S2</c:v>
                  </c:pt>
                  <c:pt idx="14">
                    <c:v>2022-S1</c:v>
                  </c:pt>
                  <c:pt idx="15">
                    <c:v>2022-S2</c:v>
                  </c:pt>
                  <c:pt idx="16">
                    <c:v>2023-S1</c:v>
                  </c:pt>
                  <c:pt idx="17">
                    <c:v>2023-S2</c:v>
                  </c:pt>
                  <c:pt idx="18">
                    <c:v>2024-S1</c:v>
                  </c:pt>
                  <c:pt idx="19">
                    <c:v>2024-S2</c:v>
                  </c:pt>
                  <c:pt idx="20">
                    <c:v>2025-S1</c:v>
                  </c:pt>
                </c:lvl>
              </c:multiLvlStrCache>
            </c:multiLvlStrRef>
          </c:cat>
          <c:val>
            <c:numRef>
              <c:f>Sheet1!$C$2:$C$22</c:f>
              <c:numCache>
                <c:formatCode>General</c:formatCode>
                <c:ptCount val="21"/>
                <c:pt idx="0">
                  <c:v>-2.6</c:v>
                </c:pt>
                <c:pt idx="1">
                  <c:v>-2.7</c:v>
                </c:pt>
                <c:pt idx="2">
                  <c:v>-4.6</c:v>
                </c:pt>
                <c:pt idx="3">
                  <c:v>-4.5</c:v>
                </c:pt>
                <c:pt idx="4">
                  <c:v>-4.2</c:v>
                </c:pt>
                <c:pt idx="5">
                  <c:v>-3.8</c:v>
                </c:pt>
                <c:pt idx="6">
                  <c:v>-2.9</c:v>
                </c:pt>
                <c:pt idx="7">
                  <c:v>-1.9</c:v>
                </c:pt>
                <c:pt idx="8">
                  <c:v>-3.7</c:v>
                </c:pt>
                <c:pt idx="9">
                  <c:v>0.8</c:v>
                </c:pt>
                <c:pt idx="10">
                  <c:v>2.1</c:v>
                </c:pt>
                <c:pt idx="11">
                  <c:v>2.3</c:v>
                </c:pt>
                <c:pt idx="12">
                  <c:v>-4.7</c:v>
                </c:pt>
                <c:pt idx="13">
                  <c:v>2.5</c:v>
                </c:pt>
                <c:pt idx="14">
                  <c:v>6.7</c:v>
                </c:pt>
                <c:pt idx="15">
                  <c:v>6.9</c:v>
                </c:pt>
                <c:pt idx="16">
                  <c:v>8.5</c:v>
                </c:pt>
                <c:pt idx="17">
                  <c:v>5</c:v>
                </c:pt>
                <c:pt idx="18">
                  <c:v>3.8</c:v>
                </c:pt>
                <c:pt idx="19">
                  <c:v>1</c:v>
                </c:pt>
                <c:pt idx="20">
                  <c:v>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PYME</c:v>
                </c:pt>
              </c:strCache>
            </c:strRef>
          </c:tx>
          <c:spPr>
            <a:solidFill>
              <a:srgbClr val="F5660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5.3813</c:v>
                </c:pt>
                <c:pt idx="1">
                  <c:v>4.3157</c:v>
                </c:pt>
                <c:pt idx="2">
                  <c:v>5.1249</c:v>
                </c:pt>
                <c:pt idx="3">
                  <c:v>4.9024</c:v>
                </c:pt>
                <c:pt idx="4">
                  <c:v>4.225</c:v>
                </c:pt>
                <c:pt idx="5">
                  <c:v>3.1283</c:v>
                </c:pt>
                <c:pt idx="6">
                  <c:v>3.7731</c:v>
                </c:pt>
              </c:numCache>
            </c:numRef>
          </c:val>
        </c:ser>
        <c:ser>
          <c:idx val="1"/>
          <c:order val="1"/>
          <c:tx>
            <c:strRef>
              <c:f>Sheet1!$C$1</c:f>
              <c:strCache>
                <c:ptCount val="1"/>
                <c:pt idx="0">
                  <c:v>Empresas, total</c:v>
                </c:pt>
              </c:strCache>
            </c:strRef>
          </c:tx>
          <c:spPr>
            <a:solidFill>
              <a:srgbClr val="2A6FB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2.992</c:v>
                </c:pt>
                <c:pt idx="1">
                  <c:v>3.8105</c:v>
                </c:pt>
                <c:pt idx="2">
                  <c:v>3.9355</c:v>
                </c:pt>
                <c:pt idx="3">
                  <c:v>3.4015</c:v>
                </c:pt>
                <c:pt idx="4">
                  <c:v>3.6473</c:v>
                </c:pt>
                <c:pt idx="5">
                  <c:v>2.8561</c:v>
                </c:pt>
                <c:pt idx="6">
                  <c:v>2.4956</c:v>
                </c:pt>
              </c:numCache>
            </c:numRef>
          </c:val>
        </c:ser>
        <c:ser>
          <c:idx val="2"/>
          <c:order val="2"/>
          <c:tx>
            <c:strRef>
              <c:f>Sheet1!$D$1</c:f>
              <c:strCache>
                <c:ptCount val="1"/>
                <c:pt idx="0">
                  <c:v>Hogares</c:v>
                </c:pt>
              </c:strCache>
            </c:strRef>
          </c:tx>
          <c:spPr>
            <a:solidFill>
              <a:srgbClr val="B9B9B9"/>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3.771</c:v>
                </c:pt>
                <c:pt idx="1">
                  <c:v>1.7262</c:v>
                </c:pt>
                <c:pt idx="2">
                  <c:v>2.2731</c:v>
                </c:pt>
                <c:pt idx="3">
                  <c:v>1.705</c:v>
                </c:pt>
                <c:pt idx="4">
                  <c:v>1.566</c:v>
                </c:pt>
                <c:pt idx="5">
                  <c:v>1.1043</c:v>
                </c:pt>
                <c:pt idx="6">
                  <c:v>1.5514</c:v>
                </c:pt>
              </c:numCache>
            </c:numRef>
          </c:val>
        </c:ser>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Alemania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Sheet1!$B$2:$B$10</c:f>
              <c:numCache>
                <c:formatCode>General</c:formatCode>
                <c:ptCount val="9"/>
                <c:pt idx="0">
                  <c:v>3.7241</c:v>
                </c:pt>
                <c:pt idx="1">
                  <c:v>3.9872</c:v>
                </c:pt>
                <c:pt idx="2">
                  <c:v>3.9992</c:v>
                </c:pt>
                <c:pt idx="3">
                  <c:v>3.913</c:v>
                </c:pt>
                <c:pt idx="4">
                  <c:v>3.5469</c:v>
                </c:pt>
                <c:pt idx="5">
                  <c:v>4.1482</c:v>
                </c:pt>
                <c:pt idx="6">
                  <c:v>4.3217</c:v>
                </c:pt>
                <c:pt idx="7">
                  <c:v>4.5929</c:v>
                </c:pt>
                <c:pt idx="8">
                  <c:v>4.3157</c:v>
                </c:pt>
              </c:numCache>
            </c:numRef>
          </c:val>
          <c:smooth val="0"/>
        </c:ser>
        <c:ser>
          <c:idx val="1"/>
          <c:order val="1"/>
          <c:tx>
            <c:strRef>
              <c:f>Sheet1!$C$1</c:f>
              <c:strCache>
                <c:ptCount val="1"/>
                <c:pt idx="0">
                  <c:v>Francia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Sheet1!$C$2:$C$10</c:f>
              <c:numCache>
                <c:formatCode>General</c:formatCode>
                <c:ptCount val="9"/>
                <c:pt idx="0">
                  <c:v>4.4977</c:v>
                </c:pt>
                <c:pt idx="1">
                  <c:v>4.6041</c:v>
                </c:pt>
                <c:pt idx="2">
                  <c:v>4.72</c:v>
                </c:pt>
                <c:pt idx="3">
                  <c:v>4.7261</c:v>
                </c:pt>
                <c:pt idx="4">
                  <c:v>4.8472</c:v>
                </c:pt>
                <c:pt idx="5">
                  <c:v>4.9782</c:v>
                </c:pt>
                <c:pt idx="6">
                  <c:v>5.0989</c:v>
                </c:pt>
                <c:pt idx="7">
                  <c:v>5.0432</c:v>
                </c:pt>
                <c:pt idx="8">
                  <c:v>5.1249</c:v>
                </c:pt>
              </c:numCache>
            </c:numRef>
          </c:val>
          <c:smooth val="0"/>
        </c:ser>
        <c:ser>
          <c:idx val="2"/>
          <c:order val="2"/>
          <c:tx>
            <c:strRef>
              <c:f>Sheet1!$D$1</c:f>
              <c:strCache>
                <c:ptCount val="1"/>
                <c:pt idx="0">
                  <c:v>Italia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Sheet1!$D$2:$D$10</c:f>
              <c:numCache>
                <c:formatCode>General</c:formatCode>
                <c:ptCount val="9"/>
                <c:pt idx="0">
                  <c:v>5.7285</c:v>
                </c:pt>
                <c:pt idx="1">
                  <c:v>5.8588</c:v>
                </c:pt>
                <c:pt idx="2">
                  <c:v>5.8811</c:v>
                </c:pt>
                <c:pt idx="3">
                  <c:v>5.5359</c:v>
                </c:pt>
                <c:pt idx="4">
                  <c:v>5.6086</c:v>
                </c:pt>
                <c:pt idx="5">
                  <c:v>5.6176</c:v>
                </c:pt>
                <c:pt idx="6">
                  <c:v>5.8317</c:v>
                </c:pt>
                <c:pt idx="7">
                  <c:v>4.9167</c:v>
                </c:pt>
                <c:pt idx="8">
                  <c:v>4.9024</c:v>
                </c:pt>
              </c:numCache>
            </c:numRef>
          </c:val>
          <c:smooth val="0"/>
        </c:ser>
        <c:ser>
          <c:idx val="3"/>
          <c:order val="3"/>
          <c:tx>
            <c:strRef>
              <c:f>Sheet1!$E$1</c:f>
              <c:strCache>
                <c:ptCount val="1"/>
                <c:pt idx="0">
                  <c:v>Portugal</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Sheet1!$E$2:$E$10</c:f>
              <c:numCache>
                <c:formatCode>General</c:formatCode>
                <c:ptCount val="9"/>
                <c:pt idx="0">
                  <c:v>6.1726</c:v>
                </c:pt>
                <c:pt idx="1">
                  <c:v>5.9988</c:v>
                </c:pt>
                <c:pt idx="2">
                  <c:v>5.8685</c:v>
                </c:pt>
                <c:pt idx="3">
                  <c:v>5.262</c:v>
                </c:pt>
                <c:pt idx="4">
                  <c:v>4.6134</c:v>
                </c:pt>
                <c:pt idx="5">
                  <c:v>4.5544</c:v>
                </c:pt>
                <c:pt idx="6">
                  <c:v>4.6462</c:v>
                </c:pt>
                <c:pt idx="7">
                  <c:v>4.3959</c:v>
                </c:pt>
                <c:pt idx="8">
                  <c:v>4.225</c:v>
                </c:pt>
              </c:numCache>
            </c:numRef>
          </c:val>
          <c:smooth val="0"/>
        </c:ser>
        <c:ser>
          <c:idx val="4"/>
          <c:order val="4"/>
          <c:tx>
            <c:strRef>
              <c:f>Sheet1!$F$1</c:f>
              <c:strCache>
                <c:ptCount val="1"/>
                <c:pt idx="0">
                  <c:v>P. Bajos</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Sheet1!$F$2:$F$10</c:f>
              <c:numCache>
                <c:formatCode>General</c:formatCode>
                <c:ptCount val="9"/>
                <c:pt idx="0">
                  <c:v>3.9022</c:v>
                </c:pt>
                <c:pt idx="1">
                  <c:v>3.8747</c:v>
                </c:pt>
                <c:pt idx="2">
                  <c:v>4.047</c:v>
                </c:pt>
                <c:pt idx="3">
                  <c:v>3.7738</c:v>
                </c:pt>
                <c:pt idx="4">
                  <c:v>3.7422</c:v>
                </c:pt>
                <c:pt idx="5">
                  <c:v>3.7183</c:v>
                </c:pt>
                <c:pt idx="6">
                  <c:v>3.4693</c:v>
                </c:pt>
                <c:pt idx="7">
                  <c:v>3.1714</c:v>
                </c:pt>
                <c:pt idx="8">
                  <c:v>3.1283</c:v>
                </c:pt>
              </c:numCache>
            </c:numRef>
          </c:val>
          <c:smooth val="0"/>
        </c:ser>
        <c:ser>
          <c:idx val="5"/>
          <c:order val="5"/>
          <c:tx>
            <c:strRef>
              <c:f>Sheet1!$G$1</c:f>
              <c:strCache>
                <c:ptCount val="1"/>
                <c:pt idx="0">
                  <c:v>Irlanda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Sheet1!$G$2:$G$10</c:f>
              <c:numCache>
                <c:formatCode>General</c:formatCode>
                <c:ptCount val="9"/>
                <c:pt idx="0">
                  <c:v>6.5042</c:v>
                </c:pt>
                <c:pt idx="1">
                  <c:v>6.7431</c:v>
                </c:pt>
                <c:pt idx="2">
                  <c:v>6.0993</c:v>
                </c:pt>
                <c:pt idx="3">
                  <c:v>5.1421</c:v>
                </c:pt>
                <c:pt idx="4">
                  <c:v>5.743</c:v>
                </c:pt>
                <c:pt idx="5">
                  <c:v>5.7642</c:v>
                </c:pt>
                <c:pt idx="6">
                  <c:v>5.2362</c:v>
                </c:pt>
                <c:pt idx="7">
                  <c:v>4.0737</c:v>
                </c:pt>
                <c:pt idx="8">
                  <c:v>3.7731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6"/>
          <c:order val="6"/>
          <c:tx>
            <c:strRef>
              <c:f>Sheet1!$H$1</c:f>
              <c:strCache>
                <c:ptCount val="1"/>
                <c:pt idx="0">
                  <c:v>España</c:v>
                </c:pt>
              </c:strCache>
            </c:strRef>
          </c:tx>
          <c:spPr>
            <a:solidFill>
              <a:srgbClr val="F56600"/>
            </a:solidFill>
            <a:ln w="3810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Sheet1!$A$2:$A$10</c:f>
              <c:multiLvlStrCache>
                <c:ptCount val="9"/>
                <c:lvl>
                  <c:pt idx="0">
                    <c:v>2024 Q1</c:v>
                  </c:pt>
                  <c:pt idx="1">
                    <c:v>2024 Q2</c:v>
                  </c:pt>
                  <c:pt idx="2">
                    <c:v>2024 Q3</c:v>
                  </c:pt>
                  <c:pt idx="3">
                    <c:v>2024 Q4</c:v>
                  </c:pt>
                  <c:pt idx="4">
                    <c:v>2025 Q1</c:v>
                  </c:pt>
                  <c:pt idx="5">
                    <c:v>2025 Q2</c:v>
                  </c:pt>
                  <c:pt idx="6">
                    <c:v>2025 Q3</c:v>
                  </c:pt>
                  <c:pt idx="7">
                    <c:v>2025 Q4</c:v>
                  </c:pt>
                  <c:pt idx="8">
                    <c:v>2026 Q1</c:v>
                  </c:pt>
                </c:lvl>
              </c:multiLvlStrCache>
            </c:multiLvlStrRef>
          </c:cat>
          <c:val>
            <c:numRef>
              <c:f>Sheet1!$H$2:$H$10</c:f>
              <c:numCache>
                <c:formatCode>General</c:formatCode>
                <c:ptCount val="9"/>
                <c:pt idx="0">
                  <c:v>6.4947</c:v>
                </c:pt>
                <c:pt idx="1">
                  <c:v>6.2605</c:v>
                </c:pt>
                <c:pt idx="2">
                  <c:v>6.3446</c:v>
                </c:pt>
                <c:pt idx="3">
                  <c:v>6.019</c:v>
                </c:pt>
                <c:pt idx="4">
                  <c:v>6.1059</c:v>
                </c:pt>
                <c:pt idx="5">
                  <c:v>5.8917</c:v>
                </c:pt>
                <c:pt idx="6">
                  <c:v>5.7395</c:v>
                </c:pt>
                <c:pt idx="7">
                  <c:v>5.5932</c:v>
                </c:pt>
                <c:pt idx="8">
                  <c:v>5.3813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7"/>
          <c:min val="2"/>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Probabilidad de impago a un año (PD)</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dLbls>
          <c:numFmt formatCode="0.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9525" cap="flat">
              <a:solidFill>
                <a:srgbClr val="E6E9EC"/>
              </a:solidFill>
              <a:prstDash val="solid"/>
              <a:round/>
            </a:ln>
          </c:spPr>
        </c:majorGridlines>
        <c:numFmt formatCode="0.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Severidad de la pérdida (LGD)</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48"/>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estándar</c:v>
                </c:pt>
              </c:strCache>
            </c:strRef>
          </c:tx>
          <c:spPr>
            <a:solidFill>
              <a:srgbClr val="B9B9B9"/>
            </a:solidFill>
            <a:effectLst/>
          </c:spPr>
          <c:invertIfNegative val="0"/>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63</c:v>
                </c:pt>
                <c:pt idx="1">
                  <c:v>66</c:v>
                </c:pt>
                <c:pt idx="2">
                  <c:v>67.3</c:v>
                </c:pt>
                <c:pt idx="3">
                  <c:v>66.3</c:v>
                </c:pt>
                <c:pt idx="4">
                  <c:v>72.7</c:v>
                </c:pt>
                <c:pt idx="5">
                  <c:v>69.9</c:v>
                </c:pt>
                <c:pt idx="6">
                  <c:v>77.3</c:v>
                </c:pt>
              </c:numCache>
            </c:numRef>
          </c:val>
        </c:ser>
        <c:ser>
          <c:idx val="1"/>
          <c:order val="1"/>
          <c:tx>
            <c:strRef>
              <c:f>Sheet1!$C$1</c:f>
              <c:strCache>
                <c:ptCount val="1"/>
                <c:pt idx="0">
                  <c:v>Modelos internos (IRB)</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55.4</c:v>
                </c:pt>
                <c:pt idx="1">
                  <c:v>30.1</c:v>
                </c:pt>
                <c:pt idx="2">
                  <c:v>35.3</c:v>
                </c:pt>
                <c:pt idx="3">
                  <c:v>37.7</c:v>
                </c:pt>
                <c:pt idx="4">
                  <c:v>47.5</c:v>
                </c:pt>
                <c:pt idx="5">
                  <c:v>34.9</c:v>
                </c:pt>
                <c:pt idx="6">
                  <c:v>64.7</c:v>
                </c:pt>
              </c:numCache>
            </c:numRef>
          </c:val>
        </c:ser>
        <c:dLbls>
          <c:numFmt formatCode="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Exposición PYME en España, miles de millones de €</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c:v>
                </c:pt>
                <c:pt idx="4">
                  <c:v>32.325</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Francia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Sheet1!$B$2:$B$13</c:f>
              <c:numCache>
                <c:formatCode>General</c:formatCode>
                <c:ptCount val="12"/>
                <c:pt idx="0">
                  <c:v>88.875</c:v>
                </c:pt>
                <c:pt idx="1">
                  <c:v>71.4667</c:v>
                </c:pt>
                <c:pt idx="2">
                  <c:v>70.3167</c:v>
                </c:pt>
                <c:pt idx="3">
                  <c:v>77.65</c:v>
                </c:pt>
                <c:pt idx="4">
                  <c:v>59.05</c:v>
                </c:pt>
                <c:pt idx="5">
                  <c:v>35.4667</c:v>
                </c:pt>
                <c:pt idx="6">
                  <c:v>30.0833</c:v>
                </c:pt>
                <c:pt idx="7">
                  <c:v>44.85</c:v>
                </c:pt>
                <c:pt idx="8">
                  <c:v>49.8167</c:v>
                </c:pt>
                <c:pt idx="9">
                  <c:v>27.0083</c:v>
                </c:pt>
                <c:pt idx="10">
                  <c:v>15.975</c:v>
                </c:pt>
                <c:pt idx="11">
                  <c:v>58.0333</c:v>
                </c:pt>
              </c:numCache>
            </c:numRef>
          </c:val>
          <c:smooth val="0"/>
        </c:ser>
        <c:ser>
          <c:idx val="1"/>
          <c:order val="1"/>
          <c:tx>
            <c:strRef>
              <c:f>Sheet1!$C$1</c:f>
              <c:strCache>
                <c:ptCount val="1"/>
                <c:pt idx="0">
                  <c:v>Italia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Sheet1!$C$2:$C$13</c:f>
              <c:numCache>
                <c:formatCode>General</c:formatCode>
                <c:ptCount val="12"/>
                <c:pt idx="0">
                  <c:v>160</c:v>
                </c:pt>
                <c:pt idx="1">
                  <c:v>200</c:v>
                </c:pt>
                <c:pt idx="2">
                  <c:v>190</c:v>
                </c:pt>
                <c:pt idx="3">
                  <c:v>190</c:v>
                </c:pt>
                <c:pt idx="4">
                  <c:v>200</c:v>
                </c:pt>
                <c:pt idx="5">
                  <c:v>140</c:v>
                </c:pt>
                <c:pt idx="6">
                  <c:v>120</c:v>
                </c:pt>
                <c:pt idx="7">
                  <c:v>130</c:v>
                </c:pt>
                <c:pt idx="8">
                  <c:v>170</c:v>
                </c:pt>
                <c:pt idx="9">
                  <c:v>80</c:v>
                </c:pt>
                <c:pt idx="10">
                  <c:v>117</c:v>
                </c:pt>
                <c:pt idx="11">
                  <c:v>200</c:v>
                </c:pt>
              </c:numCache>
            </c:numRef>
          </c:val>
          <c:smooth val="0"/>
        </c:ser>
        <c:ser>
          <c:idx val="2"/>
          <c:order val="2"/>
          <c:tx>
            <c:strRef>
              <c:f>Sheet1!$D$1</c:f>
              <c:strCache>
                <c:ptCount val="1"/>
                <c:pt idx="0">
                  <c:v>Portugal</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Sheet1!$D$2:$D$13</c:f>
              <c:numCache>
                <c:formatCode>General</c:formatCode>
                <c:ptCount val="12"/>
                <c:pt idx="0">
                  <c:v>201</c:v>
                </c:pt>
                <c:pt idx="1">
                  <c:v>216</c:v>
                </c:pt>
                <c:pt idx="2">
                  <c:v>185</c:v>
                </c:pt>
                <c:pt idx="3">
                  <c:v>160</c:v>
                </c:pt>
                <c:pt idx="4">
                  <c:v>135</c:v>
                </c:pt>
                <c:pt idx="5">
                  <c:v>114</c:v>
                </c:pt>
                <c:pt idx="6">
                  <c:v>128</c:v>
                </c:pt>
                <c:pt idx="7">
                  <c:v>120</c:v>
                </c:pt>
                <c:pt idx="8">
                  <c:v>108</c:v>
                </c:pt>
                <c:pt idx="9">
                  <c:v>78</c:v>
                </c:pt>
                <c:pt idx="10">
                  <c:v>79</c:v>
                </c:pt>
                <c:pt idx="11">
                  <c:v>52</c:v>
                </c:pt>
              </c:numCache>
            </c:numRef>
          </c:val>
          <c:smooth val="0"/>
        </c:ser>
        <c:ser>
          <c:idx val="3"/>
          <c:order val="3"/>
          <c:tx>
            <c:strRef>
              <c:f>Sheet1!$E$1</c:f>
              <c:strCache>
                <c:ptCount val="1"/>
                <c:pt idx="0">
                  <c:v>P. Bajos</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Sheet1!$E$2:$E$13</c:f>
              <c:numCache>
                <c:formatCode>General</c:formatCode>
                <c:ptCount val="12"/>
                <c:pt idx="0">
                  <c:v>290</c:v>
                </c:pt>
                <c:pt idx="1">
                  <c:v>150</c:v>
                </c:pt>
                <c:pt idx="2">
                  <c:v>90</c:v>
                </c:pt>
                <c:pt idx="3">
                  <c:v>130</c:v>
                </c:pt>
                <c:pt idx="4">
                  <c:v>200</c:v>
                </c:pt>
                <c:pt idx="5">
                  <c:v>50</c:v>
                </c:pt>
                <c:pt idx="6">
                  <c:v>40</c:v>
                </c:pt>
                <c:pt idx="7">
                  <c:v>200</c:v>
                </c:pt>
                <c:pt idx="8">
                  <c:v>80</c:v>
                </c:pt>
                <c:pt idx="9">
                  <c:v>160</c:v>
                </c:pt>
                <c:pt idx="10">
                  <c:v>140</c:v>
                </c:pt>
                <c:pt idx="11">
                  <c:v>90</c:v>
                </c:pt>
              </c:numCache>
            </c:numRef>
          </c:val>
          <c:smooth val="0"/>
        </c:ser>
        <c:ser>
          <c:idx val="4"/>
          <c:order val="4"/>
          <c:tx>
            <c:strRef>
              <c:f>Sheet1!$F$1</c:f>
              <c:strCache>
                <c:ptCount val="1"/>
                <c:pt idx="0">
                  <c:v>Irlanda</c:v>
                </c:pt>
              </c:strCache>
            </c:strRef>
          </c:tx>
          <c:spPr>
            <a:solidFill>
              <a:srgbClr val="B9B9B9"/>
            </a:solidFill>
            <a:ln w="15875" cap="flat">
              <a:solidFill>
                <a:srgbClr val="B9B9B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9B9B9"/>
              </a:solidFill>
              <a:ln w="9525" cap="flat">
                <a:solidFill>
                  <a:srgbClr val="B9B9B9"/>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Sheet1!$F$2:$F$13</c:f>
              <c:numCache>
                <c:formatCode>General</c:formatCode>
                <c:ptCount val="12"/>
                <c:pt idx="0">
                  <c:v>138</c:v>
                </c:pt>
                <c:pt idx="1">
                  <c:v>142</c:v>
                </c:pt>
                <c:pt idx="2">
                  <c:v>146</c:v>
                </c:pt>
                <c:pt idx="3">
                  <c:v>169</c:v>
                </c:pt>
                <c:pt idx="4">
                  <c:v>257</c:v>
                </c:pt>
                <c:pt idx="5">
                  <c:v>220</c:v>
                </c:pt>
                <c:pt idx="6">
                  <c:v>197</c:v>
                </c:pt>
                <c:pt idx="7">
                  <c:v>219</c:v>
                </c:pt>
                <c:pt idx="8">
                  <c:v>175</c:v>
                </c:pt>
                <c:pt idx="9">
                  <c:v>194</c:v>
                </c:pt>
                <c:pt idx="10">
                  <c:v>189</c:v>
                </c:pt>
                <c:pt idx="11">
                  <c:v>90.5833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5"/>
          <c:order val="5"/>
          <c:tx>
            <c:strRef>
              <c:f>Sheet1!$G$1</c:f>
              <c:strCache>
                <c:ptCount val="1"/>
                <c:pt idx="0">
                  <c:v>España</c:v>
                </c:pt>
              </c:strCache>
            </c:strRef>
          </c:tx>
          <c:spPr>
            <a:solidFill>
              <a:srgbClr val="F56600"/>
            </a:solidFill>
            <a:ln w="3810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Sheet1!$A$2:$A$13</c:f>
              <c:multiLvlStrCache>
                <c:ptCount val="12"/>
                <c:lvl>
                  <c:pt idx="0">
                    <c:v>2011</c:v>
                  </c:pt>
                  <c:pt idx="1">
                    <c:v>2012</c:v>
                  </c:pt>
                  <c:pt idx="2">
                    <c:v>2013</c:v>
                  </c:pt>
                  <c:pt idx="3">
                    <c:v>2014</c:v>
                  </c:pt>
                  <c:pt idx="4">
                    <c:v>2015</c:v>
                  </c:pt>
                  <c:pt idx="5">
                    <c:v>2016</c:v>
                  </c:pt>
                  <c:pt idx="6">
                    <c:v>2017</c:v>
                  </c:pt>
                  <c:pt idx="7">
                    <c:v>2018</c:v>
                  </c:pt>
                  <c:pt idx="8">
                    <c:v>2019</c:v>
                  </c:pt>
                  <c:pt idx="9">
                    <c:v>2020</c:v>
                  </c:pt>
                  <c:pt idx="10">
                    <c:v>2021</c:v>
                  </c:pt>
                  <c:pt idx="11">
                    <c:v>2022</c:v>
                  </c:pt>
                </c:lvl>
              </c:multiLvlStrCache>
            </c:multiLvlStrRef>
          </c:cat>
          <c:val>
            <c:numRef>
              <c:f>Sheet1!$G$2:$G$13</c:f>
              <c:numCache>
                <c:formatCode>General</c:formatCode>
                <c:ptCount val="12"/>
                <c:pt idx="0">
                  <c:v>159</c:v>
                </c:pt>
                <c:pt idx="1">
                  <c:v>230</c:v>
                </c:pt>
                <c:pt idx="2">
                  <c:v>210</c:v>
                </c:pt>
                <c:pt idx="3">
                  <c:v>187</c:v>
                </c:pt>
                <c:pt idx="4">
                  <c:v>104</c:v>
                </c:pt>
                <c:pt idx="5">
                  <c:v>88</c:v>
                </c:pt>
                <c:pt idx="6">
                  <c:v>59</c:v>
                </c:pt>
                <c:pt idx="7">
                  <c:v>20</c:v>
                </c:pt>
                <c:pt idx="8">
                  <c:v>56</c:v>
                </c:pt>
                <c:pt idx="9">
                  <c:v>32</c:v>
                </c:pt>
                <c:pt idx="10">
                  <c:v>52</c:v>
                </c:pt>
                <c:pt idx="11">
                  <c:v>20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320"/>
          <c:min val="0"/>
        </c:scaling>
        <c:delete val="0"/>
        <c:axPos val="l"/>
        <c:majorGridlines>
          <c:spPr>
            <a:ln w="9525" cap="flat">
              <a:solidFill>
                <a:srgbClr val="E6E9EC"/>
              </a:solidFill>
              <a:prstDash val="solid"/>
              <a:round/>
            </a:ln>
          </c:spPr>
        </c:majorGridlines>
        <c:numFmt formatCode="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comisiones (TAE)</c:v>
                </c:pt>
              </c:strCache>
            </c:strRef>
          </c:tx>
          <c:spPr>
            <a:solidFill>
              <a:srgbClr val="F56600"/>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4.45</c:v>
                </c:pt>
                <c:pt idx="1">
                  <c:v>3.73</c:v>
                </c:pt>
                <c:pt idx="2">
                  <c:v>3.63</c:v>
                </c:pt>
              </c:numCache>
            </c:numRef>
          </c:val>
        </c:ser>
        <c:ser>
          <c:idx val="1"/>
          <c:order val="1"/>
          <c:tx>
            <c:strRef>
              <c:f>Sheet1!$C$1</c:f>
              <c:strCache>
                <c:ptCount val="1"/>
                <c:pt idx="0">
                  <c:v>Sin comisiones (TEDR)</c:v>
                </c:pt>
              </c:strCache>
            </c:strRef>
          </c:tx>
          <c:spPr>
            <a:solidFill>
              <a:srgbClr val="B9B9B9"/>
            </a:solidFill>
            <a:effectLst/>
          </c:spPr>
          <c:invertIfNegative val="0"/>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3.42</c:v>
                </c:pt>
                <c:pt idx="1">
                  <c:v>3.37</c:v>
                </c:pt>
                <c:pt idx="2">
                  <c:v>3.45</c:v>
                </c:pt>
              </c:numCache>
            </c:numRef>
          </c:val>
        </c:ser>
        <c:dLbls>
          <c:numFmt formatCode="0.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c:v>
                </c:pt>
              </c:strCache>
            </c:strRef>
          </c:tx>
          <c:spPr>
            <a:solidFill>
              <a:srgbClr val="F56600"/>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Coste de la deuda</c:v>
                </c:pt>
              </c:strCache>
            </c:strRef>
          </c:tx>
          <c:spPr>
            <a:solidFill>
              <a:srgbClr val="B9B9B9"/>
            </a:solidFill>
            <a:effectLst/>
          </c:spPr>
          <c:invertIfNegative val="0"/>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0" sourceLinked="0"/>
          <c:txPr>
            <a:bodyPr/>
            <a:lstStyle/>
            <a:p>
              <a:pPr>
                <a:defRPr b="0" i="0" strike="noStrike" sz="800" u="none">
                  <a:solidFill>
                    <a:srgbClr val="2B2B2B"/>
                  </a:solidFill>
                  <a:latin typeface="Verdan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6E9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Pequeñas: rentabilidad menos coste, pp</c:v>
                </c:pt>
              </c:strCache>
            </c:strRef>
          </c:tx>
          <c:spPr>
            <a:solidFill>
              <a:srgbClr val="F56600"/>
            </a:solidFill>
            <a:ln w="28575"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6600"/>
              </a:solidFill>
              <a:ln w="9525" cap="flat">
                <a:solidFill>
                  <a:srgbClr val="F56600"/>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-0.2</c:v>
                </c:pt>
                <c:pt idx="1">
                  <c:v>0.6</c:v>
                </c:pt>
                <c:pt idx="2">
                  <c:v>1.3</c:v>
                </c:pt>
                <c:pt idx="3">
                  <c:v>1.4</c:v>
                </c:pt>
                <c:pt idx="4">
                  <c:v>1.6</c:v>
                </c:pt>
                <c:pt idx="5">
                  <c:v>0.6</c:v>
                </c:pt>
                <c:pt idx="6">
                  <c:v>1.9</c:v>
                </c:pt>
                <c:pt idx="7">
                  <c:v>2.4</c:v>
                </c:pt>
                <c:pt idx="8">
                  <c:v>2.1</c:v>
                </c:pt>
                <c:pt idx="9">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tickLblSkip val="1"/>
      </c:catAx>
      <c:valAx>
        <c:axId val="2094734552"/>
        <c:scaling>
          <c:orientation val="minMax"/>
          <c:max val="3"/>
          <c:min val="-0.5"/>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B2B2B"/>
              </a:solidFill>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Destino de la financiación, % de las que la necesitan</a:t>
            </a:r>
          </a:p>
        </c:rich>
      </c:tx>
      <c:layout/>
      <c:overlay val="0"/>
    </c:title>
    <c:autoTitleDeleted val="0"/>
    <c:plotArea>
      <c:layout/>
      <c:barChart>
        <c:barDir val="bar"/>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85"/>
          <c:min val="0"/>
        </c:scaling>
        <c:delete val="1"/>
        <c:axPos val="b"/>
        <c:majorGridlines>
          <c:spPr>
            <a:ln w="9525" cap="flat">
              <a:solidFill>
                <a:srgbClr val="E6E9EC"/>
              </a:solidFill>
              <a:prstDash val="solid"/>
              <a:round/>
            </a:ln>
          </c:spPr>
        </c:majorGridlines>
        <c:numFmt formatCode="0.0&quot;%&quot;" sourceLinked="0"/>
        <c:majorTickMark val="out"/>
        <c:minorTickMark val="none"/>
        <c:tickLblPos val="low"/>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Obstáculos señalados, % del total de encuestadas</a:t>
            </a:r>
          </a:p>
        </c:rich>
      </c:tx>
      <c:layout/>
      <c:overlay val="0"/>
    </c:title>
    <c:autoTitleDeleted val="0"/>
    <c:plotArea>
      <c:layout/>
      <c:barChart>
        <c:barDir val="bar"/>
        <c:grouping val="clustered"/>
        <c:varyColors val="0"/>
        <c:ser>
          <c:idx val="0"/>
          <c:order val="0"/>
          <c:tx>
            <c:strRef>
              <c:f>Sheet1!$B$1</c:f>
              <c:strCache>
                <c:ptCount val="1"/>
                <c:pt idx="0">
                  <c:v>valor</c:v>
                </c:pt>
              </c:strCache>
            </c:strRef>
          </c:tx>
          <c:spPr>
            <a:solidFill>
              <a:srgbClr val="B9B9B9"/>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F56600"/>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cat>
            <c:multiLvlStrRef>
              <c:f>Sheet1!$A$2:$A$6</c:f>
              <c:multiLvlStrCache>
                <c:ptCount val="5"/>
                <c:lvl>
                  <c:pt idx="0">
                    <c:v>Ninguno</c:v>
                  </c:pt>
                  <c:pt idx="1">
                    <c:v>El precio</c:v>
                  </c:pt>
                  <c:pt idx="2">
                    <c:v>El banco no entiende el negocio</c:v>
                  </c:pt>
                  <c:pt idx="3">
                    <c:v>Trámites y otros</c:v>
                  </c:pt>
                  <c:pt idx="4">
                    <c:v>Poca financiación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60"/>
          <c:min val="0"/>
        </c:scaling>
        <c:delete val="1"/>
        <c:axPos val="b"/>
        <c:majorGridlines>
          <c:spPr>
            <a:ln w="9525" cap="flat">
              <a:solidFill>
                <a:srgbClr val="E6E9EC"/>
              </a:solidFill>
              <a:prstDash val="solid"/>
              <a:round/>
            </a:ln>
          </c:spPr>
        </c:majorGridlines>
        <c:numFmt formatCode="0.0&quot;%&quot;" sourceLinked="0"/>
        <c:majorTickMark val="out"/>
        <c:minorTickMark val="none"/>
        <c:tickLblPos val="low"/>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Factoring cedido en 2025, % del PIB</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0&quot;%&quot;"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Tasa de recuperación, céntimos por dólar</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77.5</c:v>
                </c:pt>
                <c:pt idx="1">
                  <c:v>79.8</c:v>
                </c:pt>
                <c:pt idx="2">
                  <c:v>74.8</c:v>
                </c:pt>
                <c:pt idx="3">
                  <c:v>65.6</c:v>
                </c:pt>
                <c:pt idx="4">
                  <c:v>64.8</c:v>
                </c:pt>
                <c:pt idx="5">
                  <c:v>90.1</c:v>
                </c:pt>
                <c:pt idx="6">
                  <c:v>86.1</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B2B2B"/>
                </a:solidFill>
                <a:latin typeface="Verdana"/>
              </a:defRPr>
            </a:pPr>
            <a:r>
              <a:rPr sz="1050" b="0" i="0" u="none" strike="noStrike">
                <a:solidFill>
                  <a:srgbClr val="2B2B2B"/>
                </a:solidFill>
                <a:latin typeface="Verdana"/>
              </a:rPr>
              <a:t>Tiempo de resolución del concurso, años</a:t>
            </a:r>
          </a:p>
        </c:rich>
      </c:tx>
      <c:layout/>
      <c:overlay val="0"/>
    </c:title>
    <c:autoTitleDeleted val="0"/>
    <c:plotArea>
      <c:layout/>
      <c:barChart>
        <c:barDir val="col"/>
        <c:grouping val="clustered"/>
        <c:varyColors val="0"/>
        <c:ser>
          <c:idx val="0"/>
          <c:order val="0"/>
          <c:tx>
            <c:strRef>
              <c:f>Sheet1!$B$1</c:f>
              <c:strCache>
                <c:ptCount val="1"/>
                <c:pt idx="0">
                  <c:v>valor</c:v>
                </c:pt>
              </c:strCache>
            </c:strRef>
          </c:tx>
          <c:spPr>
            <a:solidFill>
              <a:srgbClr val="F56600"/>
            </a:solidFill>
            <a:effectLst/>
          </c:spPr>
          <c:invertIfNegative val="0"/>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1.5</c:v>
                </c:pt>
                <c:pt idx="1">
                  <c:v>1.2</c:v>
                </c:pt>
                <c:pt idx="2">
                  <c:v>1.9</c:v>
                </c:pt>
                <c:pt idx="3">
                  <c:v>1.8</c:v>
                </c:pt>
                <c:pt idx="4">
                  <c:v>3</c:v>
                </c:pt>
                <c:pt idx="5">
                  <c:v>1.1</c:v>
                </c:pt>
                <c:pt idx="6">
                  <c:v>0.4</c:v>
                </c:pt>
              </c:numCache>
            </c:numRef>
          </c:val>
        </c:ser>
        <c:dLbls>
          <c:numFmt formatCode="0.0" sourceLinked="0"/>
          <c:txPr>
            <a:bodyPr/>
            <a:lstStyle/>
            <a:p>
              <a:pPr>
                <a:defRPr b="0" i="0" strike="noStrike" sz="900" u="none">
                  <a:solidFill>
                    <a:srgbClr val="2B2B2B"/>
                  </a:solidFill>
                  <a:latin typeface="Verdana"/>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6E9EC"/>
              </a:solidFill>
              <a:prstDash val="solid"/>
              <a:round/>
            </a:ln>
          </c:spPr>
        </c:majorGridlines>
        <c:numFmt formatCode="0.0"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Comisiones / inversión</c:v>
                </c:pt>
              </c:strCache>
            </c:strRef>
          </c:tx>
          <c:spPr>
            <a:solidFill>
              <a:srgbClr val="2A6FB0"/>
            </a:solidFill>
            <a:effectLst/>
          </c:spPr>
          <c:invertIfNegative val="0"/>
          <c:dLbls>
            <c:numFmt formatCode="0.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2A6FB0"/>
              </a:solidFill>
              <a:effectLst/>
            </c:spPr>
          </c:dPt>
          <c:dPt>
            <c:idx val="1"/>
            <c:invertIfNegative val="0"/>
            <c:bubble3D val="0"/>
            <c:spPr>
              <a:solidFill>
                <a:srgbClr val="2A6FB0"/>
              </a:solidFill>
              <a:effectLst/>
            </c:spPr>
          </c:dPt>
          <c:dPt>
            <c:idx val="2"/>
            <c:invertIfNegative val="0"/>
            <c:bubble3D val="0"/>
            <c:spPr>
              <a:solidFill>
                <a:srgbClr val="B9B9B9"/>
              </a:solidFill>
              <a:effectLst/>
            </c:spPr>
          </c:dPt>
          <c:dPt>
            <c:idx val="3"/>
            <c:invertIfNegative val="0"/>
            <c:bubble3D val="0"/>
            <c:spPr>
              <a:solidFill>
                <a:srgbClr val="B9B9B9"/>
              </a:solidFill>
              <a:effectLst/>
            </c:spPr>
          </c:dPt>
          <c:cat>
            <c:multiLvlStrRef>
              <c:f>Sheet1!$A$2:$A$5</c:f>
              <c:multiLvlStrCache>
                <c:ptCount val="4"/>
                <c:lvl>
                  <c:pt idx="0">
                    <c:v>Commerzbank
Corporate Clients</c:v>
                  </c:pt>
                  <c:pt idx="1">
                    <c:v>ABN AMRO
Corporate Banking</c:v>
                  </c:pt>
                  <c:pt idx="2">
                    <c:v>CaixaBank
Grupo consolidado</c:v>
                  </c:pt>
                  <c:pt idx="3">
                    <c:v>BPER Banca
Grupo consolidado</c:v>
                  </c:pt>
                </c:lvl>
              </c:multiLvlStrCache>
            </c:multiLvlStrRef>
          </c:cat>
          <c:val>
            <c:numRef>
              <c:f>Sheet1!$B$2:$B$5</c:f>
              <c:numCache>
                <c:formatCode>General</c:formatCode>
                <c:ptCount val="4"/>
                <c:pt idx="0">
                  <c:v>1.2227642276422763</c:v>
                </c:pt>
                <c:pt idx="1">
                  <c:v>0.9873417721518988</c:v>
                </c:pt>
                <c:pt idx="2">
                  <c:v>1.0215812107829743</c:v>
                </c:pt>
                <c:pt idx="3">
                  <c:v>2.094787833854876</c:v>
                </c:pt>
              </c:numCache>
            </c:numRef>
          </c:val>
        </c:ser>
        <c:dLbls>
          <c:numFmt formatCode="0.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ACACA"/>
            </a:solidFill>
            <a:prstDash val="solid"/>
            <a:round/>
          </a:ln>
        </c:spPr>
        <c:txPr>
          <a:bodyPr/>
          <a:lstStyle/>
          <a:p>
            <a:pPr>
              <a:defRPr sz="950" b="0" i="0" u="none" strike="noStrike">
                <a:solidFill>
                  <a:srgbClr val="2B2B2B"/>
                </a:solidFill>
                <a:latin typeface="Verdana"/>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6E9EC"/>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850" b="0" i="0" u="none" strike="noStrike">
                <a:solidFill>
                  <a:srgbClr val="818181"/>
                </a:solidFill>
                <a:latin typeface="Verdan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Text 4"/>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7" name="Text 5"/>
          <p:cNvSpPr txBox="1"/>
          <p:nvPr/>
        </p:nvSpPr>
        <p:spPr>
          <a:xfrm>
            <a:off x="1005840" y="1783080"/>
            <a:ext cx="6035040" cy="160020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Verdana" pitchFamily="34" charset="0"/>
                <a:ea typeface="Verdana" pitchFamily="34" charset="-122"/>
                <a:cs typeface="Verdana" pitchFamily="34" charset="-120"/>
              </a:rPr>
              <a:t>El mercado PYME</a:t>
            </a:r>
            <a:endParaRPr lang="en-US" sz="3800" dirty="0"/>
          </a:p>
          <a:p>
            <a:pPr indent="0" marL="0">
              <a:lnSpc>
                <a:spcPct val="105000"/>
              </a:lnSpc>
              <a:buNone/>
            </a:pPr>
            <a:r>
              <a:rPr lang="en-US" sz="3800" b="1" dirty="0">
                <a:solidFill>
                  <a:srgbClr val="FFFFFF"/>
                </a:solidFill>
                <a:latin typeface="Verdana" pitchFamily="34" charset="0"/>
                <a:ea typeface="Verdana" pitchFamily="34" charset="-122"/>
                <a:cs typeface="Verdana" pitchFamily="34" charset="-120"/>
              </a:rPr>
              <a:t>en Europa</a:t>
            </a:r>
            <a:endParaRPr lang="en-US" sz="3800" dirty="0"/>
          </a:p>
        </p:txBody>
      </p:sp>
      <p:sp>
        <p:nvSpPr>
          <p:cNvPr id="8" name="Text 6"/>
          <p:cNvSpPr txBox="1"/>
          <p:nvPr/>
        </p:nvSpPr>
        <p:spPr>
          <a:xfrm>
            <a:off x="1005840" y="3456432"/>
            <a:ext cx="6035040" cy="411480"/>
          </a:xfrm>
          <a:prstGeom prst="rect">
            <a:avLst/>
          </a:prstGeom>
          <a:noFill/>
          <a:ln/>
        </p:spPr>
        <p:txBody>
          <a:bodyPr wrap="square" lIns="0" tIns="0" rIns="0" bIns="0" rtlCol="0" anchor="ctr"/>
          <a:lstStyle/>
          <a:p>
            <a:pPr indent="0" marL="0">
              <a:buNone/>
            </a:pPr>
            <a:r>
              <a:rPr lang="en-US" sz="1500" dirty="0">
                <a:solidFill>
                  <a:srgbClr val="FFD200"/>
                </a:solidFill>
                <a:latin typeface="Verdana" pitchFamily="34" charset="0"/>
                <a:ea typeface="Verdana" pitchFamily="34" charset="-122"/>
                <a:cs typeface="Verdana" pitchFamily="34" charset="-120"/>
              </a:rPr>
              <a:t>Lo que dicen los datos, fuente por fuente</a:t>
            </a:r>
            <a:endParaRPr lang="en-US" sz="1500" dirty="0"/>
          </a:p>
        </p:txBody>
      </p:sp>
      <p:sp>
        <p:nvSpPr>
          <p:cNvPr id="9" name="Text 7"/>
          <p:cNvSpPr txBox="1"/>
          <p:nvPr/>
        </p:nvSpPr>
        <p:spPr>
          <a:xfrm>
            <a:off x="1005840" y="4069080"/>
            <a:ext cx="6035040" cy="365760"/>
          </a:xfrm>
          <a:prstGeom prst="rect">
            <a:avLst/>
          </a:prstGeom>
          <a:noFill/>
          <a:ln/>
        </p:spPr>
        <p:txBody>
          <a:bodyPr wrap="square" lIns="0" tIns="0" rIns="0" bIns="0" rtlCol="0" anchor="ctr"/>
          <a:lstStyle/>
          <a:p>
            <a:pPr indent="0" marL="0">
              <a:buNone/>
            </a:pPr>
            <a:r>
              <a:rPr lang="en-US" sz="110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00" dirty="0"/>
          </a:p>
        </p:txBody>
      </p:sp>
      <p:sp>
        <p:nvSpPr>
          <p:cNvPr id="10" name="Text 8"/>
          <p:cNvSpPr txBox="1"/>
          <p:nvPr/>
        </p:nvSpPr>
        <p:spPr>
          <a:xfrm>
            <a:off x="1005840" y="4617720"/>
            <a:ext cx="5852160" cy="640080"/>
          </a:xfrm>
          <a:prstGeom prst="rect">
            <a:avLst/>
          </a:prstGeom>
          <a:noFill/>
          <a:ln/>
        </p:spPr>
        <p:txBody>
          <a:bodyPr wrap="square" lIns="0" tIns="0" rIns="0" bIns="0" rtlCol="0" anchor="ctr"/>
          <a:lstStyle/>
          <a:p>
            <a:pPr indent="0" marL="0">
              <a:buNone/>
            </a:pPr>
            <a:r>
              <a:rPr lang="en-US" sz="1000" dirty="0">
                <a:solidFill>
                  <a:srgbClr val="A1A1A1"/>
                </a:solidFill>
                <a:latin typeface="Verdana" pitchFamily="34" charset="0"/>
                <a:ea typeface="Verdana" pitchFamily="34" charset="-122"/>
                <a:cs typeface="Verdana" pitchFamily="34" charset="-120"/>
              </a:rPr>
              <a:t>Análisis descriptivo sobre datos observados. Sin modelos de rentabilidad: los datos disponibles no tienen la calidad para sostener un ROE.</a:t>
            </a:r>
            <a:endParaRPr lang="en-US" sz="1000" dirty="0"/>
          </a:p>
        </p:txBody>
      </p:sp>
      <p:sp>
        <p:nvSpPr>
          <p:cNvPr id="11" name="Text 9"/>
          <p:cNvSpPr txBox="1"/>
          <p:nvPr/>
        </p:nvSpPr>
        <p:spPr>
          <a:xfrm>
            <a:off x="1005840" y="5989320"/>
            <a:ext cx="365760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Cómo leer esta presentación</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Doce fuentes, y cada una llama PYME a una cosa distinta. Por eso cada lámina lo dice</a:t>
            </a:r>
            <a:endParaRPr lang="en-US" sz="1050" dirty="0"/>
          </a:p>
        </p:txBody>
      </p:sp>
      <p:sp>
        <p:nvSpPr>
          <p:cNvPr id="6" name="Shape 4"/>
          <p:cNvSpPr/>
          <p:nvPr/>
        </p:nvSpPr>
        <p:spPr>
          <a:xfrm>
            <a:off x="621792" y="1645920"/>
            <a:ext cx="5669280" cy="1225296"/>
          </a:xfrm>
          <a:prstGeom prst="roundRect">
            <a:avLst>
              <a:gd name="adj" fmla="val 3731"/>
            </a:avLst>
          </a:prstGeom>
          <a:solidFill>
            <a:srgbClr val="F2F4F6"/>
          </a:solidFill>
          <a:ln w="12700">
            <a:solidFill>
              <a:srgbClr val="F2F4F6"/>
            </a:solidFill>
            <a:prstDash val="solid"/>
          </a:ln>
        </p:spPr>
      </p:sp>
      <p:sp>
        <p:nvSpPr>
          <p:cNvPr id="7" name="Text 5"/>
          <p:cNvSpPr txBox="1"/>
          <p:nvPr/>
        </p:nvSpPr>
        <p:spPr>
          <a:xfrm>
            <a:off x="822960" y="1773936"/>
            <a:ext cx="52669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1  Una fuente, una sección</a:t>
            </a:r>
            <a:endParaRPr lang="en-US" sz="1150" dirty="0"/>
          </a:p>
        </p:txBody>
      </p:sp>
      <p:sp>
        <p:nvSpPr>
          <p:cNvPr id="8" name="Text 6"/>
          <p:cNvSpPr txBox="1"/>
          <p:nvPr/>
        </p:nvSpPr>
        <p:spPr>
          <a:xfrm>
            <a:off x="822960" y="2084832"/>
            <a:ext cx="5266944" cy="676656"/>
          </a:xfrm>
          <a:prstGeom prst="rect">
            <a:avLst/>
          </a:prstGeom>
          <a:noFill/>
          <a:ln/>
        </p:spPr>
        <p:txBody>
          <a:bodyPr wrap="square" lIns="0" tIns="0" rIns="0" bIns="0" rtlCol="0" anchor="t"/>
          <a:lstStyle/>
          <a:p>
            <a:pPr indent="0" marL="0">
              <a:buNone/>
            </a:pPr>
            <a:r>
              <a:rPr lang="en-US" sz="1000" dirty="0">
                <a:solidFill>
                  <a:srgbClr val="2B2B2B"/>
                </a:solidFill>
                <a:latin typeface="Verdana" pitchFamily="34" charset="0"/>
                <a:ea typeface="Verdana" pitchFamily="34" charset="-122"/>
                <a:cs typeface="Verdana" pitchFamily="34" charset="-120"/>
              </a:rPr>
              <a:t>Cada sección abre con una ficha: qué es la fuente, qué datos hemos obtenido de ella y por qué aplica a PYME, o hasta dónde.</a:t>
            </a:r>
            <a:endParaRPr lang="en-US" sz="1000" dirty="0"/>
          </a:p>
        </p:txBody>
      </p:sp>
      <p:sp>
        <p:nvSpPr>
          <p:cNvPr id="9" name="Shape 7"/>
          <p:cNvSpPr/>
          <p:nvPr/>
        </p:nvSpPr>
        <p:spPr>
          <a:xfrm>
            <a:off x="621792" y="3035808"/>
            <a:ext cx="5669280" cy="1225296"/>
          </a:xfrm>
          <a:prstGeom prst="roundRect">
            <a:avLst>
              <a:gd name="adj" fmla="val 3731"/>
            </a:avLst>
          </a:prstGeom>
          <a:solidFill>
            <a:srgbClr val="F2F4F6"/>
          </a:solidFill>
          <a:ln w="12700">
            <a:solidFill>
              <a:srgbClr val="F2F4F6"/>
            </a:solidFill>
            <a:prstDash val="solid"/>
          </a:ln>
        </p:spPr>
      </p:sp>
      <p:sp>
        <p:nvSpPr>
          <p:cNvPr id="10" name="Text 8"/>
          <p:cNvSpPr txBox="1"/>
          <p:nvPr/>
        </p:nvSpPr>
        <p:spPr>
          <a:xfrm>
            <a:off x="822960" y="3163824"/>
            <a:ext cx="52669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2  La etiqueta de arriba a la derecha</a:t>
            </a:r>
            <a:endParaRPr lang="en-US" sz="1150" dirty="0"/>
          </a:p>
        </p:txBody>
      </p:sp>
      <p:sp>
        <p:nvSpPr>
          <p:cNvPr id="11" name="Text 9"/>
          <p:cNvSpPr txBox="1"/>
          <p:nvPr/>
        </p:nvSpPr>
        <p:spPr>
          <a:xfrm>
            <a:off x="822960" y="3474720"/>
            <a:ext cx="5266944" cy="676656"/>
          </a:xfrm>
          <a:prstGeom prst="rect">
            <a:avLst/>
          </a:prstGeom>
          <a:noFill/>
          <a:ln/>
        </p:spPr>
        <p:txBody>
          <a:bodyPr wrap="square" lIns="0" tIns="0" rIns="0" bIns="0" rtlCol="0" anchor="t"/>
          <a:lstStyle/>
          <a:p>
            <a:pPr indent="0" marL="0">
              <a:buNone/>
            </a:pPr>
            <a:r>
              <a:rPr lang="en-US" sz="1000" dirty="0">
                <a:solidFill>
                  <a:srgbClr val="2B2B2B"/>
                </a:solidFill>
                <a:latin typeface="Verdana" pitchFamily="34" charset="0"/>
                <a:ea typeface="Verdana" pitchFamily="34" charset="-122"/>
                <a:cs typeface="Verdana" pitchFamily="34" charset="-120"/>
              </a:rPr>
              <a:t>Cada lámina de datos lleva la definición de PYME de su fuente. El color dice si coincide con la estándar de la UE, con uno solo de sus criterios o con ninguno.</a:t>
            </a:r>
            <a:endParaRPr lang="en-US" sz="1000" dirty="0"/>
          </a:p>
        </p:txBody>
      </p:sp>
      <p:sp>
        <p:nvSpPr>
          <p:cNvPr id="12" name="Shape 10"/>
          <p:cNvSpPr/>
          <p:nvPr/>
        </p:nvSpPr>
        <p:spPr>
          <a:xfrm>
            <a:off x="621792" y="4425696"/>
            <a:ext cx="5669280" cy="1225296"/>
          </a:xfrm>
          <a:prstGeom prst="roundRect">
            <a:avLst>
              <a:gd name="adj" fmla="val 3731"/>
            </a:avLst>
          </a:prstGeom>
          <a:solidFill>
            <a:srgbClr val="F2F4F6"/>
          </a:solidFill>
          <a:ln w="12700">
            <a:solidFill>
              <a:srgbClr val="F2F4F6"/>
            </a:solidFill>
            <a:prstDash val="solid"/>
          </a:ln>
        </p:spPr>
      </p:sp>
      <p:sp>
        <p:nvSpPr>
          <p:cNvPr id="13" name="Text 11"/>
          <p:cNvSpPr txBox="1"/>
          <p:nvPr/>
        </p:nvSpPr>
        <p:spPr>
          <a:xfrm>
            <a:off x="822960" y="4553712"/>
            <a:ext cx="52669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3  Solo datos observados</a:t>
            </a:r>
            <a:endParaRPr lang="en-US" sz="1150" dirty="0"/>
          </a:p>
        </p:txBody>
      </p:sp>
      <p:sp>
        <p:nvSpPr>
          <p:cNvPr id="14" name="Text 12"/>
          <p:cNvSpPr txBox="1"/>
          <p:nvPr/>
        </p:nvSpPr>
        <p:spPr>
          <a:xfrm>
            <a:off x="822960" y="4864608"/>
            <a:ext cx="5266944" cy="676656"/>
          </a:xfrm>
          <a:prstGeom prst="rect">
            <a:avLst/>
          </a:prstGeom>
          <a:noFill/>
          <a:ln/>
        </p:spPr>
        <p:txBody>
          <a:bodyPr wrap="square" lIns="0" tIns="0" rIns="0" bIns="0" rtlCol="0" anchor="t"/>
          <a:lstStyle/>
          <a:p>
            <a:pPr indent="0" marL="0">
              <a:buNone/>
            </a:pPr>
            <a:r>
              <a:rPr lang="en-US" sz="1000" dirty="0">
                <a:solidFill>
                  <a:srgbClr val="2B2B2B"/>
                </a:solidFill>
                <a:latin typeface="Verdana" pitchFamily="34" charset="0"/>
                <a:ea typeface="Verdana" pitchFamily="34" charset="-122"/>
                <a:cs typeface="Verdana" pitchFamily="34" charset="-120"/>
              </a:rPr>
              <a:t>No hay ROE ni márgenes: exigirían supuestos, como las comisiones fuera de España, que los datos no soportan. Se describe el mercado, no su rentabilidad.</a:t>
            </a:r>
            <a:endParaRPr lang="en-US" sz="1000" dirty="0"/>
          </a:p>
        </p:txBody>
      </p:sp>
      <p:sp>
        <p:nvSpPr>
          <p:cNvPr id="15" name="Text 13"/>
          <p:cNvSpPr txBox="1"/>
          <p:nvPr/>
        </p:nvSpPr>
        <p:spPr>
          <a:xfrm>
            <a:off x="6720840" y="1645920"/>
            <a:ext cx="484632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La definición estándar de la UE</a:t>
            </a:r>
            <a:endParaRPr lang="en-US" sz="1250" dirty="0"/>
          </a:p>
        </p:txBody>
      </p:sp>
      <p:sp>
        <p:nvSpPr>
          <p:cNvPr id="16" name="Text 14"/>
          <p:cNvSpPr txBox="1"/>
          <p:nvPr/>
        </p:nvSpPr>
        <p:spPr>
          <a:xfrm>
            <a:off x="6720840" y="1938528"/>
            <a:ext cx="4846320" cy="384048"/>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Recomendación 2003/361/CE. No es vinculante: solo obliga donde una norma la adopta.</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720840" y="2377440"/>
          <a:ext cx="4846320" cy="914400"/>
        </p:xfrm>
        <a:graphic>
          <a:graphicData uri="http://schemas.openxmlformats.org/drawingml/2006/table">
            <a:tbl>
              <a:tblPr/>
              <a:tblGrid>
                <a:gridCol w="1417320"/>
                <a:gridCol w="1143000"/>
                <a:gridCol w="1143000"/>
                <a:gridCol w="1143000"/>
              </a:tblGrid>
              <a:tr h="274320">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Micro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Pequeña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Mediana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Empleados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&lt; 10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&lt; 50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&lt; 250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Facturación</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2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10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50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o balance</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2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10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 43 M€</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8" name="Text 15"/>
          <p:cNvSpPr txBox="1"/>
          <p:nvPr/>
        </p:nvSpPr>
        <p:spPr>
          <a:xfrm>
            <a:off x="6720840" y="3730752"/>
            <a:ext cx="484632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dice el color de la etiqueta</a:t>
            </a:r>
            <a:endParaRPr lang="en-US" sz="1250" dirty="0"/>
          </a:p>
        </p:txBody>
      </p:sp>
      <p:sp>
        <p:nvSpPr>
          <p:cNvPr id="19" name="Shape 16"/>
          <p:cNvSpPr/>
          <p:nvPr/>
        </p:nvSpPr>
        <p:spPr>
          <a:xfrm>
            <a:off x="6720840" y="4096512"/>
            <a:ext cx="502920" cy="292608"/>
          </a:xfrm>
          <a:prstGeom prst="roundRect">
            <a:avLst>
              <a:gd name="adj" fmla="val 18750"/>
            </a:avLst>
          </a:prstGeom>
          <a:solidFill>
            <a:srgbClr val="C7E3F9"/>
          </a:solidFill>
          <a:ln w="12700">
            <a:solidFill>
              <a:srgbClr val="C7E3F9"/>
            </a:solidFill>
            <a:prstDash val="solid"/>
          </a:ln>
        </p:spPr>
      </p:sp>
      <p:sp>
        <p:nvSpPr>
          <p:cNvPr id="20" name="Text 17"/>
          <p:cNvSpPr txBox="1"/>
          <p:nvPr/>
        </p:nvSpPr>
        <p:spPr>
          <a:xfrm>
            <a:off x="7360920" y="4096512"/>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coincide con la estándar de la UE</a:t>
            </a:r>
            <a:endParaRPr lang="en-US" sz="1000" dirty="0"/>
          </a:p>
        </p:txBody>
      </p:sp>
      <p:sp>
        <p:nvSpPr>
          <p:cNvPr id="21" name="Shape 18"/>
          <p:cNvSpPr/>
          <p:nvPr/>
        </p:nvSpPr>
        <p:spPr>
          <a:xfrm>
            <a:off x="6720840" y="4517136"/>
            <a:ext cx="502920" cy="292608"/>
          </a:xfrm>
          <a:prstGeom prst="roundRect">
            <a:avLst>
              <a:gd name="adj" fmla="val 18750"/>
            </a:avLst>
          </a:prstGeom>
          <a:solidFill>
            <a:srgbClr val="FFD6BA"/>
          </a:solidFill>
          <a:ln w="12700">
            <a:solidFill>
              <a:srgbClr val="FFD6BA"/>
            </a:solidFill>
            <a:prstDash val="solid"/>
          </a:ln>
        </p:spPr>
      </p:sp>
      <p:sp>
        <p:nvSpPr>
          <p:cNvPr id="22" name="Text 19"/>
          <p:cNvSpPr txBox="1"/>
          <p:nvPr/>
        </p:nvSpPr>
        <p:spPr>
          <a:xfrm>
            <a:off x="7360920" y="4517136"/>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usa uno solo de sus criterios</a:t>
            </a:r>
            <a:endParaRPr lang="en-US" sz="1000" dirty="0"/>
          </a:p>
        </p:txBody>
      </p:sp>
      <p:sp>
        <p:nvSpPr>
          <p:cNvPr id="23" name="Shape 20"/>
          <p:cNvSpPr/>
          <p:nvPr/>
        </p:nvSpPr>
        <p:spPr>
          <a:xfrm>
            <a:off x="6720840" y="4937760"/>
            <a:ext cx="502920" cy="292608"/>
          </a:xfrm>
          <a:prstGeom prst="roundRect">
            <a:avLst>
              <a:gd name="adj" fmla="val 18750"/>
            </a:avLst>
          </a:prstGeom>
          <a:solidFill>
            <a:srgbClr val="FFCCE8"/>
          </a:solidFill>
          <a:ln w="12700">
            <a:solidFill>
              <a:srgbClr val="FFCCE8"/>
            </a:solidFill>
            <a:prstDash val="solid"/>
          </a:ln>
        </p:spPr>
      </p:sp>
      <p:sp>
        <p:nvSpPr>
          <p:cNvPr id="24" name="Text 21"/>
          <p:cNvSpPr txBox="1"/>
          <p:nvPr/>
        </p:nvSpPr>
        <p:spPr>
          <a:xfrm>
            <a:off x="7360920" y="4937760"/>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usa otra definición, o mide el préstamo</a:t>
            </a:r>
            <a:endParaRPr lang="en-US" sz="1000" dirty="0"/>
          </a:p>
        </p:txBody>
      </p:sp>
      <p:sp>
        <p:nvSpPr>
          <p:cNvPr id="25" name="Shape 22"/>
          <p:cNvSpPr/>
          <p:nvPr/>
        </p:nvSpPr>
        <p:spPr>
          <a:xfrm>
            <a:off x="6720840" y="5358384"/>
            <a:ext cx="502920" cy="292608"/>
          </a:xfrm>
          <a:prstGeom prst="roundRect">
            <a:avLst>
              <a:gd name="adj" fmla="val 18750"/>
            </a:avLst>
          </a:prstGeom>
          <a:solidFill>
            <a:srgbClr val="E5E5E5"/>
          </a:solidFill>
          <a:ln w="12700">
            <a:solidFill>
              <a:srgbClr val="E5E5E5"/>
            </a:solidFill>
            <a:prstDash val="solid"/>
          </a:ln>
        </p:spPr>
      </p:sp>
      <p:sp>
        <p:nvSpPr>
          <p:cNvPr id="26" name="Text 23"/>
          <p:cNvSpPr txBox="1"/>
          <p:nvPr/>
        </p:nvSpPr>
        <p:spPr>
          <a:xfrm>
            <a:off x="7360920" y="5358384"/>
            <a:ext cx="4114800" cy="292608"/>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no distingue tamaño</a:t>
            </a:r>
            <a:endParaRPr lang="en-US" sz="1000" dirty="0"/>
          </a:p>
        </p:txBody>
      </p:sp>
      <p:sp>
        <p:nvSpPr>
          <p:cNvPr id="27" name="Text 2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Umbrales: Comisión Europea, DG GROW, «SME definition». Definición de cada fuente leída en su normativa o metodología: notas.md del repositorio, apartados 2.77 a 2.81.</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doce fuentes, y qué llama PYME cada una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Orden de la presentación · Solo dos usan la definición estándar completa</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457200"/>
                <a:gridCol w="3063240"/>
                <a:gridCol w="4160520"/>
                <a:gridCol w="3264408"/>
              </a:tblGrid>
              <a:tr h="324612">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Fuente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Qué hemos obtenido</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Qué llama PYME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BCE · MIR y BSI</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Precio del crédito y coste de los depósitos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PROXY · importe del préstamo, no la empresa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BCE · SAFE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Rechazo, resultado de la solicitud, brecha de financiación</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menos de 250 empleados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3</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EBA · Risk Dashboard</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Mora por segmento, incluida la PYME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Recomendación 2003/361/CE completa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4</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EBA · COREP, parámetros IRB</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Probabilidad de impago y severidad de la PYME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definición interna de cada banco</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5</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EBA · Transparency Exercise</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Densidad de RWA de la PYME; cartera de 5 bancos españoles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estándar por facturación, IRB interna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6</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OCDE · Scoreboard</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Spread PYME frente a gran empresa, 2011–2022</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definición nacional de cada país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Banco de España · Boletín</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Precio con y sin comisiones por tramo; autónomos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PROXY · importe del préstamo, no la empresa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8</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Banco de España · Central de Balances</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Rentabilidad y coste de la deuda por tamaño de empresa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Recomendación 2003/361/CE completa</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9</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CESGAR</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Demanda, destino y obstáculos de la financiación</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PYME · &lt;250 empleados, con autónomos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EUF, AEF y Assifact</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Volumen de factoring y confirming</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SIN SEGMENTO · todas las empresas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11</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Banco Mundial · Doing Business</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Información crediticia y recuperación en concurso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CONTEXTO · marco del país, no de la PYME</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24612">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12</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Informes de resultados de bancos</a:t>
                      </a:r>
                      <a:endParaRPr lang="en-US" sz="9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Cuentas de los segmentos de empresas</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PROXY · segmento de gestión del banco</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Estándar completa: mora de PYME (FINREP) y Central de Balances. Un solo criterio: SAFE y CESGAR (empleados), capital por método estándar (facturación). El resto usa otra definición, mide el préstamo o no distingue tamaño.</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MIR y BSI</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Central Europeo · estadísticas de tipos de interés y de balance de los bancos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importe del préstamo, no la empresa</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mide el tamaño de la empresa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El MIR recoge cada mes el tipo de las operaciones nuevas de los bancos de la zona euro, por producto, plazo y tramo de importe. El BSI da los saldos de préstamos y depósitos por sector.</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de los préstamos a empresas en tres tramos de importe, de enero de 2022 a julio de 2026</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Prima PYME: lo que paga de más el préstamo pequeño frente al grande</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del circulante: descubiertos y líneas de crédito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Coste de los depósitos de empresa, de hogares y del sistema, ponderado con los saldos del BSI</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mide la empresa, mide el PRÉSTAMO. El tramo de hasta 1 M€ es el corte que se usa como aproximación a la PYME, pero entra la gran empresa que pide poco y queda fuera la mediana que pide mucho. Excluye al autónomo, que es un hogar. El circulante y los depósitos no tienen tramo: son de todas las empresas.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mensual · operaciones nuevas, sin comisiones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préstamo pequeño es el más caro en seis de los siete países</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Tipo de los préstamos nuevos a empresas por tramo de importe · Media de 2026 ponderada por volumen · Sin comisiones</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1874520"/>
          </a:xfrm>
          <a:prstGeom prst="roundRect">
            <a:avLst>
              <a:gd name="adj" fmla="val 2439"/>
            </a:avLst>
          </a:prstGeom>
          <a:solidFill>
            <a:srgbClr val="FFF4C2"/>
          </a:solidFill>
          <a:ln w="12700">
            <a:solidFill>
              <a:srgbClr val="FFF4C2"/>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es la excepción</a:t>
            </a:r>
            <a:endParaRPr lang="en-US" sz="1150" dirty="0"/>
          </a:p>
        </p:txBody>
      </p:sp>
      <p:sp>
        <p:nvSpPr>
          <p:cNvPr id="11" name="Text 8"/>
          <p:cNvSpPr txBox="1"/>
          <p:nvPr/>
        </p:nvSpPr>
        <p:spPr>
          <a:xfrm>
            <a:off x="8476488" y="1993392"/>
            <a:ext cx="2889504" cy="13258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Su préstamo de hasta 0,25 M€ cuesta 3,42 % y el de más de 1 M€, 3,46 %: el pequeño sale más barato que el grande.</a:t>
            </a:r>
            <a:endParaRPr lang="en-US" sz="950" dirty="0"/>
          </a:p>
        </p:txBody>
      </p:sp>
      <p:sp>
        <p:nvSpPr>
          <p:cNvPr id="12" name="Text 9"/>
          <p:cNvSpPr txBox="1"/>
          <p:nvPr/>
        </p:nvSpPr>
        <p:spPr>
          <a:xfrm>
            <a:off x="8275320" y="3611880"/>
            <a:ext cx="3291840" cy="36576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Peso del préstamo de hasta 1 M€ en la nueva producción</a:t>
            </a:r>
            <a:endParaRPr lang="en-US" sz="1050" dirty="0"/>
          </a:p>
        </p:txBody>
      </p:sp>
      <p:graphicFrame>
        <p:nvGraphicFramePr>
          <p:cNvPr id="13" name="Chart 1" descr=""/>
          <p:cNvGraphicFramePr/>
          <p:nvPr/>
        </p:nvGraphicFramePr>
        <p:xfrm>
          <a:off x="8183880" y="3931920"/>
          <a:ext cx="3429000" cy="187452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préstamos a sociedades no financieras distintos de descubiertos y tarjetas, operaciones nuevas, fijación inicial total, enero–julio de 2026. Los tres tramos no se solapan. El tramo mide el importe del préstamo, no el tamaño de la empresa.</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prima del préstamo pequeño ha desaparecido en España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Prima PYME: tipo del préstamo de hasta 0,25 M€ menos el de más de 1 M€, en puntos · Media anual ponderada por volumen · 2026 = enero a julio</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graphicFrame>
        <p:nvGraphicFramePr>
          <p:cNvPr id="8" name="Chart 0" descr=""/>
          <p:cNvGraphicFramePr/>
          <p:nvPr/>
        </p:nvGraphicFramePr>
        <p:xfrm>
          <a:off x="621792" y="1554480"/>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605272"/>
            <a:ext cx="201168" cy="109728"/>
          </a:xfrm>
          <a:prstGeom prst="rect">
            <a:avLst/>
          </a:prstGeom>
          <a:solidFill>
            <a:srgbClr val="F56600"/>
          </a:solidFill>
          <a:ln w="12700">
            <a:solidFill>
              <a:srgbClr val="F56600"/>
            </a:solidFill>
            <a:prstDash val="solid"/>
          </a:ln>
        </p:spPr>
      </p:sp>
      <p:sp>
        <p:nvSpPr>
          <p:cNvPr id="10" name="Text 7"/>
          <p:cNvSpPr txBox="1"/>
          <p:nvPr/>
        </p:nvSpPr>
        <p:spPr>
          <a:xfrm>
            <a:off x="969264" y="5550408"/>
            <a:ext cx="8229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a:t>
            </a:r>
            <a:endParaRPr lang="en-US" sz="850" dirty="0"/>
          </a:p>
        </p:txBody>
      </p:sp>
      <p:sp>
        <p:nvSpPr>
          <p:cNvPr id="11" name="Shape 8"/>
          <p:cNvSpPr/>
          <p:nvPr/>
        </p:nvSpPr>
        <p:spPr>
          <a:xfrm>
            <a:off x="1975104" y="5605272"/>
            <a:ext cx="201168" cy="109728"/>
          </a:xfrm>
          <a:prstGeom prst="rect">
            <a:avLst/>
          </a:prstGeom>
          <a:solidFill>
            <a:srgbClr val="B9B9B9"/>
          </a:solidFill>
          <a:ln w="12700">
            <a:solidFill>
              <a:srgbClr val="B9B9B9"/>
            </a:solidFill>
            <a:prstDash val="solid"/>
          </a:ln>
        </p:spPr>
      </p:sp>
      <p:sp>
        <p:nvSpPr>
          <p:cNvPr id="12" name="Text 9"/>
          <p:cNvSpPr txBox="1"/>
          <p:nvPr/>
        </p:nvSpPr>
        <p:spPr>
          <a:xfrm>
            <a:off x="2231136" y="5550408"/>
            <a:ext cx="137160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resto de países</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75320" y="1554480"/>
          <a:ext cx="3291840" cy="914400"/>
        </p:xfrm>
        <a:graphic>
          <a:graphicData uri="http://schemas.openxmlformats.org/drawingml/2006/table">
            <a:tbl>
              <a:tblPr/>
              <a:tblGrid>
                <a:gridCol w="1280160"/>
                <a:gridCol w="1005840"/>
                <a:gridCol w="1005840"/>
              </a:tblGrid>
              <a:tr h="27432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Últimos 12 meses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≤0,25 M€</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vs &gt;1 M€</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≤1 M€</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vs &gt;1 M€</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4" name="Shape 10"/>
          <p:cNvSpPr/>
          <p:nvPr/>
        </p:nvSpPr>
        <p:spPr>
          <a:xfrm>
            <a:off x="8275320" y="4023360"/>
            <a:ext cx="3291840" cy="1783080"/>
          </a:xfrm>
          <a:prstGeom prst="roundRect">
            <a:avLst>
              <a:gd name="adj" fmla="val 2564"/>
            </a:avLst>
          </a:prstGeom>
          <a:solidFill>
            <a:srgbClr val="FFF4C2"/>
          </a:solidFill>
          <a:ln w="12700">
            <a:solidFill>
              <a:srgbClr val="FFF4C2"/>
            </a:solidFill>
            <a:prstDash val="solid"/>
          </a:ln>
        </p:spPr>
      </p:sp>
      <p:sp>
        <p:nvSpPr>
          <p:cNvPr id="15" name="Text 11"/>
          <p:cNvSpPr txBox="1"/>
          <p:nvPr/>
        </p:nvSpPr>
        <p:spPr>
          <a:xfrm>
            <a:off x="8476488" y="415137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Con las dos definiciones</a:t>
            </a:r>
            <a:endParaRPr lang="en-US" sz="1150" dirty="0"/>
          </a:p>
        </p:txBody>
      </p:sp>
      <p:sp>
        <p:nvSpPr>
          <p:cNvPr id="16" name="Text 12"/>
          <p:cNvSpPr txBox="1"/>
          <p:nvPr/>
        </p:nvSpPr>
        <p:spPr>
          <a:xfrm>
            <a:off x="8476488" y="446227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De +0,59 pp en 2022 a −0,03 pp. En 8 de los 55 meses el préstamo pequeño fue más barato que el grande.</a:t>
            </a:r>
            <a:endParaRPr lang="en-US" sz="95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Definición estrecha: tramos extremos, la habitual en los informes del sector. Amplia: corte de 1 M€. La conclusión no cambia con ninguna de las dos. Serie mensual completa en prestamos_personales/prima_pyme.csv.</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circulante no es sistemáticamente más caro que el préstamo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Tipo del circulante (descubiertos y líneas de crédito) frente al préstamo a empresas, todas las cuantías · Media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103120"/>
          </a:xfrm>
          <a:prstGeom prst="roundRect">
            <a:avLst>
              <a:gd name="adj" fmla="val 2174"/>
            </a:avLst>
          </a:prstGeom>
          <a:solidFill>
            <a:srgbClr val="F2F4F6"/>
          </a:solidFill>
          <a:ln w="12700">
            <a:solidFill>
              <a:srgbClr val="F2F4F6"/>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Más caro en 4 de siete</a:t>
            </a:r>
            <a:endParaRPr lang="en-US" sz="1150" dirty="0"/>
          </a:p>
        </p:txBody>
      </p:sp>
      <p:sp>
        <p:nvSpPr>
          <p:cNvPr id="11" name="Text 8"/>
          <p:cNvSpPr txBox="1"/>
          <p:nvPr/>
        </p:nvSpPr>
        <p:spPr>
          <a:xfrm>
            <a:off x="8476488" y="1993392"/>
            <a:ext cx="2889504" cy="15544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Más caro en Alemania (+1,38 pp), Portugal, Italia y España; más barato en Países Bajos (−1,01 pp), Francia e Irlanda.</a:t>
            </a:r>
            <a:endParaRPr lang="en-US" sz="950" dirty="0"/>
          </a:p>
        </p:txBody>
      </p:sp>
      <p:sp>
        <p:nvSpPr>
          <p:cNvPr id="12" name="Shape 9"/>
          <p:cNvSpPr/>
          <p:nvPr/>
        </p:nvSpPr>
        <p:spPr>
          <a:xfrm>
            <a:off x="8275320" y="3794760"/>
            <a:ext cx="3291840" cy="1920240"/>
          </a:xfrm>
          <a:prstGeom prst="roundRect">
            <a:avLst>
              <a:gd name="adj" fmla="val 2381"/>
            </a:avLst>
          </a:prstGeom>
          <a:solidFill>
            <a:srgbClr val="F2F4F6"/>
          </a:solidFill>
          <a:ln w="12700">
            <a:solidFill>
              <a:srgbClr val="F2F4F6"/>
            </a:solidFill>
            <a:prstDash val="solid"/>
          </a:ln>
        </p:spPr>
      </p:sp>
      <p:sp>
        <p:nvSpPr>
          <p:cNvPr id="13" name="Text 10"/>
          <p:cNvSpPr txBox="1"/>
          <p:nvPr/>
        </p:nvSpPr>
        <p:spPr>
          <a:xfrm>
            <a:off x="8476488" y="392277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no es un dato de PYME</a:t>
            </a:r>
            <a:endParaRPr lang="en-US" sz="1150" dirty="0"/>
          </a:p>
        </p:txBody>
      </p:sp>
      <p:sp>
        <p:nvSpPr>
          <p:cNvPr id="14" name="Text 11"/>
          <p:cNvSpPr txBox="1"/>
          <p:nvPr/>
        </p:nvSpPr>
        <p:spPr>
          <a:xfrm>
            <a:off x="8476488" y="4233672"/>
            <a:ext cx="2889504" cy="137160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El MIR no desglosa el circulante por tramo de importe. Es el precio de todas las empresas, y por eso se compara con el préstamo de todas las cuantías, no con el tramo PYME.</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descubiertos y crédito renovable (serie sin tarjetas) y préstamos a sociedades no financieras de todas las cuantías, operaciones nuevas, 2026. Sin comisiones: la de disponibilidad del circulante no la publica ninguna estadística.</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España es donde más se paga el depósito de empresa frente al del sistema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Coste medio de los depósitos a la vista y a plazo, ponderado por saldos ·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057400"/>
          </a:xfrm>
          <a:prstGeom prst="roundRect">
            <a:avLst>
              <a:gd name="adj" fmla="val 2222"/>
            </a:avLst>
          </a:prstGeom>
          <a:solidFill>
            <a:srgbClr val="FFF4C2"/>
          </a:solidFill>
          <a:ln w="12700">
            <a:solidFill>
              <a:srgbClr val="FFF4C2"/>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la mayor distancia</a:t>
            </a:r>
            <a:endParaRPr lang="en-US" sz="1150" dirty="0"/>
          </a:p>
        </p:txBody>
      </p:sp>
      <p:sp>
        <p:nvSpPr>
          <p:cNvPr id="11" name="Text 8"/>
          <p:cNvSpPr txBox="1"/>
          <p:nvPr/>
        </p:nvSpPr>
        <p:spPr>
          <a:xfrm>
            <a:off x="8476488" y="1993392"/>
            <a:ext cx="2889504" cy="15087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empresa española cobra 0,76 % por sus depósitos y el hogar 0,40 %. Es la diferencia más grande de los siete: 27 pb sobre el sistema.</a:t>
            </a:r>
            <a:endParaRPr lang="en-US" sz="950" dirty="0"/>
          </a:p>
        </p:txBody>
      </p:sp>
      <p:sp>
        <p:nvSpPr>
          <p:cNvPr id="12" name="Shape 9"/>
          <p:cNvSpPr/>
          <p:nvPr/>
        </p:nvSpPr>
        <p:spPr>
          <a:xfrm>
            <a:off x="8275320" y="3749040"/>
            <a:ext cx="3291840" cy="1965960"/>
          </a:xfrm>
          <a:prstGeom prst="roundRect">
            <a:avLst>
              <a:gd name="adj" fmla="val 2326"/>
            </a:avLst>
          </a:prstGeom>
          <a:solidFill>
            <a:srgbClr val="F2F4F6"/>
          </a:solidFill>
          <a:ln w="12700">
            <a:solidFill>
              <a:srgbClr val="F2F4F6"/>
            </a:solidFill>
            <a:prstDash val="solid"/>
          </a:ln>
        </p:spPr>
      </p:sp>
      <p:sp>
        <p:nvSpPr>
          <p:cNvPr id="13" name="Text 10"/>
          <p:cNvSpPr txBox="1"/>
          <p:nvPr/>
        </p:nvSpPr>
        <p:spPr>
          <a:xfrm>
            <a:off x="8476488" y="387705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no es un dato de PYME</a:t>
            </a:r>
            <a:endParaRPr lang="en-US" sz="1150" dirty="0"/>
          </a:p>
        </p:txBody>
      </p:sp>
      <p:sp>
        <p:nvSpPr>
          <p:cNvPr id="14" name="Text 11"/>
          <p:cNvSpPr txBox="1"/>
          <p:nvPr/>
        </p:nvSpPr>
        <p:spPr>
          <a:xfrm>
            <a:off x="8476488" y="4187952"/>
            <a:ext cx="288950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Es el depósito de todas las sociedades no financieras, incluida la tesorería de la gran empresa. El BCE no lo desglosa por tamaño.</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(tipos de depósito de nueva producción, sector 2240 empresas y 2250 hogares) ponderados por los saldos a la vista y a plazo del BSI. El BSI es la estadística de balance de los bancos de la zona euro.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2</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SAFE</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Central Europeo · Survey on the Access to Finance of Enterprises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menos de 250 empleados</a:t>
            </a:r>
            <a:endParaRPr lang="en-US" sz="1200" dirty="0"/>
          </a:p>
        </p:txBody>
      </p:sp>
      <p:sp>
        <p:nvSpPr>
          <p:cNvPr id="9" name="Shape 7"/>
          <p:cNvSpPr/>
          <p:nvPr/>
        </p:nvSpPr>
        <p:spPr>
          <a:xfrm>
            <a:off x="804672" y="5074920"/>
            <a:ext cx="2788920" cy="274320"/>
          </a:xfrm>
          <a:prstGeom prst="roundRect">
            <a:avLst>
              <a:gd name="adj" fmla="val 26667"/>
            </a:avLst>
          </a:prstGeom>
          <a:solidFill>
            <a:srgbClr val="FFD6BA"/>
          </a:solidFill>
          <a:ln w="12700">
            <a:solidFill>
              <a:srgbClr val="FFD6BA"/>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Un solo criterio de la estándar</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Encuesta semestral del BCE a empresas de la zona euro sobre su acceso a la financiación: si piden crédito, qué obtienen y cómo cambia su necesidad y su disponibilidad.</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Resultado de la solicitud de préstamo bancario: todo, una parte, rechazo por precio o rechazo del banco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Tasa de rechazo, desde 2009</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Brecha de financiación: indicador de cambio que cruza necesidad y disponibilidad</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la fuente más directamente de PYME: pregunta a la empresa y la clasifica por su número de empleados, menos de 250. No usa facturación ni balance, así que es uno de los dos criterios de la definición estándar. Es una encuesta: da porcentajes de empresas, no importes.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más la zona euro · semestral · 2009-S1 a 2025-S2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crédito se concede; lo que cambia es cómo se raciona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Resultado de la solicitud de préstamo bancario de las PYME, en % de las que lo pidieron · Segundo semestre de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FFD6BA"/>
          </a:solidFill>
          <a:ln w="12700">
            <a:solidFill>
              <a:srgbClr val="FFD6BA"/>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menos de 250 empleados</a:t>
            </a:r>
            <a:endParaRPr lang="en-US" sz="750" dirty="0"/>
          </a:p>
        </p:txBody>
      </p:sp>
      <p:graphicFrame>
        <p:nvGraphicFramePr>
          <p:cNvPr id="8" name="Chart 0" descr=""/>
          <p:cNvGraphicFramePr/>
          <p:nvPr/>
        </p:nvGraphicFramePr>
        <p:xfrm>
          <a:off x="621792" y="1554480"/>
          <a:ext cx="585216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4023360"/>
          <a:ext cx="5852160" cy="914400"/>
        </p:xfrm>
        <a:graphic>
          <a:graphicData uri="http://schemas.openxmlformats.org/drawingml/2006/table">
            <a:tbl>
              <a:tblPr/>
              <a:tblGrid>
                <a:gridCol w="1280160"/>
                <a:gridCol w="1143000"/>
                <a:gridCol w="1143000"/>
                <a:gridCol w="1143000"/>
                <a:gridCol w="1143000"/>
              </a:tblGrid>
              <a:tr h="214884">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Obtuvo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todo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Solo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una parte</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Renunció</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por precio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Fue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rechazada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14884">
                <a:tc>
                  <a:txBody>
                    <a:bodyP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72,5 %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8,3 %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850" b="1" dirty="0">
                          <a:solidFill>
                            <a:srgbClr val="F56600"/>
                          </a:solidFill>
                          <a:latin typeface="Verdana" pitchFamily="34" charset="0"/>
                          <a:ea typeface="Verdana" pitchFamily="34" charset="-122"/>
                          <a:cs typeface="Verdana" pitchFamily="34" charset="-120"/>
                        </a:rPr>
                        <a:t>9,7 %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47,1 %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20,4 %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5,5 %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71,3 %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3,0 %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8,2 %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80,2 %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65,9 %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9,8 %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2,3 %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4,1 %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62,3 %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9,5 %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13,6 %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56,2 %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7,9 %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9,2 %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4884">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Zona euro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67,7 %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11,1 %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0,0 %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B2B2B"/>
                          </a:solidFill>
                          <a:latin typeface="Verdana" pitchFamily="34" charset="0"/>
                          <a:ea typeface="Verdana" pitchFamily="34" charset="-122"/>
                          <a:cs typeface="Verdana" pitchFamily="34" charset="-120"/>
                        </a:rPr>
                        <a:t>9,6 %</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6720840" y="1554480"/>
            <a:ext cx="4846320" cy="1417320"/>
          </a:xfrm>
          <a:prstGeom prst="roundRect">
            <a:avLst>
              <a:gd name="adj" fmla="val 3226"/>
            </a:avLst>
          </a:prstGeom>
          <a:solidFill>
            <a:srgbClr val="F2F4F6"/>
          </a:solidFill>
          <a:ln w="12700">
            <a:solidFill>
              <a:srgbClr val="F2F4F6"/>
            </a:solidFill>
            <a:prstDash val="solid"/>
          </a:ln>
        </p:spPr>
      </p:sp>
      <p:sp>
        <p:nvSpPr>
          <p:cNvPr id="11" name="Text 7"/>
          <p:cNvSpPr txBox="1"/>
          <p:nvPr/>
        </p:nvSpPr>
        <p:spPr>
          <a:xfrm>
            <a:off x="6922008" y="1682496"/>
            <a:ext cx="44439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Alemania rechaza poco y raciona mucho</a:t>
            </a:r>
            <a:endParaRPr lang="en-US" sz="1150" dirty="0"/>
          </a:p>
        </p:txBody>
      </p:sp>
      <p:sp>
        <p:nvSpPr>
          <p:cNvPr id="12" name="Text 8"/>
          <p:cNvSpPr txBox="1"/>
          <p:nvPr/>
        </p:nvSpPr>
        <p:spPr>
          <a:xfrm>
            <a:off x="6922008" y="1993392"/>
            <a:ext cx="4443984" cy="8686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Solo rechaza al 5,5 %, pero el 20,4 % recibe una parte y el 7,7 % renuncia por el precio. Italia casi no rechaza: 0,7 %.</a:t>
            </a:r>
            <a:endParaRPr lang="en-US" sz="950" dirty="0"/>
          </a:p>
        </p:txBody>
      </p:sp>
      <p:sp>
        <p:nvSpPr>
          <p:cNvPr id="13" name="Shape 9"/>
          <p:cNvSpPr/>
          <p:nvPr/>
        </p:nvSpPr>
        <p:spPr>
          <a:xfrm>
            <a:off x="6720840" y="3108960"/>
            <a:ext cx="4846320" cy="1280160"/>
          </a:xfrm>
          <a:prstGeom prst="roundRect">
            <a:avLst>
              <a:gd name="adj" fmla="val 3571"/>
            </a:avLst>
          </a:prstGeom>
          <a:solidFill>
            <a:srgbClr val="FFF4C2"/>
          </a:solidFill>
          <a:ln w="12700">
            <a:solidFill>
              <a:srgbClr val="FFF4C2"/>
            </a:solidFill>
            <a:prstDash val="solid"/>
          </a:ln>
        </p:spPr>
      </p:sp>
      <p:sp>
        <p:nvSpPr>
          <p:cNvPr id="14" name="Text 10"/>
          <p:cNvSpPr txBox="1"/>
          <p:nvPr/>
        </p:nvSpPr>
        <p:spPr>
          <a:xfrm>
            <a:off x="6922008" y="3236976"/>
            <a:ext cx="44439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en la media</a:t>
            </a:r>
            <a:endParaRPr lang="en-US" sz="1150" dirty="0"/>
          </a:p>
        </p:txBody>
      </p:sp>
      <p:sp>
        <p:nvSpPr>
          <p:cNvPr id="15" name="Text 11"/>
          <p:cNvSpPr txBox="1"/>
          <p:nvPr/>
        </p:nvSpPr>
        <p:spPr>
          <a:xfrm>
            <a:off x="6922008" y="3547872"/>
            <a:ext cx="4443984" cy="7315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9,7 % de rechazo en el semestre y 8,5 % de media en tres años, frente al 6,8 % de la zona euro.</a:t>
            </a:r>
            <a:endParaRPr lang="en-US" sz="950" dirty="0"/>
          </a:p>
        </p:txBody>
      </p:sp>
      <p:sp>
        <p:nvSpPr>
          <p:cNvPr id="16" name="Shape 12"/>
          <p:cNvSpPr/>
          <p:nvPr/>
        </p:nvSpPr>
        <p:spPr>
          <a:xfrm>
            <a:off x="6720840" y="4526280"/>
            <a:ext cx="4846320" cy="1234440"/>
          </a:xfrm>
          <a:prstGeom prst="roundRect">
            <a:avLst>
              <a:gd name="adj" fmla="val 3704"/>
            </a:avLst>
          </a:prstGeom>
          <a:solidFill>
            <a:srgbClr val="F2F4F6"/>
          </a:solidFill>
          <a:ln w="12700">
            <a:solidFill>
              <a:srgbClr val="F2F4F6"/>
            </a:solidFill>
            <a:prstDash val="solid"/>
          </a:ln>
        </p:spPr>
      </p:sp>
      <p:sp>
        <p:nvSpPr>
          <p:cNvPr id="17" name="Text 13"/>
          <p:cNvSpPr txBox="1"/>
          <p:nvPr/>
        </p:nvSpPr>
        <p:spPr>
          <a:xfrm>
            <a:off x="6922008" y="4654296"/>
            <a:ext cx="444398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Un semestre no es una tendencia</a:t>
            </a:r>
            <a:endParaRPr lang="en-US" sz="1150" dirty="0"/>
          </a:p>
        </p:txBody>
      </p:sp>
      <p:sp>
        <p:nvSpPr>
          <p:cNvPr id="18" name="Text 14"/>
          <p:cNvSpPr txBox="1"/>
          <p:nvPr/>
        </p:nvSpPr>
        <p:spPr>
          <a:xfrm>
            <a:off x="6922008" y="4965192"/>
            <a:ext cx="4443984" cy="68580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serie es muy volátil: Irlanda ha ido de 2,1 % a 20,1 % desde 2022. Hay que leerla en medias.</a:t>
            </a:r>
            <a:endParaRPr lang="en-US" sz="95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SAFE, pregunta Q7B, préstamo bancario, media ponderada. Base: empresas que SOLICITARON. Las filas no suman 100: faltan «pendiente» y «no sabe». Es un porcentaje de empresas, no de importes.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En España la brecha de financiación se cierra desde 2023 S2</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Brecha de financiación de las PYME, España frente a la zona euro · Semestral</a:t>
            </a:r>
            <a:endParaRPr lang="en-US" sz="1000" dirty="0"/>
          </a:p>
        </p:txBody>
      </p:sp>
      <p:sp>
        <p:nvSpPr>
          <p:cNvPr id="6" name="Shape 4"/>
          <p:cNvSpPr/>
          <p:nvPr/>
        </p:nvSpPr>
        <p:spPr>
          <a:xfrm>
            <a:off x="9235440" y="640080"/>
            <a:ext cx="2331720" cy="365760"/>
          </a:xfrm>
          <a:prstGeom prst="roundRect">
            <a:avLst>
              <a:gd name="adj" fmla="val 15000"/>
            </a:avLst>
          </a:prstGeom>
          <a:solidFill>
            <a:srgbClr val="FFD6BA"/>
          </a:solidFill>
          <a:ln w="12700">
            <a:solidFill>
              <a:srgbClr val="FFD6BA"/>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menos de 250 empleados</a:t>
            </a:r>
            <a:endParaRPr lang="en-US" sz="750" dirty="0"/>
          </a:p>
        </p:txBody>
      </p:sp>
      <p:graphicFrame>
        <p:nvGraphicFramePr>
          <p:cNvPr id="8" name="Chart 0" descr=""/>
          <p:cNvGraphicFramePr/>
          <p:nvPr/>
        </p:nvGraphicFramePr>
        <p:xfrm>
          <a:off x="621792" y="1554480"/>
          <a:ext cx="7360920" cy="4069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148840"/>
          </a:xfrm>
          <a:prstGeom prst="roundRect">
            <a:avLst>
              <a:gd name="adj" fmla="val 2128"/>
            </a:avLst>
          </a:prstGeom>
          <a:solidFill>
            <a:srgbClr val="F2F4F6"/>
          </a:solidFill>
          <a:ln w="12700">
            <a:solidFill>
              <a:srgbClr val="F2F4F6"/>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Qué mide, y qué no</a:t>
            </a:r>
            <a:endParaRPr lang="en-US" sz="1150" dirty="0"/>
          </a:p>
        </p:txBody>
      </p:sp>
      <p:sp>
        <p:nvSpPr>
          <p:cNvPr id="11" name="Text 8"/>
          <p:cNvSpPr txBox="1"/>
          <p:nvPr/>
        </p:nvSpPr>
        <p:spPr>
          <a:xfrm>
            <a:off x="8476488" y="1993392"/>
            <a:ext cx="2889504" cy="160020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Es un indicador de CAMBIO: positivo, la brecha se abre; negativo, se cierra. No mide cuánta necesidad queda sin cubrir, y cruza cinco instrumentos, no solo el préstamo bancario.</a:t>
            </a:r>
            <a:endParaRPr lang="en-US" sz="950" dirty="0"/>
          </a:p>
        </p:txBody>
      </p:sp>
      <p:sp>
        <p:nvSpPr>
          <p:cNvPr id="12" name="Shape 9"/>
          <p:cNvSpPr/>
          <p:nvPr/>
        </p:nvSpPr>
        <p:spPr>
          <a:xfrm>
            <a:off x="8275320" y="3840480"/>
            <a:ext cx="3291840" cy="1783080"/>
          </a:xfrm>
          <a:prstGeom prst="roundRect">
            <a:avLst>
              <a:gd name="adj" fmla="val 2564"/>
            </a:avLst>
          </a:prstGeom>
          <a:solidFill>
            <a:srgbClr val="FFF4C2"/>
          </a:solidFill>
          <a:ln w="12700">
            <a:solidFill>
              <a:srgbClr val="FFF4C2"/>
            </a:solidFill>
            <a:prstDash val="solid"/>
          </a:ln>
        </p:spPr>
      </p:sp>
      <p:sp>
        <p:nvSpPr>
          <p:cNvPr id="13" name="Text 10"/>
          <p:cNvSpPr txBox="1"/>
          <p:nvPr/>
        </p:nvSpPr>
        <p:spPr>
          <a:xfrm>
            <a:off x="8476488" y="3968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frente a la zona euro</a:t>
            </a:r>
            <a:endParaRPr lang="en-US" sz="1150" dirty="0"/>
          </a:p>
        </p:txBody>
      </p:sp>
      <p:sp>
        <p:nvSpPr>
          <p:cNvPr id="14" name="Text 11"/>
          <p:cNvSpPr txBox="1"/>
          <p:nvPr/>
        </p:nvSpPr>
        <p:spPr>
          <a:xfrm>
            <a:off x="8476488" y="427939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Último dato: −1,3 en España y +2,3 en la zona euro. España lleva 4 semestres seguidos en negativo; la zona euro, ninguno en ese tiempo.</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SAFE, indicador compuesto de brecha de financiación: por empresa e instrumento vale ±1 o ±0,5 según se muevan la necesidad y la disponibilidad; media ponderada de cinco instrumentos, por 100. PYME: menos de 250 empleados.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3</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Risk Dashboard</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Autoridad Bancaria Europea (EBA) · indicadores de riesgo trimestrales, con datos contables FINREP</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Recomendación 2003/361/CE completa</a:t>
            </a:r>
            <a:endParaRPr lang="en-US" sz="1200" dirty="0"/>
          </a:p>
        </p:txBody>
      </p:sp>
      <p:sp>
        <p:nvSpPr>
          <p:cNvPr id="9" name="Shape 7"/>
          <p:cNvSpPr/>
          <p:nvPr/>
        </p:nvSpPr>
        <p:spPr>
          <a:xfrm>
            <a:off x="804672" y="5074920"/>
            <a:ext cx="2788920" cy="274320"/>
          </a:xfrm>
          <a:prstGeom prst="roundRect">
            <a:avLst>
              <a:gd name="adj" fmla="val 26667"/>
            </a:avLst>
          </a:prstGeom>
          <a:solidFill>
            <a:srgbClr val="C7E3F9"/>
          </a:solidFill>
          <a:ln w="12700">
            <a:solidFill>
              <a:srgbClr val="C7E3F9"/>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Definición estándar de la UE</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Publicación trimestral de la EBA con los indicadores de riesgo de la banca europea, agregados por país a partir del reporting contable (FINREP) de los bancos de su muestra.</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Tasa de mora (NPL) por segmento: hogares, empresas, PYME e inmueble comercial</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Evolución de la mora de la PYME, del primer trimestre de 2024 al primero de 2026</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Peso de la PYME dentro del crédito a empresas</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una de las dos fuentes que usan la definición estándar COMPLETA: el anexo V del reglamento de reporting remite a la Recomendación 2003/361/CE, con empleados y facturación o balance. Es, por tanto, el dato de PYME más limpio que tenemos. Límite: cubre la muestra de bancos de la EBA, no el sistema entero.</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trimestral · 2024-Q1 a 2026-Q1 · muestra de bancos supervisados por la EBA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PYME es el segmento con más mora en los siete países</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Tasa de mora (NPL) por segmento, primer trimestre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1783080"/>
          </a:xfrm>
          <a:prstGeom prst="roundRect">
            <a:avLst>
              <a:gd name="adj" fmla="val 2564"/>
            </a:avLst>
          </a:prstGeom>
          <a:solidFill>
            <a:srgbClr val="FFF4C2"/>
          </a:solidFill>
          <a:ln w="12700">
            <a:solidFill>
              <a:srgbClr val="FFF4C2"/>
            </a:solidFill>
            <a:prstDash val="solid"/>
          </a:ln>
        </p:spPr>
      </p:sp>
      <p:sp>
        <p:nvSpPr>
          <p:cNvPr id="10" name="Text 7"/>
          <p:cNvSpPr txBox="1"/>
          <p:nvPr/>
        </p:nvSpPr>
        <p:spPr>
          <a:xfrm>
            <a:off x="8476488" y="168249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 la mora PYME más alta</a:t>
            </a:r>
            <a:endParaRPr lang="en-US" sz="1150" dirty="0"/>
          </a:p>
        </p:txBody>
      </p:sp>
      <p:sp>
        <p:nvSpPr>
          <p:cNvPr id="11" name="Text 8"/>
          <p:cNvSpPr txBox="1"/>
          <p:nvPr/>
        </p:nvSpPr>
        <p:spPr>
          <a:xfrm>
            <a:off x="8476488" y="199339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5,38 %, frente a 3,13 % en Países Bajos. Y es el único país donde la mora de los hogares (3,77 %) supera la de las empresas.</a:t>
            </a:r>
            <a:endParaRPr lang="en-US" sz="950" dirty="0"/>
          </a:p>
        </p:txBody>
      </p:sp>
      <p:sp>
        <p:nvSpPr>
          <p:cNvPr id="12" name="Shape 9"/>
          <p:cNvSpPr/>
          <p:nvPr/>
        </p:nvSpPr>
        <p:spPr>
          <a:xfrm>
            <a:off x="8275320" y="3474720"/>
            <a:ext cx="3291840" cy="2240280"/>
          </a:xfrm>
          <a:prstGeom prst="roundRect">
            <a:avLst>
              <a:gd name="adj" fmla="val 2041"/>
            </a:avLst>
          </a:prstGeom>
          <a:solidFill>
            <a:srgbClr val="F2F4F6"/>
          </a:solidFill>
          <a:ln w="12700">
            <a:solidFill>
              <a:srgbClr val="F2F4F6"/>
            </a:solidFill>
            <a:prstDash val="solid"/>
          </a:ln>
        </p:spPr>
      </p:sp>
      <p:sp>
        <p:nvSpPr>
          <p:cNvPr id="13" name="Text 10"/>
          <p:cNvSpPr txBox="1"/>
          <p:nvPr/>
        </p:nvSpPr>
        <p:spPr>
          <a:xfrm>
            <a:off x="8476488" y="3602736"/>
            <a:ext cx="2889504" cy="475488"/>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no se usa el «total cartera»</a:t>
            </a:r>
            <a:endParaRPr lang="en-US" sz="1150" dirty="0"/>
          </a:p>
        </p:txBody>
      </p:sp>
      <p:sp>
        <p:nvSpPr>
          <p:cNvPr id="14" name="Text 11"/>
          <p:cNvSpPr txBox="1"/>
          <p:nvPr/>
        </p:nvSpPr>
        <p:spPr>
          <a:xfrm>
            <a:off x="8476488" y="4114800"/>
            <a:ext cx="2889504" cy="1490472"/>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El total de préstamos y anticipos del EBA incluye saldos en bancos centrales, administraciones y otros bancos, casi sin mora, y diluye distinto cada país: en Alemania más de la mitad del total no es crédito a clientes. Por eso se comparan segmentos.</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Risk Dashboard, anexo de datos del primer trimestre de 2026, desgloses «of which SMEs» (FINREP, Recomendación 2003/361/CE). Las barras son segmentos anidados: la PYME está dentro de las empresas.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mora PYME española baja; la alemana y la francesa suben</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Tasa de mora (NPL) de la PYME, trimestral</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605272"/>
            <a:ext cx="201168" cy="109728"/>
          </a:xfrm>
          <a:prstGeom prst="rect">
            <a:avLst/>
          </a:prstGeom>
          <a:solidFill>
            <a:srgbClr val="F56600"/>
          </a:solidFill>
          <a:ln w="12700">
            <a:solidFill>
              <a:srgbClr val="F56600"/>
            </a:solidFill>
            <a:prstDash val="solid"/>
          </a:ln>
        </p:spPr>
      </p:sp>
      <p:sp>
        <p:nvSpPr>
          <p:cNvPr id="10" name="Text 7"/>
          <p:cNvSpPr txBox="1"/>
          <p:nvPr/>
        </p:nvSpPr>
        <p:spPr>
          <a:xfrm>
            <a:off x="969264" y="5550408"/>
            <a:ext cx="8229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a:t>
            </a:r>
            <a:endParaRPr lang="en-US" sz="850" dirty="0"/>
          </a:p>
        </p:txBody>
      </p:sp>
      <p:sp>
        <p:nvSpPr>
          <p:cNvPr id="11" name="Shape 8"/>
          <p:cNvSpPr/>
          <p:nvPr/>
        </p:nvSpPr>
        <p:spPr>
          <a:xfrm>
            <a:off x="1975104" y="5605272"/>
            <a:ext cx="201168" cy="109728"/>
          </a:xfrm>
          <a:prstGeom prst="rect">
            <a:avLst/>
          </a:prstGeom>
          <a:solidFill>
            <a:srgbClr val="B9B9B9"/>
          </a:solidFill>
          <a:ln w="12700">
            <a:solidFill>
              <a:srgbClr val="B9B9B9"/>
            </a:solidFill>
            <a:prstDash val="solid"/>
          </a:ln>
        </p:spPr>
      </p:sp>
      <p:sp>
        <p:nvSpPr>
          <p:cNvPr id="12" name="Text 9"/>
          <p:cNvSpPr txBox="1"/>
          <p:nvPr/>
        </p:nvSpPr>
        <p:spPr>
          <a:xfrm>
            <a:off x="2231136" y="5550408"/>
            <a:ext cx="137160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resto de países</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75320" y="1554480"/>
          <a:ext cx="3291840" cy="914400"/>
        </p:xfrm>
        <a:graphic>
          <a:graphicData uri="http://schemas.openxmlformats.org/drawingml/2006/table">
            <a:tbl>
              <a:tblPr/>
              <a:tblGrid>
                <a:gridCol w="1005840"/>
                <a:gridCol w="777240"/>
                <a:gridCol w="777240"/>
                <a:gridCol w="731520"/>
              </a:tblGrid>
              <a:tr h="274320">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2024 T1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2026 T1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Cambio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6,49 %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5,38 %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−1,11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5,73 %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4,22 %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−1,95</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3,90 %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−0,77</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−2,73</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4" name="Shape 10"/>
          <p:cNvSpPr/>
          <p:nvPr/>
        </p:nvSpPr>
        <p:spPr>
          <a:xfrm>
            <a:off x="8275320" y="3931920"/>
            <a:ext cx="3291840" cy="1783080"/>
          </a:xfrm>
          <a:prstGeom prst="roundRect">
            <a:avLst>
              <a:gd name="adj" fmla="val 2564"/>
            </a:avLst>
          </a:prstGeom>
          <a:solidFill>
            <a:srgbClr val="F2F4F6"/>
          </a:solidFill>
          <a:ln w="12700">
            <a:solidFill>
              <a:srgbClr val="F2F4F6"/>
            </a:solidFill>
            <a:prstDash val="solid"/>
          </a:ln>
        </p:spPr>
      </p:sp>
      <p:sp>
        <p:nvSpPr>
          <p:cNvPr id="15" name="Text 11"/>
          <p:cNvSpPr txBox="1"/>
          <p:nvPr/>
        </p:nvSpPr>
        <p:spPr>
          <a:xfrm>
            <a:off x="8476488" y="405993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Convergencia</a:t>
            </a:r>
            <a:endParaRPr lang="en-US" sz="1150" dirty="0"/>
          </a:p>
        </p:txBody>
      </p:sp>
      <p:sp>
        <p:nvSpPr>
          <p:cNvPr id="16" name="Text 12"/>
          <p:cNvSpPr txBox="1"/>
          <p:nvPr/>
        </p:nvSpPr>
        <p:spPr>
          <a:xfrm>
            <a:off x="8476488" y="4370832"/>
            <a:ext cx="2889504" cy="123444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Los países que partían con más mora (España, Irlanda, Portugal) son los que más la reducen. Alemania y Francia van en sentido contrario.</a:t>
            </a:r>
            <a:endParaRPr lang="en-US" sz="95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Risk Dashboard, anexos de datos trimestrales, «Non-financial corporations — of which SMEs», ratio de NPL. Muestra de bancos de la EBA en cada país.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4</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Parámetros IRB</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Autoridad Bancaria Europea (EBA) · anexo de parámetros de riesgo, a partir del reporting de solvencia COREP C 9.02</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definición interna de cada banco</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armonizada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Los bancos que usan modelos internos (IRB) declaran al supervisor la probabilidad de impago (PD) y la severidad de la pérdida (LGD) de cada cartera. La EBA publica la mediana por país.</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Probabilidad de impago a un año de la PYME (PD)</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Severidad de la pérdida si impaga (LGD)</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Pérdida esperada: PD por LGD</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un dato del segmento, pero NO armonizado: las instrucciones de COREP dicen que, en IRB, cada banco clasifica como PYME según su definición interna. Solo cubre la cartera que va por modelos internos, y es la mediana de los bancos, no una media ponderada.</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primer trimestre de 2026 · clase «Corporates – of which SME» · solo cartera IRB</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Italia y Francia, la PD más alta; Portugal, la LGD más alta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Parámetros de riesgo de la cartera IRB de PYME · Mediana de entidades declarantes · Primer trimestre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definición interna de cada banco</a:t>
            </a:r>
            <a:endParaRPr lang="en-US" sz="750" dirty="0"/>
          </a:p>
        </p:txBody>
      </p:sp>
      <p:graphicFrame>
        <p:nvGraphicFramePr>
          <p:cNvPr id="8" name="Chart 0" descr=""/>
          <p:cNvGraphicFramePr/>
          <p:nvPr/>
        </p:nvGraphicFramePr>
        <p:xfrm>
          <a:off x="621792" y="1554480"/>
          <a:ext cx="539496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172200" y="155448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5285232"/>
            <a:ext cx="5394960" cy="658368"/>
          </a:xfrm>
          <a:prstGeom prst="roundRect">
            <a:avLst>
              <a:gd name="adj" fmla="val 6944"/>
            </a:avLst>
          </a:prstGeom>
          <a:solidFill>
            <a:srgbClr val="FFF4C2"/>
          </a:solidFill>
          <a:ln w="12700">
            <a:solidFill>
              <a:srgbClr val="FFF4C2"/>
            </a:solidFill>
            <a:prstDash val="solid"/>
          </a:ln>
        </p:spPr>
      </p:sp>
      <p:sp>
        <p:nvSpPr>
          <p:cNvPr id="11" name="Text 7"/>
          <p:cNvSpPr txBox="1"/>
          <p:nvPr/>
        </p:nvSpPr>
        <p:spPr>
          <a:xfrm>
            <a:off x="822960" y="5340096"/>
            <a:ext cx="4992624" cy="548640"/>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España  </a:t>
            </a:r>
            <a:pPr indent="0" marL="0">
              <a:buNone/>
            </a:pPr>
            <a:r>
              <a:rPr lang="en-US" sz="900" dirty="0">
                <a:solidFill>
                  <a:srgbClr val="2B2B2B"/>
                </a:solidFill>
                <a:latin typeface="Verdana" pitchFamily="34" charset="0"/>
                <a:ea typeface="Verdana" pitchFamily="34" charset="-122"/>
                <a:cs typeface="Verdana" pitchFamily="34" charset="-120"/>
              </a:rPr>
              <a:t>PD de 1,73 % y LGD de 34,4 %: la tercera PD más alta y una severidad en la media.</a:t>
            </a:r>
            <a:endParaRPr lang="en-US" sz="900" dirty="0"/>
          </a:p>
        </p:txBody>
      </p:sp>
      <p:sp>
        <p:nvSpPr>
          <p:cNvPr id="12" name="Shape 8"/>
          <p:cNvSpPr/>
          <p:nvPr/>
        </p:nvSpPr>
        <p:spPr>
          <a:xfrm>
            <a:off x="6172200" y="5285232"/>
            <a:ext cx="5394960" cy="658368"/>
          </a:xfrm>
          <a:prstGeom prst="roundRect">
            <a:avLst>
              <a:gd name="adj" fmla="val 6944"/>
            </a:avLst>
          </a:prstGeom>
          <a:solidFill>
            <a:srgbClr val="F2F4F6"/>
          </a:solidFill>
          <a:ln w="12700">
            <a:solidFill>
              <a:srgbClr val="F2F4F6"/>
            </a:solidFill>
            <a:prstDash val="solid"/>
          </a:ln>
        </p:spPr>
      </p:sp>
      <p:sp>
        <p:nvSpPr>
          <p:cNvPr id="13" name="Text 9"/>
          <p:cNvSpPr txBox="1"/>
          <p:nvPr/>
        </p:nvSpPr>
        <p:spPr>
          <a:xfrm>
            <a:off x="6373368" y="5340096"/>
            <a:ext cx="4992624" cy="548640"/>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Portugal: exactamente 40,0 %  </a:t>
            </a:r>
            <a:pPr indent="0" marL="0">
              <a:buNone/>
            </a:pPr>
            <a:r>
              <a:rPr lang="en-US" sz="900" dirty="0">
                <a:solidFill>
                  <a:srgbClr val="2B2B2B"/>
                </a:solidFill>
                <a:latin typeface="Verdana" pitchFamily="34" charset="0"/>
                <a:ea typeface="Verdana" pitchFamily="34" charset="-122"/>
                <a:cs typeface="Verdana" pitchFamily="34" charset="-120"/>
              </a:rPr>
              <a:t>Es el valor que fija el supervisor en el IRB básico: el banco no estima su propia severidad.</a:t>
            </a:r>
            <a:endParaRPr lang="en-US" sz="900" dirty="0"/>
          </a:p>
        </p:txBody>
      </p:sp>
      <p:sp>
        <p:nvSpPr>
          <p:cNvPr id="14"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anexo de parámetros de riesgo (COREP C 9.02), clase IRB «Corporates – of which SME», mediana de entidades, 2026-Q1. PYME según la definición interna de cada banco.</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5</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Transparency Exercise</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Autoridad Bancaria Europea (EBA) · datos de solvencia banco a banco</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estándar por facturación, IRB interna</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Dos definiciones mezcladas</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Publicación anual de la EBA con los datos de solvencia y cartera de cada banco supervisado, con desglose por país de la contraparte y por método de cálculo del capital.</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Densidad de RWA de la PYME: capital regulatorio por euro prestado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Separada por método estándar y por modelos internos (IRB)</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Cartera PYME en España de los cinco grandes bancos españoles: exposición, densidad, mora y cobertura</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Mezcla dos definiciones en una sola cifra: la parte estándar define PYME por facturación hasta 50 M€ (art. 501 del CRR); la parte IRB, con la definición interna de cada banco. Además incluye la PYME minorista y la hipotecaria, y se agrega por supervisor, así que entra la PYME extranjera de los bancos del país.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junio de 2025 · cinco bancos españoles con contraparte en España</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El método pesa más que el país: el IRB español apenas ahorra capital</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Densidad de RWA de la cartera PYME (RWA sobre valor de exposición) por método · Junio de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estándar por facturación, IRB interna</a:t>
            </a:r>
            <a:endParaRPr lang="en-US" sz="750" dirty="0"/>
          </a:p>
        </p:txBody>
      </p:sp>
      <p:graphicFrame>
        <p:nvGraphicFramePr>
          <p:cNvPr id="8" name="Chart 0" descr=""/>
          <p:cNvGraphicFramePr/>
          <p:nvPr/>
        </p:nvGraphicFramePr>
        <p:xfrm>
          <a:off x="621792" y="1554480"/>
          <a:ext cx="736092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554480"/>
            <a:ext cx="3291840" cy="2057400"/>
          </a:xfrm>
          <a:prstGeom prst="roundRect">
            <a:avLst>
              <a:gd name="adj" fmla="val 2222"/>
            </a:avLst>
          </a:prstGeom>
          <a:solidFill>
            <a:srgbClr val="F2F4F6"/>
          </a:solidFill>
          <a:ln w="12700">
            <a:solidFill>
              <a:srgbClr val="F2F4F6"/>
            </a:solidFill>
            <a:prstDash val="solid"/>
          </a:ln>
        </p:spPr>
      </p:sp>
      <p:sp>
        <p:nvSpPr>
          <p:cNvPr id="10" name="Text 7"/>
          <p:cNvSpPr txBox="1"/>
          <p:nvPr/>
        </p:nvSpPr>
        <p:spPr>
          <a:xfrm>
            <a:off x="8476488" y="1682496"/>
            <a:ext cx="2889504" cy="475488"/>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Estándar parecido, IRB muy distinto</a:t>
            </a:r>
            <a:endParaRPr lang="en-US" sz="1150" dirty="0"/>
          </a:p>
        </p:txBody>
      </p:sp>
      <p:sp>
        <p:nvSpPr>
          <p:cNvPr id="11" name="Text 8"/>
          <p:cNvSpPr txBox="1"/>
          <p:nvPr/>
        </p:nvSpPr>
        <p:spPr>
          <a:xfrm>
            <a:off x="8476488" y="2194560"/>
            <a:ext cx="2889504" cy="1307592"/>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Por método estándar todos pesan entre 63 y 77 %. Por IRB, de 30 % a 65 %.</a:t>
            </a:r>
            <a:endParaRPr lang="en-US" sz="950" dirty="0"/>
          </a:p>
        </p:txBody>
      </p:sp>
      <p:sp>
        <p:nvSpPr>
          <p:cNvPr id="12" name="Shape 9"/>
          <p:cNvSpPr/>
          <p:nvPr/>
        </p:nvSpPr>
        <p:spPr>
          <a:xfrm>
            <a:off x="8275320" y="3749040"/>
            <a:ext cx="3291840" cy="1965960"/>
          </a:xfrm>
          <a:prstGeom prst="roundRect">
            <a:avLst>
              <a:gd name="adj" fmla="val 2326"/>
            </a:avLst>
          </a:prstGeom>
          <a:solidFill>
            <a:srgbClr val="FFF4C2"/>
          </a:solidFill>
          <a:ln w="12700">
            <a:solidFill>
              <a:srgbClr val="FFF4C2"/>
            </a:solidFill>
            <a:prstDash val="solid"/>
          </a:ln>
        </p:spPr>
      </p:sp>
      <p:sp>
        <p:nvSpPr>
          <p:cNvPr id="13" name="Text 10"/>
          <p:cNvSpPr txBox="1"/>
          <p:nvPr/>
        </p:nvSpPr>
        <p:spPr>
          <a:xfrm>
            <a:off x="8476488" y="3877056"/>
            <a:ext cx="2889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España</a:t>
            </a:r>
            <a:endParaRPr lang="en-US" sz="1150" dirty="0"/>
          </a:p>
        </p:txBody>
      </p:sp>
      <p:sp>
        <p:nvSpPr>
          <p:cNvPr id="14" name="Text 11"/>
          <p:cNvSpPr txBox="1"/>
          <p:nvPr/>
        </p:nvSpPr>
        <p:spPr>
          <a:xfrm>
            <a:off x="8476488" y="4187952"/>
            <a:ext cx="288950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El IRB le rebaja la densidad 7,6 puntos; a Alemania, 35,9. Y solo el 46 % de su cartera va por IRB, frente al 86 % alemán.</a:t>
            </a:r>
            <a:endParaRPr lang="en-US" sz="950" dirty="0"/>
          </a:p>
        </p:txBody>
      </p:sp>
      <p:sp>
        <p:nvSpPr>
          <p:cNvPr id="15"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tr_cre.csv, junio 2025, Portfolio 1 = estándar y 2 = IRB, partidas 2520523 y 2520533, agregado por supervisor nacional. Incluye el factor de apoyo a PYME del art. 501 del CRR.</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CaixaBank concentra un tercio de la PYME española de los cinco grandes</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Cartera PYME con contraparte en España de los cinco grandes bancos españoles · Junio de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estándar por facturación, IRB interna</a:t>
            </a:r>
            <a:endParaRPr lang="en-US" sz="750" dirty="0"/>
          </a:p>
        </p:txBody>
      </p:sp>
      <p:graphicFrame>
        <p:nvGraphicFramePr>
          <p:cNvPr id="8" name="Chart 0" descr=""/>
          <p:cNvGraphicFramePr/>
          <p:nvPr/>
        </p:nvGraphicFramePr>
        <p:xfrm>
          <a:off x="621792" y="1554480"/>
          <a:ext cx="566928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4983480" cy="914400"/>
        </p:xfrm>
        <a:graphic>
          <a:graphicData uri="http://schemas.openxmlformats.org/drawingml/2006/table">
            <a:tbl>
              <a:tblPr/>
              <a:tblGrid>
                <a:gridCol w="1325880"/>
                <a:gridCol w="914400"/>
                <a:gridCol w="914400"/>
                <a:gridCol w="914400"/>
                <a:gridCol w="914400"/>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Cuota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Mora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Cobertura</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310896">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Bankinter</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10,2 %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53,3 %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2,34 %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74,1 %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Sabadell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15,7 %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37,3 %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5,91 %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CaixaBank</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34,2 %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49,2 %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53,6 %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BBVA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17,1 %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71,0 %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3,98 %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65,6 %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Santander</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62,7 %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7,80 %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36,5 %</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6583680" y="3611880"/>
            <a:ext cx="4983480" cy="2103120"/>
          </a:xfrm>
          <a:prstGeom prst="roundRect">
            <a:avLst>
              <a:gd name="adj" fmla="val 2174"/>
            </a:avLst>
          </a:prstGeom>
          <a:solidFill>
            <a:srgbClr val="F2F4F6"/>
          </a:solidFill>
          <a:ln w="12700">
            <a:solidFill>
              <a:srgbClr val="F2F4F6"/>
            </a:solidFill>
            <a:prstDash val="solid"/>
          </a:ln>
        </p:spPr>
      </p:sp>
      <p:sp>
        <p:nvSpPr>
          <p:cNvPr id="11" name="Text 7"/>
          <p:cNvSpPr txBox="1"/>
          <p:nvPr/>
        </p:nvSpPr>
        <p:spPr>
          <a:xfrm>
            <a:off x="6784848" y="3739896"/>
            <a:ext cx="45811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Qué se ve</a:t>
            </a:r>
            <a:endParaRPr lang="en-US" sz="1150" dirty="0"/>
          </a:p>
        </p:txBody>
      </p:sp>
      <p:sp>
        <p:nvSpPr>
          <p:cNvPr id="12" name="Text 8"/>
          <p:cNvSpPr txBox="1"/>
          <p:nvPr/>
        </p:nvSpPr>
        <p:spPr>
          <a:xfrm>
            <a:off x="6784848" y="4050792"/>
            <a:ext cx="4581144" cy="155448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Mora de 2,34 % a 7,80 %: Bankinter la más baja y Santander la más alta, con la menor cobertura. La densidad va de 37,3 % (Sabadell) a 71,0 % (BBVA), por el peso de sus modelos IRB.</a:t>
            </a:r>
            <a:endParaRPr lang="en-US" sz="95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contraparte en España (código 28), partidas SME de exposición, RWA, default y provisiones. Cuota sobre la suma de los cinco, no sobre el mercado.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6</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Scoreboard</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OCDE · Financing SMEs and Entrepreneurs, cuadro de indicadores anual</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definición nacional de cada país</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armonizada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Informe anual de la OCDE que recopila, país por país, indicadores de financiación de la PYME a partir de las estadísticas de cada banco central o ministerio.</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Spread entre el tipo del préstamo PYME y el de la gran empresa, 2007–2022</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Mora, rechazo, retrasos de pago y préstamos con aval público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Volumen de factoring</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Cada país reporta con SU definición nacional de PYME: unos por tamaño de empresa, otros por importe del préstamo. La OCDE lo documenta en una ficha metodológica por país. Sirve para ver tendencias dentro de cada país, no para comparar niveles entre países. Alemania no publica el spread.</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Seis países, sin Alemania · anual · último dato 2022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21</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Una fuente distinta confirma lo mismo: el spread PYME español se ha comprimido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Spread entre el tipo del préstamo PYME y el de la gran empresa, en puntos básicos · Definición nacional de cada país</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definición nacional de cada país</a:t>
            </a:r>
            <a:endParaRPr lang="en-US" sz="750" dirty="0"/>
          </a:p>
        </p:txBody>
      </p:sp>
      <p:graphicFrame>
        <p:nvGraphicFramePr>
          <p:cNvPr id="8" name="Chart 0" descr=""/>
          <p:cNvGraphicFramePr/>
          <p:nvPr/>
        </p:nvGraphicFramePr>
        <p:xfrm>
          <a:off x="621792" y="1554480"/>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605272"/>
            <a:ext cx="201168" cy="109728"/>
          </a:xfrm>
          <a:prstGeom prst="rect">
            <a:avLst/>
          </a:prstGeom>
          <a:solidFill>
            <a:srgbClr val="F56600"/>
          </a:solidFill>
          <a:ln w="12700">
            <a:solidFill>
              <a:srgbClr val="F56600"/>
            </a:solidFill>
            <a:prstDash val="solid"/>
          </a:ln>
        </p:spPr>
      </p:sp>
      <p:sp>
        <p:nvSpPr>
          <p:cNvPr id="10" name="Text 7"/>
          <p:cNvSpPr txBox="1"/>
          <p:nvPr/>
        </p:nvSpPr>
        <p:spPr>
          <a:xfrm>
            <a:off x="969264" y="5550408"/>
            <a:ext cx="8229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a:t>
            </a:r>
            <a:endParaRPr lang="en-US" sz="850" dirty="0"/>
          </a:p>
        </p:txBody>
      </p:sp>
      <p:sp>
        <p:nvSpPr>
          <p:cNvPr id="11" name="Shape 8"/>
          <p:cNvSpPr/>
          <p:nvPr/>
        </p:nvSpPr>
        <p:spPr>
          <a:xfrm>
            <a:off x="1975104" y="5605272"/>
            <a:ext cx="201168" cy="109728"/>
          </a:xfrm>
          <a:prstGeom prst="rect">
            <a:avLst/>
          </a:prstGeom>
          <a:solidFill>
            <a:srgbClr val="B9B9B9"/>
          </a:solidFill>
          <a:ln w="12700">
            <a:solidFill>
              <a:srgbClr val="B9B9B9"/>
            </a:solidFill>
            <a:prstDash val="solid"/>
          </a:ln>
        </p:spPr>
      </p:sp>
      <p:sp>
        <p:nvSpPr>
          <p:cNvPr id="12" name="Text 9"/>
          <p:cNvSpPr txBox="1"/>
          <p:nvPr/>
        </p:nvSpPr>
        <p:spPr>
          <a:xfrm>
            <a:off x="2231136" y="5550408"/>
            <a:ext cx="137160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resto de países</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75320" y="1554480"/>
          <a:ext cx="3291840" cy="914400"/>
        </p:xfrm>
        <a:graphic>
          <a:graphicData uri="http://schemas.openxmlformats.org/drawingml/2006/table">
            <a:tbl>
              <a:tblPr/>
              <a:tblGrid>
                <a:gridCol w="1280160"/>
                <a:gridCol w="1005840"/>
                <a:gridCol w="1005840"/>
              </a:tblGrid>
              <a:tr h="274320">
                <a:tc>
                  <a:txBody>
                    <a:bodyPr/>
                    <a:lstStyle/>
                    <a:p>
                      <a:pPr algn="l" indent="0" marL="0">
                        <a:buNone/>
                      </a:pP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2011</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2022</a:t>
                      </a:r>
                      <a:endParaRPr lang="en-US" sz="85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r>
              <a:tr h="27432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159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20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89</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160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52</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290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90</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138</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91</a:t>
                      </a:r>
                      <a:endParaRPr lang="en-US" sz="900" dirty="0">
                        <a:latin typeface="Verdana" charset="0"/>
                        <a:ea typeface="Verdana" charset="0"/>
                        <a:cs typeface="Verdana" charset="0"/>
                      </a:endParaRPr>
                    </a:p>
                  </a:txBody>
                  <a:tcPr marL="50800" marR="508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4" name="Shape 10"/>
          <p:cNvSpPr/>
          <p:nvPr/>
        </p:nvSpPr>
        <p:spPr>
          <a:xfrm>
            <a:off x="8275320" y="3657600"/>
            <a:ext cx="3291840" cy="2057400"/>
          </a:xfrm>
          <a:prstGeom prst="roundRect">
            <a:avLst>
              <a:gd name="adj" fmla="val 2222"/>
            </a:avLst>
          </a:prstGeom>
          <a:solidFill>
            <a:srgbClr val="FFF4C2"/>
          </a:solidFill>
          <a:ln w="12700">
            <a:solidFill>
              <a:srgbClr val="FFF4C2"/>
            </a:solidFill>
            <a:prstDash val="solid"/>
          </a:ln>
        </p:spPr>
      </p:sp>
      <p:sp>
        <p:nvSpPr>
          <p:cNvPr id="15" name="Text 11"/>
          <p:cNvSpPr txBox="1"/>
          <p:nvPr/>
        </p:nvSpPr>
        <p:spPr>
          <a:xfrm>
            <a:off x="8476488" y="3785616"/>
            <a:ext cx="2889504" cy="475488"/>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Dos fuentes, dos definiciones, una señal</a:t>
            </a:r>
            <a:endParaRPr lang="en-US" sz="1150" dirty="0"/>
          </a:p>
        </p:txBody>
      </p:sp>
      <p:sp>
        <p:nvSpPr>
          <p:cNvPr id="16" name="Text 12"/>
          <p:cNvSpPr txBox="1"/>
          <p:nvPr/>
        </p:nvSpPr>
        <p:spPr>
          <a:xfrm>
            <a:off x="8476488" y="4297680"/>
            <a:ext cx="2889504" cy="1307592"/>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En España, de 159 pb en 2011 a 20 pb en 2022, el más bajo de los seis. El MIR, que mide otra cosa, lleva la prima a cero en 2026.</a:t>
            </a:r>
            <a:endParaRPr lang="en-US" sz="95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OCDE, Financing SMEs and Entrepreneurs Scoreboard, medida INTEREST_RATE_SPREAD. Definición nacional de PYME, no armonizada: se leen tendencias, no niveles entre países. Países Bajos desde 2011.</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7</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Boletín Estadístico</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de España · capítulo 19, tipos de interés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importe del préstamo, no la empresa</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mide el tamaño de la empresa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El Banco de España publica los tipos del crédito nuevo con más detalle que el BCE: con y sin comisiones, y separando a las personas físicas que desarrollan actividades productivas.</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con comisiones (TAE) y sin ellas (TEDR) por tramo de importe: la cuña es la comisión</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TAE y volumen del crédito a autónomos</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Tipo y saldo del circulante en España</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Los tramos son de IMPORTE, como en el MIR: el mismo proxy de PYME, con sus mismos límites. Es la única fuente de los siete países que publica la comisión del crédito a empresas. El autónomo aparece aparte, como persona física: está fuera de todas las estadísticas de sociedades.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España · mensual · 2026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comisión se concentra en el préstamo pequeño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Tipo con comisiones (TAE) y sin ellas (TEDR) del crédito nuevo a empresas por tramo de importe · España, media de 2026 ponderada por volumen</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graphicFrame>
        <p:nvGraphicFramePr>
          <p:cNvPr id="8" name="Chart 0" descr=""/>
          <p:cNvGraphicFramePr/>
          <p:nvPr/>
        </p:nvGraphicFramePr>
        <p:xfrm>
          <a:off x="621792" y="1554480"/>
          <a:ext cx="5943600" cy="38404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812280" y="1554480"/>
            <a:ext cx="2194560" cy="256032"/>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Cuña de comisiones, pb</a:t>
            </a:r>
            <a:endParaRPr lang="en-US" sz="1050" dirty="0"/>
          </a:p>
        </p:txBody>
      </p:sp>
      <p:sp>
        <p:nvSpPr>
          <p:cNvPr id="10" name="Text 7"/>
          <p:cNvSpPr txBox="1"/>
          <p:nvPr/>
        </p:nvSpPr>
        <p:spPr>
          <a:xfrm>
            <a:off x="6812280" y="1874520"/>
            <a:ext cx="2194560" cy="566928"/>
          </a:xfrm>
          <a:prstGeom prst="rect">
            <a:avLst/>
          </a:prstGeom>
          <a:noFill/>
          <a:ln/>
        </p:spPr>
        <p:txBody>
          <a:bodyPr wrap="square" lIns="0" tIns="0" rIns="0" bIns="0" rtlCol="0" anchor="ctr"/>
          <a:lstStyle/>
          <a:p>
            <a:pPr indent="0" marL="0">
              <a:buNone/>
            </a:pPr>
            <a:r>
              <a:rPr lang="en-US" sz="3000" b="1" dirty="0">
                <a:solidFill>
                  <a:srgbClr val="F56600"/>
                </a:solidFill>
                <a:latin typeface="Verdana" pitchFamily="34" charset="0"/>
                <a:ea typeface="Verdana" pitchFamily="34" charset="-122"/>
                <a:cs typeface="Verdana" pitchFamily="34" charset="-120"/>
              </a:rPr>
              <a:t>103</a:t>
            </a:r>
            <a:endParaRPr lang="en-US" sz="3000" dirty="0"/>
          </a:p>
        </p:txBody>
      </p:sp>
      <p:sp>
        <p:nvSpPr>
          <p:cNvPr id="11" name="Text 8"/>
          <p:cNvSpPr txBox="1"/>
          <p:nvPr/>
        </p:nvSpPr>
        <p:spPr>
          <a:xfrm>
            <a:off x="6812280" y="2459736"/>
            <a:ext cx="219456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≤0,25 M€</a:t>
            </a:r>
            <a:endParaRPr lang="en-US" sz="900" dirty="0"/>
          </a:p>
        </p:txBody>
      </p:sp>
      <p:sp>
        <p:nvSpPr>
          <p:cNvPr id="12" name="Text 9"/>
          <p:cNvSpPr txBox="1"/>
          <p:nvPr/>
        </p:nvSpPr>
        <p:spPr>
          <a:xfrm>
            <a:off x="6812280" y="3044952"/>
            <a:ext cx="2194560" cy="566928"/>
          </a:xfrm>
          <a:prstGeom prst="rect">
            <a:avLst/>
          </a:prstGeom>
          <a:noFill/>
          <a:ln/>
        </p:spPr>
        <p:txBody>
          <a:bodyPr wrap="square" lIns="0" tIns="0" rIns="0" bIns="0" rtlCol="0" anchor="ctr"/>
          <a:lstStyle/>
          <a:p>
            <a:pPr indent="0" marL="0">
              <a:buNone/>
            </a:pPr>
            <a:r>
              <a:rPr lang="en-US" sz="3000" b="1" dirty="0">
                <a:solidFill>
                  <a:srgbClr val="2B2B2B"/>
                </a:solidFill>
                <a:latin typeface="Verdana" pitchFamily="34" charset="0"/>
                <a:ea typeface="Verdana" pitchFamily="34" charset="-122"/>
                <a:cs typeface="Verdana" pitchFamily="34" charset="-120"/>
              </a:rPr>
              <a:t>35</a:t>
            </a:r>
            <a:endParaRPr lang="en-US" sz="3000" dirty="0"/>
          </a:p>
        </p:txBody>
      </p:sp>
      <p:sp>
        <p:nvSpPr>
          <p:cNvPr id="13" name="Text 10"/>
          <p:cNvSpPr txBox="1"/>
          <p:nvPr/>
        </p:nvSpPr>
        <p:spPr>
          <a:xfrm>
            <a:off x="6812280" y="3630168"/>
            <a:ext cx="219456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0,25–1 M€</a:t>
            </a:r>
            <a:endParaRPr lang="en-US" sz="900" dirty="0"/>
          </a:p>
        </p:txBody>
      </p:sp>
      <p:sp>
        <p:nvSpPr>
          <p:cNvPr id="14" name="Text 11"/>
          <p:cNvSpPr txBox="1"/>
          <p:nvPr/>
        </p:nvSpPr>
        <p:spPr>
          <a:xfrm>
            <a:off x="6812280" y="4215384"/>
            <a:ext cx="2194560" cy="566928"/>
          </a:xfrm>
          <a:prstGeom prst="rect">
            <a:avLst/>
          </a:prstGeom>
          <a:noFill/>
          <a:ln/>
        </p:spPr>
        <p:txBody>
          <a:bodyPr wrap="square" lIns="0" tIns="0" rIns="0" bIns="0" rtlCol="0" anchor="ctr"/>
          <a:lstStyle/>
          <a:p>
            <a:pPr indent="0" marL="0">
              <a:buNone/>
            </a:pPr>
            <a:r>
              <a:rPr lang="en-US" sz="3000" b="1" dirty="0">
                <a:solidFill>
                  <a:srgbClr val="2B2B2B"/>
                </a:solidFill>
                <a:latin typeface="Verdana" pitchFamily="34" charset="0"/>
                <a:ea typeface="Verdana" pitchFamily="34" charset="-122"/>
                <a:cs typeface="Verdana" pitchFamily="34" charset="-120"/>
              </a:rPr>
              <a:t>18</a:t>
            </a:r>
            <a:endParaRPr lang="en-US" sz="3000" dirty="0"/>
          </a:p>
        </p:txBody>
      </p:sp>
      <p:sp>
        <p:nvSpPr>
          <p:cNvPr id="15" name="Text 12"/>
          <p:cNvSpPr txBox="1"/>
          <p:nvPr/>
        </p:nvSpPr>
        <p:spPr>
          <a:xfrm>
            <a:off x="6812280" y="4800600"/>
            <a:ext cx="219456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&gt;1 M€</a:t>
            </a:r>
            <a:endParaRPr lang="en-US" sz="900" dirty="0"/>
          </a:p>
        </p:txBody>
      </p:sp>
      <p:sp>
        <p:nvSpPr>
          <p:cNvPr id="16" name="Shape 13"/>
          <p:cNvSpPr/>
          <p:nvPr/>
        </p:nvSpPr>
        <p:spPr>
          <a:xfrm>
            <a:off x="9189720" y="1554480"/>
            <a:ext cx="2377440" cy="1965960"/>
          </a:xfrm>
          <a:prstGeom prst="roundRect">
            <a:avLst>
              <a:gd name="adj" fmla="val 2326"/>
            </a:avLst>
          </a:prstGeom>
          <a:solidFill>
            <a:srgbClr val="FFF4C2"/>
          </a:solidFill>
          <a:ln w="12700">
            <a:solidFill>
              <a:srgbClr val="FFF4C2"/>
            </a:solidFill>
            <a:prstDash val="solid"/>
          </a:ln>
        </p:spPr>
      </p:sp>
      <p:sp>
        <p:nvSpPr>
          <p:cNvPr id="17" name="Text 14"/>
          <p:cNvSpPr txBox="1"/>
          <p:nvPr/>
        </p:nvSpPr>
        <p:spPr>
          <a:xfrm>
            <a:off x="9390888" y="1682496"/>
            <a:ext cx="1975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autónomo paga más</a:t>
            </a:r>
            <a:endParaRPr lang="en-US" sz="1150" dirty="0"/>
          </a:p>
        </p:txBody>
      </p:sp>
      <p:sp>
        <p:nvSpPr>
          <p:cNvPr id="18" name="Text 15"/>
          <p:cNvSpPr txBox="1"/>
          <p:nvPr/>
        </p:nvSpPr>
        <p:spPr>
          <a:xfrm>
            <a:off x="9390888" y="1993392"/>
            <a:ext cx="197510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4,57 % sin comisiones (TEDR), 115 pb más que la sociedad del tramo pequeño. 840 M€ nuevos al mes.</a:t>
            </a:r>
            <a:endParaRPr lang="en-US" sz="950" dirty="0"/>
          </a:p>
        </p:txBody>
      </p:sp>
      <p:sp>
        <p:nvSpPr>
          <p:cNvPr id="19" name="Shape 16"/>
          <p:cNvSpPr/>
          <p:nvPr/>
        </p:nvSpPr>
        <p:spPr>
          <a:xfrm>
            <a:off x="9189720" y="3657600"/>
            <a:ext cx="2377440" cy="1737360"/>
          </a:xfrm>
          <a:prstGeom prst="roundRect">
            <a:avLst>
              <a:gd name="adj" fmla="val 2632"/>
            </a:avLst>
          </a:prstGeom>
          <a:solidFill>
            <a:srgbClr val="F2F4F6"/>
          </a:solidFill>
          <a:ln w="12700">
            <a:solidFill>
              <a:srgbClr val="F2F4F6"/>
            </a:solidFill>
            <a:prstDash val="solid"/>
          </a:ln>
        </p:spPr>
      </p:sp>
      <p:sp>
        <p:nvSpPr>
          <p:cNvPr id="20" name="Text 17"/>
          <p:cNvSpPr txBox="1"/>
          <p:nvPr/>
        </p:nvSpPr>
        <p:spPr>
          <a:xfrm>
            <a:off x="9390888" y="3785616"/>
            <a:ext cx="1975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Solo en España</a:t>
            </a:r>
            <a:endParaRPr lang="en-US" sz="1150" dirty="0"/>
          </a:p>
        </p:txBody>
      </p:sp>
      <p:sp>
        <p:nvSpPr>
          <p:cNvPr id="21" name="Text 18"/>
          <p:cNvSpPr txBox="1"/>
          <p:nvPr/>
        </p:nvSpPr>
        <p:spPr>
          <a:xfrm>
            <a:off x="9390888" y="4096512"/>
            <a:ext cx="1975104" cy="11887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Ningún otro de los siete publica la comisión del crédito a empresas.</a:t>
            </a:r>
            <a:endParaRPr lang="en-US" sz="950" dirty="0"/>
          </a:p>
        </p:txBody>
      </p:sp>
      <p:sp>
        <p:nvSpPr>
          <p:cNvPr id="22"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de España, Boletín Estadístico, capítulo 19: TAE y TEDR de nuevas operaciones con sociedades no financieras por tramo, y crédito a personas físicas para actividades productivas (autónomos). La cuña TAE − TEDR anualiza la comisión.</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8</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Central de Balances</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de España · Central de Balances Integrada, cuentas de las empresas no financieras</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Recomendación 2003/361/CE completa</a:t>
            </a:r>
            <a:endParaRPr lang="en-US" sz="1200" dirty="0"/>
          </a:p>
        </p:txBody>
      </p:sp>
      <p:sp>
        <p:nvSpPr>
          <p:cNvPr id="9" name="Shape 7"/>
          <p:cNvSpPr/>
          <p:nvPr/>
        </p:nvSpPr>
        <p:spPr>
          <a:xfrm>
            <a:off x="804672" y="5074920"/>
            <a:ext cx="2788920" cy="274320"/>
          </a:xfrm>
          <a:prstGeom prst="roundRect">
            <a:avLst>
              <a:gd name="adj" fmla="val 26667"/>
            </a:avLst>
          </a:prstGeom>
          <a:solidFill>
            <a:srgbClr val="C7E3F9"/>
          </a:solidFill>
          <a:ln w="12700">
            <a:solidFill>
              <a:srgbClr val="C7E3F9"/>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Definición estándar de la UE</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Base de datos del Banco de España con las cuentas anuales de las empresas españolas, a partir del Registro Mercantil. Publica ratios de rentabilidad y endeudamiento por tamaño.</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Rentabilidad del activo (ROA) por tamaño de empresa</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Coste efectivo de la deuda con coste</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Diferencia entre los dos, desde 1997</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Es la otra fuente que usa la definición estándar COMPLETA: clasifica por tamaño según la Recomendación 2003/361/CE. Es además la única que mira a la PYME desde su propio balance, no desde el banco: dice cuánto puede pagar.</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España · anual · 1997–2024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pequeña empresa gana 2,1 puntos más de lo que paga por su deuda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Rentabilidad del activo y coste de la deuda por tamaño de empresa · España, 2024</a:t>
            </a:r>
            <a:endParaRPr lang="en-US" sz="1000" dirty="0"/>
          </a:p>
        </p:txBody>
      </p:sp>
      <p:sp>
        <p:nvSpPr>
          <p:cNvPr id="6" name="Shape 4"/>
          <p:cNvSpPr/>
          <p:nvPr/>
        </p:nvSpPr>
        <p:spPr>
          <a:xfrm>
            <a:off x="9235440" y="640080"/>
            <a:ext cx="2331720" cy="365760"/>
          </a:xfrm>
          <a:prstGeom prst="roundRect">
            <a:avLst>
              <a:gd name="adj" fmla="val 15000"/>
            </a:avLst>
          </a:prstGeom>
          <a:solidFill>
            <a:srgbClr val="C7E3F9"/>
          </a:solidFill>
          <a:ln w="12700">
            <a:solidFill>
              <a:srgbClr val="C7E3F9"/>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graphicFrame>
        <p:nvGraphicFramePr>
          <p:cNvPr id="8" name="Chart 0" descr=""/>
          <p:cNvGraphicFramePr/>
          <p:nvPr/>
        </p:nvGraphicFramePr>
        <p:xfrm>
          <a:off x="621792" y="1554480"/>
          <a:ext cx="512064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5989320" y="1783080"/>
          <a:ext cx="5577840"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989320" y="1554480"/>
            <a:ext cx="5577840" cy="23774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Diferencia de la pequeña empresa, 2015–2024</a:t>
            </a:r>
            <a:endParaRPr lang="en-US" sz="1050" dirty="0"/>
          </a:p>
        </p:txBody>
      </p:sp>
      <p:sp>
        <p:nvSpPr>
          <p:cNvPr id="11" name="Shape 7"/>
          <p:cNvSpPr/>
          <p:nvPr/>
        </p:nvSpPr>
        <p:spPr>
          <a:xfrm>
            <a:off x="5989320" y="4572000"/>
            <a:ext cx="5577840" cy="1143000"/>
          </a:xfrm>
          <a:prstGeom prst="roundRect">
            <a:avLst>
              <a:gd name="adj" fmla="val 4000"/>
            </a:avLst>
          </a:prstGeom>
          <a:solidFill>
            <a:srgbClr val="F2F4F6"/>
          </a:solidFill>
          <a:ln w="12700">
            <a:solidFill>
              <a:srgbClr val="F2F4F6"/>
            </a:solidFill>
            <a:prstDash val="solid"/>
          </a:ln>
        </p:spPr>
      </p:sp>
      <p:sp>
        <p:nvSpPr>
          <p:cNvPr id="12" name="Text 8"/>
          <p:cNvSpPr txBox="1"/>
          <p:nvPr/>
        </p:nvSpPr>
        <p:spPr>
          <a:xfrm>
            <a:off x="6190488" y="4700016"/>
            <a:ext cx="51755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La mediana es otro cliente</a:t>
            </a:r>
            <a:endParaRPr lang="en-US" sz="1150" dirty="0"/>
          </a:p>
        </p:txBody>
      </p:sp>
      <p:sp>
        <p:nvSpPr>
          <p:cNvPr id="13" name="Text 9"/>
          <p:cNvSpPr txBox="1"/>
          <p:nvPr/>
        </p:nvSpPr>
        <p:spPr>
          <a:xfrm>
            <a:off x="6190488" y="5010912"/>
            <a:ext cx="5175504" cy="5943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mediana tiene 6,1 puntos de diferencia, casi el triple que la pequeña (2,1), con un ROA del 10,4 %.</a:t>
            </a:r>
            <a:endParaRPr lang="en-US" sz="950" dirty="0"/>
          </a:p>
        </p:txBody>
      </p:sp>
      <p:sp>
        <p:nvSpPr>
          <p:cNvPr id="14"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de España, Central de Balances Integrada: rentabilidad ordinaria del activo neto y tipo efectivo pagado por la deuda con coste. Tamaño según la Recomendación 2003/361/CE.</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9</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Informe de financiación de la pyme</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CESGAR · Confederación Española de Sociedades de Garantía · XV Informe, 2025</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&lt;250 empleados, con autónomos</a:t>
            </a:r>
            <a:endParaRPr lang="en-US" sz="1200" dirty="0"/>
          </a:p>
        </p:txBody>
      </p:sp>
      <p:sp>
        <p:nvSpPr>
          <p:cNvPr id="9" name="Shape 7"/>
          <p:cNvSpPr/>
          <p:nvPr/>
        </p:nvSpPr>
        <p:spPr>
          <a:xfrm>
            <a:off x="804672" y="5074920"/>
            <a:ext cx="2788920" cy="274320"/>
          </a:xfrm>
          <a:prstGeom prst="roundRect">
            <a:avLst>
              <a:gd name="adj" fmla="val 26667"/>
            </a:avLst>
          </a:prstGeom>
          <a:solidFill>
            <a:srgbClr val="FFD6BA"/>
          </a:solidFill>
          <a:ln w="12700">
            <a:solidFill>
              <a:srgbClr val="FFD6BA"/>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Un solo criterio de la estándar</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Encuesta anual a pymes españolas sobre sus necesidades de financiación, el uso que les dan, los productos que usan y los obstáculos que encuentran.</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Necesidad de financiación y grado de bancarización</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Destino de la financiación y productos usados</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Obstáculos para obtenerla y resultado de las solicitudes</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Define la PYME por empleados, menos de 250, e INCLUYE a las personas físicas: es la única fuente del conjunto que cuenta al autónomo como pyme. Es una encuesta: da porcentajes de empresas, nunca tipos de interés ni importes.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España · anual · universo DIRCE</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pyme pide para circulante, y lo que más señala es el precio</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Encuesta a pymes españolas · Porcentajes de empresas, NO tipos de interés</a:t>
            </a:r>
            <a:endParaRPr lang="en-US" sz="1000" dirty="0"/>
          </a:p>
        </p:txBody>
      </p:sp>
      <p:sp>
        <p:nvSpPr>
          <p:cNvPr id="6" name="Shape 4"/>
          <p:cNvSpPr/>
          <p:nvPr/>
        </p:nvSpPr>
        <p:spPr>
          <a:xfrm>
            <a:off x="9235440" y="640080"/>
            <a:ext cx="2331720" cy="365760"/>
          </a:xfrm>
          <a:prstGeom prst="roundRect">
            <a:avLst>
              <a:gd name="adj" fmla="val 15000"/>
            </a:avLst>
          </a:prstGeom>
          <a:solidFill>
            <a:srgbClr val="FFD6BA"/>
          </a:solidFill>
          <a:ln w="12700">
            <a:solidFill>
              <a:srgbClr val="FFD6BA"/>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&lt;250 empleados, con autónomos</a:t>
            </a:r>
            <a:endParaRPr lang="en-US" sz="750" dirty="0"/>
          </a:p>
        </p:txBody>
      </p:sp>
      <p:graphicFrame>
        <p:nvGraphicFramePr>
          <p:cNvPr id="8" name="Chart 0" descr=""/>
          <p:cNvGraphicFramePr/>
          <p:nvPr/>
        </p:nvGraphicFramePr>
        <p:xfrm>
          <a:off x="621792" y="1554480"/>
          <a:ext cx="534924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1554480"/>
          <a:ext cx="5349240" cy="39776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21792" y="5596128"/>
            <a:ext cx="10945368" cy="36576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El 92,8 % de las que piden financiación la obtienen y aceptan; solo al 3,2 % se le deniega. El destino circulante sube desde el 64,6 % de 2024.</a:t>
            </a:r>
            <a:endParaRPr lang="en-US" sz="950" dirty="0"/>
          </a:p>
        </p:txBody>
      </p:sp>
      <p:sp>
        <p:nvSpPr>
          <p:cNvPr id="11"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CESGAR, XV Informe «La financiación de la pyme en España», resultados 2025. Obstáculos: base, el total de encuestadas; sobre las que señalan alguno, el precio sería el 42,5 %. Destino: respuesta múltiple.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10</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Factoring y confirming</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EUF (federación europea) · AEF (España) · Assifact (Italia)</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todas las empresas</a:t>
            </a:r>
            <a:endParaRPr lang="en-US" sz="1200" dirty="0"/>
          </a:p>
        </p:txBody>
      </p:sp>
      <p:sp>
        <p:nvSpPr>
          <p:cNvPr id="9" name="Shape 7"/>
          <p:cNvSpPr/>
          <p:nvPr/>
        </p:nvSpPr>
        <p:spPr>
          <a:xfrm>
            <a:off x="804672" y="5074920"/>
            <a:ext cx="2788920" cy="274320"/>
          </a:xfrm>
          <a:prstGeom prst="roundRect">
            <a:avLst>
              <a:gd name="adj" fmla="val 26667"/>
            </a:avLst>
          </a:prstGeom>
          <a:solidFill>
            <a:srgbClr val="E5E5E5"/>
          </a:solidFill>
          <a:ln w="12700">
            <a:solidFill>
              <a:srgbClr val="E5E5E5"/>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distingue tamaño</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Las asociaciones del sector publican el volumen de créditos cedidos cada año. La EUF agrega los países europeos; la AEF y Assifact dan más detalle en España e Italia, incluido el confirming.</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Volumen cedido por país y su peso sobre el PIB, 2025</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Serie histórica europea desde 2007</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Peso del confirming sobre el total en España e Italia</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aplica: ninguna de las tres distingue por tamaño de empresa. El factoring es un producto muy de PYME, pero los datos son del mercado entero. Tampoco hay un precio público del factoring ni del confirming en ninguno de los siete países.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anual · 2007–2025 · volumen cedido en el año, no saldo vivo</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Portugal y España, donde el factoring pesa más sobre la economía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Volumen de créditos cedidos en el año, en % del PIB · 2025</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graphicFrame>
        <p:nvGraphicFramePr>
          <p:cNvPr id="8" name="Chart 0" descr=""/>
          <p:cNvGraphicFramePr/>
          <p:nvPr/>
        </p:nvGraphicFramePr>
        <p:xfrm>
          <a:off x="621792" y="155448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955280" y="1600200"/>
            <a:ext cx="1691640" cy="566928"/>
          </a:xfrm>
          <a:prstGeom prst="rect">
            <a:avLst/>
          </a:prstGeom>
          <a:noFill/>
          <a:ln/>
        </p:spPr>
        <p:txBody>
          <a:bodyPr wrap="square" lIns="0" tIns="0" rIns="0" bIns="0" rtlCol="0" anchor="ctr"/>
          <a:lstStyle/>
          <a:p>
            <a:pPr indent="0" marL="0">
              <a:buNone/>
            </a:pPr>
            <a:r>
              <a:rPr lang="en-US" sz="3000" b="1" dirty="0">
                <a:solidFill>
                  <a:srgbClr val="F56600"/>
                </a:solidFill>
                <a:latin typeface="Verdana" pitchFamily="34" charset="0"/>
                <a:ea typeface="Verdana" pitchFamily="34" charset="-122"/>
                <a:cs typeface="Verdana" pitchFamily="34" charset="-120"/>
              </a:rPr>
              <a:t>52,6 %</a:t>
            </a:r>
            <a:endParaRPr lang="en-US" sz="3000" dirty="0"/>
          </a:p>
        </p:txBody>
      </p:sp>
      <p:sp>
        <p:nvSpPr>
          <p:cNvPr id="10" name="Text 7"/>
          <p:cNvSpPr txBox="1"/>
          <p:nvPr/>
        </p:nvSpPr>
        <p:spPr>
          <a:xfrm>
            <a:off x="7955280" y="2185416"/>
            <a:ext cx="169164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de las cesiones en España son confirming</a:t>
            </a:r>
            <a:endParaRPr lang="en-US" sz="900" dirty="0"/>
          </a:p>
        </p:txBody>
      </p:sp>
      <p:sp>
        <p:nvSpPr>
          <p:cNvPr id="11" name="Text 8"/>
          <p:cNvSpPr txBox="1"/>
          <p:nvPr/>
        </p:nvSpPr>
        <p:spPr>
          <a:xfrm>
            <a:off x="9829800" y="1600200"/>
            <a:ext cx="1691640" cy="566928"/>
          </a:xfrm>
          <a:prstGeom prst="rect">
            <a:avLst/>
          </a:prstGeom>
          <a:noFill/>
          <a:ln/>
        </p:spPr>
        <p:txBody>
          <a:bodyPr wrap="square" lIns="0" tIns="0" rIns="0" bIns="0" rtlCol="0" anchor="ctr"/>
          <a:lstStyle/>
          <a:p>
            <a:pPr indent="0" marL="0">
              <a:buNone/>
            </a:pPr>
            <a:r>
              <a:rPr lang="en-US" sz="3000" b="1" dirty="0">
                <a:solidFill>
                  <a:srgbClr val="2B2B2B"/>
                </a:solidFill>
                <a:latin typeface="Verdana" pitchFamily="34" charset="0"/>
                <a:ea typeface="Verdana" pitchFamily="34" charset="-122"/>
                <a:cs typeface="Verdana" pitchFamily="34" charset="-120"/>
              </a:rPr>
              <a:t>1,9 %</a:t>
            </a:r>
            <a:endParaRPr lang="en-US" sz="3000" dirty="0"/>
          </a:p>
        </p:txBody>
      </p:sp>
      <p:sp>
        <p:nvSpPr>
          <p:cNvPr id="12" name="Text 9"/>
          <p:cNvSpPr txBox="1"/>
          <p:nvPr/>
        </p:nvSpPr>
        <p:spPr>
          <a:xfrm>
            <a:off x="9829800" y="2185416"/>
            <a:ext cx="1691640" cy="475488"/>
          </a:xfrm>
          <a:prstGeom prst="rect">
            <a:avLst/>
          </a:prstGeom>
          <a:noFill/>
          <a:ln/>
        </p:spPr>
        <p:txBody>
          <a:bodyPr wrap="square" lIns="0" tIns="0" rIns="0" bIns="0" rtlCol="0" anchor="t"/>
          <a:lstStyle/>
          <a:p>
            <a:pPr indent="0" marL="0">
              <a:buNone/>
            </a:pPr>
            <a:r>
              <a:rPr lang="en-US" sz="900" dirty="0">
                <a:solidFill>
                  <a:srgbClr val="2B2B2B"/>
                </a:solidFill>
                <a:latin typeface="Verdana" pitchFamily="34" charset="0"/>
                <a:ea typeface="Verdana" pitchFamily="34" charset="-122"/>
                <a:cs typeface="Verdana" pitchFamily="34" charset="-120"/>
              </a:rPr>
              <a:t>en Italia</a:t>
            </a:r>
            <a:endParaRPr lang="en-US" sz="900" dirty="0"/>
          </a:p>
        </p:txBody>
      </p:sp>
      <p:sp>
        <p:nvSpPr>
          <p:cNvPr id="13" name="Shape 10"/>
          <p:cNvSpPr/>
          <p:nvPr/>
        </p:nvSpPr>
        <p:spPr>
          <a:xfrm>
            <a:off x="7955280" y="2926080"/>
            <a:ext cx="3611880" cy="1280160"/>
          </a:xfrm>
          <a:prstGeom prst="roundRect">
            <a:avLst>
              <a:gd name="adj" fmla="val 3571"/>
            </a:avLst>
          </a:prstGeom>
          <a:solidFill>
            <a:srgbClr val="FFF4C2"/>
          </a:solidFill>
          <a:ln w="12700">
            <a:solidFill>
              <a:srgbClr val="FFF4C2"/>
            </a:solidFill>
            <a:prstDash val="solid"/>
          </a:ln>
        </p:spPr>
      </p:sp>
      <p:sp>
        <p:nvSpPr>
          <p:cNvPr id="14" name="Text 11"/>
          <p:cNvSpPr txBox="1"/>
          <p:nvPr/>
        </p:nvSpPr>
        <p:spPr>
          <a:xfrm>
            <a:off x="8156448" y="305409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confirming es casi español</a:t>
            </a:r>
            <a:endParaRPr lang="en-US" sz="1150" dirty="0"/>
          </a:p>
        </p:txBody>
      </p:sp>
      <p:sp>
        <p:nvSpPr>
          <p:cNvPr id="15" name="Text 12"/>
          <p:cNvSpPr txBox="1"/>
          <p:nvPr/>
        </p:nvSpPr>
        <p:spPr>
          <a:xfrm>
            <a:off x="8156448" y="3364992"/>
            <a:ext cx="3209544" cy="7315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España lo usa para más de la mitad de sus cesiones; Italia, casi nada. Es el producto que más distingue al mercado español.</a:t>
            </a:r>
            <a:endParaRPr lang="en-US" sz="950" dirty="0"/>
          </a:p>
        </p:txBody>
      </p:sp>
      <p:sp>
        <p:nvSpPr>
          <p:cNvPr id="16" name="Shape 13"/>
          <p:cNvSpPr/>
          <p:nvPr/>
        </p:nvSpPr>
        <p:spPr>
          <a:xfrm>
            <a:off x="7955280" y="4343400"/>
            <a:ext cx="3611880" cy="1371600"/>
          </a:xfrm>
          <a:prstGeom prst="roundRect">
            <a:avLst>
              <a:gd name="adj" fmla="val 3333"/>
            </a:avLst>
          </a:prstGeom>
          <a:solidFill>
            <a:srgbClr val="F2F4F6"/>
          </a:solidFill>
          <a:ln w="12700">
            <a:solidFill>
              <a:srgbClr val="F2F4F6"/>
            </a:solidFill>
            <a:prstDash val="solid"/>
          </a:ln>
        </p:spPr>
      </p:sp>
      <p:sp>
        <p:nvSpPr>
          <p:cNvPr id="17" name="Text 14"/>
          <p:cNvSpPr txBox="1"/>
          <p:nvPr/>
        </p:nvSpPr>
        <p:spPr>
          <a:xfrm>
            <a:off x="8156448" y="447141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Irlanda: el dato está congelado</a:t>
            </a:r>
            <a:endParaRPr lang="en-US" sz="1150" dirty="0"/>
          </a:p>
        </p:txBody>
      </p:sp>
      <p:sp>
        <p:nvSpPr>
          <p:cNvPr id="18" name="Text 15"/>
          <p:cNvSpPr txBox="1"/>
          <p:nvPr/>
        </p:nvSpPr>
        <p:spPr>
          <a:xfrm>
            <a:off x="8156448" y="4782312"/>
            <a:ext cx="3209544" cy="8229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La EUF publica 28.617 M€ en cada uno de los cinco años de 2021 a 2025, sin cambiar. Su 4,5 % del PIB no describe el mercado actual.</a:t>
            </a:r>
            <a:endParaRPr lang="en-US" sz="9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EUF, datos anuales 2025 (penetración = volumen cedido / PIB); AEF y Assifact, cierre de 2025. Volumen cedido en el año, no saldo vivo. Ninguna de las tres fuentes distingue por tamaño de empresa.</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11</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Doing Business</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Banco Mundial · Doing Business 2020, última edición comparable</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marco del país, no de la PYME</a:t>
            </a:r>
            <a:endParaRPr lang="en-US" sz="1200" dirty="0"/>
          </a:p>
        </p:txBody>
      </p:sp>
      <p:sp>
        <p:nvSpPr>
          <p:cNvPr id="9" name="Shape 7"/>
          <p:cNvSpPr/>
          <p:nvPr/>
        </p:nvSpPr>
        <p:spPr>
          <a:xfrm>
            <a:off x="804672" y="5074920"/>
            <a:ext cx="2788920" cy="274320"/>
          </a:xfrm>
          <a:prstGeom prst="roundRect">
            <a:avLst>
              <a:gd name="adj" fmla="val 26667"/>
            </a:avLst>
          </a:prstGeom>
          <a:solidFill>
            <a:srgbClr val="E5E5E5"/>
          </a:solidFill>
          <a:ln w="12700">
            <a:solidFill>
              <a:srgbClr val="E5E5E5"/>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es un dato de segmento</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Indicadores del marco en que se presta: cuánta información crediticia hay, qué derechos tiene el acreedor y cuánto se recupera, y en cuánto tiempo, cuando una empresa quiebra.</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Tasa de recuperación en concurso y tiempo que tarda</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Profundidad de la información crediticia y derechos del acreedor</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Base de los índices de información y de recobro de la presentación anterior</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es un dato de PYME ni de ningún segmento: describe el país. Se incluye porque explica parte de la diferencia de riesgo entre mercados. Es de 2019: el programa se cerró en 2021 y su sucesor aún no cubre los siete países.</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Siete países · mayo de 2019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Países Bajos e Irlanda recuperan más y antes en un concurso; Portugal, menos y más tarde</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Tasa de recuperación en concurso y tiempo de resolución · Doing Business 2020</a:t>
            </a:r>
            <a:endParaRPr lang="en-US" sz="1000" dirty="0"/>
          </a:p>
        </p:txBody>
      </p:sp>
      <p:sp>
        <p:nvSpPr>
          <p:cNvPr id="6" name="Shape 4"/>
          <p:cNvSpPr/>
          <p:nvPr/>
        </p:nvSpPr>
        <p:spPr>
          <a:xfrm>
            <a:off x="9235440" y="640080"/>
            <a:ext cx="2331720" cy="365760"/>
          </a:xfrm>
          <a:prstGeom prst="roundRect">
            <a:avLst>
              <a:gd name="adj" fmla="val 15000"/>
            </a:avLst>
          </a:prstGeom>
          <a:solidFill>
            <a:srgbClr val="E5E5E5"/>
          </a:solidFill>
          <a:ln w="12700">
            <a:solidFill>
              <a:srgbClr val="E5E5E5"/>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CONTEXTO · marco del país, no de la PYME</a:t>
            </a:r>
            <a:endParaRPr lang="en-US" sz="750" dirty="0"/>
          </a:p>
        </p:txBody>
      </p:sp>
      <p:graphicFrame>
        <p:nvGraphicFramePr>
          <p:cNvPr id="8" name="Chart 0" descr=""/>
          <p:cNvGraphicFramePr/>
          <p:nvPr/>
        </p:nvGraphicFramePr>
        <p:xfrm>
          <a:off x="621792" y="1554480"/>
          <a:ext cx="5394960" cy="36576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172200" y="1554480"/>
          <a:ext cx="5394960" cy="365760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5321808"/>
            <a:ext cx="10945368" cy="640080"/>
          </a:xfrm>
          <a:prstGeom prst="roundRect">
            <a:avLst>
              <a:gd name="adj" fmla="val 7143"/>
            </a:avLst>
          </a:prstGeom>
          <a:solidFill>
            <a:srgbClr val="F2F4F6"/>
          </a:solidFill>
          <a:ln w="12700">
            <a:solidFill>
              <a:srgbClr val="F2F4F6"/>
            </a:solidFill>
            <a:prstDash val="solid"/>
          </a:ln>
        </p:spPr>
      </p:sp>
      <p:sp>
        <p:nvSpPr>
          <p:cNvPr id="11" name="Text 7"/>
          <p:cNvSpPr txBox="1"/>
          <p:nvPr/>
        </p:nvSpPr>
        <p:spPr>
          <a:xfrm>
            <a:off x="822960" y="5376672"/>
            <a:ext cx="10543032" cy="530352"/>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Recobro frente a riesgo  </a:t>
            </a:r>
            <a:pPr indent="0" marL="0">
              <a:buNone/>
            </a:pPr>
            <a:r>
              <a:rPr lang="en-US" sz="900" dirty="0">
                <a:solidFill>
                  <a:srgbClr val="2B2B2B"/>
                </a:solidFill>
                <a:latin typeface="Verdana" pitchFamily="34" charset="0"/>
                <a:ea typeface="Verdana" pitchFamily="34" charset="-122"/>
                <a:cs typeface="Verdana" pitchFamily="34" charset="-120"/>
              </a:rPr>
              <a:t>Entre los siete países, el índice de recobro de la presentación anterior y el coste del riesgo de la PYME (PD × LGD, EBA) se mueven en sentido contrario: correlación de −0,72. La información crediticia, mucho menos (−0,41 con la PD).</a:t>
            </a:r>
            <a:endParaRPr lang="en-US" sz="90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Banco Mundial, Doing Business 2020, dataset histórico, datos de mayo de 2019. Correlaciones sobre siete países: lectura descriptiva, no causal.</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4160520" cy="6858000"/>
          </a:xfrm>
          <a:prstGeom prst="rect">
            <a:avLst/>
          </a:prstGeom>
          <a:solidFill>
            <a:srgbClr val="F56600"/>
          </a:solidFill>
          <a:ln w="12700">
            <a:solidFill>
              <a:srgbClr val="F56600"/>
            </a:solidFill>
            <a:prstDash val="solid"/>
          </a:ln>
        </p:spPr>
      </p:sp>
      <p:sp>
        <p:nvSpPr>
          <p:cNvPr id="3" name="Text 1"/>
          <p:cNvSpPr txBox="1"/>
          <p:nvPr/>
        </p:nvSpPr>
        <p:spPr>
          <a:xfrm>
            <a:off x="621792" y="868680"/>
            <a:ext cx="3200400" cy="292608"/>
          </a:xfrm>
          <a:prstGeom prst="rect">
            <a:avLst/>
          </a:prstGeom>
          <a:noFill/>
          <a:ln/>
        </p:spPr>
        <p:txBody>
          <a:bodyPr wrap="square" lIns="0" tIns="0" rIns="0" bIns="0" rtlCol="0" anchor="ctr"/>
          <a:lstStyle/>
          <a:p>
            <a:pPr indent="0" marL="0">
              <a:buNone/>
            </a:pPr>
            <a:r>
              <a:rPr lang="en-US" sz="1100" b="1" spc="200" kern="0" dirty="0">
                <a:solidFill>
                  <a:srgbClr val="FFFFFF"/>
                </a:solidFill>
                <a:latin typeface="Verdana" pitchFamily="34" charset="0"/>
                <a:ea typeface="Verdana" pitchFamily="34" charset="-122"/>
                <a:cs typeface="Verdana" pitchFamily="34" charset="-120"/>
              </a:rPr>
              <a:t>FUENTE 12</a:t>
            </a:r>
            <a:endParaRPr lang="en-US" sz="1100" dirty="0"/>
          </a:p>
        </p:txBody>
      </p:sp>
      <p:sp>
        <p:nvSpPr>
          <p:cNvPr id="4" name="Text 2"/>
          <p:cNvSpPr txBox="1"/>
          <p:nvPr/>
        </p:nvSpPr>
        <p:spPr>
          <a:xfrm>
            <a:off x="621792" y="1234440"/>
            <a:ext cx="3291840" cy="1417320"/>
          </a:xfrm>
          <a:prstGeom prst="rect">
            <a:avLst/>
          </a:prstGeom>
          <a:noFill/>
          <a:ln/>
        </p:spPr>
        <p:txBody>
          <a:bodyPr wrap="square" lIns="0" tIns="0" rIns="0" bIns="0" rtlCol="0" anchor="t"/>
          <a:lstStyle/>
          <a:p>
            <a:pPr indent="0" marL="0">
              <a:buNone/>
            </a:pPr>
            <a:r>
              <a:rPr lang="en-US" sz="2600" b="1" dirty="0">
                <a:solidFill>
                  <a:srgbClr val="FFFFFF"/>
                </a:solidFill>
                <a:latin typeface="Verdana" pitchFamily="34" charset="0"/>
                <a:ea typeface="Verdana" pitchFamily="34" charset="-122"/>
                <a:cs typeface="Verdana" pitchFamily="34" charset="-120"/>
              </a:rPr>
              <a:t>Cuentas de los bancos</a:t>
            </a:r>
            <a:endParaRPr lang="en-US" sz="2600" dirty="0"/>
          </a:p>
        </p:txBody>
      </p:sp>
      <p:sp>
        <p:nvSpPr>
          <p:cNvPr id="5" name="Text 3"/>
          <p:cNvSpPr txBox="1"/>
          <p:nvPr/>
        </p:nvSpPr>
        <p:spPr>
          <a:xfrm>
            <a:off x="621792" y="2697480"/>
            <a:ext cx="3200400" cy="566928"/>
          </a:xfrm>
          <a:prstGeom prst="rect">
            <a:avLst/>
          </a:prstGeom>
          <a:noFill/>
          <a:ln/>
        </p:spPr>
        <p:txBody>
          <a:bodyPr wrap="square" lIns="0" tIns="0" rIns="0" bIns="0" rtlCol="0" anchor="t"/>
          <a:lstStyle/>
          <a:p>
            <a:pPr indent="0" marL="0">
              <a:buNone/>
            </a:pPr>
            <a:r>
              <a:rPr lang="en-US" sz="1050" dirty="0">
                <a:solidFill>
                  <a:srgbClr val="FFFFFF"/>
                </a:solidFill>
                <a:latin typeface="Verdana" pitchFamily="34" charset="0"/>
                <a:ea typeface="Verdana" pitchFamily="34" charset="-122"/>
                <a:cs typeface="Verdana" pitchFamily="34" charset="-120"/>
              </a:rPr>
              <a:t>Informes de resultados de Commerzbank, ABN AMRO, Intesa Sanpaolo, CaixaBank y BPER · primer semestre de 2026</a:t>
            </a:r>
            <a:endParaRPr lang="en-US" sz="1050" dirty="0"/>
          </a:p>
        </p:txBody>
      </p:sp>
      <p:sp>
        <p:nvSpPr>
          <p:cNvPr id="6" name="Shape 4"/>
          <p:cNvSpPr/>
          <p:nvPr/>
        </p:nvSpPr>
        <p:spPr>
          <a:xfrm>
            <a:off x="621792" y="4160520"/>
            <a:ext cx="3154680" cy="1325880"/>
          </a:xfrm>
          <a:prstGeom prst="roundRect">
            <a:avLst>
              <a:gd name="adj" fmla="val 4138"/>
            </a:avLst>
          </a:prstGeom>
          <a:solidFill>
            <a:srgbClr val="FFFFFF"/>
          </a:solidFill>
          <a:ln w="12700">
            <a:solidFill>
              <a:srgbClr val="FFFFFF"/>
            </a:solidFill>
            <a:prstDash val="solid"/>
          </a:ln>
        </p:spPr>
      </p:sp>
      <p:sp>
        <p:nvSpPr>
          <p:cNvPr id="7" name="Text 5"/>
          <p:cNvSpPr txBox="1"/>
          <p:nvPr/>
        </p:nvSpPr>
        <p:spPr>
          <a:xfrm>
            <a:off x="804672" y="4270248"/>
            <a:ext cx="2834640" cy="219456"/>
          </a:xfrm>
          <a:prstGeom prst="rect">
            <a:avLst/>
          </a:prstGeom>
          <a:noFill/>
          <a:ln/>
        </p:spPr>
        <p:txBody>
          <a:bodyPr wrap="square" lIns="0" tIns="0" rIns="0" bIns="0" rtlCol="0" anchor="ctr"/>
          <a:lstStyle/>
          <a:p>
            <a:pPr indent="0" marL="0">
              <a:buNone/>
            </a:pPr>
            <a:r>
              <a:rPr lang="en-US" sz="800" b="1" spc="100" kern="0" dirty="0">
                <a:solidFill>
                  <a:srgbClr val="818181"/>
                </a:solidFill>
                <a:latin typeface="Verdana" pitchFamily="34" charset="0"/>
                <a:ea typeface="Verdana" pitchFamily="34" charset="-122"/>
                <a:cs typeface="Verdana" pitchFamily="34" charset="-120"/>
              </a:rPr>
              <a:t>QUÉ LLAMA PYME</a:t>
            </a:r>
            <a:endParaRPr lang="en-US" sz="800" dirty="0"/>
          </a:p>
        </p:txBody>
      </p:sp>
      <p:sp>
        <p:nvSpPr>
          <p:cNvPr id="8" name="Text 6"/>
          <p:cNvSpPr txBox="1"/>
          <p:nvPr/>
        </p:nvSpPr>
        <p:spPr>
          <a:xfrm>
            <a:off x="804672" y="4507992"/>
            <a:ext cx="2834640" cy="502920"/>
          </a:xfrm>
          <a:prstGeom prst="rect">
            <a:avLst/>
          </a:prstGeom>
          <a:noFill/>
          <a:ln/>
        </p:spPr>
        <p:txBody>
          <a:bodyPr wrap="square" lIns="0" tIns="0" rIns="0" bIns="0" rtlCol="0" anchor="t"/>
          <a:lstStyle/>
          <a:p>
            <a:pPr indent="0" marL="0">
              <a:buNone/>
            </a:pPr>
            <a:r>
              <a:rPr lang="en-US" sz="1200" b="1" dirty="0">
                <a:solidFill>
                  <a:srgbClr val="2B2B2B"/>
                </a:solidFill>
                <a:latin typeface="Verdana" pitchFamily="34" charset="0"/>
                <a:ea typeface="Verdana" pitchFamily="34" charset="-122"/>
                <a:cs typeface="Verdana" pitchFamily="34" charset="-120"/>
              </a:rPr>
              <a:t>segmento de gestión del banco</a:t>
            </a:r>
            <a:endParaRPr lang="en-US" sz="1200" dirty="0"/>
          </a:p>
        </p:txBody>
      </p:sp>
      <p:sp>
        <p:nvSpPr>
          <p:cNvPr id="9" name="Shape 7"/>
          <p:cNvSpPr/>
          <p:nvPr/>
        </p:nvSpPr>
        <p:spPr>
          <a:xfrm>
            <a:off x="804672" y="5074920"/>
            <a:ext cx="2788920" cy="274320"/>
          </a:xfrm>
          <a:prstGeom prst="roundRect">
            <a:avLst>
              <a:gd name="adj" fmla="val 26667"/>
            </a:avLst>
          </a:prstGeom>
          <a:solidFill>
            <a:srgbClr val="FFCCE8"/>
          </a:solidFill>
          <a:ln w="12700">
            <a:solidFill>
              <a:srgbClr val="FFCCE8"/>
            </a:solidFill>
            <a:prstDash val="solid"/>
          </a:ln>
        </p:spPr>
      </p:sp>
      <p:sp>
        <p:nvSpPr>
          <p:cNvPr id="10" name="Text 8"/>
          <p:cNvSpPr txBox="1"/>
          <p:nvPr/>
        </p:nvSpPr>
        <p:spPr>
          <a:xfrm>
            <a:off x="804672" y="5074920"/>
            <a:ext cx="2788920" cy="274320"/>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Mezcla PYME y gran empresa</a:t>
            </a:r>
            <a:endParaRPr lang="en-US" sz="850" dirty="0"/>
          </a:p>
        </p:txBody>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12" name="Text 10"/>
          <p:cNvSpPr txBox="1"/>
          <p:nvPr/>
        </p:nvSpPr>
        <p:spPr>
          <a:xfrm>
            <a:off x="4709160" y="868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es</a:t>
            </a:r>
            <a:endParaRPr lang="en-US" sz="1250" dirty="0"/>
          </a:p>
        </p:txBody>
      </p:sp>
      <p:sp>
        <p:nvSpPr>
          <p:cNvPr id="13" name="Text 11"/>
          <p:cNvSpPr txBox="1"/>
          <p:nvPr/>
        </p:nvSpPr>
        <p:spPr>
          <a:xfrm>
            <a:off x="4709160" y="1179576"/>
            <a:ext cx="6858000" cy="7315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La cuenta de resultados que cada banco publica de sus segmentos de negocio, junto con la inversión crediticia de cada segmento.</a:t>
            </a:r>
            <a:endParaRPr lang="en-US" sz="1050" dirty="0"/>
          </a:p>
        </p:txBody>
      </p:sp>
      <p:sp>
        <p:nvSpPr>
          <p:cNvPr id="14" name="Text 12"/>
          <p:cNvSpPr txBox="1"/>
          <p:nvPr/>
        </p:nvSpPr>
        <p:spPr>
          <a:xfrm>
            <a:off x="4709160" y="201168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hemos obtenido</a:t>
            </a:r>
            <a:endParaRPr lang="en-US" sz="1250" dirty="0"/>
          </a:p>
        </p:txBody>
      </p:sp>
      <p:sp>
        <p:nvSpPr>
          <p:cNvPr id="15" name="Text 13"/>
          <p:cNvSpPr txBox="1"/>
          <p:nvPr/>
        </p:nvSpPr>
        <p:spPr>
          <a:xfrm>
            <a:off x="4709160" y="2322576"/>
            <a:ext cx="6858000" cy="141732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Ingresos, margen de intereses, comisiones y costes por segmento</a:t>
            </a:r>
            <a:endParaRPr lang="en-US" sz="1050" dirty="0"/>
          </a:p>
          <a:p>
            <a:pPr marL="342900" indent="-342900">
              <a:spcAft>
                <a:spcPts val="300"/>
              </a:spcAft>
              <a:buSzPct val="100000"/>
              <a:buChar char="•"/>
            </a:pPr>
            <a:r>
              <a:rPr lang="en-US" sz="1050" dirty="0">
                <a:solidFill>
                  <a:srgbClr val="2B2B2B"/>
                </a:solidFill>
                <a:latin typeface="Verdana" pitchFamily="34" charset="0"/>
                <a:ea typeface="Verdana" pitchFamily="34" charset="-122"/>
                <a:cs typeface="Verdana" pitchFamily="34" charset="-120"/>
              </a:rPr>
              <a:t>Inversión crediticia del segmento, para expresarlo todo por euro prestado</a:t>
            </a:r>
            <a:endParaRPr lang="en-US" sz="1050" dirty="0"/>
          </a:p>
        </p:txBody>
      </p:sp>
      <p:sp>
        <p:nvSpPr>
          <p:cNvPr id="16" name="Text 14"/>
          <p:cNvSpPr txBox="1"/>
          <p:nvPr/>
        </p:nvSpPr>
        <p:spPr>
          <a:xfrm>
            <a:off x="4709160" y="3886200"/>
            <a:ext cx="685800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Por qué aplica a PYME, y hasta dónde</a:t>
            </a:r>
            <a:endParaRPr lang="en-US" sz="1250" dirty="0"/>
          </a:p>
        </p:txBody>
      </p:sp>
      <p:sp>
        <p:nvSpPr>
          <p:cNvPr id="17" name="Text 15"/>
          <p:cNvSpPr txBox="1"/>
          <p:nvPr/>
        </p:nvSpPr>
        <p:spPr>
          <a:xfrm>
            <a:off x="4709160" y="4197096"/>
            <a:ext cx="6858000" cy="123444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Verdana" pitchFamily="34" charset="0"/>
                <a:ea typeface="Verdana" pitchFamily="34" charset="-122"/>
                <a:cs typeface="Verdana" pitchFamily="34" charset="-120"/>
              </a:rPr>
              <a:t>No es PYME: cada banco define sus segmentos para su propia gestión, y ninguno aísla la PYME. «Corporate Clients» o «Corporate Banking» mezclan gran empresa, PYME e institucionales; CaixaBank y BPER solo publican el grupo. Sirven como orden de magnitud, no como dato del segmento.</a:t>
            </a:r>
            <a:endParaRPr lang="en-US" sz="1050" dirty="0"/>
          </a:p>
        </p:txBody>
      </p:sp>
      <p:sp>
        <p:nvSpPr>
          <p:cNvPr id="18" name="Text 16"/>
          <p:cNvSpPr txBox="1"/>
          <p:nvPr/>
        </p:nvSpPr>
        <p:spPr>
          <a:xfrm>
            <a:off x="4709160" y="5806440"/>
            <a:ext cx="6858000" cy="384048"/>
          </a:xfrm>
          <a:prstGeom prst="rect">
            <a:avLst/>
          </a:prstGeom>
          <a:noFill/>
          <a:ln/>
        </p:spPr>
        <p:txBody>
          <a:bodyPr wrap="square" lIns="0" tIns="0" rIns="0" bIns="0" rtlCol="0" anchor="ctr"/>
          <a:lstStyle/>
          <a:p>
            <a:pPr indent="0" marL="0">
              <a:buNone/>
            </a:pPr>
            <a:r>
              <a:rPr lang="en-US" sz="850" i="1" dirty="0">
                <a:solidFill>
                  <a:srgbClr val="818181"/>
                </a:solidFill>
                <a:latin typeface="Verdana" pitchFamily="34" charset="0"/>
                <a:ea typeface="Verdana" pitchFamily="34" charset="-122"/>
                <a:cs typeface="Verdana" pitchFamily="34" charset="-120"/>
              </a:rPr>
              <a:t>Cinco bancos de cuatro países · primer semestre de 2026 · de nueve analizados, solo dos publican segmento de empresas con comisiones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8430768" cy="658368"/>
          </a:xfrm>
          <a:prstGeom prst="rect">
            <a:avLst/>
          </a:prstGeom>
          <a:noFill/>
          <a:ln/>
        </p:spPr>
        <p:txBody>
          <a:bodyPr wrap="square" lIns="0" tIns="0" rIns="0" bIns="0" rtlCol="0" anchor="t"/>
          <a:lstStyle/>
          <a:p>
            <a:pPr indent="0" marL="0">
              <a:buNone/>
            </a:pPr>
            <a:r>
              <a:rPr lang="en-US" sz="2100" b="1" dirty="0">
                <a:solidFill>
                  <a:srgbClr val="2B2B2B"/>
                </a:solidFill>
                <a:latin typeface="Verdana" pitchFamily="34" charset="0"/>
                <a:ea typeface="Verdana" pitchFamily="34" charset="-122"/>
                <a:cs typeface="Verdana" pitchFamily="34" charset="-120"/>
              </a:rPr>
              <a:t>La banca de empresas cobra en comisiones alrededor del 1 % de lo que presta</a:t>
            </a:r>
            <a:endParaRPr lang="en-US" sz="2100" dirty="0"/>
          </a:p>
        </p:txBody>
      </p:sp>
      <p:sp>
        <p:nvSpPr>
          <p:cNvPr id="5" name="Text 3"/>
          <p:cNvSpPr txBox="1"/>
          <p:nvPr/>
        </p:nvSpPr>
        <p:spPr>
          <a:xfrm>
            <a:off x="621792" y="1097280"/>
            <a:ext cx="10945368" cy="329184"/>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Comisiones netas anualizadas sobre la inversión crediticia de cada perímetro · Primer semestre de 2026</a:t>
            </a:r>
            <a:endParaRPr lang="en-US" sz="1000" dirty="0"/>
          </a:p>
        </p:txBody>
      </p:sp>
      <p:sp>
        <p:nvSpPr>
          <p:cNvPr id="6" name="Shape 4"/>
          <p:cNvSpPr/>
          <p:nvPr/>
        </p:nvSpPr>
        <p:spPr>
          <a:xfrm>
            <a:off x="9235440" y="640080"/>
            <a:ext cx="2331720" cy="365760"/>
          </a:xfrm>
          <a:prstGeom prst="roundRect">
            <a:avLst>
              <a:gd name="adj" fmla="val 15000"/>
            </a:avLst>
          </a:prstGeom>
          <a:solidFill>
            <a:srgbClr val="FFCCE8"/>
          </a:solidFill>
          <a:ln w="12700">
            <a:solidFill>
              <a:srgbClr val="FFCCE8"/>
            </a:solidFill>
            <a:prstDash val="solid"/>
          </a:ln>
        </p:spPr>
      </p:sp>
      <p:sp>
        <p:nvSpPr>
          <p:cNvPr id="7" name="Text 5"/>
          <p:cNvSpPr txBox="1"/>
          <p:nvPr/>
        </p:nvSpPr>
        <p:spPr>
          <a:xfrm>
            <a:off x="9308592" y="658368"/>
            <a:ext cx="218541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segmento de gestión del banco</a:t>
            </a:r>
            <a:endParaRPr lang="en-US" sz="750" dirty="0"/>
          </a:p>
        </p:txBody>
      </p:sp>
      <p:graphicFrame>
        <p:nvGraphicFramePr>
          <p:cNvPr id="8" name="Chart 0" descr=""/>
          <p:cNvGraphicFramePr/>
          <p:nvPr/>
        </p:nvGraphicFramePr>
        <p:xfrm>
          <a:off x="621792" y="155448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13232" y="5797296"/>
            <a:ext cx="201168" cy="109728"/>
          </a:xfrm>
          <a:prstGeom prst="rect">
            <a:avLst/>
          </a:prstGeom>
          <a:solidFill>
            <a:srgbClr val="2A6FB0"/>
          </a:solidFill>
          <a:ln w="12700">
            <a:solidFill>
              <a:srgbClr val="2A6FB0"/>
            </a:solidFill>
            <a:prstDash val="solid"/>
          </a:ln>
        </p:spPr>
      </p:sp>
      <p:sp>
        <p:nvSpPr>
          <p:cNvPr id="10" name="Text 7"/>
          <p:cNvSpPr txBox="1"/>
          <p:nvPr/>
        </p:nvSpPr>
        <p:spPr>
          <a:xfrm>
            <a:off x="969264" y="5742432"/>
            <a:ext cx="237744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segmento de empresas publicado</a:t>
            </a:r>
            <a:endParaRPr lang="en-US" sz="850" dirty="0"/>
          </a:p>
        </p:txBody>
      </p:sp>
      <p:sp>
        <p:nvSpPr>
          <p:cNvPr id="11" name="Shape 8"/>
          <p:cNvSpPr/>
          <p:nvPr/>
        </p:nvSpPr>
        <p:spPr>
          <a:xfrm>
            <a:off x="3529584" y="5797296"/>
            <a:ext cx="201168" cy="109728"/>
          </a:xfrm>
          <a:prstGeom prst="rect">
            <a:avLst/>
          </a:prstGeom>
          <a:solidFill>
            <a:srgbClr val="B9B9B9"/>
          </a:solidFill>
          <a:ln w="12700">
            <a:solidFill>
              <a:srgbClr val="B9B9B9"/>
            </a:solidFill>
            <a:prstDash val="solid"/>
          </a:ln>
        </p:spPr>
      </p:sp>
      <p:sp>
        <p:nvSpPr>
          <p:cNvPr id="12" name="Text 9"/>
          <p:cNvSpPr txBox="1"/>
          <p:nvPr/>
        </p:nvSpPr>
        <p:spPr>
          <a:xfrm>
            <a:off x="3785616" y="5742432"/>
            <a:ext cx="164592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grupo, no segmento</a:t>
            </a:r>
            <a:endParaRPr lang="en-US" sz="850" dirty="0"/>
          </a:p>
        </p:txBody>
      </p:sp>
      <p:sp>
        <p:nvSpPr>
          <p:cNvPr id="13" name="Shape 10"/>
          <p:cNvSpPr/>
          <p:nvPr/>
        </p:nvSpPr>
        <p:spPr>
          <a:xfrm>
            <a:off x="7955280" y="1554480"/>
            <a:ext cx="3611880" cy="1965960"/>
          </a:xfrm>
          <a:prstGeom prst="roundRect">
            <a:avLst>
              <a:gd name="adj" fmla="val 2326"/>
            </a:avLst>
          </a:prstGeom>
          <a:solidFill>
            <a:srgbClr val="F2F4F6"/>
          </a:solidFill>
          <a:ln w="12700">
            <a:solidFill>
              <a:srgbClr val="F2F4F6"/>
            </a:solidFill>
            <a:prstDash val="solid"/>
          </a:ln>
        </p:spPr>
      </p:sp>
      <p:sp>
        <p:nvSpPr>
          <p:cNvPr id="14" name="Text 11"/>
          <p:cNvSpPr txBox="1"/>
          <p:nvPr/>
        </p:nvSpPr>
        <p:spPr>
          <a:xfrm>
            <a:off x="8156448" y="168249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Los dos segmentos de empresas</a:t>
            </a:r>
            <a:endParaRPr lang="en-US" sz="1150" dirty="0"/>
          </a:p>
        </p:txBody>
      </p:sp>
      <p:sp>
        <p:nvSpPr>
          <p:cNvPr id="15" name="Text 12"/>
          <p:cNvSpPr txBox="1"/>
          <p:nvPr/>
        </p:nvSpPr>
        <p:spPr>
          <a:xfrm>
            <a:off x="8156448" y="1993392"/>
            <a:ext cx="3209544" cy="141732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Commerzbank 1,22 % y ABN AMRO 0,99 %. Son los únicos de nueve bancos que publican comisiones de un segmento de empresas.</a:t>
            </a:r>
            <a:endParaRPr lang="en-US" sz="950" dirty="0"/>
          </a:p>
        </p:txBody>
      </p:sp>
      <p:sp>
        <p:nvSpPr>
          <p:cNvPr id="16" name="Shape 13"/>
          <p:cNvSpPr/>
          <p:nvPr/>
        </p:nvSpPr>
        <p:spPr>
          <a:xfrm>
            <a:off x="7955280" y="3657600"/>
            <a:ext cx="3611880" cy="2057400"/>
          </a:xfrm>
          <a:prstGeom prst="roundRect">
            <a:avLst>
              <a:gd name="adj" fmla="val 2222"/>
            </a:avLst>
          </a:prstGeom>
          <a:solidFill>
            <a:srgbClr val="F2F4F6"/>
          </a:solidFill>
          <a:ln w="12700">
            <a:solidFill>
              <a:srgbClr val="F2F4F6"/>
            </a:solidFill>
            <a:prstDash val="solid"/>
          </a:ln>
        </p:spPr>
      </p:sp>
      <p:sp>
        <p:nvSpPr>
          <p:cNvPr id="17" name="Text 14"/>
          <p:cNvSpPr txBox="1"/>
          <p:nvPr/>
        </p:nvSpPr>
        <p:spPr>
          <a:xfrm>
            <a:off x="8156448" y="3785616"/>
            <a:ext cx="320954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qué BPER dobla</a:t>
            </a:r>
            <a:endParaRPr lang="en-US" sz="1150" dirty="0"/>
          </a:p>
        </p:txBody>
      </p:sp>
      <p:sp>
        <p:nvSpPr>
          <p:cNvPr id="18" name="Text 15"/>
          <p:cNvSpPr txBox="1"/>
          <p:nvPr/>
        </p:nvSpPr>
        <p:spPr>
          <a:xfrm>
            <a:off x="8156448" y="4096512"/>
            <a:ext cx="3209544" cy="1508760"/>
          </a:xfrm>
          <a:prstGeom prst="rect">
            <a:avLst/>
          </a:prstGeom>
          <a:noFill/>
          <a:ln/>
        </p:spPr>
        <p:txBody>
          <a:bodyPr wrap="square" lIns="0" tIns="0" rIns="0" bIns="0" rtlCol="0" anchor="t"/>
          <a:lstStyle/>
          <a:p>
            <a:pPr indent="0" marL="0">
              <a:buNone/>
            </a:pPr>
            <a:r>
              <a:rPr lang="en-US" sz="950" dirty="0">
                <a:solidFill>
                  <a:srgbClr val="2B2B2B"/>
                </a:solidFill>
                <a:latin typeface="Verdana" pitchFamily="34" charset="0"/>
                <a:ea typeface="Verdana" pitchFamily="34" charset="-122"/>
                <a:cs typeface="Verdana" pitchFamily="34" charset="-120"/>
              </a:rPr>
              <a:t>BPER solo publica el grupo, que incluye comisiones de fondos y seguros de particulares. Por eso no es comparable con un segmento de empresas.</a:t>
            </a:r>
            <a:endParaRPr lang="en-US" sz="9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Informes de resultados del primer semestre de 2026 e informes semestrales de Intesa y BPER para la inversión. Commerzbank publica trimestre (×4), el resto semestre (×2). Intesa no desglosa comisiones por división.</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 PYME</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 en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descriptivo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dicen juntas las doce fuentes, sin calcular rentabilidades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siete mercados en nueve datos observados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columna, con su propia fuente y su propia definición de PYME · Sombreado: los dos valores más altos de cada fila, más intensos</a:t>
            </a:r>
            <a:endParaRPr lang="en-US" sz="10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606040"/>
                <a:gridCol w="1280160"/>
                <a:gridCol w="1005840"/>
                <a:gridCol w="1005840"/>
                <a:gridCol w="1005840"/>
                <a:gridCol w="1005840"/>
                <a:gridCol w="1005840"/>
                <a:gridCol w="1005840"/>
                <a:gridCol w="1005840"/>
              </a:tblGrid>
              <a:tr h="393192">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Indicador</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Fuente</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B2B2B"/>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Precio del préstamo ≤1 M€</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MIR</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3,41 %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4,39 %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4,25 %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3,94 %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5,37 %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Prima PYME, últimos 12 meses</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MIR</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Rechazo, media de 3 años</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SAFE</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8,5 %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Mora de la PYME</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FINREP</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5,38 %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4,90 %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4,22 %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Probabilidad de impago</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COREP</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2,15 %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Severidad de la pérdida</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COREP</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31,4 %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31,5 %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35,6 %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40,0 %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29,7 %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EBA · TE</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59,5 %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61,3 %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70,0 %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Factoring sobre PIB</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EUF</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14,8 %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13,2 %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20,7 %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14,0 %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4,5 %</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r>
              <a:tr h="393192">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Recuperación en concurso</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l" indent="0" marL="0">
                        <a:buNone/>
                      </a:pPr>
                      <a:r>
                        <a:rPr lang="en-US" sz="800" dirty="0">
                          <a:solidFill>
                            <a:srgbClr val="818181"/>
                          </a:solidFill>
                          <a:latin typeface="Verdana" pitchFamily="34" charset="0"/>
                          <a:ea typeface="Verdana" pitchFamily="34" charset="-122"/>
                          <a:cs typeface="Verdana" pitchFamily="34" charset="-120"/>
                        </a:rPr>
                        <a:t>Banco Mundial</a:t>
                      </a:r>
                      <a:endParaRPr lang="en-US" sz="8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77,5</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79,8</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74,8</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65,6</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64,8</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4F5F7"/>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90,1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86,1</a:t>
                      </a:r>
                      <a:endParaRPr lang="en-US" sz="900" dirty="0">
                        <a:latin typeface="Verdana" charset="0"/>
                        <a:ea typeface="Verdana" charset="0"/>
                        <a:cs typeface="Verdana" charset="0"/>
                      </a:endParaRPr>
                    </a:p>
                  </a:txBody>
                  <a:tcPr marL="63500" marR="635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24144"/>
            <a:ext cx="201168" cy="109728"/>
          </a:xfrm>
          <a:prstGeom prst="rect">
            <a:avLst/>
          </a:prstGeom>
          <a:solidFill>
            <a:srgbClr val="FFAB70"/>
          </a:solidFill>
          <a:ln w="12700">
            <a:solidFill>
              <a:srgbClr val="FFAB70"/>
            </a:solidFill>
            <a:prstDash val="solid"/>
          </a:ln>
        </p:spPr>
      </p:sp>
      <p:sp>
        <p:nvSpPr>
          <p:cNvPr id="8" name="Text 5"/>
          <p:cNvSpPr txBox="1"/>
          <p:nvPr/>
        </p:nvSpPr>
        <p:spPr>
          <a:xfrm>
            <a:off x="877824" y="5669280"/>
            <a:ext cx="21945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dos valores más altos de la fila</a:t>
            </a:r>
            <a:endParaRPr lang="en-US" sz="850" dirty="0"/>
          </a:p>
        </p:txBody>
      </p:sp>
      <p:sp>
        <p:nvSpPr>
          <p:cNvPr id="9" name="Shape 6"/>
          <p:cNvSpPr/>
          <p:nvPr/>
        </p:nvSpPr>
        <p:spPr>
          <a:xfrm>
            <a:off x="3255264" y="5724144"/>
            <a:ext cx="201168" cy="109728"/>
          </a:xfrm>
          <a:prstGeom prst="rect">
            <a:avLst/>
          </a:prstGeom>
          <a:solidFill>
            <a:srgbClr val="FFD6BA"/>
          </a:solidFill>
          <a:ln w="12700">
            <a:solidFill>
              <a:srgbClr val="FFD6BA"/>
            </a:solidFill>
            <a:prstDash val="solid"/>
          </a:ln>
        </p:spPr>
      </p:sp>
      <p:sp>
        <p:nvSpPr>
          <p:cNvPr id="10" name="Text 7"/>
          <p:cNvSpPr txBox="1"/>
          <p:nvPr/>
        </p:nvSpPr>
        <p:spPr>
          <a:xfrm>
            <a:off x="3511296" y="5669280"/>
            <a:ext cx="128016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siguientes tres</a:t>
            </a:r>
            <a:endParaRPr lang="en-US" sz="850" dirty="0"/>
          </a:p>
        </p:txBody>
      </p:sp>
      <p:sp>
        <p:nvSpPr>
          <p:cNvPr id="11" name="Shape 8"/>
          <p:cNvSpPr/>
          <p:nvPr/>
        </p:nvSpPr>
        <p:spPr>
          <a:xfrm>
            <a:off x="4974336" y="5724144"/>
            <a:ext cx="201168" cy="109728"/>
          </a:xfrm>
          <a:prstGeom prst="rect">
            <a:avLst/>
          </a:prstGeom>
          <a:solidFill>
            <a:srgbClr val="F4F5F7"/>
          </a:solidFill>
          <a:ln w="12700">
            <a:solidFill>
              <a:srgbClr val="F4F5F7"/>
            </a:solidFill>
            <a:prstDash val="solid"/>
          </a:ln>
        </p:spPr>
      </p:sp>
      <p:sp>
        <p:nvSpPr>
          <p:cNvPr id="12" name="Text 9"/>
          <p:cNvSpPr txBox="1"/>
          <p:nvPr/>
        </p:nvSpPr>
        <p:spPr>
          <a:xfrm>
            <a:off x="5230368" y="5669280"/>
            <a:ext cx="1188720" cy="2194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dos más bajos</a:t>
            </a:r>
            <a:endParaRPr lang="en-US" sz="8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MIR: 2026, préstamos a empresas ≤1 M€ (proxy de importe). SAFE: PYME &lt;250 empleados, 2023–2025. FINREP: Recomendación 2003/361/CE, 2026-Q1. COREP: IRB, definición interna, mediana, 2026-Q1. TE: estándar e IRB, junio 2025. EUF: sin segmento, 2025. Banco Mundial: 2019, céntimos por dólar. Sombreado por magnitud, no por mejor o peor.</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Dónde está España en cada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fila va del valor más bajo al más alto de los siete países · España en naranja, el resto en gris</a:t>
            </a:r>
            <a:endParaRPr lang="en-US" sz="1050" dirty="0"/>
          </a:p>
        </p:txBody>
      </p:sp>
      <p:sp>
        <p:nvSpPr>
          <p:cNvPr id="6" name="Text 4"/>
          <p:cNvSpPr txBox="1"/>
          <p:nvPr/>
        </p:nvSpPr>
        <p:spPr>
          <a:xfrm>
            <a:off x="621792" y="16642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Precio del préstamo ≤1 M€</a:t>
            </a:r>
            <a:endParaRPr lang="en-US" sz="950" dirty="0"/>
          </a:p>
        </p:txBody>
      </p:sp>
      <p:sp>
        <p:nvSpPr>
          <p:cNvPr id="7" name="Text 5"/>
          <p:cNvSpPr txBox="1"/>
          <p:nvPr/>
        </p:nvSpPr>
        <p:spPr>
          <a:xfrm>
            <a:off x="3017520" y="16733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3,41 %</a:t>
            </a:r>
            <a:endParaRPr lang="en-US" sz="800" dirty="0"/>
          </a:p>
        </p:txBody>
      </p:sp>
      <p:sp>
        <p:nvSpPr>
          <p:cNvPr id="8" name="Text 6"/>
          <p:cNvSpPr txBox="1"/>
          <p:nvPr/>
        </p:nvSpPr>
        <p:spPr>
          <a:xfrm>
            <a:off x="10497312" y="16733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5,37 %</a:t>
            </a:r>
            <a:endParaRPr lang="en-US" sz="800" dirty="0"/>
          </a:p>
        </p:txBody>
      </p:sp>
      <p:sp>
        <p:nvSpPr>
          <p:cNvPr id="9" name="Shape 7"/>
          <p:cNvSpPr/>
          <p:nvPr/>
        </p:nvSpPr>
        <p:spPr>
          <a:xfrm>
            <a:off x="3977640" y="1777594"/>
            <a:ext cx="6400800" cy="10973"/>
          </a:xfrm>
          <a:prstGeom prst="rect">
            <a:avLst/>
          </a:prstGeom>
          <a:solidFill>
            <a:srgbClr val="CACACA"/>
          </a:solidFill>
          <a:ln w="12700">
            <a:solidFill>
              <a:srgbClr val="CACACA"/>
            </a:solidFill>
            <a:prstDash val="solid"/>
          </a:ln>
        </p:spPr>
      </p:sp>
      <p:sp>
        <p:nvSpPr>
          <p:cNvPr id="10" name="Shape 8"/>
          <p:cNvSpPr/>
          <p:nvPr/>
        </p:nvSpPr>
        <p:spPr>
          <a:xfrm>
            <a:off x="7114032" y="1719072"/>
            <a:ext cx="128016" cy="128016"/>
          </a:xfrm>
          <a:prstGeom prst="ellipse">
            <a:avLst/>
          </a:prstGeom>
          <a:solidFill>
            <a:srgbClr val="B9B9B9"/>
          </a:solidFill>
          <a:ln w="9525">
            <a:solidFill>
              <a:srgbClr val="FFFFFF"/>
            </a:solidFill>
            <a:prstDash val="solid"/>
          </a:ln>
        </p:spPr>
      </p:sp>
      <p:sp>
        <p:nvSpPr>
          <p:cNvPr id="11" name="Shape 9"/>
          <p:cNvSpPr/>
          <p:nvPr/>
        </p:nvSpPr>
        <p:spPr>
          <a:xfrm>
            <a:off x="5089289" y="1719072"/>
            <a:ext cx="128016" cy="128016"/>
          </a:xfrm>
          <a:prstGeom prst="ellipse">
            <a:avLst/>
          </a:prstGeom>
          <a:solidFill>
            <a:srgbClr val="B9B9B9"/>
          </a:solidFill>
          <a:ln w="9525">
            <a:solidFill>
              <a:srgbClr val="FFFFFF"/>
            </a:solidFill>
            <a:prstDash val="solid"/>
          </a:ln>
        </p:spPr>
      </p:sp>
      <p:sp>
        <p:nvSpPr>
          <p:cNvPr id="12" name="Shape 10"/>
          <p:cNvSpPr/>
          <p:nvPr/>
        </p:nvSpPr>
        <p:spPr>
          <a:xfrm>
            <a:off x="6656832" y="1719072"/>
            <a:ext cx="128016" cy="128016"/>
          </a:xfrm>
          <a:prstGeom prst="ellipse">
            <a:avLst/>
          </a:prstGeom>
          <a:solidFill>
            <a:srgbClr val="B9B9B9"/>
          </a:solidFill>
          <a:ln w="9525">
            <a:solidFill>
              <a:srgbClr val="FFFFFF"/>
            </a:solidFill>
            <a:prstDash val="solid"/>
          </a:ln>
        </p:spPr>
      </p:sp>
      <p:sp>
        <p:nvSpPr>
          <p:cNvPr id="13" name="Shape 11"/>
          <p:cNvSpPr/>
          <p:nvPr/>
        </p:nvSpPr>
        <p:spPr>
          <a:xfrm>
            <a:off x="5644461" y="1719072"/>
            <a:ext cx="128016" cy="128016"/>
          </a:xfrm>
          <a:prstGeom prst="ellipse">
            <a:avLst/>
          </a:prstGeom>
          <a:solidFill>
            <a:srgbClr val="B9B9B9"/>
          </a:solidFill>
          <a:ln w="9525">
            <a:solidFill>
              <a:srgbClr val="FFFFFF"/>
            </a:solidFill>
            <a:prstDash val="solid"/>
          </a:ln>
        </p:spPr>
      </p:sp>
      <p:sp>
        <p:nvSpPr>
          <p:cNvPr id="14" name="Shape 12"/>
          <p:cNvSpPr/>
          <p:nvPr/>
        </p:nvSpPr>
        <p:spPr>
          <a:xfrm>
            <a:off x="7473261" y="1719072"/>
            <a:ext cx="128016" cy="128016"/>
          </a:xfrm>
          <a:prstGeom prst="ellipse">
            <a:avLst/>
          </a:prstGeom>
          <a:solidFill>
            <a:srgbClr val="B9B9B9"/>
          </a:solidFill>
          <a:ln w="9525">
            <a:solidFill>
              <a:srgbClr val="FFFFFF"/>
            </a:solidFill>
            <a:prstDash val="solid"/>
          </a:ln>
        </p:spPr>
      </p:sp>
      <p:sp>
        <p:nvSpPr>
          <p:cNvPr id="15" name="Shape 13"/>
          <p:cNvSpPr/>
          <p:nvPr/>
        </p:nvSpPr>
        <p:spPr>
          <a:xfrm>
            <a:off x="10314432" y="1719072"/>
            <a:ext cx="128016" cy="128016"/>
          </a:xfrm>
          <a:prstGeom prst="ellipse">
            <a:avLst/>
          </a:prstGeom>
          <a:solidFill>
            <a:srgbClr val="B9B9B9"/>
          </a:solidFill>
          <a:ln w="9525">
            <a:solidFill>
              <a:srgbClr val="FFFFFF"/>
            </a:solidFill>
            <a:prstDash val="solid"/>
          </a:ln>
        </p:spPr>
      </p:sp>
      <p:sp>
        <p:nvSpPr>
          <p:cNvPr id="16" name="Shape 14"/>
          <p:cNvSpPr/>
          <p:nvPr/>
        </p:nvSpPr>
        <p:spPr>
          <a:xfrm>
            <a:off x="3877056" y="1682496"/>
            <a:ext cx="201168" cy="201168"/>
          </a:xfrm>
          <a:prstGeom prst="ellipse">
            <a:avLst/>
          </a:prstGeom>
          <a:solidFill>
            <a:srgbClr val="F56600"/>
          </a:solidFill>
          <a:ln w="12700">
            <a:solidFill>
              <a:srgbClr val="FFFFFF"/>
            </a:solidFill>
            <a:prstDash val="solid"/>
          </a:ln>
        </p:spPr>
      </p:sp>
      <p:sp>
        <p:nvSpPr>
          <p:cNvPr id="17" name="Text 15"/>
          <p:cNvSpPr txBox="1"/>
          <p:nvPr/>
        </p:nvSpPr>
        <p:spPr>
          <a:xfrm>
            <a:off x="3429000" y="14538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3,41 %</a:t>
            </a:r>
            <a:endParaRPr lang="en-US" sz="800" dirty="0"/>
          </a:p>
        </p:txBody>
      </p:sp>
      <p:sp>
        <p:nvSpPr>
          <p:cNvPr id="18" name="Text 16"/>
          <p:cNvSpPr txBox="1"/>
          <p:nvPr/>
        </p:nvSpPr>
        <p:spPr>
          <a:xfrm>
            <a:off x="621792" y="21214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Prima PYME, últimos 12 meses</a:t>
            </a:r>
            <a:endParaRPr lang="en-US" sz="950" dirty="0"/>
          </a:p>
        </p:txBody>
      </p:sp>
      <p:sp>
        <p:nvSpPr>
          <p:cNvPr id="19" name="Text 17"/>
          <p:cNvSpPr txBox="1"/>
          <p:nvPr/>
        </p:nvSpPr>
        <p:spPr>
          <a:xfrm>
            <a:off x="3017520" y="21305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−0,03 pp</a:t>
            </a:r>
            <a:endParaRPr lang="en-US" sz="800" dirty="0"/>
          </a:p>
        </p:txBody>
      </p:sp>
      <p:sp>
        <p:nvSpPr>
          <p:cNvPr id="20" name="Text 18"/>
          <p:cNvSpPr txBox="1"/>
          <p:nvPr/>
        </p:nvSpPr>
        <p:spPr>
          <a:xfrm>
            <a:off x="10497312" y="21305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+1,39 pp</a:t>
            </a:r>
            <a:endParaRPr lang="en-US" sz="800" dirty="0"/>
          </a:p>
        </p:txBody>
      </p:sp>
      <p:sp>
        <p:nvSpPr>
          <p:cNvPr id="21" name="Shape 19"/>
          <p:cNvSpPr/>
          <p:nvPr/>
        </p:nvSpPr>
        <p:spPr>
          <a:xfrm>
            <a:off x="3977640" y="2234794"/>
            <a:ext cx="6400800" cy="10973"/>
          </a:xfrm>
          <a:prstGeom prst="rect">
            <a:avLst/>
          </a:prstGeom>
          <a:solidFill>
            <a:srgbClr val="CACACA"/>
          </a:solidFill>
          <a:ln w="12700">
            <a:solidFill>
              <a:srgbClr val="CACACA"/>
            </a:solidFill>
            <a:prstDash val="solid"/>
          </a:ln>
        </p:spPr>
      </p:sp>
      <p:sp>
        <p:nvSpPr>
          <p:cNvPr id="22" name="Shape 20"/>
          <p:cNvSpPr/>
          <p:nvPr/>
        </p:nvSpPr>
        <p:spPr>
          <a:xfrm>
            <a:off x="9638291" y="2176272"/>
            <a:ext cx="128016" cy="128016"/>
          </a:xfrm>
          <a:prstGeom prst="ellipse">
            <a:avLst/>
          </a:prstGeom>
          <a:solidFill>
            <a:srgbClr val="B9B9B9"/>
          </a:solidFill>
          <a:ln w="9525">
            <a:solidFill>
              <a:srgbClr val="FFFFFF"/>
            </a:solidFill>
            <a:prstDash val="solid"/>
          </a:ln>
        </p:spPr>
      </p:sp>
      <p:sp>
        <p:nvSpPr>
          <p:cNvPr id="23" name="Shape 21"/>
          <p:cNvSpPr/>
          <p:nvPr/>
        </p:nvSpPr>
        <p:spPr>
          <a:xfrm>
            <a:off x="6347739" y="2176272"/>
            <a:ext cx="128016" cy="128016"/>
          </a:xfrm>
          <a:prstGeom prst="ellipse">
            <a:avLst/>
          </a:prstGeom>
          <a:solidFill>
            <a:srgbClr val="B9B9B9"/>
          </a:solidFill>
          <a:ln w="9525">
            <a:solidFill>
              <a:srgbClr val="FFFFFF"/>
            </a:solidFill>
            <a:prstDash val="solid"/>
          </a:ln>
        </p:spPr>
      </p:sp>
      <p:sp>
        <p:nvSpPr>
          <p:cNvPr id="24" name="Shape 22"/>
          <p:cNvSpPr/>
          <p:nvPr/>
        </p:nvSpPr>
        <p:spPr>
          <a:xfrm>
            <a:off x="10314432" y="2176272"/>
            <a:ext cx="128016" cy="128016"/>
          </a:xfrm>
          <a:prstGeom prst="ellipse">
            <a:avLst/>
          </a:prstGeom>
          <a:solidFill>
            <a:srgbClr val="B9B9B9"/>
          </a:solidFill>
          <a:ln w="9525">
            <a:solidFill>
              <a:srgbClr val="FFFFFF"/>
            </a:solidFill>
            <a:prstDash val="solid"/>
          </a:ln>
        </p:spPr>
      </p:sp>
      <p:sp>
        <p:nvSpPr>
          <p:cNvPr id="25" name="Shape 23"/>
          <p:cNvSpPr/>
          <p:nvPr/>
        </p:nvSpPr>
        <p:spPr>
          <a:xfrm>
            <a:off x="7023880" y="2176272"/>
            <a:ext cx="128016" cy="128016"/>
          </a:xfrm>
          <a:prstGeom prst="ellipse">
            <a:avLst/>
          </a:prstGeom>
          <a:solidFill>
            <a:srgbClr val="B9B9B9"/>
          </a:solidFill>
          <a:ln w="9525">
            <a:solidFill>
              <a:srgbClr val="FFFFFF"/>
            </a:solidFill>
            <a:prstDash val="solid"/>
          </a:ln>
        </p:spPr>
      </p:sp>
      <p:sp>
        <p:nvSpPr>
          <p:cNvPr id="26" name="Shape 24"/>
          <p:cNvSpPr/>
          <p:nvPr/>
        </p:nvSpPr>
        <p:spPr>
          <a:xfrm>
            <a:off x="9232607" y="2176272"/>
            <a:ext cx="128016" cy="128016"/>
          </a:xfrm>
          <a:prstGeom prst="ellipse">
            <a:avLst/>
          </a:prstGeom>
          <a:solidFill>
            <a:srgbClr val="B9B9B9"/>
          </a:solidFill>
          <a:ln w="9525">
            <a:solidFill>
              <a:srgbClr val="FFFFFF"/>
            </a:solidFill>
            <a:prstDash val="solid"/>
          </a:ln>
        </p:spPr>
      </p:sp>
      <p:sp>
        <p:nvSpPr>
          <p:cNvPr id="27" name="Shape 25"/>
          <p:cNvSpPr/>
          <p:nvPr/>
        </p:nvSpPr>
        <p:spPr>
          <a:xfrm>
            <a:off x="7700021" y="2176272"/>
            <a:ext cx="128016" cy="128016"/>
          </a:xfrm>
          <a:prstGeom prst="ellipse">
            <a:avLst/>
          </a:prstGeom>
          <a:solidFill>
            <a:srgbClr val="B9B9B9"/>
          </a:solidFill>
          <a:ln w="9525">
            <a:solidFill>
              <a:srgbClr val="FFFFFF"/>
            </a:solidFill>
            <a:prstDash val="solid"/>
          </a:ln>
        </p:spPr>
      </p:sp>
      <p:sp>
        <p:nvSpPr>
          <p:cNvPr id="28" name="Shape 26"/>
          <p:cNvSpPr/>
          <p:nvPr/>
        </p:nvSpPr>
        <p:spPr>
          <a:xfrm>
            <a:off x="3877056" y="2139696"/>
            <a:ext cx="201168" cy="201168"/>
          </a:xfrm>
          <a:prstGeom prst="ellipse">
            <a:avLst/>
          </a:prstGeom>
          <a:solidFill>
            <a:srgbClr val="F56600"/>
          </a:solidFill>
          <a:ln w="12700">
            <a:solidFill>
              <a:srgbClr val="FFFFFF"/>
            </a:solidFill>
            <a:prstDash val="solid"/>
          </a:ln>
        </p:spPr>
      </p:sp>
      <p:sp>
        <p:nvSpPr>
          <p:cNvPr id="29" name="Text 27"/>
          <p:cNvSpPr txBox="1"/>
          <p:nvPr/>
        </p:nvSpPr>
        <p:spPr>
          <a:xfrm>
            <a:off x="3429000" y="19110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−0,03 pp</a:t>
            </a:r>
            <a:endParaRPr lang="en-US" sz="800" dirty="0"/>
          </a:p>
        </p:txBody>
      </p:sp>
      <p:sp>
        <p:nvSpPr>
          <p:cNvPr id="30" name="Text 28"/>
          <p:cNvSpPr txBox="1"/>
          <p:nvPr/>
        </p:nvSpPr>
        <p:spPr>
          <a:xfrm>
            <a:off x="621792" y="25786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Rechazo, media de 3 años</a:t>
            </a:r>
            <a:endParaRPr lang="en-US" sz="950" dirty="0"/>
          </a:p>
        </p:txBody>
      </p:sp>
      <p:sp>
        <p:nvSpPr>
          <p:cNvPr id="31" name="Text 29"/>
          <p:cNvSpPr txBox="1"/>
          <p:nvPr/>
        </p:nvSpPr>
        <p:spPr>
          <a:xfrm>
            <a:off x="3017520" y="25877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3,0 %</a:t>
            </a:r>
            <a:endParaRPr lang="en-US" sz="800" dirty="0"/>
          </a:p>
        </p:txBody>
      </p:sp>
      <p:sp>
        <p:nvSpPr>
          <p:cNvPr id="32" name="Text 30"/>
          <p:cNvSpPr txBox="1"/>
          <p:nvPr/>
        </p:nvSpPr>
        <p:spPr>
          <a:xfrm>
            <a:off x="10497312" y="25877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11,7 %</a:t>
            </a:r>
            <a:endParaRPr lang="en-US" sz="800" dirty="0"/>
          </a:p>
        </p:txBody>
      </p:sp>
      <p:sp>
        <p:nvSpPr>
          <p:cNvPr id="33" name="Shape 31"/>
          <p:cNvSpPr/>
          <p:nvPr/>
        </p:nvSpPr>
        <p:spPr>
          <a:xfrm>
            <a:off x="3977640" y="2691994"/>
            <a:ext cx="6400800" cy="10973"/>
          </a:xfrm>
          <a:prstGeom prst="rect">
            <a:avLst/>
          </a:prstGeom>
          <a:solidFill>
            <a:srgbClr val="CACACA"/>
          </a:solidFill>
          <a:ln w="12700">
            <a:solidFill>
              <a:srgbClr val="CACACA"/>
            </a:solidFill>
            <a:prstDash val="solid"/>
          </a:ln>
        </p:spPr>
      </p:sp>
      <p:sp>
        <p:nvSpPr>
          <p:cNvPr id="34" name="Shape 32"/>
          <p:cNvSpPr/>
          <p:nvPr/>
        </p:nvSpPr>
        <p:spPr>
          <a:xfrm>
            <a:off x="5826515" y="2633472"/>
            <a:ext cx="128016" cy="128016"/>
          </a:xfrm>
          <a:prstGeom prst="ellipse">
            <a:avLst/>
          </a:prstGeom>
          <a:solidFill>
            <a:srgbClr val="B9B9B9"/>
          </a:solidFill>
          <a:ln w="9525">
            <a:solidFill>
              <a:srgbClr val="FFFFFF"/>
            </a:solidFill>
            <a:prstDash val="solid"/>
          </a:ln>
        </p:spPr>
      </p:sp>
      <p:sp>
        <p:nvSpPr>
          <p:cNvPr id="35" name="Shape 33"/>
          <p:cNvSpPr/>
          <p:nvPr/>
        </p:nvSpPr>
        <p:spPr>
          <a:xfrm>
            <a:off x="8695839" y="2633472"/>
            <a:ext cx="128016" cy="128016"/>
          </a:xfrm>
          <a:prstGeom prst="ellipse">
            <a:avLst/>
          </a:prstGeom>
          <a:solidFill>
            <a:srgbClr val="B9B9B9"/>
          </a:solidFill>
          <a:ln w="9525">
            <a:solidFill>
              <a:srgbClr val="FFFFFF"/>
            </a:solidFill>
            <a:prstDash val="solid"/>
          </a:ln>
        </p:spPr>
      </p:sp>
      <p:sp>
        <p:nvSpPr>
          <p:cNvPr id="36" name="Shape 34"/>
          <p:cNvSpPr/>
          <p:nvPr/>
        </p:nvSpPr>
        <p:spPr>
          <a:xfrm>
            <a:off x="3913632" y="2633472"/>
            <a:ext cx="128016" cy="128016"/>
          </a:xfrm>
          <a:prstGeom prst="ellipse">
            <a:avLst/>
          </a:prstGeom>
          <a:solidFill>
            <a:srgbClr val="B9B9B9"/>
          </a:solidFill>
          <a:ln w="9525">
            <a:solidFill>
              <a:srgbClr val="FFFFFF"/>
            </a:solidFill>
            <a:prstDash val="solid"/>
          </a:ln>
        </p:spPr>
      </p:sp>
      <p:sp>
        <p:nvSpPr>
          <p:cNvPr id="37" name="Shape 35"/>
          <p:cNvSpPr/>
          <p:nvPr/>
        </p:nvSpPr>
        <p:spPr>
          <a:xfrm>
            <a:off x="10314432" y="2633472"/>
            <a:ext cx="128016" cy="128016"/>
          </a:xfrm>
          <a:prstGeom prst="ellipse">
            <a:avLst/>
          </a:prstGeom>
          <a:solidFill>
            <a:srgbClr val="B9B9B9"/>
          </a:solidFill>
          <a:ln w="9525">
            <a:solidFill>
              <a:srgbClr val="FFFFFF"/>
            </a:solidFill>
            <a:prstDash val="solid"/>
          </a:ln>
        </p:spPr>
      </p:sp>
      <p:sp>
        <p:nvSpPr>
          <p:cNvPr id="38" name="Shape 36"/>
          <p:cNvSpPr/>
          <p:nvPr/>
        </p:nvSpPr>
        <p:spPr>
          <a:xfrm>
            <a:off x="9284418" y="2633472"/>
            <a:ext cx="128016" cy="128016"/>
          </a:xfrm>
          <a:prstGeom prst="ellipse">
            <a:avLst/>
          </a:prstGeom>
          <a:solidFill>
            <a:srgbClr val="B9B9B9"/>
          </a:solidFill>
          <a:ln w="9525">
            <a:solidFill>
              <a:srgbClr val="FFFFFF"/>
            </a:solidFill>
            <a:prstDash val="solid"/>
          </a:ln>
        </p:spPr>
      </p:sp>
      <p:sp>
        <p:nvSpPr>
          <p:cNvPr id="39" name="Shape 37"/>
          <p:cNvSpPr/>
          <p:nvPr/>
        </p:nvSpPr>
        <p:spPr>
          <a:xfrm>
            <a:off x="8622266" y="2633472"/>
            <a:ext cx="128016" cy="128016"/>
          </a:xfrm>
          <a:prstGeom prst="ellipse">
            <a:avLst/>
          </a:prstGeom>
          <a:solidFill>
            <a:srgbClr val="B9B9B9"/>
          </a:solidFill>
          <a:ln w="9525">
            <a:solidFill>
              <a:srgbClr val="FFFFFF"/>
            </a:solidFill>
            <a:prstDash val="solid"/>
          </a:ln>
        </p:spPr>
      </p:sp>
      <p:sp>
        <p:nvSpPr>
          <p:cNvPr id="40" name="Shape 38"/>
          <p:cNvSpPr/>
          <p:nvPr/>
        </p:nvSpPr>
        <p:spPr>
          <a:xfrm>
            <a:off x="7923539" y="2596896"/>
            <a:ext cx="201168" cy="201168"/>
          </a:xfrm>
          <a:prstGeom prst="ellipse">
            <a:avLst/>
          </a:prstGeom>
          <a:solidFill>
            <a:srgbClr val="F56600"/>
          </a:solidFill>
          <a:ln w="12700">
            <a:solidFill>
              <a:srgbClr val="FFFFFF"/>
            </a:solidFill>
            <a:prstDash val="solid"/>
          </a:ln>
        </p:spPr>
      </p:sp>
      <p:sp>
        <p:nvSpPr>
          <p:cNvPr id="41" name="Text 39"/>
          <p:cNvSpPr txBox="1"/>
          <p:nvPr/>
        </p:nvSpPr>
        <p:spPr>
          <a:xfrm>
            <a:off x="7475483" y="23682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8,5 %</a:t>
            </a:r>
            <a:endParaRPr lang="en-US" sz="800" dirty="0"/>
          </a:p>
        </p:txBody>
      </p:sp>
      <p:sp>
        <p:nvSpPr>
          <p:cNvPr id="42" name="Text 40"/>
          <p:cNvSpPr txBox="1"/>
          <p:nvPr/>
        </p:nvSpPr>
        <p:spPr>
          <a:xfrm>
            <a:off x="621792" y="30358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Mora de la PYME</a:t>
            </a:r>
            <a:endParaRPr lang="en-US" sz="950" dirty="0"/>
          </a:p>
        </p:txBody>
      </p:sp>
      <p:sp>
        <p:nvSpPr>
          <p:cNvPr id="43" name="Text 41"/>
          <p:cNvSpPr txBox="1"/>
          <p:nvPr/>
        </p:nvSpPr>
        <p:spPr>
          <a:xfrm>
            <a:off x="3017520" y="30449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3,13 %</a:t>
            </a:r>
            <a:endParaRPr lang="en-US" sz="800" dirty="0"/>
          </a:p>
        </p:txBody>
      </p:sp>
      <p:sp>
        <p:nvSpPr>
          <p:cNvPr id="44" name="Text 42"/>
          <p:cNvSpPr txBox="1"/>
          <p:nvPr/>
        </p:nvSpPr>
        <p:spPr>
          <a:xfrm>
            <a:off x="10497312" y="30449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5,38 %</a:t>
            </a:r>
            <a:endParaRPr lang="en-US" sz="800" dirty="0"/>
          </a:p>
        </p:txBody>
      </p:sp>
      <p:sp>
        <p:nvSpPr>
          <p:cNvPr id="45" name="Shape 43"/>
          <p:cNvSpPr/>
          <p:nvPr/>
        </p:nvSpPr>
        <p:spPr>
          <a:xfrm>
            <a:off x="3977640" y="3149194"/>
            <a:ext cx="6400800" cy="10973"/>
          </a:xfrm>
          <a:prstGeom prst="rect">
            <a:avLst/>
          </a:prstGeom>
          <a:solidFill>
            <a:srgbClr val="CACACA"/>
          </a:solidFill>
          <a:ln w="12700">
            <a:solidFill>
              <a:srgbClr val="CACACA"/>
            </a:solidFill>
            <a:prstDash val="solid"/>
          </a:ln>
        </p:spPr>
      </p:sp>
      <p:sp>
        <p:nvSpPr>
          <p:cNvPr id="46" name="Shape 44"/>
          <p:cNvSpPr/>
          <p:nvPr/>
        </p:nvSpPr>
        <p:spPr>
          <a:xfrm>
            <a:off x="7287050" y="3090672"/>
            <a:ext cx="128016" cy="128016"/>
          </a:xfrm>
          <a:prstGeom prst="ellipse">
            <a:avLst/>
          </a:prstGeom>
          <a:solidFill>
            <a:srgbClr val="B9B9B9"/>
          </a:solidFill>
          <a:ln w="9525">
            <a:solidFill>
              <a:srgbClr val="FFFFFF"/>
            </a:solidFill>
            <a:prstDash val="solid"/>
          </a:ln>
        </p:spPr>
      </p:sp>
      <p:sp>
        <p:nvSpPr>
          <p:cNvPr id="47" name="Shape 45"/>
          <p:cNvSpPr/>
          <p:nvPr/>
        </p:nvSpPr>
        <p:spPr>
          <a:xfrm>
            <a:off x="9585997" y="3090672"/>
            <a:ext cx="128016" cy="128016"/>
          </a:xfrm>
          <a:prstGeom prst="ellipse">
            <a:avLst/>
          </a:prstGeom>
          <a:solidFill>
            <a:srgbClr val="B9B9B9"/>
          </a:solidFill>
          <a:ln w="9525">
            <a:solidFill>
              <a:srgbClr val="FFFFFF"/>
            </a:solidFill>
            <a:prstDash val="solid"/>
          </a:ln>
        </p:spPr>
      </p:sp>
      <p:sp>
        <p:nvSpPr>
          <p:cNvPr id="48" name="Shape 46"/>
          <p:cNvSpPr/>
          <p:nvPr/>
        </p:nvSpPr>
        <p:spPr>
          <a:xfrm>
            <a:off x="8953871" y="3090672"/>
            <a:ext cx="128016" cy="128016"/>
          </a:xfrm>
          <a:prstGeom prst="ellipse">
            <a:avLst/>
          </a:prstGeom>
          <a:solidFill>
            <a:srgbClr val="B9B9B9"/>
          </a:solidFill>
          <a:ln w="9525">
            <a:solidFill>
              <a:srgbClr val="FFFFFF"/>
            </a:solidFill>
            <a:prstDash val="solid"/>
          </a:ln>
        </p:spPr>
      </p:sp>
      <p:sp>
        <p:nvSpPr>
          <p:cNvPr id="49" name="Shape 47"/>
          <p:cNvSpPr/>
          <p:nvPr/>
        </p:nvSpPr>
        <p:spPr>
          <a:xfrm>
            <a:off x="7029370" y="3090672"/>
            <a:ext cx="128016" cy="128016"/>
          </a:xfrm>
          <a:prstGeom prst="ellipse">
            <a:avLst/>
          </a:prstGeom>
          <a:solidFill>
            <a:srgbClr val="B9B9B9"/>
          </a:solidFill>
          <a:ln w="9525">
            <a:solidFill>
              <a:srgbClr val="FFFFFF"/>
            </a:solidFill>
            <a:prstDash val="solid"/>
          </a:ln>
        </p:spPr>
      </p:sp>
      <p:sp>
        <p:nvSpPr>
          <p:cNvPr id="50" name="Shape 48"/>
          <p:cNvSpPr/>
          <p:nvPr/>
        </p:nvSpPr>
        <p:spPr>
          <a:xfrm>
            <a:off x="3913632" y="3090672"/>
            <a:ext cx="128016" cy="128016"/>
          </a:xfrm>
          <a:prstGeom prst="ellipse">
            <a:avLst/>
          </a:prstGeom>
          <a:solidFill>
            <a:srgbClr val="B9B9B9"/>
          </a:solidFill>
          <a:ln w="9525">
            <a:solidFill>
              <a:srgbClr val="FFFFFF"/>
            </a:solidFill>
            <a:prstDash val="solid"/>
          </a:ln>
        </p:spPr>
      </p:sp>
      <p:sp>
        <p:nvSpPr>
          <p:cNvPr id="51" name="Shape 49"/>
          <p:cNvSpPr/>
          <p:nvPr/>
        </p:nvSpPr>
        <p:spPr>
          <a:xfrm>
            <a:off x="5745517" y="3090672"/>
            <a:ext cx="128016" cy="128016"/>
          </a:xfrm>
          <a:prstGeom prst="ellipse">
            <a:avLst/>
          </a:prstGeom>
          <a:solidFill>
            <a:srgbClr val="B9B9B9"/>
          </a:solidFill>
          <a:ln w="9525">
            <a:solidFill>
              <a:srgbClr val="FFFFFF"/>
            </a:solidFill>
            <a:prstDash val="solid"/>
          </a:ln>
        </p:spPr>
      </p:sp>
      <p:sp>
        <p:nvSpPr>
          <p:cNvPr id="52" name="Shape 50"/>
          <p:cNvSpPr/>
          <p:nvPr/>
        </p:nvSpPr>
        <p:spPr>
          <a:xfrm>
            <a:off x="10277856" y="3054096"/>
            <a:ext cx="201168" cy="201168"/>
          </a:xfrm>
          <a:prstGeom prst="ellipse">
            <a:avLst/>
          </a:prstGeom>
          <a:solidFill>
            <a:srgbClr val="F56600"/>
          </a:solidFill>
          <a:ln w="12700">
            <a:solidFill>
              <a:srgbClr val="FFFFFF"/>
            </a:solidFill>
            <a:prstDash val="solid"/>
          </a:ln>
        </p:spPr>
      </p:sp>
      <p:sp>
        <p:nvSpPr>
          <p:cNvPr id="53" name="Text 51"/>
          <p:cNvSpPr txBox="1"/>
          <p:nvPr/>
        </p:nvSpPr>
        <p:spPr>
          <a:xfrm>
            <a:off x="9829800" y="28254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5,38 %</a:t>
            </a:r>
            <a:endParaRPr lang="en-US" sz="800" dirty="0"/>
          </a:p>
        </p:txBody>
      </p:sp>
      <p:sp>
        <p:nvSpPr>
          <p:cNvPr id="54" name="Text 52"/>
          <p:cNvSpPr txBox="1"/>
          <p:nvPr/>
        </p:nvSpPr>
        <p:spPr>
          <a:xfrm>
            <a:off x="621792" y="34930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Probabilidad de impago</a:t>
            </a:r>
            <a:endParaRPr lang="en-US" sz="950" dirty="0"/>
          </a:p>
        </p:txBody>
      </p:sp>
      <p:sp>
        <p:nvSpPr>
          <p:cNvPr id="55" name="Text 53"/>
          <p:cNvSpPr txBox="1"/>
          <p:nvPr/>
        </p:nvSpPr>
        <p:spPr>
          <a:xfrm>
            <a:off x="3017520" y="35021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1,08 %</a:t>
            </a:r>
            <a:endParaRPr lang="en-US" sz="800" dirty="0"/>
          </a:p>
        </p:txBody>
      </p:sp>
      <p:sp>
        <p:nvSpPr>
          <p:cNvPr id="56" name="Text 54"/>
          <p:cNvSpPr txBox="1"/>
          <p:nvPr/>
        </p:nvSpPr>
        <p:spPr>
          <a:xfrm>
            <a:off x="10497312" y="35021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2,26 %</a:t>
            </a:r>
            <a:endParaRPr lang="en-US" sz="800" dirty="0"/>
          </a:p>
        </p:txBody>
      </p:sp>
      <p:sp>
        <p:nvSpPr>
          <p:cNvPr id="57" name="Shape 55"/>
          <p:cNvSpPr/>
          <p:nvPr/>
        </p:nvSpPr>
        <p:spPr>
          <a:xfrm>
            <a:off x="3977640" y="3606394"/>
            <a:ext cx="6400800" cy="10973"/>
          </a:xfrm>
          <a:prstGeom prst="rect">
            <a:avLst/>
          </a:prstGeom>
          <a:solidFill>
            <a:srgbClr val="CACACA"/>
          </a:solidFill>
          <a:ln w="12700">
            <a:solidFill>
              <a:srgbClr val="CACACA"/>
            </a:solidFill>
            <a:prstDash val="solid"/>
          </a:ln>
        </p:spPr>
      </p:sp>
      <p:sp>
        <p:nvSpPr>
          <p:cNvPr id="58" name="Shape 56"/>
          <p:cNvSpPr/>
          <p:nvPr/>
        </p:nvSpPr>
        <p:spPr>
          <a:xfrm>
            <a:off x="4890025" y="3547872"/>
            <a:ext cx="128016" cy="128016"/>
          </a:xfrm>
          <a:prstGeom prst="ellipse">
            <a:avLst/>
          </a:prstGeom>
          <a:solidFill>
            <a:srgbClr val="B9B9B9"/>
          </a:solidFill>
          <a:ln w="9525">
            <a:solidFill>
              <a:srgbClr val="FFFFFF"/>
            </a:solidFill>
            <a:prstDash val="solid"/>
          </a:ln>
        </p:spPr>
      </p:sp>
      <p:sp>
        <p:nvSpPr>
          <p:cNvPr id="59" name="Shape 57"/>
          <p:cNvSpPr/>
          <p:nvPr/>
        </p:nvSpPr>
        <p:spPr>
          <a:xfrm>
            <a:off x="9717747" y="3547872"/>
            <a:ext cx="128016" cy="128016"/>
          </a:xfrm>
          <a:prstGeom prst="ellipse">
            <a:avLst/>
          </a:prstGeom>
          <a:solidFill>
            <a:srgbClr val="B9B9B9"/>
          </a:solidFill>
          <a:ln w="9525">
            <a:solidFill>
              <a:srgbClr val="FFFFFF"/>
            </a:solidFill>
            <a:prstDash val="solid"/>
          </a:ln>
        </p:spPr>
      </p:sp>
      <p:sp>
        <p:nvSpPr>
          <p:cNvPr id="60" name="Shape 58"/>
          <p:cNvSpPr/>
          <p:nvPr/>
        </p:nvSpPr>
        <p:spPr>
          <a:xfrm>
            <a:off x="10314432" y="3547872"/>
            <a:ext cx="128016" cy="128016"/>
          </a:xfrm>
          <a:prstGeom prst="ellipse">
            <a:avLst/>
          </a:prstGeom>
          <a:solidFill>
            <a:srgbClr val="B9B9B9"/>
          </a:solidFill>
          <a:ln w="9525">
            <a:solidFill>
              <a:srgbClr val="FFFFFF"/>
            </a:solidFill>
            <a:prstDash val="solid"/>
          </a:ln>
        </p:spPr>
      </p:sp>
      <p:sp>
        <p:nvSpPr>
          <p:cNvPr id="61" name="Shape 59"/>
          <p:cNvSpPr/>
          <p:nvPr/>
        </p:nvSpPr>
        <p:spPr>
          <a:xfrm>
            <a:off x="4890025" y="3547872"/>
            <a:ext cx="128016" cy="128016"/>
          </a:xfrm>
          <a:prstGeom prst="ellipse">
            <a:avLst/>
          </a:prstGeom>
          <a:solidFill>
            <a:srgbClr val="B9B9B9"/>
          </a:solidFill>
          <a:ln w="9525">
            <a:solidFill>
              <a:srgbClr val="FFFFFF"/>
            </a:solidFill>
            <a:prstDash val="solid"/>
          </a:ln>
        </p:spPr>
      </p:sp>
      <p:sp>
        <p:nvSpPr>
          <p:cNvPr id="62" name="Shape 60"/>
          <p:cNvSpPr/>
          <p:nvPr/>
        </p:nvSpPr>
        <p:spPr>
          <a:xfrm>
            <a:off x="4456073" y="3547872"/>
            <a:ext cx="128016" cy="128016"/>
          </a:xfrm>
          <a:prstGeom prst="ellipse">
            <a:avLst/>
          </a:prstGeom>
          <a:solidFill>
            <a:srgbClr val="B9B9B9"/>
          </a:solidFill>
          <a:ln w="9525">
            <a:solidFill>
              <a:srgbClr val="FFFFFF"/>
            </a:solidFill>
            <a:prstDash val="solid"/>
          </a:ln>
        </p:spPr>
      </p:sp>
      <p:sp>
        <p:nvSpPr>
          <p:cNvPr id="63" name="Shape 61"/>
          <p:cNvSpPr/>
          <p:nvPr/>
        </p:nvSpPr>
        <p:spPr>
          <a:xfrm>
            <a:off x="3913632" y="3547872"/>
            <a:ext cx="128016" cy="128016"/>
          </a:xfrm>
          <a:prstGeom prst="ellipse">
            <a:avLst/>
          </a:prstGeom>
          <a:solidFill>
            <a:srgbClr val="B9B9B9"/>
          </a:solidFill>
          <a:ln w="9525">
            <a:solidFill>
              <a:srgbClr val="FFFFFF"/>
            </a:solidFill>
            <a:prstDash val="solid"/>
          </a:ln>
        </p:spPr>
      </p:sp>
      <p:sp>
        <p:nvSpPr>
          <p:cNvPr id="64" name="Shape 62"/>
          <p:cNvSpPr/>
          <p:nvPr/>
        </p:nvSpPr>
        <p:spPr>
          <a:xfrm>
            <a:off x="7402920" y="3511296"/>
            <a:ext cx="201168" cy="201168"/>
          </a:xfrm>
          <a:prstGeom prst="ellipse">
            <a:avLst/>
          </a:prstGeom>
          <a:solidFill>
            <a:srgbClr val="F56600"/>
          </a:solidFill>
          <a:ln w="12700">
            <a:solidFill>
              <a:srgbClr val="FFFFFF"/>
            </a:solidFill>
            <a:prstDash val="solid"/>
          </a:ln>
        </p:spPr>
      </p:sp>
      <p:sp>
        <p:nvSpPr>
          <p:cNvPr id="65" name="Text 63"/>
          <p:cNvSpPr txBox="1"/>
          <p:nvPr/>
        </p:nvSpPr>
        <p:spPr>
          <a:xfrm>
            <a:off x="6954864" y="32826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1,73 %</a:t>
            </a:r>
            <a:endParaRPr lang="en-US" sz="800" dirty="0"/>
          </a:p>
        </p:txBody>
      </p:sp>
      <p:sp>
        <p:nvSpPr>
          <p:cNvPr id="66" name="Text 64"/>
          <p:cNvSpPr txBox="1"/>
          <p:nvPr/>
        </p:nvSpPr>
        <p:spPr>
          <a:xfrm>
            <a:off x="621792" y="39502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Severidad de la pérdida</a:t>
            </a:r>
            <a:endParaRPr lang="en-US" sz="950" dirty="0"/>
          </a:p>
        </p:txBody>
      </p:sp>
      <p:sp>
        <p:nvSpPr>
          <p:cNvPr id="67" name="Text 65"/>
          <p:cNvSpPr txBox="1"/>
          <p:nvPr/>
        </p:nvSpPr>
        <p:spPr>
          <a:xfrm>
            <a:off x="3017520" y="39593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29,7 %</a:t>
            </a:r>
            <a:endParaRPr lang="en-US" sz="800" dirty="0"/>
          </a:p>
        </p:txBody>
      </p:sp>
      <p:sp>
        <p:nvSpPr>
          <p:cNvPr id="68" name="Text 66"/>
          <p:cNvSpPr txBox="1"/>
          <p:nvPr/>
        </p:nvSpPr>
        <p:spPr>
          <a:xfrm>
            <a:off x="10497312" y="39593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40,0 %</a:t>
            </a:r>
            <a:endParaRPr lang="en-US" sz="800" dirty="0"/>
          </a:p>
        </p:txBody>
      </p:sp>
      <p:sp>
        <p:nvSpPr>
          <p:cNvPr id="69" name="Shape 67"/>
          <p:cNvSpPr/>
          <p:nvPr/>
        </p:nvSpPr>
        <p:spPr>
          <a:xfrm>
            <a:off x="3977640" y="4063594"/>
            <a:ext cx="6400800" cy="10973"/>
          </a:xfrm>
          <a:prstGeom prst="rect">
            <a:avLst/>
          </a:prstGeom>
          <a:solidFill>
            <a:srgbClr val="CACACA"/>
          </a:solidFill>
          <a:ln w="12700">
            <a:solidFill>
              <a:srgbClr val="CACACA"/>
            </a:solidFill>
            <a:prstDash val="solid"/>
          </a:ln>
        </p:spPr>
      </p:sp>
      <p:sp>
        <p:nvSpPr>
          <p:cNvPr id="70" name="Shape 68"/>
          <p:cNvSpPr/>
          <p:nvPr/>
        </p:nvSpPr>
        <p:spPr>
          <a:xfrm>
            <a:off x="4994932" y="4005072"/>
            <a:ext cx="128016" cy="128016"/>
          </a:xfrm>
          <a:prstGeom prst="ellipse">
            <a:avLst/>
          </a:prstGeom>
          <a:solidFill>
            <a:srgbClr val="B9B9B9"/>
          </a:solidFill>
          <a:ln w="9525">
            <a:solidFill>
              <a:srgbClr val="FFFFFF"/>
            </a:solidFill>
            <a:prstDash val="solid"/>
          </a:ln>
        </p:spPr>
      </p:sp>
      <p:sp>
        <p:nvSpPr>
          <p:cNvPr id="71" name="Shape 69"/>
          <p:cNvSpPr/>
          <p:nvPr/>
        </p:nvSpPr>
        <p:spPr>
          <a:xfrm>
            <a:off x="5038433" y="4005072"/>
            <a:ext cx="128016" cy="128016"/>
          </a:xfrm>
          <a:prstGeom prst="ellipse">
            <a:avLst/>
          </a:prstGeom>
          <a:solidFill>
            <a:srgbClr val="B9B9B9"/>
          </a:solidFill>
          <a:ln w="9525">
            <a:solidFill>
              <a:srgbClr val="FFFFFF"/>
            </a:solidFill>
            <a:prstDash val="solid"/>
          </a:ln>
        </p:spPr>
      </p:sp>
      <p:sp>
        <p:nvSpPr>
          <p:cNvPr id="72" name="Shape 70"/>
          <p:cNvSpPr/>
          <p:nvPr/>
        </p:nvSpPr>
        <p:spPr>
          <a:xfrm>
            <a:off x="7580110" y="4005072"/>
            <a:ext cx="128016" cy="128016"/>
          </a:xfrm>
          <a:prstGeom prst="ellipse">
            <a:avLst/>
          </a:prstGeom>
          <a:solidFill>
            <a:srgbClr val="B9B9B9"/>
          </a:solidFill>
          <a:ln w="9525">
            <a:solidFill>
              <a:srgbClr val="FFFFFF"/>
            </a:solidFill>
            <a:prstDash val="solid"/>
          </a:ln>
        </p:spPr>
      </p:sp>
      <p:sp>
        <p:nvSpPr>
          <p:cNvPr id="73" name="Shape 71"/>
          <p:cNvSpPr/>
          <p:nvPr/>
        </p:nvSpPr>
        <p:spPr>
          <a:xfrm>
            <a:off x="10314432" y="4005072"/>
            <a:ext cx="128016" cy="128016"/>
          </a:xfrm>
          <a:prstGeom prst="ellipse">
            <a:avLst/>
          </a:prstGeom>
          <a:solidFill>
            <a:srgbClr val="B9B9B9"/>
          </a:solidFill>
          <a:ln w="9525">
            <a:solidFill>
              <a:srgbClr val="FFFFFF"/>
            </a:solidFill>
            <a:prstDash val="solid"/>
          </a:ln>
        </p:spPr>
      </p:sp>
      <p:sp>
        <p:nvSpPr>
          <p:cNvPr id="74" name="Shape 72"/>
          <p:cNvSpPr/>
          <p:nvPr/>
        </p:nvSpPr>
        <p:spPr>
          <a:xfrm>
            <a:off x="3913632" y="4005072"/>
            <a:ext cx="128016" cy="128016"/>
          </a:xfrm>
          <a:prstGeom prst="ellipse">
            <a:avLst/>
          </a:prstGeom>
          <a:solidFill>
            <a:srgbClr val="B9B9B9"/>
          </a:solidFill>
          <a:ln w="9525">
            <a:solidFill>
              <a:srgbClr val="FFFFFF"/>
            </a:solidFill>
            <a:prstDash val="solid"/>
          </a:ln>
        </p:spPr>
      </p:sp>
      <p:sp>
        <p:nvSpPr>
          <p:cNvPr id="75" name="Shape 73"/>
          <p:cNvSpPr/>
          <p:nvPr/>
        </p:nvSpPr>
        <p:spPr>
          <a:xfrm>
            <a:off x="8661410" y="4005072"/>
            <a:ext cx="128016" cy="128016"/>
          </a:xfrm>
          <a:prstGeom prst="ellipse">
            <a:avLst/>
          </a:prstGeom>
          <a:solidFill>
            <a:srgbClr val="B9B9B9"/>
          </a:solidFill>
          <a:ln w="9525">
            <a:solidFill>
              <a:srgbClr val="FFFFFF"/>
            </a:solidFill>
            <a:prstDash val="solid"/>
          </a:ln>
        </p:spPr>
      </p:sp>
      <p:sp>
        <p:nvSpPr>
          <p:cNvPr id="76" name="Shape 74"/>
          <p:cNvSpPr/>
          <p:nvPr/>
        </p:nvSpPr>
        <p:spPr>
          <a:xfrm>
            <a:off x="6785381" y="3968496"/>
            <a:ext cx="201168" cy="201168"/>
          </a:xfrm>
          <a:prstGeom prst="ellipse">
            <a:avLst/>
          </a:prstGeom>
          <a:solidFill>
            <a:srgbClr val="F56600"/>
          </a:solidFill>
          <a:ln w="12700">
            <a:solidFill>
              <a:srgbClr val="FFFFFF"/>
            </a:solidFill>
            <a:prstDash val="solid"/>
          </a:ln>
        </p:spPr>
      </p:sp>
      <p:sp>
        <p:nvSpPr>
          <p:cNvPr id="77" name="Text 75"/>
          <p:cNvSpPr txBox="1"/>
          <p:nvPr/>
        </p:nvSpPr>
        <p:spPr>
          <a:xfrm>
            <a:off x="6337325" y="37398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34,4 %</a:t>
            </a:r>
            <a:endParaRPr lang="en-US" sz="800" dirty="0"/>
          </a:p>
        </p:txBody>
      </p:sp>
      <p:sp>
        <p:nvSpPr>
          <p:cNvPr id="78" name="Text 76"/>
          <p:cNvSpPr txBox="1"/>
          <p:nvPr/>
        </p:nvSpPr>
        <p:spPr>
          <a:xfrm>
            <a:off x="621792" y="44074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Densidad de RWA</a:t>
            </a:r>
            <a:endParaRPr lang="en-US" sz="950" dirty="0"/>
          </a:p>
        </p:txBody>
      </p:sp>
      <p:sp>
        <p:nvSpPr>
          <p:cNvPr id="79" name="Text 77"/>
          <p:cNvSpPr txBox="1"/>
          <p:nvPr/>
        </p:nvSpPr>
        <p:spPr>
          <a:xfrm>
            <a:off x="3017520" y="44165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35,3 %</a:t>
            </a:r>
            <a:endParaRPr lang="en-US" sz="800" dirty="0"/>
          </a:p>
        </p:txBody>
      </p:sp>
      <p:sp>
        <p:nvSpPr>
          <p:cNvPr id="80" name="Text 78"/>
          <p:cNvSpPr txBox="1"/>
          <p:nvPr/>
        </p:nvSpPr>
        <p:spPr>
          <a:xfrm>
            <a:off x="10497312" y="44165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70,0 %</a:t>
            </a:r>
            <a:endParaRPr lang="en-US" sz="800" dirty="0"/>
          </a:p>
        </p:txBody>
      </p:sp>
      <p:sp>
        <p:nvSpPr>
          <p:cNvPr id="81" name="Shape 79"/>
          <p:cNvSpPr/>
          <p:nvPr/>
        </p:nvSpPr>
        <p:spPr>
          <a:xfrm>
            <a:off x="3977640" y="4520794"/>
            <a:ext cx="6400800" cy="10973"/>
          </a:xfrm>
          <a:prstGeom prst="rect">
            <a:avLst/>
          </a:prstGeom>
          <a:solidFill>
            <a:srgbClr val="CACACA"/>
          </a:solidFill>
          <a:ln w="12700">
            <a:solidFill>
              <a:srgbClr val="CACACA"/>
            </a:solidFill>
            <a:prstDash val="solid"/>
          </a:ln>
        </p:spPr>
      </p:sp>
      <p:sp>
        <p:nvSpPr>
          <p:cNvPr id="82" name="Shape 80"/>
          <p:cNvSpPr/>
          <p:nvPr/>
        </p:nvSpPr>
        <p:spPr>
          <a:xfrm>
            <a:off x="3913632" y="4462272"/>
            <a:ext cx="128016" cy="128016"/>
          </a:xfrm>
          <a:prstGeom prst="ellipse">
            <a:avLst/>
          </a:prstGeom>
          <a:solidFill>
            <a:srgbClr val="B9B9B9"/>
          </a:solidFill>
          <a:ln w="9525">
            <a:solidFill>
              <a:srgbClr val="FFFFFF"/>
            </a:solidFill>
            <a:prstDash val="solid"/>
          </a:ln>
        </p:spPr>
      </p:sp>
      <p:sp>
        <p:nvSpPr>
          <p:cNvPr id="83" name="Shape 81"/>
          <p:cNvSpPr/>
          <p:nvPr/>
        </p:nvSpPr>
        <p:spPr>
          <a:xfrm>
            <a:off x="5333982" y="4462272"/>
            <a:ext cx="128016" cy="128016"/>
          </a:xfrm>
          <a:prstGeom prst="ellipse">
            <a:avLst/>
          </a:prstGeom>
          <a:solidFill>
            <a:srgbClr val="B9B9B9"/>
          </a:solidFill>
          <a:ln w="9525">
            <a:solidFill>
              <a:srgbClr val="FFFFFF"/>
            </a:solidFill>
            <a:prstDash val="solid"/>
          </a:ln>
        </p:spPr>
      </p:sp>
      <p:sp>
        <p:nvSpPr>
          <p:cNvPr id="84" name="Shape 82"/>
          <p:cNvSpPr/>
          <p:nvPr/>
        </p:nvSpPr>
        <p:spPr>
          <a:xfrm>
            <a:off x="5942704" y="4462272"/>
            <a:ext cx="128016" cy="128016"/>
          </a:xfrm>
          <a:prstGeom prst="ellipse">
            <a:avLst/>
          </a:prstGeom>
          <a:solidFill>
            <a:srgbClr val="B9B9B9"/>
          </a:solidFill>
          <a:ln w="9525">
            <a:solidFill>
              <a:srgbClr val="FFFFFF"/>
            </a:solidFill>
            <a:prstDash val="solid"/>
          </a:ln>
        </p:spPr>
      </p:sp>
      <p:sp>
        <p:nvSpPr>
          <p:cNvPr id="85" name="Shape 83"/>
          <p:cNvSpPr/>
          <p:nvPr/>
        </p:nvSpPr>
        <p:spPr>
          <a:xfrm>
            <a:off x="8709620" y="4462272"/>
            <a:ext cx="128016" cy="128016"/>
          </a:xfrm>
          <a:prstGeom prst="ellipse">
            <a:avLst/>
          </a:prstGeom>
          <a:solidFill>
            <a:srgbClr val="B9B9B9"/>
          </a:solidFill>
          <a:ln w="9525">
            <a:solidFill>
              <a:srgbClr val="FFFFFF"/>
            </a:solidFill>
            <a:prstDash val="solid"/>
          </a:ln>
        </p:spPr>
      </p:sp>
      <p:sp>
        <p:nvSpPr>
          <p:cNvPr id="86" name="Shape 84"/>
          <p:cNvSpPr/>
          <p:nvPr/>
        </p:nvSpPr>
        <p:spPr>
          <a:xfrm>
            <a:off x="4264108" y="4462272"/>
            <a:ext cx="128016" cy="128016"/>
          </a:xfrm>
          <a:prstGeom prst="ellipse">
            <a:avLst/>
          </a:prstGeom>
          <a:solidFill>
            <a:srgbClr val="B9B9B9"/>
          </a:solidFill>
          <a:ln w="9525">
            <a:solidFill>
              <a:srgbClr val="FFFFFF"/>
            </a:solidFill>
            <a:prstDash val="solid"/>
          </a:ln>
        </p:spPr>
      </p:sp>
      <p:sp>
        <p:nvSpPr>
          <p:cNvPr id="87" name="Shape 85"/>
          <p:cNvSpPr/>
          <p:nvPr/>
        </p:nvSpPr>
        <p:spPr>
          <a:xfrm>
            <a:off x="10314432" y="4462272"/>
            <a:ext cx="128016" cy="128016"/>
          </a:xfrm>
          <a:prstGeom prst="ellipse">
            <a:avLst/>
          </a:prstGeom>
          <a:solidFill>
            <a:srgbClr val="B9B9B9"/>
          </a:solidFill>
          <a:ln w="9525">
            <a:solidFill>
              <a:srgbClr val="FFFFFF"/>
            </a:solidFill>
            <a:prstDash val="solid"/>
          </a:ln>
        </p:spPr>
      </p:sp>
      <p:sp>
        <p:nvSpPr>
          <p:cNvPr id="88" name="Shape 86"/>
          <p:cNvSpPr/>
          <p:nvPr/>
        </p:nvSpPr>
        <p:spPr>
          <a:xfrm>
            <a:off x="8341015" y="4425696"/>
            <a:ext cx="201168" cy="201168"/>
          </a:xfrm>
          <a:prstGeom prst="ellipse">
            <a:avLst/>
          </a:prstGeom>
          <a:solidFill>
            <a:srgbClr val="F56600"/>
          </a:solidFill>
          <a:ln w="12700">
            <a:solidFill>
              <a:srgbClr val="FFFFFF"/>
            </a:solidFill>
            <a:prstDash val="solid"/>
          </a:ln>
        </p:spPr>
      </p:sp>
      <p:sp>
        <p:nvSpPr>
          <p:cNvPr id="89" name="Text 87"/>
          <p:cNvSpPr txBox="1"/>
          <p:nvPr/>
        </p:nvSpPr>
        <p:spPr>
          <a:xfrm>
            <a:off x="7892959" y="41970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59,5 %</a:t>
            </a:r>
            <a:endParaRPr lang="en-US" sz="800" dirty="0"/>
          </a:p>
        </p:txBody>
      </p:sp>
      <p:sp>
        <p:nvSpPr>
          <p:cNvPr id="90" name="Text 88"/>
          <p:cNvSpPr txBox="1"/>
          <p:nvPr/>
        </p:nvSpPr>
        <p:spPr>
          <a:xfrm>
            <a:off x="621792" y="48646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Factoring sobre PIB</a:t>
            </a:r>
            <a:endParaRPr lang="en-US" sz="950" dirty="0"/>
          </a:p>
        </p:txBody>
      </p:sp>
      <p:sp>
        <p:nvSpPr>
          <p:cNvPr id="91" name="Text 89"/>
          <p:cNvSpPr txBox="1"/>
          <p:nvPr/>
        </p:nvSpPr>
        <p:spPr>
          <a:xfrm>
            <a:off x="3017520" y="48737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4,5 %</a:t>
            </a:r>
            <a:endParaRPr lang="en-US" sz="800" dirty="0"/>
          </a:p>
        </p:txBody>
      </p:sp>
      <p:sp>
        <p:nvSpPr>
          <p:cNvPr id="92" name="Text 90"/>
          <p:cNvSpPr txBox="1"/>
          <p:nvPr/>
        </p:nvSpPr>
        <p:spPr>
          <a:xfrm>
            <a:off x="10497312" y="48737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20,7 %</a:t>
            </a:r>
            <a:endParaRPr lang="en-US" sz="800" dirty="0"/>
          </a:p>
        </p:txBody>
      </p:sp>
      <p:sp>
        <p:nvSpPr>
          <p:cNvPr id="93" name="Shape 91"/>
          <p:cNvSpPr/>
          <p:nvPr/>
        </p:nvSpPr>
        <p:spPr>
          <a:xfrm>
            <a:off x="3977640" y="4977994"/>
            <a:ext cx="6400800" cy="10973"/>
          </a:xfrm>
          <a:prstGeom prst="rect">
            <a:avLst/>
          </a:prstGeom>
          <a:solidFill>
            <a:srgbClr val="CACACA"/>
          </a:solidFill>
          <a:ln w="12700">
            <a:solidFill>
              <a:srgbClr val="CACACA"/>
            </a:solidFill>
            <a:prstDash val="solid"/>
          </a:ln>
        </p:spPr>
      </p:sp>
      <p:sp>
        <p:nvSpPr>
          <p:cNvPr id="94" name="Shape 92"/>
          <p:cNvSpPr/>
          <p:nvPr/>
        </p:nvSpPr>
        <p:spPr>
          <a:xfrm>
            <a:off x="5889188" y="4919472"/>
            <a:ext cx="128016" cy="128016"/>
          </a:xfrm>
          <a:prstGeom prst="ellipse">
            <a:avLst/>
          </a:prstGeom>
          <a:solidFill>
            <a:srgbClr val="B9B9B9"/>
          </a:solidFill>
          <a:ln w="9525">
            <a:solidFill>
              <a:srgbClr val="FFFFFF"/>
            </a:solidFill>
            <a:prstDash val="solid"/>
          </a:ln>
        </p:spPr>
      </p:sp>
      <p:sp>
        <p:nvSpPr>
          <p:cNvPr id="95" name="Shape 93"/>
          <p:cNvSpPr/>
          <p:nvPr/>
        </p:nvSpPr>
        <p:spPr>
          <a:xfrm>
            <a:off x="7983276" y="4919472"/>
            <a:ext cx="128016" cy="128016"/>
          </a:xfrm>
          <a:prstGeom prst="ellipse">
            <a:avLst/>
          </a:prstGeom>
          <a:solidFill>
            <a:srgbClr val="B9B9B9"/>
          </a:solidFill>
          <a:ln w="9525">
            <a:solidFill>
              <a:srgbClr val="FFFFFF"/>
            </a:solidFill>
            <a:prstDash val="solid"/>
          </a:ln>
        </p:spPr>
      </p:sp>
      <p:sp>
        <p:nvSpPr>
          <p:cNvPr id="96" name="Shape 94"/>
          <p:cNvSpPr/>
          <p:nvPr/>
        </p:nvSpPr>
        <p:spPr>
          <a:xfrm>
            <a:off x="7351099" y="4919472"/>
            <a:ext cx="128016" cy="128016"/>
          </a:xfrm>
          <a:prstGeom prst="ellipse">
            <a:avLst/>
          </a:prstGeom>
          <a:solidFill>
            <a:srgbClr val="B9B9B9"/>
          </a:solidFill>
          <a:ln w="9525">
            <a:solidFill>
              <a:srgbClr val="FFFFFF"/>
            </a:solidFill>
            <a:prstDash val="solid"/>
          </a:ln>
        </p:spPr>
      </p:sp>
      <p:sp>
        <p:nvSpPr>
          <p:cNvPr id="97" name="Shape 95"/>
          <p:cNvSpPr/>
          <p:nvPr/>
        </p:nvSpPr>
        <p:spPr>
          <a:xfrm>
            <a:off x="10314432" y="4919472"/>
            <a:ext cx="128016" cy="128016"/>
          </a:xfrm>
          <a:prstGeom prst="ellipse">
            <a:avLst/>
          </a:prstGeom>
          <a:solidFill>
            <a:srgbClr val="B9B9B9"/>
          </a:solidFill>
          <a:ln w="9525">
            <a:solidFill>
              <a:srgbClr val="FFFFFF"/>
            </a:solidFill>
            <a:prstDash val="solid"/>
          </a:ln>
        </p:spPr>
      </p:sp>
      <p:sp>
        <p:nvSpPr>
          <p:cNvPr id="98" name="Shape 96"/>
          <p:cNvSpPr/>
          <p:nvPr/>
        </p:nvSpPr>
        <p:spPr>
          <a:xfrm>
            <a:off x="7667188" y="4919472"/>
            <a:ext cx="128016" cy="128016"/>
          </a:xfrm>
          <a:prstGeom prst="ellipse">
            <a:avLst/>
          </a:prstGeom>
          <a:solidFill>
            <a:srgbClr val="B9B9B9"/>
          </a:solidFill>
          <a:ln w="9525">
            <a:solidFill>
              <a:srgbClr val="FFFFFF"/>
            </a:solidFill>
            <a:prstDash val="solid"/>
          </a:ln>
        </p:spPr>
      </p:sp>
      <p:sp>
        <p:nvSpPr>
          <p:cNvPr id="99" name="Shape 97"/>
          <p:cNvSpPr/>
          <p:nvPr/>
        </p:nvSpPr>
        <p:spPr>
          <a:xfrm>
            <a:off x="3913632" y="4919472"/>
            <a:ext cx="128016" cy="128016"/>
          </a:xfrm>
          <a:prstGeom prst="ellipse">
            <a:avLst/>
          </a:prstGeom>
          <a:solidFill>
            <a:srgbClr val="B9B9B9"/>
          </a:solidFill>
          <a:ln w="9525">
            <a:solidFill>
              <a:srgbClr val="FFFFFF"/>
            </a:solidFill>
            <a:prstDash val="solid"/>
          </a:ln>
        </p:spPr>
      </p:sp>
      <p:sp>
        <p:nvSpPr>
          <p:cNvPr id="100" name="Shape 98"/>
          <p:cNvSpPr/>
          <p:nvPr/>
        </p:nvSpPr>
        <p:spPr>
          <a:xfrm>
            <a:off x="8618389" y="4882896"/>
            <a:ext cx="201168" cy="201168"/>
          </a:xfrm>
          <a:prstGeom prst="ellipse">
            <a:avLst/>
          </a:prstGeom>
          <a:solidFill>
            <a:srgbClr val="F56600"/>
          </a:solidFill>
          <a:ln w="12700">
            <a:solidFill>
              <a:srgbClr val="FFFFFF"/>
            </a:solidFill>
            <a:prstDash val="solid"/>
          </a:ln>
        </p:spPr>
      </p:sp>
      <p:sp>
        <p:nvSpPr>
          <p:cNvPr id="101" name="Text 99"/>
          <p:cNvSpPr txBox="1"/>
          <p:nvPr/>
        </p:nvSpPr>
        <p:spPr>
          <a:xfrm>
            <a:off x="8170333" y="46542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16,5 %</a:t>
            </a:r>
            <a:endParaRPr lang="en-US" sz="800" dirty="0"/>
          </a:p>
        </p:txBody>
      </p:sp>
      <p:sp>
        <p:nvSpPr>
          <p:cNvPr id="102" name="Text 100"/>
          <p:cNvSpPr txBox="1"/>
          <p:nvPr/>
        </p:nvSpPr>
        <p:spPr>
          <a:xfrm>
            <a:off x="621792" y="5321808"/>
            <a:ext cx="2331720" cy="237744"/>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Recuperación en concurso</a:t>
            </a:r>
            <a:endParaRPr lang="en-US" sz="950" dirty="0"/>
          </a:p>
        </p:txBody>
      </p:sp>
      <p:sp>
        <p:nvSpPr>
          <p:cNvPr id="103" name="Text 101"/>
          <p:cNvSpPr txBox="1"/>
          <p:nvPr/>
        </p:nvSpPr>
        <p:spPr>
          <a:xfrm>
            <a:off x="3017520" y="5330952"/>
            <a:ext cx="841248" cy="219456"/>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64,8</a:t>
            </a:r>
            <a:endParaRPr lang="en-US" sz="800" dirty="0"/>
          </a:p>
        </p:txBody>
      </p:sp>
      <p:sp>
        <p:nvSpPr>
          <p:cNvPr id="104" name="Text 102"/>
          <p:cNvSpPr txBox="1"/>
          <p:nvPr/>
        </p:nvSpPr>
        <p:spPr>
          <a:xfrm>
            <a:off x="10497312" y="5330952"/>
            <a:ext cx="868680" cy="21945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90,1</a:t>
            </a:r>
            <a:endParaRPr lang="en-US" sz="800" dirty="0"/>
          </a:p>
        </p:txBody>
      </p:sp>
      <p:sp>
        <p:nvSpPr>
          <p:cNvPr id="105" name="Shape 103"/>
          <p:cNvSpPr/>
          <p:nvPr/>
        </p:nvSpPr>
        <p:spPr>
          <a:xfrm>
            <a:off x="3977640" y="5435194"/>
            <a:ext cx="6400800" cy="10973"/>
          </a:xfrm>
          <a:prstGeom prst="rect">
            <a:avLst/>
          </a:prstGeom>
          <a:solidFill>
            <a:srgbClr val="CACACA"/>
          </a:solidFill>
          <a:ln w="12700">
            <a:solidFill>
              <a:srgbClr val="CACACA"/>
            </a:solidFill>
            <a:prstDash val="solid"/>
          </a:ln>
        </p:spPr>
      </p:sp>
      <p:sp>
        <p:nvSpPr>
          <p:cNvPr id="106" name="Shape 104"/>
          <p:cNvSpPr/>
          <p:nvPr/>
        </p:nvSpPr>
        <p:spPr>
          <a:xfrm>
            <a:off x="7708573" y="5376672"/>
            <a:ext cx="128016" cy="128016"/>
          </a:xfrm>
          <a:prstGeom prst="ellipse">
            <a:avLst/>
          </a:prstGeom>
          <a:solidFill>
            <a:srgbClr val="B9B9B9"/>
          </a:solidFill>
          <a:ln w="9525">
            <a:solidFill>
              <a:srgbClr val="FFFFFF"/>
            </a:solidFill>
            <a:prstDash val="solid"/>
          </a:ln>
        </p:spPr>
      </p:sp>
      <p:sp>
        <p:nvSpPr>
          <p:cNvPr id="107" name="Shape 105"/>
          <p:cNvSpPr/>
          <p:nvPr/>
        </p:nvSpPr>
        <p:spPr>
          <a:xfrm>
            <a:off x="6443592" y="5376672"/>
            <a:ext cx="128016" cy="128016"/>
          </a:xfrm>
          <a:prstGeom prst="ellipse">
            <a:avLst/>
          </a:prstGeom>
          <a:solidFill>
            <a:srgbClr val="B9B9B9"/>
          </a:solidFill>
          <a:ln w="9525">
            <a:solidFill>
              <a:srgbClr val="FFFFFF"/>
            </a:solidFill>
            <a:prstDash val="solid"/>
          </a:ln>
        </p:spPr>
      </p:sp>
      <p:sp>
        <p:nvSpPr>
          <p:cNvPr id="108" name="Shape 106"/>
          <p:cNvSpPr/>
          <p:nvPr/>
        </p:nvSpPr>
        <p:spPr>
          <a:xfrm>
            <a:off x="4116029" y="5376672"/>
            <a:ext cx="128016" cy="128016"/>
          </a:xfrm>
          <a:prstGeom prst="ellipse">
            <a:avLst/>
          </a:prstGeom>
          <a:solidFill>
            <a:srgbClr val="B9B9B9"/>
          </a:solidFill>
          <a:ln w="9525">
            <a:solidFill>
              <a:srgbClr val="FFFFFF"/>
            </a:solidFill>
            <a:prstDash val="solid"/>
          </a:ln>
        </p:spPr>
      </p:sp>
      <p:sp>
        <p:nvSpPr>
          <p:cNvPr id="109" name="Shape 107"/>
          <p:cNvSpPr/>
          <p:nvPr/>
        </p:nvSpPr>
        <p:spPr>
          <a:xfrm>
            <a:off x="3913632" y="5376672"/>
            <a:ext cx="128016" cy="128016"/>
          </a:xfrm>
          <a:prstGeom prst="ellipse">
            <a:avLst/>
          </a:prstGeom>
          <a:solidFill>
            <a:srgbClr val="B9B9B9"/>
          </a:solidFill>
          <a:ln w="9525">
            <a:solidFill>
              <a:srgbClr val="FFFFFF"/>
            </a:solidFill>
            <a:prstDash val="solid"/>
          </a:ln>
        </p:spPr>
      </p:sp>
      <p:sp>
        <p:nvSpPr>
          <p:cNvPr id="110" name="Shape 108"/>
          <p:cNvSpPr/>
          <p:nvPr/>
        </p:nvSpPr>
        <p:spPr>
          <a:xfrm>
            <a:off x="10314432" y="5376672"/>
            <a:ext cx="128016" cy="128016"/>
          </a:xfrm>
          <a:prstGeom prst="ellipse">
            <a:avLst/>
          </a:prstGeom>
          <a:solidFill>
            <a:srgbClr val="B9B9B9"/>
          </a:solidFill>
          <a:ln w="9525">
            <a:solidFill>
              <a:srgbClr val="FFFFFF"/>
            </a:solidFill>
            <a:prstDash val="solid"/>
          </a:ln>
        </p:spPr>
      </p:sp>
      <p:sp>
        <p:nvSpPr>
          <p:cNvPr id="111" name="Shape 109"/>
          <p:cNvSpPr/>
          <p:nvPr/>
        </p:nvSpPr>
        <p:spPr>
          <a:xfrm>
            <a:off x="9302448" y="5376672"/>
            <a:ext cx="128016" cy="128016"/>
          </a:xfrm>
          <a:prstGeom prst="ellipse">
            <a:avLst/>
          </a:prstGeom>
          <a:solidFill>
            <a:srgbClr val="B9B9B9"/>
          </a:solidFill>
          <a:ln w="9525">
            <a:solidFill>
              <a:srgbClr val="FFFFFF"/>
            </a:solidFill>
            <a:prstDash val="solid"/>
          </a:ln>
        </p:spPr>
      </p:sp>
      <p:sp>
        <p:nvSpPr>
          <p:cNvPr id="112" name="Shape 110"/>
          <p:cNvSpPr/>
          <p:nvPr/>
        </p:nvSpPr>
        <p:spPr>
          <a:xfrm>
            <a:off x="7090106" y="5340096"/>
            <a:ext cx="201168" cy="201168"/>
          </a:xfrm>
          <a:prstGeom prst="ellipse">
            <a:avLst/>
          </a:prstGeom>
          <a:solidFill>
            <a:srgbClr val="F56600"/>
          </a:solidFill>
          <a:ln w="12700">
            <a:solidFill>
              <a:srgbClr val="FFFFFF"/>
            </a:solidFill>
            <a:prstDash val="solid"/>
          </a:ln>
        </p:spPr>
      </p:sp>
      <p:sp>
        <p:nvSpPr>
          <p:cNvPr id="113" name="Text 111"/>
          <p:cNvSpPr txBox="1"/>
          <p:nvPr/>
        </p:nvSpPr>
        <p:spPr>
          <a:xfrm>
            <a:off x="6642050" y="5111496"/>
            <a:ext cx="1097280" cy="182880"/>
          </a:xfrm>
          <a:prstGeom prst="rect">
            <a:avLst/>
          </a:prstGeom>
          <a:noFill/>
          <a:ln/>
        </p:spPr>
        <p:txBody>
          <a:bodyPr wrap="square" lIns="0" tIns="0" rIns="0" bIns="0" rtlCol="0" anchor="ctr"/>
          <a:lstStyle/>
          <a:p>
            <a:pPr algn="ctr" indent="0" marL="0">
              <a:buNone/>
            </a:pPr>
            <a:r>
              <a:rPr lang="en-US" sz="800" b="1" dirty="0">
                <a:solidFill>
                  <a:srgbClr val="F56600"/>
                </a:solidFill>
                <a:latin typeface="Verdana" pitchFamily="34" charset="0"/>
                <a:ea typeface="Verdana" pitchFamily="34" charset="-122"/>
                <a:cs typeface="Verdana" pitchFamily="34" charset="-120"/>
              </a:rPr>
              <a:t>77,5</a:t>
            </a:r>
            <a:endParaRPr lang="en-US" sz="800" dirty="0"/>
          </a:p>
        </p:txBody>
      </p:sp>
      <p:sp>
        <p:nvSpPr>
          <p:cNvPr id="114" name="Text 112"/>
          <p:cNvSpPr txBox="1"/>
          <p:nvPr/>
        </p:nvSpPr>
        <p:spPr>
          <a:xfrm>
            <a:off x="621792" y="5852160"/>
            <a:ext cx="10945368" cy="20116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España está entre los dos valores más altos en: mora de la PYME; factoring sobre PIB. Tiene el más bajo de los siete en: precio del préstamo ≤1 M€; prima PYME, últimos 12 meses.</a:t>
            </a:r>
            <a:endParaRPr lang="en-US" sz="900" dirty="0"/>
          </a:p>
        </p:txBody>
      </p:sp>
      <p:sp>
        <p:nvSpPr>
          <p:cNvPr id="115" name="Text 1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Mismos nueve indicadores y fuentes que la lámina anterior. La posición es relativa a los siete países: el extremo derecho es el valor más alto, no el mejor.</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y acceso: el crédito llega, pero no se paga igual en todas partes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Tres observaciones sobre datos observados · Cada una con su fuente y su definición de PYME</a:t>
            </a:r>
            <a:endParaRPr lang="en-US" sz="1050" dirty="0"/>
          </a:p>
        </p:txBody>
      </p:sp>
      <p:sp>
        <p:nvSpPr>
          <p:cNvPr id="6" name="Shape 4"/>
          <p:cNvSpPr/>
          <p:nvPr/>
        </p:nvSpPr>
        <p:spPr>
          <a:xfrm>
            <a:off x="621792" y="1600200"/>
            <a:ext cx="3520440" cy="4160520"/>
          </a:xfrm>
          <a:prstGeom prst="roundRect">
            <a:avLst>
              <a:gd name="adj" fmla="val 1299"/>
            </a:avLst>
          </a:prstGeom>
          <a:solidFill>
            <a:srgbClr val="F2F4F6"/>
          </a:solidFill>
          <a:ln w="12700">
            <a:solidFill>
              <a:srgbClr val="F2F4F6"/>
            </a:solidFill>
            <a:prstDash val="solid"/>
          </a:ln>
        </p:spPr>
      </p:sp>
      <p:sp>
        <p:nvSpPr>
          <p:cNvPr id="7" name="Text 5"/>
          <p:cNvSpPr txBox="1"/>
          <p:nvPr/>
        </p:nvSpPr>
        <p:spPr>
          <a:xfrm>
            <a:off x="850392"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−0,03 pp</a:t>
            </a:r>
            <a:endParaRPr lang="en-US" sz="3400" dirty="0"/>
          </a:p>
        </p:txBody>
      </p:sp>
      <p:sp>
        <p:nvSpPr>
          <p:cNvPr id="8" name="Text 6"/>
          <p:cNvSpPr txBox="1"/>
          <p:nvPr/>
        </p:nvSpPr>
        <p:spPr>
          <a:xfrm>
            <a:off x="850392"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Prima del préstamo pequeño en España</a:t>
            </a:r>
            <a:endParaRPr lang="en-US" sz="1150" dirty="0"/>
          </a:p>
        </p:txBody>
      </p:sp>
      <p:sp>
        <p:nvSpPr>
          <p:cNvPr id="9" name="Text 7"/>
          <p:cNvSpPr txBox="1"/>
          <p:nvPr/>
        </p:nvSpPr>
        <p:spPr>
          <a:xfrm>
            <a:off x="850392"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los otros seis, de media, +0,96 pp. Dos fuentes con definiciones distintas —MIR y OCDE— muestran la misma compresión.</a:t>
            </a:r>
            <a:endParaRPr lang="en-US" sz="1200" dirty="0"/>
          </a:p>
        </p:txBody>
      </p:sp>
      <p:sp>
        <p:nvSpPr>
          <p:cNvPr id="10" name="Shape 8"/>
          <p:cNvSpPr/>
          <p:nvPr/>
        </p:nvSpPr>
        <p:spPr>
          <a:xfrm>
            <a:off x="850392" y="5212080"/>
            <a:ext cx="3063240" cy="365760"/>
          </a:xfrm>
          <a:prstGeom prst="roundRect">
            <a:avLst>
              <a:gd name="adj" fmla="val 15000"/>
            </a:avLst>
          </a:prstGeom>
          <a:solidFill>
            <a:srgbClr val="FFCCE8"/>
          </a:solidFill>
          <a:ln w="12700">
            <a:solidFill>
              <a:srgbClr val="FFCCE8"/>
            </a:solidFill>
            <a:prstDash val="solid"/>
          </a:ln>
        </p:spPr>
      </p:sp>
      <p:sp>
        <p:nvSpPr>
          <p:cNvPr id="11" name="Text 9"/>
          <p:cNvSpPr txBox="1"/>
          <p:nvPr/>
        </p:nvSpPr>
        <p:spPr>
          <a:xfrm>
            <a:off x="923544"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PROXY · importe del préstamo, no la empresa</a:t>
            </a:r>
            <a:endParaRPr lang="en-US" sz="750" dirty="0"/>
          </a:p>
        </p:txBody>
      </p:sp>
      <p:sp>
        <p:nvSpPr>
          <p:cNvPr id="12" name="Shape 10"/>
          <p:cNvSpPr/>
          <p:nvPr/>
        </p:nvSpPr>
        <p:spPr>
          <a:xfrm>
            <a:off x="4352544" y="1600200"/>
            <a:ext cx="3520440" cy="4160520"/>
          </a:xfrm>
          <a:prstGeom prst="roundRect">
            <a:avLst>
              <a:gd name="adj" fmla="val 1299"/>
            </a:avLst>
          </a:prstGeom>
          <a:solidFill>
            <a:srgbClr val="F2F4F6"/>
          </a:solidFill>
          <a:ln w="12700">
            <a:solidFill>
              <a:srgbClr val="F2F4F6"/>
            </a:solidFill>
            <a:prstDash val="solid"/>
          </a:ln>
        </p:spPr>
      </p:sp>
      <p:sp>
        <p:nvSpPr>
          <p:cNvPr id="13" name="Text 11"/>
          <p:cNvSpPr txBox="1"/>
          <p:nvPr/>
        </p:nvSpPr>
        <p:spPr>
          <a:xfrm>
            <a:off x="4581144"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92,8 %</a:t>
            </a:r>
            <a:endParaRPr lang="en-US" sz="3400" dirty="0"/>
          </a:p>
        </p:txBody>
      </p:sp>
      <p:sp>
        <p:nvSpPr>
          <p:cNvPr id="14" name="Text 12"/>
          <p:cNvSpPr txBox="1"/>
          <p:nvPr/>
        </p:nvSpPr>
        <p:spPr>
          <a:xfrm>
            <a:off x="4581144"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de las pymes españolas que pidieron financiación bancaria la obtuvieron</a:t>
            </a:r>
            <a:endParaRPr lang="en-US" sz="1150" dirty="0"/>
          </a:p>
        </p:txBody>
      </p:sp>
      <p:sp>
        <p:nvSpPr>
          <p:cNvPr id="15" name="Text 13"/>
          <p:cNvSpPr txBox="1"/>
          <p:nvPr/>
        </p:nvSpPr>
        <p:spPr>
          <a:xfrm>
            <a:off x="4581144"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la SAFE, el rechazo del segundo semestre de 2025 va del 0,7 % de Italia al 13,6 % de Países Bajos. Alemania raciona por cantidad y precio, no rechazando.</a:t>
            </a:r>
            <a:endParaRPr lang="en-US" sz="1200" dirty="0"/>
          </a:p>
        </p:txBody>
      </p:sp>
      <p:sp>
        <p:nvSpPr>
          <p:cNvPr id="16" name="Shape 14"/>
          <p:cNvSpPr/>
          <p:nvPr/>
        </p:nvSpPr>
        <p:spPr>
          <a:xfrm>
            <a:off x="4581144" y="5212080"/>
            <a:ext cx="3063240" cy="365760"/>
          </a:xfrm>
          <a:prstGeom prst="roundRect">
            <a:avLst>
              <a:gd name="adj" fmla="val 15000"/>
            </a:avLst>
          </a:prstGeom>
          <a:solidFill>
            <a:srgbClr val="FFD6BA"/>
          </a:solidFill>
          <a:ln w="12700">
            <a:solidFill>
              <a:srgbClr val="FFD6BA"/>
            </a:solidFill>
            <a:prstDash val="solid"/>
          </a:ln>
        </p:spPr>
      </p:sp>
      <p:sp>
        <p:nvSpPr>
          <p:cNvPr id="17" name="Text 15"/>
          <p:cNvSpPr txBox="1"/>
          <p:nvPr/>
        </p:nvSpPr>
        <p:spPr>
          <a:xfrm>
            <a:off x="4654296"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&lt;250 empleados, con autónomos</a:t>
            </a:r>
            <a:endParaRPr lang="en-US" sz="750" dirty="0"/>
          </a:p>
        </p:txBody>
      </p:sp>
      <p:sp>
        <p:nvSpPr>
          <p:cNvPr id="18" name="Shape 16"/>
          <p:cNvSpPr/>
          <p:nvPr/>
        </p:nvSpPr>
        <p:spPr>
          <a:xfrm>
            <a:off x="8083296" y="1600200"/>
            <a:ext cx="3520440" cy="4160520"/>
          </a:xfrm>
          <a:prstGeom prst="roundRect">
            <a:avLst>
              <a:gd name="adj" fmla="val 1299"/>
            </a:avLst>
          </a:prstGeom>
          <a:solidFill>
            <a:srgbClr val="F2F4F6"/>
          </a:solidFill>
          <a:ln w="12700">
            <a:solidFill>
              <a:srgbClr val="F2F4F6"/>
            </a:solidFill>
            <a:prstDash val="solid"/>
          </a:ln>
        </p:spPr>
      </p:sp>
      <p:sp>
        <p:nvSpPr>
          <p:cNvPr id="19" name="Text 17"/>
          <p:cNvSpPr txBox="1"/>
          <p:nvPr/>
        </p:nvSpPr>
        <p:spPr>
          <a:xfrm>
            <a:off x="8311896"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−0,55</a:t>
            </a:r>
            <a:endParaRPr lang="en-US" sz="3400" dirty="0"/>
          </a:p>
        </p:txBody>
      </p:sp>
      <p:sp>
        <p:nvSpPr>
          <p:cNvPr id="20" name="Text 18"/>
          <p:cNvSpPr txBox="1"/>
          <p:nvPr/>
        </p:nvSpPr>
        <p:spPr>
          <a:xfrm>
            <a:off x="8311896"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correlación entre el precio del préstamo de hasta 1 M€ y la PD de la PYME</a:t>
            </a:r>
            <a:endParaRPr lang="en-US" sz="1150" dirty="0"/>
          </a:p>
        </p:txBody>
      </p:sp>
      <p:sp>
        <p:nvSpPr>
          <p:cNvPr id="21" name="Text 19"/>
          <p:cNvSpPr txBox="1"/>
          <p:nvPr/>
        </p:nvSpPr>
        <p:spPr>
          <a:xfrm>
            <a:off x="8311896"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Entre los siete países, el precio no sube con el riesgo: los mercados con PD más alta no cobran más.</a:t>
            </a:r>
            <a:endParaRPr lang="en-US" sz="1200" dirty="0"/>
          </a:p>
        </p:txBody>
      </p:sp>
      <p:sp>
        <p:nvSpPr>
          <p:cNvPr id="22" name="Shape 20"/>
          <p:cNvSpPr/>
          <p:nvPr/>
        </p:nvSpPr>
        <p:spPr>
          <a:xfrm>
            <a:off x="8311896" y="5212080"/>
            <a:ext cx="3063240" cy="365760"/>
          </a:xfrm>
          <a:prstGeom prst="roundRect">
            <a:avLst>
              <a:gd name="adj" fmla="val 15000"/>
            </a:avLst>
          </a:prstGeom>
          <a:solidFill>
            <a:srgbClr val="FFCCE8"/>
          </a:solidFill>
          <a:ln w="12700">
            <a:solidFill>
              <a:srgbClr val="FFCCE8"/>
            </a:solidFill>
            <a:prstDash val="solid"/>
          </a:ln>
        </p:spPr>
      </p:sp>
      <p:sp>
        <p:nvSpPr>
          <p:cNvPr id="23" name="Text 21"/>
          <p:cNvSpPr txBox="1"/>
          <p:nvPr/>
        </p:nvSpPr>
        <p:spPr>
          <a:xfrm>
            <a:off x="8385048"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definición interna de cada banco</a:t>
            </a:r>
            <a:endParaRPr lang="en-US" sz="750" dirty="0"/>
          </a:p>
        </p:txBody>
      </p:sp>
      <p:sp>
        <p:nvSpPr>
          <p:cNvPr id="24" name="Text 2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Prima: BCE MIR, ≤0,25 M€ frente a &gt;1 M€. Concesión: CESGAR 2025. Rechazo: BCE SAFE, 2025-S2. Correlación: precio MIR del tramo ≤1 M€ (2026) frente a PD de COREP (2026-Q1), siete países: descriptiva, no causal.</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Riesgo, capital y producto: lo que distingue a cada mercado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Tres observaciones sobre datos observados · Cada una con su fuente y su definición de PYME</a:t>
            </a:r>
            <a:endParaRPr lang="en-US" sz="1050" dirty="0"/>
          </a:p>
        </p:txBody>
      </p:sp>
      <p:sp>
        <p:nvSpPr>
          <p:cNvPr id="6" name="Shape 4"/>
          <p:cNvSpPr/>
          <p:nvPr/>
        </p:nvSpPr>
        <p:spPr>
          <a:xfrm>
            <a:off x="621792" y="1600200"/>
            <a:ext cx="3520440" cy="4160520"/>
          </a:xfrm>
          <a:prstGeom prst="roundRect">
            <a:avLst>
              <a:gd name="adj" fmla="val 1299"/>
            </a:avLst>
          </a:prstGeom>
          <a:solidFill>
            <a:srgbClr val="F2F4F6"/>
          </a:solidFill>
          <a:ln w="12700">
            <a:solidFill>
              <a:srgbClr val="F2F4F6"/>
            </a:solidFill>
            <a:prstDash val="solid"/>
          </a:ln>
        </p:spPr>
      </p:sp>
      <p:sp>
        <p:nvSpPr>
          <p:cNvPr id="7" name="Text 5"/>
          <p:cNvSpPr txBox="1"/>
          <p:nvPr/>
        </p:nvSpPr>
        <p:spPr>
          <a:xfrm>
            <a:off x="850392"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5,38 %</a:t>
            </a:r>
            <a:endParaRPr lang="en-US" sz="3400" dirty="0"/>
          </a:p>
        </p:txBody>
      </p:sp>
      <p:sp>
        <p:nvSpPr>
          <p:cNvPr id="8" name="Text 6"/>
          <p:cNvSpPr txBox="1"/>
          <p:nvPr/>
        </p:nvSpPr>
        <p:spPr>
          <a:xfrm>
            <a:off x="850392"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mora de la PYME española, la más alta de los siete</a:t>
            </a:r>
            <a:endParaRPr lang="en-US" sz="1150" dirty="0"/>
          </a:p>
        </p:txBody>
      </p:sp>
      <p:sp>
        <p:nvSpPr>
          <p:cNvPr id="9" name="Text 7"/>
          <p:cNvSpPr txBox="1"/>
          <p:nvPr/>
        </p:nvSpPr>
        <p:spPr>
          <a:xfrm>
            <a:off x="850392"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La PYME es el segmento con más mora en los siete países. Pero la española baja desde 2024 y la alemana y la francesa suben: convergen.</a:t>
            </a:r>
            <a:endParaRPr lang="en-US" sz="1200" dirty="0"/>
          </a:p>
        </p:txBody>
      </p:sp>
      <p:sp>
        <p:nvSpPr>
          <p:cNvPr id="10" name="Shape 8"/>
          <p:cNvSpPr/>
          <p:nvPr/>
        </p:nvSpPr>
        <p:spPr>
          <a:xfrm>
            <a:off x="850392" y="5212080"/>
            <a:ext cx="3063240" cy="365760"/>
          </a:xfrm>
          <a:prstGeom prst="roundRect">
            <a:avLst>
              <a:gd name="adj" fmla="val 15000"/>
            </a:avLst>
          </a:prstGeom>
          <a:solidFill>
            <a:srgbClr val="C7E3F9"/>
          </a:solidFill>
          <a:ln w="12700">
            <a:solidFill>
              <a:srgbClr val="C7E3F9"/>
            </a:solidFill>
            <a:prstDash val="solid"/>
          </a:ln>
        </p:spPr>
      </p:sp>
      <p:sp>
        <p:nvSpPr>
          <p:cNvPr id="11" name="Text 9"/>
          <p:cNvSpPr txBox="1"/>
          <p:nvPr/>
        </p:nvSpPr>
        <p:spPr>
          <a:xfrm>
            <a:off x="923544"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Recomendación 2003/361/CE completa</a:t>
            </a:r>
            <a:endParaRPr lang="en-US" sz="750" dirty="0"/>
          </a:p>
        </p:txBody>
      </p:sp>
      <p:sp>
        <p:nvSpPr>
          <p:cNvPr id="12" name="Shape 10"/>
          <p:cNvSpPr/>
          <p:nvPr/>
        </p:nvSpPr>
        <p:spPr>
          <a:xfrm>
            <a:off x="4352544" y="1600200"/>
            <a:ext cx="3520440" cy="4160520"/>
          </a:xfrm>
          <a:prstGeom prst="roundRect">
            <a:avLst>
              <a:gd name="adj" fmla="val 1299"/>
            </a:avLst>
          </a:prstGeom>
          <a:solidFill>
            <a:srgbClr val="F2F4F6"/>
          </a:solidFill>
          <a:ln w="12700">
            <a:solidFill>
              <a:srgbClr val="F2F4F6"/>
            </a:solidFill>
            <a:prstDash val="solid"/>
          </a:ln>
        </p:spPr>
      </p:sp>
      <p:sp>
        <p:nvSpPr>
          <p:cNvPr id="13" name="Text 11"/>
          <p:cNvSpPr txBox="1"/>
          <p:nvPr/>
        </p:nvSpPr>
        <p:spPr>
          <a:xfrm>
            <a:off x="4581144"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7,6 pp</a:t>
            </a:r>
            <a:endParaRPr lang="en-US" sz="3400" dirty="0"/>
          </a:p>
        </p:txBody>
      </p:sp>
      <p:sp>
        <p:nvSpPr>
          <p:cNvPr id="14" name="Text 12"/>
          <p:cNvSpPr txBox="1"/>
          <p:nvPr/>
        </p:nvSpPr>
        <p:spPr>
          <a:xfrm>
            <a:off x="4581144"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rebaja el IRB la densidad de RWA en España</a:t>
            </a:r>
            <a:endParaRPr lang="en-US" sz="1150" dirty="0"/>
          </a:p>
        </p:txBody>
      </p:sp>
      <p:sp>
        <p:nvSpPr>
          <p:cNvPr id="15" name="Text 13"/>
          <p:cNvSpPr txBox="1"/>
          <p:nvPr/>
        </p:nvSpPr>
        <p:spPr>
          <a:xfrm>
            <a:off x="4581144"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Alemania, 35,9 pp. Por método estándar los siete van del 63 al 77 %; por IRB, del 30 al 65 %. El modelo separa más que el país.</a:t>
            </a:r>
            <a:endParaRPr lang="en-US" sz="1200" dirty="0"/>
          </a:p>
        </p:txBody>
      </p:sp>
      <p:sp>
        <p:nvSpPr>
          <p:cNvPr id="16" name="Shape 14"/>
          <p:cNvSpPr/>
          <p:nvPr/>
        </p:nvSpPr>
        <p:spPr>
          <a:xfrm>
            <a:off x="4581144" y="5212080"/>
            <a:ext cx="3063240" cy="365760"/>
          </a:xfrm>
          <a:prstGeom prst="roundRect">
            <a:avLst>
              <a:gd name="adj" fmla="val 15000"/>
            </a:avLst>
          </a:prstGeom>
          <a:solidFill>
            <a:srgbClr val="FFCCE8"/>
          </a:solidFill>
          <a:ln w="12700">
            <a:solidFill>
              <a:srgbClr val="FFCCE8"/>
            </a:solidFill>
            <a:prstDash val="solid"/>
          </a:ln>
        </p:spPr>
      </p:sp>
      <p:sp>
        <p:nvSpPr>
          <p:cNvPr id="17" name="Text 15"/>
          <p:cNvSpPr txBox="1"/>
          <p:nvPr/>
        </p:nvSpPr>
        <p:spPr>
          <a:xfrm>
            <a:off x="4654296"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PYME · estándar por facturación, IRB interna</a:t>
            </a:r>
            <a:endParaRPr lang="en-US" sz="750" dirty="0"/>
          </a:p>
        </p:txBody>
      </p:sp>
      <p:sp>
        <p:nvSpPr>
          <p:cNvPr id="18" name="Shape 16"/>
          <p:cNvSpPr/>
          <p:nvPr/>
        </p:nvSpPr>
        <p:spPr>
          <a:xfrm>
            <a:off x="8083296" y="1600200"/>
            <a:ext cx="3520440" cy="4160520"/>
          </a:xfrm>
          <a:prstGeom prst="roundRect">
            <a:avLst>
              <a:gd name="adj" fmla="val 1299"/>
            </a:avLst>
          </a:prstGeom>
          <a:solidFill>
            <a:srgbClr val="F2F4F6"/>
          </a:solidFill>
          <a:ln w="12700">
            <a:solidFill>
              <a:srgbClr val="F2F4F6"/>
            </a:solidFill>
            <a:prstDash val="solid"/>
          </a:ln>
        </p:spPr>
      </p:sp>
      <p:sp>
        <p:nvSpPr>
          <p:cNvPr id="19" name="Text 17"/>
          <p:cNvSpPr txBox="1"/>
          <p:nvPr/>
        </p:nvSpPr>
        <p:spPr>
          <a:xfrm>
            <a:off x="8311896" y="1783080"/>
            <a:ext cx="3063240" cy="777240"/>
          </a:xfrm>
          <a:prstGeom prst="rect">
            <a:avLst/>
          </a:prstGeom>
          <a:noFill/>
          <a:ln/>
        </p:spPr>
        <p:txBody>
          <a:bodyPr wrap="square" lIns="0" tIns="0" rIns="0" bIns="0" rtlCol="0" anchor="ctr"/>
          <a:lstStyle/>
          <a:p>
            <a:pPr indent="0" marL="0">
              <a:buNone/>
            </a:pPr>
            <a:r>
              <a:rPr lang="en-US" sz="3400" b="1" dirty="0">
                <a:solidFill>
                  <a:srgbClr val="F56600"/>
                </a:solidFill>
                <a:latin typeface="Verdana" pitchFamily="34" charset="0"/>
                <a:ea typeface="Verdana" pitchFamily="34" charset="-122"/>
                <a:cs typeface="Verdana" pitchFamily="34" charset="-120"/>
              </a:rPr>
              <a:t>52,6 %</a:t>
            </a:r>
            <a:endParaRPr lang="en-US" sz="3400" dirty="0"/>
          </a:p>
        </p:txBody>
      </p:sp>
      <p:sp>
        <p:nvSpPr>
          <p:cNvPr id="20" name="Text 18"/>
          <p:cNvSpPr txBox="1"/>
          <p:nvPr/>
        </p:nvSpPr>
        <p:spPr>
          <a:xfrm>
            <a:off x="8311896" y="2606040"/>
            <a:ext cx="3063240" cy="64008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de las cesiones de factoring en España son confirming</a:t>
            </a:r>
            <a:endParaRPr lang="en-US" sz="1150" dirty="0"/>
          </a:p>
        </p:txBody>
      </p:sp>
      <p:sp>
        <p:nvSpPr>
          <p:cNvPr id="21" name="Text 19"/>
          <p:cNvSpPr txBox="1"/>
          <p:nvPr/>
        </p:nvSpPr>
        <p:spPr>
          <a:xfrm>
            <a:off x="8311896" y="3310128"/>
            <a:ext cx="3063240" cy="1783080"/>
          </a:xfrm>
          <a:prstGeom prst="rect">
            <a:avLst/>
          </a:prstGeom>
          <a:noFill/>
          <a:ln/>
        </p:spPr>
        <p:txBody>
          <a:bodyPr wrap="square" lIns="0" tIns="0" rIns="0" bIns="0" rtlCol="0" anchor="t"/>
          <a:lstStyle/>
          <a:p>
            <a:pPr indent="0" marL="0">
              <a:buNone/>
            </a:pPr>
            <a:r>
              <a:rPr lang="en-US" sz="1200" dirty="0">
                <a:solidFill>
                  <a:srgbClr val="2B2B2B"/>
                </a:solidFill>
                <a:latin typeface="Verdana" pitchFamily="34" charset="0"/>
                <a:ea typeface="Verdana" pitchFamily="34" charset="-122"/>
                <a:cs typeface="Verdana" pitchFamily="34" charset="-120"/>
              </a:rPr>
              <a:t>En Italia, 1,9 %. Portugal y España son donde el factoring pesa más sobre el PIB.</a:t>
            </a:r>
            <a:endParaRPr lang="en-US" sz="1200" dirty="0"/>
          </a:p>
        </p:txBody>
      </p:sp>
      <p:sp>
        <p:nvSpPr>
          <p:cNvPr id="22" name="Shape 20"/>
          <p:cNvSpPr/>
          <p:nvPr/>
        </p:nvSpPr>
        <p:spPr>
          <a:xfrm>
            <a:off x="8311896" y="5212080"/>
            <a:ext cx="3063240" cy="365760"/>
          </a:xfrm>
          <a:prstGeom prst="roundRect">
            <a:avLst>
              <a:gd name="adj" fmla="val 15000"/>
            </a:avLst>
          </a:prstGeom>
          <a:solidFill>
            <a:srgbClr val="E5E5E5"/>
          </a:solidFill>
          <a:ln w="12700">
            <a:solidFill>
              <a:srgbClr val="E5E5E5"/>
            </a:solidFill>
            <a:prstDash val="solid"/>
          </a:ln>
        </p:spPr>
      </p:sp>
      <p:sp>
        <p:nvSpPr>
          <p:cNvPr id="23" name="Text 21"/>
          <p:cNvSpPr txBox="1"/>
          <p:nvPr/>
        </p:nvSpPr>
        <p:spPr>
          <a:xfrm>
            <a:off x="8385048" y="5230368"/>
            <a:ext cx="2916936" cy="329184"/>
          </a:xfrm>
          <a:prstGeom prst="rect">
            <a:avLst/>
          </a:prstGeom>
          <a:noFill/>
          <a:ln/>
        </p:spPr>
        <p:txBody>
          <a:bodyPr wrap="square" lIns="0" tIns="0" rIns="0" bIns="0" rtlCol="0" anchor="ctr"/>
          <a:lstStyle/>
          <a:p>
            <a:pPr indent="0" marL="0">
              <a:buNone/>
            </a:pPr>
            <a:r>
              <a:rPr lang="en-US" sz="750" b="1" dirty="0">
                <a:solidFill>
                  <a:srgbClr val="2B2B2B"/>
                </a:solidFill>
                <a:latin typeface="Verdana" pitchFamily="34" charset="0"/>
                <a:ea typeface="Verdana" pitchFamily="34" charset="-122"/>
                <a:cs typeface="Verdana" pitchFamily="34" charset="-120"/>
              </a:rPr>
              <a:t>SIN SEGMENTO · todas las empresas</a:t>
            </a:r>
            <a:endParaRPr lang="en-US" sz="750" dirty="0"/>
          </a:p>
        </p:txBody>
      </p:sp>
      <p:sp>
        <p:nvSpPr>
          <p:cNvPr id="24" name="Text 2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Mora: EBA Risk Dashboard (FINREP), 2026-Q1. Densidad: EBA Transparency Exercise, junio 2025. Confirming: AEF y Assifact, 2025; factoring sobre PIB: EUF, 2025.</a:t>
            </a:r>
            <a:endParaRPr lang="en-US" sz="7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 que estos datos no permiten decir</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Por qué esta presentación describe el mercado y no calcula su rentabilidad</a:t>
            </a:r>
            <a:endParaRPr lang="en-US" sz="1050" dirty="0"/>
          </a:p>
        </p:txBody>
      </p:sp>
      <p:sp>
        <p:nvSpPr>
          <p:cNvPr id="6" name="Shape 4"/>
          <p:cNvSpPr/>
          <p:nvPr/>
        </p:nvSpPr>
        <p:spPr>
          <a:xfrm>
            <a:off x="621792" y="1600200"/>
            <a:ext cx="3520440" cy="1965960"/>
          </a:xfrm>
          <a:prstGeom prst="roundRect">
            <a:avLst>
              <a:gd name="adj" fmla="val 2326"/>
            </a:avLst>
          </a:prstGeom>
          <a:solidFill>
            <a:srgbClr val="F2F4F6"/>
          </a:solidFill>
          <a:ln w="12700">
            <a:solidFill>
              <a:srgbClr val="F2F4F6"/>
            </a:solidFill>
            <a:prstDash val="solid"/>
          </a:ln>
        </p:spPr>
      </p:sp>
      <p:sp>
        <p:nvSpPr>
          <p:cNvPr id="7" name="Text 5"/>
          <p:cNvSpPr txBox="1"/>
          <p:nvPr/>
        </p:nvSpPr>
        <p:spPr>
          <a:xfrm>
            <a:off x="822960" y="172821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No hay una PYME común</a:t>
            </a:r>
            <a:endParaRPr lang="en-US" sz="1150" dirty="0"/>
          </a:p>
        </p:txBody>
      </p:sp>
      <p:sp>
        <p:nvSpPr>
          <p:cNvPr id="8" name="Text 6"/>
          <p:cNvSpPr txBox="1"/>
          <p:nvPr/>
        </p:nvSpPr>
        <p:spPr>
          <a:xfrm>
            <a:off x="822960" y="203911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Cada fuente mide un colectivo distinto: empleados, facturación, importe del préstamo o la definición de cada banco. Los niveles de dos fuentes no se suman ni se restan.</a:t>
            </a:r>
            <a:endParaRPr lang="en-US" sz="1150" dirty="0"/>
          </a:p>
        </p:txBody>
      </p:sp>
      <p:sp>
        <p:nvSpPr>
          <p:cNvPr id="9" name="Shape 7"/>
          <p:cNvSpPr/>
          <p:nvPr/>
        </p:nvSpPr>
        <p:spPr>
          <a:xfrm>
            <a:off x="4352544" y="1600200"/>
            <a:ext cx="3520440" cy="1965960"/>
          </a:xfrm>
          <a:prstGeom prst="roundRect">
            <a:avLst>
              <a:gd name="adj" fmla="val 2326"/>
            </a:avLst>
          </a:prstGeom>
          <a:solidFill>
            <a:srgbClr val="F2F4F6"/>
          </a:solidFill>
          <a:ln w="12700">
            <a:solidFill>
              <a:srgbClr val="F2F4F6"/>
            </a:solidFill>
            <a:prstDash val="solid"/>
          </a:ln>
        </p:spPr>
      </p:sp>
      <p:sp>
        <p:nvSpPr>
          <p:cNvPr id="10" name="Text 8"/>
          <p:cNvSpPr txBox="1"/>
          <p:nvPr/>
        </p:nvSpPr>
        <p:spPr>
          <a:xfrm>
            <a:off x="4553712" y="172821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El riesgo no está armonizado</a:t>
            </a:r>
            <a:endParaRPr lang="en-US" sz="1150" dirty="0"/>
          </a:p>
        </p:txBody>
      </p:sp>
      <p:sp>
        <p:nvSpPr>
          <p:cNvPr id="11" name="Text 9"/>
          <p:cNvSpPr txBox="1"/>
          <p:nvPr/>
        </p:nvSpPr>
        <p:spPr>
          <a:xfrm>
            <a:off x="4553712" y="203911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La PD y la LGD usan la definición interna de cada banco, solo de la cartera IRB, y son medianas, no medias ponderadas.</a:t>
            </a:r>
            <a:endParaRPr lang="en-US" sz="1150" dirty="0"/>
          </a:p>
        </p:txBody>
      </p:sp>
      <p:sp>
        <p:nvSpPr>
          <p:cNvPr id="12" name="Shape 10"/>
          <p:cNvSpPr/>
          <p:nvPr/>
        </p:nvSpPr>
        <p:spPr>
          <a:xfrm>
            <a:off x="8083296" y="1600200"/>
            <a:ext cx="3520440" cy="1965960"/>
          </a:xfrm>
          <a:prstGeom prst="roundRect">
            <a:avLst>
              <a:gd name="adj" fmla="val 2326"/>
            </a:avLst>
          </a:prstGeom>
          <a:solidFill>
            <a:srgbClr val="F2F4F6"/>
          </a:solidFill>
          <a:ln w="12700">
            <a:solidFill>
              <a:srgbClr val="F2F4F6"/>
            </a:solidFill>
            <a:prstDash val="solid"/>
          </a:ln>
        </p:spPr>
      </p:sp>
      <p:sp>
        <p:nvSpPr>
          <p:cNvPr id="13" name="Text 11"/>
          <p:cNvSpPr txBox="1"/>
          <p:nvPr/>
        </p:nvSpPr>
        <p:spPr>
          <a:xfrm>
            <a:off x="8284464" y="172821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Falta la comisión</a:t>
            </a:r>
            <a:endParaRPr lang="en-US" sz="1150" dirty="0"/>
          </a:p>
        </p:txBody>
      </p:sp>
      <p:sp>
        <p:nvSpPr>
          <p:cNvPr id="14" name="Text 12"/>
          <p:cNvSpPr txBox="1"/>
          <p:nvPr/>
        </p:nvSpPr>
        <p:spPr>
          <a:xfrm>
            <a:off x="8284464" y="203911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Solo España publica el tipo con comisiones del crédito a empresas. Sin ella no se puede comparar el coste total del crédito entre países.</a:t>
            </a:r>
            <a:endParaRPr lang="en-US" sz="1150" dirty="0"/>
          </a:p>
        </p:txBody>
      </p:sp>
      <p:sp>
        <p:nvSpPr>
          <p:cNvPr id="15" name="Shape 13"/>
          <p:cNvSpPr/>
          <p:nvPr/>
        </p:nvSpPr>
        <p:spPr>
          <a:xfrm>
            <a:off x="621792" y="3749040"/>
            <a:ext cx="3520440" cy="1965960"/>
          </a:xfrm>
          <a:prstGeom prst="roundRect">
            <a:avLst>
              <a:gd name="adj" fmla="val 2326"/>
            </a:avLst>
          </a:prstGeom>
          <a:solidFill>
            <a:srgbClr val="FFF4C2"/>
          </a:solidFill>
          <a:ln w="12700">
            <a:solidFill>
              <a:srgbClr val="FFF4C2"/>
            </a:solidFill>
            <a:prstDash val="solid"/>
          </a:ln>
        </p:spPr>
      </p:sp>
      <p:sp>
        <p:nvSpPr>
          <p:cNvPr id="16" name="Text 14"/>
          <p:cNvSpPr txBox="1"/>
          <p:nvPr/>
        </p:nvSpPr>
        <p:spPr>
          <a:xfrm>
            <a:off x="822960" y="387705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Por eso no hay ROE</a:t>
            </a:r>
            <a:endParaRPr lang="en-US" sz="1150" dirty="0"/>
          </a:p>
        </p:txBody>
      </p:sp>
      <p:sp>
        <p:nvSpPr>
          <p:cNvPr id="17" name="Text 15"/>
          <p:cNvSpPr txBox="1"/>
          <p:nvPr/>
        </p:nvSpPr>
        <p:spPr>
          <a:xfrm>
            <a:off x="822960" y="418795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Un ROE exigiría suponer comisiones, costes y capital del segmento que ninguna fuente publica. Sería un supuesto con apariencia de dato.</a:t>
            </a:r>
            <a:endParaRPr lang="en-US" sz="1150" dirty="0"/>
          </a:p>
        </p:txBody>
      </p:sp>
      <p:sp>
        <p:nvSpPr>
          <p:cNvPr id="18" name="Shape 16"/>
          <p:cNvSpPr/>
          <p:nvPr/>
        </p:nvSpPr>
        <p:spPr>
          <a:xfrm>
            <a:off x="4352544" y="3749040"/>
            <a:ext cx="3520440" cy="1965960"/>
          </a:xfrm>
          <a:prstGeom prst="roundRect">
            <a:avLst>
              <a:gd name="adj" fmla="val 2326"/>
            </a:avLst>
          </a:prstGeom>
          <a:solidFill>
            <a:srgbClr val="F2F4F6"/>
          </a:solidFill>
          <a:ln w="12700">
            <a:solidFill>
              <a:srgbClr val="F2F4F6"/>
            </a:solidFill>
            <a:prstDash val="solid"/>
          </a:ln>
        </p:spPr>
      </p:sp>
      <p:sp>
        <p:nvSpPr>
          <p:cNvPr id="19" name="Text 17"/>
          <p:cNvSpPr txBox="1"/>
          <p:nvPr/>
        </p:nvSpPr>
        <p:spPr>
          <a:xfrm>
            <a:off x="4553712" y="387705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Producto sin precio</a:t>
            </a:r>
            <a:endParaRPr lang="en-US" sz="1150" dirty="0"/>
          </a:p>
        </p:txBody>
      </p:sp>
      <p:sp>
        <p:nvSpPr>
          <p:cNvPr id="20" name="Text 18"/>
          <p:cNvSpPr txBox="1"/>
          <p:nvPr/>
        </p:nvSpPr>
        <p:spPr>
          <a:xfrm>
            <a:off x="4553712" y="418795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No hay precio público del factoring ni del confirming en ninguno de los siete países, y ninguna asociación separa lo que cede la PYME.</a:t>
            </a:r>
            <a:endParaRPr lang="en-US" sz="1150" dirty="0"/>
          </a:p>
        </p:txBody>
      </p:sp>
      <p:sp>
        <p:nvSpPr>
          <p:cNvPr id="21" name="Shape 19"/>
          <p:cNvSpPr/>
          <p:nvPr/>
        </p:nvSpPr>
        <p:spPr>
          <a:xfrm>
            <a:off x="8083296" y="3749040"/>
            <a:ext cx="3520440" cy="1965960"/>
          </a:xfrm>
          <a:prstGeom prst="roundRect">
            <a:avLst>
              <a:gd name="adj" fmla="val 2326"/>
            </a:avLst>
          </a:prstGeom>
          <a:solidFill>
            <a:srgbClr val="F2F4F6"/>
          </a:solidFill>
          <a:ln w="12700">
            <a:solidFill>
              <a:srgbClr val="F2F4F6"/>
            </a:solidFill>
            <a:prstDash val="solid"/>
          </a:ln>
        </p:spPr>
      </p:sp>
      <p:sp>
        <p:nvSpPr>
          <p:cNvPr id="22" name="Text 20"/>
          <p:cNvSpPr txBox="1"/>
          <p:nvPr/>
        </p:nvSpPr>
        <p:spPr>
          <a:xfrm>
            <a:off x="8284464" y="3877056"/>
            <a:ext cx="3118104" cy="274320"/>
          </a:xfrm>
          <a:prstGeom prst="rect">
            <a:avLst/>
          </a:prstGeom>
          <a:noFill/>
          <a:ln/>
        </p:spPr>
        <p:txBody>
          <a:bodyPr wrap="square" lIns="0" tIns="0" rIns="0" bIns="0" rtlCol="0" anchor="t"/>
          <a:lstStyle/>
          <a:p>
            <a:pPr indent="0" marL="0">
              <a:buNone/>
            </a:pPr>
            <a:r>
              <a:rPr lang="en-US" sz="1150" b="1" dirty="0">
                <a:solidFill>
                  <a:srgbClr val="2B2B2B"/>
                </a:solidFill>
                <a:latin typeface="Verdana" pitchFamily="34" charset="0"/>
                <a:ea typeface="Verdana" pitchFamily="34" charset="-122"/>
                <a:cs typeface="Verdana" pitchFamily="34" charset="-120"/>
              </a:rPr>
              <a:t>Datos que envejecen</a:t>
            </a:r>
            <a:endParaRPr lang="en-US" sz="1150" dirty="0"/>
          </a:p>
        </p:txBody>
      </p:sp>
      <p:sp>
        <p:nvSpPr>
          <p:cNvPr id="23" name="Text 21"/>
          <p:cNvSpPr txBox="1"/>
          <p:nvPr/>
        </p:nvSpPr>
        <p:spPr>
          <a:xfrm>
            <a:off x="8284464" y="4187952"/>
            <a:ext cx="3118104" cy="1417320"/>
          </a:xfrm>
          <a:prstGeom prst="rect">
            <a:avLst/>
          </a:prstGeom>
          <a:noFill/>
          <a:ln/>
        </p:spPr>
        <p:txBody>
          <a:bodyPr wrap="square" lIns="0" tIns="0" rIns="0" bIns="0" rtlCol="0" anchor="t"/>
          <a:lstStyle/>
          <a:p>
            <a:pPr indent="0" marL="0">
              <a:buNone/>
            </a:pPr>
            <a:r>
              <a:rPr lang="en-US" sz="1150" dirty="0">
                <a:solidFill>
                  <a:srgbClr val="2B2B2B"/>
                </a:solidFill>
                <a:latin typeface="Verdana" pitchFamily="34" charset="0"/>
                <a:ea typeface="Verdana" pitchFamily="34" charset="-122"/>
                <a:cs typeface="Verdana" pitchFamily="34" charset="-120"/>
              </a:rPr>
              <a:t>La OCDE llega a 2022 y Doing Business a 2019. El volumen irlandés de factoring no cambia desde 2021.</a:t>
            </a:r>
            <a:endParaRPr lang="en-US" sz="1150" dirty="0"/>
          </a:p>
        </p:txBody>
      </p:sp>
      <p:sp>
        <p:nvSpPr>
          <p:cNvPr id="24" name="Text 2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de cada límite, con la cita de la normativa correspondiente, en notas.md del repositorio del proyecto.</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7589520" y="1554480"/>
            <a:ext cx="3977640" cy="3749040"/>
          </a:xfrm>
          <a:prstGeom prst="rect">
            <a:avLst/>
          </a:prstGeom>
          <a:solidFill>
            <a:srgbClr val="F56600"/>
          </a:solidFill>
          <a:ln w="12700">
            <a:solidFill>
              <a:srgbClr val="F56600"/>
            </a:solidFill>
            <a:prstDash val="solid"/>
          </a:ln>
        </p:spPr>
      </p:sp>
      <p:sp>
        <p:nvSpPr>
          <p:cNvPr id="3" name="Shape 1"/>
          <p:cNvSpPr/>
          <p:nvPr/>
        </p:nvSpPr>
        <p:spPr>
          <a:xfrm>
            <a:off x="9777222" y="1929384"/>
            <a:ext cx="1193292" cy="1124712"/>
          </a:xfrm>
          <a:prstGeom prst="rect">
            <a:avLst/>
          </a:prstGeom>
          <a:solidFill>
            <a:srgbClr val="FFD200"/>
          </a:solidFill>
          <a:ln w="12700">
            <a:solidFill>
              <a:srgbClr val="FFD200"/>
            </a:solidFill>
            <a:prstDash val="solid"/>
          </a:ln>
        </p:spPr>
      </p:sp>
      <p:sp>
        <p:nvSpPr>
          <p:cNvPr id="4" name="Shape 2"/>
          <p:cNvSpPr/>
          <p:nvPr/>
        </p:nvSpPr>
        <p:spPr>
          <a:xfrm>
            <a:off x="8066837" y="3728923"/>
            <a:ext cx="1034186" cy="1124712"/>
          </a:xfrm>
          <a:prstGeom prst="rect">
            <a:avLst/>
          </a:prstGeom>
          <a:solidFill>
            <a:srgbClr val="FFFFFF"/>
          </a:solidFill>
          <a:ln w="12700">
            <a:solidFill>
              <a:srgbClr val="FFFFFF"/>
            </a:solidFill>
            <a:prstDash val="solid"/>
          </a:ln>
        </p:spPr>
      </p:sp>
      <p:sp>
        <p:nvSpPr>
          <p:cNvPr id="5" name="Shape 3"/>
          <p:cNvSpPr/>
          <p:nvPr/>
        </p:nvSpPr>
        <p:spPr>
          <a:xfrm>
            <a:off x="10055657" y="3616452"/>
            <a:ext cx="875081" cy="824789"/>
          </a:xfrm>
          <a:prstGeom prst="rect">
            <a:avLst/>
          </a:prstGeom>
          <a:solidFill>
            <a:srgbClr val="FFAB70"/>
          </a:solidFill>
          <a:ln w="12700">
            <a:solidFill>
              <a:srgbClr val="FFAB70"/>
            </a:solidFill>
            <a:prstDash val="solid"/>
          </a:ln>
        </p:spPr>
      </p:sp>
      <p:sp>
        <p:nvSpPr>
          <p:cNvPr id="6" name="Text 4"/>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7" name="Text 5"/>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8" name="Text 6"/>
          <p:cNvSpPr txBox="1"/>
          <p:nvPr/>
        </p:nvSpPr>
        <p:spPr>
          <a:xfrm>
            <a:off x="1005840" y="429768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Los datos, los extractores y el inventario de fuentes con su definición de PYME están en el repositorio del proyecto.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mercado PYME en Europa: lo que dicen los datos</dc:title>
  <dc:subject>PptxGenJS Presentation</dc:subject>
  <dc:creator>Analisis PYME Europa</dc:creator>
  <cp:lastModifiedBy>Analisis PYME Europa</cp:lastModifiedBy>
  <cp:revision>1</cp:revision>
  <dcterms:created xsi:type="dcterms:W3CDTF">2026-09-23T18:55:06Z</dcterms:created>
  <dcterms:modified xsi:type="dcterms:W3CDTF">2026-09-23T18:55:06Z</dcterms:modified>
</cp:coreProperties>
</file>