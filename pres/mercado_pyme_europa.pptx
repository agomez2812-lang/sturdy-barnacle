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6.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7.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8.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9.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0.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1.xml" ContentType="application/vnd.openxmlformats-officedocument.drawingml.chart+xml"/>
  <Override PartName="/ppt/charts/chart1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3.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4.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5.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16.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17.xml" ContentType="application/vnd.openxmlformats-officedocument.drawingml.chart+xml"/>
  <Override PartName="/ppt/charts/chart18.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19.xml" ContentType="application/vnd.openxmlformats-officedocument.drawingml.chart+xml"/>
  <Override PartName="/ppt/charts/chart20.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charts/chart21.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charts/chart22.xml" ContentType="application/vnd.openxmlformats-officedocument.drawingml.chart+xml"/>
  <Override PartName="/ppt/charts/chart23.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charts/chart24.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Relationships xmlns="http://schemas.openxmlformats.org/package/2006/relationships"><Relationship Id="rId1" Type="http://schemas.openxmlformats.org/officeDocument/2006/relationships/package" Target="../embeddings/Microsoft_Excel_Worksheet2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Hasta 0,25 M€</c:v>
                </c:pt>
              </c:strCache>
            </c:strRef>
          </c:tx>
          <c:spPr>
            <a:solidFill>
              <a:srgbClr val="F56600"/>
            </a:solidFill>
            <a:effectLst/>
          </c:spPr>
          <c:invertIfNegative val="0"/>
          <c:dLbls>
            <c:numFmt formatCode="0.0" sourceLinked="0"/>
            <c:txPr>
              <a:bodyPr/>
              <a:lstStyle/>
              <a:p>
                <a:pPr>
                  <a:defRPr b="0" i="0" strike="noStrike" sz="800" u="none">
                    <a:solidFill>
                      <a:srgbClr val="2B2B2B"/>
                    </a:solidFill>
                    <a:latin typeface="Verdana"/>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Sheet1!$B$2:$B$8</c:f>
              <c:numCache>
                <c:formatCode>General</c:formatCode>
                <c:ptCount val="7"/>
                <c:pt idx="0">
                  <c:v>3.42</c:v>
                </c:pt>
                <c:pt idx="1">
                  <c:v>4.56</c:v>
                </c:pt>
                <c:pt idx="2">
                  <c:v>3.99</c:v>
                </c:pt>
                <c:pt idx="3">
                  <c:v>4.65</c:v>
                </c:pt>
                <c:pt idx="4">
                  <c:v>4.36</c:v>
                </c:pt>
                <c:pt idx="5">
                  <c:v>4.57</c:v>
                </c:pt>
                <c:pt idx="6">
                  <c:v>5.64</c:v>
                </c:pt>
              </c:numCache>
            </c:numRef>
          </c:val>
        </c:ser>
        <c:ser>
          <c:idx val="1"/>
          <c:order val="1"/>
          <c:tx>
            <c:strRef>
              <c:f>Sheet1!$C$1</c:f>
              <c:strCache>
                <c:ptCount val="1"/>
                <c:pt idx="0">
                  <c:v>0,25 a 1 M€</c:v>
                </c:pt>
              </c:strCache>
            </c:strRef>
          </c:tx>
          <c:spPr>
            <a:solidFill>
              <a:srgbClr val="2A6FB0"/>
            </a:solidFill>
            <a:effectLst/>
          </c:spPr>
          <c:invertIfNegative val="0"/>
          <c:dLbls>
            <c:numFmt formatCode="0.0" sourceLinked="0"/>
            <c:txPr>
              <a:bodyPr/>
              <a:lstStyle/>
              <a:p>
                <a:pPr>
                  <a:defRPr b="0" i="0" strike="noStrike" sz="800" u="none">
                    <a:solidFill>
                      <a:srgbClr val="2B2B2B"/>
                    </a:solidFill>
                    <a:latin typeface="Verdana"/>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Sheet1!$C$2:$C$8</c:f>
              <c:numCache>
                <c:formatCode>General</c:formatCode>
                <c:ptCount val="7"/>
                <c:pt idx="0">
                  <c:v>3.37</c:v>
                </c:pt>
                <c:pt idx="1">
                  <c:v>4.01</c:v>
                </c:pt>
                <c:pt idx="2">
                  <c:v>3.51</c:v>
                </c:pt>
                <c:pt idx="3">
                  <c:v>3.56</c:v>
                </c:pt>
                <c:pt idx="4">
                  <c:v>3.42</c:v>
                </c:pt>
                <c:pt idx="5">
                  <c:v>4.47</c:v>
                </c:pt>
                <c:pt idx="6">
                  <c:v>5.02</c:v>
                </c:pt>
              </c:numCache>
            </c:numRef>
          </c:val>
        </c:ser>
        <c:ser>
          <c:idx val="2"/>
          <c:order val="2"/>
          <c:tx>
            <c:strRef>
              <c:f>Sheet1!$D$1</c:f>
              <c:strCache>
                <c:ptCount val="1"/>
                <c:pt idx="0">
                  <c:v>Más de 1 M€</c:v>
                </c:pt>
              </c:strCache>
            </c:strRef>
          </c:tx>
          <c:spPr>
            <a:solidFill>
              <a:srgbClr val="B9B9B9"/>
            </a:solidFill>
            <a:effectLst/>
          </c:spPr>
          <c:invertIfNegative val="0"/>
          <c:dLbls>
            <c:numFmt formatCode="0.0" sourceLinked="0"/>
            <c:txPr>
              <a:bodyPr/>
              <a:lstStyle/>
              <a:p>
                <a:pPr>
                  <a:defRPr b="0" i="0" strike="noStrike" sz="800" u="none">
                    <a:solidFill>
                      <a:srgbClr val="2B2B2B"/>
                    </a:solidFill>
                    <a:latin typeface="Verdana"/>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Sheet1!$D$2:$D$8</c:f>
              <c:numCache>
                <c:formatCode>General</c:formatCode>
                <c:ptCount val="7"/>
                <c:pt idx="0">
                  <c:v>3.46</c:v>
                </c:pt>
                <c:pt idx="1">
                  <c:v>3.41</c:v>
                </c:pt>
                <c:pt idx="2">
                  <c:v>3.49</c:v>
                </c:pt>
                <c:pt idx="3">
                  <c:v>3.22</c:v>
                </c:pt>
                <c:pt idx="4">
                  <c:v>3.71</c:v>
                </c:pt>
                <c:pt idx="5">
                  <c:v>3.37</c:v>
                </c:pt>
                <c:pt idx="6">
                  <c:v>5.04</c:v>
                </c:pt>
              </c:numCache>
            </c:numRef>
          </c:val>
        </c:ser>
        <c:dLbls>
          <c:numFmt formatCode="0.0" sourceLinked="0"/>
          <c:txPr>
            <a:bodyPr/>
            <a:lstStyle/>
            <a:p>
              <a:pPr>
                <a:defRPr b="0" i="0" strike="noStrike" sz="800" u="none">
                  <a:solidFill>
                    <a:srgbClr val="2B2B2B"/>
                  </a:solidFill>
                  <a:latin typeface="Verdana"/>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ACACA"/>
            </a:solidFill>
            <a:prstDash val="solid"/>
            <a:round/>
          </a:ln>
        </c:spPr>
        <c:txPr>
          <a:bodyPr/>
          <a:lstStyle/>
          <a:p>
            <a:pPr>
              <a:defRPr sz="950" b="0" i="0" u="none" strike="noStrike">
                <a:solidFill>
                  <a:srgbClr val="2B2B2B"/>
                </a:solidFill>
                <a:latin typeface="Verdana"/>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9525" cap="flat">
              <a:solidFill>
                <a:srgbClr val="E6E9EC"/>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850" b="0" i="0" u="none" strike="noStrike">
                <a:solidFill>
                  <a:srgbClr val="818181"/>
                </a:solidFill>
                <a:latin typeface="Verdana"/>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2B2B2B"/>
              </a:solidFill>
              <a:latin typeface="Verdana"/>
              <a:cs typeface="Verdana"/>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valor</c:v>
                </c:pt>
              </c:strCache>
            </c:strRef>
          </c:tx>
          <c:spPr>
            <a:solidFill>
              <a:srgbClr val="F56600"/>
            </a:solidFill>
            <a:effectLst/>
          </c:spPr>
          <c:invertIfNegative val="0"/>
          <c:dLbls>
            <c:numFmt formatCode="0&quot;%&quot;" sourceLinked="0"/>
            <c:txPr>
              <a:bodyPr/>
              <a:lstStyle/>
              <a:p>
                <a:pPr>
                  <a:defRPr b="0" i="0" strike="noStrike" sz="900" u="none">
                    <a:solidFill>
                      <a:srgbClr val="2B2B2B"/>
                    </a:solidFill>
                    <a:latin typeface="Verdana"/>
                  </a:defRPr>
                </a:pPr>
              </a:p>
            </c:txPr>
            <c:showLegendKey val="0"/>
            <c:showVal val="1"/>
            <c:showCatName val="0"/>
            <c:showSerName val="0"/>
            <c:showPercent val="0"/>
            <c:showBubbleSize val="0"/>
            <c:showLeaderLines val="0"/>
          </c:dLbls>
          <c:dPt>
            <c:idx val="0"/>
            <c:invertIfNegative val="0"/>
            <c:bubble3D val="0"/>
            <c:spPr>
              <a:solidFill>
                <a:srgbClr val="F56600"/>
              </a:solidFill>
              <a:effectLst/>
            </c:spPr>
          </c:dPt>
          <c:dPt>
            <c:idx val="1"/>
            <c:invertIfNegative val="0"/>
            <c:bubble3D val="0"/>
            <c:spPr>
              <a:solidFill>
                <a:srgbClr val="B9B9B9"/>
              </a:solidFill>
              <a:effectLst/>
            </c:spPr>
          </c:dPt>
          <c:dPt>
            <c:idx val="2"/>
            <c:invertIfNegative val="0"/>
            <c:bubble3D val="0"/>
            <c:spPr>
              <a:solidFill>
                <a:srgbClr val="B9B9B9"/>
              </a:solidFill>
              <a:effectLst/>
            </c:spPr>
          </c:dPt>
          <c:dPt>
            <c:idx val="3"/>
            <c:invertIfNegative val="0"/>
            <c:bubble3D val="0"/>
            <c:spPr>
              <a:solidFill>
                <a:srgbClr val="B9B9B9"/>
              </a:solidFill>
              <a:effectLst/>
            </c:spPr>
          </c:dPt>
          <c:dPt>
            <c:idx val="4"/>
            <c:invertIfNegative val="0"/>
            <c:bubble3D val="0"/>
            <c:spPr>
              <a:solidFill>
                <a:srgbClr val="B9B9B9"/>
              </a:solidFill>
              <a:effectLst/>
            </c:spPr>
          </c:dPt>
          <c:dPt>
            <c:idx val="5"/>
            <c:invertIfNegative val="0"/>
            <c:bubble3D val="0"/>
            <c:spPr>
              <a:solidFill>
                <a:srgbClr val="B9B9B9"/>
              </a:solidFill>
              <a:effectLst/>
            </c:spPr>
          </c:dPt>
          <c:dPt>
            <c:idx val="6"/>
            <c:invertIfNegative val="0"/>
            <c:bubble3D val="0"/>
            <c:spPr>
              <a:solidFill>
                <a:srgbClr val="B9B9B9"/>
              </a:solidFill>
              <a:effectLst/>
            </c:spPr>
          </c:dPt>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Sheet1!$B$2:$B$8</c:f>
              <c:numCache>
                <c:formatCode>General</c:formatCode>
                <c:ptCount val="7"/>
                <c:pt idx="0">
                  <c:v>50.5</c:v>
                </c:pt>
                <c:pt idx="1">
                  <c:v>17.8</c:v>
                </c:pt>
                <c:pt idx="2">
                  <c:v>30</c:v>
                </c:pt>
                <c:pt idx="3">
                  <c:v>34.6</c:v>
                </c:pt>
                <c:pt idx="4">
                  <c:v>51.1</c:v>
                </c:pt>
                <c:pt idx="5">
                  <c:v>7.6</c:v>
                </c:pt>
                <c:pt idx="6">
                  <c:v>16.8</c:v>
                </c:pt>
              </c:numCache>
            </c:numRef>
          </c:val>
        </c:ser>
        <c:dLbls>
          <c:numFmt formatCode="0&quot;%&quot;" sourceLinked="0"/>
          <c:txPr>
            <a:bodyPr/>
            <a:lstStyle/>
            <a:p>
              <a:pPr>
                <a:defRPr b="0" i="0" strike="noStrike" sz="900" u="none">
                  <a:solidFill>
                    <a:srgbClr val="2B2B2B"/>
                  </a:solidFill>
                  <a:latin typeface="Verdana"/>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CACACA"/>
            </a:solidFill>
            <a:prstDash val="solid"/>
            <a:round/>
          </a:ln>
        </c:spPr>
        <c:txPr>
          <a:bodyPr/>
          <a:lstStyle/>
          <a:p>
            <a:pPr>
              <a:defRPr sz="950" b="0" i="0" u="none" strike="noStrike">
                <a:solidFill>
                  <a:srgbClr val="2B2B2B"/>
                </a:solidFill>
                <a:latin typeface="Verdana"/>
              </a:defRPr>
            </a:pPr>
            <a:endParaRPr lang="en-US"/>
          </a:p>
        </c:txPr>
        <c:crossAx val="2094734552"/>
        <c:crosses val="autoZero"/>
        <c:auto val="1"/>
        <c:lblAlgn val="ctr"/>
        <c:noMultiLvlLbl val="1"/>
      </c:catAx>
      <c:valAx>
        <c:axId val="2094734552"/>
        <c:scaling>
          <c:orientation val="minMax"/>
          <c:max val="65"/>
          <c:min val="0"/>
        </c:scaling>
        <c:delete val="1"/>
        <c:axPos val="b"/>
        <c:majorGridlines>
          <c:spPr>
            <a:ln w="9525" cap="flat">
              <a:solidFill>
                <a:srgbClr val="E6E9EC"/>
              </a:solidFill>
              <a:prstDash val="solid"/>
              <a:round/>
            </a:ln>
          </c:spPr>
        </c:majorGridlines>
        <c:numFmt formatCode="0&quot;%&quot;" sourceLinked="0"/>
        <c:majorTickMark val="out"/>
        <c:minorTickMark val="none"/>
        <c:tickLblPos val="low"/>
        <c:spPr>
          <a:ln w="12700" cap="flat">
            <a:noFill/>
            <a:prstDash val="solid"/>
            <a:round/>
          </a:ln>
        </c:spPr>
        <c:txPr>
          <a:bodyPr/>
          <a:lstStyle/>
          <a:p>
            <a:pPr>
              <a:defRPr sz="850" b="0" i="0" u="none" strike="noStrike">
                <a:solidFill>
                  <a:srgbClr val="818181"/>
                </a:solidFill>
                <a:latin typeface="Verdana"/>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Alemania</c:v>
                </c:pt>
              </c:strCache>
            </c:strRef>
          </c:tx>
          <c:spPr>
            <a:solidFill>
              <a:srgbClr val="B9B9B9"/>
            </a:solidFill>
            <a:ln w="15875" cap="flat">
              <a:solidFill>
                <a:srgbClr val="B9B9B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9B9B9"/>
              </a:solidFill>
              <a:ln w="9525" cap="flat">
                <a:solidFill>
                  <a:srgbClr val="B9B9B9"/>
                </a:solidFill>
                <a:prstDash val="solid"/>
                <a:round/>
              </a:ln>
              <a:effectLst/>
            </c:spPr>
          </c:marker>
          <c:cat>
            <c:multiLvlStrRef>
              <c:f>Sheet1!$A$2:$A$6</c:f>
              <c:multiLvlStrCache>
                <c:ptCount val="5"/>
                <c:lvl>
                  <c:pt idx="0">
                    <c:v>2022</c:v>
                  </c:pt>
                  <c:pt idx="1">
                    <c:v>2023</c:v>
                  </c:pt>
                  <c:pt idx="2">
                    <c:v>2024</c:v>
                  </c:pt>
                  <c:pt idx="3">
                    <c:v>2025</c:v>
                  </c:pt>
                  <c:pt idx="4">
                    <c:v>2026</c:v>
                  </c:pt>
                </c:lvl>
              </c:multiLvlStrCache>
            </c:multiLvlStrRef>
          </c:cat>
          <c:val>
            <c:numRef>
              <c:f>Sheet1!$B$2:$B$6</c:f>
              <c:numCache>
                <c:formatCode>General</c:formatCode>
                <c:ptCount val="5"/>
                <c:pt idx="0">
                  <c:v>0.53</c:v>
                </c:pt>
                <c:pt idx="1">
                  <c:v>1.4</c:v>
                </c:pt>
                <c:pt idx="2">
                  <c:v>1.03</c:v>
                </c:pt>
                <c:pt idx="3">
                  <c:v>1.22</c:v>
                </c:pt>
                <c:pt idx="4">
                  <c:v>1.16</c:v>
                </c:pt>
              </c:numCache>
            </c:numRef>
          </c:val>
          <c:smooth val="0"/>
        </c:ser>
        <c:ser>
          <c:idx val="1"/>
          <c:order val="1"/>
          <c:tx>
            <c:strRef>
              <c:f>Sheet1!$C$1</c:f>
              <c:strCache>
                <c:ptCount val="1"/>
                <c:pt idx="0">
                  <c:v>Francia</c:v>
                </c:pt>
              </c:strCache>
            </c:strRef>
          </c:tx>
          <c:spPr>
            <a:solidFill>
              <a:srgbClr val="B9B9B9"/>
            </a:solidFill>
            <a:ln w="15875" cap="flat">
              <a:solidFill>
                <a:srgbClr val="B9B9B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9B9B9"/>
              </a:solidFill>
              <a:ln w="9525" cap="flat">
                <a:solidFill>
                  <a:srgbClr val="B9B9B9"/>
                </a:solidFill>
                <a:prstDash val="solid"/>
                <a:round/>
              </a:ln>
              <a:effectLst/>
            </c:spPr>
          </c:marker>
          <c:cat>
            <c:multiLvlStrRef>
              <c:f>Sheet1!$A$2:$A$6</c:f>
              <c:multiLvlStrCache>
                <c:ptCount val="5"/>
                <c:lvl>
                  <c:pt idx="0">
                    <c:v>2022</c:v>
                  </c:pt>
                  <c:pt idx="1">
                    <c:v>2023</c:v>
                  </c:pt>
                  <c:pt idx="2">
                    <c:v>2024</c:v>
                  </c:pt>
                  <c:pt idx="3">
                    <c:v>2025</c:v>
                  </c:pt>
                  <c:pt idx="4">
                    <c:v>2026</c:v>
                  </c:pt>
                </c:lvl>
              </c:multiLvlStrCache>
            </c:multiLvlStrRef>
          </c:cat>
          <c:val>
            <c:numRef>
              <c:f>Sheet1!$C$2:$C$6</c:f>
              <c:numCache>
                <c:formatCode>General</c:formatCode>
                <c:ptCount val="5"/>
                <c:pt idx="0">
                  <c:v>0.33</c:v>
                </c:pt>
                <c:pt idx="1">
                  <c:v>-0.02</c:v>
                </c:pt>
                <c:pt idx="2">
                  <c:v>-0.01</c:v>
                </c:pt>
                <c:pt idx="3">
                  <c:v>0.46</c:v>
                </c:pt>
                <c:pt idx="4">
                  <c:v>0.5</c:v>
                </c:pt>
              </c:numCache>
            </c:numRef>
          </c:val>
          <c:smooth val="0"/>
        </c:ser>
        <c:ser>
          <c:idx val="2"/>
          <c:order val="2"/>
          <c:tx>
            <c:strRef>
              <c:f>Sheet1!$D$1</c:f>
              <c:strCache>
                <c:ptCount val="1"/>
                <c:pt idx="0">
                  <c:v>Italia</c:v>
                </c:pt>
              </c:strCache>
            </c:strRef>
          </c:tx>
          <c:spPr>
            <a:solidFill>
              <a:srgbClr val="B9B9B9"/>
            </a:solidFill>
            <a:ln w="15875" cap="flat">
              <a:solidFill>
                <a:srgbClr val="B9B9B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9B9B9"/>
              </a:solidFill>
              <a:ln w="9525" cap="flat">
                <a:solidFill>
                  <a:srgbClr val="B9B9B9"/>
                </a:solidFill>
                <a:prstDash val="solid"/>
                <a:round/>
              </a:ln>
              <a:effectLst/>
            </c:spPr>
          </c:marker>
          <c:cat>
            <c:multiLvlStrRef>
              <c:f>Sheet1!$A$2:$A$6</c:f>
              <c:multiLvlStrCache>
                <c:ptCount val="5"/>
                <c:lvl>
                  <c:pt idx="0">
                    <c:v>2022</c:v>
                  </c:pt>
                  <c:pt idx="1">
                    <c:v>2023</c:v>
                  </c:pt>
                  <c:pt idx="2">
                    <c:v>2024</c:v>
                  </c:pt>
                  <c:pt idx="3">
                    <c:v>2025</c:v>
                  </c:pt>
                  <c:pt idx="4">
                    <c:v>2026</c:v>
                  </c:pt>
                </c:lvl>
              </c:multiLvlStrCache>
            </c:multiLvlStrRef>
          </c:cat>
          <c:val>
            <c:numRef>
              <c:f>Sheet1!$D$2:$D$6</c:f>
              <c:numCache>
                <c:formatCode>General</c:formatCode>
                <c:ptCount val="5"/>
                <c:pt idx="0">
                  <c:v>1.23</c:v>
                </c:pt>
                <c:pt idx="1">
                  <c:v>0.94</c:v>
                </c:pt>
                <c:pt idx="2">
                  <c:v>0.93</c:v>
                </c:pt>
                <c:pt idx="3">
                  <c:v>1.25</c:v>
                </c:pt>
                <c:pt idx="4">
                  <c:v>1.44</c:v>
                </c:pt>
              </c:numCache>
            </c:numRef>
          </c:val>
          <c:smooth val="0"/>
        </c:ser>
        <c:ser>
          <c:idx val="3"/>
          <c:order val="3"/>
          <c:tx>
            <c:strRef>
              <c:f>Sheet1!$E$1</c:f>
              <c:strCache>
                <c:ptCount val="1"/>
                <c:pt idx="0">
                  <c:v>Portugal</c:v>
                </c:pt>
              </c:strCache>
            </c:strRef>
          </c:tx>
          <c:spPr>
            <a:solidFill>
              <a:srgbClr val="B9B9B9"/>
            </a:solidFill>
            <a:ln w="15875" cap="flat">
              <a:solidFill>
                <a:srgbClr val="B9B9B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9B9B9"/>
              </a:solidFill>
              <a:ln w="9525" cap="flat">
                <a:solidFill>
                  <a:srgbClr val="B9B9B9"/>
                </a:solidFill>
                <a:prstDash val="solid"/>
                <a:round/>
              </a:ln>
              <a:effectLst/>
            </c:spPr>
          </c:marker>
          <c:cat>
            <c:multiLvlStrRef>
              <c:f>Sheet1!$A$2:$A$6</c:f>
              <c:multiLvlStrCache>
                <c:ptCount val="5"/>
                <c:lvl>
                  <c:pt idx="0">
                    <c:v>2022</c:v>
                  </c:pt>
                  <c:pt idx="1">
                    <c:v>2023</c:v>
                  </c:pt>
                  <c:pt idx="2">
                    <c:v>2024</c:v>
                  </c:pt>
                  <c:pt idx="3">
                    <c:v>2025</c:v>
                  </c:pt>
                  <c:pt idx="4">
                    <c:v>2026</c:v>
                  </c:pt>
                </c:lvl>
              </c:multiLvlStrCache>
            </c:multiLvlStrRef>
          </c:cat>
          <c:val>
            <c:numRef>
              <c:f>Sheet1!$E$2:$E$6</c:f>
              <c:numCache>
                <c:formatCode>General</c:formatCode>
                <c:ptCount val="5"/>
                <c:pt idx="0">
                  <c:v>0.76</c:v>
                </c:pt>
                <c:pt idx="1">
                  <c:v>0.62</c:v>
                </c:pt>
                <c:pt idx="2">
                  <c:v>0.57</c:v>
                </c:pt>
                <c:pt idx="3">
                  <c:v>0.66</c:v>
                </c:pt>
                <c:pt idx="4">
                  <c:v>0.67</c:v>
                </c:pt>
              </c:numCache>
            </c:numRef>
          </c:val>
          <c:smooth val="0"/>
        </c:ser>
        <c:ser>
          <c:idx val="4"/>
          <c:order val="4"/>
          <c:tx>
            <c:strRef>
              <c:f>Sheet1!$F$1</c:f>
              <c:strCache>
                <c:ptCount val="1"/>
                <c:pt idx="0">
                  <c:v>P. Bajos</c:v>
                </c:pt>
              </c:strCache>
            </c:strRef>
          </c:tx>
          <c:spPr>
            <a:solidFill>
              <a:srgbClr val="B9B9B9"/>
            </a:solidFill>
            <a:ln w="15875" cap="flat">
              <a:solidFill>
                <a:srgbClr val="B9B9B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9B9B9"/>
              </a:solidFill>
              <a:ln w="9525" cap="flat">
                <a:solidFill>
                  <a:srgbClr val="B9B9B9"/>
                </a:solidFill>
                <a:prstDash val="solid"/>
                <a:round/>
              </a:ln>
              <a:effectLst/>
            </c:spPr>
          </c:marker>
          <c:cat>
            <c:multiLvlStrRef>
              <c:f>Sheet1!$A$2:$A$6</c:f>
              <c:multiLvlStrCache>
                <c:ptCount val="5"/>
                <c:lvl>
                  <c:pt idx="0">
                    <c:v>2022</c:v>
                  </c:pt>
                  <c:pt idx="1">
                    <c:v>2023</c:v>
                  </c:pt>
                  <c:pt idx="2">
                    <c:v>2024</c:v>
                  </c:pt>
                  <c:pt idx="3">
                    <c:v>2025</c:v>
                  </c:pt>
                  <c:pt idx="4">
                    <c:v>2026</c:v>
                  </c:pt>
                </c:lvl>
              </c:multiLvlStrCache>
            </c:multiLvlStrRef>
          </c:cat>
          <c:val>
            <c:numRef>
              <c:f>Sheet1!$F$2:$F$6</c:f>
              <c:numCache>
                <c:formatCode>General</c:formatCode>
                <c:ptCount val="5"/>
                <c:pt idx="0">
                  <c:v>1.61</c:v>
                </c:pt>
                <c:pt idx="1">
                  <c:v>1.56</c:v>
                </c:pt>
                <c:pt idx="2">
                  <c:v>0.87</c:v>
                </c:pt>
                <c:pt idx="3">
                  <c:v>1.01</c:v>
                </c:pt>
                <c:pt idx="4">
                  <c:v>1.2</c:v>
                </c:pt>
              </c:numCache>
            </c:numRef>
          </c:val>
          <c:smooth val="0"/>
        </c:ser>
        <c:ser>
          <c:idx val="5"/>
          <c:order val="5"/>
          <c:tx>
            <c:strRef>
              <c:f>Sheet1!$G$1</c:f>
              <c:strCache>
                <c:ptCount val="1"/>
                <c:pt idx="0">
                  <c:v>Irlanda</c:v>
                </c:pt>
              </c:strCache>
            </c:strRef>
          </c:tx>
          <c:spPr>
            <a:solidFill>
              <a:srgbClr val="B9B9B9"/>
            </a:solidFill>
            <a:ln w="15875" cap="flat">
              <a:solidFill>
                <a:srgbClr val="B9B9B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9B9B9"/>
              </a:solidFill>
              <a:ln w="9525" cap="flat">
                <a:solidFill>
                  <a:srgbClr val="B9B9B9"/>
                </a:solidFill>
                <a:prstDash val="solid"/>
                <a:round/>
              </a:ln>
              <a:effectLst/>
            </c:spPr>
          </c:marker>
          <c:cat>
            <c:multiLvlStrRef>
              <c:f>Sheet1!$A$2:$A$6</c:f>
              <c:multiLvlStrCache>
                <c:ptCount val="5"/>
                <c:lvl>
                  <c:pt idx="0">
                    <c:v>2022</c:v>
                  </c:pt>
                  <c:pt idx="1">
                    <c:v>2023</c:v>
                  </c:pt>
                  <c:pt idx="2">
                    <c:v>2024</c:v>
                  </c:pt>
                  <c:pt idx="3">
                    <c:v>2025</c:v>
                  </c:pt>
                  <c:pt idx="4">
                    <c:v>2026</c:v>
                  </c:pt>
                </c:lvl>
              </c:multiLvlStrCache>
            </c:multiLvlStrRef>
          </c:cat>
          <c:val>
            <c:numRef>
              <c:f>Sheet1!$G$2:$G$6</c:f>
              <c:numCache>
                <c:formatCode>General</c:formatCode>
                <c:ptCount val="5"/>
                <c:pt idx="0">
                  <c:v>1.64</c:v>
                </c:pt>
                <c:pt idx="1">
                  <c:v>0.7</c:v>
                </c:pt>
                <c:pt idx="2">
                  <c:v>0.29</c:v>
                </c:pt>
                <c:pt idx="3">
                  <c:v>0.68</c:v>
                </c:pt>
                <c:pt idx="4">
                  <c:v>0.62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6"/>
          <c:order val="6"/>
          <c:tx>
            <c:strRef>
              <c:f>Sheet1!$H$1</c:f>
              <c:strCache>
                <c:ptCount val="1"/>
                <c:pt idx="0">
                  <c:v>España</c:v>
                </c:pt>
              </c:strCache>
            </c:strRef>
          </c:tx>
          <c:spPr>
            <a:solidFill>
              <a:srgbClr val="F56600"/>
            </a:solidFill>
            <a:ln w="38100" cap="flat">
              <a:solidFill>
                <a:srgbClr val="F566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56600"/>
              </a:solidFill>
              <a:ln w="9525" cap="flat">
                <a:solidFill>
                  <a:srgbClr val="F56600"/>
                </a:solidFill>
                <a:prstDash val="solid"/>
                <a:round/>
              </a:ln>
              <a:effectLst/>
            </c:spPr>
          </c:marker>
          <c:cat>
            <c:multiLvlStrRef>
              <c:f>Sheet1!$A$2:$A$6</c:f>
              <c:multiLvlStrCache>
                <c:ptCount val="5"/>
                <c:lvl>
                  <c:pt idx="0">
                    <c:v>2022</c:v>
                  </c:pt>
                  <c:pt idx="1">
                    <c:v>2023</c:v>
                  </c:pt>
                  <c:pt idx="2">
                    <c:v>2024</c:v>
                  </c:pt>
                  <c:pt idx="3">
                    <c:v>2025</c:v>
                  </c:pt>
                  <c:pt idx="4">
                    <c:v>2026</c:v>
                  </c:pt>
                </c:lvl>
              </c:multiLvlStrCache>
            </c:multiLvlStrRef>
          </c:cat>
          <c:val>
            <c:numRef>
              <c:f>Sheet1!$H$2:$H$6</c:f>
              <c:numCache>
                <c:formatCode>General</c:formatCode>
                <c:ptCount val="5"/>
                <c:pt idx="0">
                  <c:v>0.59</c:v>
                </c:pt>
                <c:pt idx="1">
                  <c:v>0.34</c:v>
                </c:pt>
                <c:pt idx="2">
                  <c:v>0.27</c:v>
                </c:pt>
                <c:pt idx="3">
                  <c:v>0.05</c:v>
                </c:pt>
                <c:pt idx="4">
                  <c:v>-0.03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ACACA"/>
            </a:solidFill>
            <a:prstDash val="solid"/>
            <a:round/>
          </a:ln>
        </c:spPr>
        <c:txPr>
          <a:bodyPr/>
          <a:lstStyle/>
          <a:p>
            <a:pPr>
              <a:defRPr sz="950" b="0" i="0" u="none" strike="noStrike">
                <a:solidFill>
                  <a:srgbClr val="2B2B2B"/>
                </a:solidFill>
                <a:latin typeface="Verdana"/>
              </a:defRPr>
            </a:pPr>
            <a:endParaRPr lang="en-US"/>
          </a:p>
        </c:txPr>
        <c:crossAx val="2094734552"/>
        <c:crosses val="autoZero"/>
        <c:auto val="1"/>
        <c:lblAlgn val="ctr"/>
        <c:noMultiLvlLbl val="1"/>
        <c:tickLblSkip val="1"/>
      </c:catAx>
      <c:valAx>
        <c:axId val="2094734552"/>
        <c:scaling>
          <c:orientation val="minMax"/>
          <c:max val="2"/>
          <c:min val="-0.5"/>
        </c:scaling>
        <c:delete val="0"/>
        <c:axPos val="l"/>
        <c:majorGridlines>
          <c:spPr>
            <a:ln w="9525" cap="flat">
              <a:solidFill>
                <a:srgbClr val="E6E9EC"/>
              </a:solidFill>
              <a:prstDash val="solid"/>
              <a:round/>
            </a:ln>
          </c:spPr>
        </c:majorGridlines>
        <c:numFmt formatCode="0.0" sourceLinked="0"/>
        <c:majorTickMark val="out"/>
        <c:minorTickMark val="none"/>
        <c:tickLblPos val="nextTo"/>
        <c:spPr>
          <a:ln w="12700" cap="flat">
            <a:noFill/>
            <a:prstDash val="solid"/>
            <a:round/>
          </a:ln>
        </c:spPr>
        <c:txPr>
          <a:bodyPr/>
          <a:lstStyle/>
          <a:p>
            <a:pPr>
              <a:defRPr sz="850" b="0" i="0" u="none" strike="noStrike">
                <a:solidFill>
                  <a:srgbClr val="818181"/>
                </a:solidFill>
                <a:latin typeface="Verdana"/>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Circulante</c:v>
                </c:pt>
              </c:strCache>
            </c:strRef>
          </c:tx>
          <c:spPr>
            <a:solidFill>
              <a:srgbClr val="F56600"/>
            </a:solidFill>
            <a:effectLst/>
          </c:spPr>
          <c:invertIfNegative val="0"/>
          <c:dLbls>
            <c:numFmt formatCode="0.00" sourceLinked="0"/>
            <c:txPr>
              <a:bodyPr/>
              <a:lstStyle/>
              <a:p>
                <a:pPr>
                  <a:defRPr b="0" i="0" strike="noStrike" sz="800" u="none">
                    <a:solidFill>
                      <a:srgbClr val="2B2B2B"/>
                    </a:solidFill>
                    <a:latin typeface="Verdana"/>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Sheet1!$B$2:$B$8</c:f>
              <c:numCache>
                <c:formatCode>General</c:formatCode>
                <c:ptCount val="7"/>
                <c:pt idx="0">
                  <c:v>3.58</c:v>
                </c:pt>
                <c:pt idx="1">
                  <c:v>4.95</c:v>
                </c:pt>
                <c:pt idx="2">
                  <c:v>3.39</c:v>
                </c:pt>
                <c:pt idx="3">
                  <c:v>4.11</c:v>
                </c:pt>
                <c:pt idx="4">
                  <c:v>4.41</c:v>
                </c:pt>
                <c:pt idx="5">
                  <c:v>2.46</c:v>
                </c:pt>
                <c:pt idx="6">
                  <c:v>4.92</c:v>
                </c:pt>
              </c:numCache>
            </c:numRef>
          </c:val>
        </c:ser>
        <c:ser>
          <c:idx val="1"/>
          <c:order val="1"/>
          <c:tx>
            <c:strRef>
              <c:f>Sheet1!$C$1</c:f>
              <c:strCache>
                <c:ptCount val="1"/>
                <c:pt idx="0">
                  <c:v>Préstamo, todas las cuantías</c:v>
                </c:pt>
              </c:strCache>
            </c:strRef>
          </c:tx>
          <c:spPr>
            <a:solidFill>
              <a:srgbClr val="B9B9B9"/>
            </a:solidFill>
            <a:effectLst/>
          </c:spPr>
          <c:invertIfNegative val="0"/>
          <c:dLbls>
            <c:numFmt formatCode="0.00" sourceLinked="0"/>
            <c:txPr>
              <a:bodyPr/>
              <a:lstStyle/>
              <a:p>
                <a:pPr>
                  <a:defRPr b="0" i="0" strike="noStrike" sz="800" u="none">
                    <a:solidFill>
                      <a:srgbClr val="2B2B2B"/>
                    </a:solidFill>
                    <a:latin typeface="Verdana"/>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Sheet1!$C$2:$C$8</c:f>
              <c:numCache>
                <c:formatCode>General</c:formatCode>
                <c:ptCount val="7"/>
                <c:pt idx="0">
                  <c:v>3.42</c:v>
                </c:pt>
                <c:pt idx="1">
                  <c:v>3.57</c:v>
                </c:pt>
                <c:pt idx="2">
                  <c:v>3.57</c:v>
                </c:pt>
                <c:pt idx="3">
                  <c:v>3.57</c:v>
                </c:pt>
                <c:pt idx="4">
                  <c:v>3.82</c:v>
                </c:pt>
                <c:pt idx="5">
                  <c:v>3.47</c:v>
                </c:pt>
                <c:pt idx="6">
                  <c:v>5.01</c:v>
                </c:pt>
              </c:numCache>
            </c:numRef>
          </c:val>
        </c:ser>
        <c:dLbls>
          <c:numFmt formatCode="0.00" sourceLinked="0"/>
          <c:txPr>
            <a:bodyPr/>
            <a:lstStyle/>
            <a:p>
              <a:pPr>
                <a:defRPr b="0" i="0" strike="noStrike" sz="800" u="none">
                  <a:solidFill>
                    <a:srgbClr val="2B2B2B"/>
                  </a:solidFill>
                  <a:latin typeface="Verdana"/>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ACACA"/>
            </a:solidFill>
            <a:prstDash val="solid"/>
            <a:round/>
          </a:ln>
        </c:spPr>
        <c:txPr>
          <a:bodyPr/>
          <a:lstStyle/>
          <a:p>
            <a:pPr>
              <a:defRPr sz="950" b="0" i="0" u="none" strike="noStrike">
                <a:solidFill>
                  <a:srgbClr val="2B2B2B"/>
                </a:solidFill>
                <a:latin typeface="Verdana"/>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9525" cap="flat">
              <a:solidFill>
                <a:srgbClr val="E6E9EC"/>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850" b="0" i="0" u="none" strike="noStrike">
                <a:solidFill>
                  <a:srgbClr val="818181"/>
                </a:solidFill>
                <a:latin typeface="Verdana"/>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2B2B2B"/>
              </a:solidFill>
              <a:latin typeface="Verdana"/>
              <a:cs typeface="Verdana"/>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Empresas</c:v>
                </c:pt>
              </c:strCache>
            </c:strRef>
          </c:tx>
          <c:spPr>
            <a:solidFill>
              <a:srgbClr val="F56600"/>
            </a:solidFill>
            <a:effectLst/>
          </c:spPr>
          <c:invertIfNegative val="0"/>
          <c:dLbls>
            <c:numFmt formatCode="0.00" sourceLinked="0"/>
            <c:txPr>
              <a:bodyPr/>
              <a:lstStyle/>
              <a:p>
                <a:pPr>
                  <a:defRPr b="0" i="0" strike="noStrike" sz="800" u="none">
                    <a:solidFill>
                      <a:srgbClr val="2B2B2B"/>
                    </a:solidFill>
                    <a:latin typeface="Verdana"/>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Sheet1!$B$2:$B$8</c:f>
              <c:numCache>
                <c:formatCode>General</c:formatCode>
                <c:ptCount val="7"/>
                <c:pt idx="0">
                  <c:v>0.76</c:v>
                </c:pt>
                <c:pt idx="1">
                  <c:v>1.09</c:v>
                </c:pt>
                <c:pt idx="2">
                  <c:v>1.21</c:v>
                </c:pt>
                <c:pt idx="3">
                  <c:v>0.74</c:v>
                </c:pt>
                <c:pt idx="4">
                  <c:v>0.74</c:v>
                </c:pt>
                <c:pt idx="5">
                  <c:v>1.04</c:v>
                </c:pt>
                <c:pt idx="6">
                  <c:v>0.37</c:v>
                </c:pt>
              </c:numCache>
            </c:numRef>
          </c:val>
        </c:ser>
        <c:ser>
          <c:idx val="1"/>
          <c:order val="1"/>
          <c:tx>
            <c:strRef>
              <c:f>Sheet1!$C$1</c:f>
              <c:strCache>
                <c:ptCount val="1"/>
                <c:pt idx="0">
                  <c:v>Hogares</c:v>
                </c:pt>
              </c:strCache>
            </c:strRef>
          </c:tx>
          <c:spPr>
            <a:solidFill>
              <a:srgbClr val="2A6FB0"/>
            </a:solidFill>
            <a:effectLst/>
          </c:spPr>
          <c:invertIfNegative val="0"/>
          <c:dLbls>
            <c:numFmt formatCode="0.00" sourceLinked="0"/>
            <c:txPr>
              <a:bodyPr/>
              <a:lstStyle/>
              <a:p>
                <a:pPr>
                  <a:defRPr b="0" i="0" strike="noStrike" sz="800" u="none">
                    <a:solidFill>
                      <a:srgbClr val="2B2B2B"/>
                    </a:solidFill>
                    <a:latin typeface="Verdana"/>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Sheet1!$C$2:$C$8</c:f>
              <c:numCache>
                <c:formatCode>General</c:formatCode>
                <c:ptCount val="7"/>
                <c:pt idx="0">
                  <c:v>0.4</c:v>
                </c:pt>
                <c:pt idx="1">
                  <c:v>0.88</c:v>
                </c:pt>
                <c:pt idx="2">
                  <c:v>1.18</c:v>
                </c:pt>
                <c:pt idx="3">
                  <c:v>0.6</c:v>
                </c:pt>
                <c:pt idx="4">
                  <c:v>0.83</c:v>
                </c:pt>
                <c:pt idx="5">
                  <c:v>1.24</c:v>
                </c:pt>
                <c:pt idx="6">
                  <c:v>0.36</c:v>
                </c:pt>
              </c:numCache>
            </c:numRef>
          </c:val>
        </c:ser>
        <c:ser>
          <c:idx val="2"/>
          <c:order val="2"/>
          <c:tx>
            <c:strRef>
              <c:f>Sheet1!$D$1</c:f>
              <c:strCache>
                <c:ptCount val="1"/>
                <c:pt idx="0">
                  <c:v>Sistema (empresas y hogares)</c:v>
                </c:pt>
              </c:strCache>
            </c:strRef>
          </c:tx>
          <c:spPr>
            <a:solidFill>
              <a:srgbClr val="B8336A"/>
            </a:solidFill>
            <a:effectLst/>
          </c:spPr>
          <c:invertIfNegative val="0"/>
          <c:dLbls>
            <c:numFmt formatCode="0.00" sourceLinked="0"/>
            <c:txPr>
              <a:bodyPr/>
              <a:lstStyle/>
              <a:p>
                <a:pPr>
                  <a:defRPr b="0" i="0" strike="noStrike" sz="800" u="none">
                    <a:solidFill>
                      <a:srgbClr val="2B2B2B"/>
                    </a:solidFill>
                    <a:latin typeface="Verdana"/>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Sheet1!$D$2:$D$8</c:f>
              <c:numCache>
                <c:formatCode>General</c:formatCode>
                <c:ptCount val="7"/>
                <c:pt idx="0">
                  <c:v>0.49</c:v>
                </c:pt>
                <c:pt idx="1">
                  <c:v>0.93</c:v>
                </c:pt>
                <c:pt idx="2">
                  <c:v>1.19</c:v>
                </c:pt>
                <c:pt idx="3">
                  <c:v>0.64</c:v>
                </c:pt>
                <c:pt idx="4">
                  <c:v>0.8</c:v>
                </c:pt>
                <c:pt idx="5">
                  <c:v>1.18</c:v>
                </c:pt>
                <c:pt idx="6">
                  <c:v>0.36</c:v>
                </c:pt>
              </c:numCache>
            </c:numRef>
          </c:val>
        </c:ser>
        <c:dLbls>
          <c:numFmt formatCode="0.00" sourceLinked="0"/>
          <c:txPr>
            <a:bodyPr/>
            <a:lstStyle/>
            <a:p>
              <a:pPr>
                <a:defRPr b="0" i="0" strike="noStrike" sz="800" u="none">
                  <a:solidFill>
                    <a:srgbClr val="2B2B2B"/>
                  </a:solidFill>
                  <a:latin typeface="Verdana"/>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ACACA"/>
            </a:solidFill>
            <a:prstDash val="solid"/>
            <a:round/>
          </a:ln>
        </c:spPr>
        <c:txPr>
          <a:bodyPr/>
          <a:lstStyle/>
          <a:p>
            <a:pPr>
              <a:defRPr sz="950" b="0" i="0" u="none" strike="noStrike">
                <a:solidFill>
                  <a:srgbClr val="2B2B2B"/>
                </a:solidFill>
                <a:latin typeface="Verdana"/>
              </a:defRPr>
            </a:pPr>
            <a:endParaRPr lang="en-US"/>
          </a:p>
        </c:txPr>
        <c:crossAx val="2094734552"/>
        <c:crosses val="autoZero"/>
        <c:auto val="1"/>
        <c:lblAlgn val="ctr"/>
        <c:noMultiLvlLbl val="1"/>
      </c:catAx>
      <c:valAx>
        <c:axId val="2094734552"/>
        <c:scaling>
          <c:orientation val="minMax"/>
          <c:max val="1.5"/>
          <c:min val="0"/>
        </c:scaling>
        <c:delete val="0"/>
        <c:axPos val="l"/>
        <c:majorGridlines>
          <c:spPr>
            <a:ln w="9525" cap="flat">
              <a:solidFill>
                <a:srgbClr val="E6E9EC"/>
              </a:solidFill>
              <a:prstDash val="solid"/>
              <a:round/>
            </a:ln>
          </c:spPr>
        </c:majorGridlines>
        <c:numFmt formatCode="0.0&quot;%&quot;" sourceLinked="0"/>
        <c:majorTickMark val="out"/>
        <c:minorTickMark val="none"/>
        <c:tickLblPos val="nextTo"/>
        <c:spPr>
          <a:ln w="12700" cap="flat">
            <a:noFill/>
            <a:prstDash val="solid"/>
            <a:round/>
          </a:ln>
        </c:spPr>
        <c:txPr>
          <a:bodyPr/>
          <a:lstStyle/>
          <a:p>
            <a:pPr>
              <a:defRPr sz="850" b="0" i="0" u="none" strike="noStrike">
                <a:solidFill>
                  <a:srgbClr val="818181"/>
                </a:solidFill>
                <a:latin typeface="Verdana"/>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2B2B2B"/>
              </a:solidFill>
              <a:latin typeface="Verdana"/>
              <a:cs typeface="Verdana"/>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2B2B2B"/>
                </a:solidFill>
                <a:latin typeface="Verdana"/>
              </a:defRPr>
            </a:pPr>
            <a:r>
              <a:rPr sz="1050" b="0" i="0" u="none" strike="noStrike">
                <a:solidFill>
                  <a:srgbClr val="2B2B2B"/>
                </a:solidFill>
                <a:latin typeface="Verdana"/>
              </a:rPr>
              <a:t>Fue rechazada, % de las que solicitaron</a:t>
            </a:r>
          </a:p>
        </c:rich>
      </c:tx>
      <c:layout/>
      <c:overlay val="0"/>
    </c:title>
    <c:autoTitleDeleted val="0"/>
    <c:plotArea>
      <c:layout/>
      <c:barChart>
        <c:barDir val="col"/>
        <c:grouping val="clustered"/>
        <c:varyColors val="0"/>
        <c:ser>
          <c:idx val="0"/>
          <c:order val="0"/>
          <c:tx>
            <c:strRef>
              <c:f>Sheet1!$B$1</c:f>
              <c:strCache>
                <c:ptCount val="1"/>
                <c:pt idx="0">
                  <c:v>valor</c:v>
                </c:pt>
              </c:strCache>
            </c:strRef>
          </c:tx>
          <c:spPr>
            <a:solidFill>
              <a:srgbClr val="F56600"/>
            </a:solidFill>
            <a:effectLst/>
          </c:spPr>
          <c:invertIfNegative val="0"/>
          <c:dLbls>
            <c:numFmt formatCode="0.0&quot;%&quot;" sourceLinked="0"/>
            <c:txPr>
              <a:bodyPr/>
              <a:lstStyle/>
              <a:p>
                <a:pPr>
                  <a:defRPr b="0" i="0" strike="noStrike" sz="900" u="none">
                    <a:solidFill>
                      <a:srgbClr val="2B2B2B"/>
                    </a:solidFill>
                    <a:latin typeface="Verdana"/>
                  </a:defRPr>
                </a:pPr>
              </a:p>
            </c:txPr>
            <c:showLegendKey val="0"/>
            <c:showVal val="1"/>
            <c:showCatName val="0"/>
            <c:showSerName val="0"/>
            <c:showPercent val="0"/>
            <c:showBubbleSize val="0"/>
            <c:showLeaderLines val="0"/>
          </c:dLbls>
          <c:dPt>
            <c:idx val="0"/>
            <c:invertIfNegative val="0"/>
            <c:bubble3D val="0"/>
            <c:spPr>
              <a:solidFill>
                <a:srgbClr val="F56600"/>
              </a:solidFill>
              <a:effectLst/>
            </c:spPr>
          </c:dPt>
          <c:dPt>
            <c:idx val="1"/>
            <c:invertIfNegative val="0"/>
            <c:bubble3D val="0"/>
            <c:spPr>
              <a:solidFill>
                <a:srgbClr val="B9B9B9"/>
              </a:solidFill>
              <a:effectLst/>
            </c:spPr>
          </c:dPt>
          <c:dPt>
            <c:idx val="2"/>
            <c:invertIfNegative val="0"/>
            <c:bubble3D val="0"/>
            <c:spPr>
              <a:solidFill>
                <a:srgbClr val="B9B9B9"/>
              </a:solidFill>
              <a:effectLst/>
            </c:spPr>
          </c:dPt>
          <c:dPt>
            <c:idx val="3"/>
            <c:invertIfNegative val="0"/>
            <c:bubble3D val="0"/>
            <c:spPr>
              <a:solidFill>
                <a:srgbClr val="B9B9B9"/>
              </a:solidFill>
              <a:effectLst/>
            </c:spPr>
          </c:dPt>
          <c:dPt>
            <c:idx val="4"/>
            <c:invertIfNegative val="0"/>
            <c:bubble3D val="0"/>
            <c:spPr>
              <a:solidFill>
                <a:srgbClr val="B9B9B9"/>
              </a:solidFill>
              <a:effectLst/>
            </c:spPr>
          </c:dPt>
          <c:dPt>
            <c:idx val="5"/>
            <c:invertIfNegative val="0"/>
            <c:bubble3D val="0"/>
            <c:spPr>
              <a:solidFill>
                <a:srgbClr val="B9B9B9"/>
              </a:solidFill>
              <a:effectLst/>
            </c:spPr>
          </c:dPt>
          <c:dPt>
            <c:idx val="6"/>
            <c:invertIfNegative val="0"/>
            <c:bubble3D val="0"/>
            <c:spPr>
              <a:solidFill>
                <a:srgbClr val="B9B9B9"/>
              </a:solidFill>
              <a:effectLst/>
            </c:spPr>
          </c:dPt>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Sheet1!$B$2:$B$8</c:f>
              <c:numCache>
                <c:formatCode>General</c:formatCode>
                <c:ptCount val="7"/>
                <c:pt idx="0">
                  <c:v>9.7</c:v>
                </c:pt>
                <c:pt idx="1">
                  <c:v>5.5</c:v>
                </c:pt>
                <c:pt idx="2">
                  <c:v>8.2</c:v>
                </c:pt>
                <c:pt idx="3">
                  <c:v>0.7</c:v>
                </c:pt>
                <c:pt idx="4">
                  <c:v>4.1</c:v>
                </c:pt>
                <c:pt idx="5">
                  <c:v>13.6</c:v>
                </c:pt>
                <c:pt idx="6">
                  <c:v>9.2</c:v>
                </c:pt>
              </c:numCache>
            </c:numRef>
          </c:val>
        </c:ser>
        <c:dLbls>
          <c:numFmt formatCode="0.0&quot;%&quot;" sourceLinked="0"/>
          <c:txPr>
            <a:bodyPr/>
            <a:lstStyle/>
            <a:p>
              <a:pPr>
                <a:defRPr b="0" i="0" strike="noStrike" sz="900" u="none">
                  <a:solidFill>
                    <a:srgbClr val="2B2B2B"/>
                  </a:solidFill>
                  <a:latin typeface="Verdana"/>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ACACA"/>
            </a:solidFill>
            <a:prstDash val="solid"/>
            <a:round/>
          </a:ln>
        </c:spPr>
        <c:txPr>
          <a:bodyPr/>
          <a:lstStyle/>
          <a:p>
            <a:pPr>
              <a:defRPr sz="950" b="0" i="0" u="none" strike="noStrike">
                <a:solidFill>
                  <a:srgbClr val="2B2B2B"/>
                </a:solidFill>
                <a:latin typeface="Verdana"/>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E6E9EC"/>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850" b="0" i="0" u="none" strike="noStrike">
                <a:solidFill>
                  <a:srgbClr val="818181"/>
                </a:solidFill>
                <a:latin typeface="Verdana"/>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España</c:v>
                </c:pt>
              </c:strCache>
            </c:strRef>
          </c:tx>
          <c:spPr>
            <a:solidFill>
              <a:srgbClr val="F56600"/>
            </a:solidFill>
            <a:ln w="28575" cap="flat">
              <a:solidFill>
                <a:srgbClr val="F566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56600"/>
              </a:solidFill>
              <a:ln w="9525" cap="flat">
                <a:solidFill>
                  <a:srgbClr val="F56600"/>
                </a:solidFill>
                <a:prstDash val="solid"/>
                <a:round/>
              </a:ln>
              <a:effectLst/>
            </c:spPr>
          </c:marker>
          <c:cat>
            <c:multiLvlStrRef>
              <c:f>Sheet1!$A$2:$A$22</c:f>
              <c:multiLvlStrCache>
                <c:ptCount val="21"/>
                <c:lvl>
                  <c:pt idx="0">
                    <c:v>2015-S1</c:v>
                  </c:pt>
                  <c:pt idx="1">
                    <c:v>2015-S2</c:v>
                  </c:pt>
                  <c:pt idx="2">
                    <c:v>2016-S1</c:v>
                  </c:pt>
                  <c:pt idx="3">
                    <c:v>2016-S2</c:v>
                  </c:pt>
                  <c:pt idx="4">
                    <c:v>2017-S1</c:v>
                  </c:pt>
                  <c:pt idx="5">
                    <c:v>2017-S2</c:v>
                  </c:pt>
                  <c:pt idx="6">
                    <c:v>2018-S1</c:v>
                  </c:pt>
                  <c:pt idx="7">
                    <c:v>2018-S2</c:v>
                  </c:pt>
                  <c:pt idx="8">
                    <c:v>2019-S1</c:v>
                  </c:pt>
                  <c:pt idx="9">
                    <c:v>2019-S2</c:v>
                  </c:pt>
                  <c:pt idx="10">
                    <c:v>2020-S1</c:v>
                  </c:pt>
                  <c:pt idx="11">
                    <c:v>2020-S2</c:v>
                  </c:pt>
                  <c:pt idx="12">
                    <c:v>2021-S1</c:v>
                  </c:pt>
                  <c:pt idx="13">
                    <c:v>2021-S2</c:v>
                  </c:pt>
                  <c:pt idx="14">
                    <c:v>2022-S1</c:v>
                  </c:pt>
                  <c:pt idx="15">
                    <c:v>2022-S2</c:v>
                  </c:pt>
                  <c:pt idx="16">
                    <c:v>2023-S1</c:v>
                  </c:pt>
                  <c:pt idx="17">
                    <c:v>2023-S2</c:v>
                  </c:pt>
                  <c:pt idx="18">
                    <c:v>2024-S1</c:v>
                  </c:pt>
                  <c:pt idx="19">
                    <c:v>2024-S2</c:v>
                  </c:pt>
                  <c:pt idx="20">
                    <c:v>2025-S1</c:v>
                  </c:pt>
                </c:lvl>
              </c:multiLvlStrCache>
            </c:multiLvlStrRef>
          </c:cat>
          <c:val>
            <c:numRef>
              <c:f>Sheet1!$B$2:$B$22</c:f>
              <c:numCache>
                <c:formatCode>General</c:formatCode>
                <c:ptCount val="21"/>
                <c:pt idx="0">
                  <c:v>-11.3</c:v>
                </c:pt>
                <c:pt idx="1">
                  <c:v>-12.7</c:v>
                </c:pt>
                <c:pt idx="2">
                  <c:v>-11.5</c:v>
                </c:pt>
                <c:pt idx="3">
                  <c:v>-9.8</c:v>
                </c:pt>
                <c:pt idx="4">
                  <c:v>-10.1</c:v>
                </c:pt>
                <c:pt idx="5">
                  <c:v>-11.3</c:v>
                </c:pt>
                <c:pt idx="6">
                  <c:v>-9.4</c:v>
                </c:pt>
                <c:pt idx="7">
                  <c:v>-6.1</c:v>
                </c:pt>
                <c:pt idx="8">
                  <c:v>-3.4</c:v>
                </c:pt>
                <c:pt idx="9">
                  <c:v>3.8</c:v>
                </c:pt>
                <c:pt idx="10">
                  <c:v>8.1</c:v>
                </c:pt>
                <c:pt idx="11">
                  <c:v>5.8</c:v>
                </c:pt>
                <c:pt idx="12">
                  <c:v>-1</c:v>
                </c:pt>
                <c:pt idx="13">
                  <c:v>2</c:v>
                </c:pt>
                <c:pt idx="14">
                  <c:v>8.5</c:v>
                </c:pt>
                <c:pt idx="15">
                  <c:v>7.4</c:v>
                </c:pt>
                <c:pt idx="16">
                  <c:v>4.4</c:v>
                </c:pt>
                <c:pt idx="17">
                  <c:v>-0.5</c:v>
                </c:pt>
                <c:pt idx="18">
                  <c:v>-2.7</c:v>
                </c:pt>
                <c:pt idx="19">
                  <c:v>-3.7</c:v>
                </c:pt>
                <c:pt idx="20">
                  <c:v>-1.3</c:v>
                </c:pt>
              </c:numCache>
            </c:numRef>
          </c:val>
          <c:smooth val="0"/>
        </c:ser>
        <c:ser>
          <c:idx val="1"/>
          <c:order val="1"/>
          <c:tx>
            <c:strRef>
              <c:f>Sheet1!$C$1</c:f>
              <c:strCache>
                <c:ptCount val="1"/>
                <c:pt idx="0">
                  <c:v>Zona euro</c:v>
                </c:pt>
              </c:strCache>
            </c:strRef>
          </c:tx>
          <c:spPr>
            <a:solidFill>
              <a:srgbClr val="2A6FB0"/>
            </a:solidFill>
            <a:ln w="28575" cap="flat">
              <a:solidFill>
                <a:srgbClr val="2A6FB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6FB0"/>
              </a:solidFill>
              <a:ln w="9525" cap="flat">
                <a:solidFill>
                  <a:srgbClr val="2A6FB0"/>
                </a:solidFill>
                <a:prstDash val="solid"/>
                <a:round/>
              </a:ln>
              <a:effectLst/>
            </c:spPr>
          </c:marker>
          <c:cat>
            <c:multiLvlStrRef>
              <c:f>Sheet1!$A$2:$A$22</c:f>
              <c:multiLvlStrCache>
                <c:ptCount val="21"/>
                <c:lvl>
                  <c:pt idx="0">
                    <c:v>2015-S1</c:v>
                  </c:pt>
                  <c:pt idx="1">
                    <c:v>2015-S2</c:v>
                  </c:pt>
                  <c:pt idx="2">
                    <c:v>2016-S1</c:v>
                  </c:pt>
                  <c:pt idx="3">
                    <c:v>2016-S2</c:v>
                  </c:pt>
                  <c:pt idx="4">
                    <c:v>2017-S1</c:v>
                  </c:pt>
                  <c:pt idx="5">
                    <c:v>2017-S2</c:v>
                  </c:pt>
                  <c:pt idx="6">
                    <c:v>2018-S1</c:v>
                  </c:pt>
                  <c:pt idx="7">
                    <c:v>2018-S2</c:v>
                  </c:pt>
                  <c:pt idx="8">
                    <c:v>2019-S1</c:v>
                  </c:pt>
                  <c:pt idx="9">
                    <c:v>2019-S2</c:v>
                  </c:pt>
                  <c:pt idx="10">
                    <c:v>2020-S1</c:v>
                  </c:pt>
                  <c:pt idx="11">
                    <c:v>2020-S2</c:v>
                  </c:pt>
                  <c:pt idx="12">
                    <c:v>2021-S1</c:v>
                  </c:pt>
                  <c:pt idx="13">
                    <c:v>2021-S2</c:v>
                  </c:pt>
                  <c:pt idx="14">
                    <c:v>2022-S1</c:v>
                  </c:pt>
                  <c:pt idx="15">
                    <c:v>2022-S2</c:v>
                  </c:pt>
                  <c:pt idx="16">
                    <c:v>2023-S1</c:v>
                  </c:pt>
                  <c:pt idx="17">
                    <c:v>2023-S2</c:v>
                  </c:pt>
                  <c:pt idx="18">
                    <c:v>2024-S1</c:v>
                  </c:pt>
                  <c:pt idx="19">
                    <c:v>2024-S2</c:v>
                  </c:pt>
                  <c:pt idx="20">
                    <c:v>2025-S1</c:v>
                  </c:pt>
                </c:lvl>
              </c:multiLvlStrCache>
            </c:multiLvlStrRef>
          </c:cat>
          <c:val>
            <c:numRef>
              <c:f>Sheet1!$C$2:$C$22</c:f>
              <c:numCache>
                <c:formatCode>General</c:formatCode>
                <c:ptCount val="21"/>
                <c:pt idx="0">
                  <c:v>-2.6</c:v>
                </c:pt>
                <c:pt idx="1">
                  <c:v>-2.7</c:v>
                </c:pt>
                <c:pt idx="2">
                  <c:v>-4.6</c:v>
                </c:pt>
                <c:pt idx="3">
                  <c:v>-4.5</c:v>
                </c:pt>
                <c:pt idx="4">
                  <c:v>-4.2</c:v>
                </c:pt>
                <c:pt idx="5">
                  <c:v>-3.8</c:v>
                </c:pt>
                <c:pt idx="6">
                  <c:v>-2.9</c:v>
                </c:pt>
                <c:pt idx="7">
                  <c:v>-1.9</c:v>
                </c:pt>
                <c:pt idx="8">
                  <c:v>-3.7</c:v>
                </c:pt>
                <c:pt idx="9">
                  <c:v>0.8</c:v>
                </c:pt>
                <c:pt idx="10">
                  <c:v>2.1</c:v>
                </c:pt>
                <c:pt idx="11">
                  <c:v>2.3</c:v>
                </c:pt>
                <c:pt idx="12">
                  <c:v>-4.7</c:v>
                </c:pt>
                <c:pt idx="13">
                  <c:v>2.5</c:v>
                </c:pt>
                <c:pt idx="14">
                  <c:v>6.7</c:v>
                </c:pt>
                <c:pt idx="15">
                  <c:v>6.9</c:v>
                </c:pt>
                <c:pt idx="16">
                  <c:v>8.5</c:v>
                </c:pt>
                <c:pt idx="17">
                  <c:v>5</c:v>
                </c:pt>
                <c:pt idx="18">
                  <c:v>3.8</c:v>
                </c:pt>
                <c:pt idx="19">
                  <c:v>1</c:v>
                </c:pt>
                <c:pt idx="20">
                  <c:v>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ACACA"/>
            </a:solidFill>
            <a:prstDash val="solid"/>
            <a:round/>
          </a:ln>
        </c:spPr>
        <c:txPr>
          <a:bodyPr/>
          <a:lstStyle/>
          <a:p>
            <a:pPr>
              <a:defRPr sz="950" b="0" i="0" u="none" strike="noStrike">
                <a:solidFill>
                  <a:srgbClr val="2B2B2B"/>
                </a:solidFill>
                <a:latin typeface="Verdana"/>
              </a:defRPr>
            </a:pPr>
            <a:endParaRPr lang="en-US"/>
          </a:p>
        </c:txPr>
        <c:crossAx val="2094734552"/>
        <c:crosses val="autoZero"/>
        <c:auto val="1"/>
        <c:lblAlgn val="ctr"/>
        <c:noMultiLvlLbl val="1"/>
        <c:tickLblSkip val="2"/>
      </c:catAx>
      <c:valAx>
        <c:axId val="2094734552"/>
        <c:scaling>
          <c:orientation val="minMax"/>
        </c:scaling>
        <c:delete val="0"/>
        <c:axPos val="l"/>
        <c:majorGridlines>
          <c:spPr>
            <a:ln w="9525" cap="flat">
              <a:solidFill>
                <a:srgbClr val="E6E9EC"/>
              </a:solidFill>
              <a:prstDash val="solid"/>
              <a:round/>
            </a:ln>
          </c:spPr>
        </c:majorGridlines>
        <c:numFmt formatCode="0" sourceLinked="0"/>
        <c:majorTickMark val="out"/>
        <c:minorTickMark val="none"/>
        <c:tickLblPos val="nextTo"/>
        <c:spPr>
          <a:ln w="12700" cap="flat">
            <a:noFill/>
            <a:prstDash val="solid"/>
            <a:round/>
          </a:ln>
        </c:spPr>
        <c:txPr>
          <a:bodyPr/>
          <a:lstStyle/>
          <a:p>
            <a:pPr>
              <a:defRPr sz="850" b="0" i="0" u="none" strike="noStrike">
                <a:solidFill>
                  <a:srgbClr val="818181"/>
                </a:solidFill>
                <a:latin typeface="Verdana"/>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2B2B2B"/>
              </a:solidFill>
              <a:latin typeface="Verdana"/>
              <a:cs typeface="Verdana"/>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2B2B2B"/>
                </a:solidFill>
                <a:latin typeface="Verdana"/>
              </a:defRPr>
            </a:pPr>
            <a:r>
              <a:rPr sz="1050" b="0" i="0" u="none" strike="noStrike">
                <a:solidFill>
                  <a:srgbClr val="2B2B2B"/>
                </a:solidFill>
                <a:latin typeface="Verdana"/>
              </a:rPr>
              <a:t>Préstamos a PYME, miles de millones de €</a:t>
            </a:r>
          </a:p>
        </c:rich>
      </c:tx>
      <c:layout/>
      <c:overlay val="0"/>
    </c:title>
    <c:autoTitleDeleted val="0"/>
    <c:plotArea>
      <c:layout/>
      <c:barChart>
        <c:barDir val="col"/>
        <c:grouping val="clustered"/>
        <c:varyColors val="0"/>
        <c:ser>
          <c:idx val="0"/>
          <c:order val="0"/>
          <c:tx>
            <c:strRef>
              <c:f>Sheet1!$B$1</c:f>
              <c:strCache>
                <c:ptCount val="1"/>
                <c:pt idx="0">
                  <c:v>valor</c:v>
                </c:pt>
              </c:strCache>
            </c:strRef>
          </c:tx>
          <c:spPr>
            <a:solidFill>
              <a:srgbClr val="F56600"/>
            </a:solidFill>
            <a:effectLst/>
          </c:spPr>
          <c:invertIfNegative val="0"/>
          <c:dLbls>
            <c:numFmt formatCode="0.0" sourceLinked="0"/>
            <c:txPr>
              <a:bodyPr/>
              <a:lstStyle/>
              <a:p>
                <a:pPr>
                  <a:defRPr b="0" i="0" strike="noStrike" sz="900" u="none">
                    <a:solidFill>
                      <a:srgbClr val="2B2B2B"/>
                    </a:solidFill>
                    <a:latin typeface="Verdana"/>
                  </a:defRPr>
                </a:pPr>
              </a:p>
            </c:txPr>
            <c:showLegendKey val="0"/>
            <c:showVal val="1"/>
            <c:showCatName val="0"/>
            <c:showSerName val="0"/>
            <c:showPercent val="0"/>
            <c:showBubbleSize val="0"/>
            <c:showLeaderLines val="0"/>
          </c:dLbls>
          <c:dPt>
            <c:idx val="0"/>
            <c:invertIfNegative val="0"/>
            <c:bubble3D val="0"/>
            <c:spPr>
              <a:solidFill>
                <a:srgbClr val="F56600"/>
              </a:solidFill>
              <a:effectLst/>
            </c:spPr>
          </c:dPt>
          <c:dPt>
            <c:idx val="1"/>
            <c:invertIfNegative val="0"/>
            <c:bubble3D val="0"/>
            <c:spPr>
              <a:solidFill>
                <a:srgbClr val="B9B9B9"/>
              </a:solidFill>
              <a:effectLst/>
            </c:spPr>
          </c:dPt>
          <c:dPt>
            <c:idx val="2"/>
            <c:invertIfNegative val="0"/>
            <c:bubble3D val="0"/>
            <c:spPr>
              <a:solidFill>
                <a:srgbClr val="B9B9B9"/>
              </a:solidFill>
              <a:effectLst/>
            </c:spPr>
          </c:dPt>
          <c:dPt>
            <c:idx val="3"/>
            <c:invertIfNegative val="0"/>
            <c:bubble3D val="0"/>
            <c:spPr>
              <a:solidFill>
                <a:srgbClr val="B9B9B9"/>
              </a:solidFill>
              <a:effectLst/>
            </c:spPr>
          </c:dPt>
          <c:dPt>
            <c:idx val="4"/>
            <c:invertIfNegative val="0"/>
            <c:bubble3D val="0"/>
            <c:spPr>
              <a:solidFill>
                <a:srgbClr val="B9B9B9"/>
              </a:solidFill>
              <a:effectLst/>
            </c:spPr>
          </c:dPt>
          <c:dPt>
            <c:idx val="5"/>
            <c:invertIfNegative val="0"/>
            <c:bubble3D val="0"/>
            <c:spPr>
              <a:solidFill>
                <a:srgbClr val="B9B9B9"/>
              </a:solidFill>
              <a:effectLst/>
            </c:spPr>
          </c:dPt>
          <c:dPt>
            <c:idx val="6"/>
            <c:invertIfNegative val="0"/>
            <c:bubble3D val="0"/>
            <c:spPr>
              <a:solidFill>
                <a:srgbClr val="B9B9B9"/>
              </a:solidFill>
              <a:effectLst/>
            </c:spPr>
          </c:dPt>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Sheet1!$B$2:$B$8</c:f>
              <c:numCache>
                <c:formatCode>General</c:formatCode>
                <c:ptCount val="7"/>
                <c:pt idx="0">
                  <c:v>272.692</c:v>
                </c:pt>
                <c:pt idx="1">
                  <c:v>249.005</c:v>
                </c:pt>
                <c:pt idx="2">
                  <c:v>911.017</c:v>
                </c:pt>
                <c:pt idx="3">
                  <c:v>260.114</c:v>
                </c:pt>
                <c:pt idx="4">
                  <c:v>36.823</c:v>
                </c:pt>
                <c:pt idx="5">
                  <c:v>215.864</c:v>
                </c:pt>
                <c:pt idx="6">
                  <c:v>18.87</c:v>
                </c:pt>
              </c:numCache>
            </c:numRef>
          </c:val>
        </c:ser>
        <c:dLbls>
          <c:numFmt formatCode="0.0" sourceLinked="0"/>
          <c:txPr>
            <a:bodyPr/>
            <a:lstStyle/>
            <a:p>
              <a:pPr>
                <a:defRPr b="0" i="0" strike="noStrike" sz="900" u="none">
                  <a:solidFill>
                    <a:srgbClr val="2B2B2B"/>
                  </a:solidFill>
                  <a:latin typeface="Verdana"/>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ACACA"/>
            </a:solidFill>
            <a:prstDash val="solid"/>
            <a:round/>
          </a:ln>
        </c:spPr>
        <c:txPr>
          <a:bodyPr/>
          <a:lstStyle/>
          <a:p>
            <a:pPr>
              <a:defRPr sz="950" b="0" i="0" u="none" strike="noStrike">
                <a:solidFill>
                  <a:srgbClr val="2B2B2B"/>
                </a:solidFill>
                <a:latin typeface="Verdana"/>
              </a:defRPr>
            </a:pPr>
            <a:endParaRPr lang="en-US"/>
          </a:p>
        </c:txPr>
        <c:crossAx val="2094734552"/>
        <c:crosses val="autoZero"/>
        <c:auto val="1"/>
        <c:lblAlgn val="ctr"/>
        <c:noMultiLvlLbl val="1"/>
      </c:catAx>
      <c:valAx>
        <c:axId val="2094734552"/>
        <c:scaling>
          <c:orientation val="minMax"/>
          <c:max val="1000"/>
          <c:min val="0"/>
        </c:scaling>
        <c:delete val="0"/>
        <c:axPos val="l"/>
        <c:majorGridlines>
          <c:spPr>
            <a:ln w="9525" cap="flat">
              <a:solidFill>
                <a:srgbClr val="E6E9EC"/>
              </a:solidFill>
              <a:prstDash val="solid"/>
              <a:round/>
            </a:ln>
          </c:spPr>
        </c:majorGridlines>
        <c:numFmt formatCode="0" sourceLinked="0"/>
        <c:majorTickMark val="out"/>
        <c:minorTickMark val="none"/>
        <c:tickLblPos val="nextTo"/>
        <c:spPr>
          <a:ln w="12700" cap="flat">
            <a:noFill/>
            <a:prstDash val="solid"/>
            <a:round/>
          </a:ln>
        </c:spPr>
        <c:txPr>
          <a:bodyPr/>
          <a:lstStyle/>
          <a:p>
            <a:pPr>
              <a:defRPr sz="850" b="0" i="0" u="none" strike="noStrike">
                <a:solidFill>
                  <a:srgbClr val="818181"/>
                </a:solidFill>
                <a:latin typeface="Verdana"/>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PYME</c:v>
                </c:pt>
              </c:strCache>
            </c:strRef>
          </c:tx>
          <c:spPr>
            <a:solidFill>
              <a:srgbClr val="F56600"/>
            </a:solidFill>
            <a:effectLst/>
          </c:spPr>
          <c:invertIfNegative val="0"/>
          <c:dLbls>
            <c:numFmt formatCode="0.0" sourceLinked="0"/>
            <c:txPr>
              <a:bodyPr/>
              <a:lstStyle/>
              <a:p>
                <a:pPr>
                  <a:defRPr b="0" i="0" strike="noStrike" sz="800" u="none">
                    <a:solidFill>
                      <a:srgbClr val="2B2B2B"/>
                    </a:solidFill>
                    <a:latin typeface="Verdana"/>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Sheet1!$B$2:$B$8</c:f>
              <c:numCache>
                <c:formatCode>General</c:formatCode>
                <c:ptCount val="7"/>
                <c:pt idx="0">
                  <c:v>5.3813</c:v>
                </c:pt>
                <c:pt idx="1">
                  <c:v>4.3157</c:v>
                </c:pt>
                <c:pt idx="2">
                  <c:v>5.1249</c:v>
                </c:pt>
                <c:pt idx="3">
                  <c:v>4.9024</c:v>
                </c:pt>
                <c:pt idx="4">
                  <c:v>4.225</c:v>
                </c:pt>
                <c:pt idx="5">
                  <c:v>3.1283</c:v>
                </c:pt>
                <c:pt idx="6">
                  <c:v>3.7731</c:v>
                </c:pt>
              </c:numCache>
            </c:numRef>
          </c:val>
        </c:ser>
        <c:ser>
          <c:idx val="1"/>
          <c:order val="1"/>
          <c:tx>
            <c:strRef>
              <c:f>Sheet1!$C$1</c:f>
              <c:strCache>
                <c:ptCount val="1"/>
                <c:pt idx="0">
                  <c:v>Empresas, total</c:v>
                </c:pt>
              </c:strCache>
            </c:strRef>
          </c:tx>
          <c:spPr>
            <a:solidFill>
              <a:srgbClr val="2A6FB0"/>
            </a:solidFill>
            <a:effectLst/>
          </c:spPr>
          <c:invertIfNegative val="0"/>
          <c:dLbls>
            <c:numFmt formatCode="0.0" sourceLinked="0"/>
            <c:txPr>
              <a:bodyPr/>
              <a:lstStyle/>
              <a:p>
                <a:pPr>
                  <a:defRPr b="0" i="0" strike="noStrike" sz="800" u="none">
                    <a:solidFill>
                      <a:srgbClr val="2B2B2B"/>
                    </a:solidFill>
                    <a:latin typeface="Verdana"/>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Sheet1!$C$2:$C$8</c:f>
              <c:numCache>
                <c:formatCode>General</c:formatCode>
                <c:ptCount val="7"/>
                <c:pt idx="0">
                  <c:v>2.992</c:v>
                </c:pt>
                <c:pt idx="1">
                  <c:v>3.8105</c:v>
                </c:pt>
                <c:pt idx="2">
                  <c:v>3.9355</c:v>
                </c:pt>
                <c:pt idx="3">
                  <c:v>3.4015</c:v>
                </c:pt>
                <c:pt idx="4">
                  <c:v>3.6473</c:v>
                </c:pt>
                <c:pt idx="5">
                  <c:v>2.8561</c:v>
                </c:pt>
                <c:pt idx="6">
                  <c:v>2.4956</c:v>
                </c:pt>
              </c:numCache>
            </c:numRef>
          </c:val>
        </c:ser>
        <c:ser>
          <c:idx val="2"/>
          <c:order val="2"/>
          <c:tx>
            <c:strRef>
              <c:f>Sheet1!$D$1</c:f>
              <c:strCache>
                <c:ptCount val="1"/>
                <c:pt idx="0">
                  <c:v>Hogares</c:v>
                </c:pt>
              </c:strCache>
            </c:strRef>
          </c:tx>
          <c:spPr>
            <a:solidFill>
              <a:srgbClr val="B9B9B9"/>
            </a:solidFill>
            <a:effectLst/>
          </c:spPr>
          <c:invertIfNegative val="0"/>
          <c:dLbls>
            <c:numFmt formatCode="0.0" sourceLinked="0"/>
            <c:txPr>
              <a:bodyPr/>
              <a:lstStyle/>
              <a:p>
                <a:pPr>
                  <a:defRPr b="0" i="0" strike="noStrike" sz="800" u="none">
                    <a:solidFill>
                      <a:srgbClr val="2B2B2B"/>
                    </a:solidFill>
                    <a:latin typeface="Verdana"/>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Sheet1!$D$2:$D$8</c:f>
              <c:numCache>
                <c:formatCode>General</c:formatCode>
                <c:ptCount val="7"/>
                <c:pt idx="0">
                  <c:v>3.771</c:v>
                </c:pt>
                <c:pt idx="1">
                  <c:v>1.7262</c:v>
                </c:pt>
                <c:pt idx="2">
                  <c:v>2.2731</c:v>
                </c:pt>
                <c:pt idx="3">
                  <c:v>1.705</c:v>
                </c:pt>
                <c:pt idx="4">
                  <c:v>1.566</c:v>
                </c:pt>
                <c:pt idx="5">
                  <c:v>1.1043</c:v>
                </c:pt>
                <c:pt idx="6">
                  <c:v>1.5514</c:v>
                </c:pt>
              </c:numCache>
            </c:numRef>
          </c:val>
        </c:ser>
        <c:dLbls>
          <c:numFmt formatCode="0.0" sourceLinked="0"/>
          <c:txPr>
            <a:bodyPr/>
            <a:lstStyle/>
            <a:p>
              <a:pPr>
                <a:defRPr b="0" i="0" strike="noStrike" sz="800" u="none">
                  <a:solidFill>
                    <a:srgbClr val="2B2B2B"/>
                  </a:solidFill>
                  <a:latin typeface="Verdana"/>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ACACA"/>
            </a:solidFill>
            <a:prstDash val="solid"/>
            <a:round/>
          </a:ln>
        </c:spPr>
        <c:txPr>
          <a:bodyPr/>
          <a:lstStyle/>
          <a:p>
            <a:pPr>
              <a:defRPr sz="950" b="0" i="0" u="none" strike="noStrike">
                <a:solidFill>
                  <a:srgbClr val="2B2B2B"/>
                </a:solidFill>
                <a:latin typeface="Verdana"/>
              </a:defRPr>
            </a:pPr>
            <a:endParaRPr lang="en-US"/>
          </a:p>
        </c:txPr>
        <c:crossAx val="2094734552"/>
        <c:crosses val="autoZero"/>
        <c:auto val="1"/>
        <c:lblAlgn val="ctr"/>
        <c:noMultiLvlLbl val="1"/>
      </c:catAx>
      <c:valAx>
        <c:axId val="2094734552"/>
        <c:scaling>
          <c:orientation val="minMax"/>
          <c:max val="7"/>
          <c:min val="0"/>
        </c:scaling>
        <c:delete val="0"/>
        <c:axPos val="l"/>
        <c:majorGridlines>
          <c:spPr>
            <a:ln w="9525" cap="flat">
              <a:solidFill>
                <a:srgbClr val="E6E9EC"/>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850" b="0" i="0" u="none" strike="noStrike">
                <a:solidFill>
                  <a:srgbClr val="818181"/>
                </a:solidFill>
                <a:latin typeface="Verdana"/>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2B2B2B"/>
              </a:solidFill>
              <a:latin typeface="Verdana"/>
              <a:cs typeface="Verdana"/>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Alemania</c:v>
                </c:pt>
              </c:strCache>
            </c:strRef>
          </c:tx>
          <c:spPr>
            <a:solidFill>
              <a:srgbClr val="B9B9B9"/>
            </a:solidFill>
            <a:ln w="15875" cap="flat">
              <a:solidFill>
                <a:srgbClr val="B9B9B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9B9B9"/>
              </a:solidFill>
              <a:ln w="9525" cap="flat">
                <a:solidFill>
                  <a:srgbClr val="B9B9B9"/>
                </a:solidFill>
                <a:prstDash val="solid"/>
                <a:round/>
              </a:ln>
              <a:effectLst/>
            </c:spPr>
          </c:marker>
          <c:cat>
            <c:multiLvlStrRef>
              <c:f>Sheet1!$A$2:$A$10</c:f>
              <c:multiLvlStrCache>
                <c:ptCount val="9"/>
                <c:lvl>
                  <c:pt idx="0">
                    <c:v>2024 Q1</c:v>
                  </c:pt>
                  <c:pt idx="1">
                    <c:v>2024 Q2</c:v>
                  </c:pt>
                  <c:pt idx="2">
                    <c:v>2024 Q3</c:v>
                  </c:pt>
                  <c:pt idx="3">
                    <c:v>2024 Q4</c:v>
                  </c:pt>
                  <c:pt idx="4">
                    <c:v>2025 Q1</c:v>
                  </c:pt>
                  <c:pt idx="5">
                    <c:v>2025 Q2</c:v>
                  </c:pt>
                  <c:pt idx="6">
                    <c:v>2025 Q3</c:v>
                  </c:pt>
                  <c:pt idx="7">
                    <c:v>2025 Q4</c:v>
                  </c:pt>
                  <c:pt idx="8">
                    <c:v>2026 Q1</c:v>
                  </c:pt>
                </c:lvl>
              </c:multiLvlStrCache>
            </c:multiLvlStrRef>
          </c:cat>
          <c:val>
            <c:numRef>
              <c:f>Sheet1!$B$2:$B$10</c:f>
              <c:numCache>
                <c:formatCode>General</c:formatCode>
                <c:ptCount val="9"/>
                <c:pt idx="0">
                  <c:v>3.7241</c:v>
                </c:pt>
                <c:pt idx="1">
                  <c:v>3.9872</c:v>
                </c:pt>
                <c:pt idx="2">
                  <c:v>3.9992</c:v>
                </c:pt>
                <c:pt idx="3">
                  <c:v>3.913</c:v>
                </c:pt>
                <c:pt idx="4">
                  <c:v>3.5469</c:v>
                </c:pt>
                <c:pt idx="5">
                  <c:v>4.1482</c:v>
                </c:pt>
                <c:pt idx="6">
                  <c:v>4.3217</c:v>
                </c:pt>
                <c:pt idx="7">
                  <c:v>4.5929</c:v>
                </c:pt>
                <c:pt idx="8">
                  <c:v>4.3157</c:v>
                </c:pt>
              </c:numCache>
            </c:numRef>
          </c:val>
          <c:smooth val="0"/>
        </c:ser>
        <c:ser>
          <c:idx val="1"/>
          <c:order val="1"/>
          <c:tx>
            <c:strRef>
              <c:f>Sheet1!$C$1</c:f>
              <c:strCache>
                <c:ptCount val="1"/>
                <c:pt idx="0">
                  <c:v>Francia</c:v>
                </c:pt>
              </c:strCache>
            </c:strRef>
          </c:tx>
          <c:spPr>
            <a:solidFill>
              <a:srgbClr val="B9B9B9"/>
            </a:solidFill>
            <a:ln w="15875" cap="flat">
              <a:solidFill>
                <a:srgbClr val="B9B9B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9B9B9"/>
              </a:solidFill>
              <a:ln w="9525" cap="flat">
                <a:solidFill>
                  <a:srgbClr val="B9B9B9"/>
                </a:solidFill>
                <a:prstDash val="solid"/>
                <a:round/>
              </a:ln>
              <a:effectLst/>
            </c:spPr>
          </c:marker>
          <c:cat>
            <c:multiLvlStrRef>
              <c:f>Sheet1!$A$2:$A$10</c:f>
              <c:multiLvlStrCache>
                <c:ptCount val="9"/>
                <c:lvl>
                  <c:pt idx="0">
                    <c:v>2024 Q1</c:v>
                  </c:pt>
                  <c:pt idx="1">
                    <c:v>2024 Q2</c:v>
                  </c:pt>
                  <c:pt idx="2">
                    <c:v>2024 Q3</c:v>
                  </c:pt>
                  <c:pt idx="3">
                    <c:v>2024 Q4</c:v>
                  </c:pt>
                  <c:pt idx="4">
                    <c:v>2025 Q1</c:v>
                  </c:pt>
                  <c:pt idx="5">
                    <c:v>2025 Q2</c:v>
                  </c:pt>
                  <c:pt idx="6">
                    <c:v>2025 Q3</c:v>
                  </c:pt>
                  <c:pt idx="7">
                    <c:v>2025 Q4</c:v>
                  </c:pt>
                  <c:pt idx="8">
                    <c:v>2026 Q1</c:v>
                  </c:pt>
                </c:lvl>
              </c:multiLvlStrCache>
            </c:multiLvlStrRef>
          </c:cat>
          <c:val>
            <c:numRef>
              <c:f>Sheet1!$C$2:$C$10</c:f>
              <c:numCache>
                <c:formatCode>General</c:formatCode>
                <c:ptCount val="9"/>
                <c:pt idx="0">
                  <c:v>4.4977</c:v>
                </c:pt>
                <c:pt idx="1">
                  <c:v>4.6041</c:v>
                </c:pt>
                <c:pt idx="2">
                  <c:v>4.72</c:v>
                </c:pt>
                <c:pt idx="3">
                  <c:v>4.7261</c:v>
                </c:pt>
                <c:pt idx="4">
                  <c:v>4.8472</c:v>
                </c:pt>
                <c:pt idx="5">
                  <c:v>4.9782</c:v>
                </c:pt>
                <c:pt idx="6">
                  <c:v>5.0989</c:v>
                </c:pt>
                <c:pt idx="7">
                  <c:v>5.0432</c:v>
                </c:pt>
                <c:pt idx="8">
                  <c:v>5.1249</c:v>
                </c:pt>
              </c:numCache>
            </c:numRef>
          </c:val>
          <c:smooth val="0"/>
        </c:ser>
        <c:ser>
          <c:idx val="2"/>
          <c:order val="2"/>
          <c:tx>
            <c:strRef>
              <c:f>Sheet1!$D$1</c:f>
              <c:strCache>
                <c:ptCount val="1"/>
                <c:pt idx="0">
                  <c:v>Italia</c:v>
                </c:pt>
              </c:strCache>
            </c:strRef>
          </c:tx>
          <c:spPr>
            <a:solidFill>
              <a:srgbClr val="B9B9B9"/>
            </a:solidFill>
            <a:ln w="15875" cap="flat">
              <a:solidFill>
                <a:srgbClr val="B9B9B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9B9B9"/>
              </a:solidFill>
              <a:ln w="9525" cap="flat">
                <a:solidFill>
                  <a:srgbClr val="B9B9B9"/>
                </a:solidFill>
                <a:prstDash val="solid"/>
                <a:round/>
              </a:ln>
              <a:effectLst/>
            </c:spPr>
          </c:marker>
          <c:cat>
            <c:multiLvlStrRef>
              <c:f>Sheet1!$A$2:$A$10</c:f>
              <c:multiLvlStrCache>
                <c:ptCount val="9"/>
                <c:lvl>
                  <c:pt idx="0">
                    <c:v>2024 Q1</c:v>
                  </c:pt>
                  <c:pt idx="1">
                    <c:v>2024 Q2</c:v>
                  </c:pt>
                  <c:pt idx="2">
                    <c:v>2024 Q3</c:v>
                  </c:pt>
                  <c:pt idx="3">
                    <c:v>2024 Q4</c:v>
                  </c:pt>
                  <c:pt idx="4">
                    <c:v>2025 Q1</c:v>
                  </c:pt>
                  <c:pt idx="5">
                    <c:v>2025 Q2</c:v>
                  </c:pt>
                  <c:pt idx="6">
                    <c:v>2025 Q3</c:v>
                  </c:pt>
                  <c:pt idx="7">
                    <c:v>2025 Q4</c:v>
                  </c:pt>
                  <c:pt idx="8">
                    <c:v>2026 Q1</c:v>
                  </c:pt>
                </c:lvl>
              </c:multiLvlStrCache>
            </c:multiLvlStrRef>
          </c:cat>
          <c:val>
            <c:numRef>
              <c:f>Sheet1!$D$2:$D$10</c:f>
              <c:numCache>
                <c:formatCode>General</c:formatCode>
                <c:ptCount val="9"/>
                <c:pt idx="0">
                  <c:v>5.7285</c:v>
                </c:pt>
                <c:pt idx="1">
                  <c:v>5.8588</c:v>
                </c:pt>
                <c:pt idx="2">
                  <c:v>5.8811</c:v>
                </c:pt>
                <c:pt idx="3">
                  <c:v>5.5359</c:v>
                </c:pt>
                <c:pt idx="4">
                  <c:v>5.6086</c:v>
                </c:pt>
                <c:pt idx="5">
                  <c:v>5.6176</c:v>
                </c:pt>
                <c:pt idx="6">
                  <c:v>5.8317</c:v>
                </c:pt>
                <c:pt idx="7">
                  <c:v>4.9167</c:v>
                </c:pt>
                <c:pt idx="8">
                  <c:v>4.9024</c:v>
                </c:pt>
              </c:numCache>
            </c:numRef>
          </c:val>
          <c:smooth val="0"/>
        </c:ser>
        <c:ser>
          <c:idx val="3"/>
          <c:order val="3"/>
          <c:tx>
            <c:strRef>
              <c:f>Sheet1!$E$1</c:f>
              <c:strCache>
                <c:ptCount val="1"/>
                <c:pt idx="0">
                  <c:v>Portugal</c:v>
                </c:pt>
              </c:strCache>
            </c:strRef>
          </c:tx>
          <c:spPr>
            <a:solidFill>
              <a:srgbClr val="B9B9B9"/>
            </a:solidFill>
            <a:ln w="15875" cap="flat">
              <a:solidFill>
                <a:srgbClr val="B9B9B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9B9B9"/>
              </a:solidFill>
              <a:ln w="9525" cap="flat">
                <a:solidFill>
                  <a:srgbClr val="B9B9B9"/>
                </a:solidFill>
                <a:prstDash val="solid"/>
                <a:round/>
              </a:ln>
              <a:effectLst/>
            </c:spPr>
          </c:marker>
          <c:cat>
            <c:multiLvlStrRef>
              <c:f>Sheet1!$A$2:$A$10</c:f>
              <c:multiLvlStrCache>
                <c:ptCount val="9"/>
                <c:lvl>
                  <c:pt idx="0">
                    <c:v>2024 Q1</c:v>
                  </c:pt>
                  <c:pt idx="1">
                    <c:v>2024 Q2</c:v>
                  </c:pt>
                  <c:pt idx="2">
                    <c:v>2024 Q3</c:v>
                  </c:pt>
                  <c:pt idx="3">
                    <c:v>2024 Q4</c:v>
                  </c:pt>
                  <c:pt idx="4">
                    <c:v>2025 Q1</c:v>
                  </c:pt>
                  <c:pt idx="5">
                    <c:v>2025 Q2</c:v>
                  </c:pt>
                  <c:pt idx="6">
                    <c:v>2025 Q3</c:v>
                  </c:pt>
                  <c:pt idx="7">
                    <c:v>2025 Q4</c:v>
                  </c:pt>
                  <c:pt idx="8">
                    <c:v>2026 Q1</c:v>
                  </c:pt>
                </c:lvl>
              </c:multiLvlStrCache>
            </c:multiLvlStrRef>
          </c:cat>
          <c:val>
            <c:numRef>
              <c:f>Sheet1!$E$2:$E$10</c:f>
              <c:numCache>
                <c:formatCode>General</c:formatCode>
                <c:ptCount val="9"/>
                <c:pt idx="0">
                  <c:v>6.1726</c:v>
                </c:pt>
                <c:pt idx="1">
                  <c:v>5.9988</c:v>
                </c:pt>
                <c:pt idx="2">
                  <c:v>5.8685</c:v>
                </c:pt>
                <c:pt idx="3">
                  <c:v>5.262</c:v>
                </c:pt>
                <c:pt idx="4">
                  <c:v>4.6134</c:v>
                </c:pt>
                <c:pt idx="5">
                  <c:v>4.5544</c:v>
                </c:pt>
                <c:pt idx="6">
                  <c:v>4.6462</c:v>
                </c:pt>
                <c:pt idx="7">
                  <c:v>4.3959</c:v>
                </c:pt>
                <c:pt idx="8">
                  <c:v>4.225</c:v>
                </c:pt>
              </c:numCache>
            </c:numRef>
          </c:val>
          <c:smooth val="0"/>
        </c:ser>
        <c:ser>
          <c:idx val="4"/>
          <c:order val="4"/>
          <c:tx>
            <c:strRef>
              <c:f>Sheet1!$F$1</c:f>
              <c:strCache>
                <c:ptCount val="1"/>
                <c:pt idx="0">
                  <c:v>P. Bajos</c:v>
                </c:pt>
              </c:strCache>
            </c:strRef>
          </c:tx>
          <c:spPr>
            <a:solidFill>
              <a:srgbClr val="B9B9B9"/>
            </a:solidFill>
            <a:ln w="15875" cap="flat">
              <a:solidFill>
                <a:srgbClr val="B9B9B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9B9B9"/>
              </a:solidFill>
              <a:ln w="9525" cap="flat">
                <a:solidFill>
                  <a:srgbClr val="B9B9B9"/>
                </a:solidFill>
                <a:prstDash val="solid"/>
                <a:round/>
              </a:ln>
              <a:effectLst/>
            </c:spPr>
          </c:marker>
          <c:cat>
            <c:multiLvlStrRef>
              <c:f>Sheet1!$A$2:$A$10</c:f>
              <c:multiLvlStrCache>
                <c:ptCount val="9"/>
                <c:lvl>
                  <c:pt idx="0">
                    <c:v>2024 Q1</c:v>
                  </c:pt>
                  <c:pt idx="1">
                    <c:v>2024 Q2</c:v>
                  </c:pt>
                  <c:pt idx="2">
                    <c:v>2024 Q3</c:v>
                  </c:pt>
                  <c:pt idx="3">
                    <c:v>2024 Q4</c:v>
                  </c:pt>
                  <c:pt idx="4">
                    <c:v>2025 Q1</c:v>
                  </c:pt>
                  <c:pt idx="5">
                    <c:v>2025 Q2</c:v>
                  </c:pt>
                  <c:pt idx="6">
                    <c:v>2025 Q3</c:v>
                  </c:pt>
                  <c:pt idx="7">
                    <c:v>2025 Q4</c:v>
                  </c:pt>
                  <c:pt idx="8">
                    <c:v>2026 Q1</c:v>
                  </c:pt>
                </c:lvl>
              </c:multiLvlStrCache>
            </c:multiLvlStrRef>
          </c:cat>
          <c:val>
            <c:numRef>
              <c:f>Sheet1!$F$2:$F$10</c:f>
              <c:numCache>
                <c:formatCode>General</c:formatCode>
                <c:ptCount val="9"/>
                <c:pt idx="0">
                  <c:v>3.9022</c:v>
                </c:pt>
                <c:pt idx="1">
                  <c:v>3.8747</c:v>
                </c:pt>
                <c:pt idx="2">
                  <c:v>4.047</c:v>
                </c:pt>
                <c:pt idx="3">
                  <c:v>3.7738</c:v>
                </c:pt>
                <c:pt idx="4">
                  <c:v>3.7422</c:v>
                </c:pt>
                <c:pt idx="5">
                  <c:v>3.7183</c:v>
                </c:pt>
                <c:pt idx="6">
                  <c:v>3.4693</c:v>
                </c:pt>
                <c:pt idx="7">
                  <c:v>3.1714</c:v>
                </c:pt>
                <c:pt idx="8">
                  <c:v>3.1283</c:v>
                </c:pt>
              </c:numCache>
            </c:numRef>
          </c:val>
          <c:smooth val="0"/>
        </c:ser>
        <c:ser>
          <c:idx val="5"/>
          <c:order val="5"/>
          <c:tx>
            <c:strRef>
              <c:f>Sheet1!$G$1</c:f>
              <c:strCache>
                <c:ptCount val="1"/>
                <c:pt idx="0">
                  <c:v>Irlanda</c:v>
                </c:pt>
              </c:strCache>
            </c:strRef>
          </c:tx>
          <c:spPr>
            <a:solidFill>
              <a:srgbClr val="B9B9B9"/>
            </a:solidFill>
            <a:ln w="15875" cap="flat">
              <a:solidFill>
                <a:srgbClr val="B9B9B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9B9B9"/>
              </a:solidFill>
              <a:ln w="9525" cap="flat">
                <a:solidFill>
                  <a:srgbClr val="B9B9B9"/>
                </a:solidFill>
                <a:prstDash val="solid"/>
                <a:round/>
              </a:ln>
              <a:effectLst/>
            </c:spPr>
          </c:marker>
          <c:cat>
            <c:multiLvlStrRef>
              <c:f>Sheet1!$A$2:$A$10</c:f>
              <c:multiLvlStrCache>
                <c:ptCount val="9"/>
                <c:lvl>
                  <c:pt idx="0">
                    <c:v>2024 Q1</c:v>
                  </c:pt>
                  <c:pt idx="1">
                    <c:v>2024 Q2</c:v>
                  </c:pt>
                  <c:pt idx="2">
                    <c:v>2024 Q3</c:v>
                  </c:pt>
                  <c:pt idx="3">
                    <c:v>2024 Q4</c:v>
                  </c:pt>
                  <c:pt idx="4">
                    <c:v>2025 Q1</c:v>
                  </c:pt>
                  <c:pt idx="5">
                    <c:v>2025 Q2</c:v>
                  </c:pt>
                  <c:pt idx="6">
                    <c:v>2025 Q3</c:v>
                  </c:pt>
                  <c:pt idx="7">
                    <c:v>2025 Q4</c:v>
                  </c:pt>
                  <c:pt idx="8">
                    <c:v>2026 Q1</c:v>
                  </c:pt>
                </c:lvl>
              </c:multiLvlStrCache>
            </c:multiLvlStrRef>
          </c:cat>
          <c:val>
            <c:numRef>
              <c:f>Sheet1!$G$2:$G$10</c:f>
              <c:numCache>
                <c:formatCode>General</c:formatCode>
                <c:ptCount val="9"/>
                <c:pt idx="0">
                  <c:v>6.5042</c:v>
                </c:pt>
                <c:pt idx="1">
                  <c:v>6.7431</c:v>
                </c:pt>
                <c:pt idx="2">
                  <c:v>6.0993</c:v>
                </c:pt>
                <c:pt idx="3">
                  <c:v>5.1421</c:v>
                </c:pt>
                <c:pt idx="4">
                  <c:v>5.743</c:v>
                </c:pt>
                <c:pt idx="5">
                  <c:v>5.7642</c:v>
                </c:pt>
                <c:pt idx="6">
                  <c:v>5.2362</c:v>
                </c:pt>
                <c:pt idx="7">
                  <c:v>4.0737</c:v>
                </c:pt>
                <c:pt idx="8">
                  <c:v>3.7731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6"/>
          <c:order val="6"/>
          <c:tx>
            <c:strRef>
              <c:f>Sheet1!$H$1</c:f>
              <c:strCache>
                <c:ptCount val="1"/>
                <c:pt idx="0">
                  <c:v>España</c:v>
                </c:pt>
              </c:strCache>
            </c:strRef>
          </c:tx>
          <c:spPr>
            <a:solidFill>
              <a:srgbClr val="F56600"/>
            </a:solidFill>
            <a:ln w="38100" cap="flat">
              <a:solidFill>
                <a:srgbClr val="F566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56600"/>
              </a:solidFill>
              <a:ln w="9525" cap="flat">
                <a:solidFill>
                  <a:srgbClr val="F56600"/>
                </a:solidFill>
                <a:prstDash val="solid"/>
                <a:round/>
              </a:ln>
              <a:effectLst/>
            </c:spPr>
          </c:marker>
          <c:cat>
            <c:multiLvlStrRef>
              <c:f>Sheet1!$A$2:$A$10</c:f>
              <c:multiLvlStrCache>
                <c:ptCount val="9"/>
                <c:lvl>
                  <c:pt idx="0">
                    <c:v>2024 Q1</c:v>
                  </c:pt>
                  <c:pt idx="1">
                    <c:v>2024 Q2</c:v>
                  </c:pt>
                  <c:pt idx="2">
                    <c:v>2024 Q3</c:v>
                  </c:pt>
                  <c:pt idx="3">
                    <c:v>2024 Q4</c:v>
                  </c:pt>
                  <c:pt idx="4">
                    <c:v>2025 Q1</c:v>
                  </c:pt>
                  <c:pt idx="5">
                    <c:v>2025 Q2</c:v>
                  </c:pt>
                  <c:pt idx="6">
                    <c:v>2025 Q3</c:v>
                  </c:pt>
                  <c:pt idx="7">
                    <c:v>2025 Q4</c:v>
                  </c:pt>
                  <c:pt idx="8">
                    <c:v>2026 Q1</c:v>
                  </c:pt>
                </c:lvl>
              </c:multiLvlStrCache>
            </c:multiLvlStrRef>
          </c:cat>
          <c:val>
            <c:numRef>
              <c:f>Sheet1!$H$2:$H$10</c:f>
              <c:numCache>
                <c:formatCode>General</c:formatCode>
                <c:ptCount val="9"/>
                <c:pt idx="0">
                  <c:v>6.4947</c:v>
                </c:pt>
                <c:pt idx="1">
                  <c:v>6.2605</c:v>
                </c:pt>
                <c:pt idx="2">
                  <c:v>6.3446</c:v>
                </c:pt>
                <c:pt idx="3">
                  <c:v>6.019</c:v>
                </c:pt>
                <c:pt idx="4">
                  <c:v>6.1059</c:v>
                </c:pt>
                <c:pt idx="5">
                  <c:v>5.8917</c:v>
                </c:pt>
                <c:pt idx="6">
                  <c:v>5.7395</c:v>
                </c:pt>
                <c:pt idx="7">
                  <c:v>5.5932</c:v>
                </c:pt>
                <c:pt idx="8">
                  <c:v>5.3813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ACACA"/>
            </a:solidFill>
            <a:prstDash val="solid"/>
            <a:round/>
          </a:ln>
        </c:spPr>
        <c:txPr>
          <a:bodyPr/>
          <a:lstStyle/>
          <a:p>
            <a:pPr>
              <a:defRPr sz="950" b="0" i="0" u="none" strike="noStrike">
                <a:solidFill>
                  <a:srgbClr val="2B2B2B"/>
                </a:solidFill>
                <a:latin typeface="Verdana"/>
              </a:defRPr>
            </a:pPr>
            <a:endParaRPr lang="en-US"/>
          </a:p>
        </c:txPr>
        <c:crossAx val="2094734552"/>
        <c:crosses val="autoZero"/>
        <c:auto val="1"/>
        <c:lblAlgn val="ctr"/>
        <c:noMultiLvlLbl val="1"/>
        <c:tickLblSkip val="1"/>
      </c:catAx>
      <c:valAx>
        <c:axId val="2094734552"/>
        <c:scaling>
          <c:orientation val="minMax"/>
          <c:max val="7"/>
          <c:min val="2"/>
        </c:scaling>
        <c:delete val="0"/>
        <c:axPos val="l"/>
        <c:majorGridlines>
          <c:spPr>
            <a:ln w="9525" cap="flat">
              <a:solidFill>
                <a:srgbClr val="E6E9EC"/>
              </a:solidFill>
              <a:prstDash val="solid"/>
              <a:round/>
            </a:ln>
          </c:spPr>
        </c:majorGridlines>
        <c:numFmt formatCode="0.0&quot;%&quot;" sourceLinked="0"/>
        <c:majorTickMark val="out"/>
        <c:minorTickMark val="none"/>
        <c:tickLblPos val="nextTo"/>
        <c:spPr>
          <a:ln w="12700" cap="flat">
            <a:noFill/>
            <a:prstDash val="solid"/>
            <a:round/>
          </a:ln>
        </c:spPr>
        <c:txPr>
          <a:bodyPr/>
          <a:lstStyle/>
          <a:p>
            <a:pPr>
              <a:defRPr sz="850" b="0" i="0" u="none" strike="noStrike">
                <a:solidFill>
                  <a:srgbClr val="818181"/>
                </a:solidFill>
                <a:latin typeface="Verdana"/>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2B2B2B"/>
                </a:solidFill>
                <a:latin typeface="Verdana"/>
              </a:defRPr>
            </a:pPr>
            <a:r>
              <a:rPr sz="1050" b="0" i="0" u="none" strike="noStrike">
                <a:solidFill>
                  <a:srgbClr val="2B2B2B"/>
                </a:solidFill>
                <a:latin typeface="Verdana"/>
              </a:rPr>
              <a:t>Probabilidad de impago a un año (PD)</a:t>
            </a:r>
          </a:p>
        </c:rich>
      </c:tx>
      <c:layout/>
      <c:overlay val="0"/>
    </c:title>
    <c:autoTitleDeleted val="0"/>
    <c:plotArea>
      <c:layout/>
      <c:barChart>
        <c:barDir val="col"/>
        <c:grouping val="clustered"/>
        <c:varyColors val="0"/>
        <c:ser>
          <c:idx val="0"/>
          <c:order val="0"/>
          <c:tx>
            <c:strRef>
              <c:f>Sheet1!$B$1</c:f>
              <c:strCache>
                <c:ptCount val="1"/>
                <c:pt idx="0">
                  <c:v>valor</c:v>
                </c:pt>
              </c:strCache>
            </c:strRef>
          </c:tx>
          <c:spPr>
            <a:solidFill>
              <a:srgbClr val="F56600"/>
            </a:solidFill>
            <a:effectLst/>
          </c:spPr>
          <c:invertIfNegative val="0"/>
          <c:dLbls>
            <c:numFmt formatCode="0.00&quot;%&quot;" sourceLinked="0"/>
            <c:txPr>
              <a:bodyPr/>
              <a:lstStyle/>
              <a:p>
                <a:pPr>
                  <a:defRPr b="0" i="0" strike="noStrike" sz="900" u="none">
                    <a:solidFill>
                      <a:srgbClr val="2B2B2B"/>
                    </a:solidFill>
                    <a:latin typeface="Verdana"/>
                  </a:defRPr>
                </a:pPr>
              </a:p>
            </c:txPr>
            <c:showLegendKey val="0"/>
            <c:showVal val="1"/>
            <c:showCatName val="0"/>
            <c:showSerName val="0"/>
            <c:showPercent val="0"/>
            <c:showBubbleSize val="0"/>
            <c:showLeaderLines val="0"/>
          </c:dLbls>
          <c:dPt>
            <c:idx val="0"/>
            <c:invertIfNegative val="0"/>
            <c:bubble3D val="0"/>
            <c:spPr>
              <a:solidFill>
                <a:srgbClr val="F56600"/>
              </a:solidFill>
              <a:effectLst/>
            </c:spPr>
          </c:dPt>
          <c:dPt>
            <c:idx val="1"/>
            <c:invertIfNegative val="0"/>
            <c:bubble3D val="0"/>
            <c:spPr>
              <a:solidFill>
                <a:srgbClr val="B9B9B9"/>
              </a:solidFill>
              <a:effectLst/>
            </c:spPr>
          </c:dPt>
          <c:dPt>
            <c:idx val="2"/>
            <c:invertIfNegative val="0"/>
            <c:bubble3D val="0"/>
            <c:spPr>
              <a:solidFill>
                <a:srgbClr val="B9B9B9"/>
              </a:solidFill>
              <a:effectLst/>
            </c:spPr>
          </c:dPt>
          <c:dPt>
            <c:idx val="3"/>
            <c:invertIfNegative val="0"/>
            <c:bubble3D val="0"/>
            <c:spPr>
              <a:solidFill>
                <a:srgbClr val="B9B9B9"/>
              </a:solidFill>
              <a:effectLst/>
            </c:spPr>
          </c:dPt>
          <c:dPt>
            <c:idx val="4"/>
            <c:invertIfNegative val="0"/>
            <c:bubble3D val="0"/>
            <c:spPr>
              <a:solidFill>
                <a:srgbClr val="B9B9B9"/>
              </a:solidFill>
              <a:effectLst/>
            </c:spPr>
          </c:dPt>
          <c:dPt>
            <c:idx val="5"/>
            <c:invertIfNegative val="0"/>
            <c:bubble3D val="0"/>
            <c:spPr>
              <a:solidFill>
                <a:srgbClr val="B9B9B9"/>
              </a:solidFill>
              <a:effectLst/>
            </c:spPr>
          </c:dPt>
          <c:dPt>
            <c:idx val="6"/>
            <c:invertIfNegative val="0"/>
            <c:bubble3D val="0"/>
            <c:spPr>
              <a:solidFill>
                <a:srgbClr val="B9B9B9"/>
              </a:solidFill>
              <a:effectLst/>
            </c:spPr>
          </c:dPt>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Sheet1!$B$2:$B$8</c:f>
              <c:numCache>
                <c:formatCode>General</c:formatCode>
                <c:ptCount val="7"/>
                <c:pt idx="0">
                  <c:v>1.73</c:v>
                </c:pt>
                <c:pt idx="1">
                  <c:v>1.26</c:v>
                </c:pt>
                <c:pt idx="2">
                  <c:v>2.15</c:v>
                </c:pt>
                <c:pt idx="3">
                  <c:v>2.26</c:v>
                </c:pt>
                <c:pt idx="4">
                  <c:v>1.26</c:v>
                </c:pt>
                <c:pt idx="5">
                  <c:v>1.18</c:v>
                </c:pt>
                <c:pt idx="6">
                  <c:v>1.08</c:v>
                </c:pt>
              </c:numCache>
            </c:numRef>
          </c:val>
        </c:ser>
        <c:dLbls>
          <c:numFmt formatCode="0.00&quot;%&quot;" sourceLinked="0"/>
          <c:txPr>
            <a:bodyPr/>
            <a:lstStyle/>
            <a:p>
              <a:pPr>
                <a:defRPr b="0" i="0" strike="noStrike" sz="900" u="none">
                  <a:solidFill>
                    <a:srgbClr val="2B2B2B"/>
                  </a:solidFill>
                  <a:latin typeface="Verdana"/>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ACACA"/>
            </a:solidFill>
            <a:prstDash val="solid"/>
            <a:round/>
          </a:ln>
        </c:spPr>
        <c:txPr>
          <a:bodyPr/>
          <a:lstStyle/>
          <a:p>
            <a:pPr>
              <a:defRPr sz="950" b="0" i="0" u="none" strike="noStrike">
                <a:solidFill>
                  <a:srgbClr val="2B2B2B"/>
                </a:solidFill>
                <a:latin typeface="Verdana"/>
              </a:defRPr>
            </a:pPr>
            <a:endParaRPr lang="en-US"/>
          </a:p>
        </c:txPr>
        <c:crossAx val="2094734552"/>
        <c:crosses val="autoZero"/>
        <c:auto val="1"/>
        <c:lblAlgn val="ctr"/>
        <c:noMultiLvlLbl val="1"/>
      </c:catAx>
      <c:valAx>
        <c:axId val="2094734552"/>
        <c:scaling>
          <c:orientation val="minMax"/>
          <c:max val="2.8"/>
          <c:min val="0"/>
        </c:scaling>
        <c:delete val="0"/>
        <c:axPos val="l"/>
        <c:majorGridlines>
          <c:spPr>
            <a:ln w="9525" cap="flat">
              <a:solidFill>
                <a:srgbClr val="E6E9EC"/>
              </a:solidFill>
              <a:prstDash val="solid"/>
              <a:round/>
            </a:ln>
          </c:spPr>
        </c:majorGridlines>
        <c:numFmt formatCode="0.00&quot;%&quot;" sourceLinked="0"/>
        <c:majorTickMark val="out"/>
        <c:minorTickMark val="none"/>
        <c:tickLblPos val="nextTo"/>
        <c:spPr>
          <a:ln w="12700" cap="flat">
            <a:noFill/>
            <a:prstDash val="solid"/>
            <a:round/>
          </a:ln>
        </c:spPr>
        <c:txPr>
          <a:bodyPr/>
          <a:lstStyle/>
          <a:p>
            <a:pPr>
              <a:defRPr sz="850" b="0" i="0" u="none" strike="noStrike">
                <a:solidFill>
                  <a:srgbClr val="818181"/>
                </a:solidFill>
                <a:latin typeface="Verdana"/>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2B2B2B"/>
                </a:solidFill>
                <a:latin typeface="Verdana"/>
              </a:defRPr>
            </a:pPr>
            <a:r>
              <a:rPr sz="1050" b="0" i="0" u="none" strike="noStrike">
                <a:solidFill>
                  <a:srgbClr val="2B2B2B"/>
                </a:solidFill>
                <a:latin typeface="Verdana"/>
              </a:rPr>
              <a:t>Severidad de la pérdida (LGD)</a:t>
            </a:r>
          </a:p>
        </c:rich>
      </c:tx>
      <c:layout/>
      <c:overlay val="0"/>
    </c:title>
    <c:autoTitleDeleted val="0"/>
    <c:plotArea>
      <c:layout/>
      <c:barChart>
        <c:barDir val="col"/>
        <c:grouping val="clustered"/>
        <c:varyColors val="0"/>
        <c:ser>
          <c:idx val="0"/>
          <c:order val="0"/>
          <c:tx>
            <c:strRef>
              <c:f>Sheet1!$B$1</c:f>
              <c:strCache>
                <c:ptCount val="1"/>
                <c:pt idx="0">
                  <c:v>valor</c:v>
                </c:pt>
              </c:strCache>
            </c:strRef>
          </c:tx>
          <c:spPr>
            <a:solidFill>
              <a:srgbClr val="F56600"/>
            </a:solidFill>
            <a:effectLst/>
          </c:spPr>
          <c:invertIfNegative val="0"/>
          <c:dLbls>
            <c:numFmt formatCode="0.0&quot;%&quot;" sourceLinked="0"/>
            <c:txPr>
              <a:bodyPr/>
              <a:lstStyle/>
              <a:p>
                <a:pPr>
                  <a:defRPr b="0" i="0" strike="noStrike" sz="900" u="none">
                    <a:solidFill>
                      <a:srgbClr val="2B2B2B"/>
                    </a:solidFill>
                    <a:latin typeface="Verdana"/>
                  </a:defRPr>
                </a:pPr>
              </a:p>
            </c:txPr>
            <c:showLegendKey val="0"/>
            <c:showVal val="1"/>
            <c:showCatName val="0"/>
            <c:showSerName val="0"/>
            <c:showPercent val="0"/>
            <c:showBubbleSize val="0"/>
            <c:showLeaderLines val="0"/>
          </c:dLbls>
          <c:dPt>
            <c:idx val="0"/>
            <c:invertIfNegative val="0"/>
            <c:bubble3D val="0"/>
            <c:spPr>
              <a:solidFill>
                <a:srgbClr val="F56600"/>
              </a:solidFill>
              <a:effectLst/>
            </c:spPr>
          </c:dPt>
          <c:dPt>
            <c:idx val="1"/>
            <c:invertIfNegative val="0"/>
            <c:bubble3D val="0"/>
            <c:spPr>
              <a:solidFill>
                <a:srgbClr val="B9B9B9"/>
              </a:solidFill>
              <a:effectLst/>
            </c:spPr>
          </c:dPt>
          <c:dPt>
            <c:idx val="2"/>
            <c:invertIfNegative val="0"/>
            <c:bubble3D val="0"/>
            <c:spPr>
              <a:solidFill>
                <a:srgbClr val="B9B9B9"/>
              </a:solidFill>
              <a:effectLst/>
            </c:spPr>
          </c:dPt>
          <c:dPt>
            <c:idx val="3"/>
            <c:invertIfNegative val="0"/>
            <c:bubble3D val="0"/>
            <c:spPr>
              <a:solidFill>
                <a:srgbClr val="B9B9B9"/>
              </a:solidFill>
              <a:effectLst/>
            </c:spPr>
          </c:dPt>
          <c:dPt>
            <c:idx val="4"/>
            <c:invertIfNegative val="0"/>
            <c:bubble3D val="0"/>
            <c:spPr>
              <a:solidFill>
                <a:srgbClr val="B9B9B9"/>
              </a:solidFill>
              <a:effectLst/>
            </c:spPr>
          </c:dPt>
          <c:dPt>
            <c:idx val="5"/>
            <c:invertIfNegative val="0"/>
            <c:bubble3D val="0"/>
            <c:spPr>
              <a:solidFill>
                <a:srgbClr val="B9B9B9"/>
              </a:solidFill>
              <a:effectLst/>
            </c:spPr>
          </c:dPt>
          <c:dPt>
            <c:idx val="6"/>
            <c:invertIfNegative val="0"/>
            <c:bubble3D val="0"/>
            <c:spPr>
              <a:solidFill>
                <a:srgbClr val="B9B9B9"/>
              </a:solidFill>
              <a:effectLst/>
            </c:spPr>
          </c:dPt>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Sheet1!$B$2:$B$8</c:f>
              <c:numCache>
                <c:formatCode>General</c:formatCode>
                <c:ptCount val="7"/>
                <c:pt idx="0">
                  <c:v>34.38</c:v>
                </c:pt>
                <c:pt idx="1">
                  <c:v>31.44</c:v>
                </c:pt>
                <c:pt idx="2">
                  <c:v>31.51</c:v>
                </c:pt>
                <c:pt idx="3">
                  <c:v>35.6</c:v>
                </c:pt>
                <c:pt idx="4">
                  <c:v>40</c:v>
                </c:pt>
                <c:pt idx="5">
                  <c:v>29.7</c:v>
                </c:pt>
                <c:pt idx="6">
                  <c:v>37.34</c:v>
                </c:pt>
              </c:numCache>
            </c:numRef>
          </c:val>
        </c:ser>
        <c:dLbls>
          <c:numFmt formatCode="0.0&quot;%&quot;" sourceLinked="0"/>
          <c:txPr>
            <a:bodyPr/>
            <a:lstStyle/>
            <a:p>
              <a:pPr>
                <a:defRPr b="0" i="0" strike="noStrike" sz="900" u="none">
                  <a:solidFill>
                    <a:srgbClr val="2B2B2B"/>
                  </a:solidFill>
                  <a:latin typeface="Verdana"/>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ACACA"/>
            </a:solidFill>
            <a:prstDash val="solid"/>
            <a:round/>
          </a:ln>
        </c:spPr>
        <c:txPr>
          <a:bodyPr/>
          <a:lstStyle/>
          <a:p>
            <a:pPr>
              <a:defRPr sz="950" b="0" i="0" u="none" strike="noStrike">
                <a:solidFill>
                  <a:srgbClr val="2B2B2B"/>
                </a:solidFill>
                <a:latin typeface="Verdana"/>
              </a:defRPr>
            </a:pPr>
            <a:endParaRPr lang="en-US"/>
          </a:p>
        </c:txPr>
        <c:crossAx val="2094734552"/>
        <c:crosses val="autoZero"/>
        <c:auto val="1"/>
        <c:lblAlgn val="ctr"/>
        <c:noMultiLvlLbl val="1"/>
      </c:catAx>
      <c:valAx>
        <c:axId val="2094734552"/>
        <c:scaling>
          <c:orientation val="minMax"/>
          <c:max val="48"/>
          <c:min val="0"/>
        </c:scaling>
        <c:delete val="0"/>
        <c:axPos val="l"/>
        <c:majorGridlines>
          <c:spPr>
            <a:ln w="9525" cap="flat">
              <a:solidFill>
                <a:srgbClr val="E6E9EC"/>
              </a:solidFill>
              <a:prstDash val="solid"/>
              <a:round/>
            </a:ln>
          </c:spPr>
        </c:majorGridlines>
        <c:numFmt formatCode="0.0&quot;%&quot;" sourceLinked="0"/>
        <c:majorTickMark val="out"/>
        <c:minorTickMark val="none"/>
        <c:tickLblPos val="nextTo"/>
        <c:spPr>
          <a:ln w="12700" cap="flat">
            <a:noFill/>
            <a:prstDash val="solid"/>
            <a:round/>
          </a:ln>
        </c:spPr>
        <c:txPr>
          <a:bodyPr/>
          <a:lstStyle/>
          <a:p>
            <a:pPr>
              <a:defRPr sz="850" b="0" i="0" u="none" strike="noStrike">
                <a:solidFill>
                  <a:srgbClr val="818181"/>
                </a:solidFill>
                <a:latin typeface="Verdana"/>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Método estándar</c:v>
                </c:pt>
              </c:strCache>
            </c:strRef>
          </c:tx>
          <c:spPr>
            <a:solidFill>
              <a:srgbClr val="B9B9B9"/>
            </a:solidFill>
            <a:effectLst/>
          </c:spPr>
          <c:invertIfNegative val="0"/>
          <c:dLbls>
            <c:numFmt formatCode="0" sourceLinked="0"/>
            <c:txPr>
              <a:bodyPr/>
              <a:lstStyle/>
              <a:p>
                <a:pPr>
                  <a:defRPr b="0" i="0" strike="noStrike" sz="800" u="none">
                    <a:solidFill>
                      <a:srgbClr val="2B2B2B"/>
                    </a:solidFill>
                    <a:latin typeface="Verdana"/>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Sheet1!$B$2:$B$8</c:f>
              <c:numCache>
                <c:formatCode>General</c:formatCode>
                <c:ptCount val="7"/>
                <c:pt idx="0">
                  <c:v>63</c:v>
                </c:pt>
                <c:pt idx="1">
                  <c:v>66</c:v>
                </c:pt>
                <c:pt idx="2">
                  <c:v>67.3</c:v>
                </c:pt>
                <c:pt idx="3">
                  <c:v>66.3</c:v>
                </c:pt>
                <c:pt idx="4">
                  <c:v>72.7</c:v>
                </c:pt>
                <c:pt idx="5">
                  <c:v>69.9</c:v>
                </c:pt>
                <c:pt idx="6">
                  <c:v>77.3</c:v>
                </c:pt>
              </c:numCache>
            </c:numRef>
          </c:val>
        </c:ser>
        <c:ser>
          <c:idx val="1"/>
          <c:order val="1"/>
          <c:tx>
            <c:strRef>
              <c:f>Sheet1!$C$1</c:f>
              <c:strCache>
                <c:ptCount val="1"/>
                <c:pt idx="0">
                  <c:v>Modelos internos (IRB)</c:v>
                </c:pt>
              </c:strCache>
            </c:strRef>
          </c:tx>
          <c:spPr>
            <a:solidFill>
              <a:srgbClr val="F56600"/>
            </a:solidFill>
            <a:effectLst/>
          </c:spPr>
          <c:invertIfNegative val="0"/>
          <c:dLbls>
            <c:numFmt formatCode="0" sourceLinked="0"/>
            <c:txPr>
              <a:bodyPr/>
              <a:lstStyle/>
              <a:p>
                <a:pPr>
                  <a:defRPr b="0" i="0" strike="noStrike" sz="800" u="none">
                    <a:solidFill>
                      <a:srgbClr val="2B2B2B"/>
                    </a:solidFill>
                    <a:latin typeface="Verdana"/>
                  </a:defRPr>
                </a:pPr>
              </a:p>
            </c:txPr>
            <c:showLegendKey val="0"/>
            <c:showVal val="1"/>
            <c:showCatName val="0"/>
            <c:showSerName val="0"/>
            <c:showPercent val="0"/>
            <c:showBubbleSize val="0"/>
            <c:showLeaderLines val="0"/>
          </c:dLbls>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Sheet1!$C$2:$C$8</c:f>
              <c:numCache>
                <c:formatCode>General</c:formatCode>
                <c:ptCount val="7"/>
                <c:pt idx="0">
                  <c:v>55.4</c:v>
                </c:pt>
                <c:pt idx="1">
                  <c:v>30.1</c:v>
                </c:pt>
                <c:pt idx="2">
                  <c:v>35.3</c:v>
                </c:pt>
                <c:pt idx="3">
                  <c:v>37.7</c:v>
                </c:pt>
                <c:pt idx="4">
                  <c:v>47.5</c:v>
                </c:pt>
                <c:pt idx="5">
                  <c:v>34.9</c:v>
                </c:pt>
                <c:pt idx="6">
                  <c:v>64.7</c:v>
                </c:pt>
              </c:numCache>
            </c:numRef>
          </c:val>
        </c:ser>
        <c:dLbls>
          <c:numFmt formatCode="0" sourceLinked="0"/>
          <c:txPr>
            <a:bodyPr/>
            <a:lstStyle/>
            <a:p>
              <a:pPr>
                <a:defRPr b="0" i="0" strike="noStrike" sz="800" u="none">
                  <a:solidFill>
                    <a:srgbClr val="2B2B2B"/>
                  </a:solidFill>
                  <a:latin typeface="Verdana"/>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ACACA"/>
            </a:solidFill>
            <a:prstDash val="solid"/>
            <a:round/>
          </a:ln>
        </c:spPr>
        <c:txPr>
          <a:bodyPr/>
          <a:lstStyle/>
          <a:p>
            <a:pPr>
              <a:defRPr sz="950" b="0" i="0" u="none" strike="noStrike">
                <a:solidFill>
                  <a:srgbClr val="2B2B2B"/>
                </a:solidFill>
                <a:latin typeface="Verdana"/>
              </a:defRPr>
            </a:pPr>
            <a:endParaRPr lang="en-US"/>
          </a:p>
        </c:txPr>
        <c:crossAx val="2094734552"/>
        <c:crosses val="autoZero"/>
        <c:auto val="1"/>
        <c:lblAlgn val="ctr"/>
        <c:noMultiLvlLbl val="1"/>
      </c:catAx>
      <c:valAx>
        <c:axId val="2094734552"/>
        <c:scaling>
          <c:orientation val="minMax"/>
          <c:max val="90"/>
          <c:min val="0"/>
        </c:scaling>
        <c:delete val="0"/>
        <c:axPos val="l"/>
        <c:majorGridlines>
          <c:spPr>
            <a:ln w="9525" cap="flat">
              <a:solidFill>
                <a:srgbClr val="E6E9EC"/>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850" b="0" i="0" u="none" strike="noStrike">
                <a:solidFill>
                  <a:srgbClr val="818181"/>
                </a:solidFill>
                <a:latin typeface="Verdana"/>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2B2B2B"/>
              </a:solidFill>
              <a:latin typeface="Verdana"/>
              <a:cs typeface="Verdana"/>
            </a:defRPr>
          </a:pPr>
          <a:endParaRPr lang="en-US"/>
        </a:p>
      </c:txPr>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2B2B2B"/>
                </a:solidFill>
                <a:latin typeface="Verdana"/>
              </a:defRPr>
            </a:pPr>
            <a:r>
              <a:rPr sz="1050" b="0" i="0" u="none" strike="noStrike">
                <a:solidFill>
                  <a:srgbClr val="2B2B2B"/>
                </a:solidFill>
                <a:latin typeface="Verdana"/>
              </a:rPr>
              <a:t>Exposición PYME en España, miles de millones de €</a:t>
            </a:r>
          </a:p>
        </c:rich>
      </c:tx>
      <c:layout/>
      <c:overlay val="0"/>
    </c:title>
    <c:autoTitleDeleted val="0"/>
    <c:plotArea>
      <c:layout/>
      <c:barChart>
        <c:barDir val="col"/>
        <c:grouping val="clustered"/>
        <c:varyColors val="0"/>
        <c:ser>
          <c:idx val="0"/>
          <c:order val="0"/>
          <c:tx>
            <c:strRef>
              <c:f>Sheet1!$B$1</c:f>
              <c:strCache>
                <c:ptCount val="1"/>
                <c:pt idx="0">
                  <c:v>valor</c:v>
                </c:pt>
              </c:strCache>
            </c:strRef>
          </c:tx>
          <c:spPr>
            <a:solidFill>
              <a:srgbClr val="F56600"/>
            </a:solidFill>
            <a:effectLst/>
          </c:spPr>
          <c:invertIfNegative val="0"/>
          <c:dLbls>
            <c:numFmt formatCode="0.0" sourceLinked="0"/>
            <c:txPr>
              <a:bodyPr/>
              <a:lstStyle/>
              <a:p>
                <a:pPr>
                  <a:defRPr b="0" i="0" strike="noStrike" sz="900" u="none">
                    <a:solidFill>
                      <a:srgbClr val="2B2B2B"/>
                    </a:solidFill>
                    <a:latin typeface="Verdana"/>
                  </a:defRPr>
                </a:pPr>
              </a:p>
            </c:txPr>
            <c:showLegendKey val="0"/>
            <c:showVal val="1"/>
            <c:showCatName val="0"/>
            <c:showSerName val="0"/>
            <c:showPercent val="0"/>
            <c:showBubbleSize val="0"/>
            <c:showLeaderLines val="0"/>
          </c:dLbls>
          <c:dPt>
            <c:idx val="0"/>
            <c:invertIfNegative val="0"/>
            <c:bubble3D val="0"/>
            <c:spPr>
              <a:solidFill>
                <a:srgbClr val="F56600"/>
              </a:solidFill>
              <a:effectLst/>
            </c:spPr>
          </c:dPt>
          <c:dPt>
            <c:idx val="1"/>
            <c:invertIfNegative val="0"/>
            <c:bubble3D val="0"/>
            <c:spPr>
              <a:solidFill>
                <a:srgbClr val="B9B9B9"/>
              </a:solidFill>
              <a:effectLst/>
            </c:spPr>
          </c:dPt>
          <c:dPt>
            <c:idx val="2"/>
            <c:invertIfNegative val="0"/>
            <c:bubble3D val="0"/>
            <c:spPr>
              <a:solidFill>
                <a:srgbClr val="B9B9B9"/>
              </a:solidFill>
              <a:effectLst/>
            </c:spPr>
          </c:dPt>
          <c:dPt>
            <c:idx val="3"/>
            <c:invertIfNegative val="0"/>
            <c:bubble3D val="0"/>
            <c:spPr>
              <a:solidFill>
                <a:srgbClr val="B9B9B9"/>
              </a:solidFill>
              <a:effectLst/>
            </c:spPr>
          </c:dPt>
          <c:dPt>
            <c:idx val="4"/>
            <c:invertIfNegative val="0"/>
            <c:bubble3D val="0"/>
            <c:spPr>
              <a:solidFill>
                <a:srgbClr val="B9B9B9"/>
              </a:solidFill>
              <a:effectLst/>
            </c:spPr>
          </c:dPt>
          <c:cat>
            <c:multiLvlStrRef>
              <c:f>Sheet1!$A$2:$A$6</c:f>
              <c:multiLvlStrCache>
                <c:ptCount val="5"/>
                <c:lvl>
                  <c:pt idx="0">
                    <c:v>Bankinter</c:v>
                  </c:pt>
                  <c:pt idx="1">
                    <c:v>Sabadell</c:v>
                  </c:pt>
                  <c:pt idx="2">
                    <c:v>CaixaBank</c:v>
                  </c:pt>
                  <c:pt idx="3">
                    <c:v>BBVA</c:v>
                  </c:pt>
                  <c:pt idx="4">
                    <c:v>Santander</c:v>
                  </c:pt>
                </c:lvl>
              </c:multiLvlStrCache>
            </c:multiLvlStrRef>
          </c:cat>
          <c:val>
            <c:numRef>
              <c:f>Sheet1!$B$2:$B$6</c:f>
              <c:numCache>
                <c:formatCode>General</c:formatCode>
                <c:ptCount val="5"/>
                <c:pt idx="0">
                  <c:v>14.553</c:v>
                </c:pt>
                <c:pt idx="1">
                  <c:v>22.324</c:v>
                </c:pt>
                <c:pt idx="2">
                  <c:v>48.736</c:v>
                </c:pt>
                <c:pt idx="3">
                  <c:v>24.41</c:v>
                </c:pt>
                <c:pt idx="4">
                  <c:v>32.325</c:v>
                </c:pt>
              </c:numCache>
            </c:numRef>
          </c:val>
        </c:ser>
        <c:dLbls>
          <c:numFmt formatCode="0.0" sourceLinked="0"/>
          <c:txPr>
            <a:bodyPr/>
            <a:lstStyle/>
            <a:p>
              <a:pPr>
                <a:defRPr b="0" i="0" strike="noStrike" sz="900" u="none">
                  <a:solidFill>
                    <a:srgbClr val="2B2B2B"/>
                  </a:solidFill>
                  <a:latin typeface="Verdana"/>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ACACA"/>
            </a:solidFill>
            <a:prstDash val="solid"/>
            <a:round/>
          </a:ln>
        </c:spPr>
        <c:txPr>
          <a:bodyPr/>
          <a:lstStyle/>
          <a:p>
            <a:pPr>
              <a:defRPr sz="950" b="0" i="0" u="none" strike="noStrike">
                <a:solidFill>
                  <a:srgbClr val="2B2B2B"/>
                </a:solidFill>
                <a:latin typeface="Verdana"/>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9525" cap="flat">
              <a:solidFill>
                <a:srgbClr val="E6E9EC"/>
              </a:solidFill>
              <a:prstDash val="solid"/>
              <a:round/>
            </a:ln>
          </c:spPr>
        </c:majorGridlines>
        <c:numFmt formatCode="0" sourceLinked="0"/>
        <c:majorTickMark val="out"/>
        <c:minorTickMark val="none"/>
        <c:tickLblPos val="nextTo"/>
        <c:spPr>
          <a:ln w="12700" cap="flat">
            <a:noFill/>
            <a:prstDash val="solid"/>
            <a:round/>
          </a:ln>
        </c:spPr>
        <c:txPr>
          <a:bodyPr/>
          <a:lstStyle/>
          <a:p>
            <a:pPr>
              <a:defRPr sz="850" b="0" i="0" u="none" strike="noStrike">
                <a:solidFill>
                  <a:srgbClr val="818181"/>
                </a:solidFill>
                <a:latin typeface="Verdana"/>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Francia</c:v>
                </c:pt>
              </c:strCache>
            </c:strRef>
          </c:tx>
          <c:spPr>
            <a:solidFill>
              <a:srgbClr val="B9B9B9"/>
            </a:solidFill>
            <a:ln w="15875" cap="flat">
              <a:solidFill>
                <a:srgbClr val="B9B9B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9B9B9"/>
              </a:solidFill>
              <a:ln w="9525" cap="flat">
                <a:solidFill>
                  <a:srgbClr val="B9B9B9"/>
                </a:solidFill>
                <a:prstDash val="solid"/>
                <a:round/>
              </a:ln>
              <a:effectLst/>
            </c:spPr>
          </c:marker>
          <c:cat>
            <c:multiLvlStrRef>
              <c:f>Sheet1!$A$2:$A$13</c:f>
              <c:multiLvlStrCache>
                <c:ptCount val="12"/>
                <c:lvl>
                  <c:pt idx="0">
                    <c:v>2011</c:v>
                  </c:pt>
                  <c:pt idx="1">
                    <c:v>2012</c:v>
                  </c:pt>
                  <c:pt idx="2">
                    <c:v>2013</c:v>
                  </c:pt>
                  <c:pt idx="3">
                    <c:v>2014</c:v>
                  </c:pt>
                  <c:pt idx="4">
                    <c:v>2015</c:v>
                  </c:pt>
                  <c:pt idx="5">
                    <c:v>2016</c:v>
                  </c:pt>
                  <c:pt idx="6">
                    <c:v>2017</c:v>
                  </c:pt>
                  <c:pt idx="7">
                    <c:v>2018</c:v>
                  </c:pt>
                  <c:pt idx="8">
                    <c:v>2019</c:v>
                  </c:pt>
                  <c:pt idx="9">
                    <c:v>2020</c:v>
                  </c:pt>
                  <c:pt idx="10">
                    <c:v>2021</c:v>
                  </c:pt>
                  <c:pt idx="11">
                    <c:v>2022</c:v>
                  </c:pt>
                </c:lvl>
              </c:multiLvlStrCache>
            </c:multiLvlStrRef>
          </c:cat>
          <c:val>
            <c:numRef>
              <c:f>Sheet1!$B$2:$B$13</c:f>
              <c:numCache>
                <c:formatCode>General</c:formatCode>
                <c:ptCount val="12"/>
                <c:pt idx="0">
                  <c:v>88.875</c:v>
                </c:pt>
                <c:pt idx="1">
                  <c:v>71.4667</c:v>
                </c:pt>
                <c:pt idx="2">
                  <c:v>70.3167</c:v>
                </c:pt>
                <c:pt idx="3">
                  <c:v>77.65</c:v>
                </c:pt>
                <c:pt idx="4">
                  <c:v>59.05</c:v>
                </c:pt>
                <c:pt idx="5">
                  <c:v>35.4667</c:v>
                </c:pt>
                <c:pt idx="6">
                  <c:v>30.0833</c:v>
                </c:pt>
                <c:pt idx="7">
                  <c:v>44.85</c:v>
                </c:pt>
                <c:pt idx="8">
                  <c:v>49.8167</c:v>
                </c:pt>
                <c:pt idx="9">
                  <c:v>27.0083</c:v>
                </c:pt>
                <c:pt idx="10">
                  <c:v>15.975</c:v>
                </c:pt>
                <c:pt idx="11">
                  <c:v>58.0333</c:v>
                </c:pt>
              </c:numCache>
            </c:numRef>
          </c:val>
          <c:smooth val="0"/>
        </c:ser>
        <c:ser>
          <c:idx val="1"/>
          <c:order val="1"/>
          <c:tx>
            <c:strRef>
              <c:f>Sheet1!$C$1</c:f>
              <c:strCache>
                <c:ptCount val="1"/>
                <c:pt idx="0">
                  <c:v>Italia</c:v>
                </c:pt>
              </c:strCache>
            </c:strRef>
          </c:tx>
          <c:spPr>
            <a:solidFill>
              <a:srgbClr val="B9B9B9"/>
            </a:solidFill>
            <a:ln w="15875" cap="flat">
              <a:solidFill>
                <a:srgbClr val="B9B9B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9B9B9"/>
              </a:solidFill>
              <a:ln w="9525" cap="flat">
                <a:solidFill>
                  <a:srgbClr val="B9B9B9"/>
                </a:solidFill>
                <a:prstDash val="solid"/>
                <a:round/>
              </a:ln>
              <a:effectLst/>
            </c:spPr>
          </c:marker>
          <c:cat>
            <c:multiLvlStrRef>
              <c:f>Sheet1!$A$2:$A$13</c:f>
              <c:multiLvlStrCache>
                <c:ptCount val="12"/>
                <c:lvl>
                  <c:pt idx="0">
                    <c:v>2011</c:v>
                  </c:pt>
                  <c:pt idx="1">
                    <c:v>2012</c:v>
                  </c:pt>
                  <c:pt idx="2">
                    <c:v>2013</c:v>
                  </c:pt>
                  <c:pt idx="3">
                    <c:v>2014</c:v>
                  </c:pt>
                  <c:pt idx="4">
                    <c:v>2015</c:v>
                  </c:pt>
                  <c:pt idx="5">
                    <c:v>2016</c:v>
                  </c:pt>
                  <c:pt idx="6">
                    <c:v>2017</c:v>
                  </c:pt>
                  <c:pt idx="7">
                    <c:v>2018</c:v>
                  </c:pt>
                  <c:pt idx="8">
                    <c:v>2019</c:v>
                  </c:pt>
                  <c:pt idx="9">
                    <c:v>2020</c:v>
                  </c:pt>
                  <c:pt idx="10">
                    <c:v>2021</c:v>
                  </c:pt>
                  <c:pt idx="11">
                    <c:v>2022</c:v>
                  </c:pt>
                </c:lvl>
              </c:multiLvlStrCache>
            </c:multiLvlStrRef>
          </c:cat>
          <c:val>
            <c:numRef>
              <c:f>Sheet1!$C$2:$C$13</c:f>
              <c:numCache>
                <c:formatCode>General</c:formatCode>
                <c:ptCount val="12"/>
                <c:pt idx="0">
                  <c:v>160</c:v>
                </c:pt>
                <c:pt idx="1">
                  <c:v>200</c:v>
                </c:pt>
                <c:pt idx="2">
                  <c:v>190</c:v>
                </c:pt>
                <c:pt idx="3">
                  <c:v>190</c:v>
                </c:pt>
                <c:pt idx="4">
                  <c:v>200</c:v>
                </c:pt>
                <c:pt idx="5">
                  <c:v>140</c:v>
                </c:pt>
                <c:pt idx="6">
                  <c:v>120</c:v>
                </c:pt>
                <c:pt idx="7">
                  <c:v>130</c:v>
                </c:pt>
                <c:pt idx="8">
                  <c:v>170</c:v>
                </c:pt>
                <c:pt idx="9">
                  <c:v>80</c:v>
                </c:pt>
                <c:pt idx="10">
                  <c:v>117</c:v>
                </c:pt>
                <c:pt idx="11">
                  <c:v>200</c:v>
                </c:pt>
              </c:numCache>
            </c:numRef>
          </c:val>
          <c:smooth val="0"/>
        </c:ser>
        <c:ser>
          <c:idx val="2"/>
          <c:order val="2"/>
          <c:tx>
            <c:strRef>
              <c:f>Sheet1!$D$1</c:f>
              <c:strCache>
                <c:ptCount val="1"/>
                <c:pt idx="0">
                  <c:v>Portugal</c:v>
                </c:pt>
              </c:strCache>
            </c:strRef>
          </c:tx>
          <c:spPr>
            <a:solidFill>
              <a:srgbClr val="B9B9B9"/>
            </a:solidFill>
            <a:ln w="15875" cap="flat">
              <a:solidFill>
                <a:srgbClr val="B9B9B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9B9B9"/>
              </a:solidFill>
              <a:ln w="9525" cap="flat">
                <a:solidFill>
                  <a:srgbClr val="B9B9B9"/>
                </a:solidFill>
                <a:prstDash val="solid"/>
                <a:round/>
              </a:ln>
              <a:effectLst/>
            </c:spPr>
          </c:marker>
          <c:cat>
            <c:multiLvlStrRef>
              <c:f>Sheet1!$A$2:$A$13</c:f>
              <c:multiLvlStrCache>
                <c:ptCount val="12"/>
                <c:lvl>
                  <c:pt idx="0">
                    <c:v>2011</c:v>
                  </c:pt>
                  <c:pt idx="1">
                    <c:v>2012</c:v>
                  </c:pt>
                  <c:pt idx="2">
                    <c:v>2013</c:v>
                  </c:pt>
                  <c:pt idx="3">
                    <c:v>2014</c:v>
                  </c:pt>
                  <c:pt idx="4">
                    <c:v>2015</c:v>
                  </c:pt>
                  <c:pt idx="5">
                    <c:v>2016</c:v>
                  </c:pt>
                  <c:pt idx="6">
                    <c:v>2017</c:v>
                  </c:pt>
                  <c:pt idx="7">
                    <c:v>2018</c:v>
                  </c:pt>
                  <c:pt idx="8">
                    <c:v>2019</c:v>
                  </c:pt>
                  <c:pt idx="9">
                    <c:v>2020</c:v>
                  </c:pt>
                  <c:pt idx="10">
                    <c:v>2021</c:v>
                  </c:pt>
                  <c:pt idx="11">
                    <c:v>2022</c:v>
                  </c:pt>
                </c:lvl>
              </c:multiLvlStrCache>
            </c:multiLvlStrRef>
          </c:cat>
          <c:val>
            <c:numRef>
              <c:f>Sheet1!$D$2:$D$13</c:f>
              <c:numCache>
                <c:formatCode>General</c:formatCode>
                <c:ptCount val="12"/>
                <c:pt idx="0">
                  <c:v>201</c:v>
                </c:pt>
                <c:pt idx="1">
                  <c:v>216</c:v>
                </c:pt>
                <c:pt idx="2">
                  <c:v>185</c:v>
                </c:pt>
                <c:pt idx="3">
                  <c:v>160</c:v>
                </c:pt>
                <c:pt idx="4">
                  <c:v>135</c:v>
                </c:pt>
                <c:pt idx="5">
                  <c:v>114</c:v>
                </c:pt>
                <c:pt idx="6">
                  <c:v>128</c:v>
                </c:pt>
                <c:pt idx="7">
                  <c:v>120</c:v>
                </c:pt>
                <c:pt idx="8">
                  <c:v>108</c:v>
                </c:pt>
                <c:pt idx="9">
                  <c:v>78</c:v>
                </c:pt>
                <c:pt idx="10">
                  <c:v>79</c:v>
                </c:pt>
                <c:pt idx="11">
                  <c:v>52</c:v>
                </c:pt>
              </c:numCache>
            </c:numRef>
          </c:val>
          <c:smooth val="0"/>
        </c:ser>
        <c:ser>
          <c:idx val="3"/>
          <c:order val="3"/>
          <c:tx>
            <c:strRef>
              <c:f>Sheet1!$E$1</c:f>
              <c:strCache>
                <c:ptCount val="1"/>
                <c:pt idx="0">
                  <c:v>P. Bajos</c:v>
                </c:pt>
              </c:strCache>
            </c:strRef>
          </c:tx>
          <c:spPr>
            <a:solidFill>
              <a:srgbClr val="B9B9B9"/>
            </a:solidFill>
            <a:ln w="15875" cap="flat">
              <a:solidFill>
                <a:srgbClr val="B9B9B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9B9B9"/>
              </a:solidFill>
              <a:ln w="9525" cap="flat">
                <a:solidFill>
                  <a:srgbClr val="B9B9B9"/>
                </a:solidFill>
                <a:prstDash val="solid"/>
                <a:round/>
              </a:ln>
              <a:effectLst/>
            </c:spPr>
          </c:marker>
          <c:cat>
            <c:multiLvlStrRef>
              <c:f>Sheet1!$A$2:$A$13</c:f>
              <c:multiLvlStrCache>
                <c:ptCount val="12"/>
                <c:lvl>
                  <c:pt idx="0">
                    <c:v>2011</c:v>
                  </c:pt>
                  <c:pt idx="1">
                    <c:v>2012</c:v>
                  </c:pt>
                  <c:pt idx="2">
                    <c:v>2013</c:v>
                  </c:pt>
                  <c:pt idx="3">
                    <c:v>2014</c:v>
                  </c:pt>
                  <c:pt idx="4">
                    <c:v>2015</c:v>
                  </c:pt>
                  <c:pt idx="5">
                    <c:v>2016</c:v>
                  </c:pt>
                  <c:pt idx="6">
                    <c:v>2017</c:v>
                  </c:pt>
                  <c:pt idx="7">
                    <c:v>2018</c:v>
                  </c:pt>
                  <c:pt idx="8">
                    <c:v>2019</c:v>
                  </c:pt>
                  <c:pt idx="9">
                    <c:v>2020</c:v>
                  </c:pt>
                  <c:pt idx="10">
                    <c:v>2021</c:v>
                  </c:pt>
                  <c:pt idx="11">
                    <c:v>2022</c:v>
                  </c:pt>
                </c:lvl>
              </c:multiLvlStrCache>
            </c:multiLvlStrRef>
          </c:cat>
          <c:val>
            <c:numRef>
              <c:f>Sheet1!$E$2:$E$13</c:f>
              <c:numCache>
                <c:formatCode>General</c:formatCode>
                <c:ptCount val="12"/>
                <c:pt idx="0">
                  <c:v>290</c:v>
                </c:pt>
                <c:pt idx="1">
                  <c:v>150</c:v>
                </c:pt>
                <c:pt idx="2">
                  <c:v>90</c:v>
                </c:pt>
                <c:pt idx="3">
                  <c:v>130</c:v>
                </c:pt>
                <c:pt idx="4">
                  <c:v>200</c:v>
                </c:pt>
                <c:pt idx="5">
                  <c:v>50</c:v>
                </c:pt>
                <c:pt idx="6">
                  <c:v>40</c:v>
                </c:pt>
                <c:pt idx="7">
                  <c:v>200</c:v>
                </c:pt>
                <c:pt idx="8">
                  <c:v>80</c:v>
                </c:pt>
                <c:pt idx="9">
                  <c:v>160</c:v>
                </c:pt>
                <c:pt idx="10">
                  <c:v>140</c:v>
                </c:pt>
                <c:pt idx="11">
                  <c:v>90</c:v>
                </c:pt>
              </c:numCache>
            </c:numRef>
          </c:val>
          <c:smooth val="0"/>
        </c:ser>
        <c:ser>
          <c:idx val="4"/>
          <c:order val="4"/>
          <c:tx>
            <c:strRef>
              <c:f>Sheet1!$F$1</c:f>
              <c:strCache>
                <c:ptCount val="1"/>
                <c:pt idx="0">
                  <c:v>Irlanda</c:v>
                </c:pt>
              </c:strCache>
            </c:strRef>
          </c:tx>
          <c:spPr>
            <a:solidFill>
              <a:srgbClr val="B9B9B9"/>
            </a:solidFill>
            <a:ln w="15875" cap="flat">
              <a:solidFill>
                <a:srgbClr val="B9B9B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9B9B9"/>
              </a:solidFill>
              <a:ln w="9525" cap="flat">
                <a:solidFill>
                  <a:srgbClr val="B9B9B9"/>
                </a:solidFill>
                <a:prstDash val="solid"/>
                <a:round/>
              </a:ln>
              <a:effectLst/>
            </c:spPr>
          </c:marker>
          <c:cat>
            <c:multiLvlStrRef>
              <c:f>Sheet1!$A$2:$A$13</c:f>
              <c:multiLvlStrCache>
                <c:ptCount val="12"/>
                <c:lvl>
                  <c:pt idx="0">
                    <c:v>2011</c:v>
                  </c:pt>
                  <c:pt idx="1">
                    <c:v>2012</c:v>
                  </c:pt>
                  <c:pt idx="2">
                    <c:v>2013</c:v>
                  </c:pt>
                  <c:pt idx="3">
                    <c:v>2014</c:v>
                  </c:pt>
                  <c:pt idx="4">
                    <c:v>2015</c:v>
                  </c:pt>
                  <c:pt idx="5">
                    <c:v>2016</c:v>
                  </c:pt>
                  <c:pt idx="6">
                    <c:v>2017</c:v>
                  </c:pt>
                  <c:pt idx="7">
                    <c:v>2018</c:v>
                  </c:pt>
                  <c:pt idx="8">
                    <c:v>2019</c:v>
                  </c:pt>
                  <c:pt idx="9">
                    <c:v>2020</c:v>
                  </c:pt>
                  <c:pt idx="10">
                    <c:v>2021</c:v>
                  </c:pt>
                  <c:pt idx="11">
                    <c:v>2022</c:v>
                  </c:pt>
                </c:lvl>
              </c:multiLvlStrCache>
            </c:multiLvlStrRef>
          </c:cat>
          <c:val>
            <c:numRef>
              <c:f>Sheet1!$F$2:$F$13</c:f>
              <c:numCache>
                <c:formatCode>General</c:formatCode>
                <c:ptCount val="12"/>
                <c:pt idx="0">
                  <c:v>138</c:v>
                </c:pt>
                <c:pt idx="1">
                  <c:v>142</c:v>
                </c:pt>
                <c:pt idx="2">
                  <c:v>146</c:v>
                </c:pt>
                <c:pt idx="3">
                  <c:v>169</c:v>
                </c:pt>
                <c:pt idx="4">
                  <c:v>257</c:v>
                </c:pt>
                <c:pt idx="5">
                  <c:v>220</c:v>
                </c:pt>
                <c:pt idx="6">
                  <c:v>197</c:v>
                </c:pt>
                <c:pt idx="7">
                  <c:v>219</c:v>
                </c:pt>
                <c:pt idx="8">
                  <c:v>175</c:v>
                </c:pt>
                <c:pt idx="9">
                  <c:v>194</c:v>
                </c:pt>
                <c:pt idx="10">
                  <c:v>189</c:v>
                </c:pt>
                <c:pt idx="11">
                  <c:v>90.5833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5"/>
          <c:order val="5"/>
          <c:tx>
            <c:strRef>
              <c:f>Sheet1!$G$1</c:f>
              <c:strCache>
                <c:ptCount val="1"/>
                <c:pt idx="0">
                  <c:v>España</c:v>
                </c:pt>
              </c:strCache>
            </c:strRef>
          </c:tx>
          <c:spPr>
            <a:solidFill>
              <a:srgbClr val="F56600"/>
            </a:solidFill>
            <a:ln w="38100" cap="flat">
              <a:solidFill>
                <a:srgbClr val="F566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56600"/>
              </a:solidFill>
              <a:ln w="9525" cap="flat">
                <a:solidFill>
                  <a:srgbClr val="F56600"/>
                </a:solidFill>
                <a:prstDash val="solid"/>
                <a:round/>
              </a:ln>
              <a:effectLst/>
            </c:spPr>
          </c:marker>
          <c:cat>
            <c:multiLvlStrRef>
              <c:f>Sheet1!$A$2:$A$13</c:f>
              <c:multiLvlStrCache>
                <c:ptCount val="12"/>
                <c:lvl>
                  <c:pt idx="0">
                    <c:v>2011</c:v>
                  </c:pt>
                  <c:pt idx="1">
                    <c:v>2012</c:v>
                  </c:pt>
                  <c:pt idx="2">
                    <c:v>2013</c:v>
                  </c:pt>
                  <c:pt idx="3">
                    <c:v>2014</c:v>
                  </c:pt>
                  <c:pt idx="4">
                    <c:v>2015</c:v>
                  </c:pt>
                  <c:pt idx="5">
                    <c:v>2016</c:v>
                  </c:pt>
                  <c:pt idx="6">
                    <c:v>2017</c:v>
                  </c:pt>
                  <c:pt idx="7">
                    <c:v>2018</c:v>
                  </c:pt>
                  <c:pt idx="8">
                    <c:v>2019</c:v>
                  </c:pt>
                  <c:pt idx="9">
                    <c:v>2020</c:v>
                  </c:pt>
                  <c:pt idx="10">
                    <c:v>2021</c:v>
                  </c:pt>
                  <c:pt idx="11">
                    <c:v>2022</c:v>
                  </c:pt>
                </c:lvl>
              </c:multiLvlStrCache>
            </c:multiLvlStrRef>
          </c:cat>
          <c:val>
            <c:numRef>
              <c:f>Sheet1!$G$2:$G$13</c:f>
              <c:numCache>
                <c:formatCode>General</c:formatCode>
                <c:ptCount val="12"/>
                <c:pt idx="0">
                  <c:v>159</c:v>
                </c:pt>
                <c:pt idx="1">
                  <c:v>230</c:v>
                </c:pt>
                <c:pt idx="2">
                  <c:v>210</c:v>
                </c:pt>
                <c:pt idx="3">
                  <c:v>187</c:v>
                </c:pt>
                <c:pt idx="4">
                  <c:v>104</c:v>
                </c:pt>
                <c:pt idx="5">
                  <c:v>88</c:v>
                </c:pt>
                <c:pt idx="6">
                  <c:v>59</c:v>
                </c:pt>
                <c:pt idx="7">
                  <c:v>20</c:v>
                </c:pt>
                <c:pt idx="8">
                  <c:v>56</c:v>
                </c:pt>
                <c:pt idx="9">
                  <c:v>32</c:v>
                </c:pt>
                <c:pt idx="10">
                  <c:v>52</c:v>
                </c:pt>
                <c:pt idx="11">
                  <c:v>20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ACACA"/>
            </a:solidFill>
            <a:prstDash val="solid"/>
            <a:round/>
          </a:ln>
        </c:spPr>
        <c:txPr>
          <a:bodyPr/>
          <a:lstStyle/>
          <a:p>
            <a:pPr>
              <a:defRPr sz="950" b="0" i="0" u="none" strike="noStrike">
                <a:solidFill>
                  <a:srgbClr val="2B2B2B"/>
                </a:solidFill>
                <a:latin typeface="Verdana"/>
              </a:defRPr>
            </a:pPr>
            <a:endParaRPr lang="en-US"/>
          </a:p>
        </c:txPr>
        <c:crossAx val="2094734552"/>
        <c:crosses val="autoZero"/>
        <c:auto val="1"/>
        <c:lblAlgn val="ctr"/>
        <c:noMultiLvlLbl val="1"/>
        <c:tickLblSkip val="1"/>
      </c:catAx>
      <c:valAx>
        <c:axId val="2094734552"/>
        <c:scaling>
          <c:orientation val="minMax"/>
          <c:max val="320"/>
          <c:min val="0"/>
        </c:scaling>
        <c:delete val="0"/>
        <c:axPos val="l"/>
        <c:majorGridlines>
          <c:spPr>
            <a:ln w="9525" cap="flat">
              <a:solidFill>
                <a:srgbClr val="E6E9EC"/>
              </a:solidFill>
              <a:prstDash val="solid"/>
              <a:round/>
            </a:ln>
          </c:spPr>
        </c:majorGridlines>
        <c:numFmt formatCode="0" sourceLinked="0"/>
        <c:majorTickMark val="out"/>
        <c:minorTickMark val="none"/>
        <c:tickLblPos val="nextTo"/>
        <c:spPr>
          <a:ln w="12700" cap="flat">
            <a:noFill/>
            <a:prstDash val="solid"/>
            <a:round/>
          </a:ln>
        </c:spPr>
        <c:txPr>
          <a:bodyPr/>
          <a:lstStyle/>
          <a:p>
            <a:pPr>
              <a:defRPr sz="850" b="0" i="0" u="none" strike="noStrike">
                <a:solidFill>
                  <a:srgbClr val="818181"/>
                </a:solidFill>
                <a:latin typeface="Verdana"/>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Con comisiones (TAE)</c:v>
                </c:pt>
              </c:strCache>
            </c:strRef>
          </c:tx>
          <c:spPr>
            <a:solidFill>
              <a:srgbClr val="F56600"/>
            </a:solidFill>
            <a:effectLst/>
          </c:spPr>
          <c:invertIfNegative val="0"/>
          <c:dLbls>
            <c:numFmt formatCode="0.00" sourceLinked="0"/>
            <c:txPr>
              <a:bodyPr/>
              <a:lstStyle/>
              <a:p>
                <a:pPr>
                  <a:defRPr b="0" i="0" strike="noStrike" sz="800" u="none">
                    <a:solidFill>
                      <a:srgbClr val="2B2B2B"/>
                    </a:solidFill>
                    <a:latin typeface="Verdana"/>
                  </a:defRPr>
                </a:pPr>
              </a:p>
            </c:txPr>
            <c:showLegendKey val="0"/>
            <c:showVal val="1"/>
            <c:showCatName val="0"/>
            <c:showSerName val="0"/>
            <c:showPercent val="0"/>
            <c:showBubbleSize val="0"/>
            <c:showLeaderLines val="0"/>
          </c:dLbls>
          <c:cat>
            <c:multiLvlStrRef>
              <c:f>Sheet1!$A$2:$A$4</c:f>
              <c:multiLvlStrCache>
                <c:ptCount val="3"/>
                <c:lvl>
                  <c:pt idx="0">
                    <c:v>≤0,25 M€</c:v>
                  </c:pt>
                  <c:pt idx="1">
                    <c:v>0,25–1 M€</c:v>
                  </c:pt>
                  <c:pt idx="2">
                    <c:v>&gt;1 M€</c:v>
                  </c:pt>
                </c:lvl>
              </c:multiLvlStrCache>
            </c:multiLvlStrRef>
          </c:cat>
          <c:val>
            <c:numRef>
              <c:f>Sheet1!$B$2:$B$4</c:f>
              <c:numCache>
                <c:formatCode>General</c:formatCode>
                <c:ptCount val="3"/>
                <c:pt idx="0">
                  <c:v>4.45</c:v>
                </c:pt>
                <c:pt idx="1">
                  <c:v>3.73</c:v>
                </c:pt>
                <c:pt idx="2">
                  <c:v>3.63</c:v>
                </c:pt>
              </c:numCache>
            </c:numRef>
          </c:val>
        </c:ser>
        <c:ser>
          <c:idx val="1"/>
          <c:order val="1"/>
          <c:tx>
            <c:strRef>
              <c:f>Sheet1!$C$1</c:f>
              <c:strCache>
                <c:ptCount val="1"/>
                <c:pt idx="0">
                  <c:v>Sin comisiones (TEDR)</c:v>
                </c:pt>
              </c:strCache>
            </c:strRef>
          </c:tx>
          <c:spPr>
            <a:solidFill>
              <a:srgbClr val="B9B9B9"/>
            </a:solidFill>
            <a:effectLst/>
          </c:spPr>
          <c:invertIfNegative val="0"/>
          <c:dLbls>
            <c:numFmt formatCode="0.00" sourceLinked="0"/>
            <c:txPr>
              <a:bodyPr/>
              <a:lstStyle/>
              <a:p>
                <a:pPr>
                  <a:defRPr b="0" i="0" strike="noStrike" sz="800" u="none">
                    <a:solidFill>
                      <a:srgbClr val="2B2B2B"/>
                    </a:solidFill>
                    <a:latin typeface="Verdana"/>
                  </a:defRPr>
                </a:pPr>
              </a:p>
            </c:txPr>
            <c:showLegendKey val="0"/>
            <c:showVal val="1"/>
            <c:showCatName val="0"/>
            <c:showSerName val="0"/>
            <c:showPercent val="0"/>
            <c:showBubbleSize val="0"/>
            <c:showLeaderLines val="0"/>
          </c:dLbls>
          <c:cat>
            <c:multiLvlStrRef>
              <c:f>Sheet1!$A$2:$A$4</c:f>
              <c:multiLvlStrCache>
                <c:ptCount val="3"/>
                <c:lvl>
                  <c:pt idx="0">
                    <c:v>≤0,25 M€</c:v>
                  </c:pt>
                  <c:pt idx="1">
                    <c:v>0,25–1 M€</c:v>
                  </c:pt>
                  <c:pt idx="2">
                    <c:v>&gt;1 M€</c:v>
                  </c:pt>
                </c:lvl>
              </c:multiLvlStrCache>
            </c:multiLvlStrRef>
          </c:cat>
          <c:val>
            <c:numRef>
              <c:f>Sheet1!$C$2:$C$4</c:f>
              <c:numCache>
                <c:formatCode>General</c:formatCode>
                <c:ptCount val="3"/>
                <c:pt idx="0">
                  <c:v>3.42</c:v>
                </c:pt>
                <c:pt idx="1">
                  <c:v>3.37</c:v>
                </c:pt>
                <c:pt idx="2">
                  <c:v>3.45</c:v>
                </c:pt>
              </c:numCache>
            </c:numRef>
          </c:val>
        </c:ser>
        <c:dLbls>
          <c:numFmt formatCode="0.00" sourceLinked="0"/>
          <c:txPr>
            <a:bodyPr/>
            <a:lstStyle/>
            <a:p>
              <a:pPr>
                <a:defRPr b="0" i="0" strike="noStrike" sz="800" u="none">
                  <a:solidFill>
                    <a:srgbClr val="2B2B2B"/>
                  </a:solidFill>
                  <a:latin typeface="Verdana"/>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ACACA"/>
            </a:solidFill>
            <a:prstDash val="solid"/>
            <a:round/>
          </a:ln>
        </c:spPr>
        <c:txPr>
          <a:bodyPr/>
          <a:lstStyle/>
          <a:p>
            <a:pPr>
              <a:defRPr sz="950" b="0" i="0" u="none" strike="noStrike">
                <a:solidFill>
                  <a:srgbClr val="2B2B2B"/>
                </a:solidFill>
                <a:latin typeface="Verdana"/>
              </a:defRPr>
            </a:pPr>
            <a:endParaRPr lang="en-US"/>
          </a:p>
        </c:txPr>
        <c:crossAx val="2094734552"/>
        <c:crosses val="autoZero"/>
        <c:auto val="1"/>
        <c:lblAlgn val="ctr"/>
        <c:noMultiLvlLbl val="1"/>
      </c:catAx>
      <c:valAx>
        <c:axId val="2094734552"/>
        <c:scaling>
          <c:orientation val="minMax"/>
          <c:max val="5.5"/>
          <c:min val="0"/>
        </c:scaling>
        <c:delete val="0"/>
        <c:axPos val="l"/>
        <c:majorGridlines>
          <c:spPr>
            <a:ln w="9525" cap="flat">
              <a:solidFill>
                <a:srgbClr val="E6E9EC"/>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850" b="0" i="0" u="none" strike="noStrike">
                <a:solidFill>
                  <a:srgbClr val="818181"/>
                </a:solidFill>
                <a:latin typeface="Verdana"/>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2B2B2B"/>
              </a:solidFill>
              <a:latin typeface="Verdana"/>
              <a:cs typeface="Verdana"/>
            </a:defRPr>
          </a:pPr>
          <a:endParaRPr lang="en-US"/>
        </a:p>
      </c:txPr>
    </c:legend>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Rentabilidad del activo</c:v>
                </c:pt>
              </c:strCache>
            </c:strRef>
          </c:tx>
          <c:spPr>
            <a:solidFill>
              <a:srgbClr val="F56600"/>
            </a:solidFill>
            <a:effectLst/>
          </c:spPr>
          <c:invertIfNegative val="0"/>
          <c:dLbls>
            <c:numFmt formatCode="0.0" sourceLinked="0"/>
            <c:txPr>
              <a:bodyPr/>
              <a:lstStyle/>
              <a:p>
                <a:pPr>
                  <a:defRPr b="0" i="0" strike="noStrike" sz="800" u="none">
                    <a:solidFill>
                      <a:srgbClr val="2B2B2B"/>
                    </a:solidFill>
                    <a:latin typeface="Verdana"/>
                  </a:defRPr>
                </a:pPr>
              </a:p>
            </c:txPr>
            <c:showLegendKey val="0"/>
            <c:showVal val="1"/>
            <c:showCatName val="0"/>
            <c:showSerName val="0"/>
            <c:showPercent val="0"/>
            <c:showBubbleSize val="0"/>
            <c:showLeaderLines val="0"/>
          </c:dLbls>
          <c:cat>
            <c:multiLvlStrRef>
              <c:f>Sheet1!$A$2:$A$4</c:f>
              <c:multiLvlStrCache>
                <c:ptCount val="3"/>
                <c:lvl>
                  <c:pt idx="0">
                    <c:v>Pequeñas</c:v>
                  </c:pt>
                  <c:pt idx="1">
                    <c:v>Medianas</c:v>
                  </c:pt>
                  <c:pt idx="2">
                    <c:v>Grandes</c:v>
                  </c:pt>
                </c:lvl>
              </c:multiLvlStrCache>
            </c:multiLvlStrRef>
          </c:cat>
          <c:val>
            <c:numRef>
              <c:f>Sheet1!$B$2:$B$4</c:f>
              <c:numCache>
                <c:formatCode>General</c:formatCode>
                <c:ptCount val="3"/>
                <c:pt idx="0">
                  <c:v>5.4</c:v>
                </c:pt>
                <c:pt idx="1">
                  <c:v>10.4</c:v>
                </c:pt>
                <c:pt idx="2">
                  <c:v>6.8</c:v>
                </c:pt>
              </c:numCache>
            </c:numRef>
          </c:val>
        </c:ser>
        <c:ser>
          <c:idx val="1"/>
          <c:order val="1"/>
          <c:tx>
            <c:strRef>
              <c:f>Sheet1!$C$1</c:f>
              <c:strCache>
                <c:ptCount val="1"/>
                <c:pt idx="0">
                  <c:v>Coste de la deuda</c:v>
                </c:pt>
              </c:strCache>
            </c:strRef>
          </c:tx>
          <c:spPr>
            <a:solidFill>
              <a:srgbClr val="B9B9B9"/>
            </a:solidFill>
            <a:effectLst/>
          </c:spPr>
          <c:invertIfNegative val="0"/>
          <c:dLbls>
            <c:numFmt formatCode="0.0" sourceLinked="0"/>
            <c:txPr>
              <a:bodyPr/>
              <a:lstStyle/>
              <a:p>
                <a:pPr>
                  <a:defRPr b="0" i="0" strike="noStrike" sz="800" u="none">
                    <a:solidFill>
                      <a:srgbClr val="2B2B2B"/>
                    </a:solidFill>
                    <a:latin typeface="Verdana"/>
                  </a:defRPr>
                </a:pPr>
              </a:p>
            </c:txPr>
            <c:showLegendKey val="0"/>
            <c:showVal val="1"/>
            <c:showCatName val="0"/>
            <c:showSerName val="0"/>
            <c:showPercent val="0"/>
            <c:showBubbleSize val="0"/>
            <c:showLeaderLines val="0"/>
          </c:dLbls>
          <c:cat>
            <c:multiLvlStrRef>
              <c:f>Sheet1!$A$2:$A$4</c:f>
              <c:multiLvlStrCache>
                <c:ptCount val="3"/>
                <c:lvl>
                  <c:pt idx="0">
                    <c:v>Pequeñas</c:v>
                  </c:pt>
                  <c:pt idx="1">
                    <c:v>Medianas</c:v>
                  </c:pt>
                  <c:pt idx="2">
                    <c:v>Grandes</c:v>
                  </c:pt>
                </c:lvl>
              </c:multiLvlStrCache>
            </c:multiLvlStrRef>
          </c:cat>
          <c:val>
            <c:numRef>
              <c:f>Sheet1!$C$2:$C$4</c:f>
              <c:numCache>
                <c:formatCode>General</c:formatCode>
                <c:ptCount val="3"/>
                <c:pt idx="0">
                  <c:v>3.3</c:v>
                </c:pt>
                <c:pt idx="1">
                  <c:v>4.4</c:v>
                </c:pt>
                <c:pt idx="2">
                  <c:v>4.2</c:v>
                </c:pt>
              </c:numCache>
            </c:numRef>
          </c:val>
        </c:ser>
        <c:dLbls>
          <c:numFmt formatCode="0.0" sourceLinked="0"/>
          <c:txPr>
            <a:bodyPr/>
            <a:lstStyle/>
            <a:p>
              <a:pPr>
                <a:defRPr b="0" i="0" strike="noStrike" sz="800" u="none">
                  <a:solidFill>
                    <a:srgbClr val="2B2B2B"/>
                  </a:solidFill>
                  <a:latin typeface="Verdana"/>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ACACA"/>
            </a:solidFill>
            <a:prstDash val="solid"/>
            <a:round/>
          </a:ln>
        </c:spPr>
        <c:txPr>
          <a:bodyPr/>
          <a:lstStyle/>
          <a:p>
            <a:pPr>
              <a:defRPr sz="950" b="0" i="0" u="none" strike="noStrike">
                <a:solidFill>
                  <a:srgbClr val="2B2B2B"/>
                </a:solidFill>
                <a:latin typeface="Verdana"/>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9525" cap="flat">
              <a:solidFill>
                <a:srgbClr val="E6E9EC"/>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850" b="0" i="0" u="none" strike="noStrike">
                <a:solidFill>
                  <a:srgbClr val="818181"/>
                </a:solidFill>
                <a:latin typeface="Verdana"/>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2B2B2B"/>
              </a:solidFill>
              <a:latin typeface="Verdana"/>
              <a:cs typeface="Verdana"/>
            </a:defRPr>
          </a:pPr>
          <a:endParaRPr lang="en-US"/>
        </a:p>
      </c:txPr>
    </c:legend>
    <c:plotVisOnly val="1"/>
    <c:dispBlanksAs val="span"/>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Pequeñas: rentabilidad menos coste, pp</c:v>
                </c:pt>
              </c:strCache>
            </c:strRef>
          </c:tx>
          <c:spPr>
            <a:solidFill>
              <a:srgbClr val="F56600"/>
            </a:solidFill>
            <a:ln w="28575" cap="flat">
              <a:solidFill>
                <a:srgbClr val="F566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56600"/>
              </a:solidFill>
              <a:ln w="9525" cap="flat">
                <a:solidFill>
                  <a:srgbClr val="F56600"/>
                </a:solidFill>
                <a:prstDash val="solid"/>
                <a:round/>
              </a:ln>
              <a:effectLst/>
            </c:spPr>
          </c:marker>
          <c:cat>
            <c:multiLvlStrRef>
              <c:f>Sheet1!$A$2:$A$11</c:f>
              <c:multiLvlStrCache>
                <c:ptCount val="10"/>
                <c:lvl>
                  <c:pt idx="0">
                    <c:v>2015</c:v>
                  </c:pt>
                  <c:pt idx="1">
                    <c:v>2016</c:v>
                  </c:pt>
                  <c:pt idx="2">
                    <c:v>2017</c:v>
                  </c:pt>
                  <c:pt idx="3">
                    <c:v>2018</c:v>
                  </c:pt>
                  <c:pt idx="4">
                    <c:v>2019</c:v>
                  </c:pt>
                  <c:pt idx="5">
                    <c:v>2020</c:v>
                  </c:pt>
                  <c:pt idx="6">
                    <c:v>2021</c:v>
                  </c:pt>
                  <c:pt idx="7">
                    <c:v>2022</c:v>
                  </c:pt>
                  <c:pt idx="8">
                    <c:v>2023</c:v>
                  </c:pt>
                  <c:pt idx="9">
                    <c:v>2024</c:v>
                  </c:pt>
                </c:lvl>
              </c:multiLvlStrCache>
            </c:multiLvlStrRef>
          </c:cat>
          <c:val>
            <c:numRef>
              <c:f>Sheet1!$B$2:$B$11</c:f>
              <c:numCache>
                <c:formatCode>General</c:formatCode>
                <c:ptCount val="10"/>
                <c:pt idx="0">
                  <c:v>-0.2</c:v>
                </c:pt>
                <c:pt idx="1">
                  <c:v>0.6</c:v>
                </c:pt>
                <c:pt idx="2">
                  <c:v>1.3</c:v>
                </c:pt>
                <c:pt idx="3">
                  <c:v>1.4</c:v>
                </c:pt>
                <c:pt idx="4">
                  <c:v>1.6</c:v>
                </c:pt>
                <c:pt idx="5">
                  <c:v>0.6</c:v>
                </c:pt>
                <c:pt idx="6">
                  <c:v>1.9</c:v>
                </c:pt>
                <c:pt idx="7">
                  <c:v>2.4</c:v>
                </c:pt>
                <c:pt idx="8">
                  <c:v>2.1</c:v>
                </c:pt>
                <c:pt idx="9">
                  <c:v>2.1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ACACA"/>
            </a:solidFill>
            <a:prstDash val="solid"/>
            <a:round/>
          </a:ln>
        </c:spPr>
        <c:txPr>
          <a:bodyPr/>
          <a:lstStyle/>
          <a:p>
            <a:pPr>
              <a:defRPr sz="950" b="0" i="0" u="none" strike="noStrike">
                <a:solidFill>
                  <a:srgbClr val="2B2B2B"/>
                </a:solidFill>
                <a:latin typeface="Verdana"/>
              </a:defRPr>
            </a:pPr>
            <a:endParaRPr lang="en-US"/>
          </a:p>
        </c:txPr>
        <c:crossAx val="2094734552"/>
        <c:crosses val="autoZero"/>
        <c:auto val="1"/>
        <c:lblAlgn val="ctr"/>
        <c:noMultiLvlLbl val="1"/>
        <c:tickLblSkip val="1"/>
      </c:catAx>
      <c:valAx>
        <c:axId val="2094734552"/>
        <c:scaling>
          <c:orientation val="minMax"/>
          <c:max val="3"/>
          <c:min val="-0.5"/>
        </c:scaling>
        <c:delete val="0"/>
        <c:axPos val="l"/>
        <c:majorGridlines>
          <c:spPr>
            <a:ln w="9525" cap="flat">
              <a:solidFill>
                <a:srgbClr val="E6E9EC"/>
              </a:solidFill>
              <a:prstDash val="solid"/>
              <a:round/>
            </a:ln>
          </c:spPr>
        </c:majorGridlines>
        <c:numFmt formatCode="0.0" sourceLinked="0"/>
        <c:majorTickMark val="out"/>
        <c:minorTickMark val="none"/>
        <c:tickLblPos val="nextTo"/>
        <c:spPr>
          <a:ln w="12700" cap="flat">
            <a:noFill/>
            <a:prstDash val="solid"/>
            <a:round/>
          </a:ln>
        </c:spPr>
        <c:txPr>
          <a:bodyPr/>
          <a:lstStyle/>
          <a:p>
            <a:pPr>
              <a:defRPr sz="850" b="0" i="0" u="none" strike="noStrike">
                <a:solidFill>
                  <a:srgbClr val="818181"/>
                </a:solidFill>
                <a:latin typeface="Verdana"/>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2B2B2B"/>
              </a:solidFill>
              <a:latin typeface="Verdana"/>
              <a:cs typeface="Verdana"/>
            </a:defRPr>
          </a:pPr>
          <a:endParaRPr lang="en-US"/>
        </a:p>
      </c:txPr>
    </c:legend>
    <c:plotVisOnly val="1"/>
    <c:dispBlanksAs val="span"/>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2B2B2B"/>
                </a:solidFill>
                <a:latin typeface="Verdana"/>
              </a:defRPr>
            </a:pPr>
            <a:r>
              <a:rPr sz="1050" b="0" i="0" u="none" strike="noStrike">
                <a:solidFill>
                  <a:srgbClr val="2B2B2B"/>
                </a:solidFill>
                <a:latin typeface="Verdana"/>
              </a:rPr>
              <a:t>Destino de la financiación, % de las que la necesitan</a:t>
            </a:r>
          </a:p>
        </c:rich>
      </c:tx>
      <c:layout/>
      <c:overlay val="0"/>
    </c:title>
    <c:autoTitleDeleted val="0"/>
    <c:plotArea>
      <c:layout/>
      <c:barChart>
        <c:barDir val="bar"/>
        <c:grouping val="clustered"/>
        <c:varyColors val="0"/>
        <c:ser>
          <c:idx val="0"/>
          <c:order val="0"/>
          <c:tx>
            <c:strRef>
              <c:f>Sheet1!$B$1</c:f>
              <c:strCache>
                <c:ptCount val="1"/>
                <c:pt idx="0">
                  <c:v>valor</c:v>
                </c:pt>
              </c:strCache>
            </c:strRef>
          </c:tx>
          <c:spPr>
            <a:solidFill>
              <a:srgbClr val="F56600"/>
            </a:solidFill>
            <a:effectLst/>
          </c:spPr>
          <c:invertIfNegative val="0"/>
          <c:dLbls>
            <c:numFmt formatCode="0.0&quot;%&quot;" sourceLinked="0"/>
            <c:txPr>
              <a:bodyPr/>
              <a:lstStyle/>
              <a:p>
                <a:pPr>
                  <a:defRPr b="0" i="0" strike="noStrike" sz="900" u="none">
                    <a:solidFill>
                      <a:srgbClr val="2B2B2B"/>
                    </a:solidFill>
                    <a:latin typeface="Verdana"/>
                  </a:defRPr>
                </a:pPr>
              </a:p>
            </c:txPr>
            <c:showLegendKey val="0"/>
            <c:showVal val="1"/>
            <c:showCatName val="0"/>
            <c:showSerName val="0"/>
            <c:showPercent val="0"/>
            <c:showBubbleSize val="0"/>
            <c:showLeaderLines val="0"/>
          </c:dLbls>
          <c:dPt>
            <c:idx val="0"/>
            <c:invertIfNegative val="0"/>
            <c:bubble3D val="0"/>
            <c:spPr>
              <a:solidFill>
                <a:srgbClr val="F56600"/>
              </a:solidFill>
              <a:effectLst/>
            </c:spPr>
          </c:dPt>
          <c:dPt>
            <c:idx val="1"/>
            <c:invertIfNegative val="0"/>
            <c:bubble3D val="0"/>
            <c:spPr>
              <a:solidFill>
                <a:srgbClr val="B9B9B9"/>
              </a:solidFill>
              <a:effectLst/>
            </c:spPr>
          </c:dPt>
          <c:dPt>
            <c:idx val="2"/>
            <c:invertIfNegative val="0"/>
            <c:bubble3D val="0"/>
            <c:spPr>
              <a:solidFill>
                <a:srgbClr val="B9B9B9"/>
              </a:solidFill>
              <a:effectLst/>
            </c:spPr>
          </c:dPt>
          <c:dPt>
            <c:idx val="3"/>
            <c:invertIfNegative val="0"/>
            <c:bubble3D val="0"/>
            <c:spPr>
              <a:solidFill>
                <a:srgbClr val="B9B9B9"/>
              </a:solidFill>
              <a:effectLst/>
            </c:spPr>
          </c:dPt>
          <c:cat>
            <c:multiLvlStrRef>
              <c:f>Sheet1!$A$2:$A$5</c:f>
              <c:multiLvlStrCache>
                <c:ptCount val="4"/>
                <c:lvl>
                  <c:pt idx="0">
                    <c:v>Circulante</c:v>
                  </c:pt>
                  <c:pt idx="1">
                    <c:v>Equipo productivo</c:v>
                  </c:pt>
                  <c:pt idx="2">
                    <c:v>Inmuebles</c:v>
                  </c:pt>
                  <c:pt idx="3">
                    <c:v>Innovación</c:v>
                  </c:pt>
                </c:lvl>
              </c:multiLvlStrCache>
            </c:multiLvlStrRef>
          </c:cat>
          <c:val>
            <c:numRef>
              <c:f>Sheet1!$B$2:$B$5</c:f>
              <c:numCache>
                <c:formatCode>General</c:formatCode>
                <c:ptCount val="4"/>
                <c:pt idx="0">
                  <c:v>73</c:v>
                </c:pt>
                <c:pt idx="1">
                  <c:v>33.2</c:v>
                </c:pt>
                <c:pt idx="2">
                  <c:v>12</c:v>
                </c:pt>
                <c:pt idx="3">
                  <c:v>4.3</c:v>
                </c:pt>
              </c:numCache>
            </c:numRef>
          </c:val>
        </c:ser>
        <c:dLbls>
          <c:numFmt formatCode="0.0&quot;%&quot;" sourceLinked="0"/>
          <c:txPr>
            <a:bodyPr/>
            <a:lstStyle/>
            <a:p>
              <a:pPr>
                <a:defRPr b="0" i="0" strike="noStrike" sz="900" u="none">
                  <a:solidFill>
                    <a:srgbClr val="2B2B2B"/>
                  </a:solidFill>
                  <a:latin typeface="Verdana"/>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CACACA"/>
            </a:solidFill>
            <a:prstDash val="solid"/>
            <a:round/>
          </a:ln>
        </c:spPr>
        <c:txPr>
          <a:bodyPr/>
          <a:lstStyle/>
          <a:p>
            <a:pPr>
              <a:defRPr sz="950" b="0" i="0" u="none" strike="noStrike">
                <a:solidFill>
                  <a:srgbClr val="2B2B2B"/>
                </a:solidFill>
                <a:latin typeface="Verdana"/>
              </a:defRPr>
            </a:pPr>
            <a:endParaRPr lang="en-US"/>
          </a:p>
        </c:txPr>
        <c:crossAx val="2094734552"/>
        <c:crosses val="autoZero"/>
        <c:auto val="1"/>
        <c:lblAlgn val="ctr"/>
        <c:noMultiLvlLbl val="1"/>
      </c:catAx>
      <c:valAx>
        <c:axId val="2094734552"/>
        <c:scaling>
          <c:orientation val="minMax"/>
          <c:max val="85"/>
          <c:min val="0"/>
        </c:scaling>
        <c:delete val="1"/>
        <c:axPos val="b"/>
        <c:majorGridlines>
          <c:spPr>
            <a:ln w="9525" cap="flat">
              <a:solidFill>
                <a:srgbClr val="E6E9EC"/>
              </a:solidFill>
              <a:prstDash val="solid"/>
              <a:round/>
            </a:ln>
          </c:spPr>
        </c:majorGridlines>
        <c:numFmt formatCode="0.0&quot;%&quot;" sourceLinked="0"/>
        <c:majorTickMark val="out"/>
        <c:minorTickMark val="none"/>
        <c:tickLblPos val="low"/>
        <c:spPr>
          <a:ln w="12700" cap="flat">
            <a:noFill/>
            <a:prstDash val="solid"/>
            <a:round/>
          </a:ln>
        </c:spPr>
        <c:txPr>
          <a:bodyPr/>
          <a:lstStyle/>
          <a:p>
            <a:pPr>
              <a:defRPr sz="850" b="0" i="0" u="none" strike="noStrike">
                <a:solidFill>
                  <a:srgbClr val="818181"/>
                </a:solidFill>
                <a:latin typeface="Verdana"/>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2B2B2B"/>
                </a:solidFill>
                <a:latin typeface="Verdana"/>
              </a:defRPr>
            </a:pPr>
            <a:r>
              <a:rPr sz="1050" b="0" i="0" u="none" strike="noStrike">
                <a:solidFill>
                  <a:srgbClr val="2B2B2B"/>
                </a:solidFill>
                <a:latin typeface="Verdana"/>
              </a:rPr>
              <a:t>Obstáculos señalados, % del total de encuestadas</a:t>
            </a:r>
          </a:p>
        </c:rich>
      </c:tx>
      <c:layout/>
      <c:overlay val="0"/>
    </c:title>
    <c:autoTitleDeleted val="0"/>
    <c:plotArea>
      <c:layout/>
      <c:barChart>
        <c:barDir val="bar"/>
        <c:grouping val="clustered"/>
        <c:varyColors val="0"/>
        <c:ser>
          <c:idx val="0"/>
          <c:order val="0"/>
          <c:tx>
            <c:strRef>
              <c:f>Sheet1!$B$1</c:f>
              <c:strCache>
                <c:ptCount val="1"/>
                <c:pt idx="0">
                  <c:v>valor</c:v>
                </c:pt>
              </c:strCache>
            </c:strRef>
          </c:tx>
          <c:spPr>
            <a:solidFill>
              <a:srgbClr val="B9B9B9"/>
            </a:solidFill>
            <a:effectLst/>
          </c:spPr>
          <c:invertIfNegative val="0"/>
          <c:dLbls>
            <c:numFmt formatCode="0.0&quot;%&quot;" sourceLinked="0"/>
            <c:txPr>
              <a:bodyPr/>
              <a:lstStyle/>
              <a:p>
                <a:pPr>
                  <a:defRPr b="0" i="0" strike="noStrike" sz="900" u="none">
                    <a:solidFill>
                      <a:srgbClr val="2B2B2B"/>
                    </a:solidFill>
                    <a:latin typeface="Verdana"/>
                  </a:defRPr>
                </a:pPr>
              </a:p>
            </c:txPr>
            <c:showLegendKey val="0"/>
            <c:showVal val="1"/>
            <c:showCatName val="0"/>
            <c:showSerName val="0"/>
            <c:showPercent val="0"/>
            <c:showBubbleSize val="0"/>
            <c:showLeaderLines val="0"/>
          </c:dLbls>
          <c:dPt>
            <c:idx val="0"/>
            <c:invertIfNegative val="0"/>
            <c:bubble3D val="0"/>
            <c:spPr>
              <a:solidFill>
                <a:srgbClr val="B9B9B9"/>
              </a:solidFill>
              <a:effectLst/>
            </c:spPr>
          </c:dPt>
          <c:dPt>
            <c:idx val="1"/>
            <c:invertIfNegative val="0"/>
            <c:bubble3D val="0"/>
            <c:spPr>
              <a:solidFill>
                <a:srgbClr val="F56600"/>
              </a:solidFill>
              <a:effectLst/>
            </c:spPr>
          </c:dPt>
          <c:dPt>
            <c:idx val="2"/>
            <c:invertIfNegative val="0"/>
            <c:bubble3D val="0"/>
            <c:spPr>
              <a:solidFill>
                <a:srgbClr val="B9B9B9"/>
              </a:solidFill>
              <a:effectLst/>
            </c:spPr>
          </c:dPt>
          <c:dPt>
            <c:idx val="3"/>
            <c:invertIfNegative val="0"/>
            <c:bubble3D val="0"/>
            <c:spPr>
              <a:solidFill>
                <a:srgbClr val="B9B9B9"/>
              </a:solidFill>
              <a:effectLst/>
            </c:spPr>
          </c:dPt>
          <c:dPt>
            <c:idx val="4"/>
            <c:invertIfNegative val="0"/>
            <c:bubble3D val="0"/>
            <c:spPr>
              <a:solidFill>
                <a:srgbClr val="B9B9B9"/>
              </a:solidFill>
              <a:effectLst/>
            </c:spPr>
          </c:dPt>
          <c:cat>
            <c:multiLvlStrRef>
              <c:f>Sheet1!$A$2:$A$6</c:f>
              <c:multiLvlStrCache>
                <c:ptCount val="5"/>
                <c:lvl>
                  <c:pt idx="0">
                    <c:v>Ninguno</c:v>
                  </c:pt>
                  <c:pt idx="1">
                    <c:v>El precio</c:v>
                  </c:pt>
                  <c:pt idx="2">
                    <c:v>El banco no entiende el negocio</c:v>
                  </c:pt>
                  <c:pt idx="3">
                    <c:v>Trámites y otros</c:v>
                  </c:pt>
                  <c:pt idx="4">
                    <c:v>Poca financiación disponible</c:v>
                  </c:pt>
                </c:lvl>
              </c:multiLvlStrCache>
            </c:multiLvlStrRef>
          </c:cat>
          <c:val>
            <c:numRef>
              <c:f>Sheet1!$B$2:$B$6</c:f>
              <c:numCache>
                <c:formatCode>General</c:formatCode>
                <c:ptCount val="5"/>
                <c:pt idx="0">
                  <c:v>49.2</c:v>
                </c:pt>
                <c:pt idx="1">
                  <c:v>21.6</c:v>
                </c:pt>
                <c:pt idx="2">
                  <c:v>10.5</c:v>
                </c:pt>
                <c:pt idx="3">
                  <c:v>8.6</c:v>
                </c:pt>
                <c:pt idx="4">
                  <c:v>5.7</c:v>
                </c:pt>
              </c:numCache>
            </c:numRef>
          </c:val>
        </c:ser>
        <c:dLbls>
          <c:numFmt formatCode="0.0&quot;%&quot;" sourceLinked="0"/>
          <c:txPr>
            <a:bodyPr/>
            <a:lstStyle/>
            <a:p>
              <a:pPr>
                <a:defRPr b="0" i="0" strike="noStrike" sz="900" u="none">
                  <a:solidFill>
                    <a:srgbClr val="2B2B2B"/>
                  </a:solidFill>
                  <a:latin typeface="Verdana"/>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CACACA"/>
            </a:solidFill>
            <a:prstDash val="solid"/>
            <a:round/>
          </a:ln>
        </c:spPr>
        <c:txPr>
          <a:bodyPr/>
          <a:lstStyle/>
          <a:p>
            <a:pPr>
              <a:defRPr sz="950" b="0" i="0" u="none" strike="noStrike">
                <a:solidFill>
                  <a:srgbClr val="2B2B2B"/>
                </a:solidFill>
                <a:latin typeface="Verdana"/>
              </a:defRPr>
            </a:pPr>
            <a:endParaRPr lang="en-US"/>
          </a:p>
        </c:txPr>
        <c:crossAx val="2094734552"/>
        <c:crosses val="autoZero"/>
        <c:auto val="1"/>
        <c:lblAlgn val="ctr"/>
        <c:noMultiLvlLbl val="1"/>
      </c:catAx>
      <c:valAx>
        <c:axId val="2094734552"/>
        <c:scaling>
          <c:orientation val="minMax"/>
          <c:max val="60"/>
          <c:min val="0"/>
        </c:scaling>
        <c:delete val="1"/>
        <c:axPos val="b"/>
        <c:majorGridlines>
          <c:spPr>
            <a:ln w="9525" cap="flat">
              <a:solidFill>
                <a:srgbClr val="E6E9EC"/>
              </a:solidFill>
              <a:prstDash val="solid"/>
              <a:round/>
            </a:ln>
          </c:spPr>
        </c:majorGridlines>
        <c:numFmt formatCode="0.0&quot;%&quot;" sourceLinked="0"/>
        <c:majorTickMark val="out"/>
        <c:minorTickMark val="none"/>
        <c:tickLblPos val="low"/>
        <c:spPr>
          <a:ln w="12700" cap="flat">
            <a:noFill/>
            <a:prstDash val="solid"/>
            <a:round/>
          </a:ln>
        </c:spPr>
        <c:txPr>
          <a:bodyPr/>
          <a:lstStyle/>
          <a:p>
            <a:pPr>
              <a:defRPr sz="850" b="0" i="0" u="none" strike="noStrike">
                <a:solidFill>
                  <a:srgbClr val="818181"/>
                </a:solidFill>
                <a:latin typeface="Verdana"/>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2B2B2B"/>
                </a:solidFill>
                <a:latin typeface="Verdana"/>
              </a:defRPr>
            </a:pPr>
            <a:r>
              <a:rPr sz="1050" b="0" i="0" u="none" strike="noStrike">
                <a:solidFill>
                  <a:srgbClr val="2B2B2B"/>
                </a:solidFill>
                <a:latin typeface="Verdana"/>
              </a:rPr>
              <a:t>Factoring cedido en 2025, % del PIB</a:t>
            </a:r>
          </a:p>
        </c:rich>
      </c:tx>
      <c:layout/>
      <c:overlay val="0"/>
    </c:title>
    <c:autoTitleDeleted val="0"/>
    <c:plotArea>
      <c:layout/>
      <c:barChart>
        <c:barDir val="col"/>
        <c:grouping val="clustered"/>
        <c:varyColors val="0"/>
        <c:ser>
          <c:idx val="0"/>
          <c:order val="0"/>
          <c:tx>
            <c:strRef>
              <c:f>Sheet1!$B$1</c:f>
              <c:strCache>
                <c:ptCount val="1"/>
                <c:pt idx="0">
                  <c:v>valor</c:v>
                </c:pt>
              </c:strCache>
            </c:strRef>
          </c:tx>
          <c:spPr>
            <a:solidFill>
              <a:srgbClr val="F56600"/>
            </a:solidFill>
            <a:effectLst/>
          </c:spPr>
          <c:invertIfNegative val="0"/>
          <c:dLbls>
            <c:numFmt formatCode="0.0&quot;%&quot;" sourceLinked="0"/>
            <c:txPr>
              <a:bodyPr/>
              <a:lstStyle/>
              <a:p>
                <a:pPr>
                  <a:defRPr b="0" i="0" strike="noStrike" sz="900" u="none">
                    <a:solidFill>
                      <a:srgbClr val="2B2B2B"/>
                    </a:solidFill>
                    <a:latin typeface="Verdana"/>
                  </a:defRPr>
                </a:pPr>
              </a:p>
            </c:txPr>
            <c:showLegendKey val="0"/>
            <c:showVal val="1"/>
            <c:showCatName val="0"/>
            <c:showSerName val="0"/>
            <c:showPercent val="0"/>
            <c:showBubbleSize val="0"/>
            <c:showLeaderLines val="0"/>
          </c:dLbls>
          <c:dPt>
            <c:idx val="0"/>
            <c:invertIfNegative val="0"/>
            <c:bubble3D val="0"/>
            <c:spPr>
              <a:solidFill>
                <a:srgbClr val="F56600"/>
              </a:solidFill>
              <a:effectLst/>
            </c:spPr>
          </c:dPt>
          <c:dPt>
            <c:idx val="1"/>
            <c:invertIfNegative val="0"/>
            <c:bubble3D val="0"/>
            <c:spPr>
              <a:solidFill>
                <a:srgbClr val="B9B9B9"/>
              </a:solidFill>
              <a:effectLst/>
            </c:spPr>
          </c:dPt>
          <c:dPt>
            <c:idx val="2"/>
            <c:invertIfNegative val="0"/>
            <c:bubble3D val="0"/>
            <c:spPr>
              <a:solidFill>
                <a:srgbClr val="B9B9B9"/>
              </a:solidFill>
              <a:effectLst/>
            </c:spPr>
          </c:dPt>
          <c:dPt>
            <c:idx val="3"/>
            <c:invertIfNegative val="0"/>
            <c:bubble3D val="0"/>
            <c:spPr>
              <a:solidFill>
                <a:srgbClr val="B9B9B9"/>
              </a:solidFill>
              <a:effectLst/>
            </c:spPr>
          </c:dPt>
          <c:dPt>
            <c:idx val="4"/>
            <c:invertIfNegative val="0"/>
            <c:bubble3D val="0"/>
            <c:spPr>
              <a:solidFill>
                <a:srgbClr val="B9B9B9"/>
              </a:solidFill>
              <a:effectLst/>
            </c:spPr>
          </c:dPt>
          <c:dPt>
            <c:idx val="5"/>
            <c:invertIfNegative val="0"/>
            <c:bubble3D val="0"/>
            <c:spPr>
              <a:solidFill>
                <a:srgbClr val="B9B9B9"/>
              </a:solidFill>
              <a:effectLst/>
            </c:spPr>
          </c:dPt>
          <c:dPt>
            <c:idx val="6"/>
            <c:invertIfNegative val="0"/>
            <c:bubble3D val="0"/>
            <c:spPr>
              <a:solidFill>
                <a:srgbClr val="B9B9B9"/>
              </a:solidFill>
              <a:effectLst/>
            </c:spPr>
          </c:dPt>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Sheet1!$B$2:$B$8</c:f>
              <c:numCache>
                <c:formatCode>General</c:formatCode>
                <c:ptCount val="7"/>
                <c:pt idx="0">
                  <c:v>16.5</c:v>
                </c:pt>
                <c:pt idx="1">
                  <c:v>9.5</c:v>
                </c:pt>
                <c:pt idx="2">
                  <c:v>14.8</c:v>
                </c:pt>
                <c:pt idx="3">
                  <c:v>13.2</c:v>
                </c:pt>
                <c:pt idx="4">
                  <c:v>20.7</c:v>
                </c:pt>
                <c:pt idx="5">
                  <c:v>14</c:v>
                </c:pt>
                <c:pt idx="6">
                  <c:v>4.5</c:v>
                </c:pt>
              </c:numCache>
            </c:numRef>
          </c:val>
        </c:ser>
        <c:dLbls>
          <c:numFmt formatCode="0.0&quot;%&quot;" sourceLinked="0"/>
          <c:txPr>
            <a:bodyPr/>
            <a:lstStyle/>
            <a:p>
              <a:pPr>
                <a:defRPr b="0" i="0" strike="noStrike" sz="900" u="none">
                  <a:solidFill>
                    <a:srgbClr val="2B2B2B"/>
                  </a:solidFill>
                  <a:latin typeface="Verdana"/>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ACACA"/>
            </a:solidFill>
            <a:prstDash val="solid"/>
            <a:round/>
          </a:ln>
        </c:spPr>
        <c:txPr>
          <a:bodyPr/>
          <a:lstStyle/>
          <a:p>
            <a:pPr>
              <a:defRPr sz="950" b="0" i="0" u="none" strike="noStrike">
                <a:solidFill>
                  <a:srgbClr val="2B2B2B"/>
                </a:solidFill>
                <a:latin typeface="Verdana"/>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9525" cap="flat">
              <a:solidFill>
                <a:srgbClr val="E6E9EC"/>
              </a:solidFill>
              <a:prstDash val="solid"/>
              <a:round/>
            </a:ln>
          </c:spPr>
        </c:majorGridlines>
        <c:numFmt formatCode="0.0&quot;%&quot;" sourceLinked="0"/>
        <c:majorTickMark val="out"/>
        <c:minorTickMark val="none"/>
        <c:tickLblPos val="nextTo"/>
        <c:spPr>
          <a:ln w="12700" cap="flat">
            <a:noFill/>
            <a:prstDash val="solid"/>
            <a:round/>
          </a:ln>
        </c:spPr>
        <c:txPr>
          <a:bodyPr/>
          <a:lstStyle/>
          <a:p>
            <a:pPr>
              <a:defRPr sz="850" b="0" i="0" u="none" strike="noStrike">
                <a:solidFill>
                  <a:srgbClr val="818181"/>
                </a:solidFill>
                <a:latin typeface="Verdana"/>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2B2B2B"/>
                </a:solidFill>
                <a:latin typeface="Verdana"/>
              </a:defRPr>
            </a:pPr>
            <a:r>
              <a:rPr sz="1050" b="0" i="0" u="none" strike="noStrike">
                <a:solidFill>
                  <a:srgbClr val="2B2B2B"/>
                </a:solidFill>
                <a:latin typeface="Verdana"/>
              </a:rPr>
              <a:t>Tasa de recuperación, céntimos por dólar</a:t>
            </a:r>
          </a:p>
        </c:rich>
      </c:tx>
      <c:layout/>
      <c:overlay val="0"/>
    </c:title>
    <c:autoTitleDeleted val="0"/>
    <c:plotArea>
      <c:layout/>
      <c:barChart>
        <c:barDir val="col"/>
        <c:grouping val="clustered"/>
        <c:varyColors val="0"/>
        <c:ser>
          <c:idx val="0"/>
          <c:order val="0"/>
          <c:tx>
            <c:strRef>
              <c:f>Sheet1!$B$1</c:f>
              <c:strCache>
                <c:ptCount val="1"/>
                <c:pt idx="0">
                  <c:v>valor</c:v>
                </c:pt>
              </c:strCache>
            </c:strRef>
          </c:tx>
          <c:spPr>
            <a:solidFill>
              <a:srgbClr val="F56600"/>
            </a:solidFill>
            <a:effectLst/>
          </c:spPr>
          <c:invertIfNegative val="0"/>
          <c:dLbls>
            <c:numFmt formatCode="0.0" sourceLinked="0"/>
            <c:txPr>
              <a:bodyPr/>
              <a:lstStyle/>
              <a:p>
                <a:pPr>
                  <a:defRPr b="0" i="0" strike="noStrike" sz="900" u="none">
                    <a:solidFill>
                      <a:srgbClr val="2B2B2B"/>
                    </a:solidFill>
                    <a:latin typeface="Verdana"/>
                  </a:defRPr>
                </a:pPr>
              </a:p>
            </c:txPr>
            <c:showLegendKey val="0"/>
            <c:showVal val="1"/>
            <c:showCatName val="0"/>
            <c:showSerName val="0"/>
            <c:showPercent val="0"/>
            <c:showBubbleSize val="0"/>
            <c:showLeaderLines val="0"/>
          </c:dLbls>
          <c:dPt>
            <c:idx val="0"/>
            <c:invertIfNegative val="0"/>
            <c:bubble3D val="0"/>
            <c:spPr>
              <a:solidFill>
                <a:srgbClr val="F56600"/>
              </a:solidFill>
              <a:effectLst/>
            </c:spPr>
          </c:dPt>
          <c:dPt>
            <c:idx val="1"/>
            <c:invertIfNegative val="0"/>
            <c:bubble3D val="0"/>
            <c:spPr>
              <a:solidFill>
                <a:srgbClr val="B9B9B9"/>
              </a:solidFill>
              <a:effectLst/>
            </c:spPr>
          </c:dPt>
          <c:dPt>
            <c:idx val="2"/>
            <c:invertIfNegative val="0"/>
            <c:bubble3D val="0"/>
            <c:spPr>
              <a:solidFill>
                <a:srgbClr val="B9B9B9"/>
              </a:solidFill>
              <a:effectLst/>
            </c:spPr>
          </c:dPt>
          <c:dPt>
            <c:idx val="3"/>
            <c:invertIfNegative val="0"/>
            <c:bubble3D val="0"/>
            <c:spPr>
              <a:solidFill>
                <a:srgbClr val="B9B9B9"/>
              </a:solidFill>
              <a:effectLst/>
            </c:spPr>
          </c:dPt>
          <c:dPt>
            <c:idx val="4"/>
            <c:invertIfNegative val="0"/>
            <c:bubble3D val="0"/>
            <c:spPr>
              <a:solidFill>
                <a:srgbClr val="B9B9B9"/>
              </a:solidFill>
              <a:effectLst/>
            </c:spPr>
          </c:dPt>
          <c:dPt>
            <c:idx val="5"/>
            <c:invertIfNegative val="0"/>
            <c:bubble3D val="0"/>
            <c:spPr>
              <a:solidFill>
                <a:srgbClr val="B9B9B9"/>
              </a:solidFill>
              <a:effectLst/>
            </c:spPr>
          </c:dPt>
          <c:dPt>
            <c:idx val="6"/>
            <c:invertIfNegative val="0"/>
            <c:bubble3D val="0"/>
            <c:spPr>
              <a:solidFill>
                <a:srgbClr val="B9B9B9"/>
              </a:solidFill>
              <a:effectLst/>
            </c:spPr>
          </c:dPt>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Sheet1!$B$2:$B$8</c:f>
              <c:numCache>
                <c:formatCode>General</c:formatCode>
                <c:ptCount val="7"/>
                <c:pt idx="0">
                  <c:v>77.5</c:v>
                </c:pt>
                <c:pt idx="1">
                  <c:v>79.8</c:v>
                </c:pt>
                <c:pt idx="2">
                  <c:v>74.8</c:v>
                </c:pt>
                <c:pt idx="3">
                  <c:v>65.6</c:v>
                </c:pt>
                <c:pt idx="4">
                  <c:v>64.8</c:v>
                </c:pt>
                <c:pt idx="5">
                  <c:v>90.1</c:v>
                </c:pt>
                <c:pt idx="6">
                  <c:v>86.1</c:v>
                </c:pt>
              </c:numCache>
            </c:numRef>
          </c:val>
        </c:ser>
        <c:dLbls>
          <c:numFmt formatCode="0.0" sourceLinked="0"/>
          <c:txPr>
            <a:bodyPr/>
            <a:lstStyle/>
            <a:p>
              <a:pPr>
                <a:defRPr b="0" i="0" strike="noStrike" sz="900" u="none">
                  <a:solidFill>
                    <a:srgbClr val="2B2B2B"/>
                  </a:solidFill>
                  <a:latin typeface="Verdana"/>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ACACA"/>
            </a:solidFill>
            <a:prstDash val="solid"/>
            <a:round/>
          </a:ln>
        </c:spPr>
        <c:txPr>
          <a:bodyPr/>
          <a:lstStyle/>
          <a:p>
            <a:pPr>
              <a:defRPr sz="950" b="0" i="0" u="none" strike="noStrike">
                <a:solidFill>
                  <a:srgbClr val="2B2B2B"/>
                </a:solidFill>
                <a:latin typeface="Verdana"/>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6E9EC"/>
              </a:solidFill>
              <a:prstDash val="solid"/>
              <a:round/>
            </a:ln>
          </c:spPr>
        </c:majorGridlines>
        <c:numFmt formatCode="0.0" sourceLinked="0"/>
        <c:majorTickMark val="out"/>
        <c:minorTickMark val="none"/>
        <c:tickLblPos val="nextTo"/>
        <c:spPr>
          <a:ln w="12700" cap="flat">
            <a:noFill/>
            <a:prstDash val="solid"/>
            <a:round/>
          </a:ln>
        </c:spPr>
        <c:txPr>
          <a:bodyPr/>
          <a:lstStyle/>
          <a:p>
            <a:pPr>
              <a:defRPr sz="850" b="0" i="0" u="none" strike="noStrike">
                <a:solidFill>
                  <a:srgbClr val="818181"/>
                </a:solidFill>
                <a:latin typeface="Verdana"/>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2B2B2B"/>
                </a:solidFill>
                <a:latin typeface="Verdana"/>
              </a:defRPr>
            </a:pPr>
            <a:r>
              <a:rPr sz="1050" b="0" i="0" u="none" strike="noStrike">
                <a:solidFill>
                  <a:srgbClr val="2B2B2B"/>
                </a:solidFill>
                <a:latin typeface="Verdana"/>
              </a:rPr>
              <a:t>Tiempo de resolución del concurso, años</a:t>
            </a:r>
          </a:p>
        </c:rich>
      </c:tx>
      <c:layout/>
      <c:overlay val="0"/>
    </c:title>
    <c:autoTitleDeleted val="0"/>
    <c:plotArea>
      <c:layout/>
      <c:barChart>
        <c:barDir val="col"/>
        <c:grouping val="clustered"/>
        <c:varyColors val="0"/>
        <c:ser>
          <c:idx val="0"/>
          <c:order val="0"/>
          <c:tx>
            <c:strRef>
              <c:f>Sheet1!$B$1</c:f>
              <c:strCache>
                <c:ptCount val="1"/>
                <c:pt idx="0">
                  <c:v>valor</c:v>
                </c:pt>
              </c:strCache>
            </c:strRef>
          </c:tx>
          <c:spPr>
            <a:solidFill>
              <a:srgbClr val="F56600"/>
            </a:solidFill>
            <a:effectLst/>
          </c:spPr>
          <c:invertIfNegative val="0"/>
          <c:dLbls>
            <c:numFmt formatCode="0.0" sourceLinked="0"/>
            <c:txPr>
              <a:bodyPr/>
              <a:lstStyle/>
              <a:p>
                <a:pPr>
                  <a:defRPr b="0" i="0" strike="noStrike" sz="900" u="none">
                    <a:solidFill>
                      <a:srgbClr val="2B2B2B"/>
                    </a:solidFill>
                    <a:latin typeface="Verdana"/>
                  </a:defRPr>
                </a:pPr>
              </a:p>
            </c:txPr>
            <c:showLegendKey val="0"/>
            <c:showVal val="1"/>
            <c:showCatName val="0"/>
            <c:showSerName val="0"/>
            <c:showPercent val="0"/>
            <c:showBubbleSize val="0"/>
            <c:showLeaderLines val="0"/>
          </c:dLbls>
          <c:dPt>
            <c:idx val="0"/>
            <c:invertIfNegative val="0"/>
            <c:bubble3D val="0"/>
            <c:spPr>
              <a:solidFill>
                <a:srgbClr val="F56600"/>
              </a:solidFill>
              <a:effectLst/>
            </c:spPr>
          </c:dPt>
          <c:dPt>
            <c:idx val="1"/>
            <c:invertIfNegative val="0"/>
            <c:bubble3D val="0"/>
            <c:spPr>
              <a:solidFill>
                <a:srgbClr val="B9B9B9"/>
              </a:solidFill>
              <a:effectLst/>
            </c:spPr>
          </c:dPt>
          <c:dPt>
            <c:idx val="2"/>
            <c:invertIfNegative val="0"/>
            <c:bubble3D val="0"/>
            <c:spPr>
              <a:solidFill>
                <a:srgbClr val="B9B9B9"/>
              </a:solidFill>
              <a:effectLst/>
            </c:spPr>
          </c:dPt>
          <c:dPt>
            <c:idx val="3"/>
            <c:invertIfNegative val="0"/>
            <c:bubble3D val="0"/>
            <c:spPr>
              <a:solidFill>
                <a:srgbClr val="B9B9B9"/>
              </a:solidFill>
              <a:effectLst/>
            </c:spPr>
          </c:dPt>
          <c:dPt>
            <c:idx val="4"/>
            <c:invertIfNegative val="0"/>
            <c:bubble3D val="0"/>
            <c:spPr>
              <a:solidFill>
                <a:srgbClr val="B9B9B9"/>
              </a:solidFill>
              <a:effectLst/>
            </c:spPr>
          </c:dPt>
          <c:dPt>
            <c:idx val="5"/>
            <c:invertIfNegative val="0"/>
            <c:bubble3D val="0"/>
            <c:spPr>
              <a:solidFill>
                <a:srgbClr val="B9B9B9"/>
              </a:solidFill>
              <a:effectLst/>
            </c:spPr>
          </c:dPt>
          <c:dPt>
            <c:idx val="6"/>
            <c:invertIfNegative val="0"/>
            <c:bubble3D val="0"/>
            <c:spPr>
              <a:solidFill>
                <a:srgbClr val="B9B9B9"/>
              </a:solidFill>
              <a:effectLst/>
            </c:spPr>
          </c:dPt>
          <c:cat>
            <c:multiLvlStrRef>
              <c:f>Sheet1!$A$2:$A$8</c:f>
              <c:multiLvlStrCache>
                <c:ptCount val="7"/>
                <c:lvl>
                  <c:pt idx="0">
                    <c:v>España</c:v>
                  </c:pt>
                  <c:pt idx="1">
                    <c:v>Alemania</c:v>
                  </c:pt>
                  <c:pt idx="2">
                    <c:v>Francia</c:v>
                  </c:pt>
                  <c:pt idx="3">
                    <c:v>Italia</c:v>
                  </c:pt>
                  <c:pt idx="4">
                    <c:v>Portugal</c:v>
                  </c:pt>
                  <c:pt idx="5">
                    <c:v>P. Bajos</c:v>
                  </c:pt>
                  <c:pt idx="6">
                    <c:v>Irlanda</c:v>
                  </c:pt>
                </c:lvl>
              </c:multiLvlStrCache>
            </c:multiLvlStrRef>
          </c:cat>
          <c:val>
            <c:numRef>
              <c:f>Sheet1!$B$2:$B$8</c:f>
              <c:numCache>
                <c:formatCode>General</c:formatCode>
                <c:ptCount val="7"/>
                <c:pt idx="0">
                  <c:v>1.5</c:v>
                </c:pt>
                <c:pt idx="1">
                  <c:v>1.2</c:v>
                </c:pt>
                <c:pt idx="2">
                  <c:v>1.9</c:v>
                </c:pt>
                <c:pt idx="3">
                  <c:v>1.8</c:v>
                </c:pt>
                <c:pt idx="4">
                  <c:v>3</c:v>
                </c:pt>
                <c:pt idx="5">
                  <c:v>1.1</c:v>
                </c:pt>
                <c:pt idx="6">
                  <c:v>0.4</c:v>
                </c:pt>
              </c:numCache>
            </c:numRef>
          </c:val>
        </c:ser>
        <c:dLbls>
          <c:numFmt formatCode="0.0" sourceLinked="0"/>
          <c:txPr>
            <a:bodyPr/>
            <a:lstStyle/>
            <a:p>
              <a:pPr>
                <a:defRPr b="0" i="0" strike="noStrike" sz="900" u="none">
                  <a:solidFill>
                    <a:srgbClr val="2B2B2B"/>
                  </a:solidFill>
                  <a:latin typeface="Verdana"/>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ACACA"/>
            </a:solidFill>
            <a:prstDash val="solid"/>
            <a:round/>
          </a:ln>
        </c:spPr>
        <c:txPr>
          <a:bodyPr/>
          <a:lstStyle/>
          <a:p>
            <a:pPr>
              <a:defRPr sz="950" b="0" i="0" u="none" strike="noStrike">
                <a:solidFill>
                  <a:srgbClr val="2B2B2B"/>
                </a:solidFill>
                <a:latin typeface="Verdana"/>
              </a:defRPr>
            </a:pPr>
            <a:endParaRPr lang="en-US"/>
          </a:p>
        </c:txPr>
        <c:crossAx val="2094734552"/>
        <c:crosses val="autoZero"/>
        <c:auto val="1"/>
        <c:lblAlgn val="ctr"/>
        <c:noMultiLvlLbl val="1"/>
      </c:catAx>
      <c:valAx>
        <c:axId val="2094734552"/>
        <c:scaling>
          <c:orientation val="minMax"/>
          <c:max val="3.5"/>
          <c:min val="0"/>
        </c:scaling>
        <c:delete val="0"/>
        <c:axPos val="l"/>
        <c:majorGridlines>
          <c:spPr>
            <a:ln w="9525" cap="flat">
              <a:solidFill>
                <a:srgbClr val="E6E9EC"/>
              </a:solidFill>
              <a:prstDash val="solid"/>
              <a:round/>
            </a:ln>
          </c:spPr>
        </c:majorGridlines>
        <c:numFmt formatCode="0.0" sourceLinked="0"/>
        <c:majorTickMark val="out"/>
        <c:minorTickMark val="none"/>
        <c:tickLblPos val="nextTo"/>
        <c:spPr>
          <a:ln w="12700" cap="flat">
            <a:noFill/>
            <a:prstDash val="solid"/>
            <a:round/>
          </a:ln>
        </c:spPr>
        <c:txPr>
          <a:bodyPr/>
          <a:lstStyle/>
          <a:p>
            <a:pPr>
              <a:defRPr sz="850" b="0" i="0" u="none" strike="noStrike">
                <a:solidFill>
                  <a:srgbClr val="818181"/>
                </a:solidFill>
                <a:latin typeface="Verdana"/>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Comisiones / inversión</c:v>
                </c:pt>
              </c:strCache>
            </c:strRef>
          </c:tx>
          <c:spPr>
            <a:solidFill>
              <a:srgbClr val="2A6FB0"/>
            </a:solidFill>
            <a:effectLst/>
          </c:spPr>
          <c:invertIfNegative val="0"/>
          <c:dLbls>
            <c:numFmt formatCode="0.00&quot;%&quot;" sourceLinked="0"/>
            <c:txPr>
              <a:bodyPr/>
              <a:lstStyle/>
              <a:p>
                <a:pPr>
                  <a:defRPr b="0" i="0" strike="noStrike" sz="900" u="none">
                    <a:solidFill>
                      <a:srgbClr val="2B2B2B"/>
                    </a:solidFill>
                    <a:latin typeface="Arial"/>
                  </a:defRPr>
                </a:pPr>
              </a:p>
            </c:txPr>
            <c:showLegendKey val="0"/>
            <c:showVal val="1"/>
            <c:showCatName val="0"/>
            <c:showSerName val="0"/>
            <c:showPercent val="0"/>
            <c:showBubbleSize val="0"/>
            <c:showLeaderLines val="0"/>
          </c:dLbls>
          <c:dPt>
            <c:idx val="0"/>
            <c:invertIfNegative val="0"/>
            <c:bubble3D val="0"/>
            <c:spPr>
              <a:solidFill>
                <a:srgbClr val="2A6FB0"/>
              </a:solidFill>
              <a:effectLst/>
            </c:spPr>
          </c:dPt>
          <c:dPt>
            <c:idx val="1"/>
            <c:invertIfNegative val="0"/>
            <c:bubble3D val="0"/>
            <c:spPr>
              <a:solidFill>
                <a:srgbClr val="2A6FB0"/>
              </a:solidFill>
              <a:effectLst/>
            </c:spPr>
          </c:dPt>
          <c:dPt>
            <c:idx val="2"/>
            <c:invertIfNegative val="0"/>
            <c:bubble3D val="0"/>
            <c:spPr>
              <a:solidFill>
                <a:srgbClr val="B9B9B9"/>
              </a:solidFill>
              <a:effectLst/>
            </c:spPr>
          </c:dPt>
          <c:dPt>
            <c:idx val="3"/>
            <c:invertIfNegative val="0"/>
            <c:bubble3D val="0"/>
            <c:spPr>
              <a:solidFill>
                <a:srgbClr val="B9B9B9"/>
              </a:solidFill>
              <a:effectLst/>
            </c:spPr>
          </c:dPt>
          <c:cat>
            <c:multiLvlStrRef>
              <c:f>Sheet1!$A$2:$A$5</c:f>
              <c:multiLvlStrCache>
                <c:ptCount val="4"/>
                <c:lvl>
                  <c:pt idx="0">
                    <c:v>Commerzbank
Corporate Clients</c:v>
                  </c:pt>
                  <c:pt idx="1">
                    <c:v>ABN AMRO
Corporate Banking</c:v>
                  </c:pt>
                  <c:pt idx="2">
                    <c:v>CaixaBank
Grupo consolidado</c:v>
                  </c:pt>
                  <c:pt idx="3">
                    <c:v>BPER Banca
Grupo consolidado</c:v>
                  </c:pt>
                </c:lvl>
              </c:multiLvlStrCache>
            </c:multiLvlStrRef>
          </c:cat>
          <c:val>
            <c:numRef>
              <c:f>Sheet1!$B$2:$B$5</c:f>
              <c:numCache>
                <c:formatCode>General</c:formatCode>
                <c:ptCount val="4"/>
                <c:pt idx="0">
                  <c:v>1.2227642276422763</c:v>
                </c:pt>
                <c:pt idx="1">
                  <c:v>0.9873417721518988</c:v>
                </c:pt>
                <c:pt idx="2">
                  <c:v>1.0215812107829743</c:v>
                </c:pt>
                <c:pt idx="3">
                  <c:v>2.094787833854876</c:v>
                </c:pt>
              </c:numCache>
            </c:numRef>
          </c:val>
        </c:ser>
        <c:dLbls>
          <c:numFmt formatCode="0.00&quot;%&quot;" sourceLinked="0"/>
          <c:txPr>
            <a:bodyPr/>
            <a:lstStyle/>
            <a:p>
              <a:pPr>
                <a:defRPr b="0" i="0" strike="noStrike" sz="900" u="none">
                  <a:solidFill>
                    <a:srgbClr val="2B2B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ACACA"/>
            </a:solidFill>
            <a:prstDash val="solid"/>
            <a:round/>
          </a:ln>
        </c:spPr>
        <c:txPr>
          <a:bodyPr/>
          <a:lstStyle/>
          <a:p>
            <a:pPr>
              <a:defRPr sz="950" b="0" i="0" u="none" strike="noStrike">
                <a:solidFill>
                  <a:srgbClr val="2B2B2B"/>
                </a:solidFill>
                <a:latin typeface="Verdana"/>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9525" cap="flat">
              <a:solidFill>
                <a:srgbClr val="E6E9EC"/>
              </a:solidFill>
              <a:prstDash val="solid"/>
              <a:round/>
            </a:ln>
          </c:spPr>
        </c:majorGridlines>
        <c:numFmt formatCode="0.0&quot;%&quot;" sourceLinked="0"/>
        <c:majorTickMark val="out"/>
        <c:minorTickMark val="none"/>
        <c:tickLblPos val="nextTo"/>
        <c:spPr>
          <a:ln w="12700" cap="flat">
            <a:noFill/>
            <a:prstDash val="solid"/>
            <a:round/>
          </a:ln>
        </c:spPr>
        <c:txPr>
          <a:bodyPr/>
          <a:lstStyle/>
          <a:p>
            <a:pPr>
              <a:defRPr sz="850" b="0" i="0" u="none" strike="noStrike">
                <a:solidFill>
                  <a:srgbClr val="818181"/>
                </a:solidFill>
                <a:latin typeface="Verdana"/>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chart" Target="/ppt/charts/chart12.xml"/><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chart" Target="/ppt/charts/chart18.xml"/><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19.xml"/><Relationship Id="rId2" Type="http://schemas.openxmlformats.org/officeDocument/2006/relationships/chart" Target="/ppt/charts/chart20.xml"/><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21.xm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22.xml"/><Relationship Id="rId2" Type="http://schemas.openxmlformats.org/officeDocument/2006/relationships/chart" Target="/ppt/charts/chart23.xml"/><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24.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B2B"/>
        </a:solidFill>
      </p:bgPr>
    </p:bg>
    <p:spTree>
      <p:nvGrpSpPr>
        <p:cNvPr id="1" name=""/>
        <p:cNvGrpSpPr/>
        <p:nvPr/>
      </p:nvGrpSpPr>
      <p:grpSpPr>
        <a:xfrm>
          <a:off x="0" y="0"/>
          <a:ext cx="0" cy="0"/>
          <a:chOff x="0" y="0"/>
          <a:chExt cx="0" cy="0"/>
        </a:xfrm>
      </p:grpSpPr>
      <p:sp>
        <p:nvSpPr>
          <p:cNvPr id="2" name="Shape 0"/>
          <p:cNvSpPr/>
          <p:nvPr/>
        </p:nvSpPr>
        <p:spPr>
          <a:xfrm>
            <a:off x="7360920" y="0"/>
            <a:ext cx="4828032" cy="6858000"/>
          </a:xfrm>
          <a:prstGeom prst="rect">
            <a:avLst/>
          </a:prstGeom>
          <a:solidFill>
            <a:srgbClr val="F56600"/>
          </a:solidFill>
          <a:ln w="12700">
            <a:solidFill>
              <a:srgbClr val="F56600"/>
            </a:solidFill>
            <a:prstDash val="solid"/>
          </a:ln>
        </p:spPr>
      </p:sp>
      <p:sp>
        <p:nvSpPr>
          <p:cNvPr id="3" name="Shape 1"/>
          <p:cNvSpPr/>
          <p:nvPr/>
        </p:nvSpPr>
        <p:spPr>
          <a:xfrm>
            <a:off x="10149840" y="822960"/>
            <a:ext cx="1463040" cy="1463040"/>
          </a:xfrm>
          <a:prstGeom prst="rect">
            <a:avLst/>
          </a:prstGeom>
          <a:solidFill>
            <a:srgbClr val="FFD200"/>
          </a:solidFill>
          <a:ln w="12700">
            <a:solidFill>
              <a:srgbClr val="FFD200"/>
            </a:solidFill>
            <a:prstDash val="solid"/>
          </a:ln>
        </p:spPr>
      </p:sp>
      <p:sp>
        <p:nvSpPr>
          <p:cNvPr id="4" name="Shape 2"/>
          <p:cNvSpPr/>
          <p:nvPr/>
        </p:nvSpPr>
        <p:spPr>
          <a:xfrm>
            <a:off x="7863840" y="3291840"/>
            <a:ext cx="1737360" cy="1737360"/>
          </a:xfrm>
          <a:prstGeom prst="rect">
            <a:avLst/>
          </a:prstGeom>
          <a:solidFill>
            <a:srgbClr val="FFFFFF"/>
          </a:solidFill>
          <a:ln w="12700">
            <a:solidFill>
              <a:srgbClr val="FFFFFF"/>
            </a:solidFill>
            <a:prstDash val="solid"/>
          </a:ln>
        </p:spPr>
      </p:sp>
      <p:sp>
        <p:nvSpPr>
          <p:cNvPr id="5" name="Shape 3"/>
          <p:cNvSpPr/>
          <p:nvPr/>
        </p:nvSpPr>
        <p:spPr>
          <a:xfrm>
            <a:off x="9875520" y="4617720"/>
            <a:ext cx="1143000" cy="1143000"/>
          </a:xfrm>
          <a:prstGeom prst="rect">
            <a:avLst/>
          </a:prstGeom>
          <a:solidFill>
            <a:srgbClr val="FFAB70"/>
          </a:solidFill>
          <a:ln w="12700">
            <a:solidFill>
              <a:srgbClr val="FFAB70"/>
            </a:solidFill>
            <a:prstDash val="solid"/>
          </a:ln>
        </p:spPr>
      </p:sp>
      <p:sp>
        <p:nvSpPr>
          <p:cNvPr id="6" name="Text 4"/>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FFFFFF"/>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7" name="Text 5"/>
          <p:cNvSpPr txBox="1"/>
          <p:nvPr/>
        </p:nvSpPr>
        <p:spPr>
          <a:xfrm>
            <a:off x="1005840" y="1783080"/>
            <a:ext cx="6035040" cy="1600200"/>
          </a:xfrm>
          <a:prstGeom prst="rect">
            <a:avLst/>
          </a:prstGeom>
          <a:noFill/>
          <a:ln/>
        </p:spPr>
        <p:txBody>
          <a:bodyPr wrap="square" lIns="0" tIns="0" rIns="0" bIns="0" rtlCol="0" anchor="ctr"/>
          <a:lstStyle/>
          <a:p>
            <a:pPr indent="0" marL="0">
              <a:lnSpc>
                <a:spcPct val="105000"/>
              </a:lnSpc>
              <a:buNone/>
            </a:pPr>
            <a:r>
              <a:rPr lang="en-US" sz="3800" b="1" dirty="0">
                <a:solidFill>
                  <a:srgbClr val="FFFFFF"/>
                </a:solidFill>
                <a:latin typeface="Verdana" pitchFamily="34" charset="0"/>
                <a:ea typeface="Verdana" pitchFamily="34" charset="-122"/>
                <a:cs typeface="Verdana" pitchFamily="34" charset="-120"/>
              </a:rPr>
              <a:t>El mercado PYME</a:t>
            </a:r>
            <a:endParaRPr lang="en-US" sz="3800" dirty="0"/>
          </a:p>
          <a:p>
            <a:pPr indent="0" marL="0">
              <a:lnSpc>
                <a:spcPct val="105000"/>
              </a:lnSpc>
              <a:buNone/>
            </a:pPr>
            <a:r>
              <a:rPr lang="en-US" sz="3800" b="1" dirty="0">
                <a:solidFill>
                  <a:srgbClr val="FFFFFF"/>
                </a:solidFill>
                <a:latin typeface="Verdana" pitchFamily="34" charset="0"/>
                <a:ea typeface="Verdana" pitchFamily="34" charset="-122"/>
                <a:cs typeface="Verdana" pitchFamily="34" charset="-120"/>
              </a:rPr>
              <a:t>en Europa</a:t>
            </a:r>
            <a:endParaRPr lang="en-US" sz="3800" dirty="0"/>
          </a:p>
        </p:txBody>
      </p:sp>
      <p:sp>
        <p:nvSpPr>
          <p:cNvPr id="8" name="Text 6"/>
          <p:cNvSpPr txBox="1"/>
          <p:nvPr/>
        </p:nvSpPr>
        <p:spPr>
          <a:xfrm>
            <a:off x="1005840" y="3456432"/>
            <a:ext cx="6035040" cy="411480"/>
          </a:xfrm>
          <a:prstGeom prst="rect">
            <a:avLst/>
          </a:prstGeom>
          <a:noFill/>
          <a:ln/>
        </p:spPr>
        <p:txBody>
          <a:bodyPr wrap="square" lIns="0" tIns="0" rIns="0" bIns="0" rtlCol="0" anchor="ctr"/>
          <a:lstStyle/>
          <a:p>
            <a:pPr indent="0" marL="0">
              <a:buNone/>
            </a:pPr>
            <a:r>
              <a:rPr lang="en-US" sz="1500" dirty="0">
                <a:solidFill>
                  <a:srgbClr val="FFD200"/>
                </a:solidFill>
                <a:latin typeface="Verdana" pitchFamily="34" charset="0"/>
                <a:ea typeface="Verdana" pitchFamily="34" charset="-122"/>
                <a:cs typeface="Verdana" pitchFamily="34" charset="-120"/>
              </a:rPr>
              <a:t>Lo que dicen los datos, fuente por fuente</a:t>
            </a:r>
            <a:endParaRPr lang="en-US" sz="1500" dirty="0"/>
          </a:p>
        </p:txBody>
      </p:sp>
      <p:sp>
        <p:nvSpPr>
          <p:cNvPr id="9" name="Text 7"/>
          <p:cNvSpPr txBox="1"/>
          <p:nvPr/>
        </p:nvSpPr>
        <p:spPr>
          <a:xfrm>
            <a:off x="1005840" y="4069080"/>
            <a:ext cx="6035040" cy="365760"/>
          </a:xfrm>
          <a:prstGeom prst="rect">
            <a:avLst/>
          </a:prstGeom>
          <a:noFill/>
          <a:ln/>
        </p:spPr>
        <p:txBody>
          <a:bodyPr wrap="square" lIns="0" tIns="0" rIns="0" bIns="0" rtlCol="0" anchor="ctr"/>
          <a:lstStyle/>
          <a:p>
            <a:pPr indent="0" marL="0">
              <a:buNone/>
            </a:pPr>
            <a:r>
              <a:rPr lang="en-US" sz="1100" dirty="0">
                <a:solidFill>
                  <a:srgbClr val="CACACA"/>
                </a:solidFill>
                <a:latin typeface="Verdana" pitchFamily="34" charset="0"/>
                <a:ea typeface="Verdana" pitchFamily="34" charset="-122"/>
                <a:cs typeface="Verdana" pitchFamily="34" charset="-120"/>
              </a:rPr>
              <a:t>España · Alemania · Francia · Italia · Portugal · Países Bajos · Irlanda</a:t>
            </a:r>
            <a:endParaRPr lang="en-US" sz="1100" dirty="0"/>
          </a:p>
        </p:txBody>
      </p:sp>
      <p:sp>
        <p:nvSpPr>
          <p:cNvPr id="10" name="Text 8"/>
          <p:cNvSpPr txBox="1"/>
          <p:nvPr/>
        </p:nvSpPr>
        <p:spPr>
          <a:xfrm>
            <a:off x="1005840" y="4617720"/>
            <a:ext cx="5852160" cy="640080"/>
          </a:xfrm>
          <a:prstGeom prst="rect">
            <a:avLst/>
          </a:prstGeom>
          <a:noFill/>
          <a:ln/>
        </p:spPr>
        <p:txBody>
          <a:bodyPr wrap="square" lIns="0" tIns="0" rIns="0" bIns="0" rtlCol="0" anchor="ctr"/>
          <a:lstStyle/>
          <a:p>
            <a:pPr indent="0" marL="0">
              <a:buNone/>
            </a:pPr>
            <a:r>
              <a:rPr lang="en-US" sz="1000" dirty="0">
                <a:solidFill>
                  <a:srgbClr val="A1A1A1"/>
                </a:solidFill>
                <a:latin typeface="Verdana" pitchFamily="34" charset="0"/>
                <a:ea typeface="Verdana" pitchFamily="34" charset="-122"/>
                <a:cs typeface="Verdana" pitchFamily="34" charset="-120"/>
              </a:rPr>
              <a:t>Análisis descriptivo sobre datos observados. Sin modelos de rentabilidad: los datos disponibles no tienen la calidad para sostener un ROE.</a:t>
            </a:r>
            <a:endParaRPr lang="en-US" sz="1000" dirty="0"/>
          </a:p>
        </p:txBody>
      </p:sp>
      <p:sp>
        <p:nvSpPr>
          <p:cNvPr id="11" name="Text 9"/>
          <p:cNvSpPr txBox="1"/>
          <p:nvPr/>
        </p:nvSpPr>
        <p:spPr>
          <a:xfrm>
            <a:off x="1005840" y="5989320"/>
            <a:ext cx="3657600" cy="274320"/>
          </a:xfrm>
          <a:prstGeom prst="rect">
            <a:avLst/>
          </a:prstGeom>
          <a:noFill/>
          <a:ln/>
        </p:spPr>
        <p:txBody>
          <a:bodyPr wrap="square" lIns="0" tIns="0" rIns="0" bIns="0" rtlCol="0" anchor="ctr"/>
          <a:lstStyle/>
          <a:p>
            <a:pPr indent="0" marL="0">
              <a:buNone/>
            </a:pPr>
            <a:r>
              <a:rPr lang="en-US" sz="950" dirty="0">
                <a:solidFill>
                  <a:srgbClr val="A1A1A1"/>
                </a:solidFill>
                <a:latin typeface="Verdana" pitchFamily="34" charset="0"/>
                <a:ea typeface="Verdana" pitchFamily="34" charset="-122"/>
                <a:cs typeface="Verdana" pitchFamily="34" charset="-120"/>
              </a:rPr>
              <a:t>Septiembre 2026</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3" name="Text 1"/>
          <p:cNvSpPr txBox="1"/>
          <p:nvPr/>
        </p:nvSpPr>
        <p:spPr>
          <a:xfrm>
            <a:off x="621792" y="6583680"/>
            <a:ext cx="548640" cy="182880"/>
          </a:xfrm>
          <a:prstGeom prst="rect">
            <a:avLst/>
          </a:prstGeom>
          <a:noFill/>
          <a:ln/>
        </p:spPr>
        <p:txBody>
          <a:bodyPr wrap="square" lIns="0" tIns="0" rIns="0" bIns="0" rtlCol="0" anchor="ctr"/>
          <a:lstStyle/>
          <a:p>
            <a:pPr indent="0" marL="0">
              <a:buNone/>
            </a:pPr>
            <a:r>
              <a:rPr lang="en-US" sz="800" dirty="0">
                <a:solidFill>
                  <a:srgbClr val="CACACA"/>
                </a:solidFill>
                <a:latin typeface="Verdana" pitchFamily="34" charset="0"/>
                <a:ea typeface="Verdana" pitchFamily="34" charset="-122"/>
                <a:cs typeface="Verdana" pitchFamily="34" charset="-120"/>
              </a:rPr>
              <a:t>2</a:t>
            </a:r>
            <a:endParaRPr lang="en-US" sz="800" dirty="0"/>
          </a:p>
        </p:txBody>
      </p:sp>
      <p:sp>
        <p:nvSpPr>
          <p:cNvPr id="4" name="Text 2"/>
          <p:cNvSpPr txBox="1"/>
          <p:nvPr/>
        </p:nvSpPr>
        <p:spPr>
          <a:xfrm>
            <a:off x="621792" y="420624"/>
            <a:ext cx="9208008" cy="676656"/>
          </a:xfrm>
          <a:prstGeom prst="rect">
            <a:avLst/>
          </a:prstGeom>
          <a:noFill/>
          <a:ln/>
        </p:spPr>
        <p:txBody>
          <a:bodyPr wrap="square" lIns="0" tIns="0" rIns="0" bIns="0" rtlCol="0" anchor="ctr"/>
          <a:lstStyle/>
          <a:p>
            <a:pPr indent="0" marL="0">
              <a:buNone/>
            </a:pPr>
            <a:r>
              <a:rPr lang="en-US" sz="2200" b="1" dirty="0">
                <a:solidFill>
                  <a:srgbClr val="2B2B2B"/>
                </a:solidFill>
                <a:latin typeface="Verdana" pitchFamily="34" charset="0"/>
                <a:ea typeface="Verdana" pitchFamily="34" charset="-122"/>
                <a:cs typeface="Verdana" pitchFamily="34" charset="-120"/>
              </a:rPr>
              <a:t>Cómo leer esta presentación</a:t>
            </a:r>
            <a:endParaRPr lang="en-US" sz="2200" dirty="0"/>
          </a:p>
        </p:txBody>
      </p:sp>
      <p:sp>
        <p:nvSpPr>
          <p:cNvPr id="5" name="Text 3"/>
          <p:cNvSpPr txBox="1"/>
          <p:nvPr/>
        </p:nvSpPr>
        <p:spPr>
          <a:xfrm>
            <a:off x="621792" y="1060704"/>
            <a:ext cx="10945368" cy="365760"/>
          </a:xfrm>
          <a:prstGeom prst="rect">
            <a:avLst/>
          </a:prstGeom>
          <a:noFill/>
          <a:ln/>
        </p:spPr>
        <p:txBody>
          <a:bodyPr wrap="square" lIns="0" tIns="0" rIns="0" bIns="0" rtlCol="0" anchor="ctr"/>
          <a:lstStyle/>
          <a:p>
            <a:pPr indent="0" marL="0">
              <a:buNone/>
            </a:pPr>
            <a:r>
              <a:rPr lang="en-US" sz="1050" dirty="0">
                <a:solidFill>
                  <a:srgbClr val="818181"/>
                </a:solidFill>
                <a:latin typeface="Verdana" pitchFamily="34" charset="0"/>
                <a:ea typeface="Verdana" pitchFamily="34" charset="-122"/>
                <a:cs typeface="Verdana" pitchFamily="34" charset="-120"/>
              </a:rPr>
              <a:t>Doce fuentes, y cada una llama PYME a una cosa distinta. Por eso cada lámina lo dice</a:t>
            </a:r>
            <a:endParaRPr lang="en-US" sz="1050" dirty="0"/>
          </a:p>
        </p:txBody>
      </p:sp>
      <p:sp>
        <p:nvSpPr>
          <p:cNvPr id="6" name="Shape 4"/>
          <p:cNvSpPr/>
          <p:nvPr/>
        </p:nvSpPr>
        <p:spPr>
          <a:xfrm>
            <a:off x="621792" y="1645920"/>
            <a:ext cx="5669280" cy="1225296"/>
          </a:xfrm>
          <a:prstGeom prst="roundRect">
            <a:avLst>
              <a:gd name="adj" fmla="val 3731"/>
            </a:avLst>
          </a:prstGeom>
          <a:solidFill>
            <a:srgbClr val="F2F4F6"/>
          </a:solidFill>
          <a:ln w="12700">
            <a:solidFill>
              <a:srgbClr val="F2F4F6"/>
            </a:solidFill>
            <a:prstDash val="solid"/>
          </a:ln>
        </p:spPr>
      </p:sp>
      <p:sp>
        <p:nvSpPr>
          <p:cNvPr id="7" name="Text 5"/>
          <p:cNvSpPr txBox="1"/>
          <p:nvPr/>
        </p:nvSpPr>
        <p:spPr>
          <a:xfrm>
            <a:off x="822960" y="1773936"/>
            <a:ext cx="5266944" cy="27432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1  Una fuente, una sección</a:t>
            </a:r>
            <a:endParaRPr lang="en-US" sz="1150" dirty="0"/>
          </a:p>
        </p:txBody>
      </p:sp>
      <p:sp>
        <p:nvSpPr>
          <p:cNvPr id="8" name="Text 6"/>
          <p:cNvSpPr txBox="1"/>
          <p:nvPr/>
        </p:nvSpPr>
        <p:spPr>
          <a:xfrm>
            <a:off x="822960" y="2084832"/>
            <a:ext cx="5266944" cy="676656"/>
          </a:xfrm>
          <a:prstGeom prst="rect">
            <a:avLst/>
          </a:prstGeom>
          <a:noFill/>
          <a:ln/>
        </p:spPr>
        <p:txBody>
          <a:bodyPr wrap="square" lIns="0" tIns="0" rIns="0" bIns="0" rtlCol="0" anchor="t"/>
          <a:lstStyle/>
          <a:p>
            <a:pPr indent="0" marL="0">
              <a:buNone/>
            </a:pPr>
            <a:r>
              <a:rPr lang="en-US" sz="1000" dirty="0">
                <a:solidFill>
                  <a:srgbClr val="2B2B2B"/>
                </a:solidFill>
                <a:latin typeface="Verdana" pitchFamily="34" charset="0"/>
                <a:ea typeface="Verdana" pitchFamily="34" charset="-122"/>
                <a:cs typeface="Verdana" pitchFamily="34" charset="-120"/>
              </a:rPr>
              <a:t>Cada sección abre con una ficha: qué es la fuente, qué datos hemos obtenido de ella y por qué aplica a PYME, o hasta dónde.</a:t>
            </a:r>
            <a:endParaRPr lang="en-US" sz="1000" dirty="0"/>
          </a:p>
        </p:txBody>
      </p:sp>
      <p:sp>
        <p:nvSpPr>
          <p:cNvPr id="9" name="Shape 7"/>
          <p:cNvSpPr/>
          <p:nvPr/>
        </p:nvSpPr>
        <p:spPr>
          <a:xfrm>
            <a:off x="621792" y="3035808"/>
            <a:ext cx="5669280" cy="1225296"/>
          </a:xfrm>
          <a:prstGeom prst="roundRect">
            <a:avLst>
              <a:gd name="adj" fmla="val 3731"/>
            </a:avLst>
          </a:prstGeom>
          <a:solidFill>
            <a:srgbClr val="F2F4F6"/>
          </a:solidFill>
          <a:ln w="12700">
            <a:solidFill>
              <a:srgbClr val="F2F4F6"/>
            </a:solidFill>
            <a:prstDash val="solid"/>
          </a:ln>
        </p:spPr>
      </p:sp>
      <p:sp>
        <p:nvSpPr>
          <p:cNvPr id="10" name="Text 8"/>
          <p:cNvSpPr txBox="1"/>
          <p:nvPr/>
        </p:nvSpPr>
        <p:spPr>
          <a:xfrm>
            <a:off x="822960" y="3163824"/>
            <a:ext cx="5266944" cy="27432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2  La etiqueta de arriba a la derecha</a:t>
            </a:r>
            <a:endParaRPr lang="en-US" sz="1150" dirty="0"/>
          </a:p>
        </p:txBody>
      </p:sp>
      <p:sp>
        <p:nvSpPr>
          <p:cNvPr id="11" name="Text 9"/>
          <p:cNvSpPr txBox="1"/>
          <p:nvPr/>
        </p:nvSpPr>
        <p:spPr>
          <a:xfrm>
            <a:off x="822960" y="3474720"/>
            <a:ext cx="5266944" cy="676656"/>
          </a:xfrm>
          <a:prstGeom prst="rect">
            <a:avLst/>
          </a:prstGeom>
          <a:noFill/>
          <a:ln/>
        </p:spPr>
        <p:txBody>
          <a:bodyPr wrap="square" lIns="0" tIns="0" rIns="0" bIns="0" rtlCol="0" anchor="t"/>
          <a:lstStyle/>
          <a:p>
            <a:pPr indent="0" marL="0">
              <a:buNone/>
            </a:pPr>
            <a:r>
              <a:rPr lang="en-US" sz="1000" dirty="0">
                <a:solidFill>
                  <a:srgbClr val="2B2B2B"/>
                </a:solidFill>
                <a:latin typeface="Verdana" pitchFamily="34" charset="0"/>
                <a:ea typeface="Verdana" pitchFamily="34" charset="-122"/>
                <a:cs typeface="Verdana" pitchFamily="34" charset="-120"/>
              </a:rPr>
              <a:t>Cada lámina de datos lleva la definición de PYME de su fuente. El color dice si coincide con la estándar de la UE, con uno solo de sus criterios o con ninguno.</a:t>
            </a:r>
            <a:endParaRPr lang="en-US" sz="1000" dirty="0"/>
          </a:p>
        </p:txBody>
      </p:sp>
      <p:sp>
        <p:nvSpPr>
          <p:cNvPr id="12" name="Shape 10"/>
          <p:cNvSpPr/>
          <p:nvPr/>
        </p:nvSpPr>
        <p:spPr>
          <a:xfrm>
            <a:off x="621792" y="4425696"/>
            <a:ext cx="5669280" cy="1225296"/>
          </a:xfrm>
          <a:prstGeom prst="roundRect">
            <a:avLst>
              <a:gd name="adj" fmla="val 3731"/>
            </a:avLst>
          </a:prstGeom>
          <a:solidFill>
            <a:srgbClr val="F2F4F6"/>
          </a:solidFill>
          <a:ln w="12700">
            <a:solidFill>
              <a:srgbClr val="F2F4F6"/>
            </a:solidFill>
            <a:prstDash val="solid"/>
          </a:ln>
        </p:spPr>
      </p:sp>
      <p:sp>
        <p:nvSpPr>
          <p:cNvPr id="13" name="Text 11"/>
          <p:cNvSpPr txBox="1"/>
          <p:nvPr/>
        </p:nvSpPr>
        <p:spPr>
          <a:xfrm>
            <a:off x="822960" y="4553712"/>
            <a:ext cx="5266944" cy="27432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3  Solo datos observados</a:t>
            </a:r>
            <a:endParaRPr lang="en-US" sz="1150" dirty="0"/>
          </a:p>
        </p:txBody>
      </p:sp>
      <p:sp>
        <p:nvSpPr>
          <p:cNvPr id="14" name="Text 12"/>
          <p:cNvSpPr txBox="1"/>
          <p:nvPr/>
        </p:nvSpPr>
        <p:spPr>
          <a:xfrm>
            <a:off x="822960" y="4864608"/>
            <a:ext cx="5266944" cy="676656"/>
          </a:xfrm>
          <a:prstGeom prst="rect">
            <a:avLst/>
          </a:prstGeom>
          <a:noFill/>
          <a:ln/>
        </p:spPr>
        <p:txBody>
          <a:bodyPr wrap="square" lIns="0" tIns="0" rIns="0" bIns="0" rtlCol="0" anchor="t"/>
          <a:lstStyle/>
          <a:p>
            <a:pPr indent="0" marL="0">
              <a:buNone/>
            </a:pPr>
            <a:r>
              <a:rPr lang="en-US" sz="1000" dirty="0">
                <a:solidFill>
                  <a:srgbClr val="2B2B2B"/>
                </a:solidFill>
                <a:latin typeface="Verdana" pitchFamily="34" charset="0"/>
                <a:ea typeface="Verdana" pitchFamily="34" charset="-122"/>
                <a:cs typeface="Verdana" pitchFamily="34" charset="-120"/>
              </a:rPr>
              <a:t>No hay ROE ni márgenes: exigirían supuestos, como las comisiones fuera de España, que los datos no soportan. Se describe el mercado, no su rentabilidad.</a:t>
            </a:r>
            <a:endParaRPr lang="en-US" sz="1000" dirty="0"/>
          </a:p>
        </p:txBody>
      </p:sp>
      <p:sp>
        <p:nvSpPr>
          <p:cNvPr id="15" name="Text 13"/>
          <p:cNvSpPr txBox="1"/>
          <p:nvPr/>
        </p:nvSpPr>
        <p:spPr>
          <a:xfrm>
            <a:off x="6720840" y="1645920"/>
            <a:ext cx="484632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La definición estándar de la UE</a:t>
            </a:r>
            <a:endParaRPr lang="en-US" sz="1250" dirty="0"/>
          </a:p>
        </p:txBody>
      </p:sp>
      <p:sp>
        <p:nvSpPr>
          <p:cNvPr id="16" name="Text 14"/>
          <p:cNvSpPr txBox="1"/>
          <p:nvPr/>
        </p:nvSpPr>
        <p:spPr>
          <a:xfrm>
            <a:off x="6720840" y="1938528"/>
            <a:ext cx="4846320" cy="384048"/>
          </a:xfrm>
          <a:prstGeom prst="rect">
            <a:avLst/>
          </a:prstGeom>
          <a:noFill/>
          <a:ln/>
        </p:spPr>
        <p:txBody>
          <a:bodyPr wrap="square" lIns="0" tIns="0" rIns="0" bIns="0" rtlCol="0" anchor="ctr"/>
          <a:lstStyle/>
          <a:p>
            <a:pPr indent="0" marL="0">
              <a:buNone/>
            </a:pPr>
            <a:r>
              <a:rPr lang="en-US" sz="900" dirty="0">
                <a:solidFill>
                  <a:srgbClr val="818181"/>
                </a:solidFill>
                <a:latin typeface="Verdana" pitchFamily="34" charset="0"/>
                <a:ea typeface="Verdana" pitchFamily="34" charset="-122"/>
                <a:cs typeface="Verdana" pitchFamily="34" charset="-120"/>
              </a:rPr>
              <a:t>Recomendación 2003/361/CE. No es vinculante: solo obliga donde una norma la adopta.</a:t>
            </a:r>
            <a:endParaRPr lang="en-US" sz="9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720840" y="2377440"/>
          <a:ext cx="4846320" cy="914400"/>
        </p:xfrm>
        <a:graphic>
          <a:graphicData uri="http://schemas.openxmlformats.org/drawingml/2006/table">
            <a:tbl>
              <a:tblPr/>
              <a:tblGrid>
                <a:gridCol w="1417320"/>
                <a:gridCol w="1143000"/>
                <a:gridCol w="1143000"/>
                <a:gridCol w="1143000"/>
              </a:tblGrid>
              <a:tr h="274320">
                <a:tc>
                  <a:txBody>
                    <a:bodyPr/>
                    <a:lstStyle/>
                    <a:p>
                      <a:pPr algn="l" indent="0" marL="0">
                        <a:buNone/>
                      </a:pP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2B2B2B"/>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Micro</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2B2B2B"/>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Pequeña</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2B2B2B"/>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Mediana</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2B2B2B"/>
                    </a:solidFill>
                  </a:tcPr>
                </a:tc>
              </a:tr>
              <a:tr h="274320">
                <a:tc>
                  <a:txBody>
                    <a:bodyPr/>
                    <a:lstStyle/>
                    <a:p>
                      <a:pPr algn="l" indent="0" marL="0">
                        <a:buNone/>
                      </a:pPr>
                      <a:r>
                        <a:rPr lang="en-US" sz="900" b="1" dirty="0">
                          <a:solidFill>
                            <a:srgbClr val="2B2B2B"/>
                          </a:solidFill>
                          <a:latin typeface="Verdana" pitchFamily="34" charset="0"/>
                          <a:ea typeface="Verdana" pitchFamily="34" charset="-122"/>
                          <a:cs typeface="Verdana" pitchFamily="34" charset="-120"/>
                        </a:rPr>
                        <a:t>Empleados</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&lt; 10</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&lt; 50</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&lt; 250</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274320">
                <a:tc>
                  <a:txBody>
                    <a:bodyPr/>
                    <a:lstStyle/>
                    <a:p>
                      <a:pPr algn="l" indent="0" marL="0">
                        <a:buNone/>
                      </a:pPr>
                      <a:r>
                        <a:rPr lang="en-US" sz="900" b="1" dirty="0">
                          <a:solidFill>
                            <a:srgbClr val="2B2B2B"/>
                          </a:solidFill>
                          <a:latin typeface="Verdana" pitchFamily="34" charset="0"/>
                          <a:ea typeface="Verdana" pitchFamily="34" charset="-122"/>
                          <a:cs typeface="Verdana" pitchFamily="34" charset="-120"/>
                        </a:rPr>
                        <a:t>Facturación</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 2 M€</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 10 M€</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 50 M€</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274320">
                <a:tc>
                  <a:txBody>
                    <a:bodyPr/>
                    <a:lstStyle/>
                    <a:p>
                      <a:pPr algn="l" indent="0" marL="0">
                        <a:buNone/>
                      </a:pPr>
                      <a:r>
                        <a:rPr lang="en-US" sz="900" b="1" dirty="0">
                          <a:solidFill>
                            <a:srgbClr val="2B2B2B"/>
                          </a:solidFill>
                          <a:latin typeface="Verdana" pitchFamily="34" charset="0"/>
                          <a:ea typeface="Verdana" pitchFamily="34" charset="-122"/>
                          <a:cs typeface="Verdana" pitchFamily="34" charset="-120"/>
                        </a:rPr>
                        <a:t>o balance</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 2 M€</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 10 M€</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 43 M€</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bl>
          </a:graphicData>
        </a:graphic>
      </p:graphicFrame>
      <p:sp>
        <p:nvSpPr>
          <p:cNvPr id="18" name="Text 15"/>
          <p:cNvSpPr txBox="1"/>
          <p:nvPr/>
        </p:nvSpPr>
        <p:spPr>
          <a:xfrm>
            <a:off x="6720840" y="3730752"/>
            <a:ext cx="484632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Qué dice el color de la etiqueta</a:t>
            </a:r>
            <a:endParaRPr lang="en-US" sz="1250" dirty="0"/>
          </a:p>
        </p:txBody>
      </p:sp>
      <p:sp>
        <p:nvSpPr>
          <p:cNvPr id="19" name="Shape 16"/>
          <p:cNvSpPr/>
          <p:nvPr/>
        </p:nvSpPr>
        <p:spPr>
          <a:xfrm>
            <a:off x="6720840" y="4096512"/>
            <a:ext cx="502920" cy="292608"/>
          </a:xfrm>
          <a:prstGeom prst="roundRect">
            <a:avLst>
              <a:gd name="adj" fmla="val 18750"/>
            </a:avLst>
          </a:prstGeom>
          <a:solidFill>
            <a:srgbClr val="C7E3F9"/>
          </a:solidFill>
          <a:ln w="12700">
            <a:solidFill>
              <a:srgbClr val="C7E3F9"/>
            </a:solidFill>
            <a:prstDash val="solid"/>
          </a:ln>
        </p:spPr>
      </p:sp>
      <p:sp>
        <p:nvSpPr>
          <p:cNvPr id="20" name="Text 17"/>
          <p:cNvSpPr txBox="1"/>
          <p:nvPr/>
        </p:nvSpPr>
        <p:spPr>
          <a:xfrm>
            <a:off x="7360920" y="4096512"/>
            <a:ext cx="4114800" cy="292608"/>
          </a:xfrm>
          <a:prstGeom prst="rect">
            <a:avLst/>
          </a:prstGeom>
          <a:noFill/>
          <a:ln/>
        </p:spPr>
        <p:txBody>
          <a:bodyPr wrap="square" lIns="0" tIns="0" rIns="0" bIns="0" rtlCol="0" anchor="ctr"/>
          <a:lstStyle/>
          <a:p>
            <a:pPr indent="0" marL="0">
              <a:buNone/>
            </a:pPr>
            <a:r>
              <a:rPr lang="en-US" sz="1000" dirty="0">
                <a:solidFill>
                  <a:srgbClr val="2B2B2B"/>
                </a:solidFill>
                <a:latin typeface="Verdana" pitchFamily="34" charset="0"/>
                <a:ea typeface="Verdana" pitchFamily="34" charset="-122"/>
                <a:cs typeface="Verdana" pitchFamily="34" charset="-120"/>
              </a:rPr>
              <a:t>coincide con la estándar de la UE</a:t>
            </a:r>
            <a:endParaRPr lang="en-US" sz="1000" dirty="0"/>
          </a:p>
        </p:txBody>
      </p:sp>
      <p:sp>
        <p:nvSpPr>
          <p:cNvPr id="21" name="Shape 18"/>
          <p:cNvSpPr/>
          <p:nvPr/>
        </p:nvSpPr>
        <p:spPr>
          <a:xfrm>
            <a:off x="6720840" y="4517136"/>
            <a:ext cx="502920" cy="292608"/>
          </a:xfrm>
          <a:prstGeom prst="roundRect">
            <a:avLst>
              <a:gd name="adj" fmla="val 18750"/>
            </a:avLst>
          </a:prstGeom>
          <a:solidFill>
            <a:srgbClr val="FFD6BA"/>
          </a:solidFill>
          <a:ln w="12700">
            <a:solidFill>
              <a:srgbClr val="FFD6BA"/>
            </a:solidFill>
            <a:prstDash val="solid"/>
          </a:ln>
        </p:spPr>
      </p:sp>
      <p:sp>
        <p:nvSpPr>
          <p:cNvPr id="22" name="Text 19"/>
          <p:cNvSpPr txBox="1"/>
          <p:nvPr/>
        </p:nvSpPr>
        <p:spPr>
          <a:xfrm>
            <a:off x="7360920" y="4517136"/>
            <a:ext cx="4114800" cy="292608"/>
          </a:xfrm>
          <a:prstGeom prst="rect">
            <a:avLst/>
          </a:prstGeom>
          <a:noFill/>
          <a:ln/>
        </p:spPr>
        <p:txBody>
          <a:bodyPr wrap="square" lIns="0" tIns="0" rIns="0" bIns="0" rtlCol="0" anchor="ctr"/>
          <a:lstStyle/>
          <a:p>
            <a:pPr indent="0" marL="0">
              <a:buNone/>
            </a:pPr>
            <a:r>
              <a:rPr lang="en-US" sz="1000" dirty="0">
                <a:solidFill>
                  <a:srgbClr val="2B2B2B"/>
                </a:solidFill>
                <a:latin typeface="Verdana" pitchFamily="34" charset="0"/>
                <a:ea typeface="Verdana" pitchFamily="34" charset="-122"/>
                <a:cs typeface="Verdana" pitchFamily="34" charset="-120"/>
              </a:rPr>
              <a:t>usa uno solo de sus criterios</a:t>
            </a:r>
            <a:endParaRPr lang="en-US" sz="1000" dirty="0"/>
          </a:p>
        </p:txBody>
      </p:sp>
      <p:sp>
        <p:nvSpPr>
          <p:cNvPr id="23" name="Shape 20"/>
          <p:cNvSpPr/>
          <p:nvPr/>
        </p:nvSpPr>
        <p:spPr>
          <a:xfrm>
            <a:off x="6720840" y="4937760"/>
            <a:ext cx="502920" cy="292608"/>
          </a:xfrm>
          <a:prstGeom prst="roundRect">
            <a:avLst>
              <a:gd name="adj" fmla="val 18750"/>
            </a:avLst>
          </a:prstGeom>
          <a:solidFill>
            <a:srgbClr val="FFCCE8"/>
          </a:solidFill>
          <a:ln w="12700">
            <a:solidFill>
              <a:srgbClr val="FFCCE8"/>
            </a:solidFill>
            <a:prstDash val="solid"/>
          </a:ln>
        </p:spPr>
      </p:sp>
      <p:sp>
        <p:nvSpPr>
          <p:cNvPr id="24" name="Text 21"/>
          <p:cNvSpPr txBox="1"/>
          <p:nvPr/>
        </p:nvSpPr>
        <p:spPr>
          <a:xfrm>
            <a:off x="7360920" y="4937760"/>
            <a:ext cx="4114800" cy="292608"/>
          </a:xfrm>
          <a:prstGeom prst="rect">
            <a:avLst/>
          </a:prstGeom>
          <a:noFill/>
          <a:ln/>
        </p:spPr>
        <p:txBody>
          <a:bodyPr wrap="square" lIns="0" tIns="0" rIns="0" bIns="0" rtlCol="0" anchor="ctr"/>
          <a:lstStyle/>
          <a:p>
            <a:pPr indent="0" marL="0">
              <a:buNone/>
            </a:pPr>
            <a:r>
              <a:rPr lang="en-US" sz="1000" dirty="0">
                <a:solidFill>
                  <a:srgbClr val="2B2B2B"/>
                </a:solidFill>
                <a:latin typeface="Verdana" pitchFamily="34" charset="0"/>
                <a:ea typeface="Verdana" pitchFamily="34" charset="-122"/>
                <a:cs typeface="Verdana" pitchFamily="34" charset="-120"/>
              </a:rPr>
              <a:t>usa otra definición, o mide el préstamo</a:t>
            </a:r>
            <a:endParaRPr lang="en-US" sz="1000" dirty="0"/>
          </a:p>
        </p:txBody>
      </p:sp>
      <p:sp>
        <p:nvSpPr>
          <p:cNvPr id="25" name="Shape 22"/>
          <p:cNvSpPr/>
          <p:nvPr/>
        </p:nvSpPr>
        <p:spPr>
          <a:xfrm>
            <a:off x="6720840" y="5358384"/>
            <a:ext cx="502920" cy="292608"/>
          </a:xfrm>
          <a:prstGeom prst="roundRect">
            <a:avLst>
              <a:gd name="adj" fmla="val 18750"/>
            </a:avLst>
          </a:prstGeom>
          <a:solidFill>
            <a:srgbClr val="E5E5E5"/>
          </a:solidFill>
          <a:ln w="12700">
            <a:solidFill>
              <a:srgbClr val="E5E5E5"/>
            </a:solidFill>
            <a:prstDash val="solid"/>
          </a:ln>
        </p:spPr>
      </p:sp>
      <p:sp>
        <p:nvSpPr>
          <p:cNvPr id="26" name="Text 23"/>
          <p:cNvSpPr txBox="1"/>
          <p:nvPr/>
        </p:nvSpPr>
        <p:spPr>
          <a:xfrm>
            <a:off x="7360920" y="5358384"/>
            <a:ext cx="4114800" cy="292608"/>
          </a:xfrm>
          <a:prstGeom prst="rect">
            <a:avLst/>
          </a:prstGeom>
          <a:noFill/>
          <a:ln/>
        </p:spPr>
        <p:txBody>
          <a:bodyPr wrap="square" lIns="0" tIns="0" rIns="0" bIns="0" rtlCol="0" anchor="ctr"/>
          <a:lstStyle/>
          <a:p>
            <a:pPr indent="0" marL="0">
              <a:buNone/>
            </a:pPr>
            <a:r>
              <a:rPr lang="en-US" sz="1000" dirty="0">
                <a:solidFill>
                  <a:srgbClr val="2B2B2B"/>
                </a:solidFill>
                <a:latin typeface="Verdana" pitchFamily="34" charset="0"/>
                <a:ea typeface="Verdana" pitchFamily="34" charset="-122"/>
                <a:cs typeface="Verdana" pitchFamily="34" charset="-120"/>
              </a:rPr>
              <a:t>no distingue tamaño</a:t>
            </a:r>
            <a:endParaRPr lang="en-US" sz="1000" dirty="0"/>
          </a:p>
        </p:txBody>
      </p:sp>
      <p:sp>
        <p:nvSpPr>
          <p:cNvPr id="27" name="Text 24"/>
          <p:cNvSpPr txBox="1"/>
          <p:nvPr/>
        </p:nvSpPr>
        <p:spPr>
          <a:xfrm>
            <a:off x="621792" y="6053328"/>
            <a:ext cx="10945368" cy="475488"/>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Umbrales: Comisión Europea, DG GROW, «SME definition». Definición de cada fuente leída en su normativa o metodología: notas.md del repositorio, apartados 2.77 a 2.81.</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3" name="Text 1"/>
          <p:cNvSpPr txBox="1"/>
          <p:nvPr/>
        </p:nvSpPr>
        <p:spPr>
          <a:xfrm>
            <a:off x="621792" y="6583680"/>
            <a:ext cx="548640" cy="182880"/>
          </a:xfrm>
          <a:prstGeom prst="rect">
            <a:avLst/>
          </a:prstGeom>
          <a:noFill/>
          <a:ln/>
        </p:spPr>
        <p:txBody>
          <a:bodyPr wrap="square" lIns="0" tIns="0" rIns="0" bIns="0" rtlCol="0" anchor="ctr"/>
          <a:lstStyle/>
          <a:p>
            <a:pPr indent="0" marL="0">
              <a:buNone/>
            </a:pPr>
            <a:r>
              <a:rPr lang="en-US" sz="800" dirty="0">
                <a:solidFill>
                  <a:srgbClr val="CACACA"/>
                </a:solidFill>
                <a:latin typeface="Verdana" pitchFamily="34" charset="0"/>
                <a:ea typeface="Verdana" pitchFamily="34" charset="-122"/>
                <a:cs typeface="Verdana" pitchFamily="34" charset="-120"/>
              </a:rPr>
              <a:t>3</a:t>
            </a:r>
            <a:endParaRPr lang="en-US" sz="800" dirty="0"/>
          </a:p>
        </p:txBody>
      </p:sp>
      <p:sp>
        <p:nvSpPr>
          <p:cNvPr id="4" name="Text 2"/>
          <p:cNvSpPr txBox="1"/>
          <p:nvPr/>
        </p:nvSpPr>
        <p:spPr>
          <a:xfrm>
            <a:off x="621792" y="420624"/>
            <a:ext cx="9208008" cy="676656"/>
          </a:xfrm>
          <a:prstGeom prst="rect">
            <a:avLst/>
          </a:prstGeom>
          <a:noFill/>
          <a:ln/>
        </p:spPr>
        <p:txBody>
          <a:bodyPr wrap="square" lIns="0" tIns="0" rIns="0" bIns="0" rtlCol="0" anchor="ctr"/>
          <a:lstStyle/>
          <a:p>
            <a:pPr indent="0" marL="0">
              <a:buNone/>
            </a:pPr>
            <a:r>
              <a:rPr lang="en-US" sz="2200" b="1" dirty="0">
                <a:solidFill>
                  <a:srgbClr val="2B2B2B"/>
                </a:solidFill>
                <a:latin typeface="Verdana" pitchFamily="34" charset="0"/>
                <a:ea typeface="Verdana" pitchFamily="34" charset="-122"/>
                <a:cs typeface="Verdana" pitchFamily="34" charset="-120"/>
              </a:rPr>
              <a:t>Las doce fuentes, y qué llama PYME cada una</a:t>
            </a:r>
            <a:endParaRPr lang="en-US" sz="2200" dirty="0"/>
          </a:p>
        </p:txBody>
      </p:sp>
      <p:sp>
        <p:nvSpPr>
          <p:cNvPr id="5" name="Text 3"/>
          <p:cNvSpPr txBox="1"/>
          <p:nvPr/>
        </p:nvSpPr>
        <p:spPr>
          <a:xfrm>
            <a:off x="621792" y="1060704"/>
            <a:ext cx="10945368" cy="365760"/>
          </a:xfrm>
          <a:prstGeom prst="rect">
            <a:avLst/>
          </a:prstGeom>
          <a:noFill/>
          <a:ln/>
        </p:spPr>
        <p:txBody>
          <a:bodyPr wrap="square" lIns="0" tIns="0" rIns="0" bIns="0" rtlCol="0" anchor="ctr"/>
          <a:lstStyle/>
          <a:p>
            <a:pPr indent="0" marL="0">
              <a:buNone/>
            </a:pPr>
            <a:r>
              <a:rPr lang="en-US" sz="1050" dirty="0">
                <a:solidFill>
                  <a:srgbClr val="818181"/>
                </a:solidFill>
                <a:latin typeface="Verdana" pitchFamily="34" charset="0"/>
                <a:ea typeface="Verdana" pitchFamily="34" charset="-122"/>
                <a:cs typeface="Verdana" pitchFamily="34" charset="-120"/>
              </a:rPr>
              <a:t>Orden de la presentación · Solo dos usan la definición estándar completa</a:t>
            </a:r>
            <a:endParaRPr lang="en-US" sz="10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21792" y="1554480"/>
          <a:ext cx="10945368" cy="914400"/>
        </p:xfrm>
        <a:graphic>
          <a:graphicData uri="http://schemas.openxmlformats.org/drawingml/2006/table">
            <a:tbl>
              <a:tblPr/>
              <a:tblGrid>
                <a:gridCol w="457200"/>
                <a:gridCol w="3063240"/>
                <a:gridCol w="4160520"/>
                <a:gridCol w="3264408"/>
              </a:tblGrid>
              <a:tr h="324612">
                <a:tc>
                  <a:txBody>
                    <a:bodyPr/>
                    <a:lstStyle/>
                    <a:p>
                      <a:pPr algn="l" indent="0" marL="0">
                        <a:buNone/>
                      </a:pPr>
                      <a:r>
                        <a:rPr lang="en-US" sz="900" b="1" dirty="0">
                          <a:solidFill>
                            <a:srgbClr val="FFFFFF"/>
                          </a:solidFill>
                          <a:latin typeface="Verdana" pitchFamily="34" charset="0"/>
                          <a:ea typeface="Verdana" pitchFamily="34" charset="-122"/>
                          <a:cs typeface="Verdana" pitchFamily="34" charset="-120"/>
                        </a:rPr>
                        <a:t>#</a:t>
                      </a:r>
                      <a:endParaRPr lang="en-US" sz="9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2B2B2B"/>
                    </a:solidFill>
                  </a:tcPr>
                </a:tc>
                <a:tc>
                  <a:txBody>
                    <a:bodyPr/>
                    <a:lstStyle/>
                    <a:p>
                      <a:pPr algn="l" indent="0" marL="0">
                        <a:buNone/>
                      </a:pPr>
                      <a:r>
                        <a:rPr lang="en-US" sz="900" b="1" dirty="0">
                          <a:solidFill>
                            <a:srgbClr val="FFFFFF"/>
                          </a:solidFill>
                          <a:latin typeface="Verdana" pitchFamily="34" charset="0"/>
                          <a:ea typeface="Verdana" pitchFamily="34" charset="-122"/>
                          <a:cs typeface="Verdana" pitchFamily="34" charset="-120"/>
                        </a:rPr>
                        <a:t>Fuente</a:t>
                      </a:r>
                      <a:endParaRPr lang="en-US" sz="9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2B2B2B"/>
                    </a:solidFill>
                  </a:tcPr>
                </a:tc>
                <a:tc>
                  <a:txBody>
                    <a:bodyPr/>
                    <a:lstStyle/>
                    <a:p>
                      <a:pPr algn="l" indent="0" marL="0">
                        <a:buNone/>
                      </a:pPr>
                      <a:r>
                        <a:rPr lang="en-US" sz="900" b="1" dirty="0">
                          <a:solidFill>
                            <a:srgbClr val="FFFFFF"/>
                          </a:solidFill>
                          <a:latin typeface="Verdana" pitchFamily="34" charset="0"/>
                          <a:ea typeface="Verdana" pitchFamily="34" charset="-122"/>
                          <a:cs typeface="Verdana" pitchFamily="34" charset="-120"/>
                        </a:rPr>
                        <a:t>Qué hemos obtenido</a:t>
                      </a:r>
                      <a:endParaRPr lang="en-US" sz="9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2B2B2B"/>
                    </a:solidFill>
                  </a:tcPr>
                </a:tc>
                <a:tc>
                  <a:txBody>
                    <a:bodyPr/>
                    <a:lstStyle/>
                    <a:p>
                      <a:pPr algn="l" indent="0" marL="0">
                        <a:buNone/>
                      </a:pPr>
                      <a:r>
                        <a:rPr lang="en-US" sz="900" b="1" dirty="0">
                          <a:solidFill>
                            <a:srgbClr val="FFFFFF"/>
                          </a:solidFill>
                          <a:latin typeface="Verdana" pitchFamily="34" charset="0"/>
                          <a:ea typeface="Verdana" pitchFamily="34" charset="-122"/>
                          <a:cs typeface="Verdana" pitchFamily="34" charset="-120"/>
                        </a:rPr>
                        <a:t>Qué llama PYME</a:t>
                      </a:r>
                      <a:endParaRPr lang="en-US" sz="9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2B2B2B"/>
                    </a:solidFill>
                  </a:tcPr>
                </a:tc>
              </a:tr>
              <a:tr h="324612">
                <a:tc>
                  <a:txBody>
                    <a:bodyPr/>
                    <a:lstStyle/>
                    <a:p>
                      <a:pPr algn="ctr" indent="0" marL="0">
                        <a:buNone/>
                      </a:pPr>
                      <a:r>
                        <a:rPr lang="en-US" sz="900" b="1" dirty="0">
                          <a:solidFill>
                            <a:srgbClr val="F56600"/>
                          </a:solidFill>
                          <a:latin typeface="Verdana" pitchFamily="34" charset="0"/>
                          <a:ea typeface="Verdana" pitchFamily="34" charset="-122"/>
                          <a:cs typeface="Verdana" pitchFamily="34" charset="-120"/>
                        </a:rPr>
                        <a:t>1</a:t>
                      </a:r>
                      <a:endParaRPr lang="en-US" sz="9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900" b="1" dirty="0">
                          <a:solidFill>
                            <a:srgbClr val="2B2B2B"/>
                          </a:solidFill>
                          <a:latin typeface="Verdana" pitchFamily="34" charset="0"/>
                          <a:ea typeface="Verdana" pitchFamily="34" charset="-122"/>
                          <a:cs typeface="Verdana" pitchFamily="34" charset="-120"/>
                        </a:rPr>
                        <a:t>BCE · MIR y BSI</a:t>
                      </a:r>
                      <a:endParaRPr lang="en-US" sz="9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50" dirty="0">
                          <a:solidFill>
                            <a:srgbClr val="2B2B2B"/>
                          </a:solidFill>
                          <a:latin typeface="Verdana" pitchFamily="34" charset="0"/>
                          <a:ea typeface="Verdana" pitchFamily="34" charset="-122"/>
                          <a:cs typeface="Verdana" pitchFamily="34" charset="-120"/>
                        </a:rPr>
                        <a:t>Precio del crédito y coste de los depósitos</a:t>
                      </a:r>
                      <a:endParaRPr lang="en-US" sz="85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b="1" dirty="0">
                          <a:solidFill>
                            <a:srgbClr val="2B2B2B"/>
                          </a:solidFill>
                          <a:latin typeface="Verdana" pitchFamily="34" charset="0"/>
                          <a:ea typeface="Verdana" pitchFamily="34" charset="-122"/>
                          <a:cs typeface="Verdana" pitchFamily="34" charset="-120"/>
                        </a:rPr>
                        <a:t>PROXY · importe del préstamo, no la empresa</a:t>
                      </a:r>
                      <a:endParaRPr lang="en-US" sz="8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CCE8"/>
                    </a:solidFill>
                  </a:tcPr>
                </a:tc>
              </a:tr>
              <a:tr h="324612">
                <a:tc>
                  <a:txBody>
                    <a:bodyPr/>
                    <a:lstStyle/>
                    <a:p>
                      <a:pPr algn="ctr" indent="0" marL="0">
                        <a:buNone/>
                      </a:pPr>
                      <a:r>
                        <a:rPr lang="en-US" sz="900" b="1" dirty="0">
                          <a:solidFill>
                            <a:srgbClr val="F56600"/>
                          </a:solidFill>
                          <a:latin typeface="Verdana" pitchFamily="34" charset="0"/>
                          <a:ea typeface="Verdana" pitchFamily="34" charset="-122"/>
                          <a:cs typeface="Verdana" pitchFamily="34" charset="-120"/>
                        </a:rPr>
                        <a:t>2</a:t>
                      </a:r>
                      <a:endParaRPr lang="en-US" sz="9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900" b="1" dirty="0">
                          <a:solidFill>
                            <a:srgbClr val="2B2B2B"/>
                          </a:solidFill>
                          <a:latin typeface="Verdana" pitchFamily="34" charset="0"/>
                          <a:ea typeface="Verdana" pitchFamily="34" charset="-122"/>
                          <a:cs typeface="Verdana" pitchFamily="34" charset="-120"/>
                        </a:rPr>
                        <a:t>BCE · SAFE</a:t>
                      </a:r>
                      <a:endParaRPr lang="en-US" sz="9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50" dirty="0">
                          <a:solidFill>
                            <a:srgbClr val="2B2B2B"/>
                          </a:solidFill>
                          <a:latin typeface="Verdana" pitchFamily="34" charset="0"/>
                          <a:ea typeface="Verdana" pitchFamily="34" charset="-122"/>
                          <a:cs typeface="Verdana" pitchFamily="34" charset="-120"/>
                        </a:rPr>
                        <a:t>Rechazo, resultado de la solicitud, brecha de financiación</a:t>
                      </a:r>
                      <a:endParaRPr lang="en-US" sz="85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b="1" dirty="0">
                          <a:solidFill>
                            <a:srgbClr val="2B2B2B"/>
                          </a:solidFill>
                          <a:latin typeface="Verdana" pitchFamily="34" charset="0"/>
                          <a:ea typeface="Verdana" pitchFamily="34" charset="-122"/>
                          <a:cs typeface="Verdana" pitchFamily="34" charset="-120"/>
                        </a:rPr>
                        <a:t>PYME · menos de 250 empleados</a:t>
                      </a:r>
                      <a:endParaRPr lang="en-US" sz="8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r>
              <a:tr h="324612">
                <a:tc>
                  <a:txBody>
                    <a:bodyPr/>
                    <a:lstStyle/>
                    <a:p>
                      <a:pPr algn="ctr" indent="0" marL="0">
                        <a:buNone/>
                      </a:pPr>
                      <a:r>
                        <a:rPr lang="en-US" sz="900" b="1" dirty="0">
                          <a:solidFill>
                            <a:srgbClr val="F56600"/>
                          </a:solidFill>
                          <a:latin typeface="Verdana" pitchFamily="34" charset="0"/>
                          <a:ea typeface="Verdana" pitchFamily="34" charset="-122"/>
                          <a:cs typeface="Verdana" pitchFamily="34" charset="-120"/>
                        </a:rPr>
                        <a:t>3</a:t>
                      </a:r>
                      <a:endParaRPr lang="en-US" sz="9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900" b="1" dirty="0">
                          <a:solidFill>
                            <a:srgbClr val="2B2B2B"/>
                          </a:solidFill>
                          <a:latin typeface="Verdana" pitchFamily="34" charset="0"/>
                          <a:ea typeface="Verdana" pitchFamily="34" charset="-122"/>
                          <a:cs typeface="Verdana" pitchFamily="34" charset="-120"/>
                        </a:rPr>
                        <a:t>EBA · Risk Dashboard</a:t>
                      </a:r>
                      <a:endParaRPr lang="en-US" sz="9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50" dirty="0">
                          <a:solidFill>
                            <a:srgbClr val="2B2B2B"/>
                          </a:solidFill>
                          <a:latin typeface="Verdana" pitchFamily="34" charset="0"/>
                          <a:ea typeface="Verdana" pitchFamily="34" charset="-122"/>
                          <a:cs typeface="Verdana" pitchFamily="34" charset="-120"/>
                        </a:rPr>
                        <a:t>Tamaño del crédito PYME y mora por segmento</a:t>
                      </a:r>
                      <a:endParaRPr lang="en-US" sz="85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b="1" dirty="0">
                          <a:solidFill>
                            <a:srgbClr val="2B2B2B"/>
                          </a:solidFill>
                          <a:latin typeface="Verdana" pitchFamily="34" charset="0"/>
                          <a:ea typeface="Verdana" pitchFamily="34" charset="-122"/>
                          <a:cs typeface="Verdana" pitchFamily="34" charset="-120"/>
                        </a:rPr>
                        <a:t>PYME · Recomendación 2003/361/CE completa</a:t>
                      </a:r>
                      <a:endParaRPr lang="en-US" sz="8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C7E3F9"/>
                    </a:solidFill>
                  </a:tcPr>
                </a:tc>
              </a:tr>
              <a:tr h="324612">
                <a:tc>
                  <a:txBody>
                    <a:bodyPr/>
                    <a:lstStyle/>
                    <a:p>
                      <a:pPr algn="ctr" indent="0" marL="0">
                        <a:buNone/>
                      </a:pPr>
                      <a:r>
                        <a:rPr lang="en-US" sz="900" b="1" dirty="0">
                          <a:solidFill>
                            <a:srgbClr val="F56600"/>
                          </a:solidFill>
                          <a:latin typeface="Verdana" pitchFamily="34" charset="0"/>
                          <a:ea typeface="Verdana" pitchFamily="34" charset="-122"/>
                          <a:cs typeface="Verdana" pitchFamily="34" charset="-120"/>
                        </a:rPr>
                        <a:t>4</a:t>
                      </a:r>
                      <a:endParaRPr lang="en-US" sz="9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900" b="1" dirty="0">
                          <a:solidFill>
                            <a:srgbClr val="2B2B2B"/>
                          </a:solidFill>
                          <a:latin typeface="Verdana" pitchFamily="34" charset="0"/>
                          <a:ea typeface="Verdana" pitchFamily="34" charset="-122"/>
                          <a:cs typeface="Verdana" pitchFamily="34" charset="-120"/>
                        </a:rPr>
                        <a:t>EBA · COREP, parámetros IRB</a:t>
                      </a:r>
                      <a:endParaRPr lang="en-US" sz="9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50" dirty="0">
                          <a:solidFill>
                            <a:srgbClr val="2B2B2B"/>
                          </a:solidFill>
                          <a:latin typeface="Verdana" pitchFamily="34" charset="0"/>
                          <a:ea typeface="Verdana" pitchFamily="34" charset="-122"/>
                          <a:cs typeface="Verdana" pitchFamily="34" charset="-120"/>
                        </a:rPr>
                        <a:t>Probabilidad de impago y severidad de la PYME</a:t>
                      </a:r>
                      <a:endParaRPr lang="en-US" sz="85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b="1" dirty="0">
                          <a:solidFill>
                            <a:srgbClr val="2B2B2B"/>
                          </a:solidFill>
                          <a:latin typeface="Verdana" pitchFamily="34" charset="0"/>
                          <a:ea typeface="Verdana" pitchFamily="34" charset="-122"/>
                          <a:cs typeface="Verdana" pitchFamily="34" charset="-120"/>
                        </a:rPr>
                        <a:t>PYME · definición interna de cada banco</a:t>
                      </a:r>
                      <a:endParaRPr lang="en-US" sz="8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CCE8"/>
                    </a:solidFill>
                  </a:tcPr>
                </a:tc>
              </a:tr>
              <a:tr h="324612">
                <a:tc>
                  <a:txBody>
                    <a:bodyPr/>
                    <a:lstStyle/>
                    <a:p>
                      <a:pPr algn="ctr" indent="0" marL="0">
                        <a:buNone/>
                      </a:pPr>
                      <a:r>
                        <a:rPr lang="en-US" sz="900" b="1" dirty="0">
                          <a:solidFill>
                            <a:srgbClr val="F56600"/>
                          </a:solidFill>
                          <a:latin typeface="Verdana" pitchFamily="34" charset="0"/>
                          <a:ea typeface="Verdana" pitchFamily="34" charset="-122"/>
                          <a:cs typeface="Verdana" pitchFamily="34" charset="-120"/>
                        </a:rPr>
                        <a:t>5</a:t>
                      </a:r>
                      <a:endParaRPr lang="en-US" sz="9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900" b="1" dirty="0">
                          <a:solidFill>
                            <a:srgbClr val="2B2B2B"/>
                          </a:solidFill>
                          <a:latin typeface="Verdana" pitchFamily="34" charset="0"/>
                          <a:ea typeface="Verdana" pitchFamily="34" charset="-122"/>
                          <a:cs typeface="Verdana" pitchFamily="34" charset="-120"/>
                        </a:rPr>
                        <a:t>EBA · Transparency Exercise</a:t>
                      </a:r>
                      <a:endParaRPr lang="en-US" sz="9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50" dirty="0">
                          <a:solidFill>
                            <a:srgbClr val="2B2B2B"/>
                          </a:solidFill>
                          <a:latin typeface="Verdana" pitchFamily="34" charset="0"/>
                          <a:ea typeface="Verdana" pitchFamily="34" charset="-122"/>
                          <a:cs typeface="Verdana" pitchFamily="34" charset="-120"/>
                        </a:rPr>
                        <a:t>Densidad de RWA de la PYME; cartera de 5 bancos españoles</a:t>
                      </a:r>
                      <a:endParaRPr lang="en-US" sz="85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b="1" dirty="0">
                          <a:solidFill>
                            <a:srgbClr val="2B2B2B"/>
                          </a:solidFill>
                          <a:latin typeface="Verdana" pitchFamily="34" charset="0"/>
                          <a:ea typeface="Verdana" pitchFamily="34" charset="-122"/>
                          <a:cs typeface="Verdana" pitchFamily="34" charset="-120"/>
                        </a:rPr>
                        <a:t>PYME · estándar por facturación, IRB interna</a:t>
                      </a:r>
                      <a:endParaRPr lang="en-US" sz="8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CCE8"/>
                    </a:solidFill>
                  </a:tcPr>
                </a:tc>
              </a:tr>
              <a:tr h="324612">
                <a:tc>
                  <a:txBody>
                    <a:bodyPr/>
                    <a:lstStyle/>
                    <a:p>
                      <a:pPr algn="ctr" indent="0" marL="0">
                        <a:buNone/>
                      </a:pPr>
                      <a:r>
                        <a:rPr lang="en-US" sz="900" b="1" dirty="0">
                          <a:solidFill>
                            <a:srgbClr val="F56600"/>
                          </a:solidFill>
                          <a:latin typeface="Verdana" pitchFamily="34" charset="0"/>
                          <a:ea typeface="Verdana" pitchFamily="34" charset="-122"/>
                          <a:cs typeface="Verdana" pitchFamily="34" charset="-120"/>
                        </a:rPr>
                        <a:t>6</a:t>
                      </a:r>
                      <a:endParaRPr lang="en-US" sz="9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900" b="1" dirty="0">
                          <a:solidFill>
                            <a:srgbClr val="2B2B2B"/>
                          </a:solidFill>
                          <a:latin typeface="Verdana" pitchFamily="34" charset="0"/>
                          <a:ea typeface="Verdana" pitchFamily="34" charset="-122"/>
                          <a:cs typeface="Verdana" pitchFamily="34" charset="-120"/>
                        </a:rPr>
                        <a:t>OCDE · Scoreboard</a:t>
                      </a:r>
                      <a:endParaRPr lang="en-US" sz="9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50" dirty="0">
                          <a:solidFill>
                            <a:srgbClr val="2B2B2B"/>
                          </a:solidFill>
                          <a:latin typeface="Verdana" pitchFamily="34" charset="0"/>
                          <a:ea typeface="Verdana" pitchFamily="34" charset="-122"/>
                          <a:cs typeface="Verdana" pitchFamily="34" charset="-120"/>
                        </a:rPr>
                        <a:t>Spread PYME frente a gran empresa, 2011–2022</a:t>
                      </a:r>
                      <a:endParaRPr lang="en-US" sz="85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b="1" dirty="0">
                          <a:solidFill>
                            <a:srgbClr val="2B2B2B"/>
                          </a:solidFill>
                          <a:latin typeface="Verdana" pitchFamily="34" charset="0"/>
                          <a:ea typeface="Verdana" pitchFamily="34" charset="-122"/>
                          <a:cs typeface="Verdana" pitchFamily="34" charset="-120"/>
                        </a:rPr>
                        <a:t>PYME · definición nacional de cada país</a:t>
                      </a:r>
                      <a:endParaRPr lang="en-US" sz="8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CCE8"/>
                    </a:solidFill>
                  </a:tcPr>
                </a:tc>
              </a:tr>
              <a:tr h="324612">
                <a:tc>
                  <a:txBody>
                    <a:bodyPr/>
                    <a:lstStyle/>
                    <a:p>
                      <a:pPr algn="ctr" indent="0" marL="0">
                        <a:buNone/>
                      </a:pPr>
                      <a:r>
                        <a:rPr lang="en-US" sz="900" b="1" dirty="0">
                          <a:solidFill>
                            <a:srgbClr val="F56600"/>
                          </a:solidFill>
                          <a:latin typeface="Verdana" pitchFamily="34" charset="0"/>
                          <a:ea typeface="Verdana" pitchFamily="34" charset="-122"/>
                          <a:cs typeface="Verdana" pitchFamily="34" charset="-120"/>
                        </a:rPr>
                        <a:t>7</a:t>
                      </a:r>
                      <a:endParaRPr lang="en-US" sz="9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900" b="1" dirty="0">
                          <a:solidFill>
                            <a:srgbClr val="2B2B2B"/>
                          </a:solidFill>
                          <a:latin typeface="Verdana" pitchFamily="34" charset="0"/>
                          <a:ea typeface="Verdana" pitchFamily="34" charset="-122"/>
                          <a:cs typeface="Verdana" pitchFamily="34" charset="-120"/>
                        </a:rPr>
                        <a:t>Banco de España · Boletín</a:t>
                      </a:r>
                      <a:endParaRPr lang="en-US" sz="9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50" dirty="0">
                          <a:solidFill>
                            <a:srgbClr val="2B2B2B"/>
                          </a:solidFill>
                          <a:latin typeface="Verdana" pitchFamily="34" charset="0"/>
                          <a:ea typeface="Verdana" pitchFamily="34" charset="-122"/>
                          <a:cs typeface="Verdana" pitchFamily="34" charset="-120"/>
                        </a:rPr>
                        <a:t>Precio con y sin comisiones por tramo; autónomos</a:t>
                      </a:r>
                      <a:endParaRPr lang="en-US" sz="85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b="1" dirty="0">
                          <a:solidFill>
                            <a:srgbClr val="2B2B2B"/>
                          </a:solidFill>
                          <a:latin typeface="Verdana" pitchFamily="34" charset="0"/>
                          <a:ea typeface="Verdana" pitchFamily="34" charset="-122"/>
                          <a:cs typeface="Verdana" pitchFamily="34" charset="-120"/>
                        </a:rPr>
                        <a:t>PROXY · importe del préstamo, no la empresa</a:t>
                      </a:r>
                      <a:endParaRPr lang="en-US" sz="8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CCE8"/>
                    </a:solidFill>
                  </a:tcPr>
                </a:tc>
              </a:tr>
              <a:tr h="324612">
                <a:tc>
                  <a:txBody>
                    <a:bodyPr/>
                    <a:lstStyle/>
                    <a:p>
                      <a:pPr algn="ctr" indent="0" marL="0">
                        <a:buNone/>
                      </a:pPr>
                      <a:r>
                        <a:rPr lang="en-US" sz="900" b="1" dirty="0">
                          <a:solidFill>
                            <a:srgbClr val="F56600"/>
                          </a:solidFill>
                          <a:latin typeface="Verdana" pitchFamily="34" charset="0"/>
                          <a:ea typeface="Verdana" pitchFamily="34" charset="-122"/>
                          <a:cs typeface="Verdana" pitchFamily="34" charset="-120"/>
                        </a:rPr>
                        <a:t>8</a:t>
                      </a:r>
                      <a:endParaRPr lang="en-US" sz="9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900" b="1" dirty="0">
                          <a:solidFill>
                            <a:srgbClr val="2B2B2B"/>
                          </a:solidFill>
                          <a:latin typeface="Verdana" pitchFamily="34" charset="0"/>
                          <a:ea typeface="Verdana" pitchFamily="34" charset="-122"/>
                          <a:cs typeface="Verdana" pitchFamily="34" charset="-120"/>
                        </a:rPr>
                        <a:t>Banco de España · Central de Balances</a:t>
                      </a:r>
                      <a:endParaRPr lang="en-US" sz="9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50" dirty="0">
                          <a:solidFill>
                            <a:srgbClr val="2B2B2B"/>
                          </a:solidFill>
                          <a:latin typeface="Verdana" pitchFamily="34" charset="0"/>
                          <a:ea typeface="Verdana" pitchFamily="34" charset="-122"/>
                          <a:cs typeface="Verdana" pitchFamily="34" charset="-120"/>
                        </a:rPr>
                        <a:t>Rentabilidad y coste de la deuda por tamaño de empresa</a:t>
                      </a:r>
                      <a:endParaRPr lang="en-US" sz="85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b="1" dirty="0">
                          <a:solidFill>
                            <a:srgbClr val="2B2B2B"/>
                          </a:solidFill>
                          <a:latin typeface="Verdana" pitchFamily="34" charset="0"/>
                          <a:ea typeface="Verdana" pitchFamily="34" charset="-122"/>
                          <a:cs typeface="Verdana" pitchFamily="34" charset="-120"/>
                        </a:rPr>
                        <a:t>PYME · Recomendación 2003/361/CE completa</a:t>
                      </a:r>
                      <a:endParaRPr lang="en-US" sz="8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C7E3F9"/>
                    </a:solidFill>
                  </a:tcPr>
                </a:tc>
              </a:tr>
              <a:tr h="324612">
                <a:tc>
                  <a:txBody>
                    <a:bodyPr/>
                    <a:lstStyle/>
                    <a:p>
                      <a:pPr algn="ctr" indent="0" marL="0">
                        <a:buNone/>
                      </a:pPr>
                      <a:r>
                        <a:rPr lang="en-US" sz="900" b="1" dirty="0">
                          <a:solidFill>
                            <a:srgbClr val="F56600"/>
                          </a:solidFill>
                          <a:latin typeface="Verdana" pitchFamily="34" charset="0"/>
                          <a:ea typeface="Verdana" pitchFamily="34" charset="-122"/>
                          <a:cs typeface="Verdana" pitchFamily="34" charset="-120"/>
                        </a:rPr>
                        <a:t>9</a:t>
                      </a:r>
                      <a:endParaRPr lang="en-US" sz="9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900" b="1" dirty="0">
                          <a:solidFill>
                            <a:srgbClr val="2B2B2B"/>
                          </a:solidFill>
                          <a:latin typeface="Verdana" pitchFamily="34" charset="0"/>
                          <a:ea typeface="Verdana" pitchFamily="34" charset="-122"/>
                          <a:cs typeface="Verdana" pitchFamily="34" charset="-120"/>
                        </a:rPr>
                        <a:t>CESGAR</a:t>
                      </a:r>
                      <a:endParaRPr lang="en-US" sz="9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50" dirty="0">
                          <a:solidFill>
                            <a:srgbClr val="2B2B2B"/>
                          </a:solidFill>
                          <a:latin typeface="Verdana" pitchFamily="34" charset="0"/>
                          <a:ea typeface="Verdana" pitchFamily="34" charset="-122"/>
                          <a:cs typeface="Verdana" pitchFamily="34" charset="-120"/>
                        </a:rPr>
                        <a:t>Demanda, destino y obstáculos de la financiación</a:t>
                      </a:r>
                      <a:endParaRPr lang="en-US" sz="85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b="1" dirty="0">
                          <a:solidFill>
                            <a:srgbClr val="2B2B2B"/>
                          </a:solidFill>
                          <a:latin typeface="Verdana" pitchFamily="34" charset="0"/>
                          <a:ea typeface="Verdana" pitchFamily="34" charset="-122"/>
                          <a:cs typeface="Verdana" pitchFamily="34" charset="-120"/>
                        </a:rPr>
                        <a:t>PYME · &lt;250 empleados, con autónomos</a:t>
                      </a:r>
                      <a:endParaRPr lang="en-US" sz="8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D6BA"/>
                    </a:solidFill>
                  </a:tcPr>
                </a:tc>
              </a:tr>
              <a:tr h="324612">
                <a:tc>
                  <a:txBody>
                    <a:bodyPr/>
                    <a:lstStyle/>
                    <a:p>
                      <a:pPr algn="ctr" indent="0" marL="0">
                        <a:buNone/>
                      </a:pPr>
                      <a:r>
                        <a:rPr lang="en-US" sz="900" b="1" dirty="0">
                          <a:solidFill>
                            <a:srgbClr val="F56600"/>
                          </a:solidFill>
                          <a:latin typeface="Verdana" pitchFamily="34" charset="0"/>
                          <a:ea typeface="Verdana" pitchFamily="34" charset="-122"/>
                          <a:cs typeface="Verdana" pitchFamily="34" charset="-120"/>
                        </a:rPr>
                        <a:t>10</a:t>
                      </a:r>
                      <a:endParaRPr lang="en-US" sz="9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900" b="1" dirty="0">
                          <a:solidFill>
                            <a:srgbClr val="2B2B2B"/>
                          </a:solidFill>
                          <a:latin typeface="Verdana" pitchFamily="34" charset="0"/>
                          <a:ea typeface="Verdana" pitchFamily="34" charset="-122"/>
                          <a:cs typeface="Verdana" pitchFamily="34" charset="-120"/>
                        </a:rPr>
                        <a:t>EUF, AEF y Assifact</a:t>
                      </a:r>
                      <a:endParaRPr lang="en-US" sz="9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50" dirty="0">
                          <a:solidFill>
                            <a:srgbClr val="2B2B2B"/>
                          </a:solidFill>
                          <a:latin typeface="Verdana" pitchFamily="34" charset="0"/>
                          <a:ea typeface="Verdana" pitchFamily="34" charset="-122"/>
                          <a:cs typeface="Verdana" pitchFamily="34" charset="-120"/>
                        </a:rPr>
                        <a:t>Volumen de factoring y confirming</a:t>
                      </a:r>
                      <a:endParaRPr lang="en-US" sz="85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b="1" dirty="0">
                          <a:solidFill>
                            <a:srgbClr val="2B2B2B"/>
                          </a:solidFill>
                          <a:latin typeface="Verdana" pitchFamily="34" charset="0"/>
                          <a:ea typeface="Verdana" pitchFamily="34" charset="-122"/>
                          <a:cs typeface="Verdana" pitchFamily="34" charset="-120"/>
                        </a:rPr>
                        <a:t>SIN SEGMENTO · todas las empresas</a:t>
                      </a:r>
                      <a:endParaRPr lang="en-US" sz="8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r>
              <a:tr h="324612">
                <a:tc>
                  <a:txBody>
                    <a:bodyPr/>
                    <a:lstStyle/>
                    <a:p>
                      <a:pPr algn="ctr" indent="0" marL="0">
                        <a:buNone/>
                      </a:pPr>
                      <a:r>
                        <a:rPr lang="en-US" sz="900" b="1" dirty="0">
                          <a:solidFill>
                            <a:srgbClr val="F56600"/>
                          </a:solidFill>
                          <a:latin typeface="Verdana" pitchFamily="34" charset="0"/>
                          <a:ea typeface="Verdana" pitchFamily="34" charset="-122"/>
                          <a:cs typeface="Verdana" pitchFamily="34" charset="-120"/>
                        </a:rPr>
                        <a:t>11</a:t>
                      </a:r>
                      <a:endParaRPr lang="en-US" sz="9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900" b="1" dirty="0">
                          <a:solidFill>
                            <a:srgbClr val="2B2B2B"/>
                          </a:solidFill>
                          <a:latin typeface="Verdana" pitchFamily="34" charset="0"/>
                          <a:ea typeface="Verdana" pitchFamily="34" charset="-122"/>
                          <a:cs typeface="Verdana" pitchFamily="34" charset="-120"/>
                        </a:rPr>
                        <a:t>Banco Mundial · Doing Business</a:t>
                      </a:r>
                      <a:endParaRPr lang="en-US" sz="9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50" dirty="0">
                          <a:solidFill>
                            <a:srgbClr val="2B2B2B"/>
                          </a:solidFill>
                          <a:latin typeface="Verdana" pitchFamily="34" charset="0"/>
                          <a:ea typeface="Verdana" pitchFamily="34" charset="-122"/>
                          <a:cs typeface="Verdana" pitchFamily="34" charset="-120"/>
                        </a:rPr>
                        <a:t>Información crediticia y recuperación en concurso</a:t>
                      </a:r>
                      <a:endParaRPr lang="en-US" sz="85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b="1" dirty="0">
                          <a:solidFill>
                            <a:srgbClr val="2B2B2B"/>
                          </a:solidFill>
                          <a:latin typeface="Verdana" pitchFamily="34" charset="0"/>
                          <a:ea typeface="Verdana" pitchFamily="34" charset="-122"/>
                          <a:cs typeface="Verdana" pitchFamily="34" charset="-120"/>
                        </a:rPr>
                        <a:t>CONTEXTO · marco del país, no de la PYME</a:t>
                      </a:r>
                      <a:endParaRPr lang="en-US" sz="8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E5E5E5"/>
                    </a:solidFill>
                  </a:tcPr>
                </a:tc>
              </a:tr>
              <a:tr h="324612">
                <a:tc>
                  <a:txBody>
                    <a:bodyPr/>
                    <a:lstStyle/>
                    <a:p>
                      <a:pPr algn="ctr" indent="0" marL="0">
                        <a:buNone/>
                      </a:pPr>
                      <a:r>
                        <a:rPr lang="en-US" sz="900" b="1" dirty="0">
                          <a:solidFill>
                            <a:srgbClr val="F56600"/>
                          </a:solidFill>
                          <a:latin typeface="Verdana" pitchFamily="34" charset="0"/>
                          <a:ea typeface="Verdana" pitchFamily="34" charset="-122"/>
                          <a:cs typeface="Verdana" pitchFamily="34" charset="-120"/>
                        </a:rPr>
                        <a:t>12</a:t>
                      </a:r>
                      <a:endParaRPr lang="en-US" sz="9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900" b="1" dirty="0">
                          <a:solidFill>
                            <a:srgbClr val="2B2B2B"/>
                          </a:solidFill>
                          <a:latin typeface="Verdana" pitchFamily="34" charset="0"/>
                          <a:ea typeface="Verdana" pitchFamily="34" charset="-122"/>
                          <a:cs typeface="Verdana" pitchFamily="34" charset="-120"/>
                        </a:rPr>
                        <a:t>Informes de resultados de bancos</a:t>
                      </a:r>
                      <a:endParaRPr lang="en-US" sz="9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50" dirty="0">
                          <a:solidFill>
                            <a:srgbClr val="2B2B2B"/>
                          </a:solidFill>
                          <a:latin typeface="Verdana" pitchFamily="34" charset="0"/>
                          <a:ea typeface="Verdana" pitchFamily="34" charset="-122"/>
                          <a:cs typeface="Verdana" pitchFamily="34" charset="-120"/>
                        </a:rPr>
                        <a:t>Cuentas de los segmentos de empresas</a:t>
                      </a:r>
                      <a:endParaRPr lang="en-US" sz="85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tcPr>
                </a:tc>
                <a:tc>
                  <a:txBody>
                    <a:bodyPr/>
                    <a:lstStyle/>
                    <a:p>
                      <a:pPr algn="l" indent="0" marL="0">
                        <a:buNone/>
                      </a:pPr>
                      <a:r>
                        <a:rPr lang="en-US" sz="800" b="1" dirty="0">
                          <a:solidFill>
                            <a:srgbClr val="2B2B2B"/>
                          </a:solidFill>
                          <a:latin typeface="Verdana" pitchFamily="34" charset="0"/>
                          <a:ea typeface="Verdana" pitchFamily="34" charset="-122"/>
                          <a:cs typeface="Verdana" pitchFamily="34" charset="-120"/>
                        </a:rPr>
                        <a:t>PROXY · segmento de gestión del banco</a:t>
                      </a:r>
                      <a:endParaRPr lang="en-US" sz="800" dirty="0">
                        <a:latin typeface="Verdana" charset="0"/>
                        <a:ea typeface="Verdana" charset="0"/>
                        <a:cs typeface="Verdana" charset="0"/>
                      </a:endParaRPr>
                    </a:p>
                  </a:txBody>
                  <a:tcPr marL="63500" marR="635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CCE8"/>
                    </a:solidFill>
                  </a:tcPr>
                </a:tc>
              </a:tr>
            </a:tbl>
          </a:graphicData>
        </a:graphic>
      </p:graphicFrame>
      <p:sp>
        <p:nvSpPr>
          <p:cNvPr id="7" name="Text 4"/>
          <p:cNvSpPr txBox="1"/>
          <p:nvPr/>
        </p:nvSpPr>
        <p:spPr>
          <a:xfrm>
            <a:off x="621792" y="6053328"/>
            <a:ext cx="10945368" cy="475488"/>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Estándar completa: mora de PYME (FINREP) y Central de Balances. Un solo criterio: SAFE y CESGAR (empleados), capital por método estándar (facturación). El resto usa otra definición, mide el préstamo o no distingue tamaño.</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F56600"/>
          </a:solidFill>
          <a:ln w="12700">
            <a:solidFill>
              <a:srgbClr val="F56600"/>
            </a:solidFill>
            <a:prstDash val="solid"/>
          </a:ln>
        </p:spPr>
      </p:sp>
      <p:sp>
        <p:nvSpPr>
          <p:cNvPr id="3" name="Text 1"/>
          <p:cNvSpPr txBox="1"/>
          <p:nvPr/>
        </p:nvSpPr>
        <p:spPr>
          <a:xfrm>
            <a:off x="621792" y="868680"/>
            <a:ext cx="3200400" cy="292608"/>
          </a:xfrm>
          <a:prstGeom prst="rect">
            <a:avLst/>
          </a:prstGeom>
          <a:noFill/>
          <a:ln/>
        </p:spPr>
        <p:txBody>
          <a:bodyPr wrap="square" lIns="0" tIns="0" rIns="0" bIns="0" rtlCol="0" anchor="ctr"/>
          <a:lstStyle/>
          <a:p>
            <a:pPr indent="0" marL="0">
              <a:buNone/>
            </a:pPr>
            <a:r>
              <a:rPr lang="en-US" sz="1100" b="1" spc="200" kern="0" dirty="0">
                <a:solidFill>
                  <a:srgbClr val="FFFFFF"/>
                </a:solidFill>
                <a:latin typeface="Verdana" pitchFamily="34" charset="0"/>
                <a:ea typeface="Verdana" pitchFamily="34" charset="-122"/>
                <a:cs typeface="Verdana" pitchFamily="34" charset="-120"/>
              </a:rPr>
              <a:t>FUENTE 1</a:t>
            </a:r>
            <a:endParaRPr lang="en-US" sz="1100" dirty="0"/>
          </a:p>
        </p:txBody>
      </p:sp>
      <p:sp>
        <p:nvSpPr>
          <p:cNvPr id="4" name="Text 2"/>
          <p:cNvSpPr txBox="1"/>
          <p:nvPr/>
        </p:nvSpPr>
        <p:spPr>
          <a:xfrm>
            <a:off x="621792" y="1234440"/>
            <a:ext cx="3291840" cy="1417320"/>
          </a:xfrm>
          <a:prstGeom prst="rect">
            <a:avLst/>
          </a:prstGeom>
          <a:noFill/>
          <a:ln/>
        </p:spPr>
        <p:txBody>
          <a:bodyPr wrap="square" lIns="0" tIns="0" rIns="0" bIns="0" rtlCol="0" anchor="t"/>
          <a:lstStyle/>
          <a:p>
            <a:pPr indent="0" marL="0">
              <a:buNone/>
            </a:pPr>
            <a:r>
              <a:rPr lang="en-US" sz="2600" b="1" dirty="0">
                <a:solidFill>
                  <a:srgbClr val="FFFFFF"/>
                </a:solidFill>
                <a:latin typeface="Verdana" pitchFamily="34" charset="0"/>
                <a:ea typeface="Verdana" pitchFamily="34" charset="-122"/>
                <a:cs typeface="Verdana" pitchFamily="34" charset="-120"/>
              </a:rPr>
              <a:t>MIR y BSI</a:t>
            </a:r>
            <a:endParaRPr lang="en-US" sz="2600" dirty="0"/>
          </a:p>
        </p:txBody>
      </p:sp>
      <p:sp>
        <p:nvSpPr>
          <p:cNvPr id="5" name="Text 3"/>
          <p:cNvSpPr txBox="1"/>
          <p:nvPr/>
        </p:nvSpPr>
        <p:spPr>
          <a:xfrm>
            <a:off x="621792" y="2697480"/>
            <a:ext cx="3200400" cy="566928"/>
          </a:xfrm>
          <a:prstGeom prst="rect">
            <a:avLst/>
          </a:prstGeom>
          <a:noFill/>
          <a:ln/>
        </p:spPr>
        <p:txBody>
          <a:bodyPr wrap="square" lIns="0" tIns="0" rIns="0" bIns="0" rtlCol="0" anchor="t"/>
          <a:lstStyle/>
          <a:p>
            <a:pPr indent="0" marL="0">
              <a:buNone/>
            </a:pPr>
            <a:r>
              <a:rPr lang="en-US" sz="1050" dirty="0">
                <a:solidFill>
                  <a:srgbClr val="FFFFFF"/>
                </a:solidFill>
                <a:latin typeface="Verdana" pitchFamily="34" charset="0"/>
                <a:ea typeface="Verdana" pitchFamily="34" charset="-122"/>
                <a:cs typeface="Verdana" pitchFamily="34" charset="-120"/>
              </a:rPr>
              <a:t>Banco Central Europeo · estadísticas de tipos de interés y de balance de los bancos</a:t>
            </a:r>
            <a:endParaRPr lang="en-US" sz="1050" dirty="0"/>
          </a:p>
        </p:txBody>
      </p:sp>
      <p:sp>
        <p:nvSpPr>
          <p:cNvPr id="6" name="Shape 4"/>
          <p:cNvSpPr/>
          <p:nvPr/>
        </p:nvSpPr>
        <p:spPr>
          <a:xfrm>
            <a:off x="621792" y="4160520"/>
            <a:ext cx="3154680" cy="1325880"/>
          </a:xfrm>
          <a:prstGeom prst="roundRect">
            <a:avLst>
              <a:gd name="adj" fmla="val 4138"/>
            </a:avLst>
          </a:prstGeom>
          <a:solidFill>
            <a:srgbClr val="FFFFFF"/>
          </a:solidFill>
          <a:ln w="12700">
            <a:solidFill>
              <a:srgbClr val="FFFFFF"/>
            </a:solidFill>
            <a:prstDash val="solid"/>
          </a:ln>
        </p:spPr>
      </p:sp>
      <p:sp>
        <p:nvSpPr>
          <p:cNvPr id="7" name="Text 5"/>
          <p:cNvSpPr txBox="1"/>
          <p:nvPr/>
        </p:nvSpPr>
        <p:spPr>
          <a:xfrm>
            <a:off x="804672" y="4270248"/>
            <a:ext cx="2834640" cy="219456"/>
          </a:xfrm>
          <a:prstGeom prst="rect">
            <a:avLst/>
          </a:prstGeom>
          <a:noFill/>
          <a:ln/>
        </p:spPr>
        <p:txBody>
          <a:bodyPr wrap="square" lIns="0" tIns="0" rIns="0" bIns="0" rtlCol="0" anchor="ctr"/>
          <a:lstStyle/>
          <a:p>
            <a:pPr indent="0" marL="0">
              <a:buNone/>
            </a:pPr>
            <a:r>
              <a:rPr lang="en-US" sz="800" b="1" spc="100" kern="0" dirty="0">
                <a:solidFill>
                  <a:srgbClr val="818181"/>
                </a:solidFill>
                <a:latin typeface="Verdana" pitchFamily="34" charset="0"/>
                <a:ea typeface="Verdana" pitchFamily="34" charset="-122"/>
                <a:cs typeface="Verdana" pitchFamily="34" charset="-120"/>
              </a:rPr>
              <a:t>QUÉ LLAMA PYME</a:t>
            </a:r>
            <a:endParaRPr lang="en-US" sz="800" dirty="0"/>
          </a:p>
        </p:txBody>
      </p:sp>
      <p:sp>
        <p:nvSpPr>
          <p:cNvPr id="8" name="Text 6"/>
          <p:cNvSpPr txBox="1"/>
          <p:nvPr/>
        </p:nvSpPr>
        <p:spPr>
          <a:xfrm>
            <a:off x="804672" y="4507992"/>
            <a:ext cx="2834640" cy="502920"/>
          </a:xfrm>
          <a:prstGeom prst="rect">
            <a:avLst/>
          </a:prstGeom>
          <a:noFill/>
          <a:ln/>
        </p:spPr>
        <p:txBody>
          <a:bodyPr wrap="square" lIns="0" tIns="0" rIns="0" bIns="0" rtlCol="0" anchor="t"/>
          <a:lstStyle/>
          <a:p>
            <a:pPr indent="0" marL="0">
              <a:buNone/>
            </a:pPr>
            <a:r>
              <a:rPr lang="en-US" sz="1200" b="1" dirty="0">
                <a:solidFill>
                  <a:srgbClr val="2B2B2B"/>
                </a:solidFill>
                <a:latin typeface="Verdana" pitchFamily="34" charset="0"/>
                <a:ea typeface="Verdana" pitchFamily="34" charset="-122"/>
                <a:cs typeface="Verdana" pitchFamily="34" charset="-120"/>
              </a:rPr>
              <a:t>importe del préstamo, no la empresa</a:t>
            </a:r>
            <a:endParaRPr lang="en-US" sz="1200" dirty="0"/>
          </a:p>
        </p:txBody>
      </p:sp>
      <p:sp>
        <p:nvSpPr>
          <p:cNvPr id="9" name="Shape 7"/>
          <p:cNvSpPr/>
          <p:nvPr/>
        </p:nvSpPr>
        <p:spPr>
          <a:xfrm>
            <a:off x="804672" y="5074920"/>
            <a:ext cx="2788920" cy="274320"/>
          </a:xfrm>
          <a:prstGeom prst="roundRect">
            <a:avLst>
              <a:gd name="adj" fmla="val 26667"/>
            </a:avLst>
          </a:prstGeom>
          <a:solidFill>
            <a:srgbClr val="FFCCE8"/>
          </a:solidFill>
          <a:ln w="12700">
            <a:solidFill>
              <a:srgbClr val="FFCCE8"/>
            </a:solidFill>
            <a:prstDash val="solid"/>
          </a:ln>
        </p:spPr>
      </p:sp>
      <p:sp>
        <p:nvSpPr>
          <p:cNvPr id="10" name="Text 8"/>
          <p:cNvSpPr txBox="1"/>
          <p:nvPr/>
        </p:nvSpPr>
        <p:spPr>
          <a:xfrm>
            <a:off x="804672" y="5074920"/>
            <a:ext cx="2788920" cy="274320"/>
          </a:xfrm>
          <a:prstGeom prst="rect">
            <a:avLst/>
          </a:prstGeom>
          <a:noFill/>
          <a:ln/>
        </p:spPr>
        <p:txBody>
          <a:bodyPr wrap="square" lIns="0" tIns="0" rIns="0" bIns="0" rtlCol="0" anchor="ctr"/>
          <a:lstStyle/>
          <a:p>
            <a:pPr algn="ctr" indent="0" marL="0">
              <a:buNone/>
            </a:pPr>
            <a:r>
              <a:rPr lang="en-US" sz="850" b="1" dirty="0">
                <a:solidFill>
                  <a:srgbClr val="2B2B2B"/>
                </a:solidFill>
                <a:latin typeface="Verdana" pitchFamily="34" charset="0"/>
                <a:ea typeface="Verdana" pitchFamily="34" charset="-122"/>
                <a:cs typeface="Verdana" pitchFamily="34" charset="-120"/>
              </a:rPr>
              <a:t>No mide el tamaño de la empresa</a:t>
            </a:r>
            <a:endParaRPr lang="en-US" sz="850" dirty="0"/>
          </a:p>
        </p:txBody>
      </p:sp>
      <p:sp>
        <p:nvSpPr>
          <p:cNvPr id="11" name="Text 9"/>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12" name="Text 10"/>
          <p:cNvSpPr txBox="1"/>
          <p:nvPr/>
        </p:nvSpPr>
        <p:spPr>
          <a:xfrm>
            <a:off x="4709160" y="868680"/>
            <a:ext cx="685800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Qué es</a:t>
            </a:r>
            <a:endParaRPr lang="en-US" sz="1250" dirty="0"/>
          </a:p>
        </p:txBody>
      </p:sp>
      <p:sp>
        <p:nvSpPr>
          <p:cNvPr id="13" name="Text 11"/>
          <p:cNvSpPr txBox="1"/>
          <p:nvPr/>
        </p:nvSpPr>
        <p:spPr>
          <a:xfrm>
            <a:off x="4709160" y="1179576"/>
            <a:ext cx="6858000" cy="731520"/>
          </a:xfrm>
          <a:prstGeom prst="rect">
            <a:avLst/>
          </a:prstGeom>
          <a:noFill/>
          <a:ln/>
        </p:spPr>
        <p:txBody>
          <a:bodyPr wrap="square" lIns="0" tIns="0" rIns="0" bIns="0" rtlCol="0" anchor="t"/>
          <a:lstStyle/>
          <a:p>
            <a:pPr indent="0" marL="0">
              <a:spcAft>
                <a:spcPts val="300"/>
              </a:spcAft>
              <a:buNone/>
            </a:pPr>
            <a:r>
              <a:rPr lang="en-US" sz="1050" dirty="0">
                <a:solidFill>
                  <a:srgbClr val="2B2B2B"/>
                </a:solidFill>
                <a:latin typeface="Verdana" pitchFamily="34" charset="0"/>
                <a:ea typeface="Verdana" pitchFamily="34" charset="-122"/>
                <a:cs typeface="Verdana" pitchFamily="34" charset="-120"/>
              </a:rPr>
              <a:t>El MIR recoge cada mes el tipo de las operaciones nuevas de los bancos de la zona euro, por producto, plazo y tramo de importe. El BSI da los saldos de préstamos y depósitos por sector.</a:t>
            </a:r>
            <a:endParaRPr lang="en-US" sz="1050" dirty="0"/>
          </a:p>
        </p:txBody>
      </p:sp>
      <p:sp>
        <p:nvSpPr>
          <p:cNvPr id="14" name="Text 12"/>
          <p:cNvSpPr txBox="1"/>
          <p:nvPr/>
        </p:nvSpPr>
        <p:spPr>
          <a:xfrm>
            <a:off x="4709160" y="2011680"/>
            <a:ext cx="685800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Qué hemos obtenido</a:t>
            </a:r>
            <a:endParaRPr lang="en-US" sz="1250" dirty="0"/>
          </a:p>
        </p:txBody>
      </p:sp>
      <p:sp>
        <p:nvSpPr>
          <p:cNvPr id="15" name="Text 13"/>
          <p:cNvSpPr txBox="1"/>
          <p:nvPr/>
        </p:nvSpPr>
        <p:spPr>
          <a:xfrm>
            <a:off x="4709160" y="2322576"/>
            <a:ext cx="6858000" cy="141732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2B2B2B"/>
                </a:solidFill>
                <a:latin typeface="Verdana" pitchFamily="34" charset="0"/>
                <a:ea typeface="Verdana" pitchFamily="34" charset="-122"/>
                <a:cs typeface="Verdana" pitchFamily="34" charset="-120"/>
              </a:rPr>
              <a:t>Tipo de los préstamos a empresas en tres tramos de importe, de enero de 2022 a julio de 2026</a:t>
            </a:r>
            <a:endParaRPr lang="en-US" sz="1050" dirty="0"/>
          </a:p>
          <a:p>
            <a:pPr marL="342900" indent="-342900">
              <a:spcAft>
                <a:spcPts val="300"/>
              </a:spcAft>
              <a:buSzPct val="100000"/>
              <a:buChar char="•"/>
            </a:pPr>
            <a:r>
              <a:rPr lang="en-US" sz="1050" dirty="0">
                <a:solidFill>
                  <a:srgbClr val="2B2B2B"/>
                </a:solidFill>
                <a:latin typeface="Verdana" pitchFamily="34" charset="0"/>
                <a:ea typeface="Verdana" pitchFamily="34" charset="-122"/>
                <a:cs typeface="Verdana" pitchFamily="34" charset="-120"/>
              </a:rPr>
              <a:t>Prima PYME: lo que paga de más el préstamo pequeño frente al grande</a:t>
            </a:r>
            <a:endParaRPr lang="en-US" sz="1050" dirty="0"/>
          </a:p>
          <a:p>
            <a:pPr marL="342900" indent="-342900">
              <a:spcAft>
                <a:spcPts val="300"/>
              </a:spcAft>
              <a:buSzPct val="100000"/>
              <a:buChar char="•"/>
            </a:pPr>
            <a:r>
              <a:rPr lang="en-US" sz="1050" dirty="0">
                <a:solidFill>
                  <a:srgbClr val="2B2B2B"/>
                </a:solidFill>
                <a:latin typeface="Verdana" pitchFamily="34" charset="0"/>
                <a:ea typeface="Verdana" pitchFamily="34" charset="-122"/>
                <a:cs typeface="Verdana" pitchFamily="34" charset="-120"/>
              </a:rPr>
              <a:t>Tipo del circulante: descubiertos y líneas de crédito</a:t>
            </a:r>
            <a:endParaRPr lang="en-US" sz="1050" dirty="0"/>
          </a:p>
          <a:p>
            <a:pPr marL="342900" indent="-342900">
              <a:spcAft>
                <a:spcPts val="300"/>
              </a:spcAft>
              <a:buSzPct val="100000"/>
              <a:buChar char="•"/>
            </a:pPr>
            <a:r>
              <a:rPr lang="en-US" sz="1050" dirty="0">
                <a:solidFill>
                  <a:srgbClr val="2B2B2B"/>
                </a:solidFill>
                <a:latin typeface="Verdana" pitchFamily="34" charset="0"/>
                <a:ea typeface="Verdana" pitchFamily="34" charset="-122"/>
                <a:cs typeface="Verdana" pitchFamily="34" charset="-120"/>
              </a:rPr>
              <a:t>Coste de los depósitos de empresa, de hogares y del sistema, ponderado con los saldos del BSI</a:t>
            </a:r>
            <a:endParaRPr lang="en-US" sz="1050" dirty="0"/>
          </a:p>
        </p:txBody>
      </p:sp>
      <p:sp>
        <p:nvSpPr>
          <p:cNvPr id="16" name="Text 14"/>
          <p:cNvSpPr txBox="1"/>
          <p:nvPr/>
        </p:nvSpPr>
        <p:spPr>
          <a:xfrm>
            <a:off x="4709160" y="3886200"/>
            <a:ext cx="685800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Por qué aplica a PYME, y hasta dónde</a:t>
            </a:r>
            <a:endParaRPr lang="en-US" sz="1250" dirty="0"/>
          </a:p>
        </p:txBody>
      </p:sp>
      <p:sp>
        <p:nvSpPr>
          <p:cNvPr id="17" name="Text 15"/>
          <p:cNvSpPr txBox="1"/>
          <p:nvPr/>
        </p:nvSpPr>
        <p:spPr>
          <a:xfrm>
            <a:off x="4709160" y="4197096"/>
            <a:ext cx="6858000" cy="1234440"/>
          </a:xfrm>
          <a:prstGeom prst="rect">
            <a:avLst/>
          </a:prstGeom>
          <a:noFill/>
          <a:ln/>
        </p:spPr>
        <p:txBody>
          <a:bodyPr wrap="square" lIns="0" tIns="0" rIns="0" bIns="0" rtlCol="0" anchor="t"/>
          <a:lstStyle/>
          <a:p>
            <a:pPr indent="0" marL="0">
              <a:spcAft>
                <a:spcPts val="300"/>
              </a:spcAft>
              <a:buNone/>
            </a:pPr>
            <a:r>
              <a:rPr lang="en-US" sz="1050" dirty="0">
                <a:solidFill>
                  <a:srgbClr val="2B2B2B"/>
                </a:solidFill>
                <a:latin typeface="Verdana" pitchFamily="34" charset="0"/>
                <a:ea typeface="Verdana" pitchFamily="34" charset="-122"/>
                <a:cs typeface="Verdana" pitchFamily="34" charset="-120"/>
              </a:rPr>
              <a:t>No mide la empresa, mide el PRÉSTAMO. El tramo de hasta 1 M€ es el corte que se usa como aproximación a la PYME, pero entra la gran empresa que pide poco y queda fuera la mediana que pide mucho. Excluye al autónomo, que es un hogar. El circulante y los depósitos no tienen tramo: son de todas las empresas.</a:t>
            </a:r>
            <a:endParaRPr lang="en-US" sz="1050" dirty="0"/>
          </a:p>
        </p:txBody>
      </p:sp>
      <p:sp>
        <p:nvSpPr>
          <p:cNvPr id="18" name="Text 16"/>
          <p:cNvSpPr txBox="1"/>
          <p:nvPr/>
        </p:nvSpPr>
        <p:spPr>
          <a:xfrm>
            <a:off x="4709160" y="5806440"/>
            <a:ext cx="6858000" cy="384048"/>
          </a:xfrm>
          <a:prstGeom prst="rect">
            <a:avLst/>
          </a:prstGeom>
          <a:noFill/>
          <a:ln/>
        </p:spPr>
        <p:txBody>
          <a:bodyPr wrap="square" lIns="0" tIns="0" rIns="0" bIns="0" rtlCol="0" anchor="ctr"/>
          <a:lstStyle/>
          <a:p>
            <a:pPr indent="0" marL="0">
              <a:buNone/>
            </a:pPr>
            <a:r>
              <a:rPr lang="en-US" sz="850" i="1" dirty="0">
                <a:solidFill>
                  <a:srgbClr val="818181"/>
                </a:solidFill>
                <a:latin typeface="Verdana" pitchFamily="34" charset="0"/>
                <a:ea typeface="Verdana" pitchFamily="34" charset="-122"/>
                <a:cs typeface="Verdana" pitchFamily="34" charset="-120"/>
              </a:rPr>
              <a:t>Siete países · mensual · operaciones nuevas, sin comisiones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3" name="Text 1"/>
          <p:cNvSpPr txBox="1"/>
          <p:nvPr/>
        </p:nvSpPr>
        <p:spPr>
          <a:xfrm>
            <a:off x="621792" y="6583680"/>
            <a:ext cx="548640" cy="182880"/>
          </a:xfrm>
          <a:prstGeom prst="rect">
            <a:avLst/>
          </a:prstGeom>
          <a:noFill/>
          <a:ln/>
        </p:spPr>
        <p:txBody>
          <a:bodyPr wrap="square" lIns="0" tIns="0" rIns="0" bIns="0" rtlCol="0" anchor="ctr"/>
          <a:lstStyle/>
          <a:p>
            <a:pPr indent="0" marL="0">
              <a:buNone/>
            </a:pPr>
            <a:r>
              <a:rPr lang="en-US" sz="800" dirty="0">
                <a:solidFill>
                  <a:srgbClr val="CACACA"/>
                </a:solidFill>
                <a:latin typeface="Verdana" pitchFamily="34" charset="0"/>
                <a:ea typeface="Verdana" pitchFamily="34" charset="-122"/>
                <a:cs typeface="Verdana" pitchFamily="34" charset="-120"/>
              </a:rPr>
              <a:t>5</a:t>
            </a:r>
            <a:endParaRPr lang="en-US" sz="800" dirty="0"/>
          </a:p>
        </p:txBody>
      </p:sp>
      <p:sp>
        <p:nvSpPr>
          <p:cNvPr id="4" name="Text 2"/>
          <p:cNvSpPr txBox="1"/>
          <p:nvPr/>
        </p:nvSpPr>
        <p:spPr>
          <a:xfrm>
            <a:off x="621792" y="420624"/>
            <a:ext cx="8430768" cy="658368"/>
          </a:xfrm>
          <a:prstGeom prst="rect">
            <a:avLst/>
          </a:prstGeom>
          <a:noFill/>
          <a:ln/>
        </p:spPr>
        <p:txBody>
          <a:bodyPr wrap="square" lIns="0" tIns="0" rIns="0" bIns="0" rtlCol="0" anchor="t"/>
          <a:lstStyle/>
          <a:p>
            <a:pPr indent="0" marL="0">
              <a:buNone/>
            </a:pPr>
            <a:r>
              <a:rPr lang="en-US" sz="2100" b="1" dirty="0">
                <a:solidFill>
                  <a:srgbClr val="2B2B2B"/>
                </a:solidFill>
                <a:latin typeface="Verdana" pitchFamily="34" charset="0"/>
                <a:ea typeface="Verdana" pitchFamily="34" charset="-122"/>
                <a:cs typeface="Verdana" pitchFamily="34" charset="-120"/>
              </a:rPr>
              <a:t>El préstamo pequeño es el más caro en seis de los siete países</a:t>
            </a:r>
            <a:endParaRPr lang="en-US" sz="2100" dirty="0"/>
          </a:p>
        </p:txBody>
      </p:sp>
      <p:sp>
        <p:nvSpPr>
          <p:cNvPr id="5" name="Text 3"/>
          <p:cNvSpPr txBox="1"/>
          <p:nvPr/>
        </p:nvSpPr>
        <p:spPr>
          <a:xfrm>
            <a:off x="621792" y="1097280"/>
            <a:ext cx="10945368" cy="329184"/>
          </a:xfrm>
          <a:prstGeom prst="rect">
            <a:avLst/>
          </a:prstGeom>
          <a:noFill/>
          <a:ln/>
        </p:spPr>
        <p:txBody>
          <a:bodyPr wrap="square" lIns="0" tIns="0" rIns="0" bIns="0" rtlCol="0" anchor="ctr"/>
          <a:lstStyle/>
          <a:p>
            <a:pPr indent="0" marL="0">
              <a:buNone/>
            </a:pPr>
            <a:r>
              <a:rPr lang="en-US" sz="1000" dirty="0">
                <a:solidFill>
                  <a:srgbClr val="818181"/>
                </a:solidFill>
                <a:latin typeface="Verdana" pitchFamily="34" charset="0"/>
                <a:ea typeface="Verdana" pitchFamily="34" charset="-122"/>
                <a:cs typeface="Verdana" pitchFamily="34" charset="-120"/>
              </a:rPr>
              <a:t>Tipo de los préstamos nuevos a empresas por tramo de importe · Media de 2026 ponderada por volumen · Sin comisiones</a:t>
            </a:r>
            <a:endParaRPr lang="en-US" sz="1000" dirty="0"/>
          </a:p>
        </p:txBody>
      </p:sp>
      <p:sp>
        <p:nvSpPr>
          <p:cNvPr id="6" name="Shape 4"/>
          <p:cNvSpPr/>
          <p:nvPr/>
        </p:nvSpPr>
        <p:spPr>
          <a:xfrm>
            <a:off x="9235440" y="640080"/>
            <a:ext cx="2331720" cy="365760"/>
          </a:xfrm>
          <a:prstGeom prst="roundRect">
            <a:avLst>
              <a:gd name="adj" fmla="val 15000"/>
            </a:avLst>
          </a:prstGeom>
          <a:solidFill>
            <a:srgbClr val="FFCCE8"/>
          </a:solidFill>
          <a:ln w="12700">
            <a:solidFill>
              <a:srgbClr val="FFCCE8"/>
            </a:solidFill>
            <a:prstDash val="solid"/>
          </a:ln>
        </p:spPr>
      </p:sp>
      <p:sp>
        <p:nvSpPr>
          <p:cNvPr id="7" name="Text 5"/>
          <p:cNvSpPr txBox="1"/>
          <p:nvPr/>
        </p:nvSpPr>
        <p:spPr>
          <a:xfrm>
            <a:off x="9308592" y="658368"/>
            <a:ext cx="2185416" cy="329184"/>
          </a:xfrm>
          <a:prstGeom prst="rect">
            <a:avLst/>
          </a:prstGeom>
          <a:noFill/>
          <a:ln/>
        </p:spPr>
        <p:txBody>
          <a:bodyPr wrap="square" lIns="0" tIns="0" rIns="0" bIns="0" rtlCol="0" anchor="ctr"/>
          <a:lstStyle/>
          <a:p>
            <a:pPr indent="0" marL="0">
              <a:buNone/>
            </a:pPr>
            <a:r>
              <a:rPr lang="en-US" sz="750" b="1" dirty="0">
                <a:solidFill>
                  <a:srgbClr val="2B2B2B"/>
                </a:solidFill>
                <a:latin typeface="Verdana" pitchFamily="34" charset="0"/>
                <a:ea typeface="Verdana" pitchFamily="34" charset="-122"/>
                <a:cs typeface="Verdana" pitchFamily="34" charset="-120"/>
              </a:rPr>
              <a:t>PROXY · importe del préstamo, no la empresa</a:t>
            </a:r>
            <a:endParaRPr lang="en-US" sz="750" dirty="0"/>
          </a:p>
        </p:txBody>
      </p:sp>
      <p:graphicFrame>
        <p:nvGraphicFramePr>
          <p:cNvPr id="8" name="Chart 0" descr=""/>
          <p:cNvGraphicFramePr/>
          <p:nvPr/>
        </p:nvGraphicFramePr>
        <p:xfrm>
          <a:off x="621792" y="1554480"/>
          <a:ext cx="7360920" cy="416052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8275320" y="1554480"/>
            <a:ext cx="3291840" cy="1874520"/>
          </a:xfrm>
          <a:prstGeom prst="roundRect">
            <a:avLst>
              <a:gd name="adj" fmla="val 2439"/>
            </a:avLst>
          </a:prstGeom>
          <a:solidFill>
            <a:srgbClr val="FFF4C2"/>
          </a:solidFill>
          <a:ln w="12700">
            <a:solidFill>
              <a:srgbClr val="FFF4C2"/>
            </a:solidFill>
            <a:prstDash val="solid"/>
          </a:ln>
        </p:spPr>
      </p:sp>
      <p:sp>
        <p:nvSpPr>
          <p:cNvPr id="10" name="Text 7"/>
          <p:cNvSpPr txBox="1"/>
          <p:nvPr/>
        </p:nvSpPr>
        <p:spPr>
          <a:xfrm>
            <a:off x="8476488" y="1682496"/>
            <a:ext cx="2889504" cy="27432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España es la excepción</a:t>
            </a:r>
            <a:endParaRPr lang="en-US" sz="1150" dirty="0"/>
          </a:p>
        </p:txBody>
      </p:sp>
      <p:sp>
        <p:nvSpPr>
          <p:cNvPr id="11" name="Text 8"/>
          <p:cNvSpPr txBox="1"/>
          <p:nvPr/>
        </p:nvSpPr>
        <p:spPr>
          <a:xfrm>
            <a:off x="8476488" y="1993392"/>
            <a:ext cx="2889504" cy="1325880"/>
          </a:xfrm>
          <a:prstGeom prst="rect">
            <a:avLst/>
          </a:prstGeom>
          <a:noFill/>
          <a:ln/>
        </p:spPr>
        <p:txBody>
          <a:bodyPr wrap="square" lIns="0" tIns="0" rIns="0" bIns="0" rtlCol="0" anchor="t"/>
          <a:lstStyle/>
          <a:p>
            <a:pPr indent="0" marL="0">
              <a:buNone/>
            </a:pPr>
            <a:r>
              <a:rPr lang="en-US" sz="950" dirty="0">
                <a:solidFill>
                  <a:srgbClr val="2B2B2B"/>
                </a:solidFill>
                <a:latin typeface="Verdana" pitchFamily="34" charset="0"/>
                <a:ea typeface="Verdana" pitchFamily="34" charset="-122"/>
                <a:cs typeface="Verdana" pitchFamily="34" charset="-120"/>
              </a:rPr>
              <a:t>Su préstamo de hasta 0,25 M€ cuesta 3,42 % y el de más de 1 M€, 3,46 %: el pequeño sale más barato que el grande.</a:t>
            </a:r>
            <a:endParaRPr lang="en-US" sz="950" dirty="0"/>
          </a:p>
        </p:txBody>
      </p:sp>
      <p:sp>
        <p:nvSpPr>
          <p:cNvPr id="12" name="Text 9"/>
          <p:cNvSpPr txBox="1"/>
          <p:nvPr/>
        </p:nvSpPr>
        <p:spPr>
          <a:xfrm>
            <a:off x="8275320" y="3611880"/>
            <a:ext cx="3291840" cy="365760"/>
          </a:xfrm>
          <a:prstGeom prst="rect">
            <a:avLst/>
          </a:prstGeom>
          <a:noFill/>
          <a:ln/>
        </p:spPr>
        <p:txBody>
          <a:bodyPr wrap="square" lIns="0" tIns="0" rIns="0" bIns="0" rtlCol="0" anchor="ctr"/>
          <a:lstStyle/>
          <a:p>
            <a:pPr indent="0" marL="0">
              <a:buNone/>
            </a:pPr>
            <a:r>
              <a:rPr lang="en-US" sz="1050" b="1" dirty="0">
                <a:solidFill>
                  <a:srgbClr val="2B2B2B"/>
                </a:solidFill>
                <a:latin typeface="Verdana" pitchFamily="34" charset="0"/>
                <a:ea typeface="Verdana" pitchFamily="34" charset="-122"/>
                <a:cs typeface="Verdana" pitchFamily="34" charset="-120"/>
              </a:rPr>
              <a:t>Peso del préstamo de hasta 1 M€ en la nueva producción</a:t>
            </a:r>
            <a:endParaRPr lang="en-US" sz="1050" dirty="0"/>
          </a:p>
        </p:txBody>
      </p:sp>
      <p:graphicFrame>
        <p:nvGraphicFramePr>
          <p:cNvPr id="13" name="Chart 1" descr=""/>
          <p:cNvGraphicFramePr/>
          <p:nvPr/>
        </p:nvGraphicFramePr>
        <p:xfrm>
          <a:off x="8183880" y="3931920"/>
          <a:ext cx="3429000" cy="1874520"/>
        </p:xfrm>
        <a:graphic xmlns:a="http://schemas.openxmlformats.org/drawingml/2006/main">
          <a:graphicData uri="http://schemas.openxmlformats.org/drawingml/2006/chart">
            <c:chart xmlns:c="http://schemas.openxmlformats.org/drawingml/2006/chart" r:id="rId2"/>
          </a:graphicData>
        </a:graphic>
      </p:graphicFrame>
      <p:sp>
        <p:nvSpPr>
          <p:cNvPr id="14" name="Text 10"/>
          <p:cNvSpPr txBox="1"/>
          <p:nvPr/>
        </p:nvSpPr>
        <p:spPr>
          <a:xfrm>
            <a:off x="621792" y="6053328"/>
            <a:ext cx="10945368" cy="475488"/>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BCE, MIR, préstamos a sociedades no financieras distintos de descubiertos y tarjetas, operaciones nuevas, fijación inicial total, enero–julio de 2026. Los tres tramos no se solapan. El tramo mide el importe del préstamo, no el tamaño de la empresa.</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3" name="Text 1"/>
          <p:cNvSpPr txBox="1"/>
          <p:nvPr/>
        </p:nvSpPr>
        <p:spPr>
          <a:xfrm>
            <a:off x="621792" y="6583680"/>
            <a:ext cx="548640" cy="182880"/>
          </a:xfrm>
          <a:prstGeom prst="rect">
            <a:avLst/>
          </a:prstGeom>
          <a:noFill/>
          <a:ln/>
        </p:spPr>
        <p:txBody>
          <a:bodyPr wrap="square" lIns="0" tIns="0" rIns="0" bIns="0" rtlCol="0" anchor="ctr"/>
          <a:lstStyle/>
          <a:p>
            <a:pPr indent="0" marL="0">
              <a:buNone/>
            </a:pPr>
            <a:r>
              <a:rPr lang="en-US" sz="800" dirty="0">
                <a:solidFill>
                  <a:srgbClr val="CACACA"/>
                </a:solidFill>
                <a:latin typeface="Verdana" pitchFamily="34" charset="0"/>
                <a:ea typeface="Verdana" pitchFamily="34" charset="-122"/>
                <a:cs typeface="Verdana" pitchFamily="34" charset="-120"/>
              </a:rPr>
              <a:t>6</a:t>
            </a:r>
            <a:endParaRPr lang="en-US" sz="800" dirty="0"/>
          </a:p>
        </p:txBody>
      </p:sp>
      <p:sp>
        <p:nvSpPr>
          <p:cNvPr id="4" name="Text 2"/>
          <p:cNvSpPr txBox="1"/>
          <p:nvPr/>
        </p:nvSpPr>
        <p:spPr>
          <a:xfrm>
            <a:off x="621792" y="420624"/>
            <a:ext cx="8430768" cy="658368"/>
          </a:xfrm>
          <a:prstGeom prst="rect">
            <a:avLst/>
          </a:prstGeom>
          <a:noFill/>
          <a:ln/>
        </p:spPr>
        <p:txBody>
          <a:bodyPr wrap="square" lIns="0" tIns="0" rIns="0" bIns="0" rtlCol="0" anchor="t"/>
          <a:lstStyle/>
          <a:p>
            <a:pPr indent="0" marL="0">
              <a:buNone/>
            </a:pPr>
            <a:r>
              <a:rPr lang="en-US" sz="2100" b="1" dirty="0">
                <a:solidFill>
                  <a:srgbClr val="2B2B2B"/>
                </a:solidFill>
                <a:latin typeface="Verdana" pitchFamily="34" charset="0"/>
                <a:ea typeface="Verdana" pitchFamily="34" charset="-122"/>
                <a:cs typeface="Verdana" pitchFamily="34" charset="-120"/>
              </a:rPr>
              <a:t>La prima del préstamo pequeño ha desaparecido en España</a:t>
            </a:r>
            <a:endParaRPr lang="en-US" sz="2100" dirty="0"/>
          </a:p>
        </p:txBody>
      </p:sp>
      <p:sp>
        <p:nvSpPr>
          <p:cNvPr id="5" name="Text 3"/>
          <p:cNvSpPr txBox="1"/>
          <p:nvPr/>
        </p:nvSpPr>
        <p:spPr>
          <a:xfrm>
            <a:off x="621792" y="1097280"/>
            <a:ext cx="10945368" cy="329184"/>
          </a:xfrm>
          <a:prstGeom prst="rect">
            <a:avLst/>
          </a:prstGeom>
          <a:noFill/>
          <a:ln/>
        </p:spPr>
        <p:txBody>
          <a:bodyPr wrap="square" lIns="0" tIns="0" rIns="0" bIns="0" rtlCol="0" anchor="ctr"/>
          <a:lstStyle/>
          <a:p>
            <a:pPr indent="0" marL="0">
              <a:buNone/>
            </a:pPr>
            <a:r>
              <a:rPr lang="en-US" sz="1000" dirty="0">
                <a:solidFill>
                  <a:srgbClr val="818181"/>
                </a:solidFill>
                <a:latin typeface="Verdana" pitchFamily="34" charset="0"/>
                <a:ea typeface="Verdana" pitchFamily="34" charset="-122"/>
                <a:cs typeface="Verdana" pitchFamily="34" charset="-120"/>
              </a:rPr>
              <a:t>Prima PYME: tipo del préstamo de hasta 0,25 M€ menos el de más de 1 M€, en puntos · Media anual ponderada por volumen · 2026 = enero a julio</a:t>
            </a:r>
            <a:endParaRPr lang="en-US" sz="1000" dirty="0"/>
          </a:p>
        </p:txBody>
      </p:sp>
      <p:sp>
        <p:nvSpPr>
          <p:cNvPr id="6" name="Shape 4"/>
          <p:cNvSpPr/>
          <p:nvPr/>
        </p:nvSpPr>
        <p:spPr>
          <a:xfrm>
            <a:off x="9235440" y="640080"/>
            <a:ext cx="2331720" cy="365760"/>
          </a:xfrm>
          <a:prstGeom prst="roundRect">
            <a:avLst>
              <a:gd name="adj" fmla="val 15000"/>
            </a:avLst>
          </a:prstGeom>
          <a:solidFill>
            <a:srgbClr val="FFCCE8"/>
          </a:solidFill>
          <a:ln w="12700">
            <a:solidFill>
              <a:srgbClr val="FFCCE8"/>
            </a:solidFill>
            <a:prstDash val="solid"/>
          </a:ln>
        </p:spPr>
      </p:sp>
      <p:sp>
        <p:nvSpPr>
          <p:cNvPr id="7" name="Text 5"/>
          <p:cNvSpPr txBox="1"/>
          <p:nvPr/>
        </p:nvSpPr>
        <p:spPr>
          <a:xfrm>
            <a:off x="9308592" y="658368"/>
            <a:ext cx="2185416" cy="329184"/>
          </a:xfrm>
          <a:prstGeom prst="rect">
            <a:avLst/>
          </a:prstGeom>
          <a:noFill/>
          <a:ln/>
        </p:spPr>
        <p:txBody>
          <a:bodyPr wrap="square" lIns="0" tIns="0" rIns="0" bIns="0" rtlCol="0" anchor="ctr"/>
          <a:lstStyle/>
          <a:p>
            <a:pPr indent="0" marL="0">
              <a:buNone/>
            </a:pPr>
            <a:r>
              <a:rPr lang="en-US" sz="750" b="1" dirty="0">
                <a:solidFill>
                  <a:srgbClr val="2B2B2B"/>
                </a:solidFill>
                <a:latin typeface="Verdana" pitchFamily="34" charset="0"/>
                <a:ea typeface="Verdana" pitchFamily="34" charset="-122"/>
                <a:cs typeface="Verdana" pitchFamily="34" charset="-120"/>
              </a:rPr>
              <a:t>PROXY · importe del préstamo, no la empresa</a:t>
            </a:r>
            <a:endParaRPr lang="en-US" sz="750" dirty="0"/>
          </a:p>
        </p:txBody>
      </p:sp>
      <p:graphicFrame>
        <p:nvGraphicFramePr>
          <p:cNvPr id="8" name="Chart 0" descr=""/>
          <p:cNvGraphicFramePr/>
          <p:nvPr/>
        </p:nvGraphicFramePr>
        <p:xfrm>
          <a:off x="621792" y="1554480"/>
          <a:ext cx="7269480" cy="397764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713232" y="5605272"/>
            <a:ext cx="201168" cy="109728"/>
          </a:xfrm>
          <a:prstGeom prst="rect">
            <a:avLst/>
          </a:prstGeom>
          <a:solidFill>
            <a:srgbClr val="F56600"/>
          </a:solidFill>
          <a:ln w="12700">
            <a:solidFill>
              <a:srgbClr val="F56600"/>
            </a:solidFill>
            <a:prstDash val="solid"/>
          </a:ln>
        </p:spPr>
      </p:sp>
      <p:sp>
        <p:nvSpPr>
          <p:cNvPr id="10" name="Text 7"/>
          <p:cNvSpPr txBox="1"/>
          <p:nvPr/>
        </p:nvSpPr>
        <p:spPr>
          <a:xfrm>
            <a:off x="969264" y="5550408"/>
            <a:ext cx="822960" cy="219456"/>
          </a:xfrm>
          <a:prstGeom prst="rect">
            <a:avLst/>
          </a:prstGeom>
          <a:noFill/>
          <a:ln/>
        </p:spPr>
        <p:txBody>
          <a:bodyPr wrap="square" lIns="0" tIns="0" rIns="0" bIns="0" rtlCol="0" anchor="ctr"/>
          <a:lstStyle/>
          <a:p>
            <a:pPr indent="0" marL="0">
              <a:buNone/>
            </a:pPr>
            <a:r>
              <a:rPr lang="en-US" sz="850" dirty="0">
                <a:solidFill>
                  <a:srgbClr val="2B2B2B"/>
                </a:solidFill>
                <a:latin typeface="Verdana" pitchFamily="34" charset="0"/>
                <a:ea typeface="Verdana" pitchFamily="34" charset="-122"/>
                <a:cs typeface="Verdana" pitchFamily="34" charset="-120"/>
              </a:rPr>
              <a:t>España</a:t>
            </a:r>
            <a:endParaRPr lang="en-US" sz="850" dirty="0"/>
          </a:p>
        </p:txBody>
      </p:sp>
      <p:sp>
        <p:nvSpPr>
          <p:cNvPr id="11" name="Shape 8"/>
          <p:cNvSpPr/>
          <p:nvPr/>
        </p:nvSpPr>
        <p:spPr>
          <a:xfrm>
            <a:off x="1975104" y="5605272"/>
            <a:ext cx="201168" cy="109728"/>
          </a:xfrm>
          <a:prstGeom prst="rect">
            <a:avLst/>
          </a:prstGeom>
          <a:solidFill>
            <a:srgbClr val="B9B9B9"/>
          </a:solidFill>
          <a:ln w="12700">
            <a:solidFill>
              <a:srgbClr val="B9B9B9"/>
            </a:solidFill>
            <a:prstDash val="solid"/>
          </a:ln>
        </p:spPr>
      </p:sp>
      <p:sp>
        <p:nvSpPr>
          <p:cNvPr id="12" name="Text 9"/>
          <p:cNvSpPr txBox="1"/>
          <p:nvPr/>
        </p:nvSpPr>
        <p:spPr>
          <a:xfrm>
            <a:off x="2231136" y="5550408"/>
            <a:ext cx="1371600" cy="219456"/>
          </a:xfrm>
          <a:prstGeom prst="rect">
            <a:avLst/>
          </a:prstGeom>
          <a:noFill/>
          <a:ln/>
        </p:spPr>
        <p:txBody>
          <a:bodyPr wrap="square" lIns="0" tIns="0" rIns="0" bIns="0" rtlCol="0" anchor="ctr"/>
          <a:lstStyle/>
          <a:p>
            <a:pPr indent="0" marL="0">
              <a:buNone/>
            </a:pPr>
            <a:r>
              <a:rPr lang="en-US" sz="850" dirty="0">
                <a:solidFill>
                  <a:srgbClr val="2B2B2B"/>
                </a:solidFill>
                <a:latin typeface="Verdana" pitchFamily="34" charset="0"/>
                <a:ea typeface="Verdana" pitchFamily="34" charset="-122"/>
                <a:cs typeface="Verdana" pitchFamily="34" charset="-120"/>
              </a:rPr>
              <a:t>resto de países</a:t>
            </a:r>
            <a:endParaRPr lang="en-US" sz="8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75320" y="1554480"/>
          <a:ext cx="3291840" cy="914400"/>
        </p:xfrm>
        <a:graphic>
          <a:graphicData uri="http://schemas.openxmlformats.org/drawingml/2006/table">
            <a:tbl>
              <a:tblPr/>
              <a:tblGrid>
                <a:gridCol w="1280160"/>
                <a:gridCol w="1005840"/>
                <a:gridCol w="1005840"/>
              </a:tblGrid>
              <a:tr h="274320">
                <a:tc>
                  <a:txBody>
                    <a:bodyPr/>
                    <a:lstStyle/>
                    <a:p>
                      <a:pPr algn="l" indent="0" marL="0">
                        <a:buNone/>
                      </a:pPr>
                      <a:r>
                        <a:rPr lang="en-US" sz="850" b="1" dirty="0">
                          <a:solidFill>
                            <a:srgbClr val="FFFFFF"/>
                          </a:solidFill>
                          <a:latin typeface="Verdana" pitchFamily="34" charset="0"/>
                          <a:ea typeface="Verdana" pitchFamily="34" charset="-122"/>
                          <a:cs typeface="Verdana" pitchFamily="34" charset="-120"/>
                        </a:rPr>
                        <a:t>Últimos 12 meses</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2B2B2B"/>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≤0,25 M€</a:t>
                      </a:r>
                      <a:endParaRPr lang="en-US" sz="850" dirty="0">
                        <a:latin typeface="Verdana" charset="0"/>
                        <a:ea typeface="Verdana" charset="0"/>
                        <a:cs typeface="Verdana" charset="0"/>
                      </a:endParaRPr>
                    </a:p>
                    <a:p>
                      <a:pPr algn="ctr" indent="0" marL="0">
                        <a:buNone/>
                      </a:pPr>
                      <a:r>
                        <a:rPr lang="en-US" sz="850" b="1" dirty="0">
                          <a:solidFill>
                            <a:srgbClr val="FFFFFF"/>
                          </a:solidFill>
                          <a:latin typeface="Verdana" pitchFamily="34" charset="0"/>
                          <a:ea typeface="Verdana" pitchFamily="34" charset="-122"/>
                          <a:cs typeface="Verdana" pitchFamily="34" charset="-120"/>
                        </a:rPr>
                        <a:t>vs &gt;1 M€</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2B2B2B"/>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≤1 M€</a:t>
                      </a:r>
                      <a:endParaRPr lang="en-US" sz="850" dirty="0">
                        <a:latin typeface="Verdana" charset="0"/>
                        <a:ea typeface="Verdana" charset="0"/>
                        <a:cs typeface="Verdana" charset="0"/>
                      </a:endParaRPr>
                    </a:p>
                    <a:p>
                      <a:pPr algn="ctr" indent="0" marL="0">
                        <a:buNone/>
                      </a:pPr>
                      <a:r>
                        <a:rPr lang="en-US" sz="850" b="1" dirty="0">
                          <a:solidFill>
                            <a:srgbClr val="FFFFFF"/>
                          </a:solidFill>
                          <a:latin typeface="Verdana" pitchFamily="34" charset="0"/>
                          <a:ea typeface="Verdana" pitchFamily="34" charset="-122"/>
                          <a:cs typeface="Verdana" pitchFamily="34" charset="-120"/>
                        </a:rPr>
                        <a:t>vs &gt;1 M€</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2B2B2B"/>
                    </a:solidFill>
                  </a:tcPr>
                </a:tc>
              </a:tr>
              <a:tr h="274320">
                <a:tc>
                  <a:txBody>
                    <a:bodyPr/>
                    <a:lstStyle/>
                    <a:p>
                      <a:pPr algn="l" indent="0" marL="0">
                        <a:buNone/>
                      </a:pPr>
                      <a:r>
                        <a:rPr lang="en-US" sz="900" b="1" dirty="0">
                          <a:solidFill>
                            <a:srgbClr val="F56600"/>
                          </a:solidFill>
                          <a:latin typeface="Verdana" pitchFamily="34" charset="0"/>
                          <a:ea typeface="Verdana" pitchFamily="34" charset="-122"/>
                          <a:cs typeface="Verdana" pitchFamily="34" charset="-120"/>
                        </a:rPr>
                        <a:t>España</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4C2"/>
                    </a:solidFill>
                  </a:tcPr>
                </a:tc>
                <a:tc>
                  <a:txBody>
                    <a:bodyPr/>
                    <a:lstStyle/>
                    <a:p>
                      <a:pPr algn="ctr" indent="0" marL="0">
                        <a:buNone/>
                      </a:pPr>
                      <a:r>
                        <a:rPr lang="en-US" sz="900" b="1" dirty="0">
                          <a:solidFill>
                            <a:srgbClr val="F56600"/>
                          </a:solidFill>
                          <a:latin typeface="Verdana" pitchFamily="34" charset="0"/>
                          <a:ea typeface="Verdana" pitchFamily="34" charset="-122"/>
                          <a:cs typeface="Verdana" pitchFamily="34" charset="-120"/>
                        </a:rPr>
                        <a:t>−0,03</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4C2"/>
                    </a:solidFill>
                  </a:tcPr>
                </a:tc>
                <a:tc>
                  <a:txBody>
                    <a:bodyPr/>
                    <a:lstStyle/>
                    <a:p>
                      <a:pPr algn="ctr" indent="0" marL="0">
                        <a:buNone/>
                      </a:pPr>
                      <a:r>
                        <a:rPr lang="en-US" sz="900" b="1" dirty="0">
                          <a:solidFill>
                            <a:srgbClr val="F56600"/>
                          </a:solidFill>
                          <a:latin typeface="Verdana" pitchFamily="34" charset="0"/>
                          <a:ea typeface="Verdana" pitchFamily="34" charset="-122"/>
                          <a:cs typeface="Verdana" pitchFamily="34" charset="-120"/>
                        </a:rPr>
                        <a:t>−0,05</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4C2"/>
                    </a:solidFill>
                  </a:tcPr>
                </a:tc>
              </a:tr>
              <a:tr h="274320">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Alemania</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+1,24</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+1,05</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274320">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Francia</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+0,51</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+0,29</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274320">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Italia</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+1,39</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+1,00</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274320">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Portugal</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+0,66</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+0,25</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274320">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P. Bajos</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+1,15</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+1,07</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274320">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Irlanda</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+0,81</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+0,47</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bl>
          </a:graphicData>
        </a:graphic>
      </p:graphicFrame>
      <p:sp>
        <p:nvSpPr>
          <p:cNvPr id="14" name="Shape 10"/>
          <p:cNvSpPr/>
          <p:nvPr/>
        </p:nvSpPr>
        <p:spPr>
          <a:xfrm>
            <a:off x="8275320" y="4023360"/>
            <a:ext cx="3291840" cy="1783080"/>
          </a:xfrm>
          <a:prstGeom prst="roundRect">
            <a:avLst>
              <a:gd name="adj" fmla="val 2564"/>
            </a:avLst>
          </a:prstGeom>
          <a:solidFill>
            <a:srgbClr val="FFF4C2"/>
          </a:solidFill>
          <a:ln w="12700">
            <a:solidFill>
              <a:srgbClr val="FFF4C2"/>
            </a:solidFill>
            <a:prstDash val="solid"/>
          </a:ln>
        </p:spPr>
      </p:sp>
      <p:sp>
        <p:nvSpPr>
          <p:cNvPr id="15" name="Text 11"/>
          <p:cNvSpPr txBox="1"/>
          <p:nvPr/>
        </p:nvSpPr>
        <p:spPr>
          <a:xfrm>
            <a:off x="8476488" y="4151376"/>
            <a:ext cx="2889504" cy="27432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Con las dos definiciones</a:t>
            </a:r>
            <a:endParaRPr lang="en-US" sz="1150" dirty="0"/>
          </a:p>
        </p:txBody>
      </p:sp>
      <p:sp>
        <p:nvSpPr>
          <p:cNvPr id="16" name="Text 12"/>
          <p:cNvSpPr txBox="1"/>
          <p:nvPr/>
        </p:nvSpPr>
        <p:spPr>
          <a:xfrm>
            <a:off x="8476488" y="4462272"/>
            <a:ext cx="2889504" cy="1234440"/>
          </a:xfrm>
          <a:prstGeom prst="rect">
            <a:avLst/>
          </a:prstGeom>
          <a:noFill/>
          <a:ln/>
        </p:spPr>
        <p:txBody>
          <a:bodyPr wrap="square" lIns="0" tIns="0" rIns="0" bIns="0" rtlCol="0" anchor="t"/>
          <a:lstStyle/>
          <a:p>
            <a:pPr indent="0" marL="0">
              <a:buNone/>
            </a:pPr>
            <a:r>
              <a:rPr lang="en-US" sz="950" dirty="0">
                <a:solidFill>
                  <a:srgbClr val="2B2B2B"/>
                </a:solidFill>
                <a:latin typeface="Verdana" pitchFamily="34" charset="0"/>
                <a:ea typeface="Verdana" pitchFamily="34" charset="-122"/>
                <a:cs typeface="Verdana" pitchFamily="34" charset="-120"/>
              </a:rPr>
              <a:t>De +0,59 pp en 2022 a −0,03 pp. En 8 de los 55 meses el préstamo pequeño fue más barato que el grande.</a:t>
            </a:r>
            <a:endParaRPr lang="en-US" sz="950" dirty="0"/>
          </a:p>
        </p:txBody>
      </p:sp>
      <p:sp>
        <p:nvSpPr>
          <p:cNvPr id="17" name="Text 13"/>
          <p:cNvSpPr txBox="1"/>
          <p:nvPr/>
        </p:nvSpPr>
        <p:spPr>
          <a:xfrm>
            <a:off x="621792" y="6053328"/>
            <a:ext cx="10945368" cy="475488"/>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BCE, MIR. Definición estrecha: tramos extremos, la habitual en los informes del sector. Amplia: corte de 1 M€. La conclusión no cambia con ninguna de las dos. Serie mensual completa en prestamos_personales/prima_pyme.csv.</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3" name="Text 1"/>
          <p:cNvSpPr txBox="1"/>
          <p:nvPr/>
        </p:nvSpPr>
        <p:spPr>
          <a:xfrm>
            <a:off x="621792" y="6583680"/>
            <a:ext cx="548640" cy="182880"/>
          </a:xfrm>
          <a:prstGeom prst="rect">
            <a:avLst/>
          </a:prstGeom>
          <a:noFill/>
          <a:ln/>
        </p:spPr>
        <p:txBody>
          <a:bodyPr wrap="square" lIns="0" tIns="0" rIns="0" bIns="0" rtlCol="0" anchor="ctr"/>
          <a:lstStyle/>
          <a:p>
            <a:pPr indent="0" marL="0">
              <a:buNone/>
            </a:pPr>
            <a:r>
              <a:rPr lang="en-US" sz="800" dirty="0">
                <a:solidFill>
                  <a:srgbClr val="CACACA"/>
                </a:solidFill>
                <a:latin typeface="Verdana" pitchFamily="34" charset="0"/>
                <a:ea typeface="Verdana" pitchFamily="34" charset="-122"/>
                <a:cs typeface="Verdana" pitchFamily="34" charset="-120"/>
              </a:rPr>
              <a:t>7</a:t>
            </a:r>
            <a:endParaRPr lang="en-US" sz="800" dirty="0"/>
          </a:p>
        </p:txBody>
      </p:sp>
      <p:sp>
        <p:nvSpPr>
          <p:cNvPr id="4" name="Text 2"/>
          <p:cNvSpPr txBox="1"/>
          <p:nvPr/>
        </p:nvSpPr>
        <p:spPr>
          <a:xfrm>
            <a:off x="621792" y="420624"/>
            <a:ext cx="8430768" cy="658368"/>
          </a:xfrm>
          <a:prstGeom prst="rect">
            <a:avLst/>
          </a:prstGeom>
          <a:noFill/>
          <a:ln/>
        </p:spPr>
        <p:txBody>
          <a:bodyPr wrap="square" lIns="0" tIns="0" rIns="0" bIns="0" rtlCol="0" anchor="t"/>
          <a:lstStyle/>
          <a:p>
            <a:pPr indent="0" marL="0">
              <a:buNone/>
            </a:pPr>
            <a:r>
              <a:rPr lang="en-US" sz="2100" b="1" dirty="0">
                <a:solidFill>
                  <a:srgbClr val="2B2B2B"/>
                </a:solidFill>
                <a:latin typeface="Verdana" pitchFamily="34" charset="0"/>
                <a:ea typeface="Verdana" pitchFamily="34" charset="-122"/>
                <a:cs typeface="Verdana" pitchFamily="34" charset="-120"/>
              </a:rPr>
              <a:t>El circulante no es sistemáticamente más caro que el préstamo</a:t>
            </a:r>
            <a:endParaRPr lang="en-US" sz="2100" dirty="0"/>
          </a:p>
        </p:txBody>
      </p:sp>
      <p:sp>
        <p:nvSpPr>
          <p:cNvPr id="5" name="Text 3"/>
          <p:cNvSpPr txBox="1"/>
          <p:nvPr/>
        </p:nvSpPr>
        <p:spPr>
          <a:xfrm>
            <a:off x="621792" y="1097280"/>
            <a:ext cx="10945368" cy="329184"/>
          </a:xfrm>
          <a:prstGeom prst="rect">
            <a:avLst/>
          </a:prstGeom>
          <a:noFill/>
          <a:ln/>
        </p:spPr>
        <p:txBody>
          <a:bodyPr wrap="square" lIns="0" tIns="0" rIns="0" bIns="0" rtlCol="0" anchor="ctr"/>
          <a:lstStyle/>
          <a:p>
            <a:pPr indent="0" marL="0">
              <a:buNone/>
            </a:pPr>
            <a:r>
              <a:rPr lang="en-US" sz="1000" dirty="0">
                <a:solidFill>
                  <a:srgbClr val="818181"/>
                </a:solidFill>
                <a:latin typeface="Verdana" pitchFamily="34" charset="0"/>
                <a:ea typeface="Verdana" pitchFamily="34" charset="-122"/>
                <a:cs typeface="Verdana" pitchFamily="34" charset="-120"/>
              </a:rPr>
              <a:t>Tipo del circulante (descubiertos y líneas de crédito) frente al préstamo a empresas, todas las cuantías · Media de 2026</a:t>
            </a:r>
            <a:endParaRPr lang="en-US" sz="1000" dirty="0"/>
          </a:p>
        </p:txBody>
      </p:sp>
      <p:sp>
        <p:nvSpPr>
          <p:cNvPr id="6" name="Shape 4"/>
          <p:cNvSpPr/>
          <p:nvPr/>
        </p:nvSpPr>
        <p:spPr>
          <a:xfrm>
            <a:off x="9235440" y="640080"/>
            <a:ext cx="2331720" cy="365760"/>
          </a:xfrm>
          <a:prstGeom prst="roundRect">
            <a:avLst>
              <a:gd name="adj" fmla="val 15000"/>
            </a:avLst>
          </a:prstGeom>
          <a:solidFill>
            <a:srgbClr val="E5E5E5"/>
          </a:solidFill>
          <a:ln w="12700">
            <a:solidFill>
              <a:srgbClr val="E5E5E5"/>
            </a:solidFill>
            <a:prstDash val="solid"/>
          </a:ln>
        </p:spPr>
      </p:sp>
      <p:sp>
        <p:nvSpPr>
          <p:cNvPr id="7" name="Text 5"/>
          <p:cNvSpPr txBox="1"/>
          <p:nvPr/>
        </p:nvSpPr>
        <p:spPr>
          <a:xfrm>
            <a:off x="9308592" y="658368"/>
            <a:ext cx="2185416" cy="329184"/>
          </a:xfrm>
          <a:prstGeom prst="rect">
            <a:avLst/>
          </a:prstGeom>
          <a:noFill/>
          <a:ln/>
        </p:spPr>
        <p:txBody>
          <a:bodyPr wrap="square" lIns="0" tIns="0" rIns="0" bIns="0" rtlCol="0" anchor="ctr"/>
          <a:lstStyle/>
          <a:p>
            <a:pPr indent="0" marL="0">
              <a:buNone/>
            </a:pPr>
            <a:r>
              <a:rPr lang="en-US" sz="750" b="1" dirty="0">
                <a:solidFill>
                  <a:srgbClr val="2B2B2B"/>
                </a:solidFill>
                <a:latin typeface="Verdana" pitchFamily="34" charset="0"/>
                <a:ea typeface="Verdana" pitchFamily="34" charset="-122"/>
                <a:cs typeface="Verdana" pitchFamily="34" charset="-120"/>
              </a:rPr>
              <a:t>SIN SEGMENTO · todas las empresas</a:t>
            </a:r>
            <a:endParaRPr lang="en-US" sz="750" dirty="0"/>
          </a:p>
        </p:txBody>
      </p:sp>
      <p:graphicFrame>
        <p:nvGraphicFramePr>
          <p:cNvPr id="8" name="Chart 0" descr=""/>
          <p:cNvGraphicFramePr/>
          <p:nvPr/>
        </p:nvGraphicFramePr>
        <p:xfrm>
          <a:off x="621792" y="1554480"/>
          <a:ext cx="7360920" cy="416052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8275320" y="1554480"/>
            <a:ext cx="3291840" cy="2103120"/>
          </a:xfrm>
          <a:prstGeom prst="roundRect">
            <a:avLst>
              <a:gd name="adj" fmla="val 2174"/>
            </a:avLst>
          </a:prstGeom>
          <a:solidFill>
            <a:srgbClr val="F2F4F6"/>
          </a:solidFill>
          <a:ln w="12700">
            <a:solidFill>
              <a:srgbClr val="F2F4F6"/>
            </a:solidFill>
            <a:prstDash val="solid"/>
          </a:ln>
        </p:spPr>
      </p:sp>
      <p:sp>
        <p:nvSpPr>
          <p:cNvPr id="10" name="Text 7"/>
          <p:cNvSpPr txBox="1"/>
          <p:nvPr/>
        </p:nvSpPr>
        <p:spPr>
          <a:xfrm>
            <a:off x="8476488" y="1682496"/>
            <a:ext cx="2889504" cy="27432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Más caro en 4 de siete</a:t>
            </a:r>
            <a:endParaRPr lang="en-US" sz="1150" dirty="0"/>
          </a:p>
        </p:txBody>
      </p:sp>
      <p:sp>
        <p:nvSpPr>
          <p:cNvPr id="11" name="Text 8"/>
          <p:cNvSpPr txBox="1"/>
          <p:nvPr/>
        </p:nvSpPr>
        <p:spPr>
          <a:xfrm>
            <a:off x="8476488" y="1993392"/>
            <a:ext cx="2889504" cy="1554480"/>
          </a:xfrm>
          <a:prstGeom prst="rect">
            <a:avLst/>
          </a:prstGeom>
          <a:noFill/>
          <a:ln/>
        </p:spPr>
        <p:txBody>
          <a:bodyPr wrap="square" lIns="0" tIns="0" rIns="0" bIns="0" rtlCol="0" anchor="t"/>
          <a:lstStyle/>
          <a:p>
            <a:pPr indent="0" marL="0">
              <a:buNone/>
            </a:pPr>
            <a:r>
              <a:rPr lang="en-US" sz="950" dirty="0">
                <a:solidFill>
                  <a:srgbClr val="2B2B2B"/>
                </a:solidFill>
                <a:latin typeface="Verdana" pitchFamily="34" charset="0"/>
                <a:ea typeface="Verdana" pitchFamily="34" charset="-122"/>
                <a:cs typeface="Verdana" pitchFamily="34" charset="-120"/>
              </a:rPr>
              <a:t>Más caro en Alemania (+1,38 pp), Portugal, Italia y España; más barato en Países Bajos (−1,01 pp), Francia e Irlanda.</a:t>
            </a:r>
            <a:endParaRPr lang="en-US" sz="950" dirty="0"/>
          </a:p>
        </p:txBody>
      </p:sp>
      <p:sp>
        <p:nvSpPr>
          <p:cNvPr id="12" name="Shape 9"/>
          <p:cNvSpPr/>
          <p:nvPr/>
        </p:nvSpPr>
        <p:spPr>
          <a:xfrm>
            <a:off x="8275320" y="3794760"/>
            <a:ext cx="3291840" cy="1920240"/>
          </a:xfrm>
          <a:prstGeom prst="roundRect">
            <a:avLst>
              <a:gd name="adj" fmla="val 2381"/>
            </a:avLst>
          </a:prstGeom>
          <a:solidFill>
            <a:srgbClr val="F2F4F6"/>
          </a:solidFill>
          <a:ln w="12700">
            <a:solidFill>
              <a:srgbClr val="F2F4F6"/>
            </a:solidFill>
            <a:prstDash val="solid"/>
          </a:ln>
        </p:spPr>
      </p:sp>
      <p:sp>
        <p:nvSpPr>
          <p:cNvPr id="13" name="Text 10"/>
          <p:cNvSpPr txBox="1"/>
          <p:nvPr/>
        </p:nvSpPr>
        <p:spPr>
          <a:xfrm>
            <a:off x="8476488" y="3922776"/>
            <a:ext cx="2889504" cy="27432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Por qué no es un dato de PYME</a:t>
            </a:r>
            <a:endParaRPr lang="en-US" sz="1150" dirty="0"/>
          </a:p>
        </p:txBody>
      </p:sp>
      <p:sp>
        <p:nvSpPr>
          <p:cNvPr id="14" name="Text 11"/>
          <p:cNvSpPr txBox="1"/>
          <p:nvPr/>
        </p:nvSpPr>
        <p:spPr>
          <a:xfrm>
            <a:off x="8476488" y="4233672"/>
            <a:ext cx="2889504" cy="1371600"/>
          </a:xfrm>
          <a:prstGeom prst="rect">
            <a:avLst/>
          </a:prstGeom>
          <a:noFill/>
          <a:ln/>
        </p:spPr>
        <p:txBody>
          <a:bodyPr wrap="square" lIns="0" tIns="0" rIns="0" bIns="0" rtlCol="0" anchor="t"/>
          <a:lstStyle/>
          <a:p>
            <a:pPr indent="0" marL="0">
              <a:buNone/>
            </a:pPr>
            <a:r>
              <a:rPr lang="en-US" sz="950" dirty="0">
                <a:solidFill>
                  <a:srgbClr val="2B2B2B"/>
                </a:solidFill>
                <a:latin typeface="Verdana" pitchFamily="34" charset="0"/>
                <a:ea typeface="Verdana" pitchFamily="34" charset="-122"/>
                <a:cs typeface="Verdana" pitchFamily="34" charset="-120"/>
              </a:rPr>
              <a:t>El MIR no desglosa el circulante por tramo de importe. Es el precio de todas las empresas, y por eso se compara con el préstamo de todas las cuantías, no con el tramo PYME.</a:t>
            </a:r>
            <a:endParaRPr lang="en-US" sz="950" dirty="0"/>
          </a:p>
        </p:txBody>
      </p:sp>
      <p:sp>
        <p:nvSpPr>
          <p:cNvPr id="15" name="Text 12"/>
          <p:cNvSpPr txBox="1"/>
          <p:nvPr/>
        </p:nvSpPr>
        <p:spPr>
          <a:xfrm>
            <a:off x="621792" y="6053328"/>
            <a:ext cx="10945368" cy="475488"/>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BCE, MIR: descubiertos y crédito renovable (serie sin tarjetas) y préstamos a sociedades no financieras de todas las cuantías, operaciones nuevas, 2026. Sin comisiones: la de disponibilidad del circulante no la publica ninguna estadística.</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3" name="Text 1"/>
          <p:cNvSpPr txBox="1"/>
          <p:nvPr/>
        </p:nvSpPr>
        <p:spPr>
          <a:xfrm>
            <a:off x="621792" y="6583680"/>
            <a:ext cx="548640" cy="182880"/>
          </a:xfrm>
          <a:prstGeom prst="rect">
            <a:avLst/>
          </a:prstGeom>
          <a:noFill/>
          <a:ln/>
        </p:spPr>
        <p:txBody>
          <a:bodyPr wrap="square" lIns="0" tIns="0" rIns="0" bIns="0" rtlCol="0" anchor="ctr"/>
          <a:lstStyle/>
          <a:p>
            <a:pPr indent="0" marL="0">
              <a:buNone/>
            </a:pPr>
            <a:r>
              <a:rPr lang="en-US" sz="800" dirty="0">
                <a:solidFill>
                  <a:srgbClr val="CACACA"/>
                </a:solidFill>
                <a:latin typeface="Verdana" pitchFamily="34" charset="0"/>
                <a:ea typeface="Verdana" pitchFamily="34" charset="-122"/>
                <a:cs typeface="Verdana" pitchFamily="34" charset="-120"/>
              </a:rPr>
              <a:t>8</a:t>
            </a:r>
            <a:endParaRPr lang="en-US" sz="800" dirty="0"/>
          </a:p>
        </p:txBody>
      </p:sp>
      <p:sp>
        <p:nvSpPr>
          <p:cNvPr id="4" name="Text 2"/>
          <p:cNvSpPr txBox="1"/>
          <p:nvPr/>
        </p:nvSpPr>
        <p:spPr>
          <a:xfrm>
            <a:off x="621792" y="420624"/>
            <a:ext cx="8430768" cy="658368"/>
          </a:xfrm>
          <a:prstGeom prst="rect">
            <a:avLst/>
          </a:prstGeom>
          <a:noFill/>
          <a:ln/>
        </p:spPr>
        <p:txBody>
          <a:bodyPr wrap="square" lIns="0" tIns="0" rIns="0" bIns="0" rtlCol="0" anchor="t"/>
          <a:lstStyle/>
          <a:p>
            <a:pPr indent="0" marL="0">
              <a:buNone/>
            </a:pPr>
            <a:r>
              <a:rPr lang="en-US" sz="2100" b="1" dirty="0">
                <a:solidFill>
                  <a:srgbClr val="2B2B2B"/>
                </a:solidFill>
                <a:latin typeface="Verdana" pitchFamily="34" charset="0"/>
                <a:ea typeface="Verdana" pitchFamily="34" charset="-122"/>
                <a:cs typeface="Verdana" pitchFamily="34" charset="-120"/>
              </a:rPr>
              <a:t>España es donde más se paga el depósito de empresa frente al del sistema</a:t>
            </a:r>
            <a:endParaRPr lang="en-US" sz="2100" dirty="0"/>
          </a:p>
        </p:txBody>
      </p:sp>
      <p:sp>
        <p:nvSpPr>
          <p:cNvPr id="5" name="Text 3"/>
          <p:cNvSpPr txBox="1"/>
          <p:nvPr/>
        </p:nvSpPr>
        <p:spPr>
          <a:xfrm>
            <a:off x="621792" y="1097280"/>
            <a:ext cx="10945368" cy="329184"/>
          </a:xfrm>
          <a:prstGeom prst="rect">
            <a:avLst/>
          </a:prstGeom>
          <a:noFill/>
          <a:ln/>
        </p:spPr>
        <p:txBody>
          <a:bodyPr wrap="square" lIns="0" tIns="0" rIns="0" bIns="0" rtlCol="0" anchor="ctr"/>
          <a:lstStyle/>
          <a:p>
            <a:pPr indent="0" marL="0">
              <a:buNone/>
            </a:pPr>
            <a:r>
              <a:rPr lang="en-US" sz="1000" dirty="0">
                <a:solidFill>
                  <a:srgbClr val="818181"/>
                </a:solidFill>
                <a:latin typeface="Verdana" pitchFamily="34" charset="0"/>
                <a:ea typeface="Verdana" pitchFamily="34" charset="-122"/>
                <a:cs typeface="Verdana" pitchFamily="34" charset="-120"/>
              </a:rPr>
              <a:t>Coste medio de los depósitos a la vista y a plazo, ponderado por saldos · 2026</a:t>
            </a:r>
            <a:endParaRPr lang="en-US" sz="1000" dirty="0"/>
          </a:p>
        </p:txBody>
      </p:sp>
      <p:sp>
        <p:nvSpPr>
          <p:cNvPr id="6" name="Shape 4"/>
          <p:cNvSpPr/>
          <p:nvPr/>
        </p:nvSpPr>
        <p:spPr>
          <a:xfrm>
            <a:off x="9235440" y="640080"/>
            <a:ext cx="2331720" cy="365760"/>
          </a:xfrm>
          <a:prstGeom prst="roundRect">
            <a:avLst>
              <a:gd name="adj" fmla="val 15000"/>
            </a:avLst>
          </a:prstGeom>
          <a:solidFill>
            <a:srgbClr val="E5E5E5"/>
          </a:solidFill>
          <a:ln w="12700">
            <a:solidFill>
              <a:srgbClr val="E5E5E5"/>
            </a:solidFill>
            <a:prstDash val="solid"/>
          </a:ln>
        </p:spPr>
      </p:sp>
      <p:sp>
        <p:nvSpPr>
          <p:cNvPr id="7" name="Text 5"/>
          <p:cNvSpPr txBox="1"/>
          <p:nvPr/>
        </p:nvSpPr>
        <p:spPr>
          <a:xfrm>
            <a:off x="9308592" y="658368"/>
            <a:ext cx="2185416" cy="329184"/>
          </a:xfrm>
          <a:prstGeom prst="rect">
            <a:avLst/>
          </a:prstGeom>
          <a:noFill/>
          <a:ln/>
        </p:spPr>
        <p:txBody>
          <a:bodyPr wrap="square" lIns="0" tIns="0" rIns="0" bIns="0" rtlCol="0" anchor="ctr"/>
          <a:lstStyle/>
          <a:p>
            <a:pPr indent="0" marL="0">
              <a:buNone/>
            </a:pPr>
            <a:r>
              <a:rPr lang="en-US" sz="750" b="1" dirty="0">
                <a:solidFill>
                  <a:srgbClr val="2B2B2B"/>
                </a:solidFill>
                <a:latin typeface="Verdana" pitchFamily="34" charset="0"/>
                <a:ea typeface="Verdana" pitchFamily="34" charset="-122"/>
                <a:cs typeface="Verdana" pitchFamily="34" charset="-120"/>
              </a:rPr>
              <a:t>SIN SEGMENTO · todas las empresas</a:t>
            </a:r>
            <a:endParaRPr lang="en-US" sz="750" dirty="0"/>
          </a:p>
        </p:txBody>
      </p:sp>
      <p:graphicFrame>
        <p:nvGraphicFramePr>
          <p:cNvPr id="8" name="Chart 0" descr=""/>
          <p:cNvGraphicFramePr/>
          <p:nvPr/>
        </p:nvGraphicFramePr>
        <p:xfrm>
          <a:off x="621792" y="1554480"/>
          <a:ext cx="7360920" cy="416052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8275320" y="1554480"/>
            <a:ext cx="3291840" cy="2057400"/>
          </a:xfrm>
          <a:prstGeom prst="roundRect">
            <a:avLst>
              <a:gd name="adj" fmla="val 2222"/>
            </a:avLst>
          </a:prstGeom>
          <a:solidFill>
            <a:srgbClr val="FFF4C2"/>
          </a:solidFill>
          <a:ln w="12700">
            <a:solidFill>
              <a:srgbClr val="FFF4C2"/>
            </a:solidFill>
            <a:prstDash val="solid"/>
          </a:ln>
        </p:spPr>
      </p:sp>
      <p:sp>
        <p:nvSpPr>
          <p:cNvPr id="10" name="Text 7"/>
          <p:cNvSpPr txBox="1"/>
          <p:nvPr/>
        </p:nvSpPr>
        <p:spPr>
          <a:xfrm>
            <a:off x="8476488" y="1682496"/>
            <a:ext cx="2889504" cy="27432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España, la mayor distancia</a:t>
            </a:r>
            <a:endParaRPr lang="en-US" sz="1150" dirty="0"/>
          </a:p>
        </p:txBody>
      </p:sp>
      <p:sp>
        <p:nvSpPr>
          <p:cNvPr id="11" name="Text 8"/>
          <p:cNvSpPr txBox="1"/>
          <p:nvPr/>
        </p:nvSpPr>
        <p:spPr>
          <a:xfrm>
            <a:off x="8476488" y="1993392"/>
            <a:ext cx="2889504" cy="1508760"/>
          </a:xfrm>
          <a:prstGeom prst="rect">
            <a:avLst/>
          </a:prstGeom>
          <a:noFill/>
          <a:ln/>
        </p:spPr>
        <p:txBody>
          <a:bodyPr wrap="square" lIns="0" tIns="0" rIns="0" bIns="0" rtlCol="0" anchor="t"/>
          <a:lstStyle/>
          <a:p>
            <a:pPr indent="0" marL="0">
              <a:buNone/>
            </a:pPr>
            <a:r>
              <a:rPr lang="en-US" sz="950" dirty="0">
                <a:solidFill>
                  <a:srgbClr val="2B2B2B"/>
                </a:solidFill>
                <a:latin typeface="Verdana" pitchFamily="34" charset="0"/>
                <a:ea typeface="Verdana" pitchFamily="34" charset="-122"/>
                <a:cs typeface="Verdana" pitchFamily="34" charset="-120"/>
              </a:rPr>
              <a:t>La empresa española cobra 0,76 % por sus depósitos y el hogar 0,40 %. Es la diferencia más grande de los siete: 27 pb sobre el sistema.</a:t>
            </a:r>
            <a:endParaRPr lang="en-US" sz="950" dirty="0"/>
          </a:p>
        </p:txBody>
      </p:sp>
      <p:sp>
        <p:nvSpPr>
          <p:cNvPr id="12" name="Shape 9"/>
          <p:cNvSpPr/>
          <p:nvPr/>
        </p:nvSpPr>
        <p:spPr>
          <a:xfrm>
            <a:off x="8275320" y="3749040"/>
            <a:ext cx="3291840" cy="1965960"/>
          </a:xfrm>
          <a:prstGeom prst="roundRect">
            <a:avLst>
              <a:gd name="adj" fmla="val 2326"/>
            </a:avLst>
          </a:prstGeom>
          <a:solidFill>
            <a:srgbClr val="F2F4F6"/>
          </a:solidFill>
          <a:ln w="12700">
            <a:solidFill>
              <a:srgbClr val="F2F4F6"/>
            </a:solidFill>
            <a:prstDash val="solid"/>
          </a:ln>
        </p:spPr>
      </p:sp>
      <p:sp>
        <p:nvSpPr>
          <p:cNvPr id="13" name="Text 10"/>
          <p:cNvSpPr txBox="1"/>
          <p:nvPr/>
        </p:nvSpPr>
        <p:spPr>
          <a:xfrm>
            <a:off x="8476488" y="3877056"/>
            <a:ext cx="2889504" cy="27432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Por qué no es un dato de PYME</a:t>
            </a:r>
            <a:endParaRPr lang="en-US" sz="1150" dirty="0"/>
          </a:p>
        </p:txBody>
      </p:sp>
      <p:sp>
        <p:nvSpPr>
          <p:cNvPr id="14" name="Text 11"/>
          <p:cNvSpPr txBox="1"/>
          <p:nvPr/>
        </p:nvSpPr>
        <p:spPr>
          <a:xfrm>
            <a:off x="8476488" y="4187952"/>
            <a:ext cx="2889504" cy="1417320"/>
          </a:xfrm>
          <a:prstGeom prst="rect">
            <a:avLst/>
          </a:prstGeom>
          <a:noFill/>
          <a:ln/>
        </p:spPr>
        <p:txBody>
          <a:bodyPr wrap="square" lIns="0" tIns="0" rIns="0" bIns="0" rtlCol="0" anchor="t"/>
          <a:lstStyle/>
          <a:p>
            <a:pPr indent="0" marL="0">
              <a:buNone/>
            </a:pPr>
            <a:r>
              <a:rPr lang="en-US" sz="950" dirty="0">
                <a:solidFill>
                  <a:srgbClr val="2B2B2B"/>
                </a:solidFill>
                <a:latin typeface="Verdana" pitchFamily="34" charset="0"/>
                <a:ea typeface="Verdana" pitchFamily="34" charset="-122"/>
                <a:cs typeface="Verdana" pitchFamily="34" charset="-120"/>
              </a:rPr>
              <a:t>Es el depósito de todas las sociedades no financieras, incluida la tesorería de la gran empresa. El BCE no lo desglosa por tamaño.</a:t>
            </a:r>
            <a:endParaRPr lang="en-US" sz="950" dirty="0"/>
          </a:p>
        </p:txBody>
      </p:sp>
      <p:sp>
        <p:nvSpPr>
          <p:cNvPr id="15" name="Text 12"/>
          <p:cNvSpPr txBox="1"/>
          <p:nvPr/>
        </p:nvSpPr>
        <p:spPr>
          <a:xfrm>
            <a:off x="621792" y="6053328"/>
            <a:ext cx="10945368" cy="475488"/>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BCE, MIR (tipos de depósito de nueva producción, sector 2240 empresas y 2250 hogares) ponderados por los saldos a la vista y a plazo del BSI. El BSI es la estadística de balance de los bancos de la zona euro.</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F56600"/>
          </a:solidFill>
          <a:ln w="12700">
            <a:solidFill>
              <a:srgbClr val="F56600"/>
            </a:solidFill>
            <a:prstDash val="solid"/>
          </a:ln>
        </p:spPr>
      </p:sp>
      <p:sp>
        <p:nvSpPr>
          <p:cNvPr id="3" name="Text 1"/>
          <p:cNvSpPr txBox="1"/>
          <p:nvPr/>
        </p:nvSpPr>
        <p:spPr>
          <a:xfrm>
            <a:off x="621792" y="868680"/>
            <a:ext cx="3200400" cy="292608"/>
          </a:xfrm>
          <a:prstGeom prst="rect">
            <a:avLst/>
          </a:prstGeom>
          <a:noFill/>
          <a:ln/>
        </p:spPr>
        <p:txBody>
          <a:bodyPr wrap="square" lIns="0" tIns="0" rIns="0" bIns="0" rtlCol="0" anchor="ctr"/>
          <a:lstStyle/>
          <a:p>
            <a:pPr indent="0" marL="0">
              <a:buNone/>
            </a:pPr>
            <a:r>
              <a:rPr lang="en-US" sz="1100" b="1" spc="200" kern="0" dirty="0">
                <a:solidFill>
                  <a:srgbClr val="FFFFFF"/>
                </a:solidFill>
                <a:latin typeface="Verdana" pitchFamily="34" charset="0"/>
                <a:ea typeface="Verdana" pitchFamily="34" charset="-122"/>
                <a:cs typeface="Verdana" pitchFamily="34" charset="-120"/>
              </a:rPr>
              <a:t>FUENTE 2</a:t>
            </a:r>
            <a:endParaRPr lang="en-US" sz="1100" dirty="0"/>
          </a:p>
        </p:txBody>
      </p:sp>
      <p:sp>
        <p:nvSpPr>
          <p:cNvPr id="4" name="Text 2"/>
          <p:cNvSpPr txBox="1"/>
          <p:nvPr/>
        </p:nvSpPr>
        <p:spPr>
          <a:xfrm>
            <a:off x="621792" y="1234440"/>
            <a:ext cx="3291840" cy="1417320"/>
          </a:xfrm>
          <a:prstGeom prst="rect">
            <a:avLst/>
          </a:prstGeom>
          <a:noFill/>
          <a:ln/>
        </p:spPr>
        <p:txBody>
          <a:bodyPr wrap="square" lIns="0" tIns="0" rIns="0" bIns="0" rtlCol="0" anchor="t"/>
          <a:lstStyle/>
          <a:p>
            <a:pPr indent="0" marL="0">
              <a:buNone/>
            </a:pPr>
            <a:r>
              <a:rPr lang="en-US" sz="2600" b="1" dirty="0">
                <a:solidFill>
                  <a:srgbClr val="FFFFFF"/>
                </a:solidFill>
                <a:latin typeface="Verdana" pitchFamily="34" charset="0"/>
                <a:ea typeface="Verdana" pitchFamily="34" charset="-122"/>
                <a:cs typeface="Verdana" pitchFamily="34" charset="-120"/>
              </a:rPr>
              <a:t>SAFE</a:t>
            </a:r>
            <a:endParaRPr lang="en-US" sz="2600" dirty="0"/>
          </a:p>
        </p:txBody>
      </p:sp>
      <p:sp>
        <p:nvSpPr>
          <p:cNvPr id="5" name="Text 3"/>
          <p:cNvSpPr txBox="1"/>
          <p:nvPr/>
        </p:nvSpPr>
        <p:spPr>
          <a:xfrm>
            <a:off x="621792" y="2697480"/>
            <a:ext cx="3200400" cy="566928"/>
          </a:xfrm>
          <a:prstGeom prst="rect">
            <a:avLst/>
          </a:prstGeom>
          <a:noFill/>
          <a:ln/>
        </p:spPr>
        <p:txBody>
          <a:bodyPr wrap="square" lIns="0" tIns="0" rIns="0" bIns="0" rtlCol="0" anchor="t"/>
          <a:lstStyle/>
          <a:p>
            <a:pPr indent="0" marL="0">
              <a:buNone/>
            </a:pPr>
            <a:r>
              <a:rPr lang="en-US" sz="1050" dirty="0">
                <a:solidFill>
                  <a:srgbClr val="FFFFFF"/>
                </a:solidFill>
                <a:latin typeface="Verdana" pitchFamily="34" charset="0"/>
                <a:ea typeface="Verdana" pitchFamily="34" charset="-122"/>
                <a:cs typeface="Verdana" pitchFamily="34" charset="-120"/>
              </a:rPr>
              <a:t>Banco Central Europeo · Survey on the Access to Finance of Enterprises</a:t>
            </a:r>
            <a:endParaRPr lang="en-US" sz="1050" dirty="0"/>
          </a:p>
        </p:txBody>
      </p:sp>
      <p:sp>
        <p:nvSpPr>
          <p:cNvPr id="6" name="Shape 4"/>
          <p:cNvSpPr/>
          <p:nvPr/>
        </p:nvSpPr>
        <p:spPr>
          <a:xfrm>
            <a:off x="621792" y="4160520"/>
            <a:ext cx="3154680" cy="1325880"/>
          </a:xfrm>
          <a:prstGeom prst="roundRect">
            <a:avLst>
              <a:gd name="adj" fmla="val 4138"/>
            </a:avLst>
          </a:prstGeom>
          <a:solidFill>
            <a:srgbClr val="FFFFFF"/>
          </a:solidFill>
          <a:ln w="12700">
            <a:solidFill>
              <a:srgbClr val="FFFFFF"/>
            </a:solidFill>
            <a:prstDash val="solid"/>
          </a:ln>
        </p:spPr>
      </p:sp>
      <p:sp>
        <p:nvSpPr>
          <p:cNvPr id="7" name="Text 5"/>
          <p:cNvSpPr txBox="1"/>
          <p:nvPr/>
        </p:nvSpPr>
        <p:spPr>
          <a:xfrm>
            <a:off x="804672" y="4270248"/>
            <a:ext cx="2834640" cy="219456"/>
          </a:xfrm>
          <a:prstGeom prst="rect">
            <a:avLst/>
          </a:prstGeom>
          <a:noFill/>
          <a:ln/>
        </p:spPr>
        <p:txBody>
          <a:bodyPr wrap="square" lIns="0" tIns="0" rIns="0" bIns="0" rtlCol="0" anchor="ctr"/>
          <a:lstStyle/>
          <a:p>
            <a:pPr indent="0" marL="0">
              <a:buNone/>
            </a:pPr>
            <a:r>
              <a:rPr lang="en-US" sz="800" b="1" spc="100" kern="0" dirty="0">
                <a:solidFill>
                  <a:srgbClr val="818181"/>
                </a:solidFill>
                <a:latin typeface="Verdana" pitchFamily="34" charset="0"/>
                <a:ea typeface="Verdana" pitchFamily="34" charset="-122"/>
                <a:cs typeface="Verdana" pitchFamily="34" charset="-120"/>
              </a:rPr>
              <a:t>QUÉ LLAMA PYME</a:t>
            </a:r>
            <a:endParaRPr lang="en-US" sz="800" dirty="0"/>
          </a:p>
        </p:txBody>
      </p:sp>
      <p:sp>
        <p:nvSpPr>
          <p:cNvPr id="8" name="Text 6"/>
          <p:cNvSpPr txBox="1"/>
          <p:nvPr/>
        </p:nvSpPr>
        <p:spPr>
          <a:xfrm>
            <a:off x="804672" y="4507992"/>
            <a:ext cx="2834640" cy="502920"/>
          </a:xfrm>
          <a:prstGeom prst="rect">
            <a:avLst/>
          </a:prstGeom>
          <a:noFill/>
          <a:ln/>
        </p:spPr>
        <p:txBody>
          <a:bodyPr wrap="square" lIns="0" tIns="0" rIns="0" bIns="0" rtlCol="0" anchor="t"/>
          <a:lstStyle/>
          <a:p>
            <a:pPr indent="0" marL="0">
              <a:buNone/>
            </a:pPr>
            <a:r>
              <a:rPr lang="en-US" sz="1200" b="1" dirty="0">
                <a:solidFill>
                  <a:srgbClr val="2B2B2B"/>
                </a:solidFill>
                <a:latin typeface="Verdana" pitchFamily="34" charset="0"/>
                <a:ea typeface="Verdana" pitchFamily="34" charset="-122"/>
                <a:cs typeface="Verdana" pitchFamily="34" charset="-120"/>
              </a:rPr>
              <a:t>menos de 250 empleados</a:t>
            </a:r>
            <a:endParaRPr lang="en-US" sz="1200" dirty="0"/>
          </a:p>
        </p:txBody>
      </p:sp>
      <p:sp>
        <p:nvSpPr>
          <p:cNvPr id="9" name="Shape 7"/>
          <p:cNvSpPr/>
          <p:nvPr/>
        </p:nvSpPr>
        <p:spPr>
          <a:xfrm>
            <a:off x="804672" y="5074920"/>
            <a:ext cx="2788920" cy="274320"/>
          </a:xfrm>
          <a:prstGeom prst="roundRect">
            <a:avLst>
              <a:gd name="adj" fmla="val 26667"/>
            </a:avLst>
          </a:prstGeom>
          <a:solidFill>
            <a:srgbClr val="FFD6BA"/>
          </a:solidFill>
          <a:ln w="12700">
            <a:solidFill>
              <a:srgbClr val="FFD6BA"/>
            </a:solidFill>
            <a:prstDash val="solid"/>
          </a:ln>
        </p:spPr>
      </p:sp>
      <p:sp>
        <p:nvSpPr>
          <p:cNvPr id="10" name="Text 8"/>
          <p:cNvSpPr txBox="1"/>
          <p:nvPr/>
        </p:nvSpPr>
        <p:spPr>
          <a:xfrm>
            <a:off x="804672" y="5074920"/>
            <a:ext cx="2788920" cy="274320"/>
          </a:xfrm>
          <a:prstGeom prst="rect">
            <a:avLst/>
          </a:prstGeom>
          <a:noFill/>
          <a:ln/>
        </p:spPr>
        <p:txBody>
          <a:bodyPr wrap="square" lIns="0" tIns="0" rIns="0" bIns="0" rtlCol="0" anchor="ctr"/>
          <a:lstStyle/>
          <a:p>
            <a:pPr algn="ctr" indent="0" marL="0">
              <a:buNone/>
            </a:pPr>
            <a:r>
              <a:rPr lang="en-US" sz="850" b="1" dirty="0">
                <a:solidFill>
                  <a:srgbClr val="2B2B2B"/>
                </a:solidFill>
                <a:latin typeface="Verdana" pitchFamily="34" charset="0"/>
                <a:ea typeface="Verdana" pitchFamily="34" charset="-122"/>
                <a:cs typeface="Verdana" pitchFamily="34" charset="-120"/>
              </a:rPr>
              <a:t>Un solo criterio de la estándar</a:t>
            </a:r>
            <a:endParaRPr lang="en-US" sz="850" dirty="0"/>
          </a:p>
        </p:txBody>
      </p:sp>
      <p:sp>
        <p:nvSpPr>
          <p:cNvPr id="11" name="Text 9"/>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12" name="Text 10"/>
          <p:cNvSpPr txBox="1"/>
          <p:nvPr/>
        </p:nvSpPr>
        <p:spPr>
          <a:xfrm>
            <a:off x="4709160" y="868680"/>
            <a:ext cx="685800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Qué es</a:t>
            </a:r>
            <a:endParaRPr lang="en-US" sz="1250" dirty="0"/>
          </a:p>
        </p:txBody>
      </p:sp>
      <p:sp>
        <p:nvSpPr>
          <p:cNvPr id="13" name="Text 11"/>
          <p:cNvSpPr txBox="1"/>
          <p:nvPr/>
        </p:nvSpPr>
        <p:spPr>
          <a:xfrm>
            <a:off x="4709160" y="1179576"/>
            <a:ext cx="6858000" cy="731520"/>
          </a:xfrm>
          <a:prstGeom prst="rect">
            <a:avLst/>
          </a:prstGeom>
          <a:noFill/>
          <a:ln/>
        </p:spPr>
        <p:txBody>
          <a:bodyPr wrap="square" lIns="0" tIns="0" rIns="0" bIns="0" rtlCol="0" anchor="t"/>
          <a:lstStyle/>
          <a:p>
            <a:pPr indent="0" marL="0">
              <a:spcAft>
                <a:spcPts val="300"/>
              </a:spcAft>
              <a:buNone/>
            </a:pPr>
            <a:r>
              <a:rPr lang="en-US" sz="1050" dirty="0">
                <a:solidFill>
                  <a:srgbClr val="2B2B2B"/>
                </a:solidFill>
                <a:latin typeface="Verdana" pitchFamily="34" charset="0"/>
                <a:ea typeface="Verdana" pitchFamily="34" charset="-122"/>
                <a:cs typeface="Verdana" pitchFamily="34" charset="-120"/>
              </a:rPr>
              <a:t>Encuesta semestral del BCE a empresas de la zona euro sobre su acceso a la financiación: si piden crédito, qué obtienen y cómo cambia su necesidad y su disponibilidad.</a:t>
            </a:r>
            <a:endParaRPr lang="en-US" sz="1050" dirty="0"/>
          </a:p>
        </p:txBody>
      </p:sp>
      <p:sp>
        <p:nvSpPr>
          <p:cNvPr id="14" name="Text 12"/>
          <p:cNvSpPr txBox="1"/>
          <p:nvPr/>
        </p:nvSpPr>
        <p:spPr>
          <a:xfrm>
            <a:off x="4709160" y="2011680"/>
            <a:ext cx="685800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Qué hemos obtenido</a:t>
            </a:r>
            <a:endParaRPr lang="en-US" sz="1250" dirty="0"/>
          </a:p>
        </p:txBody>
      </p:sp>
      <p:sp>
        <p:nvSpPr>
          <p:cNvPr id="15" name="Text 13"/>
          <p:cNvSpPr txBox="1"/>
          <p:nvPr/>
        </p:nvSpPr>
        <p:spPr>
          <a:xfrm>
            <a:off x="4709160" y="2322576"/>
            <a:ext cx="6858000" cy="141732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2B2B2B"/>
                </a:solidFill>
                <a:latin typeface="Verdana" pitchFamily="34" charset="0"/>
                <a:ea typeface="Verdana" pitchFamily="34" charset="-122"/>
                <a:cs typeface="Verdana" pitchFamily="34" charset="-120"/>
              </a:rPr>
              <a:t>Resultado de la solicitud de préstamo bancario: todo, una parte, rechazo por precio o rechazo del banco</a:t>
            </a:r>
            <a:endParaRPr lang="en-US" sz="1050" dirty="0"/>
          </a:p>
          <a:p>
            <a:pPr marL="342900" indent="-342900">
              <a:spcAft>
                <a:spcPts val="300"/>
              </a:spcAft>
              <a:buSzPct val="100000"/>
              <a:buChar char="•"/>
            </a:pPr>
            <a:r>
              <a:rPr lang="en-US" sz="1050" dirty="0">
                <a:solidFill>
                  <a:srgbClr val="2B2B2B"/>
                </a:solidFill>
                <a:latin typeface="Verdana" pitchFamily="34" charset="0"/>
                <a:ea typeface="Verdana" pitchFamily="34" charset="-122"/>
                <a:cs typeface="Verdana" pitchFamily="34" charset="-120"/>
              </a:rPr>
              <a:t>Tasa de rechazo, desde 2009</a:t>
            </a:r>
            <a:endParaRPr lang="en-US" sz="1050" dirty="0"/>
          </a:p>
          <a:p>
            <a:pPr marL="342900" indent="-342900">
              <a:spcAft>
                <a:spcPts val="300"/>
              </a:spcAft>
              <a:buSzPct val="100000"/>
              <a:buChar char="•"/>
            </a:pPr>
            <a:r>
              <a:rPr lang="en-US" sz="1050" dirty="0">
                <a:solidFill>
                  <a:srgbClr val="2B2B2B"/>
                </a:solidFill>
                <a:latin typeface="Verdana" pitchFamily="34" charset="0"/>
                <a:ea typeface="Verdana" pitchFamily="34" charset="-122"/>
                <a:cs typeface="Verdana" pitchFamily="34" charset="-120"/>
              </a:rPr>
              <a:t>Brecha de financiación: indicador de cambio que cruza necesidad y disponibilidad</a:t>
            </a:r>
            <a:endParaRPr lang="en-US" sz="1050" dirty="0"/>
          </a:p>
        </p:txBody>
      </p:sp>
      <p:sp>
        <p:nvSpPr>
          <p:cNvPr id="16" name="Text 14"/>
          <p:cNvSpPr txBox="1"/>
          <p:nvPr/>
        </p:nvSpPr>
        <p:spPr>
          <a:xfrm>
            <a:off x="4709160" y="3886200"/>
            <a:ext cx="685800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Por qué aplica a PYME, y hasta dónde</a:t>
            </a:r>
            <a:endParaRPr lang="en-US" sz="1250" dirty="0"/>
          </a:p>
        </p:txBody>
      </p:sp>
      <p:sp>
        <p:nvSpPr>
          <p:cNvPr id="17" name="Text 15"/>
          <p:cNvSpPr txBox="1"/>
          <p:nvPr/>
        </p:nvSpPr>
        <p:spPr>
          <a:xfrm>
            <a:off x="4709160" y="4197096"/>
            <a:ext cx="6858000" cy="1234440"/>
          </a:xfrm>
          <a:prstGeom prst="rect">
            <a:avLst/>
          </a:prstGeom>
          <a:noFill/>
          <a:ln/>
        </p:spPr>
        <p:txBody>
          <a:bodyPr wrap="square" lIns="0" tIns="0" rIns="0" bIns="0" rtlCol="0" anchor="t"/>
          <a:lstStyle/>
          <a:p>
            <a:pPr indent="0" marL="0">
              <a:spcAft>
                <a:spcPts val="300"/>
              </a:spcAft>
              <a:buNone/>
            </a:pPr>
            <a:r>
              <a:rPr lang="en-US" sz="1050" dirty="0">
                <a:solidFill>
                  <a:srgbClr val="2B2B2B"/>
                </a:solidFill>
                <a:latin typeface="Verdana" pitchFamily="34" charset="0"/>
                <a:ea typeface="Verdana" pitchFamily="34" charset="-122"/>
                <a:cs typeface="Verdana" pitchFamily="34" charset="-120"/>
              </a:rPr>
              <a:t>Es la fuente más directamente de PYME: pregunta a la empresa y la clasifica por su número de empleados, menos de 250. No usa facturación ni balance, así que es uno de los dos criterios de la definición estándar. Es una encuesta: da porcentajes de empresas, no importes.</a:t>
            </a:r>
            <a:endParaRPr lang="en-US" sz="1050" dirty="0"/>
          </a:p>
        </p:txBody>
      </p:sp>
      <p:sp>
        <p:nvSpPr>
          <p:cNvPr id="18" name="Text 16"/>
          <p:cNvSpPr txBox="1"/>
          <p:nvPr/>
        </p:nvSpPr>
        <p:spPr>
          <a:xfrm>
            <a:off x="4709160" y="5806440"/>
            <a:ext cx="6858000" cy="384048"/>
          </a:xfrm>
          <a:prstGeom prst="rect">
            <a:avLst/>
          </a:prstGeom>
          <a:noFill/>
          <a:ln/>
        </p:spPr>
        <p:txBody>
          <a:bodyPr wrap="square" lIns="0" tIns="0" rIns="0" bIns="0" rtlCol="0" anchor="ctr"/>
          <a:lstStyle/>
          <a:p>
            <a:pPr indent="0" marL="0">
              <a:buNone/>
            </a:pPr>
            <a:r>
              <a:rPr lang="en-US" sz="850" i="1" dirty="0">
                <a:solidFill>
                  <a:srgbClr val="818181"/>
                </a:solidFill>
                <a:latin typeface="Verdana" pitchFamily="34" charset="0"/>
                <a:ea typeface="Verdana" pitchFamily="34" charset="-122"/>
                <a:cs typeface="Verdana" pitchFamily="34" charset="-120"/>
              </a:rPr>
              <a:t>Siete países más la zona euro · semestral · 2009-S1 a 2025-S2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3" name="Text 1"/>
          <p:cNvSpPr txBox="1"/>
          <p:nvPr/>
        </p:nvSpPr>
        <p:spPr>
          <a:xfrm>
            <a:off x="621792" y="6583680"/>
            <a:ext cx="548640" cy="182880"/>
          </a:xfrm>
          <a:prstGeom prst="rect">
            <a:avLst/>
          </a:prstGeom>
          <a:noFill/>
          <a:ln/>
        </p:spPr>
        <p:txBody>
          <a:bodyPr wrap="square" lIns="0" tIns="0" rIns="0" bIns="0" rtlCol="0" anchor="ctr"/>
          <a:lstStyle/>
          <a:p>
            <a:pPr indent="0" marL="0">
              <a:buNone/>
            </a:pPr>
            <a:r>
              <a:rPr lang="en-US" sz="800" dirty="0">
                <a:solidFill>
                  <a:srgbClr val="CACACA"/>
                </a:solidFill>
                <a:latin typeface="Verdana" pitchFamily="34" charset="0"/>
                <a:ea typeface="Verdana" pitchFamily="34" charset="-122"/>
                <a:cs typeface="Verdana" pitchFamily="34" charset="-120"/>
              </a:rPr>
              <a:t>10</a:t>
            </a:r>
            <a:endParaRPr lang="en-US" sz="800" dirty="0"/>
          </a:p>
        </p:txBody>
      </p:sp>
      <p:sp>
        <p:nvSpPr>
          <p:cNvPr id="4" name="Text 2"/>
          <p:cNvSpPr txBox="1"/>
          <p:nvPr/>
        </p:nvSpPr>
        <p:spPr>
          <a:xfrm>
            <a:off x="621792" y="420624"/>
            <a:ext cx="8430768" cy="658368"/>
          </a:xfrm>
          <a:prstGeom prst="rect">
            <a:avLst/>
          </a:prstGeom>
          <a:noFill/>
          <a:ln/>
        </p:spPr>
        <p:txBody>
          <a:bodyPr wrap="square" lIns="0" tIns="0" rIns="0" bIns="0" rtlCol="0" anchor="t"/>
          <a:lstStyle/>
          <a:p>
            <a:pPr indent="0" marL="0">
              <a:buNone/>
            </a:pPr>
            <a:r>
              <a:rPr lang="en-US" sz="2100" b="1" dirty="0">
                <a:solidFill>
                  <a:srgbClr val="2B2B2B"/>
                </a:solidFill>
                <a:latin typeface="Verdana" pitchFamily="34" charset="0"/>
                <a:ea typeface="Verdana" pitchFamily="34" charset="-122"/>
                <a:cs typeface="Verdana" pitchFamily="34" charset="-120"/>
              </a:rPr>
              <a:t>El crédito se concede; lo que cambia es cómo se raciona</a:t>
            </a:r>
            <a:endParaRPr lang="en-US" sz="2100" dirty="0"/>
          </a:p>
        </p:txBody>
      </p:sp>
      <p:sp>
        <p:nvSpPr>
          <p:cNvPr id="5" name="Text 3"/>
          <p:cNvSpPr txBox="1"/>
          <p:nvPr/>
        </p:nvSpPr>
        <p:spPr>
          <a:xfrm>
            <a:off x="621792" y="1097280"/>
            <a:ext cx="10945368" cy="329184"/>
          </a:xfrm>
          <a:prstGeom prst="rect">
            <a:avLst/>
          </a:prstGeom>
          <a:noFill/>
          <a:ln/>
        </p:spPr>
        <p:txBody>
          <a:bodyPr wrap="square" lIns="0" tIns="0" rIns="0" bIns="0" rtlCol="0" anchor="ctr"/>
          <a:lstStyle/>
          <a:p>
            <a:pPr indent="0" marL="0">
              <a:buNone/>
            </a:pPr>
            <a:r>
              <a:rPr lang="en-US" sz="1000" dirty="0">
                <a:solidFill>
                  <a:srgbClr val="818181"/>
                </a:solidFill>
                <a:latin typeface="Verdana" pitchFamily="34" charset="0"/>
                <a:ea typeface="Verdana" pitchFamily="34" charset="-122"/>
                <a:cs typeface="Verdana" pitchFamily="34" charset="-120"/>
              </a:rPr>
              <a:t>Resultado de la solicitud de préstamo bancario de las PYME, en % de las que lo pidieron · Segundo semestre de 2025</a:t>
            </a:r>
            <a:endParaRPr lang="en-US" sz="1000" dirty="0"/>
          </a:p>
        </p:txBody>
      </p:sp>
      <p:sp>
        <p:nvSpPr>
          <p:cNvPr id="6" name="Shape 4"/>
          <p:cNvSpPr/>
          <p:nvPr/>
        </p:nvSpPr>
        <p:spPr>
          <a:xfrm>
            <a:off x="9235440" y="640080"/>
            <a:ext cx="2331720" cy="365760"/>
          </a:xfrm>
          <a:prstGeom prst="roundRect">
            <a:avLst>
              <a:gd name="adj" fmla="val 15000"/>
            </a:avLst>
          </a:prstGeom>
          <a:solidFill>
            <a:srgbClr val="FFD6BA"/>
          </a:solidFill>
          <a:ln w="12700">
            <a:solidFill>
              <a:srgbClr val="FFD6BA"/>
            </a:solidFill>
            <a:prstDash val="solid"/>
          </a:ln>
        </p:spPr>
      </p:sp>
      <p:sp>
        <p:nvSpPr>
          <p:cNvPr id="7" name="Text 5"/>
          <p:cNvSpPr txBox="1"/>
          <p:nvPr/>
        </p:nvSpPr>
        <p:spPr>
          <a:xfrm>
            <a:off x="9308592" y="658368"/>
            <a:ext cx="2185416" cy="329184"/>
          </a:xfrm>
          <a:prstGeom prst="rect">
            <a:avLst/>
          </a:prstGeom>
          <a:noFill/>
          <a:ln/>
        </p:spPr>
        <p:txBody>
          <a:bodyPr wrap="square" lIns="0" tIns="0" rIns="0" bIns="0" rtlCol="0" anchor="ctr"/>
          <a:lstStyle/>
          <a:p>
            <a:pPr indent="0" marL="0">
              <a:buNone/>
            </a:pPr>
            <a:r>
              <a:rPr lang="en-US" sz="750" b="1" dirty="0">
                <a:solidFill>
                  <a:srgbClr val="2B2B2B"/>
                </a:solidFill>
                <a:latin typeface="Verdana" pitchFamily="34" charset="0"/>
                <a:ea typeface="Verdana" pitchFamily="34" charset="-122"/>
                <a:cs typeface="Verdana" pitchFamily="34" charset="-120"/>
              </a:rPr>
              <a:t>PYME · menos de 250 empleados</a:t>
            </a:r>
            <a:endParaRPr lang="en-US" sz="750" dirty="0"/>
          </a:p>
        </p:txBody>
      </p:sp>
      <p:graphicFrame>
        <p:nvGraphicFramePr>
          <p:cNvPr id="8" name="Chart 0" descr=""/>
          <p:cNvGraphicFramePr/>
          <p:nvPr/>
        </p:nvGraphicFramePr>
        <p:xfrm>
          <a:off x="621792" y="1554480"/>
          <a:ext cx="5852160" cy="233172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21792" y="4023360"/>
          <a:ext cx="5852160" cy="914400"/>
        </p:xfrm>
        <a:graphic>
          <a:graphicData uri="http://schemas.openxmlformats.org/drawingml/2006/table">
            <a:tbl>
              <a:tblPr/>
              <a:tblGrid>
                <a:gridCol w="1280160"/>
                <a:gridCol w="1143000"/>
                <a:gridCol w="1143000"/>
                <a:gridCol w="1143000"/>
                <a:gridCol w="1143000"/>
              </a:tblGrid>
              <a:tr h="214884">
                <a:tc>
                  <a:txBody>
                    <a:bodyPr/>
                    <a:lstStyle/>
                    <a:p>
                      <a:pPr algn="l" indent="0" marL="0">
                        <a:buNone/>
                      </a:pP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2B2B2B"/>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Obtuvo</a:t>
                      </a:r>
                      <a:endParaRPr lang="en-US" sz="850" dirty="0">
                        <a:latin typeface="Verdana" charset="0"/>
                        <a:ea typeface="Verdana" charset="0"/>
                        <a:cs typeface="Verdana" charset="0"/>
                      </a:endParaRPr>
                    </a:p>
                    <a:p>
                      <a:pPr algn="ctr" indent="0" marL="0">
                        <a:buNone/>
                      </a:pPr>
                      <a:r>
                        <a:rPr lang="en-US" sz="850" b="1" dirty="0">
                          <a:solidFill>
                            <a:srgbClr val="FFFFFF"/>
                          </a:solidFill>
                          <a:latin typeface="Verdana" pitchFamily="34" charset="0"/>
                          <a:ea typeface="Verdana" pitchFamily="34" charset="-122"/>
                          <a:cs typeface="Verdana" pitchFamily="34" charset="-120"/>
                        </a:rPr>
                        <a:t>todo</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2B2B2B"/>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Solo</a:t>
                      </a:r>
                      <a:endParaRPr lang="en-US" sz="850" dirty="0">
                        <a:latin typeface="Verdana" charset="0"/>
                        <a:ea typeface="Verdana" charset="0"/>
                        <a:cs typeface="Verdana" charset="0"/>
                      </a:endParaRPr>
                    </a:p>
                    <a:p>
                      <a:pPr algn="ctr" indent="0" marL="0">
                        <a:buNone/>
                      </a:pPr>
                      <a:r>
                        <a:rPr lang="en-US" sz="850" b="1" dirty="0">
                          <a:solidFill>
                            <a:srgbClr val="FFFFFF"/>
                          </a:solidFill>
                          <a:latin typeface="Verdana" pitchFamily="34" charset="0"/>
                          <a:ea typeface="Verdana" pitchFamily="34" charset="-122"/>
                          <a:cs typeface="Verdana" pitchFamily="34" charset="-120"/>
                        </a:rPr>
                        <a:t>una parte</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2B2B2B"/>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Renunció</a:t>
                      </a:r>
                      <a:endParaRPr lang="en-US" sz="850" dirty="0">
                        <a:latin typeface="Verdana" charset="0"/>
                        <a:ea typeface="Verdana" charset="0"/>
                        <a:cs typeface="Verdana" charset="0"/>
                      </a:endParaRPr>
                    </a:p>
                    <a:p>
                      <a:pPr algn="ctr" indent="0" marL="0">
                        <a:buNone/>
                      </a:pPr>
                      <a:r>
                        <a:rPr lang="en-US" sz="850" b="1" dirty="0">
                          <a:solidFill>
                            <a:srgbClr val="FFFFFF"/>
                          </a:solidFill>
                          <a:latin typeface="Verdana" pitchFamily="34" charset="0"/>
                          <a:ea typeface="Verdana" pitchFamily="34" charset="-122"/>
                          <a:cs typeface="Verdana" pitchFamily="34" charset="-120"/>
                        </a:rPr>
                        <a:t>por precio</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2B2B2B"/>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Fue</a:t>
                      </a:r>
                      <a:endParaRPr lang="en-US" sz="850" dirty="0">
                        <a:latin typeface="Verdana" charset="0"/>
                        <a:ea typeface="Verdana" charset="0"/>
                        <a:cs typeface="Verdana" charset="0"/>
                      </a:endParaRPr>
                    </a:p>
                    <a:p>
                      <a:pPr algn="ctr" indent="0" marL="0">
                        <a:buNone/>
                      </a:pPr>
                      <a:r>
                        <a:rPr lang="en-US" sz="850" b="1" dirty="0">
                          <a:solidFill>
                            <a:srgbClr val="FFFFFF"/>
                          </a:solidFill>
                          <a:latin typeface="Verdana" pitchFamily="34" charset="0"/>
                          <a:ea typeface="Verdana" pitchFamily="34" charset="-122"/>
                          <a:cs typeface="Verdana" pitchFamily="34" charset="-120"/>
                        </a:rPr>
                        <a:t>rechazada</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2B2B2B"/>
                    </a:solidFill>
                  </a:tcPr>
                </a:tc>
              </a:tr>
              <a:tr h="214884">
                <a:tc>
                  <a:txBody>
                    <a:bodyPr/>
                    <a:lstStyle/>
                    <a:p>
                      <a:pPr algn="l" indent="0" marL="0">
                        <a:buNone/>
                      </a:pPr>
                      <a:r>
                        <a:rPr lang="en-US" sz="850" b="1" dirty="0">
                          <a:solidFill>
                            <a:srgbClr val="F56600"/>
                          </a:solidFill>
                          <a:latin typeface="Verdana" pitchFamily="34" charset="0"/>
                          <a:ea typeface="Verdana" pitchFamily="34" charset="-122"/>
                          <a:cs typeface="Verdana" pitchFamily="34" charset="-120"/>
                        </a:rPr>
                        <a:t>España</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4C2"/>
                    </a:solidFill>
                  </a:tcPr>
                </a:tc>
                <a:tc>
                  <a:txBody>
                    <a:bodyPr/>
                    <a:lstStyle/>
                    <a:p>
                      <a:pPr algn="ctr" indent="0" marL="0">
                        <a:buNone/>
                      </a:pPr>
                      <a:r>
                        <a:rPr lang="en-US" sz="850" b="1" dirty="0">
                          <a:solidFill>
                            <a:srgbClr val="F56600"/>
                          </a:solidFill>
                          <a:latin typeface="Verdana" pitchFamily="34" charset="0"/>
                          <a:ea typeface="Verdana" pitchFamily="34" charset="-122"/>
                          <a:cs typeface="Verdana" pitchFamily="34" charset="-120"/>
                        </a:rPr>
                        <a:t>72,5 %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4C2"/>
                    </a:solidFill>
                  </a:tcPr>
                </a:tc>
                <a:tc>
                  <a:txBody>
                    <a:bodyPr/>
                    <a:lstStyle/>
                    <a:p>
                      <a:pPr algn="ctr" indent="0" marL="0">
                        <a:buNone/>
                      </a:pPr>
                      <a:r>
                        <a:rPr lang="en-US" sz="850" b="1" dirty="0">
                          <a:solidFill>
                            <a:srgbClr val="F56600"/>
                          </a:solidFill>
                          <a:latin typeface="Verdana" pitchFamily="34" charset="0"/>
                          <a:ea typeface="Verdana" pitchFamily="34" charset="-122"/>
                          <a:cs typeface="Verdana" pitchFamily="34" charset="-120"/>
                        </a:rPr>
                        <a:t>8,3 %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4C2"/>
                    </a:solidFill>
                  </a:tcPr>
                </a:tc>
                <a:tc>
                  <a:txBody>
                    <a:bodyPr/>
                    <a:lstStyle/>
                    <a:p>
                      <a:pPr algn="ctr" indent="0" marL="0">
                        <a:buNone/>
                      </a:pPr>
                      <a:r>
                        <a:rPr lang="en-US" sz="850" b="1" dirty="0">
                          <a:solidFill>
                            <a:srgbClr val="F56600"/>
                          </a:solidFill>
                          <a:latin typeface="Verdana" pitchFamily="34" charset="0"/>
                          <a:ea typeface="Verdana" pitchFamily="34" charset="-122"/>
                          <a:cs typeface="Verdana" pitchFamily="34" charset="-120"/>
                        </a:rPr>
                        <a:t>0,0 %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4C2"/>
                    </a:solidFill>
                  </a:tcPr>
                </a:tc>
                <a:tc>
                  <a:txBody>
                    <a:bodyPr/>
                    <a:lstStyle/>
                    <a:p>
                      <a:pPr algn="ctr" indent="0" marL="0">
                        <a:buNone/>
                      </a:pPr>
                      <a:r>
                        <a:rPr lang="en-US" sz="850" b="1" dirty="0">
                          <a:solidFill>
                            <a:srgbClr val="F56600"/>
                          </a:solidFill>
                          <a:latin typeface="Verdana" pitchFamily="34" charset="0"/>
                          <a:ea typeface="Verdana" pitchFamily="34" charset="-122"/>
                          <a:cs typeface="Verdana" pitchFamily="34" charset="-120"/>
                        </a:rPr>
                        <a:t>9,7 %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4C2"/>
                    </a:solidFill>
                  </a:tcPr>
                </a:tc>
              </a:tr>
              <a:tr h="214884">
                <a:tc>
                  <a:txBody>
                    <a:bodyPr/>
                    <a:lstStyle/>
                    <a:p>
                      <a:pPr algn="l" indent="0" marL="0">
                        <a:buNone/>
                      </a:pPr>
                      <a:r>
                        <a:rPr lang="en-US" sz="850" dirty="0">
                          <a:solidFill>
                            <a:srgbClr val="2B2B2B"/>
                          </a:solidFill>
                          <a:latin typeface="Verdana" pitchFamily="34" charset="0"/>
                          <a:ea typeface="Verdana" pitchFamily="34" charset="-122"/>
                          <a:cs typeface="Verdana" pitchFamily="34" charset="-120"/>
                        </a:rPr>
                        <a:t>Alemania</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47,1 %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20,4 %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7,7 %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5,5 %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214884">
                <a:tc>
                  <a:txBody>
                    <a:bodyPr/>
                    <a:lstStyle/>
                    <a:p>
                      <a:pPr algn="l" indent="0" marL="0">
                        <a:buNone/>
                      </a:pPr>
                      <a:r>
                        <a:rPr lang="en-US" sz="850" dirty="0">
                          <a:solidFill>
                            <a:srgbClr val="2B2B2B"/>
                          </a:solidFill>
                          <a:latin typeface="Verdana" pitchFamily="34" charset="0"/>
                          <a:ea typeface="Verdana" pitchFamily="34" charset="-122"/>
                          <a:cs typeface="Verdana" pitchFamily="34" charset="-120"/>
                        </a:rPr>
                        <a:t>Francia</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71,3 %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5,1 %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3,0 %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8,2 %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214884">
                <a:tc>
                  <a:txBody>
                    <a:bodyPr/>
                    <a:lstStyle/>
                    <a:p>
                      <a:pPr algn="l" indent="0" marL="0">
                        <a:buNone/>
                      </a:pPr>
                      <a:r>
                        <a:rPr lang="en-US" sz="850" dirty="0">
                          <a:solidFill>
                            <a:srgbClr val="2B2B2B"/>
                          </a:solidFill>
                          <a:latin typeface="Verdana" pitchFamily="34" charset="0"/>
                          <a:ea typeface="Verdana" pitchFamily="34" charset="-122"/>
                          <a:cs typeface="Verdana" pitchFamily="34" charset="-120"/>
                        </a:rPr>
                        <a:t>Italia</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80,2 %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9,3 %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1,3 %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0,7 %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214884">
                <a:tc>
                  <a:txBody>
                    <a:bodyPr/>
                    <a:lstStyle/>
                    <a:p>
                      <a:pPr algn="l" indent="0" marL="0">
                        <a:buNone/>
                      </a:pPr>
                      <a:r>
                        <a:rPr lang="en-US" sz="850" dirty="0">
                          <a:solidFill>
                            <a:srgbClr val="2B2B2B"/>
                          </a:solidFill>
                          <a:latin typeface="Verdana" pitchFamily="34" charset="0"/>
                          <a:ea typeface="Verdana" pitchFamily="34" charset="-122"/>
                          <a:cs typeface="Verdana" pitchFamily="34" charset="-120"/>
                        </a:rPr>
                        <a:t>Portugal</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65,9 %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9,8 %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2,3 %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4,1 %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214884">
                <a:tc>
                  <a:txBody>
                    <a:bodyPr/>
                    <a:lstStyle/>
                    <a:p>
                      <a:pPr algn="l" indent="0" marL="0">
                        <a:buNone/>
                      </a:pPr>
                      <a:r>
                        <a:rPr lang="en-US" sz="850" dirty="0">
                          <a:solidFill>
                            <a:srgbClr val="2B2B2B"/>
                          </a:solidFill>
                          <a:latin typeface="Verdana" pitchFamily="34" charset="0"/>
                          <a:ea typeface="Verdana" pitchFamily="34" charset="-122"/>
                          <a:cs typeface="Verdana" pitchFamily="34" charset="-120"/>
                        </a:rPr>
                        <a:t>P. Bajos</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62,3 %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9,5 %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0,0 %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13,6 %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214884">
                <a:tc>
                  <a:txBody>
                    <a:bodyPr/>
                    <a:lstStyle/>
                    <a:p>
                      <a:pPr algn="l" indent="0" marL="0">
                        <a:buNone/>
                      </a:pPr>
                      <a:r>
                        <a:rPr lang="en-US" sz="850" dirty="0">
                          <a:solidFill>
                            <a:srgbClr val="2B2B2B"/>
                          </a:solidFill>
                          <a:latin typeface="Verdana" pitchFamily="34" charset="0"/>
                          <a:ea typeface="Verdana" pitchFamily="34" charset="-122"/>
                          <a:cs typeface="Verdana" pitchFamily="34" charset="-120"/>
                        </a:rPr>
                        <a:t>Irlanda</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56,2 %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7,9 %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0,0 %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9,2 %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214884">
                <a:tc>
                  <a:txBody>
                    <a:bodyPr/>
                    <a:lstStyle/>
                    <a:p>
                      <a:pPr algn="l" indent="0" marL="0">
                        <a:buNone/>
                      </a:pPr>
                      <a:r>
                        <a:rPr lang="en-US" sz="850" dirty="0">
                          <a:solidFill>
                            <a:srgbClr val="2B2B2B"/>
                          </a:solidFill>
                          <a:latin typeface="Verdana" pitchFamily="34" charset="0"/>
                          <a:ea typeface="Verdana" pitchFamily="34" charset="-122"/>
                          <a:cs typeface="Verdana" pitchFamily="34" charset="-120"/>
                        </a:rPr>
                        <a:t>Zona euro</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67,7 %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11,1 %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0,0 %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9,6 %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bl>
          </a:graphicData>
        </a:graphic>
      </p:graphicFrame>
      <p:sp>
        <p:nvSpPr>
          <p:cNvPr id="10" name="Shape 6"/>
          <p:cNvSpPr/>
          <p:nvPr/>
        </p:nvSpPr>
        <p:spPr>
          <a:xfrm>
            <a:off x="6720840" y="1554480"/>
            <a:ext cx="4846320" cy="1417320"/>
          </a:xfrm>
          <a:prstGeom prst="roundRect">
            <a:avLst>
              <a:gd name="adj" fmla="val 3226"/>
            </a:avLst>
          </a:prstGeom>
          <a:solidFill>
            <a:srgbClr val="F2F4F6"/>
          </a:solidFill>
          <a:ln w="12700">
            <a:solidFill>
              <a:srgbClr val="F2F4F6"/>
            </a:solidFill>
            <a:prstDash val="solid"/>
          </a:ln>
        </p:spPr>
      </p:sp>
      <p:sp>
        <p:nvSpPr>
          <p:cNvPr id="11" name="Text 7"/>
          <p:cNvSpPr txBox="1"/>
          <p:nvPr/>
        </p:nvSpPr>
        <p:spPr>
          <a:xfrm>
            <a:off x="6922008" y="1682496"/>
            <a:ext cx="4443984" cy="27432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Alemania rechaza poco y raciona mucho</a:t>
            </a:r>
            <a:endParaRPr lang="en-US" sz="1150" dirty="0"/>
          </a:p>
        </p:txBody>
      </p:sp>
      <p:sp>
        <p:nvSpPr>
          <p:cNvPr id="12" name="Text 8"/>
          <p:cNvSpPr txBox="1"/>
          <p:nvPr/>
        </p:nvSpPr>
        <p:spPr>
          <a:xfrm>
            <a:off x="6922008" y="1993392"/>
            <a:ext cx="4443984" cy="868680"/>
          </a:xfrm>
          <a:prstGeom prst="rect">
            <a:avLst/>
          </a:prstGeom>
          <a:noFill/>
          <a:ln/>
        </p:spPr>
        <p:txBody>
          <a:bodyPr wrap="square" lIns="0" tIns="0" rIns="0" bIns="0" rtlCol="0" anchor="t"/>
          <a:lstStyle/>
          <a:p>
            <a:pPr indent="0" marL="0">
              <a:buNone/>
            </a:pPr>
            <a:r>
              <a:rPr lang="en-US" sz="950" dirty="0">
                <a:solidFill>
                  <a:srgbClr val="2B2B2B"/>
                </a:solidFill>
                <a:latin typeface="Verdana" pitchFamily="34" charset="0"/>
                <a:ea typeface="Verdana" pitchFamily="34" charset="-122"/>
                <a:cs typeface="Verdana" pitchFamily="34" charset="-120"/>
              </a:rPr>
              <a:t>Solo rechaza al 5,5 %, pero el 20,4 % recibe una parte y el 7,7 % renuncia por el precio. Italia casi no rechaza: 0,7 %.</a:t>
            </a:r>
            <a:endParaRPr lang="en-US" sz="950" dirty="0"/>
          </a:p>
        </p:txBody>
      </p:sp>
      <p:sp>
        <p:nvSpPr>
          <p:cNvPr id="13" name="Shape 9"/>
          <p:cNvSpPr/>
          <p:nvPr/>
        </p:nvSpPr>
        <p:spPr>
          <a:xfrm>
            <a:off x="6720840" y="3108960"/>
            <a:ext cx="4846320" cy="1280160"/>
          </a:xfrm>
          <a:prstGeom prst="roundRect">
            <a:avLst>
              <a:gd name="adj" fmla="val 3571"/>
            </a:avLst>
          </a:prstGeom>
          <a:solidFill>
            <a:srgbClr val="FFF4C2"/>
          </a:solidFill>
          <a:ln w="12700">
            <a:solidFill>
              <a:srgbClr val="FFF4C2"/>
            </a:solidFill>
            <a:prstDash val="solid"/>
          </a:ln>
        </p:spPr>
      </p:sp>
      <p:sp>
        <p:nvSpPr>
          <p:cNvPr id="14" name="Text 10"/>
          <p:cNvSpPr txBox="1"/>
          <p:nvPr/>
        </p:nvSpPr>
        <p:spPr>
          <a:xfrm>
            <a:off x="6922008" y="3236976"/>
            <a:ext cx="4443984" cy="27432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España, en la media</a:t>
            </a:r>
            <a:endParaRPr lang="en-US" sz="1150" dirty="0"/>
          </a:p>
        </p:txBody>
      </p:sp>
      <p:sp>
        <p:nvSpPr>
          <p:cNvPr id="15" name="Text 11"/>
          <p:cNvSpPr txBox="1"/>
          <p:nvPr/>
        </p:nvSpPr>
        <p:spPr>
          <a:xfrm>
            <a:off x="6922008" y="3547872"/>
            <a:ext cx="4443984" cy="731520"/>
          </a:xfrm>
          <a:prstGeom prst="rect">
            <a:avLst/>
          </a:prstGeom>
          <a:noFill/>
          <a:ln/>
        </p:spPr>
        <p:txBody>
          <a:bodyPr wrap="square" lIns="0" tIns="0" rIns="0" bIns="0" rtlCol="0" anchor="t"/>
          <a:lstStyle/>
          <a:p>
            <a:pPr indent="0" marL="0">
              <a:buNone/>
            </a:pPr>
            <a:r>
              <a:rPr lang="en-US" sz="950" dirty="0">
                <a:solidFill>
                  <a:srgbClr val="2B2B2B"/>
                </a:solidFill>
                <a:latin typeface="Verdana" pitchFamily="34" charset="0"/>
                <a:ea typeface="Verdana" pitchFamily="34" charset="-122"/>
                <a:cs typeface="Verdana" pitchFamily="34" charset="-120"/>
              </a:rPr>
              <a:t>9,7 % de rechazo en el semestre y 8,5 % de media en tres años, frente al 6,8 % de la zona euro.</a:t>
            </a:r>
            <a:endParaRPr lang="en-US" sz="950" dirty="0"/>
          </a:p>
        </p:txBody>
      </p:sp>
      <p:sp>
        <p:nvSpPr>
          <p:cNvPr id="16" name="Shape 12"/>
          <p:cNvSpPr/>
          <p:nvPr/>
        </p:nvSpPr>
        <p:spPr>
          <a:xfrm>
            <a:off x="6720840" y="4526280"/>
            <a:ext cx="4846320" cy="1234440"/>
          </a:xfrm>
          <a:prstGeom prst="roundRect">
            <a:avLst>
              <a:gd name="adj" fmla="val 3704"/>
            </a:avLst>
          </a:prstGeom>
          <a:solidFill>
            <a:srgbClr val="F2F4F6"/>
          </a:solidFill>
          <a:ln w="12700">
            <a:solidFill>
              <a:srgbClr val="F2F4F6"/>
            </a:solidFill>
            <a:prstDash val="solid"/>
          </a:ln>
        </p:spPr>
      </p:sp>
      <p:sp>
        <p:nvSpPr>
          <p:cNvPr id="17" name="Text 13"/>
          <p:cNvSpPr txBox="1"/>
          <p:nvPr/>
        </p:nvSpPr>
        <p:spPr>
          <a:xfrm>
            <a:off x="6922008" y="4654296"/>
            <a:ext cx="4443984" cy="27432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Un semestre no es una tendencia</a:t>
            </a:r>
            <a:endParaRPr lang="en-US" sz="1150" dirty="0"/>
          </a:p>
        </p:txBody>
      </p:sp>
      <p:sp>
        <p:nvSpPr>
          <p:cNvPr id="18" name="Text 14"/>
          <p:cNvSpPr txBox="1"/>
          <p:nvPr/>
        </p:nvSpPr>
        <p:spPr>
          <a:xfrm>
            <a:off x="6922008" y="4965192"/>
            <a:ext cx="4443984" cy="685800"/>
          </a:xfrm>
          <a:prstGeom prst="rect">
            <a:avLst/>
          </a:prstGeom>
          <a:noFill/>
          <a:ln/>
        </p:spPr>
        <p:txBody>
          <a:bodyPr wrap="square" lIns="0" tIns="0" rIns="0" bIns="0" rtlCol="0" anchor="t"/>
          <a:lstStyle/>
          <a:p>
            <a:pPr indent="0" marL="0">
              <a:buNone/>
            </a:pPr>
            <a:r>
              <a:rPr lang="en-US" sz="950" dirty="0">
                <a:solidFill>
                  <a:srgbClr val="2B2B2B"/>
                </a:solidFill>
                <a:latin typeface="Verdana" pitchFamily="34" charset="0"/>
                <a:ea typeface="Verdana" pitchFamily="34" charset="-122"/>
                <a:cs typeface="Verdana" pitchFamily="34" charset="-120"/>
              </a:rPr>
              <a:t>La serie es muy volátil: Irlanda ha ido de 2,1 % a 20,1 % desde 2022. Hay que leerla en medias.</a:t>
            </a:r>
            <a:endParaRPr lang="en-US" sz="950" dirty="0"/>
          </a:p>
        </p:txBody>
      </p:sp>
      <p:sp>
        <p:nvSpPr>
          <p:cNvPr id="19" name="Text 15"/>
          <p:cNvSpPr txBox="1"/>
          <p:nvPr/>
        </p:nvSpPr>
        <p:spPr>
          <a:xfrm>
            <a:off x="621792" y="6053328"/>
            <a:ext cx="10945368" cy="475488"/>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BCE, SAFE, pregunta Q7B, préstamo bancario, media ponderada. Base: empresas que SOLICITARON. Las filas no suman 100: faltan «pendiente» y «no sabe». Es un porcentaje de empresas, no de importes.</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3" name="Text 1"/>
          <p:cNvSpPr txBox="1"/>
          <p:nvPr/>
        </p:nvSpPr>
        <p:spPr>
          <a:xfrm>
            <a:off x="621792" y="6583680"/>
            <a:ext cx="548640" cy="182880"/>
          </a:xfrm>
          <a:prstGeom prst="rect">
            <a:avLst/>
          </a:prstGeom>
          <a:noFill/>
          <a:ln/>
        </p:spPr>
        <p:txBody>
          <a:bodyPr wrap="square" lIns="0" tIns="0" rIns="0" bIns="0" rtlCol="0" anchor="ctr"/>
          <a:lstStyle/>
          <a:p>
            <a:pPr indent="0" marL="0">
              <a:buNone/>
            </a:pPr>
            <a:r>
              <a:rPr lang="en-US" sz="800" dirty="0">
                <a:solidFill>
                  <a:srgbClr val="CACACA"/>
                </a:solidFill>
                <a:latin typeface="Verdana" pitchFamily="34" charset="0"/>
                <a:ea typeface="Verdana" pitchFamily="34" charset="-122"/>
                <a:cs typeface="Verdana" pitchFamily="34" charset="-120"/>
              </a:rPr>
              <a:t>11</a:t>
            </a:r>
            <a:endParaRPr lang="en-US" sz="800" dirty="0"/>
          </a:p>
        </p:txBody>
      </p:sp>
      <p:sp>
        <p:nvSpPr>
          <p:cNvPr id="4" name="Text 2"/>
          <p:cNvSpPr txBox="1"/>
          <p:nvPr/>
        </p:nvSpPr>
        <p:spPr>
          <a:xfrm>
            <a:off x="621792" y="420624"/>
            <a:ext cx="8430768" cy="658368"/>
          </a:xfrm>
          <a:prstGeom prst="rect">
            <a:avLst/>
          </a:prstGeom>
          <a:noFill/>
          <a:ln/>
        </p:spPr>
        <p:txBody>
          <a:bodyPr wrap="square" lIns="0" tIns="0" rIns="0" bIns="0" rtlCol="0" anchor="t"/>
          <a:lstStyle/>
          <a:p>
            <a:pPr indent="0" marL="0">
              <a:buNone/>
            </a:pPr>
            <a:r>
              <a:rPr lang="en-US" sz="2100" b="1" dirty="0">
                <a:solidFill>
                  <a:srgbClr val="2B2B2B"/>
                </a:solidFill>
                <a:latin typeface="Verdana" pitchFamily="34" charset="0"/>
                <a:ea typeface="Verdana" pitchFamily="34" charset="-122"/>
                <a:cs typeface="Verdana" pitchFamily="34" charset="-120"/>
              </a:rPr>
              <a:t>En España la brecha de financiación se cierra desde 2023 S2</a:t>
            </a:r>
            <a:endParaRPr lang="en-US" sz="2100" dirty="0"/>
          </a:p>
        </p:txBody>
      </p:sp>
      <p:sp>
        <p:nvSpPr>
          <p:cNvPr id="5" name="Text 3"/>
          <p:cNvSpPr txBox="1"/>
          <p:nvPr/>
        </p:nvSpPr>
        <p:spPr>
          <a:xfrm>
            <a:off x="621792" y="1097280"/>
            <a:ext cx="10945368" cy="329184"/>
          </a:xfrm>
          <a:prstGeom prst="rect">
            <a:avLst/>
          </a:prstGeom>
          <a:noFill/>
          <a:ln/>
        </p:spPr>
        <p:txBody>
          <a:bodyPr wrap="square" lIns="0" tIns="0" rIns="0" bIns="0" rtlCol="0" anchor="ctr"/>
          <a:lstStyle/>
          <a:p>
            <a:pPr indent="0" marL="0">
              <a:buNone/>
            </a:pPr>
            <a:r>
              <a:rPr lang="en-US" sz="1000" dirty="0">
                <a:solidFill>
                  <a:srgbClr val="818181"/>
                </a:solidFill>
                <a:latin typeface="Verdana" pitchFamily="34" charset="0"/>
                <a:ea typeface="Verdana" pitchFamily="34" charset="-122"/>
                <a:cs typeface="Verdana" pitchFamily="34" charset="-120"/>
              </a:rPr>
              <a:t>Brecha de financiación de las PYME, España frente a la zona euro · Semestral</a:t>
            </a:r>
            <a:endParaRPr lang="en-US" sz="1000" dirty="0"/>
          </a:p>
        </p:txBody>
      </p:sp>
      <p:sp>
        <p:nvSpPr>
          <p:cNvPr id="6" name="Shape 4"/>
          <p:cNvSpPr/>
          <p:nvPr/>
        </p:nvSpPr>
        <p:spPr>
          <a:xfrm>
            <a:off x="9235440" y="640080"/>
            <a:ext cx="2331720" cy="365760"/>
          </a:xfrm>
          <a:prstGeom prst="roundRect">
            <a:avLst>
              <a:gd name="adj" fmla="val 15000"/>
            </a:avLst>
          </a:prstGeom>
          <a:solidFill>
            <a:srgbClr val="FFD6BA"/>
          </a:solidFill>
          <a:ln w="12700">
            <a:solidFill>
              <a:srgbClr val="FFD6BA"/>
            </a:solidFill>
            <a:prstDash val="solid"/>
          </a:ln>
        </p:spPr>
      </p:sp>
      <p:sp>
        <p:nvSpPr>
          <p:cNvPr id="7" name="Text 5"/>
          <p:cNvSpPr txBox="1"/>
          <p:nvPr/>
        </p:nvSpPr>
        <p:spPr>
          <a:xfrm>
            <a:off x="9308592" y="658368"/>
            <a:ext cx="2185416" cy="329184"/>
          </a:xfrm>
          <a:prstGeom prst="rect">
            <a:avLst/>
          </a:prstGeom>
          <a:noFill/>
          <a:ln/>
        </p:spPr>
        <p:txBody>
          <a:bodyPr wrap="square" lIns="0" tIns="0" rIns="0" bIns="0" rtlCol="0" anchor="ctr"/>
          <a:lstStyle/>
          <a:p>
            <a:pPr indent="0" marL="0">
              <a:buNone/>
            </a:pPr>
            <a:r>
              <a:rPr lang="en-US" sz="750" b="1" dirty="0">
                <a:solidFill>
                  <a:srgbClr val="2B2B2B"/>
                </a:solidFill>
                <a:latin typeface="Verdana" pitchFamily="34" charset="0"/>
                <a:ea typeface="Verdana" pitchFamily="34" charset="-122"/>
                <a:cs typeface="Verdana" pitchFamily="34" charset="-120"/>
              </a:rPr>
              <a:t>PYME · menos de 250 empleados</a:t>
            </a:r>
            <a:endParaRPr lang="en-US" sz="750" dirty="0"/>
          </a:p>
        </p:txBody>
      </p:sp>
      <p:graphicFrame>
        <p:nvGraphicFramePr>
          <p:cNvPr id="8" name="Chart 0" descr=""/>
          <p:cNvGraphicFramePr/>
          <p:nvPr/>
        </p:nvGraphicFramePr>
        <p:xfrm>
          <a:off x="621792" y="1554480"/>
          <a:ext cx="7360920" cy="406908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8275320" y="1554480"/>
            <a:ext cx="3291840" cy="2148840"/>
          </a:xfrm>
          <a:prstGeom prst="roundRect">
            <a:avLst>
              <a:gd name="adj" fmla="val 2128"/>
            </a:avLst>
          </a:prstGeom>
          <a:solidFill>
            <a:srgbClr val="F2F4F6"/>
          </a:solidFill>
          <a:ln w="12700">
            <a:solidFill>
              <a:srgbClr val="F2F4F6"/>
            </a:solidFill>
            <a:prstDash val="solid"/>
          </a:ln>
        </p:spPr>
      </p:sp>
      <p:sp>
        <p:nvSpPr>
          <p:cNvPr id="10" name="Text 7"/>
          <p:cNvSpPr txBox="1"/>
          <p:nvPr/>
        </p:nvSpPr>
        <p:spPr>
          <a:xfrm>
            <a:off x="8476488" y="1682496"/>
            <a:ext cx="2889504" cy="27432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Qué mide, y qué no</a:t>
            </a:r>
            <a:endParaRPr lang="en-US" sz="1150" dirty="0"/>
          </a:p>
        </p:txBody>
      </p:sp>
      <p:sp>
        <p:nvSpPr>
          <p:cNvPr id="11" name="Text 8"/>
          <p:cNvSpPr txBox="1"/>
          <p:nvPr/>
        </p:nvSpPr>
        <p:spPr>
          <a:xfrm>
            <a:off x="8476488" y="1993392"/>
            <a:ext cx="2889504" cy="1600200"/>
          </a:xfrm>
          <a:prstGeom prst="rect">
            <a:avLst/>
          </a:prstGeom>
          <a:noFill/>
          <a:ln/>
        </p:spPr>
        <p:txBody>
          <a:bodyPr wrap="square" lIns="0" tIns="0" rIns="0" bIns="0" rtlCol="0" anchor="t"/>
          <a:lstStyle/>
          <a:p>
            <a:pPr indent="0" marL="0">
              <a:buNone/>
            </a:pPr>
            <a:r>
              <a:rPr lang="en-US" sz="950" dirty="0">
                <a:solidFill>
                  <a:srgbClr val="2B2B2B"/>
                </a:solidFill>
                <a:latin typeface="Verdana" pitchFamily="34" charset="0"/>
                <a:ea typeface="Verdana" pitchFamily="34" charset="-122"/>
                <a:cs typeface="Verdana" pitchFamily="34" charset="-120"/>
              </a:rPr>
              <a:t>Es un indicador de CAMBIO: positivo, la brecha se abre; negativo, se cierra. No mide cuánta necesidad queda sin cubrir, y cruza cinco instrumentos, no solo el préstamo bancario.</a:t>
            </a:r>
            <a:endParaRPr lang="en-US" sz="950" dirty="0"/>
          </a:p>
        </p:txBody>
      </p:sp>
      <p:sp>
        <p:nvSpPr>
          <p:cNvPr id="12" name="Shape 9"/>
          <p:cNvSpPr/>
          <p:nvPr/>
        </p:nvSpPr>
        <p:spPr>
          <a:xfrm>
            <a:off x="8275320" y="3840480"/>
            <a:ext cx="3291840" cy="1783080"/>
          </a:xfrm>
          <a:prstGeom prst="roundRect">
            <a:avLst>
              <a:gd name="adj" fmla="val 2564"/>
            </a:avLst>
          </a:prstGeom>
          <a:solidFill>
            <a:srgbClr val="FFF4C2"/>
          </a:solidFill>
          <a:ln w="12700">
            <a:solidFill>
              <a:srgbClr val="FFF4C2"/>
            </a:solidFill>
            <a:prstDash val="solid"/>
          </a:ln>
        </p:spPr>
      </p:sp>
      <p:sp>
        <p:nvSpPr>
          <p:cNvPr id="13" name="Text 10"/>
          <p:cNvSpPr txBox="1"/>
          <p:nvPr/>
        </p:nvSpPr>
        <p:spPr>
          <a:xfrm>
            <a:off x="8476488" y="3968496"/>
            <a:ext cx="2889504" cy="27432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España frente a la zona euro</a:t>
            </a:r>
            <a:endParaRPr lang="en-US" sz="1150" dirty="0"/>
          </a:p>
        </p:txBody>
      </p:sp>
      <p:sp>
        <p:nvSpPr>
          <p:cNvPr id="14" name="Text 11"/>
          <p:cNvSpPr txBox="1"/>
          <p:nvPr/>
        </p:nvSpPr>
        <p:spPr>
          <a:xfrm>
            <a:off x="8476488" y="4279392"/>
            <a:ext cx="2889504" cy="1234440"/>
          </a:xfrm>
          <a:prstGeom prst="rect">
            <a:avLst/>
          </a:prstGeom>
          <a:noFill/>
          <a:ln/>
        </p:spPr>
        <p:txBody>
          <a:bodyPr wrap="square" lIns="0" tIns="0" rIns="0" bIns="0" rtlCol="0" anchor="t"/>
          <a:lstStyle/>
          <a:p>
            <a:pPr indent="0" marL="0">
              <a:buNone/>
            </a:pPr>
            <a:r>
              <a:rPr lang="en-US" sz="950" dirty="0">
                <a:solidFill>
                  <a:srgbClr val="2B2B2B"/>
                </a:solidFill>
                <a:latin typeface="Verdana" pitchFamily="34" charset="0"/>
                <a:ea typeface="Verdana" pitchFamily="34" charset="-122"/>
                <a:cs typeface="Verdana" pitchFamily="34" charset="-120"/>
              </a:rPr>
              <a:t>Último dato: −1,3 en España y +2,3 en la zona euro. España lleva 4 semestres seguidos en negativo; la zona euro, ninguno en ese tiempo.</a:t>
            </a:r>
            <a:endParaRPr lang="en-US" sz="950" dirty="0"/>
          </a:p>
        </p:txBody>
      </p:sp>
      <p:sp>
        <p:nvSpPr>
          <p:cNvPr id="15" name="Text 12"/>
          <p:cNvSpPr txBox="1"/>
          <p:nvPr/>
        </p:nvSpPr>
        <p:spPr>
          <a:xfrm>
            <a:off x="621792" y="6053328"/>
            <a:ext cx="10945368" cy="475488"/>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BCE, SAFE, indicador compuesto de brecha de financiación: por empresa e instrumento vale ±1 o ±0,5 según se muevan la necesidad y la disponibilidad; media ponderada de cinco instrumentos, por 100. PYME: menos de 250 empleados.</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F56600"/>
          </a:solidFill>
          <a:ln w="12700">
            <a:solidFill>
              <a:srgbClr val="F56600"/>
            </a:solidFill>
            <a:prstDash val="solid"/>
          </a:ln>
        </p:spPr>
      </p:sp>
      <p:sp>
        <p:nvSpPr>
          <p:cNvPr id="3" name="Text 1"/>
          <p:cNvSpPr txBox="1"/>
          <p:nvPr/>
        </p:nvSpPr>
        <p:spPr>
          <a:xfrm>
            <a:off x="621792" y="868680"/>
            <a:ext cx="3200400" cy="292608"/>
          </a:xfrm>
          <a:prstGeom prst="rect">
            <a:avLst/>
          </a:prstGeom>
          <a:noFill/>
          <a:ln/>
        </p:spPr>
        <p:txBody>
          <a:bodyPr wrap="square" lIns="0" tIns="0" rIns="0" bIns="0" rtlCol="0" anchor="ctr"/>
          <a:lstStyle/>
          <a:p>
            <a:pPr indent="0" marL="0">
              <a:buNone/>
            </a:pPr>
            <a:r>
              <a:rPr lang="en-US" sz="1100" b="1" spc="200" kern="0" dirty="0">
                <a:solidFill>
                  <a:srgbClr val="FFFFFF"/>
                </a:solidFill>
                <a:latin typeface="Verdana" pitchFamily="34" charset="0"/>
                <a:ea typeface="Verdana" pitchFamily="34" charset="-122"/>
                <a:cs typeface="Verdana" pitchFamily="34" charset="-120"/>
              </a:rPr>
              <a:t>FUENTE 3</a:t>
            </a:r>
            <a:endParaRPr lang="en-US" sz="1100" dirty="0"/>
          </a:p>
        </p:txBody>
      </p:sp>
      <p:sp>
        <p:nvSpPr>
          <p:cNvPr id="4" name="Text 2"/>
          <p:cNvSpPr txBox="1"/>
          <p:nvPr/>
        </p:nvSpPr>
        <p:spPr>
          <a:xfrm>
            <a:off x="621792" y="1234440"/>
            <a:ext cx="3291840" cy="1417320"/>
          </a:xfrm>
          <a:prstGeom prst="rect">
            <a:avLst/>
          </a:prstGeom>
          <a:noFill/>
          <a:ln/>
        </p:spPr>
        <p:txBody>
          <a:bodyPr wrap="square" lIns="0" tIns="0" rIns="0" bIns="0" rtlCol="0" anchor="t"/>
          <a:lstStyle/>
          <a:p>
            <a:pPr indent="0" marL="0">
              <a:buNone/>
            </a:pPr>
            <a:r>
              <a:rPr lang="en-US" sz="2600" b="1" dirty="0">
                <a:solidFill>
                  <a:srgbClr val="FFFFFF"/>
                </a:solidFill>
                <a:latin typeface="Verdana" pitchFamily="34" charset="0"/>
                <a:ea typeface="Verdana" pitchFamily="34" charset="-122"/>
                <a:cs typeface="Verdana" pitchFamily="34" charset="-120"/>
              </a:rPr>
              <a:t>Risk Dashboard</a:t>
            </a:r>
            <a:endParaRPr lang="en-US" sz="2600" dirty="0"/>
          </a:p>
        </p:txBody>
      </p:sp>
      <p:sp>
        <p:nvSpPr>
          <p:cNvPr id="5" name="Text 3"/>
          <p:cNvSpPr txBox="1"/>
          <p:nvPr/>
        </p:nvSpPr>
        <p:spPr>
          <a:xfrm>
            <a:off x="621792" y="2697480"/>
            <a:ext cx="3200400" cy="566928"/>
          </a:xfrm>
          <a:prstGeom prst="rect">
            <a:avLst/>
          </a:prstGeom>
          <a:noFill/>
          <a:ln/>
        </p:spPr>
        <p:txBody>
          <a:bodyPr wrap="square" lIns="0" tIns="0" rIns="0" bIns="0" rtlCol="0" anchor="t"/>
          <a:lstStyle/>
          <a:p>
            <a:pPr indent="0" marL="0">
              <a:buNone/>
            </a:pPr>
            <a:r>
              <a:rPr lang="en-US" sz="1050" dirty="0">
                <a:solidFill>
                  <a:srgbClr val="FFFFFF"/>
                </a:solidFill>
                <a:latin typeface="Verdana" pitchFamily="34" charset="0"/>
                <a:ea typeface="Verdana" pitchFamily="34" charset="-122"/>
                <a:cs typeface="Verdana" pitchFamily="34" charset="-120"/>
              </a:rPr>
              <a:t>Autoridad Bancaria Europea (EBA) · indicadores de riesgo trimestrales, con datos contables FINREP</a:t>
            </a:r>
            <a:endParaRPr lang="en-US" sz="1050" dirty="0"/>
          </a:p>
        </p:txBody>
      </p:sp>
      <p:sp>
        <p:nvSpPr>
          <p:cNvPr id="6" name="Shape 4"/>
          <p:cNvSpPr/>
          <p:nvPr/>
        </p:nvSpPr>
        <p:spPr>
          <a:xfrm>
            <a:off x="621792" y="4160520"/>
            <a:ext cx="3154680" cy="1325880"/>
          </a:xfrm>
          <a:prstGeom prst="roundRect">
            <a:avLst>
              <a:gd name="adj" fmla="val 4138"/>
            </a:avLst>
          </a:prstGeom>
          <a:solidFill>
            <a:srgbClr val="FFFFFF"/>
          </a:solidFill>
          <a:ln w="12700">
            <a:solidFill>
              <a:srgbClr val="FFFFFF"/>
            </a:solidFill>
            <a:prstDash val="solid"/>
          </a:ln>
        </p:spPr>
      </p:sp>
      <p:sp>
        <p:nvSpPr>
          <p:cNvPr id="7" name="Text 5"/>
          <p:cNvSpPr txBox="1"/>
          <p:nvPr/>
        </p:nvSpPr>
        <p:spPr>
          <a:xfrm>
            <a:off x="804672" y="4270248"/>
            <a:ext cx="2834640" cy="219456"/>
          </a:xfrm>
          <a:prstGeom prst="rect">
            <a:avLst/>
          </a:prstGeom>
          <a:noFill/>
          <a:ln/>
        </p:spPr>
        <p:txBody>
          <a:bodyPr wrap="square" lIns="0" tIns="0" rIns="0" bIns="0" rtlCol="0" anchor="ctr"/>
          <a:lstStyle/>
          <a:p>
            <a:pPr indent="0" marL="0">
              <a:buNone/>
            </a:pPr>
            <a:r>
              <a:rPr lang="en-US" sz="800" b="1" spc="100" kern="0" dirty="0">
                <a:solidFill>
                  <a:srgbClr val="818181"/>
                </a:solidFill>
                <a:latin typeface="Verdana" pitchFamily="34" charset="0"/>
                <a:ea typeface="Verdana" pitchFamily="34" charset="-122"/>
                <a:cs typeface="Verdana" pitchFamily="34" charset="-120"/>
              </a:rPr>
              <a:t>QUÉ LLAMA PYME</a:t>
            </a:r>
            <a:endParaRPr lang="en-US" sz="800" dirty="0"/>
          </a:p>
        </p:txBody>
      </p:sp>
      <p:sp>
        <p:nvSpPr>
          <p:cNvPr id="8" name="Text 6"/>
          <p:cNvSpPr txBox="1"/>
          <p:nvPr/>
        </p:nvSpPr>
        <p:spPr>
          <a:xfrm>
            <a:off x="804672" y="4507992"/>
            <a:ext cx="2834640" cy="502920"/>
          </a:xfrm>
          <a:prstGeom prst="rect">
            <a:avLst/>
          </a:prstGeom>
          <a:noFill/>
          <a:ln/>
        </p:spPr>
        <p:txBody>
          <a:bodyPr wrap="square" lIns="0" tIns="0" rIns="0" bIns="0" rtlCol="0" anchor="t"/>
          <a:lstStyle/>
          <a:p>
            <a:pPr indent="0" marL="0">
              <a:buNone/>
            </a:pPr>
            <a:r>
              <a:rPr lang="en-US" sz="1200" b="1" dirty="0">
                <a:solidFill>
                  <a:srgbClr val="2B2B2B"/>
                </a:solidFill>
                <a:latin typeface="Verdana" pitchFamily="34" charset="0"/>
                <a:ea typeface="Verdana" pitchFamily="34" charset="-122"/>
                <a:cs typeface="Verdana" pitchFamily="34" charset="-120"/>
              </a:rPr>
              <a:t>Recomendación 2003/361/CE completa</a:t>
            </a:r>
            <a:endParaRPr lang="en-US" sz="1200" dirty="0"/>
          </a:p>
        </p:txBody>
      </p:sp>
      <p:sp>
        <p:nvSpPr>
          <p:cNvPr id="9" name="Shape 7"/>
          <p:cNvSpPr/>
          <p:nvPr/>
        </p:nvSpPr>
        <p:spPr>
          <a:xfrm>
            <a:off x="804672" y="5074920"/>
            <a:ext cx="2788920" cy="274320"/>
          </a:xfrm>
          <a:prstGeom prst="roundRect">
            <a:avLst>
              <a:gd name="adj" fmla="val 26667"/>
            </a:avLst>
          </a:prstGeom>
          <a:solidFill>
            <a:srgbClr val="C7E3F9"/>
          </a:solidFill>
          <a:ln w="12700">
            <a:solidFill>
              <a:srgbClr val="C7E3F9"/>
            </a:solidFill>
            <a:prstDash val="solid"/>
          </a:ln>
        </p:spPr>
      </p:sp>
      <p:sp>
        <p:nvSpPr>
          <p:cNvPr id="10" name="Text 8"/>
          <p:cNvSpPr txBox="1"/>
          <p:nvPr/>
        </p:nvSpPr>
        <p:spPr>
          <a:xfrm>
            <a:off x="804672" y="5074920"/>
            <a:ext cx="2788920" cy="274320"/>
          </a:xfrm>
          <a:prstGeom prst="rect">
            <a:avLst/>
          </a:prstGeom>
          <a:noFill/>
          <a:ln/>
        </p:spPr>
        <p:txBody>
          <a:bodyPr wrap="square" lIns="0" tIns="0" rIns="0" bIns="0" rtlCol="0" anchor="ctr"/>
          <a:lstStyle/>
          <a:p>
            <a:pPr algn="ctr" indent="0" marL="0">
              <a:buNone/>
            </a:pPr>
            <a:r>
              <a:rPr lang="en-US" sz="850" b="1" dirty="0">
                <a:solidFill>
                  <a:srgbClr val="2B2B2B"/>
                </a:solidFill>
                <a:latin typeface="Verdana" pitchFamily="34" charset="0"/>
                <a:ea typeface="Verdana" pitchFamily="34" charset="-122"/>
                <a:cs typeface="Verdana" pitchFamily="34" charset="-120"/>
              </a:rPr>
              <a:t>Definición estándar de la UE</a:t>
            </a:r>
            <a:endParaRPr lang="en-US" sz="850" dirty="0"/>
          </a:p>
        </p:txBody>
      </p:sp>
      <p:sp>
        <p:nvSpPr>
          <p:cNvPr id="11" name="Text 9"/>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12" name="Text 10"/>
          <p:cNvSpPr txBox="1"/>
          <p:nvPr/>
        </p:nvSpPr>
        <p:spPr>
          <a:xfrm>
            <a:off x="4709160" y="868680"/>
            <a:ext cx="685800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Qué es</a:t>
            </a:r>
            <a:endParaRPr lang="en-US" sz="1250" dirty="0"/>
          </a:p>
        </p:txBody>
      </p:sp>
      <p:sp>
        <p:nvSpPr>
          <p:cNvPr id="13" name="Text 11"/>
          <p:cNvSpPr txBox="1"/>
          <p:nvPr/>
        </p:nvSpPr>
        <p:spPr>
          <a:xfrm>
            <a:off x="4709160" y="1179576"/>
            <a:ext cx="6858000" cy="731520"/>
          </a:xfrm>
          <a:prstGeom prst="rect">
            <a:avLst/>
          </a:prstGeom>
          <a:noFill/>
          <a:ln/>
        </p:spPr>
        <p:txBody>
          <a:bodyPr wrap="square" lIns="0" tIns="0" rIns="0" bIns="0" rtlCol="0" anchor="t"/>
          <a:lstStyle/>
          <a:p>
            <a:pPr indent="0" marL="0">
              <a:spcAft>
                <a:spcPts val="300"/>
              </a:spcAft>
              <a:buNone/>
            </a:pPr>
            <a:r>
              <a:rPr lang="en-US" sz="1050" dirty="0">
                <a:solidFill>
                  <a:srgbClr val="2B2B2B"/>
                </a:solidFill>
                <a:latin typeface="Verdana" pitchFamily="34" charset="0"/>
                <a:ea typeface="Verdana" pitchFamily="34" charset="-122"/>
                <a:cs typeface="Verdana" pitchFamily="34" charset="-120"/>
              </a:rPr>
              <a:t>Publicación trimestral de la EBA con los indicadores de riesgo de la banca europea, agregados por país a partir del reporting contable (FINREP) de los bancos de su muestra.</a:t>
            </a:r>
            <a:endParaRPr lang="en-US" sz="1050" dirty="0"/>
          </a:p>
        </p:txBody>
      </p:sp>
      <p:sp>
        <p:nvSpPr>
          <p:cNvPr id="14" name="Text 12"/>
          <p:cNvSpPr txBox="1"/>
          <p:nvPr/>
        </p:nvSpPr>
        <p:spPr>
          <a:xfrm>
            <a:off x="4709160" y="2011680"/>
            <a:ext cx="685800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Qué hemos obtenido</a:t>
            </a:r>
            <a:endParaRPr lang="en-US" sz="1250" dirty="0"/>
          </a:p>
        </p:txBody>
      </p:sp>
      <p:sp>
        <p:nvSpPr>
          <p:cNvPr id="15" name="Text 13"/>
          <p:cNvSpPr txBox="1"/>
          <p:nvPr/>
        </p:nvSpPr>
        <p:spPr>
          <a:xfrm>
            <a:off x="4709160" y="2322576"/>
            <a:ext cx="6858000" cy="141732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2B2B2B"/>
                </a:solidFill>
                <a:latin typeface="Verdana" pitchFamily="34" charset="0"/>
                <a:ea typeface="Verdana" pitchFamily="34" charset="-122"/>
                <a:cs typeface="Verdana" pitchFamily="34" charset="-120"/>
              </a:rPr>
              <a:t>Saldo de préstamos a PYME por país: el tamaño del mercado</a:t>
            </a:r>
            <a:endParaRPr lang="en-US" sz="1050" dirty="0"/>
          </a:p>
          <a:p>
            <a:pPr marL="342900" indent="-342900">
              <a:spcAft>
                <a:spcPts val="300"/>
              </a:spcAft>
              <a:buSzPct val="100000"/>
              <a:buChar char="•"/>
            </a:pPr>
            <a:r>
              <a:rPr lang="en-US" sz="1050" dirty="0">
                <a:solidFill>
                  <a:srgbClr val="2B2B2B"/>
                </a:solidFill>
                <a:latin typeface="Verdana" pitchFamily="34" charset="0"/>
                <a:ea typeface="Verdana" pitchFamily="34" charset="-122"/>
                <a:cs typeface="Verdana" pitchFamily="34" charset="-120"/>
              </a:rPr>
              <a:t>Tasa de mora (NPL) por segmento: hogares, empresas, PYME e inmueble comercial</a:t>
            </a:r>
            <a:endParaRPr lang="en-US" sz="1050" dirty="0"/>
          </a:p>
          <a:p>
            <a:pPr marL="342900" indent="-342900">
              <a:spcAft>
                <a:spcPts val="300"/>
              </a:spcAft>
              <a:buSzPct val="100000"/>
              <a:buChar char="•"/>
            </a:pPr>
            <a:r>
              <a:rPr lang="en-US" sz="1050" dirty="0">
                <a:solidFill>
                  <a:srgbClr val="2B2B2B"/>
                </a:solidFill>
                <a:latin typeface="Verdana" pitchFamily="34" charset="0"/>
                <a:ea typeface="Verdana" pitchFamily="34" charset="-122"/>
                <a:cs typeface="Verdana" pitchFamily="34" charset="-120"/>
              </a:rPr>
              <a:t>Evolución de la mora de la PYME, del primer trimestre de 2024 al primero de 2026</a:t>
            </a:r>
            <a:endParaRPr lang="en-US" sz="1050" dirty="0"/>
          </a:p>
          <a:p>
            <a:pPr marL="342900" indent="-342900">
              <a:spcAft>
                <a:spcPts val="300"/>
              </a:spcAft>
              <a:buSzPct val="100000"/>
              <a:buChar char="•"/>
            </a:pPr>
            <a:r>
              <a:rPr lang="en-US" sz="1050" dirty="0">
                <a:solidFill>
                  <a:srgbClr val="2B2B2B"/>
                </a:solidFill>
                <a:latin typeface="Verdana" pitchFamily="34" charset="0"/>
                <a:ea typeface="Verdana" pitchFamily="34" charset="-122"/>
                <a:cs typeface="Verdana" pitchFamily="34" charset="-120"/>
              </a:rPr>
              <a:t>Peso de la PYME dentro del crédito a empresas</a:t>
            </a:r>
            <a:endParaRPr lang="en-US" sz="1050" dirty="0"/>
          </a:p>
        </p:txBody>
      </p:sp>
      <p:sp>
        <p:nvSpPr>
          <p:cNvPr id="16" name="Text 14"/>
          <p:cNvSpPr txBox="1"/>
          <p:nvPr/>
        </p:nvSpPr>
        <p:spPr>
          <a:xfrm>
            <a:off x="4709160" y="3886200"/>
            <a:ext cx="685800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Por qué aplica a PYME, y hasta dónde</a:t>
            </a:r>
            <a:endParaRPr lang="en-US" sz="1250" dirty="0"/>
          </a:p>
        </p:txBody>
      </p:sp>
      <p:sp>
        <p:nvSpPr>
          <p:cNvPr id="17" name="Text 15"/>
          <p:cNvSpPr txBox="1"/>
          <p:nvPr/>
        </p:nvSpPr>
        <p:spPr>
          <a:xfrm>
            <a:off x="4709160" y="4197096"/>
            <a:ext cx="6858000" cy="1234440"/>
          </a:xfrm>
          <a:prstGeom prst="rect">
            <a:avLst/>
          </a:prstGeom>
          <a:noFill/>
          <a:ln/>
        </p:spPr>
        <p:txBody>
          <a:bodyPr wrap="square" lIns="0" tIns="0" rIns="0" bIns="0" rtlCol="0" anchor="t"/>
          <a:lstStyle/>
          <a:p>
            <a:pPr indent="0" marL="0">
              <a:spcAft>
                <a:spcPts val="300"/>
              </a:spcAft>
              <a:buNone/>
            </a:pPr>
            <a:r>
              <a:rPr lang="en-US" sz="1050" dirty="0">
                <a:solidFill>
                  <a:srgbClr val="2B2B2B"/>
                </a:solidFill>
                <a:latin typeface="Verdana" pitchFamily="34" charset="0"/>
                <a:ea typeface="Verdana" pitchFamily="34" charset="-122"/>
                <a:cs typeface="Verdana" pitchFamily="34" charset="-120"/>
              </a:rPr>
              <a:t>Es una de las dos fuentes que usan la definición estándar COMPLETA: el anexo V del reglamento de reporting remite a la Recomendación 2003/361/CE, con empleados y facturación o balance. Es, por tanto, el dato de PYME más limpio que tenemos. Límite: cubre la muestra de bancos de la EBA, no el sistema entero.</a:t>
            </a:r>
            <a:endParaRPr lang="en-US" sz="1050" dirty="0"/>
          </a:p>
        </p:txBody>
      </p:sp>
      <p:sp>
        <p:nvSpPr>
          <p:cNvPr id="18" name="Text 16"/>
          <p:cNvSpPr txBox="1"/>
          <p:nvPr/>
        </p:nvSpPr>
        <p:spPr>
          <a:xfrm>
            <a:off x="4709160" y="5806440"/>
            <a:ext cx="6858000" cy="384048"/>
          </a:xfrm>
          <a:prstGeom prst="rect">
            <a:avLst/>
          </a:prstGeom>
          <a:noFill/>
          <a:ln/>
        </p:spPr>
        <p:txBody>
          <a:bodyPr wrap="square" lIns="0" tIns="0" rIns="0" bIns="0" rtlCol="0" anchor="ctr"/>
          <a:lstStyle/>
          <a:p>
            <a:pPr indent="0" marL="0">
              <a:buNone/>
            </a:pPr>
            <a:r>
              <a:rPr lang="en-US" sz="850" i="1" dirty="0">
                <a:solidFill>
                  <a:srgbClr val="818181"/>
                </a:solidFill>
                <a:latin typeface="Verdana" pitchFamily="34" charset="0"/>
                <a:ea typeface="Verdana" pitchFamily="34" charset="-122"/>
                <a:cs typeface="Verdana" pitchFamily="34" charset="-120"/>
              </a:rPr>
              <a:t>Siete países · trimestral · 2024-Q1 a 2026-Q1 · muestra de bancos supervisados por la EBA</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3" name="Text 1"/>
          <p:cNvSpPr txBox="1"/>
          <p:nvPr/>
        </p:nvSpPr>
        <p:spPr>
          <a:xfrm>
            <a:off x="621792" y="6583680"/>
            <a:ext cx="548640" cy="182880"/>
          </a:xfrm>
          <a:prstGeom prst="rect">
            <a:avLst/>
          </a:prstGeom>
          <a:noFill/>
          <a:ln/>
        </p:spPr>
        <p:txBody>
          <a:bodyPr wrap="square" lIns="0" tIns="0" rIns="0" bIns="0" rtlCol="0" anchor="ctr"/>
          <a:lstStyle/>
          <a:p>
            <a:pPr indent="0" marL="0">
              <a:buNone/>
            </a:pPr>
            <a:r>
              <a:rPr lang="en-US" sz="800" dirty="0">
                <a:solidFill>
                  <a:srgbClr val="CACACA"/>
                </a:solidFill>
                <a:latin typeface="Verdana" pitchFamily="34" charset="0"/>
                <a:ea typeface="Verdana" pitchFamily="34" charset="-122"/>
                <a:cs typeface="Verdana" pitchFamily="34" charset="-120"/>
              </a:rPr>
              <a:t>13</a:t>
            </a:r>
            <a:endParaRPr lang="en-US" sz="800" dirty="0"/>
          </a:p>
        </p:txBody>
      </p:sp>
      <p:sp>
        <p:nvSpPr>
          <p:cNvPr id="4" name="Text 2"/>
          <p:cNvSpPr txBox="1"/>
          <p:nvPr/>
        </p:nvSpPr>
        <p:spPr>
          <a:xfrm>
            <a:off x="621792" y="420624"/>
            <a:ext cx="8430768" cy="658368"/>
          </a:xfrm>
          <a:prstGeom prst="rect">
            <a:avLst/>
          </a:prstGeom>
          <a:noFill/>
          <a:ln/>
        </p:spPr>
        <p:txBody>
          <a:bodyPr wrap="square" lIns="0" tIns="0" rIns="0" bIns="0" rtlCol="0" anchor="t"/>
          <a:lstStyle/>
          <a:p>
            <a:pPr indent="0" marL="0">
              <a:buNone/>
            </a:pPr>
            <a:r>
              <a:rPr lang="en-US" sz="2100" b="1" dirty="0">
                <a:solidFill>
                  <a:srgbClr val="2B2B2B"/>
                </a:solidFill>
                <a:latin typeface="Verdana" pitchFamily="34" charset="0"/>
                <a:ea typeface="Verdana" pitchFamily="34" charset="-122"/>
                <a:cs typeface="Verdana" pitchFamily="34" charset="-120"/>
              </a:rPr>
              <a:t>Francia tiene casi la mitad del crédito a PYME de los siete; España es el segundo mercado</a:t>
            </a:r>
            <a:endParaRPr lang="en-US" sz="2100" dirty="0"/>
          </a:p>
        </p:txBody>
      </p:sp>
      <p:sp>
        <p:nvSpPr>
          <p:cNvPr id="5" name="Text 3"/>
          <p:cNvSpPr txBox="1"/>
          <p:nvPr/>
        </p:nvSpPr>
        <p:spPr>
          <a:xfrm>
            <a:off x="621792" y="1097280"/>
            <a:ext cx="10945368" cy="329184"/>
          </a:xfrm>
          <a:prstGeom prst="rect">
            <a:avLst/>
          </a:prstGeom>
          <a:noFill/>
          <a:ln/>
        </p:spPr>
        <p:txBody>
          <a:bodyPr wrap="square" lIns="0" tIns="0" rIns="0" bIns="0" rtlCol="0" anchor="ctr"/>
          <a:lstStyle/>
          <a:p>
            <a:pPr indent="0" marL="0">
              <a:buNone/>
            </a:pPr>
            <a:r>
              <a:rPr lang="en-US" sz="1000" dirty="0">
                <a:solidFill>
                  <a:srgbClr val="818181"/>
                </a:solidFill>
                <a:latin typeface="Verdana" pitchFamily="34" charset="0"/>
                <a:ea typeface="Verdana" pitchFamily="34" charset="-122"/>
                <a:cs typeface="Verdana" pitchFamily="34" charset="-120"/>
              </a:rPr>
              <a:t>Saldo bruto de préstamos a PYME de los bancos de la muestra de la EBA, miles de millones de euros · Primer trimestre de 2026</a:t>
            </a:r>
            <a:endParaRPr lang="en-US" sz="1000" dirty="0"/>
          </a:p>
        </p:txBody>
      </p:sp>
      <p:sp>
        <p:nvSpPr>
          <p:cNvPr id="6" name="Shape 4"/>
          <p:cNvSpPr/>
          <p:nvPr/>
        </p:nvSpPr>
        <p:spPr>
          <a:xfrm>
            <a:off x="9235440" y="640080"/>
            <a:ext cx="2331720" cy="365760"/>
          </a:xfrm>
          <a:prstGeom prst="roundRect">
            <a:avLst>
              <a:gd name="adj" fmla="val 15000"/>
            </a:avLst>
          </a:prstGeom>
          <a:solidFill>
            <a:srgbClr val="C7E3F9"/>
          </a:solidFill>
          <a:ln w="12700">
            <a:solidFill>
              <a:srgbClr val="C7E3F9"/>
            </a:solidFill>
            <a:prstDash val="solid"/>
          </a:ln>
        </p:spPr>
      </p:sp>
      <p:sp>
        <p:nvSpPr>
          <p:cNvPr id="7" name="Text 5"/>
          <p:cNvSpPr txBox="1"/>
          <p:nvPr/>
        </p:nvSpPr>
        <p:spPr>
          <a:xfrm>
            <a:off x="9308592" y="658368"/>
            <a:ext cx="2185416" cy="329184"/>
          </a:xfrm>
          <a:prstGeom prst="rect">
            <a:avLst/>
          </a:prstGeom>
          <a:noFill/>
          <a:ln/>
        </p:spPr>
        <p:txBody>
          <a:bodyPr wrap="square" lIns="0" tIns="0" rIns="0" bIns="0" rtlCol="0" anchor="ctr"/>
          <a:lstStyle/>
          <a:p>
            <a:pPr indent="0" marL="0">
              <a:buNone/>
            </a:pPr>
            <a:r>
              <a:rPr lang="en-US" sz="750" b="1" dirty="0">
                <a:solidFill>
                  <a:srgbClr val="2B2B2B"/>
                </a:solidFill>
                <a:latin typeface="Verdana" pitchFamily="34" charset="0"/>
                <a:ea typeface="Verdana" pitchFamily="34" charset="-122"/>
                <a:cs typeface="Verdana" pitchFamily="34" charset="-120"/>
              </a:rPr>
              <a:t>PYME · Recomendación 2003/361/CE completa</a:t>
            </a:r>
            <a:endParaRPr lang="en-US" sz="750" dirty="0"/>
          </a:p>
        </p:txBody>
      </p:sp>
      <p:graphicFrame>
        <p:nvGraphicFramePr>
          <p:cNvPr id="8" name="Chart 0" descr=""/>
          <p:cNvGraphicFramePr/>
          <p:nvPr/>
        </p:nvGraphicFramePr>
        <p:xfrm>
          <a:off x="621792" y="1554480"/>
          <a:ext cx="5623560" cy="4160520"/>
        </p:xfrm>
        <a:graphic xmlns:a="http://schemas.openxmlformats.org/drawingml/2006/main">
          <a:graphicData uri="http://schemas.openxmlformats.org/drawingml/2006/chart">
            <c:chart xmlns:c="http://schemas.openxmlformats.org/drawingml/2006/chart" r:id="rId1"/>
          </a:graphicData>
        </a:graphic>
      </p:graphicFrame>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46520" y="1554480"/>
          <a:ext cx="5120640" cy="914400"/>
        </p:xfrm>
        <a:graphic>
          <a:graphicData uri="http://schemas.openxmlformats.org/drawingml/2006/table">
            <a:tbl>
              <a:tblPr/>
              <a:tblGrid>
                <a:gridCol w="1005840"/>
                <a:gridCol w="1051560"/>
                <a:gridCol w="914400"/>
                <a:gridCol w="1097280"/>
                <a:gridCol w="1051560"/>
              </a:tblGrid>
              <a:tr h="274320">
                <a:tc>
                  <a:txBody>
                    <a:bodyPr/>
                    <a:lstStyle/>
                    <a:p>
                      <a:pPr algn="ctr" indent="0" marL="0">
                        <a:buNone/>
                      </a:pPr>
                      <a:r>
                        <a:rPr lang="en-US" sz="800" b="1" dirty="0">
                          <a:solidFill>
                            <a:srgbClr val="FFFFFF"/>
                          </a:solidFill>
                          <a:latin typeface="Verdana" pitchFamily="34" charset="0"/>
                          <a:ea typeface="Verdana" pitchFamily="34" charset="-122"/>
                          <a:cs typeface="Verdana" pitchFamily="34" charset="-120"/>
                        </a:rPr>
                        <a:t>País</a:t>
                      </a:r>
                      <a:endParaRPr lang="en-US" sz="8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2B2B2B"/>
                    </a:solidFill>
                  </a:tcPr>
                </a:tc>
                <a:tc>
                  <a:txBody>
                    <a:bodyPr/>
                    <a:lstStyle/>
                    <a:p>
                      <a:pPr algn="ctr" indent="0" marL="0">
                        <a:buNone/>
                      </a:pPr>
                      <a:r>
                        <a:rPr lang="en-US" sz="800" b="1" dirty="0">
                          <a:solidFill>
                            <a:srgbClr val="FFFFFF"/>
                          </a:solidFill>
                          <a:latin typeface="Verdana" pitchFamily="34" charset="0"/>
                          <a:ea typeface="Verdana" pitchFamily="34" charset="-122"/>
                          <a:cs typeface="Verdana" pitchFamily="34" charset="-120"/>
                        </a:rPr>
                        <a:t>Crédito PYME</a:t>
                      </a:r>
                      <a:endParaRPr lang="en-US" sz="800" dirty="0">
                        <a:latin typeface="Verdana" charset="0"/>
                        <a:ea typeface="Verdana" charset="0"/>
                        <a:cs typeface="Verdana" charset="0"/>
                      </a:endParaRPr>
                    </a:p>
                    <a:p>
                      <a:pPr algn="ctr" indent="0" marL="0">
                        <a:buNone/>
                      </a:pPr>
                      <a:r>
                        <a:rPr lang="en-US" sz="800" b="1" dirty="0">
                          <a:solidFill>
                            <a:srgbClr val="FFFFFF"/>
                          </a:solidFill>
                          <a:latin typeface="Verdana" pitchFamily="34" charset="0"/>
                          <a:ea typeface="Verdana" pitchFamily="34" charset="-122"/>
                          <a:cs typeface="Verdana" pitchFamily="34" charset="-120"/>
                        </a:rPr>
                        <a:t>M€, 2026-Q1</a:t>
                      </a:r>
                      <a:endParaRPr lang="en-US" sz="8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2B2B2B"/>
                    </a:solidFill>
                  </a:tcPr>
                </a:tc>
                <a:tc>
                  <a:txBody>
                    <a:bodyPr/>
                    <a:lstStyle/>
                    <a:p>
                      <a:pPr algn="ctr" indent="0" marL="0">
                        <a:buNone/>
                      </a:pPr>
                      <a:r>
                        <a:rPr lang="en-US" sz="800" b="1" dirty="0">
                          <a:solidFill>
                            <a:srgbClr val="FFFFFF"/>
                          </a:solidFill>
                          <a:latin typeface="Verdana" pitchFamily="34" charset="0"/>
                          <a:ea typeface="Verdana" pitchFamily="34" charset="-122"/>
                          <a:cs typeface="Verdana" pitchFamily="34" charset="-120"/>
                        </a:rPr>
                        <a:t>Cuota de</a:t>
                      </a:r>
                      <a:endParaRPr lang="en-US" sz="800" dirty="0">
                        <a:latin typeface="Verdana" charset="0"/>
                        <a:ea typeface="Verdana" charset="0"/>
                        <a:cs typeface="Verdana" charset="0"/>
                      </a:endParaRPr>
                    </a:p>
                    <a:p>
                      <a:pPr algn="ctr" indent="0" marL="0">
                        <a:buNone/>
                      </a:pPr>
                      <a:r>
                        <a:rPr lang="en-US" sz="800" b="1" dirty="0">
                          <a:solidFill>
                            <a:srgbClr val="FFFFFF"/>
                          </a:solidFill>
                          <a:latin typeface="Verdana" pitchFamily="34" charset="0"/>
                          <a:ea typeface="Verdana" pitchFamily="34" charset="-122"/>
                          <a:cs typeface="Verdana" pitchFamily="34" charset="-120"/>
                        </a:rPr>
                        <a:t>los siete</a:t>
                      </a:r>
                      <a:endParaRPr lang="en-US" sz="8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2B2B2B"/>
                    </a:solidFill>
                  </a:tcPr>
                </a:tc>
                <a:tc>
                  <a:txBody>
                    <a:bodyPr/>
                    <a:lstStyle/>
                    <a:p>
                      <a:pPr algn="ctr" indent="0" marL="0">
                        <a:buNone/>
                      </a:pPr>
                      <a:r>
                        <a:rPr lang="en-US" sz="800" b="1" dirty="0">
                          <a:solidFill>
                            <a:srgbClr val="FFFFFF"/>
                          </a:solidFill>
                          <a:latin typeface="Verdana" pitchFamily="34" charset="0"/>
                          <a:ea typeface="Verdana" pitchFamily="34" charset="-122"/>
                          <a:cs typeface="Verdana" pitchFamily="34" charset="-120"/>
                        </a:rPr>
                        <a:t>Peso en crédito</a:t>
                      </a:r>
                      <a:endParaRPr lang="en-US" sz="800" dirty="0">
                        <a:latin typeface="Verdana" charset="0"/>
                        <a:ea typeface="Verdana" charset="0"/>
                        <a:cs typeface="Verdana" charset="0"/>
                      </a:endParaRPr>
                    </a:p>
                    <a:p>
                      <a:pPr algn="ctr" indent="0" marL="0">
                        <a:buNone/>
                      </a:pPr>
                      <a:r>
                        <a:rPr lang="en-US" sz="800" b="1" dirty="0">
                          <a:solidFill>
                            <a:srgbClr val="FFFFFF"/>
                          </a:solidFill>
                          <a:latin typeface="Verdana" pitchFamily="34" charset="0"/>
                          <a:ea typeface="Verdana" pitchFamily="34" charset="-122"/>
                          <a:cs typeface="Verdana" pitchFamily="34" charset="-120"/>
                        </a:rPr>
                        <a:t>a empresas</a:t>
                      </a:r>
                      <a:endParaRPr lang="en-US" sz="8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2B2B2B"/>
                    </a:solidFill>
                  </a:tcPr>
                </a:tc>
                <a:tc>
                  <a:txBody>
                    <a:bodyPr/>
                    <a:lstStyle/>
                    <a:p>
                      <a:pPr algn="ctr" indent="0" marL="0">
                        <a:buNone/>
                      </a:pPr>
                      <a:r>
                        <a:rPr lang="en-US" sz="800" b="1" dirty="0">
                          <a:solidFill>
                            <a:srgbClr val="FFFFFF"/>
                          </a:solidFill>
                          <a:latin typeface="Verdana" pitchFamily="34" charset="0"/>
                          <a:ea typeface="Verdana" pitchFamily="34" charset="-122"/>
                          <a:cs typeface="Verdana" pitchFamily="34" charset="-120"/>
                        </a:rPr>
                        <a:t>Contraste TE</a:t>
                      </a:r>
                      <a:endParaRPr lang="en-US" sz="800" dirty="0">
                        <a:latin typeface="Verdana" charset="0"/>
                        <a:ea typeface="Verdana" charset="0"/>
                        <a:cs typeface="Verdana" charset="0"/>
                      </a:endParaRPr>
                    </a:p>
                    <a:p>
                      <a:pPr algn="ctr" indent="0" marL="0">
                        <a:buNone/>
                      </a:pPr>
                      <a:r>
                        <a:rPr lang="en-US" sz="800" b="1" dirty="0">
                          <a:solidFill>
                            <a:srgbClr val="FFFFFF"/>
                          </a:solidFill>
                          <a:latin typeface="Verdana" pitchFamily="34" charset="0"/>
                          <a:ea typeface="Verdana" pitchFamily="34" charset="-122"/>
                          <a:cs typeface="Verdana" pitchFamily="34" charset="-120"/>
                        </a:rPr>
                        <a:t>M€, jun. 2025</a:t>
                      </a:r>
                      <a:endParaRPr lang="en-US" sz="8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2B2B2B"/>
                    </a:solidFill>
                  </a:tcPr>
                </a:tc>
              </a:tr>
              <a:tr h="274320">
                <a:tc>
                  <a:txBody>
                    <a:bodyPr/>
                    <a:lstStyle/>
                    <a:p>
                      <a:pPr algn="l" indent="0" marL="0">
                        <a:buNone/>
                      </a:pPr>
                      <a:r>
                        <a:rPr lang="en-US" sz="850" b="1" dirty="0">
                          <a:solidFill>
                            <a:srgbClr val="F56600"/>
                          </a:solidFill>
                          <a:latin typeface="Verdana" pitchFamily="34" charset="0"/>
                          <a:ea typeface="Verdana" pitchFamily="34" charset="-122"/>
                          <a:cs typeface="Verdana" pitchFamily="34" charset="-120"/>
                        </a:rPr>
                        <a:t>España</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4C2"/>
                    </a:solidFill>
                  </a:tcPr>
                </a:tc>
                <a:tc>
                  <a:txBody>
                    <a:bodyPr/>
                    <a:lstStyle/>
                    <a:p>
                      <a:pPr algn="ctr" indent="0" marL="0">
                        <a:buNone/>
                      </a:pPr>
                      <a:r>
                        <a:rPr lang="en-US" sz="850" b="1" dirty="0">
                          <a:solidFill>
                            <a:srgbClr val="F56600"/>
                          </a:solidFill>
                          <a:latin typeface="Verdana" pitchFamily="34" charset="0"/>
                          <a:ea typeface="Verdana" pitchFamily="34" charset="-122"/>
                          <a:cs typeface="Verdana" pitchFamily="34" charset="-120"/>
                        </a:rPr>
                        <a:t>272.692</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4C2"/>
                    </a:solidFill>
                  </a:tcPr>
                </a:tc>
                <a:tc>
                  <a:txBody>
                    <a:bodyPr/>
                    <a:lstStyle/>
                    <a:p>
                      <a:pPr algn="ctr" indent="0" marL="0">
                        <a:buNone/>
                      </a:pPr>
                      <a:r>
                        <a:rPr lang="en-US" sz="850" b="1" dirty="0">
                          <a:solidFill>
                            <a:srgbClr val="F56600"/>
                          </a:solidFill>
                          <a:latin typeface="Verdana" pitchFamily="34" charset="0"/>
                          <a:ea typeface="Verdana" pitchFamily="34" charset="-122"/>
                          <a:cs typeface="Verdana" pitchFamily="34" charset="-120"/>
                        </a:rPr>
                        <a:t>13,9 %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4C2"/>
                    </a:solidFill>
                  </a:tcPr>
                </a:tc>
                <a:tc>
                  <a:txBody>
                    <a:bodyPr/>
                    <a:lstStyle/>
                    <a:p>
                      <a:pPr algn="ctr" indent="0" marL="0">
                        <a:buNone/>
                      </a:pPr>
                      <a:r>
                        <a:rPr lang="en-US" sz="850" b="1" dirty="0">
                          <a:solidFill>
                            <a:srgbClr val="F56600"/>
                          </a:solidFill>
                          <a:latin typeface="Verdana" pitchFamily="34" charset="0"/>
                          <a:ea typeface="Verdana" pitchFamily="34" charset="-122"/>
                          <a:cs typeface="Verdana" pitchFamily="34" charset="-120"/>
                        </a:rPr>
                        <a:t>34,2 %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4C2"/>
                    </a:solidFill>
                  </a:tcPr>
                </a:tc>
                <a:tc>
                  <a:txBody>
                    <a:bodyPr/>
                    <a:lstStyle/>
                    <a:p>
                      <a:pPr algn="ctr" indent="0" marL="0">
                        <a:buNone/>
                      </a:pPr>
                      <a:r>
                        <a:rPr lang="en-US" sz="850" b="1" dirty="0">
                          <a:solidFill>
                            <a:srgbClr val="F56600"/>
                          </a:solidFill>
                          <a:latin typeface="Verdana" pitchFamily="34" charset="0"/>
                          <a:ea typeface="Verdana" pitchFamily="34" charset="-122"/>
                          <a:cs typeface="Verdana" pitchFamily="34" charset="-120"/>
                        </a:rPr>
                        <a:t>308.378</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4C2"/>
                    </a:solidFill>
                  </a:tcPr>
                </a:tc>
              </a:tr>
              <a:tr h="274320">
                <a:tc>
                  <a:txBody>
                    <a:bodyPr/>
                    <a:lstStyle/>
                    <a:p>
                      <a:pPr algn="l" indent="0" marL="0">
                        <a:buNone/>
                      </a:pPr>
                      <a:r>
                        <a:rPr lang="en-US" sz="850" dirty="0">
                          <a:solidFill>
                            <a:srgbClr val="2B2B2B"/>
                          </a:solidFill>
                          <a:latin typeface="Verdana" pitchFamily="34" charset="0"/>
                          <a:ea typeface="Verdana" pitchFamily="34" charset="-122"/>
                          <a:cs typeface="Verdana" pitchFamily="34" charset="-120"/>
                        </a:rPr>
                        <a:t>Alemania</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249.005</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12,7 %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26,8 %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818181"/>
                          </a:solidFill>
                          <a:latin typeface="Verdana" pitchFamily="34" charset="0"/>
                          <a:ea typeface="Verdana" pitchFamily="34" charset="-122"/>
                          <a:cs typeface="Verdana" pitchFamily="34" charset="-120"/>
                        </a:rPr>
                        <a:t>316.561</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2B2B2B"/>
                          </a:solidFill>
                          <a:latin typeface="Verdana" pitchFamily="34" charset="0"/>
                          <a:ea typeface="Verdana" pitchFamily="34" charset="-122"/>
                          <a:cs typeface="Verdana" pitchFamily="34" charset="-120"/>
                        </a:rPr>
                        <a:t>Francia</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911.017</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46,4 %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45,6 %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818181"/>
                          </a:solidFill>
                          <a:latin typeface="Verdana" pitchFamily="34" charset="0"/>
                          <a:ea typeface="Verdana" pitchFamily="34" charset="-122"/>
                          <a:cs typeface="Verdana" pitchFamily="34" charset="-120"/>
                        </a:rPr>
                        <a:t>961.184</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2B2B2B"/>
                          </a:solidFill>
                          <a:latin typeface="Verdana" pitchFamily="34" charset="0"/>
                          <a:ea typeface="Verdana" pitchFamily="34" charset="-122"/>
                          <a:cs typeface="Verdana" pitchFamily="34" charset="-120"/>
                        </a:rPr>
                        <a:t>Italia</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260.114</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13,2 %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40,1 %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818181"/>
                          </a:solidFill>
                          <a:latin typeface="Verdana" pitchFamily="34" charset="0"/>
                          <a:ea typeface="Verdana" pitchFamily="34" charset="-122"/>
                          <a:cs typeface="Verdana" pitchFamily="34" charset="-120"/>
                        </a:rPr>
                        <a:t>252.021</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2B2B2B"/>
                          </a:solidFill>
                          <a:latin typeface="Verdana" pitchFamily="34" charset="0"/>
                          <a:ea typeface="Verdana" pitchFamily="34" charset="-122"/>
                          <a:cs typeface="Verdana" pitchFamily="34" charset="-120"/>
                        </a:rPr>
                        <a:t>Portugal</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36.823</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1,9 %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65,4 %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818181"/>
                          </a:solidFill>
                          <a:latin typeface="Verdana" pitchFamily="34" charset="0"/>
                          <a:ea typeface="Verdana" pitchFamily="34" charset="-122"/>
                          <a:cs typeface="Verdana" pitchFamily="34" charset="-120"/>
                        </a:rPr>
                        <a:t>30.452</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2B2B2B"/>
                          </a:solidFill>
                          <a:latin typeface="Verdana" pitchFamily="34" charset="0"/>
                          <a:ea typeface="Verdana" pitchFamily="34" charset="-122"/>
                          <a:cs typeface="Verdana" pitchFamily="34" charset="-120"/>
                        </a:rPr>
                        <a:t>P. Bajos</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215.864</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11,0 %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34,3 %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818181"/>
                          </a:solidFill>
                          <a:latin typeface="Verdana" pitchFamily="34" charset="0"/>
                          <a:ea typeface="Verdana" pitchFamily="34" charset="-122"/>
                          <a:cs typeface="Verdana" pitchFamily="34" charset="-120"/>
                        </a:rPr>
                        <a:t>259.108</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2B2B2B"/>
                          </a:solidFill>
                          <a:latin typeface="Verdana" pitchFamily="34" charset="0"/>
                          <a:ea typeface="Verdana" pitchFamily="34" charset="-122"/>
                          <a:cs typeface="Verdana" pitchFamily="34" charset="-120"/>
                        </a:rPr>
                        <a:t>Irlanda</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18.870</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1,0 %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Verdana" pitchFamily="34" charset="0"/>
                          <a:ea typeface="Verdana" pitchFamily="34" charset="-122"/>
                          <a:cs typeface="Verdana" pitchFamily="34" charset="-120"/>
                        </a:rPr>
                        <a:t>26,0 %</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818181"/>
                          </a:solidFill>
                          <a:latin typeface="Verdana" pitchFamily="34" charset="0"/>
                          <a:ea typeface="Verdana" pitchFamily="34" charset="-122"/>
                          <a:cs typeface="Verdana" pitchFamily="34" charset="-120"/>
                        </a:rPr>
                        <a:t>16.964</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bl>
          </a:graphicData>
        </a:graphic>
      </p:graphicFrame>
      <p:sp>
        <p:nvSpPr>
          <p:cNvPr id="10" name="Shape 6"/>
          <p:cNvSpPr/>
          <p:nvPr/>
        </p:nvSpPr>
        <p:spPr>
          <a:xfrm>
            <a:off x="6446520" y="4069080"/>
            <a:ext cx="5120640" cy="1645920"/>
          </a:xfrm>
          <a:prstGeom prst="roundRect">
            <a:avLst>
              <a:gd name="adj" fmla="val 2778"/>
            </a:avLst>
          </a:prstGeom>
          <a:solidFill>
            <a:srgbClr val="F2F4F6"/>
          </a:solidFill>
          <a:ln w="12700">
            <a:solidFill>
              <a:srgbClr val="F2F4F6"/>
            </a:solidFill>
            <a:prstDash val="solid"/>
          </a:ln>
        </p:spPr>
      </p:sp>
      <p:sp>
        <p:nvSpPr>
          <p:cNvPr id="11" name="Text 7"/>
          <p:cNvSpPr txBox="1"/>
          <p:nvPr/>
        </p:nvSpPr>
        <p:spPr>
          <a:xfrm>
            <a:off x="6647688" y="4197096"/>
            <a:ext cx="4718304" cy="27432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Cómo leerlo</a:t>
            </a:r>
            <a:endParaRPr lang="en-US" sz="1150" dirty="0"/>
          </a:p>
        </p:txBody>
      </p:sp>
      <p:sp>
        <p:nvSpPr>
          <p:cNvPr id="12" name="Text 8"/>
          <p:cNvSpPr txBox="1"/>
          <p:nvPr/>
        </p:nvSpPr>
        <p:spPr>
          <a:xfrm>
            <a:off x="6647688" y="4507992"/>
            <a:ext cx="4718304" cy="1097280"/>
          </a:xfrm>
          <a:prstGeom prst="rect">
            <a:avLst/>
          </a:prstGeom>
          <a:noFill/>
          <a:ln/>
        </p:spPr>
        <p:txBody>
          <a:bodyPr wrap="square" lIns="0" tIns="0" rIns="0" bIns="0" rtlCol="0" anchor="t"/>
          <a:lstStyle/>
          <a:p>
            <a:pPr indent="0" marL="0">
              <a:buNone/>
            </a:pPr>
            <a:r>
              <a:rPr lang="en-US" sz="900" dirty="0">
                <a:solidFill>
                  <a:srgbClr val="2B2B2B"/>
                </a:solidFill>
                <a:latin typeface="Verdana" pitchFamily="34" charset="0"/>
                <a:ea typeface="Verdana" pitchFamily="34" charset="-122"/>
                <a:cs typeface="Verdana" pitchFamily="34" charset="-120"/>
              </a:rPr>
              <a:t>Los siete suman 1,96 billones, el 76 % del crédito PYME de la muestra de la UE. Es el saldo de los bancos con sede en cada país, en base consolidada: incluye su negocio PYME fuera de él. España cae 25.984 M€ (8,7 %) en el último trimestre. El Transparency Exercise, que mide exposición y no solo préstamo, da cifras parecidas, pero con Alemania por delante de España.</a:t>
            </a:r>
            <a:endParaRPr lang="en-US" sz="900" dirty="0"/>
          </a:p>
        </p:txBody>
      </p:sp>
      <p:sp>
        <p:nvSpPr>
          <p:cNvPr id="13" name="Text 9"/>
          <p:cNvSpPr txBox="1"/>
          <p:nvPr/>
        </p:nvSpPr>
        <p:spPr>
          <a:xfrm>
            <a:off x="621792" y="6053328"/>
            <a:ext cx="10945368" cy="475488"/>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EBA, Risk Dashboard, anexo de datos del primer trimestre de 2026, hoja Loans_1: saldo bruto de préstamos y anticipos a sociedades no financieras, «of which SMEs» (FINREP, Recomendación 2003/361/CE). Contraste: EBA Transparency Exercise 2025, exposición PYME, junio 2025. La muestra de bancos puede variar entre trimestres.</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3" name="Text 1"/>
          <p:cNvSpPr txBox="1"/>
          <p:nvPr/>
        </p:nvSpPr>
        <p:spPr>
          <a:xfrm>
            <a:off x="621792" y="6583680"/>
            <a:ext cx="548640" cy="182880"/>
          </a:xfrm>
          <a:prstGeom prst="rect">
            <a:avLst/>
          </a:prstGeom>
          <a:noFill/>
          <a:ln/>
        </p:spPr>
        <p:txBody>
          <a:bodyPr wrap="square" lIns="0" tIns="0" rIns="0" bIns="0" rtlCol="0" anchor="ctr"/>
          <a:lstStyle/>
          <a:p>
            <a:pPr indent="0" marL="0">
              <a:buNone/>
            </a:pPr>
            <a:r>
              <a:rPr lang="en-US" sz="800" dirty="0">
                <a:solidFill>
                  <a:srgbClr val="CACACA"/>
                </a:solidFill>
                <a:latin typeface="Verdana" pitchFamily="34" charset="0"/>
                <a:ea typeface="Verdana" pitchFamily="34" charset="-122"/>
                <a:cs typeface="Verdana" pitchFamily="34" charset="-120"/>
              </a:rPr>
              <a:t>14</a:t>
            </a:r>
            <a:endParaRPr lang="en-US" sz="800" dirty="0"/>
          </a:p>
        </p:txBody>
      </p:sp>
      <p:sp>
        <p:nvSpPr>
          <p:cNvPr id="4" name="Text 2"/>
          <p:cNvSpPr txBox="1"/>
          <p:nvPr/>
        </p:nvSpPr>
        <p:spPr>
          <a:xfrm>
            <a:off x="621792" y="420624"/>
            <a:ext cx="8430768" cy="658368"/>
          </a:xfrm>
          <a:prstGeom prst="rect">
            <a:avLst/>
          </a:prstGeom>
          <a:noFill/>
          <a:ln/>
        </p:spPr>
        <p:txBody>
          <a:bodyPr wrap="square" lIns="0" tIns="0" rIns="0" bIns="0" rtlCol="0" anchor="t"/>
          <a:lstStyle/>
          <a:p>
            <a:pPr indent="0" marL="0">
              <a:buNone/>
            </a:pPr>
            <a:r>
              <a:rPr lang="en-US" sz="2100" b="1" dirty="0">
                <a:solidFill>
                  <a:srgbClr val="2B2B2B"/>
                </a:solidFill>
                <a:latin typeface="Verdana" pitchFamily="34" charset="0"/>
                <a:ea typeface="Verdana" pitchFamily="34" charset="-122"/>
                <a:cs typeface="Verdana" pitchFamily="34" charset="-120"/>
              </a:rPr>
              <a:t>La PYME es el segmento con más mora en los siete países</a:t>
            </a:r>
            <a:endParaRPr lang="en-US" sz="2100" dirty="0"/>
          </a:p>
        </p:txBody>
      </p:sp>
      <p:sp>
        <p:nvSpPr>
          <p:cNvPr id="5" name="Text 3"/>
          <p:cNvSpPr txBox="1"/>
          <p:nvPr/>
        </p:nvSpPr>
        <p:spPr>
          <a:xfrm>
            <a:off x="621792" y="1097280"/>
            <a:ext cx="10945368" cy="329184"/>
          </a:xfrm>
          <a:prstGeom prst="rect">
            <a:avLst/>
          </a:prstGeom>
          <a:noFill/>
          <a:ln/>
        </p:spPr>
        <p:txBody>
          <a:bodyPr wrap="square" lIns="0" tIns="0" rIns="0" bIns="0" rtlCol="0" anchor="ctr"/>
          <a:lstStyle/>
          <a:p>
            <a:pPr indent="0" marL="0">
              <a:buNone/>
            </a:pPr>
            <a:r>
              <a:rPr lang="en-US" sz="1000" dirty="0">
                <a:solidFill>
                  <a:srgbClr val="818181"/>
                </a:solidFill>
                <a:latin typeface="Verdana" pitchFamily="34" charset="0"/>
                <a:ea typeface="Verdana" pitchFamily="34" charset="-122"/>
                <a:cs typeface="Verdana" pitchFamily="34" charset="-120"/>
              </a:rPr>
              <a:t>Tasa de mora (NPL) por segmento, primer trimestre de 2026</a:t>
            </a:r>
            <a:endParaRPr lang="en-US" sz="1000" dirty="0"/>
          </a:p>
        </p:txBody>
      </p:sp>
      <p:sp>
        <p:nvSpPr>
          <p:cNvPr id="6" name="Shape 4"/>
          <p:cNvSpPr/>
          <p:nvPr/>
        </p:nvSpPr>
        <p:spPr>
          <a:xfrm>
            <a:off x="9235440" y="640080"/>
            <a:ext cx="2331720" cy="365760"/>
          </a:xfrm>
          <a:prstGeom prst="roundRect">
            <a:avLst>
              <a:gd name="adj" fmla="val 15000"/>
            </a:avLst>
          </a:prstGeom>
          <a:solidFill>
            <a:srgbClr val="C7E3F9"/>
          </a:solidFill>
          <a:ln w="12700">
            <a:solidFill>
              <a:srgbClr val="C7E3F9"/>
            </a:solidFill>
            <a:prstDash val="solid"/>
          </a:ln>
        </p:spPr>
      </p:sp>
      <p:sp>
        <p:nvSpPr>
          <p:cNvPr id="7" name="Text 5"/>
          <p:cNvSpPr txBox="1"/>
          <p:nvPr/>
        </p:nvSpPr>
        <p:spPr>
          <a:xfrm>
            <a:off x="9308592" y="658368"/>
            <a:ext cx="2185416" cy="329184"/>
          </a:xfrm>
          <a:prstGeom prst="rect">
            <a:avLst/>
          </a:prstGeom>
          <a:noFill/>
          <a:ln/>
        </p:spPr>
        <p:txBody>
          <a:bodyPr wrap="square" lIns="0" tIns="0" rIns="0" bIns="0" rtlCol="0" anchor="ctr"/>
          <a:lstStyle/>
          <a:p>
            <a:pPr indent="0" marL="0">
              <a:buNone/>
            </a:pPr>
            <a:r>
              <a:rPr lang="en-US" sz="750" b="1" dirty="0">
                <a:solidFill>
                  <a:srgbClr val="2B2B2B"/>
                </a:solidFill>
                <a:latin typeface="Verdana" pitchFamily="34" charset="0"/>
                <a:ea typeface="Verdana" pitchFamily="34" charset="-122"/>
                <a:cs typeface="Verdana" pitchFamily="34" charset="-120"/>
              </a:rPr>
              <a:t>PYME · Recomendación 2003/361/CE completa</a:t>
            </a:r>
            <a:endParaRPr lang="en-US" sz="750" dirty="0"/>
          </a:p>
        </p:txBody>
      </p:sp>
      <p:graphicFrame>
        <p:nvGraphicFramePr>
          <p:cNvPr id="8" name="Chart 0" descr=""/>
          <p:cNvGraphicFramePr/>
          <p:nvPr/>
        </p:nvGraphicFramePr>
        <p:xfrm>
          <a:off x="621792" y="1554480"/>
          <a:ext cx="7360920" cy="416052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8275320" y="1554480"/>
            <a:ext cx="3291840" cy="1783080"/>
          </a:xfrm>
          <a:prstGeom prst="roundRect">
            <a:avLst>
              <a:gd name="adj" fmla="val 2564"/>
            </a:avLst>
          </a:prstGeom>
          <a:solidFill>
            <a:srgbClr val="FFF4C2"/>
          </a:solidFill>
          <a:ln w="12700">
            <a:solidFill>
              <a:srgbClr val="FFF4C2"/>
            </a:solidFill>
            <a:prstDash val="solid"/>
          </a:ln>
        </p:spPr>
      </p:sp>
      <p:sp>
        <p:nvSpPr>
          <p:cNvPr id="10" name="Text 7"/>
          <p:cNvSpPr txBox="1"/>
          <p:nvPr/>
        </p:nvSpPr>
        <p:spPr>
          <a:xfrm>
            <a:off x="8476488" y="1682496"/>
            <a:ext cx="2889504" cy="27432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España, la mora PYME más alta</a:t>
            </a:r>
            <a:endParaRPr lang="en-US" sz="1150" dirty="0"/>
          </a:p>
        </p:txBody>
      </p:sp>
      <p:sp>
        <p:nvSpPr>
          <p:cNvPr id="11" name="Text 8"/>
          <p:cNvSpPr txBox="1"/>
          <p:nvPr/>
        </p:nvSpPr>
        <p:spPr>
          <a:xfrm>
            <a:off x="8476488" y="1993392"/>
            <a:ext cx="2889504" cy="1234440"/>
          </a:xfrm>
          <a:prstGeom prst="rect">
            <a:avLst/>
          </a:prstGeom>
          <a:noFill/>
          <a:ln/>
        </p:spPr>
        <p:txBody>
          <a:bodyPr wrap="square" lIns="0" tIns="0" rIns="0" bIns="0" rtlCol="0" anchor="t"/>
          <a:lstStyle/>
          <a:p>
            <a:pPr indent="0" marL="0">
              <a:buNone/>
            </a:pPr>
            <a:r>
              <a:rPr lang="en-US" sz="950" dirty="0">
                <a:solidFill>
                  <a:srgbClr val="2B2B2B"/>
                </a:solidFill>
                <a:latin typeface="Verdana" pitchFamily="34" charset="0"/>
                <a:ea typeface="Verdana" pitchFamily="34" charset="-122"/>
                <a:cs typeface="Verdana" pitchFamily="34" charset="-120"/>
              </a:rPr>
              <a:t>5,38 %, frente a 3,13 % en Países Bajos. Y es el único país donde la mora de los hogares (3,77 %) supera la de las empresas.</a:t>
            </a:r>
            <a:endParaRPr lang="en-US" sz="950" dirty="0"/>
          </a:p>
        </p:txBody>
      </p:sp>
      <p:sp>
        <p:nvSpPr>
          <p:cNvPr id="12" name="Shape 9"/>
          <p:cNvSpPr/>
          <p:nvPr/>
        </p:nvSpPr>
        <p:spPr>
          <a:xfrm>
            <a:off x="8275320" y="3474720"/>
            <a:ext cx="3291840" cy="2240280"/>
          </a:xfrm>
          <a:prstGeom prst="roundRect">
            <a:avLst>
              <a:gd name="adj" fmla="val 2041"/>
            </a:avLst>
          </a:prstGeom>
          <a:solidFill>
            <a:srgbClr val="F2F4F6"/>
          </a:solidFill>
          <a:ln w="12700">
            <a:solidFill>
              <a:srgbClr val="F2F4F6"/>
            </a:solidFill>
            <a:prstDash val="solid"/>
          </a:ln>
        </p:spPr>
      </p:sp>
      <p:sp>
        <p:nvSpPr>
          <p:cNvPr id="13" name="Text 10"/>
          <p:cNvSpPr txBox="1"/>
          <p:nvPr/>
        </p:nvSpPr>
        <p:spPr>
          <a:xfrm>
            <a:off x="8476488" y="3602736"/>
            <a:ext cx="2889504" cy="475488"/>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Por qué no se usa el «total cartera»</a:t>
            </a:r>
            <a:endParaRPr lang="en-US" sz="1150" dirty="0"/>
          </a:p>
        </p:txBody>
      </p:sp>
      <p:sp>
        <p:nvSpPr>
          <p:cNvPr id="14" name="Text 11"/>
          <p:cNvSpPr txBox="1"/>
          <p:nvPr/>
        </p:nvSpPr>
        <p:spPr>
          <a:xfrm>
            <a:off x="8476488" y="4114800"/>
            <a:ext cx="2889504" cy="1490472"/>
          </a:xfrm>
          <a:prstGeom prst="rect">
            <a:avLst/>
          </a:prstGeom>
          <a:noFill/>
          <a:ln/>
        </p:spPr>
        <p:txBody>
          <a:bodyPr wrap="square" lIns="0" tIns="0" rIns="0" bIns="0" rtlCol="0" anchor="t"/>
          <a:lstStyle/>
          <a:p>
            <a:pPr indent="0" marL="0">
              <a:buNone/>
            </a:pPr>
            <a:r>
              <a:rPr lang="en-US" sz="950" dirty="0">
                <a:solidFill>
                  <a:srgbClr val="2B2B2B"/>
                </a:solidFill>
                <a:latin typeface="Verdana" pitchFamily="34" charset="0"/>
                <a:ea typeface="Verdana" pitchFamily="34" charset="-122"/>
                <a:cs typeface="Verdana" pitchFamily="34" charset="-120"/>
              </a:rPr>
              <a:t>El total de préstamos y anticipos del EBA incluye saldos en bancos centrales, administraciones y otros bancos, casi sin mora, y diluye distinto cada país: en Alemania más de la mitad del total no es crédito a clientes. Por eso se comparan segmentos.</a:t>
            </a:r>
            <a:endParaRPr lang="en-US" sz="950" dirty="0"/>
          </a:p>
        </p:txBody>
      </p:sp>
      <p:sp>
        <p:nvSpPr>
          <p:cNvPr id="15" name="Text 12"/>
          <p:cNvSpPr txBox="1"/>
          <p:nvPr/>
        </p:nvSpPr>
        <p:spPr>
          <a:xfrm>
            <a:off x="621792" y="6053328"/>
            <a:ext cx="10945368" cy="475488"/>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EBA, Risk Dashboard, anexo de datos del primer trimestre de 2026, desgloses «of which SMEs» (FINREP, Recomendación 2003/361/CE). Las barras son segmentos anidados: la PYME está dentro de las empresas.</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3" name="Text 1"/>
          <p:cNvSpPr txBox="1"/>
          <p:nvPr/>
        </p:nvSpPr>
        <p:spPr>
          <a:xfrm>
            <a:off x="621792" y="6583680"/>
            <a:ext cx="548640" cy="182880"/>
          </a:xfrm>
          <a:prstGeom prst="rect">
            <a:avLst/>
          </a:prstGeom>
          <a:noFill/>
          <a:ln/>
        </p:spPr>
        <p:txBody>
          <a:bodyPr wrap="square" lIns="0" tIns="0" rIns="0" bIns="0" rtlCol="0" anchor="ctr"/>
          <a:lstStyle/>
          <a:p>
            <a:pPr indent="0" marL="0">
              <a:buNone/>
            </a:pPr>
            <a:r>
              <a:rPr lang="en-US" sz="800" dirty="0">
                <a:solidFill>
                  <a:srgbClr val="CACACA"/>
                </a:solidFill>
                <a:latin typeface="Verdana" pitchFamily="34" charset="0"/>
                <a:ea typeface="Verdana" pitchFamily="34" charset="-122"/>
                <a:cs typeface="Verdana" pitchFamily="34" charset="-120"/>
              </a:rPr>
              <a:t>15</a:t>
            </a:r>
            <a:endParaRPr lang="en-US" sz="800" dirty="0"/>
          </a:p>
        </p:txBody>
      </p:sp>
      <p:sp>
        <p:nvSpPr>
          <p:cNvPr id="4" name="Text 2"/>
          <p:cNvSpPr txBox="1"/>
          <p:nvPr/>
        </p:nvSpPr>
        <p:spPr>
          <a:xfrm>
            <a:off x="621792" y="420624"/>
            <a:ext cx="8430768" cy="658368"/>
          </a:xfrm>
          <a:prstGeom prst="rect">
            <a:avLst/>
          </a:prstGeom>
          <a:noFill/>
          <a:ln/>
        </p:spPr>
        <p:txBody>
          <a:bodyPr wrap="square" lIns="0" tIns="0" rIns="0" bIns="0" rtlCol="0" anchor="t"/>
          <a:lstStyle/>
          <a:p>
            <a:pPr indent="0" marL="0">
              <a:buNone/>
            </a:pPr>
            <a:r>
              <a:rPr lang="en-US" sz="2100" b="1" dirty="0">
                <a:solidFill>
                  <a:srgbClr val="2B2B2B"/>
                </a:solidFill>
                <a:latin typeface="Verdana" pitchFamily="34" charset="0"/>
                <a:ea typeface="Verdana" pitchFamily="34" charset="-122"/>
                <a:cs typeface="Verdana" pitchFamily="34" charset="-120"/>
              </a:rPr>
              <a:t>La mora PYME española baja; la alemana y la francesa suben</a:t>
            </a:r>
            <a:endParaRPr lang="en-US" sz="2100" dirty="0"/>
          </a:p>
        </p:txBody>
      </p:sp>
      <p:sp>
        <p:nvSpPr>
          <p:cNvPr id="5" name="Text 3"/>
          <p:cNvSpPr txBox="1"/>
          <p:nvPr/>
        </p:nvSpPr>
        <p:spPr>
          <a:xfrm>
            <a:off x="621792" y="1097280"/>
            <a:ext cx="10945368" cy="329184"/>
          </a:xfrm>
          <a:prstGeom prst="rect">
            <a:avLst/>
          </a:prstGeom>
          <a:noFill/>
          <a:ln/>
        </p:spPr>
        <p:txBody>
          <a:bodyPr wrap="square" lIns="0" tIns="0" rIns="0" bIns="0" rtlCol="0" anchor="ctr"/>
          <a:lstStyle/>
          <a:p>
            <a:pPr indent="0" marL="0">
              <a:buNone/>
            </a:pPr>
            <a:r>
              <a:rPr lang="en-US" sz="1000" dirty="0">
                <a:solidFill>
                  <a:srgbClr val="818181"/>
                </a:solidFill>
                <a:latin typeface="Verdana" pitchFamily="34" charset="0"/>
                <a:ea typeface="Verdana" pitchFamily="34" charset="-122"/>
                <a:cs typeface="Verdana" pitchFamily="34" charset="-120"/>
              </a:rPr>
              <a:t>Tasa de mora (NPL) de la PYME, trimestral</a:t>
            </a:r>
            <a:endParaRPr lang="en-US" sz="1000" dirty="0"/>
          </a:p>
        </p:txBody>
      </p:sp>
      <p:sp>
        <p:nvSpPr>
          <p:cNvPr id="6" name="Shape 4"/>
          <p:cNvSpPr/>
          <p:nvPr/>
        </p:nvSpPr>
        <p:spPr>
          <a:xfrm>
            <a:off x="9235440" y="640080"/>
            <a:ext cx="2331720" cy="365760"/>
          </a:xfrm>
          <a:prstGeom prst="roundRect">
            <a:avLst>
              <a:gd name="adj" fmla="val 15000"/>
            </a:avLst>
          </a:prstGeom>
          <a:solidFill>
            <a:srgbClr val="C7E3F9"/>
          </a:solidFill>
          <a:ln w="12700">
            <a:solidFill>
              <a:srgbClr val="C7E3F9"/>
            </a:solidFill>
            <a:prstDash val="solid"/>
          </a:ln>
        </p:spPr>
      </p:sp>
      <p:sp>
        <p:nvSpPr>
          <p:cNvPr id="7" name="Text 5"/>
          <p:cNvSpPr txBox="1"/>
          <p:nvPr/>
        </p:nvSpPr>
        <p:spPr>
          <a:xfrm>
            <a:off x="9308592" y="658368"/>
            <a:ext cx="2185416" cy="329184"/>
          </a:xfrm>
          <a:prstGeom prst="rect">
            <a:avLst/>
          </a:prstGeom>
          <a:noFill/>
          <a:ln/>
        </p:spPr>
        <p:txBody>
          <a:bodyPr wrap="square" lIns="0" tIns="0" rIns="0" bIns="0" rtlCol="0" anchor="ctr"/>
          <a:lstStyle/>
          <a:p>
            <a:pPr indent="0" marL="0">
              <a:buNone/>
            </a:pPr>
            <a:r>
              <a:rPr lang="en-US" sz="750" b="1" dirty="0">
                <a:solidFill>
                  <a:srgbClr val="2B2B2B"/>
                </a:solidFill>
                <a:latin typeface="Verdana" pitchFamily="34" charset="0"/>
                <a:ea typeface="Verdana" pitchFamily="34" charset="-122"/>
                <a:cs typeface="Verdana" pitchFamily="34" charset="-120"/>
              </a:rPr>
              <a:t>PYME · Recomendación 2003/361/CE completa</a:t>
            </a:r>
            <a:endParaRPr lang="en-US" sz="750" dirty="0"/>
          </a:p>
        </p:txBody>
      </p:sp>
      <p:graphicFrame>
        <p:nvGraphicFramePr>
          <p:cNvPr id="8" name="Chart 0" descr=""/>
          <p:cNvGraphicFramePr/>
          <p:nvPr/>
        </p:nvGraphicFramePr>
        <p:xfrm>
          <a:off x="621792" y="1554480"/>
          <a:ext cx="7269480" cy="397764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713232" y="5605272"/>
            <a:ext cx="201168" cy="109728"/>
          </a:xfrm>
          <a:prstGeom prst="rect">
            <a:avLst/>
          </a:prstGeom>
          <a:solidFill>
            <a:srgbClr val="F56600"/>
          </a:solidFill>
          <a:ln w="12700">
            <a:solidFill>
              <a:srgbClr val="F56600"/>
            </a:solidFill>
            <a:prstDash val="solid"/>
          </a:ln>
        </p:spPr>
      </p:sp>
      <p:sp>
        <p:nvSpPr>
          <p:cNvPr id="10" name="Text 7"/>
          <p:cNvSpPr txBox="1"/>
          <p:nvPr/>
        </p:nvSpPr>
        <p:spPr>
          <a:xfrm>
            <a:off x="969264" y="5550408"/>
            <a:ext cx="822960" cy="219456"/>
          </a:xfrm>
          <a:prstGeom prst="rect">
            <a:avLst/>
          </a:prstGeom>
          <a:noFill/>
          <a:ln/>
        </p:spPr>
        <p:txBody>
          <a:bodyPr wrap="square" lIns="0" tIns="0" rIns="0" bIns="0" rtlCol="0" anchor="ctr"/>
          <a:lstStyle/>
          <a:p>
            <a:pPr indent="0" marL="0">
              <a:buNone/>
            </a:pPr>
            <a:r>
              <a:rPr lang="en-US" sz="850" dirty="0">
                <a:solidFill>
                  <a:srgbClr val="2B2B2B"/>
                </a:solidFill>
                <a:latin typeface="Verdana" pitchFamily="34" charset="0"/>
                <a:ea typeface="Verdana" pitchFamily="34" charset="-122"/>
                <a:cs typeface="Verdana" pitchFamily="34" charset="-120"/>
              </a:rPr>
              <a:t>España</a:t>
            </a:r>
            <a:endParaRPr lang="en-US" sz="850" dirty="0"/>
          </a:p>
        </p:txBody>
      </p:sp>
      <p:sp>
        <p:nvSpPr>
          <p:cNvPr id="11" name="Shape 8"/>
          <p:cNvSpPr/>
          <p:nvPr/>
        </p:nvSpPr>
        <p:spPr>
          <a:xfrm>
            <a:off x="1975104" y="5605272"/>
            <a:ext cx="201168" cy="109728"/>
          </a:xfrm>
          <a:prstGeom prst="rect">
            <a:avLst/>
          </a:prstGeom>
          <a:solidFill>
            <a:srgbClr val="B9B9B9"/>
          </a:solidFill>
          <a:ln w="12700">
            <a:solidFill>
              <a:srgbClr val="B9B9B9"/>
            </a:solidFill>
            <a:prstDash val="solid"/>
          </a:ln>
        </p:spPr>
      </p:sp>
      <p:sp>
        <p:nvSpPr>
          <p:cNvPr id="12" name="Text 9"/>
          <p:cNvSpPr txBox="1"/>
          <p:nvPr/>
        </p:nvSpPr>
        <p:spPr>
          <a:xfrm>
            <a:off x="2231136" y="5550408"/>
            <a:ext cx="1371600" cy="219456"/>
          </a:xfrm>
          <a:prstGeom prst="rect">
            <a:avLst/>
          </a:prstGeom>
          <a:noFill/>
          <a:ln/>
        </p:spPr>
        <p:txBody>
          <a:bodyPr wrap="square" lIns="0" tIns="0" rIns="0" bIns="0" rtlCol="0" anchor="ctr"/>
          <a:lstStyle/>
          <a:p>
            <a:pPr indent="0" marL="0">
              <a:buNone/>
            </a:pPr>
            <a:r>
              <a:rPr lang="en-US" sz="850" dirty="0">
                <a:solidFill>
                  <a:srgbClr val="2B2B2B"/>
                </a:solidFill>
                <a:latin typeface="Verdana" pitchFamily="34" charset="0"/>
                <a:ea typeface="Verdana" pitchFamily="34" charset="-122"/>
                <a:cs typeface="Verdana" pitchFamily="34" charset="-120"/>
              </a:rPr>
              <a:t>resto de países</a:t>
            </a:r>
            <a:endParaRPr lang="en-US" sz="8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275320" y="1554480"/>
          <a:ext cx="3291840" cy="914400"/>
        </p:xfrm>
        <a:graphic>
          <a:graphicData uri="http://schemas.openxmlformats.org/drawingml/2006/table">
            <a:tbl>
              <a:tblPr/>
              <a:tblGrid>
                <a:gridCol w="1005840"/>
                <a:gridCol w="777240"/>
                <a:gridCol w="777240"/>
                <a:gridCol w="731520"/>
              </a:tblGrid>
              <a:tr h="274320">
                <a:tc>
                  <a:txBody>
                    <a:bodyPr/>
                    <a:lstStyle/>
                    <a:p>
                      <a:pPr algn="l" indent="0" marL="0">
                        <a:buNone/>
                      </a:pP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2B2B2B"/>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2024 T1</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2B2B2B"/>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2026 T1</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2B2B2B"/>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Cambio</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2B2B2B"/>
                    </a:solidFill>
                  </a:tcPr>
                </a:tc>
              </a:tr>
              <a:tr h="274320">
                <a:tc>
                  <a:txBody>
                    <a:bodyPr/>
                    <a:lstStyle/>
                    <a:p>
                      <a:pPr algn="l" indent="0" marL="0">
                        <a:buNone/>
                      </a:pPr>
                      <a:r>
                        <a:rPr lang="en-US" sz="900" b="1" dirty="0">
                          <a:solidFill>
                            <a:srgbClr val="F56600"/>
                          </a:solidFill>
                          <a:latin typeface="Verdana" pitchFamily="34" charset="0"/>
                          <a:ea typeface="Verdana" pitchFamily="34" charset="-122"/>
                          <a:cs typeface="Verdana" pitchFamily="34" charset="-120"/>
                        </a:rPr>
                        <a:t>España</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4C2"/>
                    </a:solidFill>
                  </a:tcPr>
                </a:tc>
                <a:tc>
                  <a:txBody>
                    <a:bodyPr/>
                    <a:lstStyle/>
                    <a:p>
                      <a:pPr algn="ctr" indent="0" marL="0">
                        <a:buNone/>
                      </a:pPr>
                      <a:r>
                        <a:rPr lang="en-US" sz="900" b="1" dirty="0">
                          <a:solidFill>
                            <a:srgbClr val="F56600"/>
                          </a:solidFill>
                          <a:latin typeface="Verdana" pitchFamily="34" charset="0"/>
                          <a:ea typeface="Verdana" pitchFamily="34" charset="-122"/>
                          <a:cs typeface="Verdana" pitchFamily="34" charset="-120"/>
                        </a:rPr>
                        <a:t>6,49 %</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4C2"/>
                    </a:solidFill>
                  </a:tcPr>
                </a:tc>
                <a:tc>
                  <a:txBody>
                    <a:bodyPr/>
                    <a:lstStyle/>
                    <a:p>
                      <a:pPr algn="ctr" indent="0" marL="0">
                        <a:buNone/>
                      </a:pPr>
                      <a:r>
                        <a:rPr lang="en-US" sz="900" b="1" dirty="0">
                          <a:solidFill>
                            <a:srgbClr val="F56600"/>
                          </a:solidFill>
                          <a:latin typeface="Verdana" pitchFamily="34" charset="0"/>
                          <a:ea typeface="Verdana" pitchFamily="34" charset="-122"/>
                          <a:cs typeface="Verdana" pitchFamily="34" charset="-120"/>
                        </a:rPr>
                        <a:t>5,38 %</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4C2"/>
                    </a:solidFill>
                  </a:tcPr>
                </a:tc>
                <a:tc>
                  <a:txBody>
                    <a:bodyPr/>
                    <a:lstStyle/>
                    <a:p>
                      <a:pPr algn="ctr" indent="0" marL="0">
                        <a:buNone/>
                      </a:pPr>
                      <a:r>
                        <a:rPr lang="en-US" sz="900" b="1" dirty="0">
                          <a:solidFill>
                            <a:srgbClr val="F56600"/>
                          </a:solidFill>
                          <a:latin typeface="Verdana" pitchFamily="34" charset="0"/>
                          <a:ea typeface="Verdana" pitchFamily="34" charset="-122"/>
                          <a:cs typeface="Verdana" pitchFamily="34" charset="-120"/>
                        </a:rPr>
                        <a:t>−1,11</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4C2"/>
                    </a:solidFill>
                  </a:tcPr>
                </a:tc>
              </a:tr>
              <a:tr h="274320">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Alemania</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3,72 %</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4,32 %</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+0,59</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274320">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Francia</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4,50 %</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5,12 %</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+0,63</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274320">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Italia</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5,73 %</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4,90 %</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−0,83</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274320">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Portugal</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6,17 %</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4,22 %</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−1,95</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274320">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P. Bajos</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3,90 %</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3,13 %</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−0,77</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274320">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Irlanda</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6,50 %</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3,77 %</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−2,73</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bl>
          </a:graphicData>
        </a:graphic>
      </p:graphicFrame>
      <p:sp>
        <p:nvSpPr>
          <p:cNvPr id="14" name="Shape 10"/>
          <p:cNvSpPr/>
          <p:nvPr/>
        </p:nvSpPr>
        <p:spPr>
          <a:xfrm>
            <a:off x="8275320" y="3931920"/>
            <a:ext cx="3291840" cy="1783080"/>
          </a:xfrm>
          <a:prstGeom prst="roundRect">
            <a:avLst>
              <a:gd name="adj" fmla="val 2564"/>
            </a:avLst>
          </a:prstGeom>
          <a:solidFill>
            <a:srgbClr val="F2F4F6"/>
          </a:solidFill>
          <a:ln w="12700">
            <a:solidFill>
              <a:srgbClr val="F2F4F6"/>
            </a:solidFill>
            <a:prstDash val="solid"/>
          </a:ln>
        </p:spPr>
      </p:sp>
      <p:sp>
        <p:nvSpPr>
          <p:cNvPr id="15" name="Text 11"/>
          <p:cNvSpPr txBox="1"/>
          <p:nvPr/>
        </p:nvSpPr>
        <p:spPr>
          <a:xfrm>
            <a:off x="8476488" y="4059936"/>
            <a:ext cx="2889504" cy="27432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Convergencia</a:t>
            </a:r>
            <a:endParaRPr lang="en-US" sz="1150" dirty="0"/>
          </a:p>
        </p:txBody>
      </p:sp>
      <p:sp>
        <p:nvSpPr>
          <p:cNvPr id="16" name="Text 12"/>
          <p:cNvSpPr txBox="1"/>
          <p:nvPr/>
        </p:nvSpPr>
        <p:spPr>
          <a:xfrm>
            <a:off x="8476488" y="4370832"/>
            <a:ext cx="2889504" cy="1234440"/>
          </a:xfrm>
          <a:prstGeom prst="rect">
            <a:avLst/>
          </a:prstGeom>
          <a:noFill/>
          <a:ln/>
        </p:spPr>
        <p:txBody>
          <a:bodyPr wrap="square" lIns="0" tIns="0" rIns="0" bIns="0" rtlCol="0" anchor="t"/>
          <a:lstStyle/>
          <a:p>
            <a:pPr indent="0" marL="0">
              <a:buNone/>
            </a:pPr>
            <a:r>
              <a:rPr lang="en-US" sz="950" dirty="0">
                <a:solidFill>
                  <a:srgbClr val="2B2B2B"/>
                </a:solidFill>
                <a:latin typeface="Verdana" pitchFamily="34" charset="0"/>
                <a:ea typeface="Verdana" pitchFamily="34" charset="-122"/>
                <a:cs typeface="Verdana" pitchFamily="34" charset="-120"/>
              </a:rPr>
              <a:t>Los países que partían con más mora (España, Irlanda, Portugal) son los que más la reducen. Alemania y Francia van en sentido contrario.</a:t>
            </a:r>
            <a:endParaRPr lang="en-US" sz="950" dirty="0"/>
          </a:p>
        </p:txBody>
      </p:sp>
      <p:sp>
        <p:nvSpPr>
          <p:cNvPr id="17" name="Text 13"/>
          <p:cNvSpPr txBox="1"/>
          <p:nvPr/>
        </p:nvSpPr>
        <p:spPr>
          <a:xfrm>
            <a:off x="621792" y="6053328"/>
            <a:ext cx="10945368" cy="475488"/>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EBA, Risk Dashboard, anexos de datos trimestrales, «Non-financial corporations — of which SMEs», ratio de NPL. Muestra de bancos de la EBA en cada país.</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F56600"/>
          </a:solidFill>
          <a:ln w="12700">
            <a:solidFill>
              <a:srgbClr val="F56600"/>
            </a:solidFill>
            <a:prstDash val="solid"/>
          </a:ln>
        </p:spPr>
      </p:sp>
      <p:sp>
        <p:nvSpPr>
          <p:cNvPr id="3" name="Text 1"/>
          <p:cNvSpPr txBox="1"/>
          <p:nvPr/>
        </p:nvSpPr>
        <p:spPr>
          <a:xfrm>
            <a:off x="621792" y="868680"/>
            <a:ext cx="3200400" cy="292608"/>
          </a:xfrm>
          <a:prstGeom prst="rect">
            <a:avLst/>
          </a:prstGeom>
          <a:noFill/>
          <a:ln/>
        </p:spPr>
        <p:txBody>
          <a:bodyPr wrap="square" lIns="0" tIns="0" rIns="0" bIns="0" rtlCol="0" anchor="ctr"/>
          <a:lstStyle/>
          <a:p>
            <a:pPr indent="0" marL="0">
              <a:buNone/>
            </a:pPr>
            <a:r>
              <a:rPr lang="en-US" sz="1100" b="1" spc="200" kern="0" dirty="0">
                <a:solidFill>
                  <a:srgbClr val="FFFFFF"/>
                </a:solidFill>
                <a:latin typeface="Verdana" pitchFamily="34" charset="0"/>
                <a:ea typeface="Verdana" pitchFamily="34" charset="-122"/>
                <a:cs typeface="Verdana" pitchFamily="34" charset="-120"/>
              </a:rPr>
              <a:t>FUENTE 4</a:t>
            </a:r>
            <a:endParaRPr lang="en-US" sz="1100" dirty="0"/>
          </a:p>
        </p:txBody>
      </p:sp>
      <p:sp>
        <p:nvSpPr>
          <p:cNvPr id="4" name="Text 2"/>
          <p:cNvSpPr txBox="1"/>
          <p:nvPr/>
        </p:nvSpPr>
        <p:spPr>
          <a:xfrm>
            <a:off x="621792" y="1234440"/>
            <a:ext cx="3291840" cy="1417320"/>
          </a:xfrm>
          <a:prstGeom prst="rect">
            <a:avLst/>
          </a:prstGeom>
          <a:noFill/>
          <a:ln/>
        </p:spPr>
        <p:txBody>
          <a:bodyPr wrap="square" lIns="0" tIns="0" rIns="0" bIns="0" rtlCol="0" anchor="t"/>
          <a:lstStyle/>
          <a:p>
            <a:pPr indent="0" marL="0">
              <a:buNone/>
            </a:pPr>
            <a:r>
              <a:rPr lang="en-US" sz="2600" b="1" dirty="0">
                <a:solidFill>
                  <a:srgbClr val="FFFFFF"/>
                </a:solidFill>
                <a:latin typeface="Verdana" pitchFamily="34" charset="0"/>
                <a:ea typeface="Verdana" pitchFamily="34" charset="-122"/>
                <a:cs typeface="Verdana" pitchFamily="34" charset="-120"/>
              </a:rPr>
              <a:t>Parámetros IRB</a:t>
            </a:r>
            <a:endParaRPr lang="en-US" sz="2600" dirty="0"/>
          </a:p>
        </p:txBody>
      </p:sp>
      <p:sp>
        <p:nvSpPr>
          <p:cNvPr id="5" name="Text 3"/>
          <p:cNvSpPr txBox="1"/>
          <p:nvPr/>
        </p:nvSpPr>
        <p:spPr>
          <a:xfrm>
            <a:off x="621792" y="2697480"/>
            <a:ext cx="3200400" cy="566928"/>
          </a:xfrm>
          <a:prstGeom prst="rect">
            <a:avLst/>
          </a:prstGeom>
          <a:noFill/>
          <a:ln/>
        </p:spPr>
        <p:txBody>
          <a:bodyPr wrap="square" lIns="0" tIns="0" rIns="0" bIns="0" rtlCol="0" anchor="t"/>
          <a:lstStyle/>
          <a:p>
            <a:pPr indent="0" marL="0">
              <a:buNone/>
            </a:pPr>
            <a:r>
              <a:rPr lang="en-US" sz="1050" dirty="0">
                <a:solidFill>
                  <a:srgbClr val="FFFFFF"/>
                </a:solidFill>
                <a:latin typeface="Verdana" pitchFamily="34" charset="0"/>
                <a:ea typeface="Verdana" pitchFamily="34" charset="-122"/>
                <a:cs typeface="Verdana" pitchFamily="34" charset="-120"/>
              </a:rPr>
              <a:t>Autoridad Bancaria Europea (EBA) · anexo de parámetros de riesgo, a partir del reporting de solvencia COREP C 9.02</a:t>
            </a:r>
            <a:endParaRPr lang="en-US" sz="1050" dirty="0"/>
          </a:p>
        </p:txBody>
      </p:sp>
      <p:sp>
        <p:nvSpPr>
          <p:cNvPr id="6" name="Shape 4"/>
          <p:cNvSpPr/>
          <p:nvPr/>
        </p:nvSpPr>
        <p:spPr>
          <a:xfrm>
            <a:off x="621792" y="4160520"/>
            <a:ext cx="3154680" cy="1325880"/>
          </a:xfrm>
          <a:prstGeom prst="roundRect">
            <a:avLst>
              <a:gd name="adj" fmla="val 4138"/>
            </a:avLst>
          </a:prstGeom>
          <a:solidFill>
            <a:srgbClr val="FFFFFF"/>
          </a:solidFill>
          <a:ln w="12700">
            <a:solidFill>
              <a:srgbClr val="FFFFFF"/>
            </a:solidFill>
            <a:prstDash val="solid"/>
          </a:ln>
        </p:spPr>
      </p:sp>
      <p:sp>
        <p:nvSpPr>
          <p:cNvPr id="7" name="Text 5"/>
          <p:cNvSpPr txBox="1"/>
          <p:nvPr/>
        </p:nvSpPr>
        <p:spPr>
          <a:xfrm>
            <a:off x="804672" y="4270248"/>
            <a:ext cx="2834640" cy="219456"/>
          </a:xfrm>
          <a:prstGeom prst="rect">
            <a:avLst/>
          </a:prstGeom>
          <a:noFill/>
          <a:ln/>
        </p:spPr>
        <p:txBody>
          <a:bodyPr wrap="square" lIns="0" tIns="0" rIns="0" bIns="0" rtlCol="0" anchor="ctr"/>
          <a:lstStyle/>
          <a:p>
            <a:pPr indent="0" marL="0">
              <a:buNone/>
            </a:pPr>
            <a:r>
              <a:rPr lang="en-US" sz="800" b="1" spc="100" kern="0" dirty="0">
                <a:solidFill>
                  <a:srgbClr val="818181"/>
                </a:solidFill>
                <a:latin typeface="Verdana" pitchFamily="34" charset="0"/>
                <a:ea typeface="Verdana" pitchFamily="34" charset="-122"/>
                <a:cs typeface="Verdana" pitchFamily="34" charset="-120"/>
              </a:rPr>
              <a:t>QUÉ LLAMA PYME</a:t>
            </a:r>
            <a:endParaRPr lang="en-US" sz="800" dirty="0"/>
          </a:p>
        </p:txBody>
      </p:sp>
      <p:sp>
        <p:nvSpPr>
          <p:cNvPr id="8" name="Text 6"/>
          <p:cNvSpPr txBox="1"/>
          <p:nvPr/>
        </p:nvSpPr>
        <p:spPr>
          <a:xfrm>
            <a:off x="804672" y="4507992"/>
            <a:ext cx="2834640" cy="502920"/>
          </a:xfrm>
          <a:prstGeom prst="rect">
            <a:avLst/>
          </a:prstGeom>
          <a:noFill/>
          <a:ln/>
        </p:spPr>
        <p:txBody>
          <a:bodyPr wrap="square" lIns="0" tIns="0" rIns="0" bIns="0" rtlCol="0" anchor="t"/>
          <a:lstStyle/>
          <a:p>
            <a:pPr indent="0" marL="0">
              <a:buNone/>
            </a:pPr>
            <a:r>
              <a:rPr lang="en-US" sz="1200" b="1" dirty="0">
                <a:solidFill>
                  <a:srgbClr val="2B2B2B"/>
                </a:solidFill>
                <a:latin typeface="Verdana" pitchFamily="34" charset="0"/>
                <a:ea typeface="Verdana" pitchFamily="34" charset="-122"/>
                <a:cs typeface="Verdana" pitchFamily="34" charset="-120"/>
              </a:rPr>
              <a:t>definición interna de cada banco</a:t>
            </a:r>
            <a:endParaRPr lang="en-US" sz="1200" dirty="0"/>
          </a:p>
        </p:txBody>
      </p:sp>
      <p:sp>
        <p:nvSpPr>
          <p:cNvPr id="9" name="Shape 7"/>
          <p:cNvSpPr/>
          <p:nvPr/>
        </p:nvSpPr>
        <p:spPr>
          <a:xfrm>
            <a:off x="804672" y="5074920"/>
            <a:ext cx="2788920" cy="274320"/>
          </a:xfrm>
          <a:prstGeom prst="roundRect">
            <a:avLst>
              <a:gd name="adj" fmla="val 26667"/>
            </a:avLst>
          </a:prstGeom>
          <a:solidFill>
            <a:srgbClr val="FFCCE8"/>
          </a:solidFill>
          <a:ln w="12700">
            <a:solidFill>
              <a:srgbClr val="FFCCE8"/>
            </a:solidFill>
            <a:prstDash val="solid"/>
          </a:ln>
        </p:spPr>
      </p:sp>
      <p:sp>
        <p:nvSpPr>
          <p:cNvPr id="10" name="Text 8"/>
          <p:cNvSpPr txBox="1"/>
          <p:nvPr/>
        </p:nvSpPr>
        <p:spPr>
          <a:xfrm>
            <a:off x="804672" y="5074920"/>
            <a:ext cx="2788920" cy="274320"/>
          </a:xfrm>
          <a:prstGeom prst="rect">
            <a:avLst/>
          </a:prstGeom>
          <a:noFill/>
          <a:ln/>
        </p:spPr>
        <p:txBody>
          <a:bodyPr wrap="square" lIns="0" tIns="0" rIns="0" bIns="0" rtlCol="0" anchor="ctr"/>
          <a:lstStyle/>
          <a:p>
            <a:pPr algn="ctr" indent="0" marL="0">
              <a:buNone/>
            </a:pPr>
            <a:r>
              <a:rPr lang="en-US" sz="850" b="1" dirty="0">
                <a:solidFill>
                  <a:srgbClr val="2B2B2B"/>
                </a:solidFill>
                <a:latin typeface="Verdana" pitchFamily="34" charset="0"/>
                <a:ea typeface="Verdana" pitchFamily="34" charset="-122"/>
                <a:cs typeface="Verdana" pitchFamily="34" charset="-120"/>
              </a:rPr>
              <a:t>No armonizada</a:t>
            </a:r>
            <a:endParaRPr lang="en-US" sz="850" dirty="0"/>
          </a:p>
        </p:txBody>
      </p:sp>
      <p:sp>
        <p:nvSpPr>
          <p:cNvPr id="11" name="Text 9"/>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12" name="Text 10"/>
          <p:cNvSpPr txBox="1"/>
          <p:nvPr/>
        </p:nvSpPr>
        <p:spPr>
          <a:xfrm>
            <a:off x="4709160" y="868680"/>
            <a:ext cx="685800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Qué es</a:t>
            </a:r>
            <a:endParaRPr lang="en-US" sz="1250" dirty="0"/>
          </a:p>
        </p:txBody>
      </p:sp>
      <p:sp>
        <p:nvSpPr>
          <p:cNvPr id="13" name="Text 11"/>
          <p:cNvSpPr txBox="1"/>
          <p:nvPr/>
        </p:nvSpPr>
        <p:spPr>
          <a:xfrm>
            <a:off x="4709160" y="1179576"/>
            <a:ext cx="6858000" cy="731520"/>
          </a:xfrm>
          <a:prstGeom prst="rect">
            <a:avLst/>
          </a:prstGeom>
          <a:noFill/>
          <a:ln/>
        </p:spPr>
        <p:txBody>
          <a:bodyPr wrap="square" lIns="0" tIns="0" rIns="0" bIns="0" rtlCol="0" anchor="t"/>
          <a:lstStyle/>
          <a:p>
            <a:pPr indent="0" marL="0">
              <a:spcAft>
                <a:spcPts val="300"/>
              </a:spcAft>
              <a:buNone/>
            </a:pPr>
            <a:r>
              <a:rPr lang="en-US" sz="1050" dirty="0">
                <a:solidFill>
                  <a:srgbClr val="2B2B2B"/>
                </a:solidFill>
                <a:latin typeface="Verdana" pitchFamily="34" charset="0"/>
                <a:ea typeface="Verdana" pitchFamily="34" charset="-122"/>
                <a:cs typeface="Verdana" pitchFamily="34" charset="-120"/>
              </a:rPr>
              <a:t>Los bancos que usan modelos internos (IRB) declaran al supervisor la probabilidad de impago (PD) y la severidad de la pérdida (LGD) de cada cartera. La EBA publica la mediana por país.</a:t>
            </a:r>
            <a:endParaRPr lang="en-US" sz="1050" dirty="0"/>
          </a:p>
        </p:txBody>
      </p:sp>
      <p:sp>
        <p:nvSpPr>
          <p:cNvPr id="14" name="Text 12"/>
          <p:cNvSpPr txBox="1"/>
          <p:nvPr/>
        </p:nvSpPr>
        <p:spPr>
          <a:xfrm>
            <a:off x="4709160" y="2011680"/>
            <a:ext cx="685800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Qué hemos obtenido</a:t>
            </a:r>
            <a:endParaRPr lang="en-US" sz="1250" dirty="0"/>
          </a:p>
        </p:txBody>
      </p:sp>
      <p:sp>
        <p:nvSpPr>
          <p:cNvPr id="15" name="Text 13"/>
          <p:cNvSpPr txBox="1"/>
          <p:nvPr/>
        </p:nvSpPr>
        <p:spPr>
          <a:xfrm>
            <a:off x="4709160" y="2322576"/>
            <a:ext cx="6858000" cy="141732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2B2B2B"/>
                </a:solidFill>
                <a:latin typeface="Verdana" pitchFamily="34" charset="0"/>
                <a:ea typeface="Verdana" pitchFamily="34" charset="-122"/>
                <a:cs typeface="Verdana" pitchFamily="34" charset="-120"/>
              </a:rPr>
              <a:t>Probabilidad de impago a un año de la PYME (PD)</a:t>
            </a:r>
            <a:endParaRPr lang="en-US" sz="1050" dirty="0"/>
          </a:p>
          <a:p>
            <a:pPr marL="342900" indent="-342900">
              <a:spcAft>
                <a:spcPts val="300"/>
              </a:spcAft>
              <a:buSzPct val="100000"/>
              <a:buChar char="•"/>
            </a:pPr>
            <a:r>
              <a:rPr lang="en-US" sz="1050" dirty="0">
                <a:solidFill>
                  <a:srgbClr val="2B2B2B"/>
                </a:solidFill>
                <a:latin typeface="Verdana" pitchFamily="34" charset="0"/>
                <a:ea typeface="Verdana" pitchFamily="34" charset="-122"/>
                <a:cs typeface="Verdana" pitchFamily="34" charset="-120"/>
              </a:rPr>
              <a:t>Severidad de la pérdida si impaga (LGD)</a:t>
            </a:r>
            <a:endParaRPr lang="en-US" sz="1050" dirty="0"/>
          </a:p>
          <a:p>
            <a:pPr marL="342900" indent="-342900">
              <a:spcAft>
                <a:spcPts val="300"/>
              </a:spcAft>
              <a:buSzPct val="100000"/>
              <a:buChar char="•"/>
            </a:pPr>
            <a:r>
              <a:rPr lang="en-US" sz="1050" dirty="0">
                <a:solidFill>
                  <a:srgbClr val="2B2B2B"/>
                </a:solidFill>
                <a:latin typeface="Verdana" pitchFamily="34" charset="0"/>
                <a:ea typeface="Verdana" pitchFamily="34" charset="-122"/>
                <a:cs typeface="Verdana" pitchFamily="34" charset="-120"/>
              </a:rPr>
              <a:t>Pérdida esperada: PD por LGD</a:t>
            </a:r>
            <a:endParaRPr lang="en-US" sz="1050" dirty="0"/>
          </a:p>
        </p:txBody>
      </p:sp>
      <p:sp>
        <p:nvSpPr>
          <p:cNvPr id="16" name="Text 14"/>
          <p:cNvSpPr txBox="1"/>
          <p:nvPr/>
        </p:nvSpPr>
        <p:spPr>
          <a:xfrm>
            <a:off x="4709160" y="3886200"/>
            <a:ext cx="685800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Por qué aplica a PYME, y hasta dónde</a:t>
            </a:r>
            <a:endParaRPr lang="en-US" sz="1250" dirty="0"/>
          </a:p>
        </p:txBody>
      </p:sp>
      <p:sp>
        <p:nvSpPr>
          <p:cNvPr id="17" name="Text 15"/>
          <p:cNvSpPr txBox="1"/>
          <p:nvPr/>
        </p:nvSpPr>
        <p:spPr>
          <a:xfrm>
            <a:off x="4709160" y="4197096"/>
            <a:ext cx="6858000" cy="1234440"/>
          </a:xfrm>
          <a:prstGeom prst="rect">
            <a:avLst/>
          </a:prstGeom>
          <a:noFill/>
          <a:ln/>
        </p:spPr>
        <p:txBody>
          <a:bodyPr wrap="square" lIns="0" tIns="0" rIns="0" bIns="0" rtlCol="0" anchor="t"/>
          <a:lstStyle/>
          <a:p>
            <a:pPr indent="0" marL="0">
              <a:spcAft>
                <a:spcPts val="300"/>
              </a:spcAft>
              <a:buNone/>
            </a:pPr>
            <a:r>
              <a:rPr lang="en-US" sz="1050" dirty="0">
                <a:solidFill>
                  <a:srgbClr val="2B2B2B"/>
                </a:solidFill>
                <a:latin typeface="Verdana" pitchFamily="34" charset="0"/>
                <a:ea typeface="Verdana" pitchFamily="34" charset="-122"/>
                <a:cs typeface="Verdana" pitchFamily="34" charset="-120"/>
              </a:rPr>
              <a:t>Es un dato del segmento, pero NO armonizado: las instrucciones de COREP dicen que, en IRB, cada banco clasifica como PYME según su definición interna. Solo cubre la cartera que va por modelos internos, y es la mediana de los bancos, no una media ponderada.</a:t>
            </a:r>
            <a:endParaRPr lang="en-US" sz="1050" dirty="0"/>
          </a:p>
        </p:txBody>
      </p:sp>
      <p:sp>
        <p:nvSpPr>
          <p:cNvPr id="18" name="Text 16"/>
          <p:cNvSpPr txBox="1"/>
          <p:nvPr/>
        </p:nvSpPr>
        <p:spPr>
          <a:xfrm>
            <a:off x="4709160" y="5806440"/>
            <a:ext cx="6858000" cy="384048"/>
          </a:xfrm>
          <a:prstGeom prst="rect">
            <a:avLst/>
          </a:prstGeom>
          <a:noFill/>
          <a:ln/>
        </p:spPr>
        <p:txBody>
          <a:bodyPr wrap="square" lIns="0" tIns="0" rIns="0" bIns="0" rtlCol="0" anchor="ctr"/>
          <a:lstStyle/>
          <a:p>
            <a:pPr indent="0" marL="0">
              <a:buNone/>
            </a:pPr>
            <a:r>
              <a:rPr lang="en-US" sz="850" i="1" dirty="0">
                <a:solidFill>
                  <a:srgbClr val="818181"/>
                </a:solidFill>
                <a:latin typeface="Verdana" pitchFamily="34" charset="0"/>
                <a:ea typeface="Verdana" pitchFamily="34" charset="-122"/>
                <a:cs typeface="Verdana" pitchFamily="34" charset="-120"/>
              </a:rPr>
              <a:t>Siete países · primer trimestre de 2026 · clase «Corporates – of which SME» · solo cartera IRB</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3" name="Text 1"/>
          <p:cNvSpPr txBox="1"/>
          <p:nvPr/>
        </p:nvSpPr>
        <p:spPr>
          <a:xfrm>
            <a:off x="621792" y="6583680"/>
            <a:ext cx="548640" cy="182880"/>
          </a:xfrm>
          <a:prstGeom prst="rect">
            <a:avLst/>
          </a:prstGeom>
          <a:noFill/>
          <a:ln/>
        </p:spPr>
        <p:txBody>
          <a:bodyPr wrap="square" lIns="0" tIns="0" rIns="0" bIns="0" rtlCol="0" anchor="ctr"/>
          <a:lstStyle/>
          <a:p>
            <a:pPr indent="0" marL="0">
              <a:buNone/>
            </a:pPr>
            <a:r>
              <a:rPr lang="en-US" sz="800" dirty="0">
                <a:solidFill>
                  <a:srgbClr val="CACACA"/>
                </a:solidFill>
                <a:latin typeface="Verdana" pitchFamily="34" charset="0"/>
                <a:ea typeface="Verdana" pitchFamily="34" charset="-122"/>
                <a:cs typeface="Verdana" pitchFamily="34" charset="-120"/>
              </a:rPr>
              <a:t>17</a:t>
            </a:r>
            <a:endParaRPr lang="en-US" sz="800" dirty="0"/>
          </a:p>
        </p:txBody>
      </p:sp>
      <p:sp>
        <p:nvSpPr>
          <p:cNvPr id="4" name="Text 2"/>
          <p:cNvSpPr txBox="1"/>
          <p:nvPr/>
        </p:nvSpPr>
        <p:spPr>
          <a:xfrm>
            <a:off x="621792" y="420624"/>
            <a:ext cx="8430768" cy="658368"/>
          </a:xfrm>
          <a:prstGeom prst="rect">
            <a:avLst/>
          </a:prstGeom>
          <a:noFill/>
          <a:ln/>
        </p:spPr>
        <p:txBody>
          <a:bodyPr wrap="square" lIns="0" tIns="0" rIns="0" bIns="0" rtlCol="0" anchor="t"/>
          <a:lstStyle/>
          <a:p>
            <a:pPr indent="0" marL="0">
              <a:buNone/>
            </a:pPr>
            <a:r>
              <a:rPr lang="en-US" sz="2100" b="1" dirty="0">
                <a:solidFill>
                  <a:srgbClr val="2B2B2B"/>
                </a:solidFill>
                <a:latin typeface="Verdana" pitchFamily="34" charset="0"/>
                <a:ea typeface="Verdana" pitchFamily="34" charset="-122"/>
                <a:cs typeface="Verdana" pitchFamily="34" charset="-120"/>
              </a:rPr>
              <a:t>Italia y Francia, la PD más alta; Portugal, la LGD más alta</a:t>
            </a:r>
            <a:endParaRPr lang="en-US" sz="2100" dirty="0"/>
          </a:p>
        </p:txBody>
      </p:sp>
      <p:sp>
        <p:nvSpPr>
          <p:cNvPr id="5" name="Text 3"/>
          <p:cNvSpPr txBox="1"/>
          <p:nvPr/>
        </p:nvSpPr>
        <p:spPr>
          <a:xfrm>
            <a:off x="621792" y="1097280"/>
            <a:ext cx="10945368" cy="329184"/>
          </a:xfrm>
          <a:prstGeom prst="rect">
            <a:avLst/>
          </a:prstGeom>
          <a:noFill/>
          <a:ln/>
        </p:spPr>
        <p:txBody>
          <a:bodyPr wrap="square" lIns="0" tIns="0" rIns="0" bIns="0" rtlCol="0" anchor="ctr"/>
          <a:lstStyle/>
          <a:p>
            <a:pPr indent="0" marL="0">
              <a:buNone/>
            </a:pPr>
            <a:r>
              <a:rPr lang="en-US" sz="1000" dirty="0">
                <a:solidFill>
                  <a:srgbClr val="818181"/>
                </a:solidFill>
                <a:latin typeface="Verdana" pitchFamily="34" charset="0"/>
                <a:ea typeface="Verdana" pitchFamily="34" charset="-122"/>
                <a:cs typeface="Verdana" pitchFamily="34" charset="-120"/>
              </a:rPr>
              <a:t>Parámetros de riesgo de la cartera IRB de PYME · Mediana de entidades declarantes · Primer trimestre de 2026</a:t>
            </a:r>
            <a:endParaRPr lang="en-US" sz="1000" dirty="0"/>
          </a:p>
        </p:txBody>
      </p:sp>
      <p:sp>
        <p:nvSpPr>
          <p:cNvPr id="6" name="Shape 4"/>
          <p:cNvSpPr/>
          <p:nvPr/>
        </p:nvSpPr>
        <p:spPr>
          <a:xfrm>
            <a:off x="9235440" y="640080"/>
            <a:ext cx="2331720" cy="365760"/>
          </a:xfrm>
          <a:prstGeom prst="roundRect">
            <a:avLst>
              <a:gd name="adj" fmla="val 15000"/>
            </a:avLst>
          </a:prstGeom>
          <a:solidFill>
            <a:srgbClr val="FFCCE8"/>
          </a:solidFill>
          <a:ln w="12700">
            <a:solidFill>
              <a:srgbClr val="FFCCE8"/>
            </a:solidFill>
            <a:prstDash val="solid"/>
          </a:ln>
        </p:spPr>
      </p:sp>
      <p:sp>
        <p:nvSpPr>
          <p:cNvPr id="7" name="Text 5"/>
          <p:cNvSpPr txBox="1"/>
          <p:nvPr/>
        </p:nvSpPr>
        <p:spPr>
          <a:xfrm>
            <a:off x="9308592" y="658368"/>
            <a:ext cx="2185416" cy="329184"/>
          </a:xfrm>
          <a:prstGeom prst="rect">
            <a:avLst/>
          </a:prstGeom>
          <a:noFill/>
          <a:ln/>
        </p:spPr>
        <p:txBody>
          <a:bodyPr wrap="square" lIns="0" tIns="0" rIns="0" bIns="0" rtlCol="0" anchor="ctr"/>
          <a:lstStyle/>
          <a:p>
            <a:pPr indent="0" marL="0">
              <a:buNone/>
            </a:pPr>
            <a:r>
              <a:rPr lang="en-US" sz="750" b="1" dirty="0">
                <a:solidFill>
                  <a:srgbClr val="2B2B2B"/>
                </a:solidFill>
                <a:latin typeface="Verdana" pitchFamily="34" charset="0"/>
                <a:ea typeface="Verdana" pitchFamily="34" charset="-122"/>
                <a:cs typeface="Verdana" pitchFamily="34" charset="-120"/>
              </a:rPr>
              <a:t>PYME · definición interna de cada banco</a:t>
            </a:r>
            <a:endParaRPr lang="en-US" sz="750" dirty="0"/>
          </a:p>
        </p:txBody>
      </p:sp>
      <p:graphicFrame>
        <p:nvGraphicFramePr>
          <p:cNvPr id="8" name="Chart 0" descr=""/>
          <p:cNvGraphicFramePr/>
          <p:nvPr/>
        </p:nvGraphicFramePr>
        <p:xfrm>
          <a:off x="621792" y="1554480"/>
          <a:ext cx="5394960" cy="3611880"/>
        </p:xfrm>
        <a:graphic xmlns:a="http://schemas.openxmlformats.org/drawingml/2006/main">
          <a:graphicData uri="http://schemas.openxmlformats.org/drawingml/2006/chart">
            <c:chart xmlns:c="http://schemas.openxmlformats.org/drawingml/2006/chart" r:id="rId1"/>
          </a:graphicData>
        </a:graphic>
      </p:graphicFrame>
      <p:graphicFrame>
        <p:nvGraphicFramePr>
          <p:cNvPr id="9" name="Chart 1" descr=""/>
          <p:cNvGraphicFramePr/>
          <p:nvPr/>
        </p:nvGraphicFramePr>
        <p:xfrm>
          <a:off x="6172200" y="1554480"/>
          <a:ext cx="5394960" cy="3611880"/>
        </p:xfrm>
        <a:graphic xmlns:a="http://schemas.openxmlformats.org/drawingml/2006/main">
          <a:graphicData uri="http://schemas.openxmlformats.org/drawingml/2006/chart">
            <c:chart xmlns:c="http://schemas.openxmlformats.org/drawingml/2006/chart" r:id="rId2"/>
          </a:graphicData>
        </a:graphic>
      </p:graphicFrame>
      <p:sp>
        <p:nvSpPr>
          <p:cNvPr id="10" name="Shape 6"/>
          <p:cNvSpPr/>
          <p:nvPr/>
        </p:nvSpPr>
        <p:spPr>
          <a:xfrm>
            <a:off x="621792" y="5285232"/>
            <a:ext cx="5394960" cy="658368"/>
          </a:xfrm>
          <a:prstGeom prst="roundRect">
            <a:avLst>
              <a:gd name="adj" fmla="val 6944"/>
            </a:avLst>
          </a:prstGeom>
          <a:solidFill>
            <a:srgbClr val="FFF4C2"/>
          </a:solidFill>
          <a:ln w="12700">
            <a:solidFill>
              <a:srgbClr val="FFF4C2"/>
            </a:solidFill>
            <a:prstDash val="solid"/>
          </a:ln>
        </p:spPr>
      </p:sp>
      <p:sp>
        <p:nvSpPr>
          <p:cNvPr id="11" name="Text 7"/>
          <p:cNvSpPr txBox="1"/>
          <p:nvPr/>
        </p:nvSpPr>
        <p:spPr>
          <a:xfrm>
            <a:off x="822960" y="5340096"/>
            <a:ext cx="4992624" cy="548640"/>
          </a:xfrm>
          <a:prstGeom prst="rect">
            <a:avLst/>
          </a:prstGeom>
          <a:noFill/>
          <a:ln/>
        </p:spPr>
        <p:txBody>
          <a:bodyPr wrap="square" lIns="0" tIns="0" rIns="0" bIns="0" rtlCol="0" anchor="ctr"/>
          <a:lstStyle/>
          <a:p>
            <a:pPr indent="0" marL="0">
              <a:buNone/>
            </a:pPr>
            <a:r>
              <a:rPr lang="en-US" sz="900" b="1" dirty="0">
                <a:solidFill>
                  <a:srgbClr val="2B2B2B"/>
                </a:solidFill>
                <a:latin typeface="Verdana" pitchFamily="34" charset="0"/>
                <a:ea typeface="Verdana" pitchFamily="34" charset="-122"/>
                <a:cs typeface="Verdana" pitchFamily="34" charset="-120"/>
              </a:rPr>
              <a:t>España  </a:t>
            </a:r>
            <a:pPr indent="0" marL="0">
              <a:buNone/>
            </a:pPr>
            <a:r>
              <a:rPr lang="en-US" sz="900" dirty="0">
                <a:solidFill>
                  <a:srgbClr val="2B2B2B"/>
                </a:solidFill>
                <a:latin typeface="Verdana" pitchFamily="34" charset="0"/>
                <a:ea typeface="Verdana" pitchFamily="34" charset="-122"/>
                <a:cs typeface="Verdana" pitchFamily="34" charset="-120"/>
              </a:rPr>
              <a:t>PD de 1,73 % y LGD de 34,4 %: la tercera PD más alta y una severidad en la media.</a:t>
            </a:r>
            <a:endParaRPr lang="en-US" sz="900" dirty="0"/>
          </a:p>
        </p:txBody>
      </p:sp>
      <p:sp>
        <p:nvSpPr>
          <p:cNvPr id="12" name="Shape 8"/>
          <p:cNvSpPr/>
          <p:nvPr/>
        </p:nvSpPr>
        <p:spPr>
          <a:xfrm>
            <a:off x="6172200" y="5285232"/>
            <a:ext cx="5394960" cy="658368"/>
          </a:xfrm>
          <a:prstGeom prst="roundRect">
            <a:avLst>
              <a:gd name="adj" fmla="val 6944"/>
            </a:avLst>
          </a:prstGeom>
          <a:solidFill>
            <a:srgbClr val="F2F4F6"/>
          </a:solidFill>
          <a:ln w="12700">
            <a:solidFill>
              <a:srgbClr val="F2F4F6"/>
            </a:solidFill>
            <a:prstDash val="solid"/>
          </a:ln>
        </p:spPr>
      </p:sp>
      <p:sp>
        <p:nvSpPr>
          <p:cNvPr id="13" name="Text 9"/>
          <p:cNvSpPr txBox="1"/>
          <p:nvPr/>
        </p:nvSpPr>
        <p:spPr>
          <a:xfrm>
            <a:off x="6373368" y="5340096"/>
            <a:ext cx="4992624" cy="548640"/>
          </a:xfrm>
          <a:prstGeom prst="rect">
            <a:avLst/>
          </a:prstGeom>
          <a:noFill/>
          <a:ln/>
        </p:spPr>
        <p:txBody>
          <a:bodyPr wrap="square" lIns="0" tIns="0" rIns="0" bIns="0" rtlCol="0" anchor="ctr"/>
          <a:lstStyle/>
          <a:p>
            <a:pPr indent="0" marL="0">
              <a:buNone/>
            </a:pPr>
            <a:r>
              <a:rPr lang="en-US" sz="900" b="1" dirty="0">
                <a:solidFill>
                  <a:srgbClr val="2B2B2B"/>
                </a:solidFill>
                <a:latin typeface="Verdana" pitchFamily="34" charset="0"/>
                <a:ea typeface="Verdana" pitchFamily="34" charset="-122"/>
                <a:cs typeface="Verdana" pitchFamily="34" charset="-120"/>
              </a:rPr>
              <a:t>Portugal: exactamente 40,0 %  </a:t>
            </a:r>
            <a:pPr indent="0" marL="0">
              <a:buNone/>
            </a:pPr>
            <a:r>
              <a:rPr lang="en-US" sz="900" dirty="0">
                <a:solidFill>
                  <a:srgbClr val="2B2B2B"/>
                </a:solidFill>
                <a:latin typeface="Verdana" pitchFamily="34" charset="0"/>
                <a:ea typeface="Verdana" pitchFamily="34" charset="-122"/>
                <a:cs typeface="Verdana" pitchFamily="34" charset="-120"/>
              </a:rPr>
              <a:t>Es el valor que fija el supervisor en el IRB básico: el banco no estima su propia severidad.</a:t>
            </a:r>
            <a:endParaRPr lang="en-US" sz="900" dirty="0"/>
          </a:p>
        </p:txBody>
      </p:sp>
      <p:sp>
        <p:nvSpPr>
          <p:cNvPr id="14" name="Text 10"/>
          <p:cNvSpPr txBox="1"/>
          <p:nvPr/>
        </p:nvSpPr>
        <p:spPr>
          <a:xfrm>
            <a:off x="621792" y="6053328"/>
            <a:ext cx="10945368" cy="475488"/>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EBA, anexo de parámetros de riesgo (COREP C 9.02), clase IRB «Corporates – of which SME», mediana de entidades, 2026-Q1. PYME según la definición interna de cada banco.</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F56600"/>
          </a:solidFill>
          <a:ln w="12700">
            <a:solidFill>
              <a:srgbClr val="F56600"/>
            </a:solidFill>
            <a:prstDash val="solid"/>
          </a:ln>
        </p:spPr>
      </p:sp>
      <p:sp>
        <p:nvSpPr>
          <p:cNvPr id="3" name="Text 1"/>
          <p:cNvSpPr txBox="1"/>
          <p:nvPr/>
        </p:nvSpPr>
        <p:spPr>
          <a:xfrm>
            <a:off x="621792" y="868680"/>
            <a:ext cx="3200400" cy="292608"/>
          </a:xfrm>
          <a:prstGeom prst="rect">
            <a:avLst/>
          </a:prstGeom>
          <a:noFill/>
          <a:ln/>
        </p:spPr>
        <p:txBody>
          <a:bodyPr wrap="square" lIns="0" tIns="0" rIns="0" bIns="0" rtlCol="0" anchor="ctr"/>
          <a:lstStyle/>
          <a:p>
            <a:pPr indent="0" marL="0">
              <a:buNone/>
            </a:pPr>
            <a:r>
              <a:rPr lang="en-US" sz="1100" b="1" spc="200" kern="0" dirty="0">
                <a:solidFill>
                  <a:srgbClr val="FFFFFF"/>
                </a:solidFill>
                <a:latin typeface="Verdana" pitchFamily="34" charset="0"/>
                <a:ea typeface="Verdana" pitchFamily="34" charset="-122"/>
                <a:cs typeface="Verdana" pitchFamily="34" charset="-120"/>
              </a:rPr>
              <a:t>FUENTE 5</a:t>
            </a:r>
            <a:endParaRPr lang="en-US" sz="1100" dirty="0"/>
          </a:p>
        </p:txBody>
      </p:sp>
      <p:sp>
        <p:nvSpPr>
          <p:cNvPr id="4" name="Text 2"/>
          <p:cNvSpPr txBox="1"/>
          <p:nvPr/>
        </p:nvSpPr>
        <p:spPr>
          <a:xfrm>
            <a:off x="621792" y="1234440"/>
            <a:ext cx="3291840" cy="1417320"/>
          </a:xfrm>
          <a:prstGeom prst="rect">
            <a:avLst/>
          </a:prstGeom>
          <a:noFill/>
          <a:ln/>
        </p:spPr>
        <p:txBody>
          <a:bodyPr wrap="square" lIns="0" tIns="0" rIns="0" bIns="0" rtlCol="0" anchor="t"/>
          <a:lstStyle/>
          <a:p>
            <a:pPr indent="0" marL="0">
              <a:buNone/>
            </a:pPr>
            <a:r>
              <a:rPr lang="en-US" sz="2600" b="1" dirty="0">
                <a:solidFill>
                  <a:srgbClr val="FFFFFF"/>
                </a:solidFill>
                <a:latin typeface="Verdana" pitchFamily="34" charset="0"/>
                <a:ea typeface="Verdana" pitchFamily="34" charset="-122"/>
                <a:cs typeface="Verdana" pitchFamily="34" charset="-120"/>
              </a:rPr>
              <a:t>Transparency Exercise</a:t>
            </a:r>
            <a:endParaRPr lang="en-US" sz="2600" dirty="0"/>
          </a:p>
        </p:txBody>
      </p:sp>
      <p:sp>
        <p:nvSpPr>
          <p:cNvPr id="5" name="Text 3"/>
          <p:cNvSpPr txBox="1"/>
          <p:nvPr/>
        </p:nvSpPr>
        <p:spPr>
          <a:xfrm>
            <a:off x="621792" y="2697480"/>
            <a:ext cx="3200400" cy="566928"/>
          </a:xfrm>
          <a:prstGeom prst="rect">
            <a:avLst/>
          </a:prstGeom>
          <a:noFill/>
          <a:ln/>
        </p:spPr>
        <p:txBody>
          <a:bodyPr wrap="square" lIns="0" tIns="0" rIns="0" bIns="0" rtlCol="0" anchor="t"/>
          <a:lstStyle/>
          <a:p>
            <a:pPr indent="0" marL="0">
              <a:buNone/>
            </a:pPr>
            <a:r>
              <a:rPr lang="en-US" sz="1050" dirty="0">
                <a:solidFill>
                  <a:srgbClr val="FFFFFF"/>
                </a:solidFill>
                <a:latin typeface="Verdana" pitchFamily="34" charset="0"/>
                <a:ea typeface="Verdana" pitchFamily="34" charset="-122"/>
                <a:cs typeface="Verdana" pitchFamily="34" charset="-120"/>
              </a:rPr>
              <a:t>Autoridad Bancaria Europea (EBA) · datos de solvencia banco a banco</a:t>
            </a:r>
            <a:endParaRPr lang="en-US" sz="1050" dirty="0"/>
          </a:p>
        </p:txBody>
      </p:sp>
      <p:sp>
        <p:nvSpPr>
          <p:cNvPr id="6" name="Shape 4"/>
          <p:cNvSpPr/>
          <p:nvPr/>
        </p:nvSpPr>
        <p:spPr>
          <a:xfrm>
            <a:off x="621792" y="4160520"/>
            <a:ext cx="3154680" cy="1325880"/>
          </a:xfrm>
          <a:prstGeom prst="roundRect">
            <a:avLst>
              <a:gd name="adj" fmla="val 4138"/>
            </a:avLst>
          </a:prstGeom>
          <a:solidFill>
            <a:srgbClr val="FFFFFF"/>
          </a:solidFill>
          <a:ln w="12700">
            <a:solidFill>
              <a:srgbClr val="FFFFFF"/>
            </a:solidFill>
            <a:prstDash val="solid"/>
          </a:ln>
        </p:spPr>
      </p:sp>
      <p:sp>
        <p:nvSpPr>
          <p:cNvPr id="7" name="Text 5"/>
          <p:cNvSpPr txBox="1"/>
          <p:nvPr/>
        </p:nvSpPr>
        <p:spPr>
          <a:xfrm>
            <a:off x="804672" y="4270248"/>
            <a:ext cx="2834640" cy="219456"/>
          </a:xfrm>
          <a:prstGeom prst="rect">
            <a:avLst/>
          </a:prstGeom>
          <a:noFill/>
          <a:ln/>
        </p:spPr>
        <p:txBody>
          <a:bodyPr wrap="square" lIns="0" tIns="0" rIns="0" bIns="0" rtlCol="0" anchor="ctr"/>
          <a:lstStyle/>
          <a:p>
            <a:pPr indent="0" marL="0">
              <a:buNone/>
            </a:pPr>
            <a:r>
              <a:rPr lang="en-US" sz="800" b="1" spc="100" kern="0" dirty="0">
                <a:solidFill>
                  <a:srgbClr val="818181"/>
                </a:solidFill>
                <a:latin typeface="Verdana" pitchFamily="34" charset="0"/>
                <a:ea typeface="Verdana" pitchFamily="34" charset="-122"/>
                <a:cs typeface="Verdana" pitchFamily="34" charset="-120"/>
              </a:rPr>
              <a:t>QUÉ LLAMA PYME</a:t>
            </a:r>
            <a:endParaRPr lang="en-US" sz="800" dirty="0"/>
          </a:p>
        </p:txBody>
      </p:sp>
      <p:sp>
        <p:nvSpPr>
          <p:cNvPr id="8" name="Text 6"/>
          <p:cNvSpPr txBox="1"/>
          <p:nvPr/>
        </p:nvSpPr>
        <p:spPr>
          <a:xfrm>
            <a:off x="804672" y="4507992"/>
            <a:ext cx="2834640" cy="502920"/>
          </a:xfrm>
          <a:prstGeom prst="rect">
            <a:avLst/>
          </a:prstGeom>
          <a:noFill/>
          <a:ln/>
        </p:spPr>
        <p:txBody>
          <a:bodyPr wrap="square" lIns="0" tIns="0" rIns="0" bIns="0" rtlCol="0" anchor="t"/>
          <a:lstStyle/>
          <a:p>
            <a:pPr indent="0" marL="0">
              <a:buNone/>
            </a:pPr>
            <a:r>
              <a:rPr lang="en-US" sz="1200" b="1" dirty="0">
                <a:solidFill>
                  <a:srgbClr val="2B2B2B"/>
                </a:solidFill>
                <a:latin typeface="Verdana" pitchFamily="34" charset="0"/>
                <a:ea typeface="Verdana" pitchFamily="34" charset="-122"/>
                <a:cs typeface="Verdana" pitchFamily="34" charset="-120"/>
              </a:rPr>
              <a:t>estándar por facturación, IRB interna</a:t>
            </a:r>
            <a:endParaRPr lang="en-US" sz="1200" dirty="0"/>
          </a:p>
        </p:txBody>
      </p:sp>
      <p:sp>
        <p:nvSpPr>
          <p:cNvPr id="9" name="Shape 7"/>
          <p:cNvSpPr/>
          <p:nvPr/>
        </p:nvSpPr>
        <p:spPr>
          <a:xfrm>
            <a:off x="804672" y="5074920"/>
            <a:ext cx="2788920" cy="274320"/>
          </a:xfrm>
          <a:prstGeom prst="roundRect">
            <a:avLst>
              <a:gd name="adj" fmla="val 26667"/>
            </a:avLst>
          </a:prstGeom>
          <a:solidFill>
            <a:srgbClr val="FFCCE8"/>
          </a:solidFill>
          <a:ln w="12700">
            <a:solidFill>
              <a:srgbClr val="FFCCE8"/>
            </a:solidFill>
            <a:prstDash val="solid"/>
          </a:ln>
        </p:spPr>
      </p:sp>
      <p:sp>
        <p:nvSpPr>
          <p:cNvPr id="10" name="Text 8"/>
          <p:cNvSpPr txBox="1"/>
          <p:nvPr/>
        </p:nvSpPr>
        <p:spPr>
          <a:xfrm>
            <a:off x="804672" y="5074920"/>
            <a:ext cx="2788920" cy="274320"/>
          </a:xfrm>
          <a:prstGeom prst="rect">
            <a:avLst/>
          </a:prstGeom>
          <a:noFill/>
          <a:ln/>
        </p:spPr>
        <p:txBody>
          <a:bodyPr wrap="square" lIns="0" tIns="0" rIns="0" bIns="0" rtlCol="0" anchor="ctr"/>
          <a:lstStyle/>
          <a:p>
            <a:pPr algn="ctr" indent="0" marL="0">
              <a:buNone/>
            </a:pPr>
            <a:r>
              <a:rPr lang="en-US" sz="850" b="1" dirty="0">
                <a:solidFill>
                  <a:srgbClr val="2B2B2B"/>
                </a:solidFill>
                <a:latin typeface="Verdana" pitchFamily="34" charset="0"/>
                <a:ea typeface="Verdana" pitchFamily="34" charset="-122"/>
                <a:cs typeface="Verdana" pitchFamily="34" charset="-120"/>
              </a:rPr>
              <a:t>Dos definiciones mezcladas</a:t>
            </a:r>
            <a:endParaRPr lang="en-US" sz="850" dirty="0"/>
          </a:p>
        </p:txBody>
      </p:sp>
      <p:sp>
        <p:nvSpPr>
          <p:cNvPr id="11" name="Text 9"/>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12" name="Text 10"/>
          <p:cNvSpPr txBox="1"/>
          <p:nvPr/>
        </p:nvSpPr>
        <p:spPr>
          <a:xfrm>
            <a:off x="4709160" y="868680"/>
            <a:ext cx="685800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Qué es</a:t>
            </a:r>
            <a:endParaRPr lang="en-US" sz="1250" dirty="0"/>
          </a:p>
        </p:txBody>
      </p:sp>
      <p:sp>
        <p:nvSpPr>
          <p:cNvPr id="13" name="Text 11"/>
          <p:cNvSpPr txBox="1"/>
          <p:nvPr/>
        </p:nvSpPr>
        <p:spPr>
          <a:xfrm>
            <a:off x="4709160" y="1179576"/>
            <a:ext cx="6858000" cy="731520"/>
          </a:xfrm>
          <a:prstGeom prst="rect">
            <a:avLst/>
          </a:prstGeom>
          <a:noFill/>
          <a:ln/>
        </p:spPr>
        <p:txBody>
          <a:bodyPr wrap="square" lIns="0" tIns="0" rIns="0" bIns="0" rtlCol="0" anchor="t"/>
          <a:lstStyle/>
          <a:p>
            <a:pPr indent="0" marL="0">
              <a:spcAft>
                <a:spcPts val="300"/>
              </a:spcAft>
              <a:buNone/>
            </a:pPr>
            <a:r>
              <a:rPr lang="en-US" sz="1050" dirty="0">
                <a:solidFill>
                  <a:srgbClr val="2B2B2B"/>
                </a:solidFill>
                <a:latin typeface="Verdana" pitchFamily="34" charset="0"/>
                <a:ea typeface="Verdana" pitchFamily="34" charset="-122"/>
                <a:cs typeface="Verdana" pitchFamily="34" charset="-120"/>
              </a:rPr>
              <a:t>Publicación anual de la EBA con los datos de solvencia y cartera de cada banco supervisado, con desglose por país de la contraparte y por método de cálculo del capital.</a:t>
            </a:r>
            <a:endParaRPr lang="en-US" sz="1050" dirty="0"/>
          </a:p>
        </p:txBody>
      </p:sp>
      <p:sp>
        <p:nvSpPr>
          <p:cNvPr id="14" name="Text 12"/>
          <p:cNvSpPr txBox="1"/>
          <p:nvPr/>
        </p:nvSpPr>
        <p:spPr>
          <a:xfrm>
            <a:off x="4709160" y="2011680"/>
            <a:ext cx="685800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Qué hemos obtenido</a:t>
            </a:r>
            <a:endParaRPr lang="en-US" sz="1250" dirty="0"/>
          </a:p>
        </p:txBody>
      </p:sp>
      <p:sp>
        <p:nvSpPr>
          <p:cNvPr id="15" name="Text 13"/>
          <p:cNvSpPr txBox="1"/>
          <p:nvPr/>
        </p:nvSpPr>
        <p:spPr>
          <a:xfrm>
            <a:off x="4709160" y="2322576"/>
            <a:ext cx="6858000" cy="141732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2B2B2B"/>
                </a:solidFill>
                <a:latin typeface="Verdana" pitchFamily="34" charset="0"/>
                <a:ea typeface="Verdana" pitchFamily="34" charset="-122"/>
                <a:cs typeface="Verdana" pitchFamily="34" charset="-120"/>
              </a:rPr>
              <a:t>Densidad de RWA de la PYME: capital regulatorio por euro prestado</a:t>
            </a:r>
            <a:endParaRPr lang="en-US" sz="1050" dirty="0"/>
          </a:p>
          <a:p>
            <a:pPr marL="342900" indent="-342900">
              <a:spcAft>
                <a:spcPts val="300"/>
              </a:spcAft>
              <a:buSzPct val="100000"/>
              <a:buChar char="•"/>
            </a:pPr>
            <a:r>
              <a:rPr lang="en-US" sz="1050" dirty="0">
                <a:solidFill>
                  <a:srgbClr val="2B2B2B"/>
                </a:solidFill>
                <a:latin typeface="Verdana" pitchFamily="34" charset="0"/>
                <a:ea typeface="Verdana" pitchFamily="34" charset="-122"/>
                <a:cs typeface="Verdana" pitchFamily="34" charset="-120"/>
              </a:rPr>
              <a:t>Separada por método estándar y por modelos internos (IRB)</a:t>
            </a:r>
            <a:endParaRPr lang="en-US" sz="1050" dirty="0"/>
          </a:p>
          <a:p>
            <a:pPr marL="342900" indent="-342900">
              <a:spcAft>
                <a:spcPts val="300"/>
              </a:spcAft>
              <a:buSzPct val="100000"/>
              <a:buChar char="•"/>
            </a:pPr>
            <a:r>
              <a:rPr lang="en-US" sz="1050" dirty="0">
                <a:solidFill>
                  <a:srgbClr val="2B2B2B"/>
                </a:solidFill>
                <a:latin typeface="Verdana" pitchFamily="34" charset="0"/>
                <a:ea typeface="Verdana" pitchFamily="34" charset="-122"/>
                <a:cs typeface="Verdana" pitchFamily="34" charset="-120"/>
              </a:rPr>
              <a:t>Cartera PYME en España de los cinco grandes bancos españoles: exposición, densidad, mora y cobertura</a:t>
            </a:r>
            <a:endParaRPr lang="en-US" sz="1050" dirty="0"/>
          </a:p>
        </p:txBody>
      </p:sp>
      <p:sp>
        <p:nvSpPr>
          <p:cNvPr id="16" name="Text 14"/>
          <p:cNvSpPr txBox="1"/>
          <p:nvPr/>
        </p:nvSpPr>
        <p:spPr>
          <a:xfrm>
            <a:off x="4709160" y="3886200"/>
            <a:ext cx="685800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Por qué aplica a PYME, y hasta dónde</a:t>
            </a:r>
            <a:endParaRPr lang="en-US" sz="1250" dirty="0"/>
          </a:p>
        </p:txBody>
      </p:sp>
      <p:sp>
        <p:nvSpPr>
          <p:cNvPr id="17" name="Text 15"/>
          <p:cNvSpPr txBox="1"/>
          <p:nvPr/>
        </p:nvSpPr>
        <p:spPr>
          <a:xfrm>
            <a:off x="4709160" y="4197096"/>
            <a:ext cx="6858000" cy="1234440"/>
          </a:xfrm>
          <a:prstGeom prst="rect">
            <a:avLst/>
          </a:prstGeom>
          <a:noFill/>
          <a:ln/>
        </p:spPr>
        <p:txBody>
          <a:bodyPr wrap="square" lIns="0" tIns="0" rIns="0" bIns="0" rtlCol="0" anchor="t"/>
          <a:lstStyle/>
          <a:p>
            <a:pPr indent="0" marL="0">
              <a:spcAft>
                <a:spcPts val="300"/>
              </a:spcAft>
              <a:buNone/>
            </a:pPr>
            <a:r>
              <a:rPr lang="en-US" sz="1050" dirty="0">
                <a:solidFill>
                  <a:srgbClr val="2B2B2B"/>
                </a:solidFill>
                <a:latin typeface="Verdana" pitchFamily="34" charset="0"/>
                <a:ea typeface="Verdana" pitchFamily="34" charset="-122"/>
                <a:cs typeface="Verdana" pitchFamily="34" charset="-120"/>
              </a:rPr>
              <a:t>Mezcla dos definiciones en una sola cifra: la parte estándar define PYME por facturación hasta 50 M€ (art. 501 del CRR); la parte IRB, con la definición interna de cada banco. Además incluye la PYME minorista y la hipotecaria, y se agrega por supervisor, así que entra la PYME extranjera de los bancos del país.</a:t>
            </a:r>
            <a:endParaRPr lang="en-US" sz="1050" dirty="0"/>
          </a:p>
        </p:txBody>
      </p:sp>
      <p:sp>
        <p:nvSpPr>
          <p:cNvPr id="18" name="Text 16"/>
          <p:cNvSpPr txBox="1"/>
          <p:nvPr/>
        </p:nvSpPr>
        <p:spPr>
          <a:xfrm>
            <a:off x="4709160" y="5806440"/>
            <a:ext cx="6858000" cy="384048"/>
          </a:xfrm>
          <a:prstGeom prst="rect">
            <a:avLst/>
          </a:prstGeom>
          <a:noFill/>
          <a:ln/>
        </p:spPr>
        <p:txBody>
          <a:bodyPr wrap="square" lIns="0" tIns="0" rIns="0" bIns="0" rtlCol="0" anchor="ctr"/>
          <a:lstStyle/>
          <a:p>
            <a:pPr indent="0" marL="0">
              <a:buNone/>
            </a:pPr>
            <a:r>
              <a:rPr lang="en-US" sz="850" i="1" dirty="0">
                <a:solidFill>
                  <a:srgbClr val="818181"/>
                </a:solidFill>
                <a:latin typeface="Verdana" pitchFamily="34" charset="0"/>
                <a:ea typeface="Verdana" pitchFamily="34" charset="-122"/>
                <a:cs typeface="Verdana" pitchFamily="34" charset="-120"/>
              </a:rPr>
              <a:t>Siete países · junio de 2025 · cinco bancos españoles con contraparte en España</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3" name="Text 1"/>
          <p:cNvSpPr txBox="1"/>
          <p:nvPr/>
        </p:nvSpPr>
        <p:spPr>
          <a:xfrm>
            <a:off x="621792" y="6583680"/>
            <a:ext cx="548640" cy="182880"/>
          </a:xfrm>
          <a:prstGeom prst="rect">
            <a:avLst/>
          </a:prstGeom>
          <a:noFill/>
          <a:ln/>
        </p:spPr>
        <p:txBody>
          <a:bodyPr wrap="square" lIns="0" tIns="0" rIns="0" bIns="0" rtlCol="0" anchor="ctr"/>
          <a:lstStyle/>
          <a:p>
            <a:pPr indent="0" marL="0">
              <a:buNone/>
            </a:pPr>
            <a:r>
              <a:rPr lang="en-US" sz="800" dirty="0">
                <a:solidFill>
                  <a:srgbClr val="CACACA"/>
                </a:solidFill>
                <a:latin typeface="Verdana" pitchFamily="34" charset="0"/>
                <a:ea typeface="Verdana" pitchFamily="34" charset="-122"/>
                <a:cs typeface="Verdana" pitchFamily="34" charset="-120"/>
              </a:rPr>
              <a:t>19</a:t>
            </a:r>
            <a:endParaRPr lang="en-US" sz="800" dirty="0"/>
          </a:p>
        </p:txBody>
      </p:sp>
      <p:sp>
        <p:nvSpPr>
          <p:cNvPr id="4" name="Text 2"/>
          <p:cNvSpPr txBox="1"/>
          <p:nvPr/>
        </p:nvSpPr>
        <p:spPr>
          <a:xfrm>
            <a:off x="621792" y="420624"/>
            <a:ext cx="8430768" cy="658368"/>
          </a:xfrm>
          <a:prstGeom prst="rect">
            <a:avLst/>
          </a:prstGeom>
          <a:noFill/>
          <a:ln/>
        </p:spPr>
        <p:txBody>
          <a:bodyPr wrap="square" lIns="0" tIns="0" rIns="0" bIns="0" rtlCol="0" anchor="t"/>
          <a:lstStyle/>
          <a:p>
            <a:pPr indent="0" marL="0">
              <a:buNone/>
            </a:pPr>
            <a:r>
              <a:rPr lang="en-US" sz="2100" b="1" dirty="0">
                <a:solidFill>
                  <a:srgbClr val="2B2B2B"/>
                </a:solidFill>
                <a:latin typeface="Verdana" pitchFamily="34" charset="0"/>
                <a:ea typeface="Verdana" pitchFamily="34" charset="-122"/>
                <a:cs typeface="Verdana" pitchFamily="34" charset="-120"/>
              </a:rPr>
              <a:t>El método pesa más que el país: el IRB español apenas ahorra capital</a:t>
            </a:r>
            <a:endParaRPr lang="en-US" sz="2100" dirty="0"/>
          </a:p>
        </p:txBody>
      </p:sp>
      <p:sp>
        <p:nvSpPr>
          <p:cNvPr id="5" name="Text 3"/>
          <p:cNvSpPr txBox="1"/>
          <p:nvPr/>
        </p:nvSpPr>
        <p:spPr>
          <a:xfrm>
            <a:off x="621792" y="1097280"/>
            <a:ext cx="10945368" cy="329184"/>
          </a:xfrm>
          <a:prstGeom prst="rect">
            <a:avLst/>
          </a:prstGeom>
          <a:noFill/>
          <a:ln/>
        </p:spPr>
        <p:txBody>
          <a:bodyPr wrap="square" lIns="0" tIns="0" rIns="0" bIns="0" rtlCol="0" anchor="ctr"/>
          <a:lstStyle/>
          <a:p>
            <a:pPr indent="0" marL="0">
              <a:buNone/>
            </a:pPr>
            <a:r>
              <a:rPr lang="en-US" sz="1000" dirty="0">
                <a:solidFill>
                  <a:srgbClr val="818181"/>
                </a:solidFill>
                <a:latin typeface="Verdana" pitchFamily="34" charset="0"/>
                <a:ea typeface="Verdana" pitchFamily="34" charset="-122"/>
                <a:cs typeface="Verdana" pitchFamily="34" charset="-120"/>
              </a:rPr>
              <a:t>Densidad de RWA de la cartera PYME (RWA sobre valor de exposición) por método · Junio de 2025</a:t>
            </a:r>
            <a:endParaRPr lang="en-US" sz="1000" dirty="0"/>
          </a:p>
        </p:txBody>
      </p:sp>
      <p:sp>
        <p:nvSpPr>
          <p:cNvPr id="6" name="Shape 4"/>
          <p:cNvSpPr/>
          <p:nvPr/>
        </p:nvSpPr>
        <p:spPr>
          <a:xfrm>
            <a:off x="9235440" y="640080"/>
            <a:ext cx="2331720" cy="365760"/>
          </a:xfrm>
          <a:prstGeom prst="roundRect">
            <a:avLst>
              <a:gd name="adj" fmla="val 15000"/>
            </a:avLst>
          </a:prstGeom>
          <a:solidFill>
            <a:srgbClr val="FFCCE8"/>
          </a:solidFill>
          <a:ln w="12700">
            <a:solidFill>
              <a:srgbClr val="FFCCE8"/>
            </a:solidFill>
            <a:prstDash val="solid"/>
          </a:ln>
        </p:spPr>
      </p:sp>
      <p:sp>
        <p:nvSpPr>
          <p:cNvPr id="7" name="Text 5"/>
          <p:cNvSpPr txBox="1"/>
          <p:nvPr/>
        </p:nvSpPr>
        <p:spPr>
          <a:xfrm>
            <a:off x="9308592" y="658368"/>
            <a:ext cx="2185416" cy="329184"/>
          </a:xfrm>
          <a:prstGeom prst="rect">
            <a:avLst/>
          </a:prstGeom>
          <a:noFill/>
          <a:ln/>
        </p:spPr>
        <p:txBody>
          <a:bodyPr wrap="square" lIns="0" tIns="0" rIns="0" bIns="0" rtlCol="0" anchor="ctr"/>
          <a:lstStyle/>
          <a:p>
            <a:pPr indent="0" marL="0">
              <a:buNone/>
            </a:pPr>
            <a:r>
              <a:rPr lang="en-US" sz="750" b="1" dirty="0">
                <a:solidFill>
                  <a:srgbClr val="2B2B2B"/>
                </a:solidFill>
                <a:latin typeface="Verdana" pitchFamily="34" charset="0"/>
                <a:ea typeface="Verdana" pitchFamily="34" charset="-122"/>
                <a:cs typeface="Verdana" pitchFamily="34" charset="-120"/>
              </a:rPr>
              <a:t>PYME · estándar por facturación, IRB interna</a:t>
            </a:r>
            <a:endParaRPr lang="en-US" sz="750" dirty="0"/>
          </a:p>
        </p:txBody>
      </p:sp>
      <p:graphicFrame>
        <p:nvGraphicFramePr>
          <p:cNvPr id="8" name="Chart 0" descr=""/>
          <p:cNvGraphicFramePr/>
          <p:nvPr/>
        </p:nvGraphicFramePr>
        <p:xfrm>
          <a:off x="621792" y="1554480"/>
          <a:ext cx="7360920" cy="416052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8275320" y="1554480"/>
            <a:ext cx="3291840" cy="2057400"/>
          </a:xfrm>
          <a:prstGeom prst="roundRect">
            <a:avLst>
              <a:gd name="adj" fmla="val 2222"/>
            </a:avLst>
          </a:prstGeom>
          <a:solidFill>
            <a:srgbClr val="F2F4F6"/>
          </a:solidFill>
          <a:ln w="12700">
            <a:solidFill>
              <a:srgbClr val="F2F4F6"/>
            </a:solidFill>
            <a:prstDash val="solid"/>
          </a:ln>
        </p:spPr>
      </p:sp>
      <p:sp>
        <p:nvSpPr>
          <p:cNvPr id="10" name="Text 7"/>
          <p:cNvSpPr txBox="1"/>
          <p:nvPr/>
        </p:nvSpPr>
        <p:spPr>
          <a:xfrm>
            <a:off x="8476488" y="1682496"/>
            <a:ext cx="2889504" cy="475488"/>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Estándar parecido, IRB muy distinto</a:t>
            </a:r>
            <a:endParaRPr lang="en-US" sz="1150" dirty="0"/>
          </a:p>
        </p:txBody>
      </p:sp>
      <p:sp>
        <p:nvSpPr>
          <p:cNvPr id="11" name="Text 8"/>
          <p:cNvSpPr txBox="1"/>
          <p:nvPr/>
        </p:nvSpPr>
        <p:spPr>
          <a:xfrm>
            <a:off x="8476488" y="2194560"/>
            <a:ext cx="2889504" cy="1307592"/>
          </a:xfrm>
          <a:prstGeom prst="rect">
            <a:avLst/>
          </a:prstGeom>
          <a:noFill/>
          <a:ln/>
        </p:spPr>
        <p:txBody>
          <a:bodyPr wrap="square" lIns="0" tIns="0" rIns="0" bIns="0" rtlCol="0" anchor="t"/>
          <a:lstStyle/>
          <a:p>
            <a:pPr indent="0" marL="0">
              <a:buNone/>
            </a:pPr>
            <a:r>
              <a:rPr lang="en-US" sz="950" dirty="0">
                <a:solidFill>
                  <a:srgbClr val="2B2B2B"/>
                </a:solidFill>
                <a:latin typeface="Verdana" pitchFamily="34" charset="0"/>
                <a:ea typeface="Verdana" pitchFamily="34" charset="-122"/>
                <a:cs typeface="Verdana" pitchFamily="34" charset="-120"/>
              </a:rPr>
              <a:t>Por método estándar todos pesan entre 63 y 77 %. Por IRB, de 30 % a 65 %.</a:t>
            </a:r>
            <a:endParaRPr lang="en-US" sz="950" dirty="0"/>
          </a:p>
        </p:txBody>
      </p:sp>
      <p:sp>
        <p:nvSpPr>
          <p:cNvPr id="12" name="Shape 9"/>
          <p:cNvSpPr/>
          <p:nvPr/>
        </p:nvSpPr>
        <p:spPr>
          <a:xfrm>
            <a:off x="8275320" y="3749040"/>
            <a:ext cx="3291840" cy="1965960"/>
          </a:xfrm>
          <a:prstGeom prst="roundRect">
            <a:avLst>
              <a:gd name="adj" fmla="val 2326"/>
            </a:avLst>
          </a:prstGeom>
          <a:solidFill>
            <a:srgbClr val="FFF4C2"/>
          </a:solidFill>
          <a:ln w="12700">
            <a:solidFill>
              <a:srgbClr val="FFF4C2"/>
            </a:solidFill>
            <a:prstDash val="solid"/>
          </a:ln>
        </p:spPr>
      </p:sp>
      <p:sp>
        <p:nvSpPr>
          <p:cNvPr id="13" name="Text 10"/>
          <p:cNvSpPr txBox="1"/>
          <p:nvPr/>
        </p:nvSpPr>
        <p:spPr>
          <a:xfrm>
            <a:off x="8476488" y="3877056"/>
            <a:ext cx="2889504" cy="27432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España</a:t>
            </a:r>
            <a:endParaRPr lang="en-US" sz="1150" dirty="0"/>
          </a:p>
        </p:txBody>
      </p:sp>
      <p:sp>
        <p:nvSpPr>
          <p:cNvPr id="14" name="Text 11"/>
          <p:cNvSpPr txBox="1"/>
          <p:nvPr/>
        </p:nvSpPr>
        <p:spPr>
          <a:xfrm>
            <a:off x="8476488" y="4187952"/>
            <a:ext cx="2889504" cy="1417320"/>
          </a:xfrm>
          <a:prstGeom prst="rect">
            <a:avLst/>
          </a:prstGeom>
          <a:noFill/>
          <a:ln/>
        </p:spPr>
        <p:txBody>
          <a:bodyPr wrap="square" lIns="0" tIns="0" rIns="0" bIns="0" rtlCol="0" anchor="t"/>
          <a:lstStyle/>
          <a:p>
            <a:pPr indent="0" marL="0">
              <a:buNone/>
            </a:pPr>
            <a:r>
              <a:rPr lang="en-US" sz="950" dirty="0">
                <a:solidFill>
                  <a:srgbClr val="2B2B2B"/>
                </a:solidFill>
                <a:latin typeface="Verdana" pitchFamily="34" charset="0"/>
                <a:ea typeface="Verdana" pitchFamily="34" charset="-122"/>
                <a:cs typeface="Verdana" pitchFamily="34" charset="-120"/>
              </a:rPr>
              <a:t>El IRB le rebaja la densidad 7,6 puntos; a Alemania, 35,9. Y solo el 46 % de su cartera va por IRB, frente al 86 % alemán.</a:t>
            </a:r>
            <a:endParaRPr lang="en-US" sz="950" dirty="0"/>
          </a:p>
        </p:txBody>
      </p:sp>
      <p:sp>
        <p:nvSpPr>
          <p:cNvPr id="15" name="Text 12"/>
          <p:cNvSpPr txBox="1"/>
          <p:nvPr/>
        </p:nvSpPr>
        <p:spPr>
          <a:xfrm>
            <a:off x="621792" y="6053328"/>
            <a:ext cx="10945368" cy="475488"/>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EBA, EU-wide Transparency Exercise 2025, tr_cre.csv, junio 2025, Portfolio 1 = estándar y 2 = IRB, partidas 2520523 y 2520533, agregado por supervisor nacional. Incluye el factor de apoyo a PYME del art. 501 del CRR.</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3" name="Text 1"/>
          <p:cNvSpPr txBox="1"/>
          <p:nvPr/>
        </p:nvSpPr>
        <p:spPr>
          <a:xfrm>
            <a:off x="621792" y="6583680"/>
            <a:ext cx="548640" cy="182880"/>
          </a:xfrm>
          <a:prstGeom prst="rect">
            <a:avLst/>
          </a:prstGeom>
          <a:noFill/>
          <a:ln/>
        </p:spPr>
        <p:txBody>
          <a:bodyPr wrap="square" lIns="0" tIns="0" rIns="0" bIns="0" rtlCol="0" anchor="ctr"/>
          <a:lstStyle/>
          <a:p>
            <a:pPr indent="0" marL="0">
              <a:buNone/>
            </a:pPr>
            <a:r>
              <a:rPr lang="en-US" sz="800" dirty="0">
                <a:solidFill>
                  <a:srgbClr val="CACACA"/>
                </a:solidFill>
                <a:latin typeface="Verdana" pitchFamily="34" charset="0"/>
                <a:ea typeface="Verdana" pitchFamily="34" charset="-122"/>
                <a:cs typeface="Verdana" pitchFamily="34" charset="-120"/>
              </a:rPr>
              <a:t>20</a:t>
            </a:r>
            <a:endParaRPr lang="en-US" sz="800" dirty="0"/>
          </a:p>
        </p:txBody>
      </p:sp>
      <p:sp>
        <p:nvSpPr>
          <p:cNvPr id="4" name="Text 2"/>
          <p:cNvSpPr txBox="1"/>
          <p:nvPr/>
        </p:nvSpPr>
        <p:spPr>
          <a:xfrm>
            <a:off x="621792" y="420624"/>
            <a:ext cx="8430768" cy="658368"/>
          </a:xfrm>
          <a:prstGeom prst="rect">
            <a:avLst/>
          </a:prstGeom>
          <a:noFill/>
          <a:ln/>
        </p:spPr>
        <p:txBody>
          <a:bodyPr wrap="square" lIns="0" tIns="0" rIns="0" bIns="0" rtlCol="0" anchor="t"/>
          <a:lstStyle/>
          <a:p>
            <a:pPr indent="0" marL="0">
              <a:buNone/>
            </a:pPr>
            <a:r>
              <a:rPr lang="en-US" sz="2100" b="1" dirty="0">
                <a:solidFill>
                  <a:srgbClr val="2B2B2B"/>
                </a:solidFill>
                <a:latin typeface="Verdana" pitchFamily="34" charset="0"/>
                <a:ea typeface="Verdana" pitchFamily="34" charset="-122"/>
                <a:cs typeface="Verdana" pitchFamily="34" charset="-120"/>
              </a:rPr>
              <a:t>CaixaBank concentra un tercio de la PYME española de los cinco grandes</a:t>
            </a:r>
            <a:endParaRPr lang="en-US" sz="2100" dirty="0"/>
          </a:p>
        </p:txBody>
      </p:sp>
      <p:sp>
        <p:nvSpPr>
          <p:cNvPr id="5" name="Text 3"/>
          <p:cNvSpPr txBox="1"/>
          <p:nvPr/>
        </p:nvSpPr>
        <p:spPr>
          <a:xfrm>
            <a:off x="621792" y="1097280"/>
            <a:ext cx="10945368" cy="329184"/>
          </a:xfrm>
          <a:prstGeom prst="rect">
            <a:avLst/>
          </a:prstGeom>
          <a:noFill/>
          <a:ln/>
        </p:spPr>
        <p:txBody>
          <a:bodyPr wrap="square" lIns="0" tIns="0" rIns="0" bIns="0" rtlCol="0" anchor="ctr"/>
          <a:lstStyle/>
          <a:p>
            <a:pPr indent="0" marL="0">
              <a:buNone/>
            </a:pPr>
            <a:r>
              <a:rPr lang="en-US" sz="1000" dirty="0">
                <a:solidFill>
                  <a:srgbClr val="818181"/>
                </a:solidFill>
                <a:latin typeface="Verdana" pitchFamily="34" charset="0"/>
                <a:ea typeface="Verdana" pitchFamily="34" charset="-122"/>
                <a:cs typeface="Verdana" pitchFamily="34" charset="-120"/>
              </a:rPr>
              <a:t>Cartera PYME con contraparte en España de los cinco grandes bancos españoles · Junio de 2025</a:t>
            </a:r>
            <a:endParaRPr lang="en-US" sz="1000" dirty="0"/>
          </a:p>
        </p:txBody>
      </p:sp>
      <p:sp>
        <p:nvSpPr>
          <p:cNvPr id="6" name="Shape 4"/>
          <p:cNvSpPr/>
          <p:nvPr/>
        </p:nvSpPr>
        <p:spPr>
          <a:xfrm>
            <a:off x="9235440" y="640080"/>
            <a:ext cx="2331720" cy="365760"/>
          </a:xfrm>
          <a:prstGeom prst="roundRect">
            <a:avLst>
              <a:gd name="adj" fmla="val 15000"/>
            </a:avLst>
          </a:prstGeom>
          <a:solidFill>
            <a:srgbClr val="FFCCE8"/>
          </a:solidFill>
          <a:ln w="12700">
            <a:solidFill>
              <a:srgbClr val="FFCCE8"/>
            </a:solidFill>
            <a:prstDash val="solid"/>
          </a:ln>
        </p:spPr>
      </p:sp>
      <p:sp>
        <p:nvSpPr>
          <p:cNvPr id="7" name="Text 5"/>
          <p:cNvSpPr txBox="1"/>
          <p:nvPr/>
        </p:nvSpPr>
        <p:spPr>
          <a:xfrm>
            <a:off x="9308592" y="658368"/>
            <a:ext cx="2185416" cy="329184"/>
          </a:xfrm>
          <a:prstGeom prst="rect">
            <a:avLst/>
          </a:prstGeom>
          <a:noFill/>
          <a:ln/>
        </p:spPr>
        <p:txBody>
          <a:bodyPr wrap="square" lIns="0" tIns="0" rIns="0" bIns="0" rtlCol="0" anchor="ctr"/>
          <a:lstStyle/>
          <a:p>
            <a:pPr indent="0" marL="0">
              <a:buNone/>
            </a:pPr>
            <a:r>
              <a:rPr lang="en-US" sz="750" b="1" dirty="0">
                <a:solidFill>
                  <a:srgbClr val="2B2B2B"/>
                </a:solidFill>
                <a:latin typeface="Verdana" pitchFamily="34" charset="0"/>
                <a:ea typeface="Verdana" pitchFamily="34" charset="-122"/>
                <a:cs typeface="Verdana" pitchFamily="34" charset="-120"/>
              </a:rPr>
              <a:t>PYME · estándar por facturación, IRB interna</a:t>
            </a:r>
            <a:endParaRPr lang="en-US" sz="750" dirty="0"/>
          </a:p>
        </p:txBody>
      </p:sp>
      <p:graphicFrame>
        <p:nvGraphicFramePr>
          <p:cNvPr id="8" name="Chart 0" descr=""/>
          <p:cNvGraphicFramePr/>
          <p:nvPr/>
        </p:nvGraphicFramePr>
        <p:xfrm>
          <a:off x="621792" y="1554480"/>
          <a:ext cx="5669280" cy="4160520"/>
        </p:xfrm>
        <a:graphic xmlns:a="http://schemas.openxmlformats.org/drawingml/2006/main">
          <a:graphicData uri="http://schemas.openxmlformats.org/drawingml/2006/chart">
            <c:chart xmlns:c="http://schemas.openxmlformats.org/drawingml/2006/chart" r:id="rId1"/>
          </a:graphicData>
        </a:graphic>
      </p:graphicFrame>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583680" y="1554480"/>
          <a:ext cx="4983480" cy="914400"/>
        </p:xfrm>
        <a:graphic>
          <a:graphicData uri="http://schemas.openxmlformats.org/drawingml/2006/table">
            <a:tbl>
              <a:tblPr/>
              <a:tblGrid>
                <a:gridCol w="1325880"/>
                <a:gridCol w="914400"/>
                <a:gridCol w="914400"/>
                <a:gridCol w="914400"/>
                <a:gridCol w="914400"/>
              </a:tblGrid>
              <a:tr h="310896">
                <a:tc>
                  <a:txBody>
                    <a:bodyPr/>
                    <a:lstStyle/>
                    <a:p>
                      <a:pPr algn="l" indent="0" marL="0">
                        <a:buNone/>
                      </a:pPr>
                      <a:r>
                        <a:rPr lang="en-US" sz="850" b="1" dirty="0">
                          <a:solidFill>
                            <a:srgbClr val="FFFFFF"/>
                          </a:solidFill>
                          <a:latin typeface="Verdana" pitchFamily="34" charset="0"/>
                          <a:ea typeface="Verdana" pitchFamily="34" charset="-122"/>
                          <a:cs typeface="Verdana" pitchFamily="34" charset="-120"/>
                        </a:rPr>
                        <a:t>Banco</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2B2B2B"/>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Cuota</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2B2B2B"/>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Densidad</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2B2B2B"/>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Mora</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2B2B2B"/>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Cobertura</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2B2B2B"/>
                    </a:solidFill>
                  </a:tcPr>
                </a:tc>
              </a:tr>
              <a:tr h="310896">
                <a:tc>
                  <a:txBody>
                    <a:bodyPr/>
                    <a:lstStyle/>
                    <a:p>
                      <a:pPr algn="l" indent="0" marL="0">
                        <a:buNone/>
                      </a:pPr>
                      <a:r>
                        <a:rPr lang="en-US" sz="900" b="1" dirty="0">
                          <a:solidFill>
                            <a:srgbClr val="F56600"/>
                          </a:solidFill>
                          <a:latin typeface="Verdana" pitchFamily="34" charset="0"/>
                          <a:ea typeface="Verdana" pitchFamily="34" charset="-122"/>
                          <a:cs typeface="Verdana" pitchFamily="34" charset="-120"/>
                        </a:rPr>
                        <a:t>Bankinter</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4C2"/>
                    </a:solidFill>
                  </a:tcPr>
                </a:tc>
                <a:tc>
                  <a:txBody>
                    <a:bodyPr/>
                    <a:lstStyle/>
                    <a:p>
                      <a:pPr algn="ctr" indent="0" marL="0">
                        <a:buNone/>
                      </a:pPr>
                      <a:r>
                        <a:rPr lang="en-US" sz="900" b="1" dirty="0">
                          <a:solidFill>
                            <a:srgbClr val="F56600"/>
                          </a:solidFill>
                          <a:latin typeface="Verdana" pitchFamily="34" charset="0"/>
                          <a:ea typeface="Verdana" pitchFamily="34" charset="-122"/>
                          <a:cs typeface="Verdana" pitchFamily="34" charset="-120"/>
                        </a:rPr>
                        <a:t>10,2 %</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4C2"/>
                    </a:solidFill>
                  </a:tcPr>
                </a:tc>
                <a:tc>
                  <a:txBody>
                    <a:bodyPr/>
                    <a:lstStyle/>
                    <a:p>
                      <a:pPr algn="ctr" indent="0" marL="0">
                        <a:buNone/>
                      </a:pPr>
                      <a:r>
                        <a:rPr lang="en-US" sz="900" b="1" dirty="0">
                          <a:solidFill>
                            <a:srgbClr val="F56600"/>
                          </a:solidFill>
                          <a:latin typeface="Verdana" pitchFamily="34" charset="0"/>
                          <a:ea typeface="Verdana" pitchFamily="34" charset="-122"/>
                          <a:cs typeface="Verdana" pitchFamily="34" charset="-120"/>
                        </a:rPr>
                        <a:t>53,3 %</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4C2"/>
                    </a:solidFill>
                  </a:tcPr>
                </a:tc>
                <a:tc>
                  <a:txBody>
                    <a:bodyPr/>
                    <a:lstStyle/>
                    <a:p>
                      <a:pPr algn="ctr" indent="0" marL="0">
                        <a:buNone/>
                      </a:pPr>
                      <a:r>
                        <a:rPr lang="en-US" sz="900" b="1" dirty="0">
                          <a:solidFill>
                            <a:srgbClr val="F56600"/>
                          </a:solidFill>
                          <a:latin typeface="Verdana" pitchFamily="34" charset="0"/>
                          <a:ea typeface="Verdana" pitchFamily="34" charset="-122"/>
                          <a:cs typeface="Verdana" pitchFamily="34" charset="-120"/>
                        </a:rPr>
                        <a:t>2,34 %</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4C2"/>
                    </a:solidFill>
                  </a:tcPr>
                </a:tc>
                <a:tc>
                  <a:txBody>
                    <a:bodyPr/>
                    <a:lstStyle/>
                    <a:p>
                      <a:pPr algn="ctr" indent="0" marL="0">
                        <a:buNone/>
                      </a:pPr>
                      <a:r>
                        <a:rPr lang="en-US" sz="900" b="1" dirty="0">
                          <a:solidFill>
                            <a:srgbClr val="F56600"/>
                          </a:solidFill>
                          <a:latin typeface="Verdana" pitchFamily="34" charset="0"/>
                          <a:ea typeface="Verdana" pitchFamily="34" charset="-122"/>
                          <a:cs typeface="Verdana" pitchFamily="34" charset="-120"/>
                        </a:rPr>
                        <a:t>74,1 %</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4C2"/>
                    </a:solidFill>
                  </a:tcPr>
                </a:tc>
              </a:tr>
              <a:tr h="310896">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Sabadell</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15,7 %</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37,3 %</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5,91 %</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56,1 %</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310896">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CaixaBank</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34,2 %</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49,2 %</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5,30 %</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53,6 %</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310896">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BBVA</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17,1 %</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71,0 %</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3,98 %</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65,6 %</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310896">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Santander</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22,7 %</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62,7 %</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7,80 %</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36,5 %</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bl>
          </a:graphicData>
        </a:graphic>
      </p:graphicFrame>
      <p:sp>
        <p:nvSpPr>
          <p:cNvPr id="10" name="Shape 6"/>
          <p:cNvSpPr/>
          <p:nvPr/>
        </p:nvSpPr>
        <p:spPr>
          <a:xfrm>
            <a:off x="6583680" y="3611880"/>
            <a:ext cx="4983480" cy="2103120"/>
          </a:xfrm>
          <a:prstGeom prst="roundRect">
            <a:avLst>
              <a:gd name="adj" fmla="val 2174"/>
            </a:avLst>
          </a:prstGeom>
          <a:solidFill>
            <a:srgbClr val="F2F4F6"/>
          </a:solidFill>
          <a:ln w="12700">
            <a:solidFill>
              <a:srgbClr val="F2F4F6"/>
            </a:solidFill>
            <a:prstDash val="solid"/>
          </a:ln>
        </p:spPr>
      </p:sp>
      <p:sp>
        <p:nvSpPr>
          <p:cNvPr id="11" name="Text 7"/>
          <p:cNvSpPr txBox="1"/>
          <p:nvPr/>
        </p:nvSpPr>
        <p:spPr>
          <a:xfrm>
            <a:off x="6784848" y="3739896"/>
            <a:ext cx="4581144" cy="27432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Qué se ve</a:t>
            </a:r>
            <a:endParaRPr lang="en-US" sz="1150" dirty="0"/>
          </a:p>
        </p:txBody>
      </p:sp>
      <p:sp>
        <p:nvSpPr>
          <p:cNvPr id="12" name="Text 8"/>
          <p:cNvSpPr txBox="1"/>
          <p:nvPr/>
        </p:nvSpPr>
        <p:spPr>
          <a:xfrm>
            <a:off x="6784848" y="4050792"/>
            <a:ext cx="4581144" cy="1554480"/>
          </a:xfrm>
          <a:prstGeom prst="rect">
            <a:avLst/>
          </a:prstGeom>
          <a:noFill/>
          <a:ln/>
        </p:spPr>
        <p:txBody>
          <a:bodyPr wrap="square" lIns="0" tIns="0" rIns="0" bIns="0" rtlCol="0" anchor="t"/>
          <a:lstStyle/>
          <a:p>
            <a:pPr indent="0" marL="0">
              <a:buNone/>
            </a:pPr>
            <a:r>
              <a:rPr lang="en-US" sz="950" dirty="0">
                <a:solidFill>
                  <a:srgbClr val="2B2B2B"/>
                </a:solidFill>
                <a:latin typeface="Verdana" pitchFamily="34" charset="0"/>
                <a:ea typeface="Verdana" pitchFamily="34" charset="-122"/>
                <a:cs typeface="Verdana" pitchFamily="34" charset="-120"/>
              </a:rPr>
              <a:t>Mora de 2,34 % a 7,80 %: Bankinter la más baja y Santander la más alta, con la menor cobertura. La densidad va de 37,3 % (Sabadell) a 71,0 % (BBVA), por el peso de sus modelos IRB.</a:t>
            </a:r>
            <a:endParaRPr lang="en-US" sz="950" dirty="0"/>
          </a:p>
        </p:txBody>
      </p:sp>
      <p:sp>
        <p:nvSpPr>
          <p:cNvPr id="13" name="Text 9"/>
          <p:cNvSpPr txBox="1"/>
          <p:nvPr/>
        </p:nvSpPr>
        <p:spPr>
          <a:xfrm>
            <a:off x="621792" y="6053328"/>
            <a:ext cx="10945368" cy="475488"/>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EBA, EU-wide Transparency Exercise 2025, contraparte en España (código 28), partidas SME de exposición, RWA, default y provisiones. Cuota sobre la suma de los cinco, no sobre el mercado.</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F56600"/>
          </a:solidFill>
          <a:ln w="12700">
            <a:solidFill>
              <a:srgbClr val="F56600"/>
            </a:solidFill>
            <a:prstDash val="solid"/>
          </a:ln>
        </p:spPr>
      </p:sp>
      <p:sp>
        <p:nvSpPr>
          <p:cNvPr id="3" name="Text 1"/>
          <p:cNvSpPr txBox="1"/>
          <p:nvPr/>
        </p:nvSpPr>
        <p:spPr>
          <a:xfrm>
            <a:off x="621792" y="868680"/>
            <a:ext cx="3200400" cy="292608"/>
          </a:xfrm>
          <a:prstGeom prst="rect">
            <a:avLst/>
          </a:prstGeom>
          <a:noFill/>
          <a:ln/>
        </p:spPr>
        <p:txBody>
          <a:bodyPr wrap="square" lIns="0" tIns="0" rIns="0" bIns="0" rtlCol="0" anchor="ctr"/>
          <a:lstStyle/>
          <a:p>
            <a:pPr indent="0" marL="0">
              <a:buNone/>
            </a:pPr>
            <a:r>
              <a:rPr lang="en-US" sz="1100" b="1" spc="200" kern="0" dirty="0">
                <a:solidFill>
                  <a:srgbClr val="FFFFFF"/>
                </a:solidFill>
                <a:latin typeface="Verdana" pitchFamily="34" charset="0"/>
                <a:ea typeface="Verdana" pitchFamily="34" charset="-122"/>
                <a:cs typeface="Verdana" pitchFamily="34" charset="-120"/>
              </a:rPr>
              <a:t>FUENTE 6</a:t>
            </a:r>
            <a:endParaRPr lang="en-US" sz="1100" dirty="0"/>
          </a:p>
        </p:txBody>
      </p:sp>
      <p:sp>
        <p:nvSpPr>
          <p:cNvPr id="4" name="Text 2"/>
          <p:cNvSpPr txBox="1"/>
          <p:nvPr/>
        </p:nvSpPr>
        <p:spPr>
          <a:xfrm>
            <a:off x="621792" y="1234440"/>
            <a:ext cx="3291840" cy="1417320"/>
          </a:xfrm>
          <a:prstGeom prst="rect">
            <a:avLst/>
          </a:prstGeom>
          <a:noFill/>
          <a:ln/>
        </p:spPr>
        <p:txBody>
          <a:bodyPr wrap="square" lIns="0" tIns="0" rIns="0" bIns="0" rtlCol="0" anchor="t"/>
          <a:lstStyle/>
          <a:p>
            <a:pPr indent="0" marL="0">
              <a:buNone/>
            </a:pPr>
            <a:r>
              <a:rPr lang="en-US" sz="2600" b="1" dirty="0">
                <a:solidFill>
                  <a:srgbClr val="FFFFFF"/>
                </a:solidFill>
                <a:latin typeface="Verdana" pitchFamily="34" charset="0"/>
                <a:ea typeface="Verdana" pitchFamily="34" charset="-122"/>
                <a:cs typeface="Verdana" pitchFamily="34" charset="-120"/>
              </a:rPr>
              <a:t>Scoreboard</a:t>
            </a:r>
            <a:endParaRPr lang="en-US" sz="2600" dirty="0"/>
          </a:p>
        </p:txBody>
      </p:sp>
      <p:sp>
        <p:nvSpPr>
          <p:cNvPr id="5" name="Text 3"/>
          <p:cNvSpPr txBox="1"/>
          <p:nvPr/>
        </p:nvSpPr>
        <p:spPr>
          <a:xfrm>
            <a:off x="621792" y="2697480"/>
            <a:ext cx="3200400" cy="566928"/>
          </a:xfrm>
          <a:prstGeom prst="rect">
            <a:avLst/>
          </a:prstGeom>
          <a:noFill/>
          <a:ln/>
        </p:spPr>
        <p:txBody>
          <a:bodyPr wrap="square" lIns="0" tIns="0" rIns="0" bIns="0" rtlCol="0" anchor="t"/>
          <a:lstStyle/>
          <a:p>
            <a:pPr indent="0" marL="0">
              <a:buNone/>
            </a:pPr>
            <a:r>
              <a:rPr lang="en-US" sz="1050" dirty="0">
                <a:solidFill>
                  <a:srgbClr val="FFFFFF"/>
                </a:solidFill>
                <a:latin typeface="Verdana" pitchFamily="34" charset="0"/>
                <a:ea typeface="Verdana" pitchFamily="34" charset="-122"/>
                <a:cs typeface="Verdana" pitchFamily="34" charset="-120"/>
              </a:rPr>
              <a:t>OCDE · Financing SMEs and Entrepreneurs, cuadro de indicadores anual</a:t>
            </a:r>
            <a:endParaRPr lang="en-US" sz="1050" dirty="0"/>
          </a:p>
        </p:txBody>
      </p:sp>
      <p:sp>
        <p:nvSpPr>
          <p:cNvPr id="6" name="Shape 4"/>
          <p:cNvSpPr/>
          <p:nvPr/>
        </p:nvSpPr>
        <p:spPr>
          <a:xfrm>
            <a:off x="621792" y="4160520"/>
            <a:ext cx="3154680" cy="1325880"/>
          </a:xfrm>
          <a:prstGeom prst="roundRect">
            <a:avLst>
              <a:gd name="adj" fmla="val 4138"/>
            </a:avLst>
          </a:prstGeom>
          <a:solidFill>
            <a:srgbClr val="FFFFFF"/>
          </a:solidFill>
          <a:ln w="12700">
            <a:solidFill>
              <a:srgbClr val="FFFFFF"/>
            </a:solidFill>
            <a:prstDash val="solid"/>
          </a:ln>
        </p:spPr>
      </p:sp>
      <p:sp>
        <p:nvSpPr>
          <p:cNvPr id="7" name="Text 5"/>
          <p:cNvSpPr txBox="1"/>
          <p:nvPr/>
        </p:nvSpPr>
        <p:spPr>
          <a:xfrm>
            <a:off x="804672" y="4270248"/>
            <a:ext cx="2834640" cy="219456"/>
          </a:xfrm>
          <a:prstGeom prst="rect">
            <a:avLst/>
          </a:prstGeom>
          <a:noFill/>
          <a:ln/>
        </p:spPr>
        <p:txBody>
          <a:bodyPr wrap="square" lIns="0" tIns="0" rIns="0" bIns="0" rtlCol="0" anchor="ctr"/>
          <a:lstStyle/>
          <a:p>
            <a:pPr indent="0" marL="0">
              <a:buNone/>
            </a:pPr>
            <a:r>
              <a:rPr lang="en-US" sz="800" b="1" spc="100" kern="0" dirty="0">
                <a:solidFill>
                  <a:srgbClr val="818181"/>
                </a:solidFill>
                <a:latin typeface="Verdana" pitchFamily="34" charset="0"/>
                <a:ea typeface="Verdana" pitchFamily="34" charset="-122"/>
                <a:cs typeface="Verdana" pitchFamily="34" charset="-120"/>
              </a:rPr>
              <a:t>QUÉ LLAMA PYME</a:t>
            </a:r>
            <a:endParaRPr lang="en-US" sz="800" dirty="0"/>
          </a:p>
        </p:txBody>
      </p:sp>
      <p:sp>
        <p:nvSpPr>
          <p:cNvPr id="8" name="Text 6"/>
          <p:cNvSpPr txBox="1"/>
          <p:nvPr/>
        </p:nvSpPr>
        <p:spPr>
          <a:xfrm>
            <a:off x="804672" y="4507992"/>
            <a:ext cx="2834640" cy="502920"/>
          </a:xfrm>
          <a:prstGeom prst="rect">
            <a:avLst/>
          </a:prstGeom>
          <a:noFill/>
          <a:ln/>
        </p:spPr>
        <p:txBody>
          <a:bodyPr wrap="square" lIns="0" tIns="0" rIns="0" bIns="0" rtlCol="0" anchor="t"/>
          <a:lstStyle/>
          <a:p>
            <a:pPr indent="0" marL="0">
              <a:buNone/>
            </a:pPr>
            <a:r>
              <a:rPr lang="en-US" sz="1200" b="1" dirty="0">
                <a:solidFill>
                  <a:srgbClr val="2B2B2B"/>
                </a:solidFill>
                <a:latin typeface="Verdana" pitchFamily="34" charset="0"/>
                <a:ea typeface="Verdana" pitchFamily="34" charset="-122"/>
                <a:cs typeface="Verdana" pitchFamily="34" charset="-120"/>
              </a:rPr>
              <a:t>definición nacional de cada país</a:t>
            </a:r>
            <a:endParaRPr lang="en-US" sz="1200" dirty="0"/>
          </a:p>
        </p:txBody>
      </p:sp>
      <p:sp>
        <p:nvSpPr>
          <p:cNvPr id="9" name="Shape 7"/>
          <p:cNvSpPr/>
          <p:nvPr/>
        </p:nvSpPr>
        <p:spPr>
          <a:xfrm>
            <a:off x="804672" y="5074920"/>
            <a:ext cx="2788920" cy="274320"/>
          </a:xfrm>
          <a:prstGeom prst="roundRect">
            <a:avLst>
              <a:gd name="adj" fmla="val 26667"/>
            </a:avLst>
          </a:prstGeom>
          <a:solidFill>
            <a:srgbClr val="FFCCE8"/>
          </a:solidFill>
          <a:ln w="12700">
            <a:solidFill>
              <a:srgbClr val="FFCCE8"/>
            </a:solidFill>
            <a:prstDash val="solid"/>
          </a:ln>
        </p:spPr>
      </p:sp>
      <p:sp>
        <p:nvSpPr>
          <p:cNvPr id="10" name="Text 8"/>
          <p:cNvSpPr txBox="1"/>
          <p:nvPr/>
        </p:nvSpPr>
        <p:spPr>
          <a:xfrm>
            <a:off x="804672" y="5074920"/>
            <a:ext cx="2788920" cy="274320"/>
          </a:xfrm>
          <a:prstGeom prst="rect">
            <a:avLst/>
          </a:prstGeom>
          <a:noFill/>
          <a:ln/>
        </p:spPr>
        <p:txBody>
          <a:bodyPr wrap="square" lIns="0" tIns="0" rIns="0" bIns="0" rtlCol="0" anchor="ctr"/>
          <a:lstStyle/>
          <a:p>
            <a:pPr algn="ctr" indent="0" marL="0">
              <a:buNone/>
            </a:pPr>
            <a:r>
              <a:rPr lang="en-US" sz="850" b="1" dirty="0">
                <a:solidFill>
                  <a:srgbClr val="2B2B2B"/>
                </a:solidFill>
                <a:latin typeface="Verdana" pitchFamily="34" charset="0"/>
                <a:ea typeface="Verdana" pitchFamily="34" charset="-122"/>
                <a:cs typeface="Verdana" pitchFamily="34" charset="-120"/>
              </a:rPr>
              <a:t>No armonizada</a:t>
            </a:r>
            <a:endParaRPr lang="en-US" sz="850" dirty="0"/>
          </a:p>
        </p:txBody>
      </p:sp>
      <p:sp>
        <p:nvSpPr>
          <p:cNvPr id="11" name="Text 9"/>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12" name="Text 10"/>
          <p:cNvSpPr txBox="1"/>
          <p:nvPr/>
        </p:nvSpPr>
        <p:spPr>
          <a:xfrm>
            <a:off x="4709160" y="868680"/>
            <a:ext cx="685800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Qué es</a:t>
            </a:r>
            <a:endParaRPr lang="en-US" sz="1250" dirty="0"/>
          </a:p>
        </p:txBody>
      </p:sp>
      <p:sp>
        <p:nvSpPr>
          <p:cNvPr id="13" name="Text 11"/>
          <p:cNvSpPr txBox="1"/>
          <p:nvPr/>
        </p:nvSpPr>
        <p:spPr>
          <a:xfrm>
            <a:off x="4709160" y="1179576"/>
            <a:ext cx="6858000" cy="731520"/>
          </a:xfrm>
          <a:prstGeom prst="rect">
            <a:avLst/>
          </a:prstGeom>
          <a:noFill/>
          <a:ln/>
        </p:spPr>
        <p:txBody>
          <a:bodyPr wrap="square" lIns="0" tIns="0" rIns="0" bIns="0" rtlCol="0" anchor="t"/>
          <a:lstStyle/>
          <a:p>
            <a:pPr indent="0" marL="0">
              <a:spcAft>
                <a:spcPts val="300"/>
              </a:spcAft>
              <a:buNone/>
            </a:pPr>
            <a:r>
              <a:rPr lang="en-US" sz="1050" dirty="0">
                <a:solidFill>
                  <a:srgbClr val="2B2B2B"/>
                </a:solidFill>
                <a:latin typeface="Verdana" pitchFamily="34" charset="0"/>
                <a:ea typeface="Verdana" pitchFamily="34" charset="-122"/>
                <a:cs typeface="Verdana" pitchFamily="34" charset="-120"/>
              </a:rPr>
              <a:t>Informe anual de la OCDE que recopila, país por país, indicadores de financiación de la PYME a partir de las estadísticas de cada banco central o ministerio.</a:t>
            </a:r>
            <a:endParaRPr lang="en-US" sz="1050" dirty="0"/>
          </a:p>
        </p:txBody>
      </p:sp>
      <p:sp>
        <p:nvSpPr>
          <p:cNvPr id="14" name="Text 12"/>
          <p:cNvSpPr txBox="1"/>
          <p:nvPr/>
        </p:nvSpPr>
        <p:spPr>
          <a:xfrm>
            <a:off x="4709160" y="2011680"/>
            <a:ext cx="685800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Qué hemos obtenido</a:t>
            </a:r>
            <a:endParaRPr lang="en-US" sz="1250" dirty="0"/>
          </a:p>
        </p:txBody>
      </p:sp>
      <p:sp>
        <p:nvSpPr>
          <p:cNvPr id="15" name="Text 13"/>
          <p:cNvSpPr txBox="1"/>
          <p:nvPr/>
        </p:nvSpPr>
        <p:spPr>
          <a:xfrm>
            <a:off x="4709160" y="2322576"/>
            <a:ext cx="6858000" cy="141732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2B2B2B"/>
                </a:solidFill>
                <a:latin typeface="Verdana" pitchFamily="34" charset="0"/>
                <a:ea typeface="Verdana" pitchFamily="34" charset="-122"/>
                <a:cs typeface="Verdana" pitchFamily="34" charset="-120"/>
              </a:rPr>
              <a:t>Spread entre el tipo del préstamo PYME y el de la gran empresa, 2007–2022</a:t>
            </a:r>
            <a:endParaRPr lang="en-US" sz="1050" dirty="0"/>
          </a:p>
          <a:p>
            <a:pPr marL="342900" indent="-342900">
              <a:spcAft>
                <a:spcPts val="300"/>
              </a:spcAft>
              <a:buSzPct val="100000"/>
              <a:buChar char="•"/>
            </a:pPr>
            <a:r>
              <a:rPr lang="en-US" sz="1050" dirty="0">
                <a:solidFill>
                  <a:srgbClr val="2B2B2B"/>
                </a:solidFill>
                <a:latin typeface="Verdana" pitchFamily="34" charset="0"/>
                <a:ea typeface="Verdana" pitchFamily="34" charset="-122"/>
                <a:cs typeface="Verdana" pitchFamily="34" charset="-120"/>
              </a:rPr>
              <a:t>Mora, rechazo, retrasos de pago y préstamos con aval público</a:t>
            </a:r>
            <a:endParaRPr lang="en-US" sz="1050" dirty="0"/>
          </a:p>
          <a:p>
            <a:pPr marL="342900" indent="-342900">
              <a:spcAft>
                <a:spcPts val="300"/>
              </a:spcAft>
              <a:buSzPct val="100000"/>
              <a:buChar char="•"/>
            </a:pPr>
            <a:r>
              <a:rPr lang="en-US" sz="1050" dirty="0">
                <a:solidFill>
                  <a:srgbClr val="2B2B2B"/>
                </a:solidFill>
                <a:latin typeface="Verdana" pitchFamily="34" charset="0"/>
                <a:ea typeface="Verdana" pitchFamily="34" charset="-122"/>
                <a:cs typeface="Verdana" pitchFamily="34" charset="-120"/>
              </a:rPr>
              <a:t>Volumen de factoring</a:t>
            </a:r>
            <a:endParaRPr lang="en-US" sz="1050" dirty="0"/>
          </a:p>
        </p:txBody>
      </p:sp>
      <p:sp>
        <p:nvSpPr>
          <p:cNvPr id="16" name="Text 14"/>
          <p:cNvSpPr txBox="1"/>
          <p:nvPr/>
        </p:nvSpPr>
        <p:spPr>
          <a:xfrm>
            <a:off x="4709160" y="3886200"/>
            <a:ext cx="685800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Por qué aplica a PYME, y hasta dónde</a:t>
            </a:r>
            <a:endParaRPr lang="en-US" sz="1250" dirty="0"/>
          </a:p>
        </p:txBody>
      </p:sp>
      <p:sp>
        <p:nvSpPr>
          <p:cNvPr id="17" name="Text 15"/>
          <p:cNvSpPr txBox="1"/>
          <p:nvPr/>
        </p:nvSpPr>
        <p:spPr>
          <a:xfrm>
            <a:off x="4709160" y="4197096"/>
            <a:ext cx="6858000" cy="1234440"/>
          </a:xfrm>
          <a:prstGeom prst="rect">
            <a:avLst/>
          </a:prstGeom>
          <a:noFill/>
          <a:ln/>
        </p:spPr>
        <p:txBody>
          <a:bodyPr wrap="square" lIns="0" tIns="0" rIns="0" bIns="0" rtlCol="0" anchor="t"/>
          <a:lstStyle/>
          <a:p>
            <a:pPr indent="0" marL="0">
              <a:spcAft>
                <a:spcPts val="300"/>
              </a:spcAft>
              <a:buNone/>
            </a:pPr>
            <a:r>
              <a:rPr lang="en-US" sz="1050" dirty="0">
                <a:solidFill>
                  <a:srgbClr val="2B2B2B"/>
                </a:solidFill>
                <a:latin typeface="Verdana" pitchFamily="34" charset="0"/>
                <a:ea typeface="Verdana" pitchFamily="34" charset="-122"/>
                <a:cs typeface="Verdana" pitchFamily="34" charset="-120"/>
              </a:rPr>
              <a:t>Cada país reporta con SU definición nacional de PYME: unos por tamaño de empresa, otros por importe del préstamo. La OCDE lo documenta en una ficha metodológica por país. Sirve para ver tendencias dentro de cada país, no para comparar niveles entre países. Alemania no publica el spread.</a:t>
            </a:r>
            <a:endParaRPr lang="en-US" sz="1050" dirty="0"/>
          </a:p>
        </p:txBody>
      </p:sp>
      <p:sp>
        <p:nvSpPr>
          <p:cNvPr id="18" name="Text 16"/>
          <p:cNvSpPr txBox="1"/>
          <p:nvPr/>
        </p:nvSpPr>
        <p:spPr>
          <a:xfrm>
            <a:off x="4709160" y="5806440"/>
            <a:ext cx="6858000" cy="384048"/>
          </a:xfrm>
          <a:prstGeom prst="rect">
            <a:avLst/>
          </a:prstGeom>
          <a:noFill/>
          <a:ln/>
        </p:spPr>
        <p:txBody>
          <a:bodyPr wrap="square" lIns="0" tIns="0" rIns="0" bIns="0" rtlCol="0" anchor="ctr"/>
          <a:lstStyle/>
          <a:p>
            <a:pPr indent="0" marL="0">
              <a:buNone/>
            </a:pPr>
            <a:r>
              <a:rPr lang="en-US" sz="850" i="1" dirty="0">
                <a:solidFill>
                  <a:srgbClr val="818181"/>
                </a:solidFill>
                <a:latin typeface="Verdana" pitchFamily="34" charset="0"/>
                <a:ea typeface="Verdana" pitchFamily="34" charset="-122"/>
                <a:cs typeface="Verdana" pitchFamily="34" charset="-120"/>
              </a:rPr>
              <a:t>Seis países, sin Alemania · anual · último dato 2022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3" name="Text 1"/>
          <p:cNvSpPr txBox="1"/>
          <p:nvPr/>
        </p:nvSpPr>
        <p:spPr>
          <a:xfrm>
            <a:off x="621792" y="6583680"/>
            <a:ext cx="548640" cy="182880"/>
          </a:xfrm>
          <a:prstGeom prst="rect">
            <a:avLst/>
          </a:prstGeom>
          <a:noFill/>
          <a:ln/>
        </p:spPr>
        <p:txBody>
          <a:bodyPr wrap="square" lIns="0" tIns="0" rIns="0" bIns="0" rtlCol="0" anchor="ctr"/>
          <a:lstStyle/>
          <a:p>
            <a:pPr indent="0" marL="0">
              <a:buNone/>
            </a:pPr>
            <a:r>
              <a:rPr lang="en-US" sz="800" dirty="0">
                <a:solidFill>
                  <a:srgbClr val="CACACA"/>
                </a:solidFill>
                <a:latin typeface="Verdana" pitchFamily="34" charset="0"/>
                <a:ea typeface="Verdana" pitchFamily="34" charset="-122"/>
                <a:cs typeface="Verdana" pitchFamily="34" charset="-120"/>
              </a:rPr>
              <a:t>22</a:t>
            </a:r>
            <a:endParaRPr lang="en-US" sz="800" dirty="0"/>
          </a:p>
        </p:txBody>
      </p:sp>
      <p:sp>
        <p:nvSpPr>
          <p:cNvPr id="4" name="Text 2"/>
          <p:cNvSpPr txBox="1"/>
          <p:nvPr/>
        </p:nvSpPr>
        <p:spPr>
          <a:xfrm>
            <a:off x="621792" y="420624"/>
            <a:ext cx="8430768" cy="658368"/>
          </a:xfrm>
          <a:prstGeom prst="rect">
            <a:avLst/>
          </a:prstGeom>
          <a:noFill/>
          <a:ln/>
        </p:spPr>
        <p:txBody>
          <a:bodyPr wrap="square" lIns="0" tIns="0" rIns="0" bIns="0" rtlCol="0" anchor="t"/>
          <a:lstStyle/>
          <a:p>
            <a:pPr indent="0" marL="0">
              <a:buNone/>
            </a:pPr>
            <a:r>
              <a:rPr lang="en-US" sz="2100" b="1" dirty="0">
                <a:solidFill>
                  <a:srgbClr val="2B2B2B"/>
                </a:solidFill>
                <a:latin typeface="Verdana" pitchFamily="34" charset="0"/>
                <a:ea typeface="Verdana" pitchFamily="34" charset="-122"/>
                <a:cs typeface="Verdana" pitchFamily="34" charset="-120"/>
              </a:rPr>
              <a:t>Una fuente distinta confirma lo mismo: el spread PYME español se ha comprimido</a:t>
            </a:r>
            <a:endParaRPr lang="en-US" sz="2100" dirty="0"/>
          </a:p>
        </p:txBody>
      </p:sp>
      <p:sp>
        <p:nvSpPr>
          <p:cNvPr id="5" name="Text 3"/>
          <p:cNvSpPr txBox="1"/>
          <p:nvPr/>
        </p:nvSpPr>
        <p:spPr>
          <a:xfrm>
            <a:off x="621792" y="1097280"/>
            <a:ext cx="10945368" cy="329184"/>
          </a:xfrm>
          <a:prstGeom prst="rect">
            <a:avLst/>
          </a:prstGeom>
          <a:noFill/>
          <a:ln/>
        </p:spPr>
        <p:txBody>
          <a:bodyPr wrap="square" lIns="0" tIns="0" rIns="0" bIns="0" rtlCol="0" anchor="ctr"/>
          <a:lstStyle/>
          <a:p>
            <a:pPr indent="0" marL="0">
              <a:buNone/>
            </a:pPr>
            <a:r>
              <a:rPr lang="en-US" sz="1000" dirty="0">
                <a:solidFill>
                  <a:srgbClr val="818181"/>
                </a:solidFill>
                <a:latin typeface="Verdana" pitchFamily="34" charset="0"/>
                <a:ea typeface="Verdana" pitchFamily="34" charset="-122"/>
                <a:cs typeface="Verdana" pitchFamily="34" charset="-120"/>
              </a:rPr>
              <a:t>Spread entre el tipo del préstamo PYME y el de la gran empresa, en puntos básicos · Definición nacional de cada país</a:t>
            </a:r>
            <a:endParaRPr lang="en-US" sz="1000" dirty="0"/>
          </a:p>
        </p:txBody>
      </p:sp>
      <p:sp>
        <p:nvSpPr>
          <p:cNvPr id="6" name="Shape 4"/>
          <p:cNvSpPr/>
          <p:nvPr/>
        </p:nvSpPr>
        <p:spPr>
          <a:xfrm>
            <a:off x="9235440" y="640080"/>
            <a:ext cx="2331720" cy="365760"/>
          </a:xfrm>
          <a:prstGeom prst="roundRect">
            <a:avLst>
              <a:gd name="adj" fmla="val 15000"/>
            </a:avLst>
          </a:prstGeom>
          <a:solidFill>
            <a:srgbClr val="FFCCE8"/>
          </a:solidFill>
          <a:ln w="12700">
            <a:solidFill>
              <a:srgbClr val="FFCCE8"/>
            </a:solidFill>
            <a:prstDash val="solid"/>
          </a:ln>
        </p:spPr>
      </p:sp>
      <p:sp>
        <p:nvSpPr>
          <p:cNvPr id="7" name="Text 5"/>
          <p:cNvSpPr txBox="1"/>
          <p:nvPr/>
        </p:nvSpPr>
        <p:spPr>
          <a:xfrm>
            <a:off x="9308592" y="658368"/>
            <a:ext cx="2185416" cy="329184"/>
          </a:xfrm>
          <a:prstGeom prst="rect">
            <a:avLst/>
          </a:prstGeom>
          <a:noFill/>
          <a:ln/>
        </p:spPr>
        <p:txBody>
          <a:bodyPr wrap="square" lIns="0" tIns="0" rIns="0" bIns="0" rtlCol="0" anchor="ctr"/>
          <a:lstStyle/>
          <a:p>
            <a:pPr indent="0" marL="0">
              <a:buNone/>
            </a:pPr>
            <a:r>
              <a:rPr lang="en-US" sz="750" b="1" dirty="0">
                <a:solidFill>
                  <a:srgbClr val="2B2B2B"/>
                </a:solidFill>
                <a:latin typeface="Verdana" pitchFamily="34" charset="0"/>
                <a:ea typeface="Verdana" pitchFamily="34" charset="-122"/>
                <a:cs typeface="Verdana" pitchFamily="34" charset="-120"/>
              </a:rPr>
              <a:t>PYME · definición nacional de cada país</a:t>
            </a:r>
            <a:endParaRPr lang="en-US" sz="750" dirty="0"/>
          </a:p>
        </p:txBody>
      </p:sp>
      <p:graphicFrame>
        <p:nvGraphicFramePr>
          <p:cNvPr id="8" name="Chart 0" descr=""/>
          <p:cNvGraphicFramePr/>
          <p:nvPr/>
        </p:nvGraphicFramePr>
        <p:xfrm>
          <a:off x="621792" y="1554480"/>
          <a:ext cx="7269480" cy="397764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713232" y="5605272"/>
            <a:ext cx="201168" cy="109728"/>
          </a:xfrm>
          <a:prstGeom prst="rect">
            <a:avLst/>
          </a:prstGeom>
          <a:solidFill>
            <a:srgbClr val="F56600"/>
          </a:solidFill>
          <a:ln w="12700">
            <a:solidFill>
              <a:srgbClr val="F56600"/>
            </a:solidFill>
            <a:prstDash val="solid"/>
          </a:ln>
        </p:spPr>
      </p:sp>
      <p:sp>
        <p:nvSpPr>
          <p:cNvPr id="10" name="Text 7"/>
          <p:cNvSpPr txBox="1"/>
          <p:nvPr/>
        </p:nvSpPr>
        <p:spPr>
          <a:xfrm>
            <a:off x="969264" y="5550408"/>
            <a:ext cx="822960" cy="219456"/>
          </a:xfrm>
          <a:prstGeom prst="rect">
            <a:avLst/>
          </a:prstGeom>
          <a:noFill/>
          <a:ln/>
        </p:spPr>
        <p:txBody>
          <a:bodyPr wrap="square" lIns="0" tIns="0" rIns="0" bIns="0" rtlCol="0" anchor="ctr"/>
          <a:lstStyle/>
          <a:p>
            <a:pPr indent="0" marL="0">
              <a:buNone/>
            </a:pPr>
            <a:r>
              <a:rPr lang="en-US" sz="850" dirty="0">
                <a:solidFill>
                  <a:srgbClr val="2B2B2B"/>
                </a:solidFill>
                <a:latin typeface="Verdana" pitchFamily="34" charset="0"/>
                <a:ea typeface="Verdana" pitchFamily="34" charset="-122"/>
                <a:cs typeface="Verdana" pitchFamily="34" charset="-120"/>
              </a:rPr>
              <a:t>España</a:t>
            </a:r>
            <a:endParaRPr lang="en-US" sz="850" dirty="0"/>
          </a:p>
        </p:txBody>
      </p:sp>
      <p:sp>
        <p:nvSpPr>
          <p:cNvPr id="11" name="Shape 8"/>
          <p:cNvSpPr/>
          <p:nvPr/>
        </p:nvSpPr>
        <p:spPr>
          <a:xfrm>
            <a:off x="1975104" y="5605272"/>
            <a:ext cx="201168" cy="109728"/>
          </a:xfrm>
          <a:prstGeom prst="rect">
            <a:avLst/>
          </a:prstGeom>
          <a:solidFill>
            <a:srgbClr val="B9B9B9"/>
          </a:solidFill>
          <a:ln w="12700">
            <a:solidFill>
              <a:srgbClr val="B9B9B9"/>
            </a:solidFill>
            <a:prstDash val="solid"/>
          </a:ln>
        </p:spPr>
      </p:sp>
      <p:sp>
        <p:nvSpPr>
          <p:cNvPr id="12" name="Text 9"/>
          <p:cNvSpPr txBox="1"/>
          <p:nvPr/>
        </p:nvSpPr>
        <p:spPr>
          <a:xfrm>
            <a:off x="2231136" y="5550408"/>
            <a:ext cx="1371600" cy="219456"/>
          </a:xfrm>
          <a:prstGeom prst="rect">
            <a:avLst/>
          </a:prstGeom>
          <a:noFill/>
          <a:ln/>
        </p:spPr>
        <p:txBody>
          <a:bodyPr wrap="square" lIns="0" tIns="0" rIns="0" bIns="0" rtlCol="0" anchor="ctr"/>
          <a:lstStyle/>
          <a:p>
            <a:pPr indent="0" marL="0">
              <a:buNone/>
            </a:pPr>
            <a:r>
              <a:rPr lang="en-US" sz="850" dirty="0">
                <a:solidFill>
                  <a:srgbClr val="2B2B2B"/>
                </a:solidFill>
                <a:latin typeface="Verdana" pitchFamily="34" charset="0"/>
                <a:ea typeface="Verdana" pitchFamily="34" charset="-122"/>
                <a:cs typeface="Verdana" pitchFamily="34" charset="-120"/>
              </a:rPr>
              <a:t>resto de países</a:t>
            </a:r>
            <a:endParaRPr lang="en-US" sz="8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8275320" y="1554480"/>
          <a:ext cx="3291840" cy="914400"/>
        </p:xfrm>
        <a:graphic>
          <a:graphicData uri="http://schemas.openxmlformats.org/drawingml/2006/table">
            <a:tbl>
              <a:tblPr/>
              <a:tblGrid>
                <a:gridCol w="1280160"/>
                <a:gridCol w="1005840"/>
                <a:gridCol w="1005840"/>
              </a:tblGrid>
              <a:tr h="274320">
                <a:tc>
                  <a:txBody>
                    <a:bodyPr/>
                    <a:lstStyle/>
                    <a:p>
                      <a:pPr algn="l" indent="0" marL="0">
                        <a:buNone/>
                      </a:pP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2B2B2B"/>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2011</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2B2B2B"/>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2022</a:t>
                      </a:r>
                      <a:endParaRPr lang="en-US" sz="85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2B2B2B"/>
                    </a:solidFill>
                  </a:tcPr>
                </a:tc>
              </a:tr>
              <a:tr h="274320">
                <a:tc>
                  <a:txBody>
                    <a:bodyPr/>
                    <a:lstStyle/>
                    <a:p>
                      <a:pPr algn="l" indent="0" marL="0">
                        <a:buNone/>
                      </a:pPr>
                      <a:r>
                        <a:rPr lang="en-US" sz="900" b="1" dirty="0">
                          <a:solidFill>
                            <a:srgbClr val="F56600"/>
                          </a:solidFill>
                          <a:latin typeface="Verdana" pitchFamily="34" charset="0"/>
                          <a:ea typeface="Verdana" pitchFamily="34" charset="-122"/>
                          <a:cs typeface="Verdana" pitchFamily="34" charset="-120"/>
                        </a:rPr>
                        <a:t>España</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4C2"/>
                    </a:solidFill>
                  </a:tcPr>
                </a:tc>
                <a:tc>
                  <a:txBody>
                    <a:bodyPr/>
                    <a:lstStyle/>
                    <a:p>
                      <a:pPr algn="ctr" indent="0" marL="0">
                        <a:buNone/>
                      </a:pPr>
                      <a:r>
                        <a:rPr lang="en-US" sz="900" b="1" dirty="0">
                          <a:solidFill>
                            <a:srgbClr val="F56600"/>
                          </a:solidFill>
                          <a:latin typeface="Verdana" pitchFamily="34" charset="0"/>
                          <a:ea typeface="Verdana" pitchFamily="34" charset="-122"/>
                          <a:cs typeface="Verdana" pitchFamily="34" charset="-120"/>
                        </a:rPr>
                        <a:t>159</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4C2"/>
                    </a:solidFill>
                  </a:tcPr>
                </a:tc>
                <a:tc>
                  <a:txBody>
                    <a:bodyPr/>
                    <a:lstStyle/>
                    <a:p>
                      <a:pPr algn="ctr" indent="0" marL="0">
                        <a:buNone/>
                      </a:pPr>
                      <a:r>
                        <a:rPr lang="en-US" sz="900" b="1" dirty="0">
                          <a:solidFill>
                            <a:srgbClr val="F56600"/>
                          </a:solidFill>
                          <a:latin typeface="Verdana" pitchFamily="34" charset="0"/>
                          <a:ea typeface="Verdana" pitchFamily="34" charset="-122"/>
                          <a:cs typeface="Verdana" pitchFamily="34" charset="-120"/>
                        </a:rPr>
                        <a:t>20</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4C2"/>
                    </a:solidFill>
                  </a:tcPr>
                </a:tc>
              </a:tr>
              <a:tr h="274320">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Francia</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89</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58</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274320">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Italia</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160</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200</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274320">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Portugal</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201</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52</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274320">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P. Bajos</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290</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90</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r h="274320">
                <a:tc>
                  <a:txBody>
                    <a:bodyPr/>
                    <a:lstStyle/>
                    <a:p>
                      <a:pPr algn="l" indent="0" marL="0">
                        <a:buNone/>
                      </a:pPr>
                      <a:r>
                        <a:rPr lang="en-US" sz="900" dirty="0">
                          <a:solidFill>
                            <a:srgbClr val="2B2B2B"/>
                          </a:solidFill>
                          <a:latin typeface="Verdana" pitchFamily="34" charset="0"/>
                          <a:ea typeface="Verdana" pitchFamily="34" charset="-122"/>
                          <a:cs typeface="Verdana" pitchFamily="34" charset="-120"/>
                        </a:rPr>
                        <a:t>Irlanda</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138</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91</a:t>
                      </a:r>
                      <a:endParaRPr lang="en-US" sz="900" dirty="0">
                        <a:latin typeface="Verdana" charset="0"/>
                        <a:ea typeface="Verdana" charset="0"/>
                        <a:cs typeface="Verdana" charset="0"/>
                      </a:endParaRPr>
                    </a:p>
                  </a:txBody>
                  <a:tcPr marL="50800" marR="50800" marT="12700" marB="12700" anchor="ctr">
                    <a:lnL w="6350" cap="flat" cmpd="sng" algn="ctr">
                      <a:solidFill>
                        <a:srgbClr val="CACACA"/>
                      </a:solidFill>
                      <a:prstDash val="solid"/>
                      <a:round/>
                      <a:headEnd type="none" w="med" len="med"/>
                      <a:tailEnd type="none" w="med" len="med"/>
                    </a:lnL>
                    <a:lnR w="6350" cap="flat" cmpd="sng" algn="ctr">
                      <a:solidFill>
                        <a:srgbClr val="CACACA"/>
                      </a:solidFill>
                      <a:prstDash val="solid"/>
                      <a:round/>
                      <a:headEnd type="none" w="med" len="med"/>
                      <a:tailEnd type="none" w="med" len="med"/>
                    </a:lnR>
                    <a:lnT w="6350" cap="flat" cmpd="sng" algn="ctr">
                      <a:solidFill>
                        <a:srgbClr val="CACACA"/>
                      </a:solidFill>
                      <a:prstDash val="solid"/>
                      <a:round/>
                      <a:headEnd type="none" w="med" len="med"/>
                      <a:tailEnd type="none" w="med" len="med"/>
                    </a:lnT>
                    <a:lnB w="6350" cap="flat" cmpd="sng" algn="ctr">
                      <a:solidFill>
                        <a:srgbClr val="CACACA"/>
                      </a:solidFill>
                      <a:prstDash val="solid"/>
                      <a:round/>
                      <a:headEnd type="none" w="med" len="med"/>
                      <a:tailEnd type="none" w="med" len="med"/>
                    </a:lnB>
                    <a:solidFill>
                      <a:srgbClr val="FFFFFF"/>
                    </a:solidFill>
                  </a:tcPr>
                </a:tc>
              </a:tr>
            </a:tbl>
          </a:graphicData>
        </a:graphic>
      </p:graphicFrame>
      <p:sp>
        <p:nvSpPr>
          <p:cNvPr id="14" name="Shape 10"/>
          <p:cNvSpPr/>
          <p:nvPr/>
        </p:nvSpPr>
        <p:spPr>
          <a:xfrm>
            <a:off x="8275320" y="3657600"/>
            <a:ext cx="3291840" cy="2057400"/>
          </a:xfrm>
          <a:prstGeom prst="roundRect">
            <a:avLst>
              <a:gd name="adj" fmla="val 2222"/>
            </a:avLst>
          </a:prstGeom>
          <a:solidFill>
            <a:srgbClr val="FFF4C2"/>
          </a:solidFill>
          <a:ln w="12700">
            <a:solidFill>
              <a:srgbClr val="FFF4C2"/>
            </a:solidFill>
            <a:prstDash val="solid"/>
          </a:ln>
        </p:spPr>
      </p:sp>
      <p:sp>
        <p:nvSpPr>
          <p:cNvPr id="15" name="Text 11"/>
          <p:cNvSpPr txBox="1"/>
          <p:nvPr/>
        </p:nvSpPr>
        <p:spPr>
          <a:xfrm>
            <a:off x="8476488" y="3785616"/>
            <a:ext cx="2889504" cy="475488"/>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Dos fuentes, dos definiciones, una señal</a:t>
            </a:r>
            <a:endParaRPr lang="en-US" sz="1150" dirty="0"/>
          </a:p>
        </p:txBody>
      </p:sp>
      <p:sp>
        <p:nvSpPr>
          <p:cNvPr id="16" name="Text 12"/>
          <p:cNvSpPr txBox="1"/>
          <p:nvPr/>
        </p:nvSpPr>
        <p:spPr>
          <a:xfrm>
            <a:off x="8476488" y="4297680"/>
            <a:ext cx="2889504" cy="1307592"/>
          </a:xfrm>
          <a:prstGeom prst="rect">
            <a:avLst/>
          </a:prstGeom>
          <a:noFill/>
          <a:ln/>
        </p:spPr>
        <p:txBody>
          <a:bodyPr wrap="square" lIns="0" tIns="0" rIns="0" bIns="0" rtlCol="0" anchor="t"/>
          <a:lstStyle/>
          <a:p>
            <a:pPr indent="0" marL="0">
              <a:buNone/>
            </a:pPr>
            <a:r>
              <a:rPr lang="en-US" sz="950" dirty="0">
                <a:solidFill>
                  <a:srgbClr val="2B2B2B"/>
                </a:solidFill>
                <a:latin typeface="Verdana" pitchFamily="34" charset="0"/>
                <a:ea typeface="Verdana" pitchFamily="34" charset="-122"/>
                <a:cs typeface="Verdana" pitchFamily="34" charset="-120"/>
              </a:rPr>
              <a:t>En España, de 159 pb en 2011 a 20 pb en 2022, el más bajo de los seis. El MIR, que mide otra cosa, lleva la prima a cero en 2026.</a:t>
            </a:r>
            <a:endParaRPr lang="en-US" sz="950" dirty="0"/>
          </a:p>
        </p:txBody>
      </p:sp>
      <p:sp>
        <p:nvSpPr>
          <p:cNvPr id="17" name="Text 13"/>
          <p:cNvSpPr txBox="1"/>
          <p:nvPr/>
        </p:nvSpPr>
        <p:spPr>
          <a:xfrm>
            <a:off x="621792" y="6053328"/>
            <a:ext cx="10945368" cy="475488"/>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OCDE, Financing SMEs and Entrepreneurs Scoreboard, medida INTEREST_RATE_SPREAD. Definición nacional de PYME, no armonizada: se leen tendencias, no niveles entre países. Países Bajos desde 2011.</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F56600"/>
          </a:solidFill>
          <a:ln w="12700">
            <a:solidFill>
              <a:srgbClr val="F56600"/>
            </a:solidFill>
            <a:prstDash val="solid"/>
          </a:ln>
        </p:spPr>
      </p:sp>
      <p:sp>
        <p:nvSpPr>
          <p:cNvPr id="3" name="Text 1"/>
          <p:cNvSpPr txBox="1"/>
          <p:nvPr/>
        </p:nvSpPr>
        <p:spPr>
          <a:xfrm>
            <a:off x="621792" y="868680"/>
            <a:ext cx="3200400" cy="292608"/>
          </a:xfrm>
          <a:prstGeom prst="rect">
            <a:avLst/>
          </a:prstGeom>
          <a:noFill/>
          <a:ln/>
        </p:spPr>
        <p:txBody>
          <a:bodyPr wrap="square" lIns="0" tIns="0" rIns="0" bIns="0" rtlCol="0" anchor="ctr"/>
          <a:lstStyle/>
          <a:p>
            <a:pPr indent="0" marL="0">
              <a:buNone/>
            </a:pPr>
            <a:r>
              <a:rPr lang="en-US" sz="1100" b="1" spc="200" kern="0" dirty="0">
                <a:solidFill>
                  <a:srgbClr val="FFFFFF"/>
                </a:solidFill>
                <a:latin typeface="Verdana" pitchFamily="34" charset="0"/>
                <a:ea typeface="Verdana" pitchFamily="34" charset="-122"/>
                <a:cs typeface="Verdana" pitchFamily="34" charset="-120"/>
              </a:rPr>
              <a:t>FUENTE 7</a:t>
            </a:r>
            <a:endParaRPr lang="en-US" sz="1100" dirty="0"/>
          </a:p>
        </p:txBody>
      </p:sp>
      <p:sp>
        <p:nvSpPr>
          <p:cNvPr id="4" name="Text 2"/>
          <p:cNvSpPr txBox="1"/>
          <p:nvPr/>
        </p:nvSpPr>
        <p:spPr>
          <a:xfrm>
            <a:off x="621792" y="1234440"/>
            <a:ext cx="3291840" cy="1417320"/>
          </a:xfrm>
          <a:prstGeom prst="rect">
            <a:avLst/>
          </a:prstGeom>
          <a:noFill/>
          <a:ln/>
        </p:spPr>
        <p:txBody>
          <a:bodyPr wrap="square" lIns="0" tIns="0" rIns="0" bIns="0" rtlCol="0" anchor="t"/>
          <a:lstStyle/>
          <a:p>
            <a:pPr indent="0" marL="0">
              <a:buNone/>
            </a:pPr>
            <a:r>
              <a:rPr lang="en-US" sz="2600" b="1" dirty="0">
                <a:solidFill>
                  <a:srgbClr val="FFFFFF"/>
                </a:solidFill>
                <a:latin typeface="Verdana" pitchFamily="34" charset="0"/>
                <a:ea typeface="Verdana" pitchFamily="34" charset="-122"/>
                <a:cs typeface="Verdana" pitchFamily="34" charset="-120"/>
              </a:rPr>
              <a:t>Boletín Estadístico</a:t>
            </a:r>
            <a:endParaRPr lang="en-US" sz="2600" dirty="0"/>
          </a:p>
        </p:txBody>
      </p:sp>
      <p:sp>
        <p:nvSpPr>
          <p:cNvPr id="5" name="Text 3"/>
          <p:cNvSpPr txBox="1"/>
          <p:nvPr/>
        </p:nvSpPr>
        <p:spPr>
          <a:xfrm>
            <a:off x="621792" y="2697480"/>
            <a:ext cx="3200400" cy="566928"/>
          </a:xfrm>
          <a:prstGeom prst="rect">
            <a:avLst/>
          </a:prstGeom>
          <a:noFill/>
          <a:ln/>
        </p:spPr>
        <p:txBody>
          <a:bodyPr wrap="square" lIns="0" tIns="0" rIns="0" bIns="0" rtlCol="0" anchor="t"/>
          <a:lstStyle/>
          <a:p>
            <a:pPr indent="0" marL="0">
              <a:buNone/>
            </a:pPr>
            <a:r>
              <a:rPr lang="en-US" sz="1050" dirty="0">
                <a:solidFill>
                  <a:srgbClr val="FFFFFF"/>
                </a:solidFill>
                <a:latin typeface="Verdana" pitchFamily="34" charset="0"/>
                <a:ea typeface="Verdana" pitchFamily="34" charset="-122"/>
                <a:cs typeface="Verdana" pitchFamily="34" charset="-120"/>
              </a:rPr>
              <a:t>Banco de España · capítulo 19, tipos de interés</a:t>
            </a:r>
            <a:endParaRPr lang="en-US" sz="1050" dirty="0"/>
          </a:p>
        </p:txBody>
      </p:sp>
      <p:sp>
        <p:nvSpPr>
          <p:cNvPr id="6" name="Shape 4"/>
          <p:cNvSpPr/>
          <p:nvPr/>
        </p:nvSpPr>
        <p:spPr>
          <a:xfrm>
            <a:off x="621792" y="4160520"/>
            <a:ext cx="3154680" cy="1325880"/>
          </a:xfrm>
          <a:prstGeom prst="roundRect">
            <a:avLst>
              <a:gd name="adj" fmla="val 4138"/>
            </a:avLst>
          </a:prstGeom>
          <a:solidFill>
            <a:srgbClr val="FFFFFF"/>
          </a:solidFill>
          <a:ln w="12700">
            <a:solidFill>
              <a:srgbClr val="FFFFFF"/>
            </a:solidFill>
            <a:prstDash val="solid"/>
          </a:ln>
        </p:spPr>
      </p:sp>
      <p:sp>
        <p:nvSpPr>
          <p:cNvPr id="7" name="Text 5"/>
          <p:cNvSpPr txBox="1"/>
          <p:nvPr/>
        </p:nvSpPr>
        <p:spPr>
          <a:xfrm>
            <a:off x="804672" y="4270248"/>
            <a:ext cx="2834640" cy="219456"/>
          </a:xfrm>
          <a:prstGeom prst="rect">
            <a:avLst/>
          </a:prstGeom>
          <a:noFill/>
          <a:ln/>
        </p:spPr>
        <p:txBody>
          <a:bodyPr wrap="square" lIns="0" tIns="0" rIns="0" bIns="0" rtlCol="0" anchor="ctr"/>
          <a:lstStyle/>
          <a:p>
            <a:pPr indent="0" marL="0">
              <a:buNone/>
            </a:pPr>
            <a:r>
              <a:rPr lang="en-US" sz="800" b="1" spc="100" kern="0" dirty="0">
                <a:solidFill>
                  <a:srgbClr val="818181"/>
                </a:solidFill>
                <a:latin typeface="Verdana" pitchFamily="34" charset="0"/>
                <a:ea typeface="Verdana" pitchFamily="34" charset="-122"/>
                <a:cs typeface="Verdana" pitchFamily="34" charset="-120"/>
              </a:rPr>
              <a:t>QUÉ LLAMA PYME</a:t>
            </a:r>
            <a:endParaRPr lang="en-US" sz="800" dirty="0"/>
          </a:p>
        </p:txBody>
      </p:sp>
      <p:sp>
        <p:nvSpPr>
          <p:cNvPr id="8" name="Text 6"/>
          <p:cNvSpPr txBox="1"/>
          <p:nvPr/>
        </p:nvSpPr>
        <p:spPr>
          <a:xfrm>
            <a:off x="804672" y="4507992"/>
            <a:ext cx="2834640" cy="502920"/>
          </a:xfrm>
          <a:prstGeom prst="rect">
            <a:avLst/>
          </a:prstGeom>
          <a:noFill/>
          <a:ln/>
        </p:spPr>
        <p:txBody>
          <a:bodyPr wrap="square" lIns="0" tIns="0" rIns="0" bIns="0" rtlCol="0" anchor="t"/>
          <a:lstStyle/>
          <a:p>
            <a:pPr indent="0" marL="0">
              <a:buNone/>
            </a:pPr>
            <a:r>
              <a:rPr lang="en-US" sz="1200" b="1" dirty="0">
                <a:solidFill>
                  <a:srgbClr val="2B2B2B"/>
                </a:solidFill>
                <a:latin typeface="Verdana" pitchFamily="34" charset="0"/>
                <a:ea typeface="Verdana" pitchFamily="34" charset="-122"/>
                <a:cs typeface="Verdana" pitchFamily="34" charset="-120"/>
              </a:rPr>
              <a:t>importe del préstamo, no la empresa</a:t>
            </a:r>
            <a:endParaRPr lang="en-US" sz="1200" dirty="0"/>
          </a:p>
        </p:txBody>
      </p:sp>
      <p:sp>
        <p:nvSpPr>
          <p:cNvPr id="9" name="Shape 7"/>
          <p:cNvSpPr/>
          <p:nvPr/>
        </p:nvSpPr>
        <p:spPr>
          <a:xfrm>
            <a:off x="804672" y="5074920"/>
            <a:ext cx="2788920" cy="274320"/>
          </a:xfrm>
          <a:prstGeom prst="roundRect">
            <a:avLst>
              <a:gd name="adj" fmla="val 26667"/>
            </a:avLst>
          </a:prstGeom>
          <a:solidFill>
            <a:srgbClr val="FFCCE8"/>
          </a:solidFill>
          <a:ln w="12700">
            <a:solidFill>
              <a:srgbClr val="FFCCE8"/>
            </a:solidFill>
            <a:prstDash val="solid"/>
          </a:ln>
        </p:spPr>
      </p:sp>
      <p:sp>
        <p:nvSpPr>
          <p:cNvPr id="10" name="Text 8"/>
          <p:cNvSpPr txBox="1"/>
          <p:nvPr/>
        </p:nvSpPr>
        <p:spPr>
          <a:xfrm>
            <a:off x="804672" y="5074920"/>
            <a:ext cx="2788920" cy="274320"/>
          </a:xfrm>
          <a:prstGeom prst="rect">
            <a:avLst/>
          </a:prstGeom>
          <a:noFill/>
          <a:ln/>
        </p:spPr>
        <p:txBody>
          <a:bodyPr wrap="square" lIns="0" tIns="0" rIns="0" bIns="0" rtlCol="0" anchor="ctr"/>
          <a:lstStyle/>
          <a:p>
            <a:pPr algn="ctr" indent="0" marL="0">
              <a:buNone/>
            </a:pPr>
            <a:r>
              <a:rPr lang="en-US" sz="850" b="1" dirty="0">
                <a:solidFill>
                  <a:srgbClr val="2B2B2B"/>
                </a:solidFill>
                <a:latin typeface="Verdana" pitchFamily="34" charset="0"/>
                <a:ea typeface="Verdana" pitchFamily="34" charset="-122"/>
                <a:cs typeface="Verdana" pitchFamily="34" charset="-120"/>
              </a:rPr>
              <a:t>No mide el tamaño de la empresa</a:t>
            </a:r>
            <a:endParaRPr lang="en-US" sz="850" dirty="0"/>
          </a:p>
        </p:txBody>
      </p:sp>
      <p:sp>
        <p:nvSpPr>
          <p:cNvPr id="11" name="Text 9"/>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12" name="Text 10"/>
          <p:cNvSpPr txBox="1"/>
          <p:nvPr/>
        </p:nvSpPr>
        <p:spPr>
          <a:xfrm>
            <a:off x="4709160" y="868680"/>
            <a:ext cx="685800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Qué es</a:t>
            </a:r>
            <a:endParaRPr lang="en-US" sz="1250" dirty="0"/>
          </a:p>
        </p:txBody>
      </p:sp>
      <p:sp>
        <p:nvSpPr>
          <p:cNvPr id="13" name="Text 11"/>
          <p:cNvSpPr txBox="1"/>
          <p:nvPr/>
        </p:nvSpPr>
        <p:spPr>
          <a:xfrm>
            <a:off x="4709160" y="1179576"/>
            <a:ext cx="6858000" cy="731520"/>
          </a:xfrm>
          <a:prstGeom prst="rect">
            <a:avLst/>
          </a:prstGeom>
          <a:noFill/>
          <a:ln/>
        </p:spPr>
        <p:txBody>
          <a:bodyPr wrap="square" lIns="0" tIns="0" rIns="0" bIns="0" rtlCol="0" anchor="t"/>
          <a:lstStyle/>
          <a:p>
            <a:pPr indent="0" marL="0">
              <a:spcAft>
                <a:spcPts val="300"/>
              </a:spcAft>
              <a:buNone/>
            </a:pPr>
            <a:r>
              <a:rPr lang="en-US" sz="1050" dirty="0">
                <a:solidFill>
                  <a:srgbClr val="2B2B2B"/>
                </a:solidFill>
                <a:latin typeface="Verdana" pitchFamily="34" charset="0"/>
                <a:ea typeface="Verdana" pitchFamily="34" charset="-122"/>
                <a:cs typeface="Verdana" pitchFamily="34" charset="-120"/>
              </a:rPr>
              <a:t>El Banco de España publica los tipos del crédito nuevo con más detalle que el BCE: con y sin comisiones, y separando a las personas físicas que desarrollan actividades productivas.</a:t>
            </a:r>
            <a:endParaRPr lang="en-US" sz="1050" dirty="0"/>
          </a:p>
        </p:txBody>
      </p:sp>
      <p:sp>
        <p:nvSpPr>
          <p:cNvPr id="14" name="Text 12"/>
          <p:cNvSpPr txBox="1"/>
          <p:nvPr/>
        </p:nvSpPr>
        <p:spPr>
          <a:xfrm>
            <a:off x="4709160" y="2011680"/>
            <a:ext cx="685800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Qué hemos obtenido</a:t>
            </a:r>
            <a:endParaRPr lang="en-US" sz="1250" dirty="0"/>
          </a:p>
        </p:txBody>
      </p:sp>
      <p:sp>
        <p:nvSpPr>
          <p:cNvPr id="15" name="Text 13"/>
          <p:cNvSpPr txBox="1"/>
          <p:nvPr/>
        </p:nvSpPr>
        <p:spPr>
          <a:xfrm>
            <a:off x="4709160" y="2322576"/>
            <a:ext cx="6858000" cy="141732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2B2B2B"/>
                </a:solidFill>
                <a:latin typeface="Verdana" pitchFamily="34" charset="0"/>
                <a:ea typeface="Verdana" pitchFamily="34" charset="-122"/>
                <a:cs typeface="Verdana" pitchFamily="34" charset="-120"/>
              </a:rPr>
              <a:t>Tipo con comisiones (TAE) y sin ellas (TEDR) por tramo de importe: la cuña es la comisión</a:t>
            </a:r>
            <a:endParaRPr lang="en-US" sz="1050" dirty="0"/>
          </a:p>
          <a:p>
            <a:pPr marL="342900" indent="-342900">
              <a:spcAft>
                <a:spcPts val="300"/>
              </a:spcAft>
              <a:buSzPct val="100000"/>
              <a:buChar char="•"/>
            </a:pPr>
            <a:r>
              <a:rPr lang="en-US" sz="1050" dirty="0">
                <a:solidFill>
                  <a:srgbClr val="2B2B2B"/>
                </a:solidFill>
                <a:latin typeface="Verdana" pitchFamily="34" charset="0"/>
                <a:ea typeface="Verdana" pitchFamily="34" charset="-122"/>
                <a:cs typeface="Verdana" pitchFamily="34" charset="-120"/>
              </a:rPr>
              <a:t>Tipo, TAE y volumen del crédito a autónomos</a:t>
            </a:r>
            <a:endParaRPr lang="en-US" sz="1050" dirty="0"/>
          </a:p>
          <a:p>
            <a:pPr marL="342900" indent="-342900">
              <a:spcAft>
                <a:spcPts val="300"/>
              </a:spcAft>
              <a:buSzPct val="100000"/>
              <a:buChar char="•"/>
            </a:pPr>
            <a:r>
              <a:rPr lang="en-US" sz="1050" dirty="0">
                <a:solidFill>
                  <a:srgbClr val="2B2B2B"/>
                </a:solidFill>
                <a:latin typeface="Verdana" pitchFamily="34" charset="0"/>
                <a:ea typeface="Verdana" pitchFamily="34" charset="-122"/>
                <a:cs typeface="Verdana" pitchFamily="34" charset="-120"/>
              </a:rPr>
              <a:t>Tipo y saldo del circulante en España</a:t>
            </a:r>
            <a:endParaRPr lang="en-US" sz="1050" dirty="0"/>
          </a:p>
        </p:txBody>
      </p:sp>
      <p:sp>
        <p:nvSpPr>
          <p:cNvPr id="16" name="Text 14"/>
          <p:cNvSpPr txBox="1"/>
          <p:nvPr/>
        </p:nvSpPr>
        <p:spPr>
          <a:xfrm>
            <a:off x="4709160" y="3886200"/>
            <a:ext cx="685800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Por qué aplica a PYME, y hasta dónde</a:t>
            </a:r>
            <a:endParaRPr lang="en-US" sz="1250" dirty="0"/>
          </a:p>
        </p:txBody>
      </p:sp>
      <p:sp>
        <p:nvSpPr>
          <p:cNvPr id="17" name="Text 15"/>
          <p:cNvSpPr txBox="1"/>
          <p:nvPr/>
        </p:nvSpPr>
        <p:spPr>
          <a:xfrm>
            <a:off x="4709160" y="4197096"/>
            <a:ext cx="6858000" cy="1234440"/>
          </a:xfrm>
          <a:prstGeom prst="rect">
            <a:avLst/>
          </a:prstGeom>
          <a:noFill/>
          <a:ln/>
        </p:spPr>
        <p:txBody>
          <a:bodyPr wrap="square" lIns="0" tIns="0" rIns="0" bIns="0" rtlCol="0" anchor="t"/>
          <a:lstStyle/>
          <a:p>
            <a:pPr indent="0" marL="0">
              <a:spcAft>
                <a:spcPts val="300"/>
              </a:spcAft>
              <a:buNone/>
            </a:pPr>
            <a:r>
              <a:rPr lang="en-US" sz="1050" dirty="0">
                <a:solidFill>
                  <a:srgbClr val="2B2B2B"/>
                </a:solidFill>
                <a:latin typeface="Verdana" pitchFamily="34" charset="0"/>
                <a:ea typeface="Verdana" pitchFamily="34" charset="-122"/>
                <a:cs typeface="Verdana" pitchFamily="34" charset="-120"/>
              </a:rPr>
              <a:t>Los tramos son de IMPORTE, como en el MIR: el mismo proxy de PYME, con sus mismos límites. Es la única fuente de los siete países que publica la comisión del crédito a empresas. El autónomo aparece aparte, como persona física: está fuera de todas las estadísticas de sociedades.</a:t>
            </a:r>
            <a:endParaRPr lang="en-US" sz="1050" dirty="0"/>
          </a:p>
        </p:txBody>
      </p:sp>
      <p:sp>
        <p:nvSpPr>
          <p:cNvPr id="18" name="Text 16"/>
          <p:cNvSpPr txBox="1"/>
          <p:nvPr/>
        </p:nvSpPr>
        <p:spPr>
          <a:xfrm>
            <a:off x="4709160" y="5806440"/>
            <a:ext cx="6858000" cy="384048"/>
          </a:xfrm>
          <a:prstGeom prst="rect">
            <a:avLst/>
          </a:prstGeom>
          <a:noFill/>
          <a:ln/>
        </p:spPr>
        <p:txBody>
          <a:bodyPr wrap="square" lIns="0" tIns="0" rIns="0" bIns="0" rtlCol="0" anchor="ctr"/>
          <a:lstStyle/>
          <a:p>
            <a:pPr indent="0" marL="0">
              <a:buNone/>
            </a:pPr>
            <a:r>
              <a:rPr lang="en-US" sz="850" i="1" dirty="0">
                <a:solidFill>
                  <a:srgbClr val="818181"/>
                </a:solidFill>
                <a:latin typeface="Verdana" pitchFamily="34" charset="0"/>
                <a:ea typeface="Verdana" pitchFamily="34" charset="-122"/>
                <a:cs typeface="Verdana" pitchFamily="34" charset="-120"/>
              </a:rPr>
              <a:t>España · mensual · 2026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3" name="Text 1"/>
          <p:cNvSpPr txBox="1"/>
          <p:nvPr/>
        </p:nvSpPr>
        <p:spPr>
          <a:xfrm>
            <a:off x="621792" y="6583680"/>
            <a:ext cx="548640" cy="182880"/>
          </a:xfrm>
          <a:prstGeom prst="rect">
            <a:avLst/>
          </a:prstGeom>
          <a:noFill/>
          <a:ln/>
        </p:spPr>
        <p:txBody>
          <a:bodyPr wrap="square" lIns="0" tIns="0" rIns="0" bIns="0" rtlCol="0" anchor="ctr"/>
          <a:lstStyle/>
          <a:p>
            <a:pPr indent="0" marL="0">
              <a:buNone/>
            </a:pPr>
            <a:r>
              <a:rPr lang="en-US" sz="800" dirty="0">
                <a:solidFill>
                  <a:srgbClr val="CACACA"/>
                </a:solidFill>
                <a:latin typeface="Verdana" pitchFamily="34" charset="0"/>
                <a:ea typeface="Verdana" pitchFamily="34" charset="-122"/>
                <a:cs typeface="Verdana" pitchFamily="34" charset="-120"/>
              </a:rPr>
              <a:t>24</a:t>
            </a:r>
            <a:endParaRPr lang="en-US" sz="800" dirty="0"/>
          </a:p>
        </p:txBody>
      </p:sp>
      <p:sp>
        <p:nvSpPr>
          <p:cNvPr id="4" name="Text 2"/>
          <p:cNvSpPr txBox="1"/>
          <p:nvPr/>
        </p:nvSpPr>
        <p:spPr>
          <a:xfrm>
            <a:off x="621792" y="420624"/>
            <a:ext cx="8430768" cy="658368"/>
          </a:xfrm>
          <a:prstGeom prst="rect">
            <a:avLst/>
          </a:prstGeom>
          <a:noFill/>
          <a:ln/>
        </p:spPr>
        <p:txBody>
          <a:bodyPr wrap="square" lIns="0" tIns="0" rIns="0" bIns="0" rtlCol="0" anchor="t"/>
          <a:lstStyle/>
          <a:p>
            <a:pPr indent="0" marL="0">
              <a:buNone/>
            </a:pPr>
            <a:r>
              <a:rPr lang="en-US" sz="2100" b="1" dirty="0">
                <a:solidFill>
                  <a:srgbClr val="2B2B2B"/>
                </a:solidFill>
                <a:latin typeface="Verdana" pitchFamily="34" charset="0"/>
                <a:ea typeface="Verdana" pitchFamily="34" charset="-122"/>
                <a:cs typeface="Verdana" pitchFamily="34" charset="-120"/>
              </a:rPr>
              <a:t>La comisión se concentra en el préstamo pequeño</a:t>
            </a:r>
            <a:endParaRPr lang="en-US" sz="2100" dirty="0"/>
          </a:p>
        </p:txBody>
      </p:sp>
      <p:sp>
        <p:nvSpPr>
          <p:cNvPr id="5" name="Text 3"/>
          <p:cNvSpPr txBox="1"/>
          <p:nvPr/>
        </p:nvSpPr>
        <p:spPr>
          <a:xfrm>
            <a:off x="621792" y="1097280"/>
            <a:ext cx="10945368" cy="329184"/>
          </a:xfrm>
          <a:prstGeom prst="rect">
            <a:avLst/>
          </a:prstGeom>
          <a:noFill/>
          <a:ln/>
        </p:spPr>
        <p:txBody>
          <a:bodyPr wrap="square" lIns="0" tIns="0" rIns="0" bIns="0" rtlCol="0" anchor="ctr"/>
          <a:lstStyle/>
          <a:p>
            <a:pPr indent="0" marL="0">
              <a:buNone/>
            </a:pPr>
            <a:r>
              <a:rPr lang="en-US" sz="1000" dirty="0">
                <a:solidFill>
                  <a:srgbClr val="818181"/>
                </a:solidFill>
                <a:latin typeface="Verdana" pitchFamily="34" charset="0"/>
                <a:ea typeface="Verdana" pitchFamily="34" charset="-122"/>
                <a:cs typeface="Verdana" pitchFamily="34" charset="-120"/>
              </a:rPr>
              <a:t>Tipo con comisiones (TAE) y sin ellas (TEDR) del crédito nuevo a empresas por tramo de importe · España, media de 2026 ponderada por volumen</a:t>
            </a:r>
            <a:endParaRPr lang="en-US" sz="1000" dirty="0"/>
          </a:p>
        </p:txBody>
      </p:sp>
      <p:sp>
        <p:nvSpPr>
          <p:cNvPr id="6" name="Shape 4"/>
          <p:cNvSpPr/>
          <p:nvPr/>
        </p:nvSpPr>
        <p:spPr>
          <a:xfrm>
            <a:off x="9235440" y="640080"/>
            <a:ext cx="2331720" cy="365760"/>
          </a:xfrm>
          <a:prstGeom prst="roundRect">
            <a:avLst>
              <a:gd name="adj" fmla="val 15000"/>
            </a:avLst>
          </a:prstGeom>
          <a:solidFill>
            <a:srgbClr val="FFCCE8"/>
          </a:solidFill>
          <a:ln w="12700">
            <a:solidFill>
              <a:srgbClr val="FFCCE8"/>
            </a:solidFill>
            <a:prstDash val="solid"/>
          </a:ln>
        </p:spPr>
      </p:sp>
      <p:sp>
        <p:nvSpPr>
          <p:cNvPr id="7" name="Text 5"/>
          <p:cNvSpPr txBox="1"/>
          <p:nvPr/>
        </p:nvSpPr>
        <p:spPr>
          <a:xfrm>
            <a:off x="9308592" y="658368"/>
            <a:ext cx="2185416" cy="329184"/>
          </a:xfrm>
          <a:prstGeom prst="rect">
            <a:avLst/>
          </a:prstGeom>
          <a:noFill/>
          <a:ln/>
        </p:spPr>
        <p:txBody>
          <a:bodyPr wrap="square" lIns="0" tIns="0" rIns="0" bIns="0" rtlCol="0" anchor="ctr"/>
          <a:lstStyle/>
          <a:p>
            <a:pPr indent="0" marL="0">
              <a:buNone/>
            </a:pPr>
            <a:r>
              <a:rPr lang="en-US" sz="750" b="1" dirty="0">
                <a:solidFill>
                  <a:srgbClr val="2B2B2B"/>
                </a:solidFill>
                <a:latin typeface="Verdana" pitchFamily="34" charset="0"/>
                <a:ea typeface="Verdana" pitchFamily="34" charset="-122"/>
                <a:cs typeface="Verdana" pitchFamily="34" charset="-120"/>
              </a:rPr>
              <a:t>PROXY · importe del préstamo, no la empresa</a:t>
            </a:r>
            <a:endParaRPr lang="en-US" sz="750" dirty="0"/>
          </a:p>
        </p:txBody>
      </p:sp>
      <p:graphicFrame>
        <p:nvGraphicFramePr>
          <p:cNvPr id="8" name="Chart 0" descr=""/>
          <p:cNvGraphicFramePr/>
          <p:nvPr/>
        </p:nvGraphicFramePr>
        <p:xfrm>
          <a:off x="621792" y="1554480"/>
          <a:ext cx="5943600" cy="384048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6812280" y="1554480"/>
            <a:ext cx="2194560" cy="256032"/>
          </a:xfrm>
          <a:prstGeom prst="rect">
            <a:avLst/>
          </a:prstGeom>
          <a:noFill/>
          <a:ln/>
        </p:spPr>
        <p:txBody>
          <a:bodyPr wrap="square" lIns="0" tIns="0" rIns="0" bIns="0" rtlCol="0" anchor="ctr"/>
          <a:lstStyle/>
          <a:p>
            <a:pPr indent="0" marL="0">
              <a:buNone/>
            </a:pPr>
            <a:r>
              <a:rPr lang="en-US" sz="1050" b="1" dirty="0">
                <a:solidFill>
                  <a:srgbClr val="2B2B2B"/>
                </a:solidFill>
                <a:latin typeface="Verdana" pitchFamily="34" charset="0"/>
                <a:ea typeface="Verdana" pitchFamily="34" charset="-122"/>
                <a:cs typeface="Verdana" pitchFamily="34" charset="-120"/>
              </a:rPr>
              <a:t>Cuña de comisiones, pb</a:t>
            </a:r>
            <a:endParaRPr lang="en-US" sz="1050" dirty="0"/>
          </a:p>
        </p:txBody>
      </p:sp>
      <p:sp>
        <p:nvSpPr>
          <p:cNvPr id="10" name="Text 7"/>
          <p:cNvSpPr txBox="1"/>
          <p:nvPr/>
        </p:nvSpPr>
        <p:spPr>
          <a:xfrm>
            <a:off x="6812280" y="1874520"/>
            <a:ext cx="2194560" cy="566928"/>
          </a:xfrm>
          <a:prstGeom prst="rect">
            <a:avLst/>
          </a:prstGeom>
          <a:noFill/>
          <a:ln/>
        </p:spPr>
        <p:txBody>
          <a:bodyPr wrap="square" lIns="0" tIns="0" rIns="0" bIns="0" rtlCol="0" anchor="ctr"/>
          <a:lstStyle/>
          <a:p>
            <a:pPr indent="0" marL="0">
              <a:buNone/>
            </a:pPr>
            <a:r>
              <a:rPr lang="en-US" sz="3000" b="1" dirty="0">
                <a:solidFill>
                  <a:srgbClr val="F56600"/>
                </a:solidFill>
                <a:latin typeface="Verdana" pitchFamily="34" charset="0"/>
                <a:ea typeface="Verdana" pitchFamily="34" charset="-122"/>
                <a:cs typeface="Verdana" pitchFamily="34" charset="-120"/>
              </a:rPr>
              <a:t>103</a:t>
            </a:r>
            <a:endParaRPr lang="en-US" sz="3000" dirty="0"/>
          </a:p>
        </p:txBody>
      </p:sp>
      <p:sp>
        <p:nvSpPr>
          <p:cNvPr id="11" name="Text 8"/>
          <p:cNvSpPr txBox="1"/>
          <p:nvPr/>
        </p:nvSpPr>
        <p:spPr>
          <a:xfrm>
            <a:off x="6812280" y="2459736"/>
            <a:ext cx="2194560" cy="475488"/>
          </a:xfrm>
          <a:prstGeom prst="rect">
            <a:avLst/>
          </a:prstGeom>
          <a:noFill/>
          <a:ln/>
        </p:spPr>
        <p:txBody>
          <a:bodyPr wrap="square" lIns="0" tIns="0" rIns="0" bIns="0" rtlCol="0" anchor="t"/>
          <a:lstStyle/>
          <a:p>
            <a:pPr indent="0" marL="0">
              <a:buNone/>
            </a:pPr>
            <a:r>
              <a:rPr lang="en-US" sz="900" dirty="0">
                <a:solidFill>
                  <a:srgbClr val="2B2B2B"/>
                </a:solidFill>
                <a:latin typeface="Verdana" pitchFamily="34" charset="0"/>
                <a:ea typeface="Verdana" pitchFamily="34" charset="-122"/>
                <a:cs typeface="Verdana" pitchFamily="34" charset="-120"/>
              </a:rPr>
              <a:t>≤0,25 M€</a:t>
            </a:r>
            <a:endParaRPr lang="en-US" sz="900" dirty="0"/>
          </a:p>
        </p:txBody>
      </p:sp>
      <p:sp>
        <p:nvSpPr>
          <p:cNvPr id="12" name="Text 9"/>
          <p:cNvSpPr txBox="1"/>
          <p:nvPr/>
        </p:nvSpPr>
        <p:spPr>
          <a:xfrm>
            <a:off x="6812280" y="3044952"/>
            <a:ext cx="2194560" cy="566928"/>
          </a:xfrm>
          <a:prstGeom prst="rect">
            <a:avLst/>
          </a:prstGeom>
          <a:noFill/>
          <a:ln/>
        </p:spPr>
        <p:txBody>
          <a:bodyPr wrap="square" lIns="0" tIns="0" rIns="0" bIns="0" rtlCol="0" anchor="ctr"/>
          <a:lstStyle/>
          <a:p>
            <a:pPr indent="0" marL="0">
              <a:buNone/>
            </a:pPr>
            <a:r>
              <a:rPr lang="en-US" sz="3000" b="1" dirty="0">
                <a:solidFill>
                  <a:srgbClr val="2B2B2B"/>
                </a:solidFill>
                <a:latin typeface="Verdana" pitchFamily="34" charset="0"/>
                <a:ea typeface="Verdana" pitchFamily="34" charset="-122"/>
                <a:cs typeface="Verdana" pitchFamily="34" charset="-120"/>
              </a:rPr>
              <a:t>35</a:t>
            </a:r>
            <a:endParaRPr lang="en-US" sz="3000" dirty="0"/>
          </a:p>
        </p:txBody>
      </p:sp>
      <p:sp>
        <p:nvSpPr>
          <p:cNvPr id="13" name="Text 10"/>
          <p:cNvSpPr txBox="1"/>
          <p:nvPr/>
        </p:nvSpPr>
        <p:spPr>
          <a:xfrm>
            <a:off x="6812280" y="3630168"/>
            <a:ext cx="2194560" cy="475488"/>
          </a:xfrm>
          <a:prstGeom prst="rect">
            <a:avLst/>
          </a:prstGeom>
          <a:noFill/>
          <a:ln/>
        </p:spPr>
        <p:txBody>
          <a:bodyPr wrap="square" lIns="0" tIns="0" rIns="0" bIns="0" rtlCol="0" anchor="t"/>
          <a:lstStyle/>
          <a:p>
            <a:pPr indent="0" marL="0">
              <a:buNone/>
            </a:pPr>
            <a:r>
              <a:rPr lang="en-US" sz="900" dirty="0">
                <a:solidFill>
                  <a:srgbClr val="2B2B2B"/>
                </a:solidFill>
                <a:latin typeface="Verdana" pitchFamily="34" charset="0"/>
                <a:ea typeface="Verdana" pitchFamily="34" charset="-122"/>
                <a:cs typeface="Verdana" pitchFamily="34" charset="-120"/>
              </a:rPr>
              <a:t>0,25–1 M€</a:t>
            </a:r>
            <a:endParaRPr lang="en-US" sz="900" dirty="0"/>
          </a:p>
        </p:txBody>
      </p:sp>
      <p:sp>
        <p:nvSpPr>
          <p:cNvPr id="14" name="Text 11"/>
          <p:cNvSpPr txBox="1"/>
          <p:nvPr/>
        </p:nvSpPr>
        <p:spPr>
          <a:xfrm>
            <a:off x="6812280" y="4215384"/>
            <a:ext cx="2194560" cy="566928"/>
          </a:xfrm>
          <a:prstGeom prst="rect">
            <a:avLst/>
          </a:prstGeom>
          <a:noFill/>
          <a:ln/>
        </p:spPr>
        <p:txBody>
          <a:bodyPr wrap="square" lIns="0" tIns="0" rIns="0" bIns="0" rtlCol="0" anchor="ctr"/>
          <a:lstStyle/>
          <a:p>
            <a:pPr indent="0" marL="0">
              <a:buNone/>
            </a:pPr>
            <a:r>
              <a:rPr lang="en-US" sz="3000" b="1" dirty="0">
                <a:solidFill>
                  <a:srgbClr val="2B2B2B"/>
                </a:solidFill>
                <a:latin typeface="Verdana" pitchFamily="34" charset="0"/>
                <a:ea typeface="Verdana" pitchFamily="34" charset="-122"/>
                <a:cs typeface="Verdana" pitchFamily="34" charset="-120"/>
              </a:rPr>
              <a:t>18</a:t>
            </a:r>
            <a:endParaRPr lang="en-US" sz="3000" dirty="0"/>
          </a:p>
        </p:txBody>
      </p:sp>
      <p:sp>
        <p:nvSpPr>
          <p:cNvPr id="15" name="Text 12"/>
          <p:cNvSpPr txBox="1"/>
          <p:nvPr/>
        </p:nvSpPr>
        <p:spPr>
          <a:xfrm>
            <a:off x="6812280" y="4800600"/>
            <a:ext cx="2194560" cy="475488"/>
          </a:xfrm>
          <a:prstGeom prst="rect">
            <a:avLst/>
          </a:prstGeom>
          <a:noFill/>
          <a:ln/>
        </p:spPr>
        <p:txBody>
          <a:bodyPr wrap="square" lIns="0" tIns="0" rIns="0" bIns="0" rtlCol="0" anchor="t"/>
          <a:lstStyle/>
          <a:p>
            <a:pPr indent="0" marL="0">
              <a:buNone/>
            </a:pPr>
            <a:r>
              <a:rPr lang="en-US" sz="900" dirty="0">
                <a:solidFill>
                  <a:srgbClr val="2B2B2B"/>
                </a:solidFill>
                <a:latin typeface="Verdana" pitchFamily="34" charset="0"/>
                <a:ea typeface="Verdana" pitchFamily="34" charset="-122"/>
                <a:cs typeface="Verdana" pitchFamily="34" charset="-120"/>
              </a:rPr>
              <a:t>&gt;1 M€</a:t>
            </a:r>
            <a:endParaRPr lang="en-US" sz="900" dirty="0"/>
          </a:p>
        </p:txBody>
      </p:sp>
      <p:sp>
        <p:nvSpPr>
          <p:cNvPr id="16" name="Shape 13"/>
          <p:cNvSpPr/>
          <p:nvPr/>
        </p:nvSpPr>
        <p:spPr>
          <a:xfrm>
            <a:off x="9189720" y="1554480"/>
            <a:ext cx="2377440" cy="1965960"/>
          </a:xfrm>
          <a:prstGeom prst="roundRect">
            <a:avLst>
              <a:gd name="adj" fmla="val 2326"/>
            </a:avLst>
          </a:prstGeom>
          <a:solidFill>
            <a:srgbClr val="FFF4C2"/>
          </a:solidFill>
          <a:ln w="12700">
            <a:solidFill>
              <a:srgbClr val="FFF4C2"/>
            </a:solidFill>
            <a:prstDash val="solid"/>
          </a:ln>
        </p:spPr>
      </p:sp>
      <p:sp>
        <p:nvSpPr>
          <p:cNvPr id="17" name="Text 14"/>
          <p:cNvSpPr txBox="1"/>
          <p:nvPr/>
        </p:nvSpPr>
        <p:spPr>
          <a:xfrm>
            <a:off x="9390888" y="1682496"/>
            <a:ext cx="1975104" cy="27432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El autónomo paga más</a:t>
            </a:r>
            <a:endParaRPr lang="en-US" sz="1150" dirty="0"/>
          </a:p>
        </p:txBody>
      </p:sp>
      <p:sp>
        <p:nvSpPr>
          <p:cNvPr id="18" name="Text 15"/>
          <p:cNvSpPr txBox="1"/>
          <p:nvPr/>
        </p:nvSpPr>
        <p:spPr>
          <a:xfrm>
            <a:off x="9390888" y="1993392"/>
            <a:ext cx="1975104" cy="1417320"/>
          </a:xfrm>
          <a:prstGeom prst="rect">
            <a:avLst/>
          </a:prstGeom>
          <a:noFill/>
          <a:ln/>
        </p:spPr>
        <p:txBody>
          <a:bodyPr wrap="square" lIns="0" tIns="0" rIns="0" bIns="0" rtlCol="0" anchor="t"/>
          <a:lstStyle/>
          <a:p>
            <a:pPr indent="0" marL="0">
              <a:buNone/>
            </a:pPr>
            <a:r>
              <a:rPr lang="en-US" sz="950" dirty="0">
                <a:solidFill>
                  <a:srgbClr val="2B2B2B"/>
                </a:solidFill>
                <a:latin typeface="Verdana" pitchFamily="34" charset="0"/>
                <a:ea typeface="Verdana" pitchFamily="34" charset="-122"/>
                <a:cs typeface="Verdana" pitchFamily="34" charset="-120"/>
              </a:rPr>
              <a:t>4,57 % sin comisiones (TEDR), 115 pb más que la sociedad del tramo pequeño. 840 M€ nuevos al mes.</a:t>
            </a:r>
            <a:endParaRPr lang="en-US" sz="950" dirty="0"/>
          </a:p>
        </p:txBody>
      </p:sp>
      <p:sp>
        <p:nvSpPr>
          <p:cNvPr id="19" name="Shape 16"/>
          <p:cNvSpPr/>
          <p:nvPr/>
        </p:nvSpPr>
        <p:spPr>
          <a:xfrm>
            <a:off x="9189720" y="3657600"/>
            <a:ext cx="2377440" cy="1737360"/>
          </a:xfrm>
          <a:prstGeom prst="roundRect">
            <a:avLst>
              <a:gd name="adj" fmla="val 2632"/>
            </a:avLst>
          </a:prstGeom>
          <a:solidFill>
            <a:srgbClr val="F2F4F6"/>
          </a:solidFill>
          <a:ln w="12700">
            <a:solidFill>
              <a:srgbClr val="F2F4F6"/>
            </a:solidFill>
            <a:prstDash val="solid"/>
          </a:ln>
        </p:spPr>
      </p:sp>
      <p:sp>
        <p:nvSpPr>
          <p:cNvPr id="20" name="Text 17"/>
          <p:cNvSpPr txBox="1"/>
          <p:nvPr/>
        </p:nvSpPr>
        <p:spPr>
          <a:xfrm>
            <a:off x="9390888" y="3785616"/>
            <a:ext cx="1975104" cy="27432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Solo en España</a:t>
            </a:r>
            <a:endParaRPr lang="en-US" sz="1150" dirty="0"/>
          </a:p>
        </p:txBody>
      </p:sp>
      <p:sp>
        <p:nvSpPr>
          <p:cNvPr id="21" name="Text 18"/>
          <p:cNvSpPr txBox="1"/>
          <p:nvPr/>
        </p:nvSpPr>
        <p:spPr>
          <a:xfrm>
            <a:off x="9390888" y="4096512"/>
            <a:ext cx="1975104" cy="1188720"/>
          </a:xfrm>
          <a:prstGeom prst="rect">
            <a:avLst/>
          </a:prstGeom>
          <a:noFill/>
          <a:ln/>
        </p:spPr>
        <p:txBody>
          <a:bodyPr wrap="square" lIns="0" tIns="0" rIns="0" bIns="0" rtlCol="0" anchor="t"/>
          <a:lstStyle/>
          <a:p>
            <a:pPr indent="0" marL="0">
              <a:buNone/>
            </a:pPr>
            <a:r>
              <a:rPr lang="en-US" sz="950" dirty="0">
                <a:solidFill>
                  <a:srgbClr val="2B2B2B"/>
                </a:solidFill>
                <a:latin typeface="Verdana" pitchFamily="34" charset="0"/>
                <a:ea typeface="Verdana" pitchFamily="34" charset="-122"/>
                <a:cs typeface="Verdana" pitchFamily="34" charset="-120"/>
              </a:rPr>
              <a:t>Ningún otro de los siete publica la comisión del crédito a empresas.</a:t>
            </a:r>
            <a:endParaRPr lang="en-US" sz="950" dirty="0"/>
          </a:p>
        </p:txBody>
      </p:sp>
      <p:sp>
        <p:nvSpPr>
          <p:cNvPr id="22" name="Text 19"/>
          <p:cNvSpPr txBox="1"/>
          <p:nvPr/>
        </p:nvSpPr>
        <p:spPr>
          <a:xfrm>
            <a:off x="621792" y="6053328"/>
            <a:ext cx="10945368" cy="475488"/>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Banco de España, Boletín Estadístico, capítulo 19: TAE y TEDR de nuevas operaciones con sociedades no financieras por tramo, y crédito a personas físicas para actividades productivas (autónomos). La cuña TAE − TEDR anualiza la comisión.</a:t>
            </a:r>
            <a:endParaRPr lang="en-US" sz="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F56600"/>
          </a:solidFill>
          <a:ln w="12700">
            <a:solidFill>
              <a:srgbClr val="F56600"/>
            </a:solidFill>
            <a:prstDash val="solid"/>
          </a:ln>
        </p:spPr>
      </p:sp>
      <p:sp>
        <p:nvSpPr>
          <p:cNvPr id="3" name="Text 1"/>
          <p:cNvSpPr txBox="1"/>
          <p:nvPr/>
        </p:nvSpPr>
        <p:spPr>
          <a:xfrm>
            <a:off x="621792" y="868680"/>
            <a:ext cx="3200400" cy="292608"/>
          </a:xfrm>
          <a:prstGeom prst="rect">
            <a:avLst/>
          </a:prstGeom>
          <a:noFill/>
          <a:ln/>
        </p:spPr>
        <p:txBody>
          <a:bodyPr wrap="square" lIns="0" tIns="0" rIns="0" bIns="0" rtlCol="0" anchor="ctr"/>
          <a:lstStyle/>
          <a:p>
            <a:pPr indent="0" marL="0">
              <a:buNone/>
            </a:pPr>
            <a:r>
              <a:rPr lang="en-US" sz="1100" b="1" spc="200" kern="0" dirty="0">
                <a:solidFill>
                  <a:srgbClr val="FFFFFF"/>
                </a:solidFill>
                <a:latin typeface="Verdana" pitchFamily="34" charset="0"/>
                <a:ea typeface="Verdana" pitchFamily="34" charset="-122"/>
                <a:cs typeface="Verdana" pitchFamily="34" charset="-120"/>
              </a:rPr>
              <a:t>FUENTE 8</a:t>
            </a:r>
            <a:endParaRPr lang="en-US" sz="1100" dirty="0"/>
          </a:p>
        </p:txBody>
      </p:sp>
      <p:sp>
        <p:nvSpPr>
          <p:cNvPr id="4" name="Text 2"/>
          <p:cNvSpPr txBox="1"/>
          <p:nvPr/>
        </p:nvSpPr>
        <p:spPr>
          <a:xfrm>
            <a:off x="621792" y="1234440"/>
            <a:ext cx="3291840" cy="1417320"/>
          </a:xfrm>
          <a:prstGeom prst="rect">
            <a:avLst/>
          </a:prstGeom>
          <a:noFill/>
          <a:ln/>
        </p:spPr>
        <p:txBody>
          <a:bodyPr wrap="square" lIns="0" tIns="0" rIns="0" bIns="0" rtlCol="0" anchor="t"/>
          <a:lstStyle/>
          <a:p>
            <a:pPr indent="0" marL="0">
              <a:buNone/>
            </a:pPr>
            <a:r>
              <a:rPr lang="en-US" sz="2600" b="1" dirty="0">
                <a:solidFill>
                  <a:srgbClr val="FFFFFF"/>
                </a:solidFill>
                <a:latin typeface="Verdana" pitchFamily="34" charset="0"/>
                <a:ea typeface="Verdana" pitchFamily="34" charset="-122"/>
                <a:cs typeface="Verdana" pitchFamily="34" charset="-120"/>
              </a:rPr>
              <a:t>Central de Balances</a:t>
            </a:r>
            <a:endParaRPr lang="en-US" sz="2600" dirty="0"/>
          </a:p>
        </p:txBody>
      </p:sp>
      <p:sp>
        <p:nvSpPr>
          <p:cNvPr id="5" name="Text 3"/>
          <p:cNvSpPr txBox="1"/>
          <p:nvPr/>
        </p:nvSpPr>
        <p:spPr>
          <a:xfrm>
            <a:off x="621792" y="2697480"/>
            <a:ext cx="3200400" cy="566928"/>
          </a:xfrm>
          <a:prstGeom prst="rect">
            <a:avLst/>
          </a:prstGeom>
          <a:noFill/>
          <a:ln/>
        </p:spPr>
        <p:txBody>
          <a:bodyPr wrap="square" lIns="0" tIns="0" rIns="0" bIns="0" rtlCol="0" anchor="t"/>
          <a:lstStyle/>
          <a:p>
            <a:pPr indent="0" marL="0">
              <a:buNone/>
            </a:pPr>
            <a:r>
              <a:rPr lang="en-US" sz="1050" dirty="0">
                <a:solidFill>
                  <a:srgbClr val="FFFFFF"/>
                </a:solidFill>
                <a:latin typeface="Verdana" pitchFamily="34" charset="0"/>
                <a:ea typeface="Verdana" pitchFamily="34" charset="-122"/>
                <a:cs typeface="Verdana" pitchFamily="34" charset="-120"/>
              </a:rPr>
              <a:t>Banco de España · Central de Balances Integrada, cuentas de las empresas no financieras</a:t>
            </a:r>
            <a:endParaRPr lang="en-US" sz="1050" dirty="0"/>
          </a:p>
        </p:txBody>
      </p:sp>
      <p:sp>
        <p:nvSpPr>
          <p:cNvPr id="6" name="Shape 4"/>
          <p:cNvSpPr/>
          <p:nvPr/>
        </p:nvSpPr>
        <p:spPr>
          <a:xfrm>
            <a:off x="621792" y="4160520"/>
            <a:ext cx="3154680" cy="1325880"/>
          </a:xfrm>
          <a:prstGeom prst="roundRect">
            <a:avLst>
              <a:gd name="adj" fmla="val 4138"/>
            </a:avLst>
          </a:prstGeom>
          <a:solidFill>
            <a:srgbClr val="FFFFFF"/>
          </a:solidFill>
          <a:ln w="12700">
            <a:solidFill>
              <a:srgbClr val="FFFFFF"/>
            </a:solidFill>
            <a:prstDash val="solid"/>
          </a:ln>
        </p:spPr>
      </p:sp>
      <p:sp>
        <p:nvSpPr>
          <p:cNvPr id="7" name="Text 5"/>
          <p:cNvSpPr txBox="1"/>
          <p:nvPr/>
        </p:nvSpPr>
        <p:spPr>
          <a:xfrm>
            <a:off x="804672" y="4270248"/>
            <a:ext cx="2834640" cy="219456"/>
          </a:xfrm>
          <a:prstGeom prst="rect">
            <a:avLst/>
          </a:prstGeom>
          <a:noFill/>
          <a:ln/>
        </p:spPr>
        <p:txBody>
          <a:bodyPr wrap="square" lIns="0" tIns="0" rIns="0" bIns="0" rtlCol="0" anchor="ctr"/>
          <a:lstStyle/>
          <a:p>
            <a:pPr indent="0" marL="0">
              <a:buNone/>
            </a:pPr>
            <a:r>
              <a:rPr lang="en-US" sz="800" b="1" spc="100" kern="0" dirty="0">
                <a:solidFill>
                  <a:srgbClr val="818181"/>
                </a:solidFill>
                <a:latin typeface="Verdana" pitchFamily="34" charset="0"/>
                <a:ea typeface="Verdana" pitchFamily="34" charset="-122"/>
                <a:cs typeface="Verdana" pitchFamily="34" charset="-120"/>
              </a:rPr>
              <a:t>QUÉ LLAMA PYME</a:t>
            </a:r>
            <a:endParaRPr lang="en-US" sz="800" dirty="0"/>
          </a:p>
        </p:txBody>
      </p:sp>
      <p:sp>
        <p:nvSpPr>
          <p:cNvPr id="8" name="Text 6"/>
          <p:cNvSpPr txBox="1"/>
          <p:nvPr/>
        </p:nvSpPr>
        <p:spPr>
          <a:xfrm>
            <a:off x="804672" y="4507992"/>
            <a:ext cx="2834640" cy="502920"/>
          </a:xfrm>
          <a:prstGeom prst="rect">
            <a:avLst/>
          </a:prstGeom>
          <a:noFill/>
          <a:ln/>
        </p:spPr>
        <p:txBody>
          <a:bodyPr wrap="square" lIns="0" tIns="0" rIns="0" bIns="0" rtlCol="0" anchor="t"/>
          <a:lstStyle/>
          <a:p>
            <a:pPr indent="0" marL="0">
              <a:buNone/>
            </a:pPr>
            <a:r>
              <a:rPr lang="en-US" sz="1200" b="1" dirty="0">
                <a:solidFill>
                  <a:srgbClr val="2B2B2B"/>
                </a:solidFill>
                <a:latin typeface="Verdana" pitchFamily="34" charset="0"/>
                <a:ea typeface="Verdana" pitchFamily="34" charset="-122"/>
                <a:cs typeface="Verdana" pitchFamily="34" charset="-120"/>
              </a:rPr>
              <a:t>Recomendación 2003/361/CE completa</a:t>
            </a:r>
            <a:endParaRPr lang="en-US" sz="1200" dirty="0"/>
          </a:p>
        </p:txBody>
      </p:sp>
      <p:sp>
        <p:nvSpPr>
          <p:cNvPr id="9" name="Shape 7"/>
          <p:cNvSpPr/>
          <p:nvPr/>
        </p:nvSpPr>
        <p:spPr>
          <a:xfrm>
            <a:off x="804672" y="5074920"/>
            <a:ext cx="2788920" cy="274320"/>
          </a:xfrm>
          <a:prstGeom prst="roundRect">
            <a:avLst>
              <a:gd name="adj" fmla="val 26667"/>
            </a:avLst>
          </a:prstGeom>
          <a:solidFill>
            <a:srgbClr val="C7E3F9"/>
          </a:solidFill>
          <a:ln w="12700">
            <a:solidFill>
              <a:srgbClr val="C7E3F9"/>
            </a:solidFill>
            <a:prstDash val="solid"/>
          </a:ln>
        </p:spPr>
      </p:sp>
      <p:sp>
        <p:nvSpPr>
          <p:cNvPr id="10" name="Text 8"/>
          <p:cNvSpPr txBox="1"/>
          <p:nvPr/>
        </p:nvSpPr>
        <p:spPr>
          <a:xfrm>
            <a:off x="804672" y="5074920"/>
            <a:ext cx="2788920" cy="274320"/>
          </a:xfrm>
          <a:prstGeom prst="rect">
            <a:avLst/>
          </a:prstGeom>
          <a:noFill/>
          <a:ln/>
        </p:spPr>
        <p:txBody>
          <a:bodyPr wrap="square" lIns="0" tIns="0" rIns="0" bIns="0" rtlCol="0" anchor="ctr"/>
          <a:lstStyle/>
          <a:p>
            <a:pPr algn="ctr" indent="0" marL="0">
              <a:buNone/>
            </a:pPr>
            <a:r>
              <a:rPr lang="en-US" sz="850" b="1" dirty="0">
                <a:solidFill>
                  <a:srgbClr val="2B2B2B"/>
                </a:solidFill>
                <a:latin typeface="Verdana" pitchFamily="34" charset="0"/>
                <a:ea typeface="Verdana" pitchFamily="34" charset="-122"/>
                <a:cs typeface="Verdana" pitchFamily="34" charset="-120"/>
              </a:rPr>
              <a:t>Definición estándar de la UE</a:t>
            </a:r>
            <a:endParaRPr lang="en-US" sz="850" dirty="0"/>
          </a:p>
        </p:txBody>
      </p:sp>
      <p:sp>
        <p:nvSpPr>
          <p:cNvPr id="11" name="Text 9"/>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12" name="Text 10"/>
          <p:cNvSpPr txBox="1"/>
          <p:nvPr/>
        </p:nvSpPr>
        <p:spPr>
          <a:xfrm>
            <a:off x="4709160" y="868680"/>
            <a:ext cx="685800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Qué es</a:t>
            </a:r>
            <a:endParaRPr lang="en-US" sz="1250" dirty="0"/>
          </a:p>
        </p:txBody>
      </p:sp>
      <p:sp>
        <p:nvSpPr>
          <p:cNvPr id="13" name="Text 11"/>
          <p:cNvSpPr txBox="1"/>
          <p:nvPr/>
        </p:nvSpPr>
        <p:spPr>
          <a:xfrm>
            <a:off x="4709160" y="1179576"/>
            <a:ext cx="6858000" cy="731520"/>
          </a:xfrm>
          <a:prstGeom prst="rect">
            <a:avLst/>
          </a:prstGeom>
          <a:noFill/>
          <a:ln/>
        </p:spPr>
        <p:txBody>
          <a:bodyPr wrap="square" lIns="0" tIns="0" rIns="0" bIns="0" rtlCol="0" anchor="t"/>
          <a:lstStyle/>
          <a:p>
            <a:pPr indent="0" marL="0">
              <a:spcAft>
                <a:spcPts val="300"/>
              </a:spcAft>
              <a:buNone/>
            </a:pPr>
            <a:r>
              <a:rPr lang="en-US" sz="1050" dirty="0">
                <a:solidFill>
                  <a:srgbClr val="2B2B2B"/>
                </a:solidFill>
                <a:latin typeface="Verdana" pitchFamily="34" charset="0"/>
                <a:ea typeface="Verdana" pitchFamily="34" charset="-122"/>
                <a:cs typeface="Verdana" pitchFamily="34" charset="-120"/>
              </a:rPr>
              <a:t>Base de datos del Banco de España con las cuentas anuales de las empresas españolas, a partir del Registro Mercantil. Publica ratios de rentabilidad y endeudamiento por tamaño.</a:t>
            </a:r>
            <a:endParaRPr lang="en-US" sz="1050" dirty="0"/>
          </a:p>
        </p:txBody>
      </p:sp>
      <p:sp>
        <p:nvSpPr>
          <p:cNvPr id="14" name="Text 12"/>
          <p:cNvSpPr txBox="1"/>
          <p:nvPr/>
        </p:nvSpPr>
        <p:spPr>
          <a:xfrm>
            <a:off x="4709160" y="2011680"/>
            <a:ext cx="685800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Qué hemos obtenido</a:t>
            </a:r>
            <a:endParaRPr lang="en-US" sz="1250" dirty="0"/>
          </a:p>
        </p:txBody>
      </p:sp>
      <p:sp>
        <p:nvSpPr>
          <p:cNvPr id="15" name="Text 13"/>
          <p:cNvSpPr txBox="1"/>
          <p:nvPr/>
        </p:nvSpPr>
        <p:spPr>
          <a:xfrm>
            <a:off x="4709160" y="2322576"/>
            <a:ext cx="6858000" cy="141732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2B2B2B"/>
                </a:solidFill>
                <a:latin typeface="Verdana" pitchFamily="34" charset="0"/>
                <a:ea typeface="Verdana" pitchFamily="34" charset="-122"/>
                <a:cs typeface="Verdana" pitchFamily="34" charset="-120"/>
              </a:rPr>
              <a:t>Rentabilidad del activo (ROA) por tamaño de empresa</a:t>
            </a:r>
            <a:endParaRPr lang="en-US" sz="1050" dirty="0"/>
          </a:p>
          <a:p>
            <a:pPr marL="342900" indent="-342900">
              <a:spcAft>
                <a:spcPts val="300"/>
              </a:spcAft>
              <a:buSzPct val="100000"/>
              <a:buChar char="•"/>
            </a:pPr>
            <a:r>
              <a:rPr lang="en-US" sz="1050" dirty="0">
                <a:solidFill>
                  <a:srgbClr val="2B2B2B"/>
                </a:solidFill>
                <a:latin typeface="Verdana" pitchFamily="34" charset="0"/>
                <a:ea typeface="Verdana" pitchFamily="34" charset="-122"/>
                <a:cs typeface="Verdana" pitchFamily="34" charset="-120"/>
              </a:rPr>
              <a:t>Coste efectivo de la deuda con coste</a:t>
            </a:r>
            <a:endParaRPr lang="en-US" sz="1050" dirty="0"/>
          </a:p>
          <a:p>
            <a:pPr marL="342900" indent="-342900">
              <a:spcAft>
                <a:spcPts val="300"/>
              </a:spcAft>
              <a:buSzPct val="100000"/>
              <a:buChar char="•"/>
            </a:pPr>
            <a:r>
              <a:rPr lang="en-US" sz="1050" dirty="0">
                <a:solidFill>
                  <a:srgbClr val="2B2B2B"/>
                </a:solidFill>
                <a:latin typeface="Verdana" pitchFamily="34" charset="0"/>
                <a:ea typeface="Verdana" pitchFamily="34" charset="-122"/>
                <a:cs typeface="Verdana" pitchFamily="34" charset="-120"/>
              </a:rPr>
              <a:t>Diferencia entre los dos, desde 1997</a:t>
            </a:r>
            <a:endParaRPr lang="en-US" sz="1050" dirty="0"/>
          </a:p>
        </p:txBody>
      </p:sp>
      <p:sp>
        <p:nvSpPr>
          <p:cNvPr id="16" name="Text 14"/>
          <p:cNvSpPr txBox="1"/>
          <p:nvPr/>
        </p:nvSpPr>
        <p:spPr>
          <a:xfrm>
            <a:off x="4709160" y="3886200"/>
            <a:ext cx="685800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Por qué aplica a PYME, y hasta dónde</a:t>
            </a:r>
            <a:endParaRPr lang="en-US" sz="1250" dirty="0"/>
          </a:p>
        </p:txBody>
      </p:sp>
      <p:sp>
        <p:nvSpPr>
          <p:cNvPr id="17" name="Text 15"/>
          <p:cNvSpPr txBox="1"/>
          <p:nvPr/>
        </p:nvSpPr>
        <p:spPr>
          <a:xfrm>
            <a:off x="4709160" y="4197096"/>
            <a:ext cx="6858000" cy="1234440"/>
          </a:xfrm>
          <a:prstGeom prst="rect">
            <a:avLst/>
          </a:prstGeom>
          <a:noFill/>
          <a:ln/>
        </p:spPr>
        <p:txBody>
          <a:bodyPr wrap="square" lIns="0" tIns="0" rIns="0" bIns="0" rtlCol="0" anchor="t"/>
          <a:lstStyle/>
          <a:p>
            <a:pPr indent="0" marL="0">
              <a:spcAft>
                <a:spcPts val="300"/>
              </a:spcAft>
              <a:buNone/>
            </a:pPr>
            <a:r>
              <a:rPr lang="en-US" sz="1050" dirty="0">
                <a:solidFill>
                  <a:srgbClr val="2B2B2B"/>
                </a:solidFill>
                <a:latin typeface="Verdana" pitchFamily="34" charset="0"/>
                <a:ea typeface="Verdana" pitchFamily="34" charset="-122"/>
                <a:cs typeface="Verdana" pitchFamily="34" charset="-120"/>
              </a:rPr>
              <a:t>Es la otra fuente que usa la definición estándar COMPLETA: clasifica por tamaño según la Recomendación 2003/361/CE. Es además la única que mira a la PYME desde su propio balance, no desde el banco: dice cuánto puede pagar.</a:t>
            </a:r>
            <a:endParaRPr lang="en-US" sz="1050" dirty="0"/>
          </a:p>
        </p:txBody>
      </p:sp>
      <p:sp>
        <p:nvSpPr>
          <p:cNvPr id="18" name="Text 16"/>
          <p:cNvSpPr txBox="1"/>
          <p:nvPr/>
        </p:nvSpPr>
        <p:spPr>
          <a:xfrm>
            <a:off x="4709160" y="5806440"/>
            <a:ext cx="6858000" cy="384048"/>
          </a:xfrm>
          <a:prstGeom prst="rect">
            <a:avLst/>
          </a:prstGeom>
          <a:noFill/>
          <a:ln/>
        </p:spPr>
        <p:txBody>
          <a:bodyPr wrap="square" lIns="0" tIns="0" rIns="0" bIns="0" rtlCol="0" anchor="ctr"/>
          <a:lstStyle/>
          <a:p>
            <a:pPr indent="0" marL="0">
              <a:buNone/>
            </a:pPr>
            <a:r>
              <a:rPr lang="en-US" sz="850" i="1" dirty="0">
                <a:solidFill>
                  <a:srgbClr val="818181"/>
                </a:solidFill>
                <a:latin typeface="Verdana" pitchFamily="34" charset="0"/>
                <a:ea typeface="Verdana" pitchFamily="34" charset="-122"/>
                <a:cs typeface="Verdana" pitchFamily="34" charset="-120"/>
              </a:rPr>
              <a:t>España · anual · 1997–2024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3" name="Text 1"/>
          <p:cNvSpPr txBox="1"/>
          <p:nvPr/>
        </p:nvSpPr>
        <p:spPr>
          <a:xfrm>
            <a:off x="621792" y="6583680"/>
            <a:ext cx="548640" cy="182880"/>
          </a:xfrm>
          <a:prstGeom prst="rect">
            <a:avLst/>
          </a:prstGeom>
          <a:noFill/>
          <a:ln/>
        </p:spPr>
        <p:txBody>
          <a:bodyPr wrap="square" lIns="0" tIns="0" rIns="0" bIns="0" rtlCol="0" anchor="ctr"/>
          <a:lstStyle/>
          <a:p>
            <a:pPr indent="0" marL="0">
              <a:buNone/>
            </a:pPr>
            <a:r>
              <a:rPr lang="en-US" sz="800" dirty="0">
                <a:solidFill>
                  <a:srgbClr val="CACACA"/>
                </a:solidFill>
                <a:latin typeface="Verdana" pitchFamily="34" charset="0"/>
                <a:ea typeface="Verdana" pitchFamily="34" charset="-122"/>
                <a:cs typeface="Verdana" pitchFamily="34" charset="-120"/>
              </a:rPr>
              <a:t>26</a:t>
            </a:r>
            <a:endParaRPr lang="en-US" sz="800" dirty="0"/>
          </a:p>
        </p:txBody>
      </p:sp>
      <p:sp>
        <p:nvSpPr>
          <p:cNvPr id="4" name="Text 2"/>
          <p:cNvSpPr txBox="1"/>
          <p:nvPr/>
        </p:nvSpPr>
        <p:spPr>
          <a:xfrm>
            <a:off x="621792" y="420624"/>
            <a:ext cx="8430768" cy="658368"/>
          </a:xfrm>
          <a:prstGeom prst="rect">
            <a:avLst/>
          </a:prstGeom>
          <a:noFill/>
          <a:ln/>
        </p:spPr>
        <p:txBody>
          <a:bodyPr wrap="square" lIns="0" tIns="0" rIns="0" bIns="0" rtlCol="0" anchor="t"/>
          <a:lstStyle/>
          <a:p>
            <a:pPr indent="0" marL="0">
              <a:buNone/>
            </a:pPr>
            <a:r>
              <a:rPr lang="en-US" sz="2100" b="1" dirty="0">
                <a:solidFill>
                  <a:srgbClr val="2B2B2B"/>
                </a:solidFill>
                <a:latin typeface="Verdana" pitchFamily="34" charset="0"/>
                <a:ea typeface="Verdana" pitchFamily="34" charset="-122"/>
                <a:cs typeface="Verdana" pitchFamily="34" charset="-120"/>
              </a:rPr>
              <a:t>La pequeña empresa gana 2,1 puntos más de lo que paga por su deuda</a:t>
            </a:r>
            <a:endParaRPr lang="en-US" sz="2100" dirty="0"/>
          </a:p>
        </p:txBody>
      </p:sp>
      <p:sp>
        <p:nvSpPr>
          <p:cNvPr id="5" name="Text 3"/>
          <p:cNvSpPr txBox="1"/>
          <p:nvPr/>
        </p:nvSpPr>
        <p:spPr>
          <a:xfrm>
            <a:off x="621792" y="1097280"/>
            <a:ext cx="10945368" cy="329184"/>
          </a:xfrm>
          <a:prstGeom prst="rect">
            <a:avLst/>
          </a:prstGeom>
          <a:noFill/>
          <a:ln/>
        </p:spPr>
        <p:txBody>
          <a:bodyPr wrap="square" lIns="0" tIns="0" rIns="0" bIns="0" rtlCol="0" anchor="ctr"/>
          <a:lstStyle/>
          <a:p>
            <a:pPr indent="0" marL="0">
              <a:buNone/>
            </a:pPr>
            <a:r>
              <a:rPr lang="en-US" sz="1000" dirty="0">
                <a:solidFill>
                  <a:srgbClr val="818181"/>
                </a:solidFill>
                <a:latin typeface="Verdana" pitchFamily="34" charset="0"/>
                <a:ea typeface="Verdana" pitchFamily="34" charset="-122"/>
                <a:cs typeface="Verdana" pitchFamily="34" charset="-120"/>
              </a:rPr>
              <a:t>Rentabilidad del activo y coste de la deuda por tamaño de empresa · España, 2024</a:t>
            </a:r>
            <a:endParaRPr lang="en-US" sz="1000" dirty="0"/>
          </a:p>
        </p:txBody>
      </p:sp>
      <p:sp>
        <p:nvSpPr>
          <p:cNvPr id="6" name="Shape 4"/>
          <p:cNvSpPr/>
          <p:nvPr/>
        </p:nvSpPr>
        <p:spPr>
          <a:xfrm>
            <a:off x="9235440" y="640080"/>
            <a:ext cx="2331720" cy="365760"/>
          </a:xfrm>
          <a:prstGeom prst="roundRect">
            <a:avLst>
              <a:gd name="adj" fmla="val 15000"/>
            </a:avLst>
          </a:prstGeom>
          <a:solidFill>
            <a:srgbClr val="C7E3F9"/>
          </a:solidFill>
          <a:ln w="12700">
            <a:solidFill>
              <a:srgbClr val="C7E3F9"/>
            </a:solidFill>
            <a:prstDash val="solid"/>
          </a:ln>
        </p:spPr>
      </p:sp>
      <p:sp>
        <p:nvSpPr>
          <p:cNvPr id="7" name="Text 5"/>
          <p:cNvSpPr txBox="1"/>
          <p:nvPr/>
        </p:nvSpPr>
        <p:spPr>
          <a:xfrm>
            <a:off x="9308592" y="658368"/>
            <a:ext cx="2185416" cy="329184"/>
          </a:xfrm>
          <a:prstGeom prst="rect">
            <a:avLst/>
          </a:prstGeom>
          <a:noFill/>
          <a:ln/>
        </p:spPr>
        <p:txBody>
          <a:bodyPr wrap="square" lIns="0" tIns="0" rIns="0" bIns="0" rtlCol="0" anchor="ctr"/>
          <a:lstStyle/>
          <a:p>
            <a:pPr indent="0" marL="0">
              <a:buNone/>
            </a:pPr>
            <a:r>
              <a:rPr lang="en-US" sz="750" b="1" dirty="0">
                <a:solidFill>
                  <a:srgbClr val="2B2B2B"/>
                </a:solidFill>
                <a:latin typeface="Verdana" pitchFamily="34" charset="0"/>
                <a:ea typeface="Verdana" pitchFamily="34" charset="-122"/>
                <a:cs typeface="Verdana" pitchFamily="34" charset="-120"/>
              </a:rPr>
              <a:t>PYME · Recomendación 2003/361/CE completa</a:t>
            </a:r>
            <a:endParaRPr lang="en-US" sz="750" dirty="0"/>
          </a:p>
        </p:txBody>
      </p:sp>
      <p:graphicFrame>
        <p:nvGraphicFramePr>
          <p:cNvPr id="8" name="Chart 0" descr=""/>
          <p:cNvGraphicFramePr/>
          <p:nvPr/>
        </p:nvGraphicFramePr>
        <p:xfrm>
          <a:off x="621792" y="1554480"/>
          <a:ext cx="5120640" cy="4160520"/>
        </p:xfrm>
        <a:graphic xmlns:a="http://schemas.openxmlformats.org/drawingml/2006/main">
          <a:graphicData uri="http://schemas.openxmlformats.org/drawingml/2006/chart">
            <c:chart xmlns:c="http://schemas.openxmlformats.org/drawingml/2006/chart" r:id="rId1"/>
          </a:graphicData>
        </a:graphic>
      </p:graphicFrame>
      <p:graphicFrame>
        <p:nvGraphicFramePr>
          <p:cNvPr id="9" name="Chart 1" descr=""/>
          <p:cNvGraphicFramePr/>
          <p:nvPr/>
        </p:nvGraphicFramePr>
        <p:xfrm>
          <a:off x="5989320" y="1783080"/>
          <a:ext cx="5577840" cy="2651760"/>
        </p:xfrm>
        <a:graphic xmlns:a="http://schemas.openxmlformats.org/drawingml/2006/main">
          <a:graphicData uri="http://schemas.openxmlformats.org/drawingml/2006/chart">
            <c:chart xmlns:c="http://schemas.openxmlformats.org/drawingml/2006/chart" r:id="rId2"/>
          </a:graphicData>
        </a:graphic>
      </p:graphicFrame>
      <p:sp>
        <p:nvSpPr>
          <p:cNvPr id="10" name="Text 6"/>
          <p:cNvSpPr txBox="1"/>
          <p:nvPr/>
        </p:nvSpPr>
        <p:spPr>
          <a:xfrm>
            <a:off x="5989320" y="1554480"/>
            <a:ext cx="5577840" cy="237744"/>
          </a:xfrm>
          <a:prstGeom prst="rect">
            <a:avLst/>
          </a:prstGeom>
          <a:noFill/>
          <a:ln/>
        </p:spPr>
        <p:txBody>
          <a:bodyPr wrap="square" lIns="0" tIns="0" rIns="0" bIns="0" rtlCol="0" anchor="ctr"/>
          <a:lstStyle/>
          <a:p>
            <a:pPr indent="0" marL="0">
              <a:buNone/>
            </a:pPr>
            <a:r>
              <a:rPr lang="en-US" sz="1050" b="1" dirty="0">
                <a:solidFill>
                  <a:srgbClr val="2B2B2B"/>
                </a:solidFill>
                <a:latin typeface="Verdana" pitchFamily="34" charset="0"/>
                <a:ea typeface="Verdana" pitchFamily="34" charset="-122"/>
                <a:cs typeface="Verdana" pitchFamily="34" charset="-120"/>
              </a:rPr>
              <a:t>Diferencia de la pequeña empresa, 2015–2024</a:t>
            </a:r>
            <a:endParaRPr lang="en-US" sz="1050" dirty="0"/>
          </a:p>
        </p:txBody>
      </p:sp>
      <p:sp>
        <p:nvSpPr>
          <p:cNvPr id="11" name="Shape 7"/>
          <p:cNvSpPr/>
          <p:nvPr/>
        </p:nvSpPr>
        <p:spPr>
          <a:xfrm>
            <a:off x="5989320" y="4572000"/>
            <a:ext cx="5577840" cy="1143000"/>
          </a:xfrm>
          <a:prstGeom prst="roundRect">
            <a:avLst>
              <a:gd name="adj" fmla="val 4000"/>
            </a:avLst>
          </a:prstGeom>
          <a:solidFill>
            <a:srgbClr val="F2F4F6"/>
          </a:solidFill>
          <a:ln w="12700">
            <a:solidFill>
              <a:srgbClr val="F2F4F6"/>
            </a:solidFill>
            <a:prstDash val="solid"/>
          </a:ln>
        </p:spPr>
      </p:sp>
      <p:sp>
        <p:nvSpPr>
          <p:cNvPr id="12" name="Text 8"/>
          <p:cNvSpPr txBox="1"/>
          <p:nvPr/>
        </p:nvSpPr>
        <p:spPr>
          <a:xfrm>
            <a:off x="6190488" y="4700016"/>
            <a:ext cx="5175504" cy="27432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La mediana es otro cliente</a:t>
            </a:r>
            <a:endParaRPr lang="en-US" sz="1150" dirty="0"/>
          </a:p>
        </p:txBody>
      </p:sp>
      <p:sp>
        <p:nvSpPr>
          <p:cNvPr id="13" name="Text 9"/>
          <p:cNvSpPr txBox="1"/>
          <p:nvPr/>
        </p:nvSpPr>
        <p:spPr>
          <a:xfrm>
            <a:off x="6190488" y="5010912"/>
            <a:ext cx="5175504" cy="594360"/>
          </a:xfrm>
          <a:prstGeom prst="rect">
            <a:avLst/>
          </a:prstGeom>
          <a:noFill/>
          <a:ln/>
        </p:spPr>
        <p:txBody>
          <a:bodyPr wrap="square" lIns="0" tIns="0" rIns="0" bIns="0" rtlCol="0" anchor="t"/>
          <a:lstStyle/>
          <a:p>
            <a:pPr indent="0" marL="0">
              <a:buNone/>
            </a:pPr>
            <a:r>
              <a:rPr lang="en-US" sz="950" dirty="0">
                <a:solidFill>
                  <a:srgbClr val="2B2B2B"/>
                </a:solidFill>
                <a:latin typeface="Verdana" pitchFamily="34" charset="0"/>
                <a:ea typeface="Verdana" pitchFamily="34" charset="-122"/>
                <a:cs typeface="Verdana" pitchFamily="34" charset="-120"/>
              </a:rPr>
              <a:t>La mediana tiene 6,1 puntos de diferencia, casi el triple que la pequeña (2,1), con un ROA del 10,4 %.</a:t>
            </a:r>
            <a:endParaRPr lang="en-US" sz="950" dirty="0"/>
          </a:p>
        </p:txBody>
      </p:sp>
      <p:sp>
        <p:nvSpPr>
          <p:cNvPr id="14" name="Text 10"/>
          <p:cNvSpPr txBox="1"/>
          <p:nvPr/>
        </p:nvSpPr>
        <p:spPr>
          <a:xfrm>
            <a:off x="621792" y="6053328"/>
            <a:ext cx="10945368" cy="475488"/>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Banco de España, Central de Balances Integrada: rentabilidad ordinaria del activo neto y tipo efectivo pagado por la deuda con coste. Tamaño según la Recomendación 2003/361/CE.</a:t>
            </a:r>
            <a:endParaRPr lang="en-US" sz="7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F56600"/>
          </a:solidFill>
          <a:ln w="12700">
            <a:solidFill>
              <a:srgbClr val="F56600"/>
            </a:solidFill>
            <a:prstDash val="solid"/>
          </a:ln>
        </p:spPr>
      </p:sp>
      <p:sp>
        <p:nvSpPr>
          <p:cNvPr id="3" name="Text 1"/>
          <p:cNvSpPr txBox="1"/>
          <p:nvPr/>
        </p:nvSpPr>
        <p:spPr>
          <a:xfrm>
            <a:off x="621792" y="868680"/>
            <a:ext cx="3200400" cy="292608"/>
          </a:xfrm>
          <a:prstGeom prst="rect">
            <a:avLst/>
          </a:prstGeom>
          <a:noFill/>
          <a:ln/>
        </p:spPr>
        <p:txBody>
          <a:bodyPr wrap="square" lIns="0" tIns="0" rIns="0" bIns="0" rtlCol="0" anchor="ctr"/>
          <a:lstStyle/>
          <a:p>
            <a:pPr indent="0" marL="0">
              <a:buNone/>
            </a:pPr>
            <a:r>
              <a:rPr lang="en-US" sz="1100" b="1" spc="200" kern="0" dirty="0">
                <a:solidFill>
                  <a:srgbClr val="FFFFFF"/>
                </a:solidFill>
                <a:latin typeface="Verdana" pitchFamily="34" charset="0"/>
                <a:ea typeface="Verdana" pitchFamily="34" charset="-122"/>
                <a:cs typeface="Verdana" pitchFamily="34" charset="-120"/>
              </a:rPr>
              <a:t>FUENTE 9</a:t>
            </a:r>
            <a:endParaRPr lang="en-US" sz="1100" dirty="0"/>
          </a:p>
        </p:txBody>
      </p:sp>
      <p:sp>
        <p:nvSpPr>
          <p:cNvPr id="4" name="Text 2"/>
          <p:cNvSpPr txBox="1"/>
          <p:nvPr/>
        </p:nvSpPr>
        <p:spPr>
          <a:xfrm>
            <a:off x="621792" y="1234440"/>
            <a:ext cx="3291840" cy="1417320"/>
          </a:xfrm>
          <a:prstGeom prst="rect">
            <a:avLst/>
          </a:prstGeom>
          <a:noFill/>
          <a:ln/>
        </p:spPr>
        <p:txBody>
          <a:bodyPr wrap="square" lIns="0" tIns="0" rIns="0" bIns="0" rtlCol="0" anchor="t"/>
          <a:lstStyle/>
          <a:p>
            <a:pPr indent="0" marL="0">
              <a:buNone/>
            </a:pPr>
            <a:r>
              <a:rPr lang="en-US" sz="2600" b="1" dirty="0">
                <a:solidFill>
                  <a:srgbClr val="FFFFFF"/>
                </a:solidFill>
                <a:latin typeface="Verdana" pitchFamily="34" charset="0"/>
                <a:ea typeface="Verdana" pitchFamily="34" charset="-122"/>
                <a:cs typeface="Verdana" pitchFamily="34" charset="-120"/>
              </a:rPr>
              <a:t>Informe de financiación de la pyme</a:t>
            </a:r>
            <a:endParaRPr lang="en-US" sz="2600" dirty="0"/>
          </a:p>
        </p:txBody>
      </p:sp>
      <p:sp>
        <p:nvSpPr>
          <p:cNvPr id="5" name="Text 3"/>
          <p:cNvSpPr txBox="1"/>
          <p:nvPr/>
        </p:nvSpPr>
        <p:spPr>
          <a:xfrm>
            <a:off x="621792" y="2697480"/>
            <a:ext cx="3200400" cy="566928"/>
          </a:xfrm>
          <a:prstGeom prst="rect">
            <a:avLst/>
          </a:prstGeom>
          <a:noFill/>
          <a:ln/>
        </p:spPr>
        <p:txBody>
          <a:bodyPr wrap="square" lIns="0" tIns="0" rIns="0" bIns="0" rtlCol="0" anchor="t"/>
          <a:lstStyle/>
          <a:p>
            <a:pPr indent="0" marL="0">
              <a:buNone/>
            </a:pPr>
            <a:r>
              <a:rPr lang="en-US" sz="1050" dirty="0">
                <a:solidFill>
                  <a:srgbClr val="FFFFFF"/>
                </a:solidFill>
                <a:latin typeface="Verdana" pitchFamily="34" charset="0"/>
                <a:ea typeface="Verdana" pitchFamily="34" charset="-122"/>
                <a:cs typeface="Verdana" pitchFamily="34" charset="-120"/>
              </a:rPr>
              <a:t>CESGAR · Confederación Española de Sociedades de Garantía · XV Informe, 2025</a:t>
            </a:r>
            <a:endParaRPr lang="en-US" sz="1050" dirty="0"/>
          </a:p>
        </p:txBody>
      </p:sp>
      <p:sp>
        <p:nvSpPr>
          <p:cNvPr id="6" name="Shape 4"/>
          <p:cNvSpPr/>
          <p:nvPr/>
        </p:nvSpPr>
        <p:spPr>
          <a:xfrm>
            <a:off x="621792" y="4160520"/>
            <a:ext cx="3154680" cy="1325880"/>
          </a:xfrm>
          <a:prstGeom prst="roundRect">
            <a:avLst>
              <a:gd name="adj" fmla="val 4138"/>
            </a:avLst>
          </a:prstGeom>
          <a:solidFill>
            <a:srgbClr val="FFFFFF"/>
          </a:solidFill>
          <a:ln w="12700">
            <a:solidFill>
              <a:srgbClr val="FFFFFF"/>
            </a:solidFill>
            <a:prstDash val="solid"/>
          </a:ln>
        </p:spPr>
      </p:sp>
      <p:sp>
        <p:nvSpPr>
          <p:cNvPr id="7" name="Text 5"/>
          <p:cNvSpPr txBox="1"/>
          <p:nvPr/>
        </p:nvSpPr>
        <p:spPr>
          <a:xfrm>
            <a:off x="804672" y="4270248"/>
            <a:ext cx="2834640" cy="219456"/>
          </a:xfrm>
          <a:prstGeom prst="rect">
            <a:avLst/>
          </a:prstGeom>
          <a:noFill/>
          <a:ln/>
        </p:spPr>
        <p:txBody>
          <a:bodyPr wrap="square" lIns="0" tIns="0" rIns="0" bIns="0" rtlCol="0" anchor="ctr"/>
          <a:lstStyle/>
          <a:p>
            <a:pPr indent="0" marL="0">
              <a:buNone/>
            </a:pPr>
            <a:r>
              <a:rPr lang="en-US" sz="800" b="1" spc="100" kern="0" dirty="0">
                <a:solidFill>
                  <a:srgbClr val="818181"/>
                </a:solidFill>
                <a:latin typeface="Verdana" pitchFamily="34" charset="0"/>
                <a:ea typeface="Verdana" pitchFamily="34" charset="-122"/>
                <a:cs typeface="Verdana" pitchFamily="34" charset="-120"/>
              </a:rPr>
              <a:t>QUÉ LLAMA PYME</a:t>
            </a:r>
            <a:endParaRPr lang="en-US" sz="800" dirty="0"/>
          </a:p>
        </p:txBody>
      </p:sp>
      <p:sp>
        <p:nvSpPr>
          <p:cNvPr id="8" name="Text 6"/>
          <p:cNvSpPr txBox="1"/>
          <p:nvPr/>
        </p:nvSpPr>
        <p:spPr>
          <a:xfrm>
            <a:off x="804672" y="4507992"/>
            <a:ext cx="2834640" cy="502920"/>
          </a:xfrm>
          <a:prstGeom prst="rect">
            <a:avLst/>
          </a:prstGeom>
          <a:noFill/>
          <a:ln/>
        </p:spPr>
        <p:txBody>
          <a:bodyPr wrap="square" lIns="0" tIns="0" rIns="0" bIns="0" rtlCol="0" anchor="t"/>
          <a:lstStyle/>
          <a:p>
            <a:pPr indent="0" marL="0">
              <a:buNone/>
            </a:pPr>
            <a:r>
              <a:rPr lang="en-US" sz="1200" b="1" dirty="0">
                <a:solidFill>
                  <a:srgbClr val="2B2B2B"/>
                </a:solidFill>
                <a:latin typeface="Verdana" pitchFamily="34" charset="0"/>
                <a:ea typeface="Verdana" pitchFamily="34" charset="-122"/>
                <a:cs typeface="Verdana" pitchFamily="34" charset="-120"/>
              </a:rPr>
              <a:t>&lt;250 empleados, con autónomos</a:t>
            </a:r>
            <a:endParaRPr lang="en-US" sz="1200" dirty="0"/>
          </a:p>
        </p:txBody>
      </p:sp>
      <p:sp>
        <p:nvSpPr>
          <p:cNvPr id="9" name="Shape 7"/>
          <p:cNvSpPr/>
          <p:nvPr/>
        </p:nvSpPr>
        <p:spPr>
          <a:xfrm>
            <a:off x="804672" y="5074920"/>
            <a:ext cx="2788920" cy="274320"/>
          </a:xfrm>
          <a:prstGeom prst="roundRect">
            <a:avLst>
              <a:gd name="adj" fmla="val 26667"/>
            </a:avLst>
          </a:prstGeom>
          <a:solidFill>
            <a:srgbClr val="FFD6BA"/>
          </a:solidFill>
          <a:ln w="12700">
            <a:solidFill>
              <a:srgbClr val="FFD6BA"/>
            </a:solidFill>
            <a:prstDash val="solid"/>
          </a:ln>
        </p:spPr>
      </p:sp>
      <p:sp>
        <p:nvSpPr>
          <p:cNvPr id="10" name="Text 8"/>
          <p:cNvSpPr txBox="1"/>
          <p:nvPr/>
        </p:nvSpPr>
        <p:spPr>
          <a:xfrm>
            <a:off x="804672" y="5074920"/>
            <a:ext cx="2788920" cy="274320"/>
          </a:xfrm>
          <a:prstGeom prst="rect">
            <a:avLst/>
          </a:prstGeom>
          <a:noFill/>
          <a:ln/>
        </p:spPr>
        <p:txBody>
          <a:bodyPr wrap="square" lIns="0" tIns="0" rIns="0" bIns="0" rtlCol="0" anchor="ctr"/>
          <a:lstStyle/>
          <a:p>
            <a:pPr algn="ctr" indent="0" marL="0">
              <a:buNone/>
            </a:pPr>
            <a:r>
              <a:rPr lang="en-US" sz="850" b="1" dirty="0">
                <a:solidFill>
                  <a:srgbClr val="2B2B2B"/>
                </a:solidFill>
                <a:latin typeface="Verdana" pitchFamily="34" charset="0"/>
                <a:ea typeface="Verdana" pitchFamily="34" charset="-122"/>
                <a:cs typeface="Verdana" pitchFamily="34" charset="-120"/>
              </a:rPr>
              <a:t>Un solo criterio de la estándar</a:t>
            </a:r>
            <a:endParaRPr lang="en-US" sz="850" dirty="0"/>
          </a:p>
        </p:txBody>
      </p:sp>
      <p:sp>
        <p:nvSpPr>
          <p:cNvPr id="11" name="Text 9"/>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12" name="Text 10"/>
          <p:cNvSpPr txBox="1"/>
          <p:nvPr/>
        </p:nvSpPr>
        <p:spPr>
          <a:xfrm>
            <a:off x="4709160" y="868680"/>
            <a:ext cx="685800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Qué es</a:t>
            </a:r>
            <a:endParaRPr lang="en-US" sz="1250" dirty="0"/>
          </a:p>
        </p:txBody>
      </p:sp>
      <p:sp>
        <p:nvSpPr>
          <p:cNvPr id="13" name="Text 11"/>
          <p:cNvSpPr txBox="1"/>
          <p:nvPr/>
        </p:nvSpPr>
        <p:spPr>
          <a:xfrm>
            <a:off x="4709160" y="1179576"/>
            <a:ext cx="6858000" cy="731520"/>
          </a:xfrm>
          <a:prstGeom prst="rect">
            <a:avLst/>
          </a:prstGeom>
          <a:noFill/>
          <a:ln/>
        </p:spPr>
        <p:txBody>
          <a:bodyPr wrap="square" lIns="0" tIns="0" rIns="0" bIns="0" rtlCol="0" anchor="t"/>
          <a:lstStyle/>
          <a:p>
            <a:pPr indent="0" marL="0">
              <a:spcAft>
                <a:spcPts val="300"/>
              </a:spcAft>
              <a:buNone/>
            </a:pPr>
            <a:r>
              <a:rPr lang="en-US" sz="1050" dirty="0">
                <a:solidFill>
                  <a:srgbClr val="2B2B2B"/>
                </a:solidFill>
                <a:latin typeface="Verdana" pitchFamily="34" charset="0"/>
                <a:ea typeface="Verdana" pitchFamily="34" charset="-122"/>
                <a:cs typeface="Verdana" pitchFamily="34" charset="-120"/>
              </a:rPr>
              <a:t>Encuesta anual a pymes españolas sobre sus necesidades de financiación, el uso que les dan, los productos que usan y los obstáculos que encuentran.</a:t>
            </a:r>
            <a:endParaRPr lang="en-US" sz="1050" dirty="0"/>
          </a:p>
        </p:txBody>
      </p:sp>
      <p:sp>
        <p:nvSpPr>
          <p:cNvPr id="14" name="Text 12"/>
          <p:cNvSpPr txBox="1"/>
          <p:nvPr/>
        </p:nvSpPr>
        <p:spPr>
          <a:xfrm>
            <a:off x="4709160" y="2011680"/>
            <a:ext cx="685800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Qué hemos obtenido</a:t>
            </a:r>
            <a:endParaRPr lang="en-US" sz="1250" dirty="0"/>
          </a:p>
        </p:txBody>
      </p:sp>
      <p:sp>
        <p:nvSpPr>
          <p:cNvPr id="15" name="Text 13"/>
          <p:cNvSpPr txBox="1"/>
          <p:nvPr/>
        </p:nvSpPr>
        <p:spPr>
          <a:xfrm>
            <a:off x="4709160" y="2322576"/>
            <a:ext cx="6858000" cy="141732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2B2B2B"/>
                </a:solidFill>
                <a:latin typeface="Verdana" pitchFamily="34" charset="0"/>
                <a:ea typeface="Verdana" pitchFamily="34" charset="-122"/>
                <a:cs typeface="Verdana" pitchFamily="34" charset="-120"/>
              </a:rPr>
              <a:t>Necesidad de financiación y grado de bancarización</a:t>
            </a:r>
            <a:endParaRPr lang="en-US" sz="1050" dirty="0"/>
          </a:p>
          <a:p>
            <a:pPr marL="342900" indent="-342900">
              <a:spcAft>
                <a:spcPts val="300"/>
              </a:spcAft>
              <a:buSzPct val="100000"/>
              <a:buChar char="•"/>
            </a:pPr>
            <a:r>
              <a:rPr lang="en-US" sz="1050" dirty="0">
                <a:solidFill>
                  <a:srgbClr val="2B2B2B"/>
                </a:solidFill>
                <a:latin typeface="Verdana" pitchFamily="34" charset="0"/>
                <a:ea typeface="Verdana" pitchFamily="34" charset="-122"/>
                <a:cs typeface="Verdana" pitchFamily="34" charset="-120"/>
              </a:rPr>
              <a:t>Destino de la financiación y productos usados</a:t>
            </a:r>
            <a:endParaRPr lang="en-US" sz="1050" dirty="0"/>
          </a:p>
          <a:p>
            <a:pPr marL="342900" indent="-342900">
              <a:spcAft>
                <a:spcPts val="300"/>
              </a:spcAft>
              <a:buSzPct val="100000"/>
              <a:buChar char="•"/>
            </a:pPr>
            <a:r>
              <a:rPr lang="en-US" sz="1050" dirty="0">
                <a:solidFill>
                  <a:srgbClr val="2B2B2B"/>
                </a:solidFill>
                <a:latin typeface="Verdana" pitchFamily="34" charset="0"/>
                <a:ea typeface="Verdana" pitchFamily="34" charset="-122"/>
                <a:cs typeface="Verdana" pitchFamily="34" charset="-120"/>
              </a:rPr>
              <a:t>Obstáculos para obtenerla y resultado de las solicitudes</a:t>
            </a:r>
            <a:endParaRPr lang="en-US" sz="1050" dirty="0"/>
          </a:p>
        </p:txBody>
      </p:sp>
      <p:sp>
        <p:nvSpPr>
          <p:cNvPr id="16" name="Text 14"/>
          <p:cNvSpPr txBox="1"/>
          <p:nvPr/>
        </p:nvSpPr>
        <p:spPr>
          <a:xfrm>
            <a:off x="4709160" y="3886200"/>
            <a:ext cx="685800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Por qué aplica a PYME, y hasta dónde</a:t>
            </a:r>
            <a:endParaRPr lang="en-US" sz="1250" dirty="0"/>
          </a:p>
        </p:txBody>
      </p:sp>
      <p:sp>
        <p:nvSpPr>
          <p:cNvPr id="17" name="Text 15"/>
          <p:cNvSpPr txBox="1"/>
          <p:nvPr/>
        </p:nvSpPr>
        <p:spPr>
          <a:xfrm>
            <a:off x="4709160" y="4197096"/>
            <a:ext cx="6858000" cy="1234440"/>
          </a:xfrm>
          <a:prstGeom prst="rect">
            <a:avLst/>
          </a:prstGeom>
          <a:noFill/>
          <a:ln/>
        </p:spPr>
        <p:txBody>
          <a:bodyPr wrap="square" lIns="0" tIns="0" rIns="0" bIns="0" rtlCol="0" anchor="t"/>
          <a:lstStyle/>
          <a:p>
            <a:pPr indent="0" marL="0">
              <a:spcAft>
                <a:spcPts val="300"/>
              </a:spcAft>
              <a:buNone/>
            </a:pPr>
            <a:r>
              <a:rPr lang="en-US" sz="1050" dirty="0">
                <a:solidFill>
                  <a:srgbClr val="2B2B2B"/>
                </a:solidFill>
                <a:latin typeface="Verdana" pitchFamily="34" charset="0"/>
                <a:ea typeface="Verdana" pitchFamily="34" charset="-122"/>
                <a:cs typeface="Verdana" pitchFamily="34" charset="-120"/>
              </a:rPr>
              <a:t>Define la PYME por empleados, menos de 250, e INCLUYE a las personas físicas: es la única fuente del conjunto que cuenta al autónomo como pyme. Es una encuesta: da porcentajes de empresas, nunca tipos de interés ni importes.</a:t>
            </a:r>
            <a:endParaRPr lang="en-US" sz="1050" dirty="0"/>
          </a:p>
        </p:txBody>
      </p:sp>
      <p:sp>
        <p:nvSpPr>
          <p:cNvPr id="18" name="Text 16"/>
          <p:cNvSpPr txBox="1"/>
          <p:nvPr/>
        </p:nvSpPr>
        <p:spPr>
          <a:xfrm>
            <a:off x="4709160" y="5806440"/>
            <a:ext cx="6858000" cy="384048"/>
          </a:xfrm>
          <a:prstGeom prst="rect">
            <a:avLst/>
          </a:prstGeom>
          <a:noFill/>
          <a:ln/>
        </p:spPr>
        <p:txBody>
          <a:bodyPr wrap="square" lIns="0" tIns="0" rIns="0" bIns="0" rtlCol="0" anchor="ctr"/>
          <a:lstStyle/>
          <a:p>
            <a:pPr indent="0" marL="0">
              <a:buNone/>
            </a:pPr>
            <a:r>
              <a:rPr lang="en-US" sz="850" i="1" dirty="0">
                <a:solidFill>
                  <a:srgbClr val="818181"/>
                </a:solidFill>
                <a:latin typeface="Verdana" pitchFamily="34" charset="0"/>
                <a:ea typeface="Verdana" pitchFamily="34" charset="-122"/>
                <a:cs typeface="Verdana" pitchFamily="34" charset="-120"/>
              </a:rPr>
              <a:t>España · anual · universo DIRCE</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3" name="Text 1"/>
          <p:cNvSpPr txBox="1"/>
          <p:nvPr/>
        </p:nvSpPr>
        <p:spPr>
          <a:xfrm>
            <a:off x="621792" y="6583680"/>
            <a:ext cx="548640" cy="182880"/>
          </a:xfrm>
          <a:prstGeom prst="rect">
            <a:avLst/>
          </a:prstGeom>
          <a:noFill/>
          <a:ln/>
        </p:spPr>
        <p:txBody>
          <a:bodyPr wrap="square" lIns="0" tIns="0" rIns="0" bIns="0" rtlCol="0" anchor="ctr"/>
          <a:lstStyle/>
          <a:p>
            <a:pPr indent="0" marL="0">
              <a:buNone/>
            </a:pPr>
            <a:r>
              <a:rPr lang="en-US" sz="800" dirty="0">
                <a:solidFill>
                  <a:srgbClr val="CACACA"/>
                </a:solidFill>
                <a:latin typeface="Verdana" pitchFamily="34" charset="0"/>
                <a:ea typeface="Verdana" pitchFamily="34" charset="-122"/>
                <a:cs typeface="Verdana" pitchFamily="34" charset="-120"/>
              </a:rPr>
              <a:t>28</a:t>
            </a:r>
            <a:endParaRPr lang="en-US" sz="800" dirty="0"/>
          </a:p>
        </p:txBody>
      </p:sp>
      <p:sp>
        <p:nvSpPr>
          <p:cNvPr id="4" name="Text 2"/>
          <p:cNvSpPr txBox="1"/>
          <p:nvPr/>
        </p:nvSpPr>
        <p:spPr>
          <a:xfrm>
            <a:off x="621792" y="420624"/>
            <a:ext cx="8430768" cy="658368"/>
          </a:xfrm>
          <a:prstGeom prst="rect">
            <a:avLst/>
          </a:prstGeom>
          <a:noFill/>
          <a:ln/>
        </p:spPr>
        <p:txBody>
          <a:bodyPr wrap="square" lIns="0" tIns="0" rIns="0" bIns="0" rtlCol="0" anchor="t"/>
          <a:lstStyle/>
          <a:p>
            <a:pPr indent="0" marL="0">
              <a:buNone/>
            </a:pPr>
            <a:r>
              <a:rPr lang="en-US" sz="2100" b="1" dirty="0">
                <a:solidFill>
                  <a:srgbClr val="2B2B2B"/>
                </a:solidFill>
                <a:latin typeface="Verdana" pitchFamily="34" charset="0"/>
                <a:ea typeface="Verdana" pitchFamily="34" charset="-122"/>
                <a:cs typeface="Verdana" pitchFamily="34" charset="-120"/>
              </a:rPr>
              <a:t>La pyme pide para circulante, y lo que más señala es el precio</a:t>
            </a:r>
            <a:endParaRPr lang="en-US" sz="2100" dirty="0"/>
          </a:p>
        </p:txBody>
      </p:sp>
      <p:sp>
        <p:nvSpPr>
          <p:cNvPr id="5" name="Text 3"/>
          <p:cNvSpPr txBox="1"/>
          <p:nvPr/>
        </p:nvSpPr>
        <p:spPr>
          <a:xfrm>
            <a:off x="621792" y="1097280"/>
            <a:ext cx="10945368" cy="329184"/>
          </a:xfrm>
          <a:prstGeom prst="rect">
            <a:avLst/>
          </a:prstGeom>
          <a:noFill/>
          <a:ln/>
        </p:spPr>
        <p:txBody>
          <a:bodyPr wrap="square" lIns="0" tIns="0" rIns="0" bIns="0" rtlCol="0" anchor="ctr"/>
          <a:lstStyle/>
          <a:p>
            <a:pPr indent="0" marL="0">
              <a:buNone/>
            </a:pPr>
            <a:r>
              <a:rPr lang="en-US" sz="1000" dirty="0">
                <a:solidFill>
                  <a:srgbClr val="818181"/>
                </a:solidFill>
                <a:latin typeface="Verdana" pitchFamily="34" charset="0"/>
                <a:ea typeface="Verdana" pitchFamily="34" charset="-122"/>
                <a:cs typeface="Verdana" pitchFamily="34" charset="-120"/>
              </a:rPr>
              <a:t>Encuesta a pymes españolas · Porcentajes de empresas, NO tipos de interés</a:t>
            </a:r>
            <a:endParaRPr lang="en-US" sz="1000" dirty="0"/>
          </a:p>
        </p:txBody>
      </p:sp>
      <p:sp>
        <p:nvSpPr>
          <p:cNvPr id="6" name="Shape 4"/>
          <p:cNvSpPr/>
          <p:nvPr/>
        </p:nvSpPr>
        <p:spPr>
          <a:xfrm>
            <a:off x="9235440" y="640080"/>
            <a:ext cx="2331720" cy="365760"/>
          </a:xfrm>
          <a:prstGeom prst="roundRect">
            <a:avLst>
              <a:gd name="adj" fmla="val 15000"/>
            </a:avLst>
          </a:prstGeom>
          <a:solidFill>
            <a:srgbClr val="FFD6BA"/>
          </a:solidFill>
          <a:ln w="12700">
            <a:solidFill>
              <a:srgbClr val="FFD6BA"/>
            </a:solidFill>
            <a:prstDash val="solid"/>
          </a:ln>
        </p:spPr>
      </p:sp>
      <p:sp>
        <p:nvSpPr>
          <p:cNvPr id="7" name="Text 5"/>
          <p:cNvSpPr txBox="1"/>
          <p:nvPr/>
        </p:nvSpPr>
        <p:spPr>
          <a:xfrm>
            <a:off x="9308592" y="658368"/>
            <a:ext cx="2185416" cy="329184"/>
          </a:xfrm>
          <a:prstGeom prst="rect">
            <a:avLst/>
          </a:prstGeom>
          <a:noFill/>
          <a:ln/>
        </p:spPr>
        <p:txBody>
          <a:bodyPr wrap="square" lIns="0" tIns="0" rIns="0" bIns="0" rtlCol="0" anchor="ctr"/>
          <a:lstStyle/>
          <a:p>
            <a:pPr indent="0" marL="0">
              <a:buNone/>
            </a:pPr>
            <a:r>
              <a:rPr lang="en-US" sz="750" b="1" dirty="0">
                <a:solidFill>
                  <a:srgbClr val="2B2B2B"/>
                </a:solidFill>
                <a:latin typeface="Verdana" pitchFamily="34" charset="0"/>
                <a:ea typeface="Verdana" pitchFamily="34" charset="-122"/>
                <a:cs typeface="Verdana" pitchFamily="34" charset="-120"/>
              </a:rPr>
              <a:t>PYME · &lt;250 empleados, con autónomos</a:t>
            </a:r>
            <a:endParaRPr lang="en-US" sz="750" dirty="0"/>
          </a:p>
        </p:txBody>
      </p:sp>
      <p:graphicFrame>
        <p:nvGraphicFramePr>
          <p:cNvPr id="8" name="Chart 0" descr=""/>
          <p:cNvGraphicFramePr/>
          <p:nvPr/>
        </p:nvGraphicFramePr>
        <p:xfrm>
          <a:off x="621792" y="1554480"/>
          <a:ext cx="5349240" cy="3977640"/>
        </p:xfrm>
        <a:graphic xmlns:a="http://schemas.openxmlformats.org/drawingml/2006/main">
          <a:graphicData uri="http://schemas.openxmlformats.org/drawingml/2006/chart">
            <c:chart xmlns:c="http://schemas.openxmlformats.org/drawingml/2006/chart" r:id="rId1"/>
          </a:graphicData>
        </a:graphic>
      </p:graphicFrame>
      <p:graphicFrame>
        <p:nvGraphicFramePr>
          <p:cNvPr id="9" name="Chart 1" descr=""/>
          <p:cNvGraphicFramePr/>
          <p:nvPr/>
        </p:nvGraphicFramePr>
        <p:xfrm>
          <a:off x="6217920" y="1554480"/>
          <a:ext cx="5349240" cy="3977640"/>
        </p:xfrm>
        <a:graphic xmlns:a="http://schemas.openxmlformats.org/drawingml/2006/main">
          <a:graphicData uri="http://schemas.openxmlformats.org/drawingml/2006/chart">
            <c:chart xmlns:c="http://schemas.openxmlformats.org/drawingml/2006/chart" r:id="rId2"/>
          </a:graphicData>
        </a:graphic>
      </p:graphicFrame>
      <p:sp>
        <p:nvSpPr>
          <p:cNvPr id="10" name="Text 6"/>
          <p:cNvSpPr txBox="1"/>
          <p:nvPr/>
        </p:nvSpPr>
        <p:spPr>
          <a:xfrm>
            <a:off x="621792" y="5596128"/>
            <a:ext cx="10945368" cy="365760"/>
          </a:xfrm>
          <a:prstGeom prst="rect">
            <a:avLst/>
          </a:prstGeom>
          <a:noFill/>
          <a:ln/>
        </p:spPr>
        <p:txBody>
          <a:bodyPr wrap="square" lIns="0" tIns="0" rIns="0" bIns="0" rtlCol="0" anchor="ctr"/>
          <a:lstStyle/>
          <a:p>
            <a:pPr indent="0" marL="0">
              <a:buNone/>
            </a:pPr>
            <a:r>
              <a:rPr lang="en-US" sz="950" b="1" dirty="0">
                <a:solidFill>
                  <a:srgbClr val="2B2B2B"/>
                </a:solidFill>
                <a:latin typeface="Verdana" pitchFamily="34" charset="0"/>
                <a:ea typeface="Verdana" pitchFamily="34" charset="-122"/>
                <a:cs typeface="Verdana" pitchFamily="34" charset="-120"/>
              </a:rPr>
              <a:t>El 92,8 % de las que piden financiación la obtienen y aceptan; solo al 3,2 % se le deniega. El destino circulante sube desde el 64,6 % de 2024.</a:t>
            </a:r>
            <a:endParaRPr lang="en-US" sz="950" dirty="0"/>
          </a:p>
        </p:txBody>
      </p:sp>
      <p:sp>
        <p:nvSpPr>
          <p:cNvPr id="11" name="Text 7"/>
          <p:cNvSpPr txBox="1"/>
          <p:nvPr/>
        </p:nvSpPr>
        <p:spPr>
          <a:xfrm>
            <a:off x="621792" y="6053328"/>
            <a:ext cx="10945368" cy="475488"/>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CESGAR, XV Informe «La financiación de la pyme en España», resultados 2025. Obstáculos: base, el total de encuestadas; sobre las que señalan alguno, el precio sería el 42,5 %. Destino: respuesta múltiple.</a:t>
            </a:r>
            <a:endParaRPr lang="en-US" sz="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F56600"/>
          </a:solidFill>
          <a:ln w="12700">
            <a:solidFill>
              <a:srgbClr val="F56600"/>
            </a:solidFill>
            <a:prstDash val="solid"/>
          </a:ln>
        </p:spPr>
      </p:sp>
      <p:sp>
        <p:nvSpPr>
          <p:cNvPr id="3" name="Text 1"/>
          <p:cNvSpPr txBox="1"/>
          <p:nvPr/>
        </p:nvSpPr>
        <p:spPr>
          <a:xfrm>
            <a:off x="621792" y="868680"/>
            <a:ext cx="3200400" cy="292608"/>
          </a:xfrm>
          <a:prstGeom prst="rect">
            <a:avLst/>
          </a:prstGeom>
          <a:noFill/>
          <a:ln/>
        </p:spPr>
        <p:txBody>
          <a:bodyPr wrap="square" lIns="0" tIns="0" rIns="0" bIns="0" rtlCol="0" anchor="ctr"/>
          <a:lstStyle/>
          <a:p>
            <a:pPr indent="0" marL="0">
              <a:buNone/>
            </a:pPr>
            <a:r>
              <a:rPr lang="en-US" sz="1100" b="1" spc="200" kern="0" dirty="0">
                <a:solidFill>
                  <a:srgbClr val="FFFFFF"/>
                </a:solidFill>
                <a:latin typeface="Verdana" pitchFamily="34" charset="0"/>
                <a:ea typeface="Verdana" pitchFamily="34" charset="-122"/>
                <a:cs typeface="Verdana" pitchFamily="34" charset="-120"/>
              </a:rPr>
              <a:t>FUENTE 10</a:t>
            </a:r>
            <a:endParaRPr lang="en-US" sz="1100" dirty="0"/>
          </a:p>
        </p:txBody>
      </p:sp>
      <p:sp>
        <p:nvSpPr>
          <p:cNvPr id="4" name="Text 2"/>
          <p:cNvSpPr txBox="1"/>
          <p:nvPr/>
        </p:nvSpPr>
        <p:spPr>
          <a:xfrm>
            <a:off x="621792" y="1234440"/>
            <a:ext cx="3291840" cy="1417320"/>
          </a:xfrm>
          <a:prstGeom prst="rect">
            <a:avLst/>
          </a:prstGeom>
          <a:noFill/>
          <a:ln/>
        </p:spPr>
        <p:txBody>
          <a:bodyPr wrap="square" lIns="0" tIns="0" rIns="0" bIns="0" rtlCol="0" anchor="t"/>
          <a:lstStyle/>
          <a:p>
            <a:pPr indent="0" marL="0">
              <a:buNone/>
            </a:pPr>
            <a:r>
              <a:rPr lang="en-US" sz="2600" b="1" dirty="0">
                <a:solidFill>
                  <a:srgbClr val="FFFFFF"/>
                </a:solidFill>
                <a:latin typeface="Verdana" pitchFamily="34" charset="0"/>
                <a:ea typeface="Verdana" pitchFamily="34" charset="-122"/>
                <a:cs typeface="Verdana" pitchFamily="34" charset="-120"/>
              </a:rPr>
              <a:t>Factoring y confirming</a:t>
            </a:r>
            <a:endParaRPr lang="en-US" sz="2600" dirty="0"/>
          </a:p>
        </p:txBody>
      </p:sp>
      <p:sp>
        <p:nvSpPr>
          <p:cNvPr id="5" name="Text 3"/>
          <p:cNvSpPr txBox="1"/>
          <p:nvPr/>
        </p:nvSpPr>
        <p:spPr>
          <a:xfrm>
            <a:off x="621792" y="2697480"/>
            <a:ext cx="3200400" cy="566928"/>
          </a:xfrm>
          <a:prstGeom prst="rect">
            <a:avLst/>
          </a:prstGeom>
          <a:noFill/>
          <a:ln/>
        </p:spPr>
        <p:txBody>
          <a:bodyPr wrap="square" lIns="0" tIns="0" rIns="0" bIns="0" rtlCol="0" anchor="t"/>
          <a:lstStyle/>
          <a:p>
            <a:pPr indent="0" marL="0">
              <a:buNone/>
            </a:pPr>
            <a:r>
              <a:rPr lang="en-US" sz="1050" dirty="0">
                <a:solidFill>
                  <a:srgbClr val="FFFFFF"/>
                </a:solidFill>
                <a:latin typeface="Verdana" pitchFamily="34" charset="0"/>
                <a:ea typeface="Verdana" pitchFamily="34" charset="-122"/>
                <a:cs typeface="Verdana" pitchFamily="34" charset="-120"/>
              </a:rPr>
              <a:t>EUF (federación europea) · AEF (España) · Assifact (Italia)</a:t>
            </a:r>
            <a:endParaRPr lang="en-US" sz="1050" dirty="0"/>
          </a:p>
        </p:txBody>
      </p:sp>
      <p:sp>
        <p:nvSpPr>
          <p:cNvPr id="6" name="Shape 4"/>
          <p:cNvSpPr/>
          <p:nvPr/>
        </p:nvSpPr>
        <p:spPr>
          <a:xfrm>
            <a:off x="621792" y="4160520"/>
            <a:ext cx="3154680" cy="1325880"/>
          </a:xfrm>
          <a:prstGeom prst="roundRect">
            <a:avLst>
              <a:gd name="adj" fmla="val 4138"/>
            </a:avLst>
          </a:prstGeom>
          <a:solidFill>
            <a:srgbClr val="FFFFFF"/>
          </a:solidFill>
          <a:ln w="12700">
            <a:solidFill>
              <a:srgbClr val="FFFFFF"/>
            </a:solidFill>
            <a:prstDash val="solid"/>
          </a:ln>
        </p:spPr>
      </p:sp>
      <p:sp>
        <p:nvSpPr>
          <p:cNvPr id="7" name="Text 5"/>
          <p:cNvSpPr txBox="1"/>
          <p:nvPr/>
        </p:nvSpPr>
        <p:spPr>
          <a:xfrm>
            <a:off x="804672" y="4270248"/>
            <a:ext cx="2834640" cy="219456"/>
          </a:xfrm>
          <a:prstGeom prst="rect">
            <a:avLst/>
          </a:prstGeom>
          <a:noFill/>
          <a:ln/>
        </p:spPr>
        <p:txBody>
          <a:bodyPr wrap="square" lIns="0" tIns="0" rIns="0" bIns="0" rtlCol="0" anchor="ctr"/>
          <a:lstStyle/>
          <a:p>
            <a:pPr indent="0" marL="0">
              <a:buNone/>
            </a:pPr>
            <a:r>
              <a:rPr lang="en-US" sz="800" b="1" spc="100" kern="0" dirty="0">
                <a:solidFill>
                  <a:srgbClr val="818181"/>
                </a:solidFill>
                <a:latin typeface="Verdana" pitchFamily="34" charset="0"/>
                <a:ea typeface="Verdana" pitchFamily="34" charset="-122"/>
                <a:cs typeface="Verdana" pitchFamily="34" charset="-120"/>
              </a:rPr>
              <a:t>QUÉ LLAMA PYME</a:t>
            </a:r>
            <a:endParaRPr lang="en-US" sz="800" dirty="0"/>
          </a:p>
        </p:txBody>
      </p:sp>
      <p:sp>
        <p:nvSpPr>
          <p:cNvPr id="8" name="Text 6"/>
          <p:cNvSpPr txBox="1"/>
          <p:nvPr/>
        </p:nvSpPr>
        <p:spPr>
          <a:xfrm>
            <a:off x="804672" y="4507992"/>
            <a:ext cx="2834640" cy="502920"/>
          </a:xfrm>
          <a:prstGeom prst="rect">
            <a:avLst/>
          </a:prstGeom>
          <a:noFill/>
          <a:ln/>
        </p:spPr>
        <p:txBody>
          <a:bodyPr wrap="square" lIns="0" tIns="0" rIns="0" bIns="0" rtlCol="0" anchor="t"/>
          <a:lstStyle/>
          <a:p>
            <a:pPr indent="0" marL="0">
              <a:buNone/>
            </a:pPr>
            <a:r>
              <a:rPr lang="en-US" sz="1200" b="1" dirty="0">
                <a:solidFill>
                  <a:srgbClr val="2B2B2B"/>
                </a:solidFill>
                <a:latin typeface="Verdana" pitchFamily="34" charset="0"/>
                <a:ea typeface="Verdana" pitchFamily="34" charset="-122"/>
                <a:cs typeface="Verdana" pitchFamily="34" charset="-120"/>
              </a:rPr>
              <a:t>todas las empresas</a:t>
            </a:r>
            <a:endParaRPr lang="en-US" sz="1200" dirty="0"/>
          </a:p>
        </p:txBody>
      </p:sp>
      <p:sp>
        <p:nvSpPr>
          <p:cNvPr id="9" name="Shape 7"/>
          <p:cNvSpPr/>
          <p:nvPr/>
        </p:nvSpPr>
        <p:spPr>
          <a:xfrm>
            <a:off x="804672" y="5074920"/>
            <a:ext cx="2788920" cy="274320"/>
          </a:xfrm>
          <a:prstGeom prst="roundRect">
            <a:avLst>
              <a:gd name="adj" fmla="val 26667"/>
            </a:avLst>
          </a:prstGeom>
          <a:solidFill>
            <a:srgbClr val="E5E5E5"/>
          </a:solidFill>
          <a:ln w="12700">
            <a:solidFill>
              <a:srgbClr val="E5E5E5"/>
            </a:solidFill>
            <a:prstDash val="solid"/>
          </a:ln>
        </p:spPr>
      </p:sp>
      <p:sp>
        <p:nvSpPr>
          <p:cNvPr id="10" name="Text 8"/>
          <p:cNvSpPr txBox="1"/>
          <p:nvPr/>
        </p:nvSpPr>
        <p:spPr>
          <a:xfrm>
            <a:off x="804672" y="5074920"/>
            <a:ext cx="2788920" cy="274320"/>
          </a:xfrm>
          <a:prstGeom prst="rect">
            <a:avLst/>
          </a:prstGeom>
          <a:noFill/>
          <a:ln/>
        </p:spPr>
        <p:txBody>
          <a:bodyPr wrap="square" lIns="0" tIns="0" rIns="0" bIns="0" rtlCol="0" anchor="ctr"/>
          <a:lstStyle/>
          <a:p>
            <a:pPr algn="ctr" indent="0" marL="0">
              <a:buNone/>
            </a:pPr>
            <a:r>
              <a:rPr lang="en-US" sz="850" b="1" dirty="0">
                <a:solidFill>
                  <a:srgbClr val="2B2B2B"/>
                </a:solidFill>
                <a:latin typeface="Verdana" pitchFamily="34" charset="0"/>
                <a:ea typeface="Verdana" pitchFamily="34" charset="-122"/>
                <a:cs typeface="Verdana" pitchFamily="34" charset="-120"/>
              </a:rPr>
              <a:t>No distingue tamaño</a:t>
            </a:r>
            <a:endParaRPr lang="en-US" sz="850" dirty="0"/>
          </a:p>
        </p:txBody>
      </p:sp>
      <p:sp>
        <p:nvSpPr>
          <p:cNvPr id="11" name="Text 9"/>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12" name="Text 10"/>
          <p:cNvSpPr txBox="1"/>
          <p:nvPr/>
        </p:nvSpPr>
        <p:spPr>
          <a:xfrm>
            <a:off x="4709160" y="868680"/>
            <a:ext cx="685800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Qué es</a:t>
            </a:r>
            <a:endParaRPr lang="en-US" sz="1250" dirty="0"/>
          </a:p>
        </p:txBody>
      </p:sp>
      <p:sp>
        <p:nvSpPr>
          <p:cNvPr id="13" name="Text 11"/>
          <p:cNvSpPr txBox="1"/>
          <p:nvPr/>
        </p:nvSpPr>
        <p:spPr>
          <a:xfrm>
            <a:off x="4709160" y="1179576"/>
            <a:ext cx="6858000" cy="731520"/>
          </a:xfrm>
          <a:prstGeom prst="rect">
            <a:avLst/>
          </a:prstGeom>
          <a:noFill/>
          <a:ln/>
        </p:spPr>
        <p:txBody>
          <a:bodyPr wrap="square" lIns="0" tIns="0" rIns="0" bIns="0" rtlCol="0" anchor="t"/>
          <a:lstStyle/>
          <a:p>
            <a:pPr indent="0" marL="0">
              <a:spcAft>
                <a:spcPts val="300"/>
              </a:spcAft>
              <a:buNone/>
            </a:pPr>
            <a:r>
              <a:rPr lang="en-US" sz="1050" dirty="0">
                <a:solidFill>
                  <a:srgbClr val="2B2B2B"/>
                </a:solidFill>
                <a:latin typeface="Verdana" pitchFamily="34" charset="0"/>
                <a:ea typeface="Verdana" pitchFamily="34" charset="-122"/>
                <a:cs typeface="Verdana" pitchFamily="34" charset="-120"/>
              </a:rPr>
              <a:t>Las asociaciones del sector publican el volumen de créditos cedidos cada año. La EUF agrega los países europeos; la AEF y Assifact dan más detalle en España e Italia, incluido el confirming.</a:t>
            </a:r>
            <a:endParaRPr lang="en-US" sz="1050" dirty="0"/>
          </a:p>
        </p:txBody>
      </p:sp>
      <p:sp>
        <p:nvSpPr>
          <p:cNvPr id="14" name="Text 12"/>
          <p:cNvSpPr txBox="1"/>
          <p:nvPr/>
        </p:nvSpPr>
        <p:spPr>
          <a:xfrm>
            <a:off x="4709160" y="2011680"/>
            <a:ext cx="685800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Qué hemos obtenido</a:t>
            </a:r>
            <a:endParaRPr lang="en-US" sz="1250" dirty="0"/>
          </a:p>
        </p:txBody>
      </p:sp>
      <p:sp>
        <p:nvSpPr>
          <p:cNvPr id="15" name="Text 13"/>
          <p:cNvSpPr txBox="1"/>
          <p:nvPr/>
        </p:nvSpPr>
        <p:spPr>
          <a:xfrm>
            <a:off x="4709160" y="2322576"/>
            <a:ext cx="6858000" cy="141732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2B2B2B"/>
                </a:solidFill>
                <a:latin typeface="Verdana" pitchFamily="34" charset="0"/>
                <a:ea typeface="Verdana" pitchFamily="34" charset="-122"/>
                <a:cs typeface="Verdana" pitchFamily="34" charset="-120"/>
              </a:rPr>
              <a:t>Volumen cedido por país y su peso sobre el PIB, 2025</a:t>
            </a:r>
            <a:endParaRPr lang="en-US" sz="1050" dirty="0"/>
          </a:p>
          <a:p>
            <a:pPr marL="342900" indent="-342900">
              <a:spcAft>
                <a:spcPts val="300"/>
              </a:spcAft>
              <a:buSzPct val="100000"/>
              <a:buChar char="•"/>
            </a:pPr>
            <a:r>
              <a:rPr lang="en-US" sz="1050" dirty="0">
                <a:solidFill>
                  <a:srgbClr val="2B2B2B"/>
                </a:solidFill>
                <a:latin typeface="Verdana" pitchFamily="34" charset="0"/>
                <a:ea typeface="Verdana" pitchFamily="34" charset="-122"/>
                <a:cs typeface="Verdana" pitchFamily="34" charset="-120"/>
              </a:rPr>
              <a:t>Serie histórica europea desde 2007</a:t>
            </a:r>
            <a:endParaRPr lang="en-US" sz="1050" dirty="0"/>
          </a:p>
          <a:p>
            <a:pPr marL="342900" indent="-342900">
              <a:spcAft>
                <a:spcPts val="300"/>
              </a:spcAft>
              <a:buSzPct val="100000"/>
              <a:buChar char="•"/>
            </a:pPr>
            <a:r>
              <a:rPr lang="en-US" sz="1050" dirty="0">
                <a:solidFill>
                  <a:srgbClr val="2B2B2B"/>
                </a:solidFill>
                <a:latin typeface="Verdana" pitchFamily="34" charset="0"/>
                <a:ea typeface="Verdana" pitchFamily="34" charset="-122"/>
                <a:cs typeface="Verdana" pitchFamily="34" charset="-120"/>
              </a:rPr>
              <a:t>Peso del confirming sobre el total en España e Italia</a:t>
            </a:r>
            <a:endParaRPr lang="en-US" sz="1050" dirty="0"/>
          </a:p>
        </p:txBody>
      </p:sp>
      <p:sp>
        <p:nvSpPr>
          <p:cNvPr id="16" name="Text 14"/>
          <p:cNvSpPr txBox="1"/>
          <p:nvPr/>
        </p:nvSpPr>
        <p:spPr>
          <a:xfrm>
            <a:off x="4709160" y="3886200"/>
            <a:ext cx="685800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Por qué aplica a PYME, y hasta dónde</a:t>
            </a:r>
            <a:endParaRPr lang="en-US" sz="1250" dirty="0"/>
          </a:p>
        </p:txBody>
      </p:sp>
      <p:sp>
        <p:nvSpPr>
          <p:cNvPr id="17" name="Text 15"/>
          <p:cNvSpPr txBox="1"/>
          <p:nvPr/>
        </p:nvSpPr>
        <p:spPr>
          <a:xfrm>
            <a:off x="4709160" y="4197096"/>
            <a:ext cx="6858000" cy="1234440"/>
          </a:xfrm>
          <a:prstGeom prst="rect">
            <a:avLst/>
          </a:prstGeom>
          <a:noFill/>
          <a:ln/>
        </p:spPr>
        <p:txBody>
          <a:bodyPr wrap="square" lIns="0" tIns="0" rIns="0" bIns="0" rtlCol="0" anchor="t"/>
          <a:lstStyle/>
          <a:p>
            <a:pPr indent="0" marL="0">
              <a:spcAft>
                <a:spcPts val="300"/>
              </a:spcAft>
              <a:buNone/>
            </a:pPr>
            <a:r>
              <a:rPr lang="en-US" sz="1050" dirty="0">
                <a:solidFill>
                  <a:srgbClr val="2B2B2B"/>
                </a:solidFill>
                <a:latin typeface="Verdana" pitchFamily="34" charset="0"/>
                <a:ea typeface="Verdana" pitchFamily="34" charset="-122"/>
                <a:cs typeface="Verdana" pitchFamily="34" charset="-120"/>
              </a:rPr>
              <a:t>No aplica: ninguna de las tres distingue por tamaño de empresa. El factoring es un producto muy de PYME, pero los datos son del mercado entero. Tampoco hay un precio público del factoring ni del confirming en ninguno de los siete países.</a:t>
            </a:r>
            <a:endParaRPr lang="en-US" sz="1050" dirty="0"/>
          </a:p>
        </p:txBody>
      </p:sp>
      <p:sp>
        <p:nvSpPr>
          <p:cNvPr id="18" name="Text 16"/>
          <p:cNvSpPr txBox="1"/>
          <p:nvPr/>
        </p:nvSpPr>
        <p:spPr>
          <a:xfrm>
            <a:off x="4709160" y="5806440"/>
            <a:ext cx="6858000" cy="384048"/>
          </a:xfrm>
          <a:prstGeom prst="rect">
            <a:avLst/>
          </a:prstGeom>
          <a:noFill/>
          <a:ln/>
        </p:spPr>
        <p:txBody>
          <a:bodyPr wrap="square" lIns="0" tIns="0" rIns="0" bIns="0" rtlCol="0" anchor="ctr"/>
          <a:lstStyle/>
          <a:p>
            <a:pPr indent="0" marL="0">
              <a:buNone/>
            </a:pPr>
            <a:r>
              <a:rPr lang="en-US" sz="850" i="1" dirty="0">
                <a:solidFill>
                  <a:srgbClr val="818181"/>
                </a:solidFill>
                <a:latin typeface="Verdana" pitchFamily="34" charset="0"/>
                <a:ea typeface="Verdana" pitchFamily="34" charset="-122"/>
                <a:cs typeface="Verdana" pitchFamily="34" charset="-120"/>
              </a:rPr>
              <a:t>Siete países · anual · 2007–2025 · volumen cedido en el año, no saldo vivo</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3" name="Text 1"/>
          <p:cNvSpPr txBox="1"/>
          <p:nvPr/>
        </p:nvSpPr>
        <p:spPr>
          <a:xfrm>
            <a:off x="621792" y="6583680"/>
            <a:ext cx="548640" cy="182880"/>
          </a:xfrm>
          <a:prstGeom prst="rect">
            <a:avLst/>
          </a:prstGeom>
          <a:noFill/>
          <a:ln/>
        </p:spPr>
        <p:txBody>
          <a:bodyPr wrap="square" lIns="0" tIns="0" rIns="0" bIns="0" rtlCol="0" anchor="ctr"/>
          <a:lstStyle/>
          <a:p>
            <a:pPr indent="0" marL="0">
              <a:buNone/>
            </a:pPr>
            <a:r>
              <a:rPr lang="en-US" sz="800" dirty="0">
                <a:solidFill>
                  <a:srgbClr val="CACACA"/>
                </a:solidFill>
                <a:latin typeface="Verdana" pitchFamily="34" charset="0"/>
                <a:ea typeface="Verdana" pitchFamily="34" charset="-122"/>
                <a:cs typeface="Verdana" pitchFamily="34" charset="-120"/>
              </a:rPr>
              <a:t>30</a:t>
            </a:r>
            <a:endParaRPr lang="en-US" sz="800" dirty="0"/>
          </a:p>
        </p:txBody>
      </p:sp>
      <p:sp>
        <p:nvSpPr>
          <p:cNvPr id="4" name="Text 2"/>
          <p:cNvSpPr txBox="1"/>
          <p:nvPr/>
        </p:nvSpPr>
        <p:spPr>
          <a:xfrm>
            <a:off x="621792" y="420624"/>
            <a:ext cx="8430768" cy="658368"/>
          </a:xfrm>
          <a:prstGeom prst="rect">
            <a:avLst/>
          </a:prstGeom>
          <a:noFill/>
          <a:ln/>
        </p:spPr>
        <p:txBody>
          <a:bodyPr wrap="square" lIns="0" tIns="0" rIns="0" bIns="0" rtlCol="0" anchor="t"/>
          <a:lstStyle/>
          <a:p>
            <a:pPr indent="0" marL="0">
              <a:buNone/>
            </a:pPr>
            <a:r>
              <a:rPr lang="en-US" sz="2100" b="1" dirty="0">
                <a:solidFill>
                  <a:srgbClr val="2B2B2B"/>
                </a:solidFill>
                <a:latin typeface="Verdana" pitchFamily="34" charset="0"/>
                <a:ea typeface="Verdana" pitchFamily="34" charset="-122"/>
                <a:cs typeface="Verdana" pitchFamily="34" charset="-120"/>
              </a:rPr>
              <a:t>Portugal y España, donde el factoring pesa más sobre la economía</a:t>
            </a:r>
            <a:endParaRPr lang="en-US" sz="2100" dirty="0"/>
          </a:p>
        </p:txBody>
      </p:sp>
      <p:sp>
        <p:nvSpPr>
          <p:cNvPr id="5" name="Text 3"/>
          <p:cNvSpPr txBox="1"/>
          <p:nvPr/>
        </p:nvSpPr>
        <p:spPr>
          <a:xfrm>
            <a:off x="621792" y="1097280"/>
            <a:ext cx="10945368" cy="329184"/>
          </a:xfrm>
          <a:prstGeom prst="rect">
            <a:avLst/>
          </a:prstGeom>
          <a:noFill/>
          <a:ln/>
        </p:spPr>
        <p:txBody>
          <a:bodyPr wrap="square" lIns="0" tIns="0" rIns="0" bIns="0" rtlCol="0" anchor="ctr"/>
          <a:lstStyle/>
          <a:p>
            <a:pPr indent="0" marL="0">
              <a:buNone/>
            </a:pPr>
            <a:r>
              <a:rPr lang="en-US" sz="1000" dirty="0">
                <a:solidFill>
                  <a:srgbClr val="818181"/>
                </a:solidFill>
                <a:latin typeface="Verdana" pitchFamily="34" charset="0"/>
                <a:ea typeface="Verdana" pitchFamily="34" charset="-122"/>
                <a:cs typeface="Verdana" pitchFamily="34" charset="-120"/>
              </a:rPr>
              <a:t>Volumen de créditos cedidos en el año, en % del PIB · 2025</a:t>
            </a:r>
            <a:endParaRPr lang="en-US" sz="1000" dirty="0"/>
          </a:p>
        </p:txBody>
      </p:sp>
      <p:sp>
        <p:nvSpPr>
          <p:cNvPr id="6" name="Shape 4"/>
          <p:cNvSpPr/>
          <p:nvPr/>
        </p:nvSpPr>
        <p:spPr>
          <a:xfrm>
            <a:off x="9235440" y="640080"/>
            <a:ext cx="2331720" cy="365760"/>
          </a:xfrm>
          <a:prstGeom prst="roundRect">
            <a:avLst>
              <a:gd name="adj" fmla="val 15000"/>
            </a:avLst>
          </a:prstGeom>
          <a:solidFill>
            <a:srgbClr val="E5E5E5"/>
          </a:solidFill>
          <a:ln w="12700">
            <a:solidFill>
              <a:srgbClr val="E5E5E5"/>
            </a:solidFill>
            <a:prstDash val="solid"/>
          </a:ln>
        </p:spPr>
      </p:sp>
      <p:sp>
        <p:nvSpPr>
          <p:cNvPr id="7" name="Text 5"/>
          <p:cNvSpPr txBox="1"/>
          <p:nvPr/>
        </p:nvSpPr>
        <p:spPr>
          <a:xfrm>
            <a:off x="9308592" y="658368"/>
            <a:ext cx="2185416" cy="329184"/>
          </a:xfrm>
          <a:prstGeom prst="rect">
            <a:avLst/>
          </a:prstGeom>
          <a:noFill/>
          <a:ln/>
        </p:spPr>
        <p:txBody>
          <a:bodyPr wrap="square" lIns="0" tIns="0" rIns="0" bIns="0" rtlCol="0" anchor="ctr"/>
          <a:lstStyle/>
          <a:p>
            <a:pPr indent="0" marL="0">
              <a:buNone/>
            </a:pPr>
            <a:r>
              <a:rPr lang="en-US" sz="750" b="1" dirty="0">
                <a:solidFill>
                  <a:srgbClr val="2B2B2B"/>
                </a:solidFill>
                <a:latin typeface="Verdana" pitchFamily="34" charset="0"/>
                <a:ea typeface="Verdana" pitchFamily="34" charset="-122"/>
                <a:cs typeface="Verdana" pitchFamily="34" charset="-120"/>
              </a:rPr>
              <a:t>SIN SEGMENTO · todas las empresas</a:t>
            </a:r>
            <a:endParaRPr lang="en-US" sz="750" dirty="0"/>
          </a:p>
        </p:txBody>
      </p:sp>
      <p:graphicFrame>
        <p:nvGraphicFramePr>
          <p:cNvPr id="8" name="Chart 0" descr=""/>
          <p:cNvGraphicFramePr/>
          <p:nvPr/>
        </p:nvGraphicFramePr>
        <p:xfrm>
          <a:off x="621792" y="1554480"/>
          <a:ext cx="6949440" cy="416052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7955280" y="1600200"/>
            <a:ext cx="1691640" cy="566928"/>
          </a:xfrm>
          <a:prstGeom prst="rect">
            <a:avLst/>
          </a:prstGeom>
          <a:noFill/>
          <a:ln/>
        </p:spPr>
        <p:txBody>
          <a:bodyPr wrap="square" lIns="0" tIns="0" rIns="0" bIns="0" rtlCol="0" anchor="ctr"/>
          <a:lstStyle/>
          <a:p>
            <a:pPr indent="0" marL="0">
              <a:buNone/>
            </a:pPr>
            <a:r>
              <a:rPr lang="en-US" sz="3000" b="1" dirty="0">
                <a:solidFill>
                  <a:srgbClr val="F56600"/>
                </a:solidFill>
                <a:latin typeface="Verdana" pitchFamily="34" charset="0"/>
                <a:ea typeface="Verdana" pitchFamily="34" charset="-122"/>
                <a:cs typeface="Verdana" pitchFamily="34" charset="-120"/>
              </a:rPr>
              <a:t>52,6 %</a:t>
            </a:r>
            <a:endParaRPr lang="en-US" sz="3000" dirty="0"/>
          </a:p>
        </p:txBody>
      </p:sp>
      <p:sp>
        <p:nvSpPr>
          <p:cNvPr id="10" name="Text 7"/>
          <p:cNvSpPr txBox="1"/>
          <p:nvPr/>
        </p:nvSpPr>
        <p:spPr>
          <a:xfrm>
            <a:off x="7955280" y="2185416"/>
            <a:ext cx="1691640" cy="475488"/>
          </a:xfrm>
          <a:prstGeom prst="rect">
            <a:avLst/>
          </a:prstGeom>
          <a:noFill/>
          <a:ln/>
        </p:spPr>
        <p:txBody>
          <a:bodyPr wrap="square" lIns="0" tIns="0" rIns="0" bIns="0" rtlCol="0" anchor="t"/>
          <a:lstStyle/>
          <a:p>
            <a:pPr indent="0" marL="0">
              <a:buNone/>
            </a:pPr>
            <a:r>
              <a:rPr lang="en-US" sz="900" dirty="0">
                <a:solidFill>
                  <a:srgbClr val="2B2B2B"/>
                </a:solidFill>
                <a:latin typeface="Verdana" pitchFamily="34" charset="0"/>
                <a:ea typeface="Verdana" pitchFamily="34" charset="-122"/>
                <a:cs typeface="Verdana" pitchFamily="34" charset="-120"/>
              </a:rPr>
              <a:t>de las cesiones en España son confirming</a:t>
            </a:r>
            <a:endParaRPr lang="en-US" sz="900" dirty="0"/>
          </a:p>
        </p:txBody>
      </p:sp>
      <p:sp>
        <p:nvSpPr>
          <p:cNvPr id="11" name="Text 8"/>
          <p:cNvSpPr txBox="1"/>
          <p:nvPr/>
        </p:nvSpPr>
        <p:spPr>
          <a:xfrm>
            <a:off x="9829800" y="1600200"/>
            <a:ext cx="1691640" cy="566928"/>
          </a:xfrm>
          <a:prstGeom prst="rect">
            <a:avLst/>
          </a:prstGeom>
          <a:noFill/>
          <a:ln/>
        </p:spPr>
        <p:txBody>
          <a:bodyPr wrap="square" lIns="0" tIns="0" rIns="0" bIns="0" rtlCol="0" anchor="ctr"/>
          <a:lstStyle/>
          <a:p>
            <a:pPr indent="0" marL="0">
              <a:buNone/>
            </a:pPr>
            <a:r>
              <a:rPr lang="en-US" sz="3000" b="1" dirty="0">
                <a:solidFill>
                  <a:srgbClr val="2B2B2B"/>
                </a:solidFill>
                <a:latin typeface="Verdana" pitchFamily="34" charset="0"/>
                <a:ea typeface="Verdana" pitchFamily="34" charset="-122"/>
                <a:cs typeface="Verdana" pitchFamily="34" charset="-120"/>
              </a:rPr>
              <a:t>1,9 %</a:t>
            </a:r>
            <a:endParaRPr lang="en-US" sz="3000" dirty="0"/>
          </a:p>
        </p:txBody>
      </p:sp>
      <p:sp>
        <p:nvSpPr>
          <p:cNvPr id="12" name="Text 9"/>
          <p:cNvSpPr txBox="1"/>
          <p:nvPr/>
        </p:nvSpPr>
        <p:spPr>
          <a:xfrm>
            <a:off x="9829800" y="2185416"/>
            <a:ext cx="1691640" cy="475488"/>
          </a:xfrm>
          <a:prstGeom prst="rect">
            <a:avLst/>
          </a:prstGeom>
          <a:noFill/>
          <a:ln/>
        </p:spPr>
        <p:txBody>
          <a:bodyPr wrap="square" lIns="0" tIns="0" rIns="0" bIns="0" rtlCol="0" anchor="t"/>
          <a:lstStyle/>
          <a:p>
            <a:pPr indent="0" marL="0">
              <a:buNone/>
            </a:pPr>
            <a:r>
              <a:rPr lang="en-US" sz="900" dirty="0">
                <a:solidFill>
                  <a:srgbClr val="2B2B2B"/>
                </a:solidFill>
                <a:latin typeface="Verdana" pitchFamily="34" charset="0"/>
                <a:ea typeface="Verdana" pitchFamily="34" charset="-122"/>
                <a:cs typeface="Verdana" pitchFamily="34" charset="-120"/>
              </a:rPr>
              <a:t>en Italia</a:t>
            </a:r>
            <a:endParaRPr lang="en-US" sz="900" dirty="0"/>
          </a:p>
        </p:txBody>
      </p:sp>
      <p:sp>
        <p:nvSpPr>
          <p:cNvPr id="13" name="Shape 10"/>
          <p:cNvSpPr/>
          <p:nvPr/>
        </p:nvSpPr>
        <p:spPr>
          <a:xfrm>
            <a:off x="7955280" y="2926080"/>
            <a:ext cx="3611880" cy="1280160"/>
          </a:xfrm>
          <a:prstGeom prst="roundRect">
            <a:avLst>
              <a:gd name="adj" fmla="val 3571"/>
            </a:avLst>
          </a:prstGeom>
          <a:solidFill>
            <a:srgbClr val="FFF4C2"/>
          </a:solidFill>
          <a:ln w="12700">
            <a:solidFill>
              <a:srgbClr val="FFF4C2"/>
            </a:solidFill>
            <a:prstDash val="solid"/>
          </a:ln>
        </p:spPr>
      </p:sp>
      <p:sp>
        <p:nvSpPr>
          <p:cNvPr id="14" name="Text 11"/>
          <p:cNvSpPr txBox="1"/>
          <p:nvPr/>
        </p:nvSpPr>
        <p:spPr>
          <a:xfrm>
            <a:off x="8156448" y="3054096"/>
            <a:ext cx="3209544" cy="27432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El confirming es casi español</a:t>
            </a:r>
            <a:endParaRPr lang="en-US" sz="1150" dirty="0"/>
          </a:p>
        </p:txBody>
      </p:sp>
      <p:sp>
        <p:nvSpPr>
          <p:cNvPr id="15" name="Text 12"/>
          <p:cNvSpPr txBox="1"/>
          <p:nvPr/>
        </p:nvSpPr>
        <p:spPr>
          <a:xfrm>
            <a:off x="8156448" y="3364992"/>
            <a:ext cx="3209544" cy="731520"/>
          </a:xfrm>
          <a:prstGeom prst="rect">
            <a:avLst/>
          </a:prstGeom>
          <a:noFill/>
          <a:ln/>
        </p:spPr>
        <p:txBody>
          <a:bodyPr wrap="square" lIns="0" tIns="0" rIns="0" bIns="0" rtlCol="0" anchor="t"/>
          <a:lstStyle/>
          <a:p>
            <a:pPr indent="0" marL="0">
              <a:buNone/>
            </a:pPr>
            <a:r>
              <a:rPr lang="en-US" sz="950" dirty="0">
                <a:solidFill>
                  <a:srgbClr val="2B2B2B"/>
                </a:solidFill>
                <a:latin typeface="Verdana" pitchFamily="34" charset="0"/>
                <a:ea typeface="Verdana" pitchFamily="34" charset="-122"/>
                <a:cs typeface="Verdana" pitchFamily="34" charset="-120"/>
              </a:rPr>
              <a:t>España lo usa para más de la mitad de sus cesiones; Italia, casi nada. Es el producto que más distingue al mercado español.</a:t>
            </a:r>
            <a:endParaRPr lang="en-US" sz="950" dirty="0"/>
          </a:p>
        </p:txBody>
      </p:sp>
      <p:sp>
        <p:nvSpPr>
          <p:cNvPr id="16" name="Shape 13"/>
          <p:cNvSpPr/>
          <p:nvPr/>
        </p:nvSpPr>
        <p:spPr>
          <a:xfrm>
            <a:off x="7955280" y="4343400"/>
            <a:ext cx="3611880" cy="1371600"/>
          </a:xfrm>
          <a:prstGeom prst="roundRect">
            <a:avLst>
              <a:gd name="adj" fmla="val 3333"/>
            </a:avLst>
          </a:prstGeom>
          <a:solidFill>
            <a:srgbClr val="F2F4F6"/>
          </a:solidFill>
          <a:ln w="12700">
            <a:solidFill>
              <a:srgbClr val="F2F4F6"/>
            </a:solidFill>
            <a:prstDash val="solid"/>
          </a:ln>
        </p:spPr>
      </p:sp>
      <p:sp>
        <p:nvSpPr>
          <p:cNvPr id="17" name="Text 14"/>
          <p:cNvSpPr txBox="1"/>
          <p:nvPr/>
        </p:nvSpPr>
        <p:spPr>
          <a:xfrm>
            <a:off x="8156448" y="4471416"/>
            <a:ext cx="3209544" cy="27432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Irlanda: el dato está congelado</a:t>
            </a:r>
            <a:endParaRPr lang="en-US" sz="1150" dirty="0"/>
          </a:p>
        </p:txBody>
      </p:sp>
      <p:sp>
        <p:nvSpPr>
          <p:cNvPr id="18" name="Text 15"/>
          <p:cNvSpPr txBox="1"/>
          <p:nvPr/>
        </p:nvSpPr>
        <p:spPr>
          <a:xfrm>
            <a:off x="8156448" y="4782312"/>
            <a:ext cx="3209544" cy="822960"/>
          </a:xfrm>
          <a:prstGeom prst="rect">
            <a:avLst/>
          </a:prstGeom>
          <a:noFill/>
          <a:ln/>
        </p:spPr>
        <p:txBody>
          <a:bodyPr wrap="square" lIns="0" tIns="0" rIns="0" bIns="0" rtlCol="0" anchor="t"/>
          <a:lstStyle/>
          <a:p>
            <a:pPr indent="0" marL="0">
              <a:buNone/>
            </a:pPr>
            <a:r>
              <a:rPr lang="en-US" sz="950" dirty="0">
                <a:solidFill>
                  <a:srgbClr val="2B2B2B"/>
                </a:solidFill>
                <a:latin typeface="Verdana" pitchFamily="34" charset="0"/>
                <a:ea typeface="Verdana" pitchFamily="34" charset="-122"/>
                <a:cs typeface="Verdana" pitchFamily="34" charset="-120"/>
              </a:rPr>
              <a:t>La EUF publica 28.617 M€ en cada uno de los cinco años de 2021 a 2025, sin cambiar. Su 4,5 % del PIB no describe el mercado actual.</a:t>
            </a:r>
            <a:endParaRPr lang="en-US" sz="950" dirty="0"/>
          </a:p>
        </p:txBody>
      </p:sp>
      <p:sp>
        <p:nvSpPr>
          <p:cNvPr id="19" name="Text 16"/>
          <p:cNvSpPr txBox="1"/>
          <p:nvPr/>
        </p:nvSpPr>
        <p:spPr>
          <a:xfrm>
            <a:off x="621792" y="6053328"/>
            <a:ext cx="10945368" cy="475488"/>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EUF, datos anuales 2025 (penetración = volumen cedido / PIB); AEF y Assifact, cierre de 2025. Volumen cedido en el año, no saldo vivo. Ninguna de las tres fuentes distingue por tamaño de empresa.</a:t>
            </a:r>
            <a:endParaRPr lang="en-US" sz="7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F56600"/>
          </a:solidFill>
          <a:ln w="12700">
            <a:solidFill>
              <a:srgbClr val="F56600"/>
            </a:solidFill>
            <a:prstDash val="solid"/>
          </a:ln>
        </p:spPr>
      </p:sp>
      <p:sp>
        <p:nvSpPr>
          <p:cNvPr id="3" name="Text 1"/>
          <p:cNvSpPr txBox="1"/>
          <p:nvPr/>
        </p:nvSpPr>
        <p:spPr>
          <a:xfrm>
            <a:off x="621792" y="868680"/>
            <a:ext cx="3200400" cy="292608"/>
          </a:xfrm>
          <a:prstGeom prst="rect">
            <a:avLst/>
          </a:prstGeom>
          <a:noFill/>
          <a:ln/>
        </p:spPr>
        <p:txBody>
          <a:bodyPr wrap="square" lIns="0" tIns="0" rIns="0" bIns="0" rtlCol="0" anchor="ctr"/>
          <a:lstStyle/>
          <a:p>
            <a:pPr indent="0" marL="0">
              <a:buNone/>
            </a:pPr>
            <a:r>
              <a:rPr lang="en-US" sz="1100" b="1" spc="200" kern="0" dirty="0">
                <a:solidFill>
                  <a:srgbClr val="FFFFFF"/>
                </a:solidFill>
                <a:latin typeface="Verdana" pitchFamily="34" charset="0"/>
                <a:ea typeface="Verdana" pitchFamily="34" charset="-122"/>
                <a:cs typeface="Verdana" pitchFamily="34" charset="-120"/>
              </a:rPr>
              <a:t>FUENTE 11</a:t>
            </a:r>
            <a:endParaRPr lang="en-US" sz="1100" dirty="0"/>
          </a:p>
        </p:txBody>
      </p:sp>
      <p:sp>
        <p:nvSpPr>
          <p:cNvPr id="4" name="Text 2"/>
          <p:cNvSpPr txBox="1"/>
          <p:nvPr/>
        </p:nvSpPr>
        <p:spPr>
          <a:xfrm>
            <a:off x="621792" y="1234440"/>
            <a:ext cx="3291840" cy="1417320"/>
          </a:xfrm>
          <a:prstGeom prst="rect">
            <a:avLst/>
          </a:prstGeom>
          <a:noFill/>
          <a:ln/>
        </p:spPr>
        <p:txBody>
          <a:bodyPr wrap="square" lIns="0" tIns="0" rIns="0" bIns="0" rtlCol="0" anchor="t"/>
          <a:lstStyle/>
          <a:p>
            <a:pPr indent="0" marL="0">
              <a:buNone/>
            </a:pPr>
            <a:r>
              <a:rPr lang="en-US" sz="2600" b="1" dirty="0">
                <a:solidFill>
                  <a:srgbClr val="FFFFFF"/>
                </a:solidFill>
                <a:latin typeface="Verdana" pitchFamily="34" charset="0"/>
                <a:ea typeface="Verdana" pitchFamily="34" charset="-122"/>
                <a:cs typeface="Verdana" pitchFamily="34" charset="-120"/>
              </a:rPr>
              <a:t>Doing Business</a:t>
            </a:r>
            <a:endParaRPr lang="en-US" sz="2600" dirty="0"/>
          </a:p>
        </p:txBody>
      </p:sp>
      <p:sp>
        <p:nvSpPr>
          <p:cNvPr id="5" name="Text 3"/>
          <p:cNvSpPr txBox="1"/>
          <p:nvPr/>
        </p:nvSpPr>
        <p:spPr>
          <a:xfrm>
            <a:off x="621792" y="2697480"/>
            <a:ext cx="3200400" cy="566928"/>
          </a:xfrm>
          <a:prstGeom prst="rect">
            <a:avLst/>
          </a:prstGeom>
          <a:noFill/>
          <a:ln/>
        </p:spPr>
        <p:txBody>
          <a:bodyPr wrap="square" lIns="0" tIns="0" rIns="0" bIns="0" rtlCol="0" anchor="t"/>
          <a:lstStyle/>
          <a:p>
            <a:pPr indent="0" marL="0">
              <a:buNone/>
            </a:pPr>
            <a:r>
              <a:rPr lang="en-US" sz="1050" dirty="0">
                <a:solidFill>
                  <a:srgbClr val="FFFFFF"/>
                </a:solidFill>
                <a:latin typeface="Verdana" pitchFamily="34" charset="0"/>
                <a:ea typeface="Verdana" pitchFamily="34" charset="-122"/>
                <a:cs typeface="Verdana" pitchFamily="34" charset="-120"/>
              </a:rPr>
              <a:t>Banco Mundial · Doing Business 2020, última edición comparable</a:t>
            </a:r>
            <a:endParaRPr lang="en-US" sz="1050" dirty="0"/>
          </a:p>
        </p:txBody>
      </p:sp>
      <p:sp>
        <p:nvSpPr>
          <p:cNvPr id="6" name="Shape 4"/>
          <p:cNvSpPr/>
          <p:nvPr/>
        </p:nvSpPr>
        <p:spPr>
          <a:xfrm>
            <a:off x="621792" y="4160520"/>
            <a:ext cx="3154680" cy="1325880"/>
          </a:xfrm>
          <a:prstGeom prst="roundRect">
            <a:avLst>
              <a:gd name="adj" fmla="val 4138"/>
            </a:avLst>
          </a:prstGeom>
          <a:solidFill>
            <a:srgbClr val="FFFFFF"/>
          </a:solidFill>
          <a:ln w="12700">
            <a:solidFill>
              <a:srgbClr val="FFFFFF"/>
            </a:solidFill>
            <a:prstDash val="solid"/>
          </a:ln>
        </p:spPr>
      </p:sp>
      <p:sp>
        <p:nvSpPr>
          <p:cNvPr id="7" name="Text 5"/>
          <p:cNvSpPr txBox="1"/>
          <p:nvPr/>
        </p:nvSpPr>
        <p:spPr>
          <a:xfrm>
            <a:off x="804672" y="4270248"/>
            <a:ext cx="2834640" cy="219456"/>
          </a:xfrm>
          <a:prstGeom prst="rect">
            <a:avLst/>
          </a:prstGeom>
          <a:noFill/>
          <a:ln/>
        </p:spPr>
        <p:txBody>
          <a:bodyPr wrap="square" lIns="0" tIns="0" rIns="0" bIns="0" rtlCol="0" anchor="ctr"/>
          <a:lstStyle/>
          <a:p>
            <a:pPr indent="0" marL="0">
              <a:buNone/>
            </a:pPr>
            <a:r>
              <a:rPr lang="en-US" sz="800" b="1" spc="100" kern="0" dirty="0">
                <a:solidFill>
                  <a:srgbClr val="818181"/>
                </a:solidFill>
                <a:latin typeface="Verdana" pitchFamily="34" charset="0"/>
                <a:ea typeface="Verdana" pitchFamily="34" charset="-122"/>
                <a:cs typeface="Verdana" pitchFamily="34" charset="-120"/>
              </a:rPr>
              <a:t>QUÉ LLAMA PYME</a:t>
            </a:r>
            <a:endParaRPr lang="en-US" sz="800" dirty="0"/>
          </a:p>
        </p:txBody>
      </p:sp>
      <p:sp>
        <p:nvSpPr>
          <p:cNvPr id="8" name="Text 6"/>
          <p:cNvSpPr txBox="1"/>
          <p:nvPr/>
        </p:nvSpPr>
        <p:spPr>
          <a:xfrm>
            <a:off x="804672" y="4507992"/>
            <a:ext cx="2834640" cy="502920"/>
          </a:xfrm>
          <a:prstGeom prst="rect">
            <a:avLst/>
          </a:prstGeom>
          <a:noFill/>
          <a:ln/>
        </p:spPr>
        <p:txBody>
          <a:bodyPr wrap="square" lIns="0" tIns="0" rIns="0" bIns="0" rtlCol="0" anchor="t"/>
          <a:lstStyle/>
          <a:p>
            <a:pPr indent="0" marL="0">
              <a:buNone/>
            </a:pPr>
            <a:r>
              <a:rPr lang="en-US" sz="1200" b="1" dirty="0">
                <a:solidFill>
                  <a:srgbClr val="2B2B2B"/>
                </a:solidFill>
                <a:latin typeface="Verdana" pitchFamily="34" charset="0"/>
                <a:ea typeface="Verdana" pitchFamily="34" charset="-122"/>
                <a:cs typeface="Verdana" pitchFamily="34" charset="-120"/>
              </a:rPr>
              <a:t>marco del país, no de la PYME</a:t>
            </a:r>
            <a:endParaRPr lang="en-US" sz="1200" dirty="0"/>
          </a:p>
        </p:txBody>
      </p:sp>
      <p:sp>
        <p:nvSpPr>
          <p:cNvPr id="9" name="Shape 7"/>
          <p:cNvSpPr/>
          <p:nvPr/>
        </p:nvSpPr>
        <p:spPr>
          <a:xfrm>
            <a:off x="804672" y="5074920"/>
            <a:ext cx="2788920" cy="274320"/>
          </a:xfrm>
          <a:prstGeom prst="roundRect">
            <a:avLst>
              <a:gd name="adj" fmla="val 26667"/>
            </a:avLst>
          </a:prstGeom>
          <a:solidFill>
            <a:srgbClr val="E5E5E5"/>
          </a:solidFill>
          <a:ln w="12700">
            <a:solidFill>
              <a:srgbClr val="E5E5E5"/>
            </a:solidFill>
            <a:prstDash val="solid"/>
          </a:ln>
        </p:spPr>
      </p:sp>
      <p:sp>
        <p:nvSpPr>
          <p:cNvPr id="10" name="Text 8"/>
          <p:cNvSpPr txBox="1"/>
          <p:nvPr/>
        </p:nvSpPr>
        <p:spPr>
          <a:xfrm>
            <a:off x="804672" y="5074920"/>
            <a:ext cx="2788920" cy="274320"/>
          </a:xfrm>
          <a:prstGeom prst="rect">
            <a:avLst/>
          </a:prstGeom>
          <a:noFill/>
          <a:ln/>
        </p:spPr>
        <p:txBody>
          <a:bodyPr wrap="square" lIns="0" tIns="0" rIns="0" bIns="0" rtlCol="0" anchor="ctr"/>
          <a:lstStyle/>
          <a:p>
            <a:pPr algn="ctr" indent="0" marL="0">
              <a:buNone/>
            </a:pPr>
            <a:r>
              <a:rPr lang="en-US" sz="850" b="1" dirty="0">
                <a:solidFill>
                  <a:srgbClr val="2B2B2B"/>
                </a:solidFill>
                <a:latin typeface="Verdana" pitchFamily="34" charset="0"/>
                <a:ea typeface="Verdana" pitchFamily="34" charset="-122"/>
                <a:cs typeface="Verdana" pitchFamily="34" charset="-120"/>
              </a:rPr>
              <a:t>No es un dato de segmento</a:t>
            </a:r>
            <a:endParaRPr lang="en-US" sz="850" dirty="0"/>
          </a:p>
        </p:txBody>
      </p:sp>
      <p:sp>
        <p:nvSpPr>
          <p:cNvPr id="11" name="Text 9"/>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12" name="Text 10"/>
          <p:cNvSpPr txBox="1"/>
          <p:nvPr/>
        </p:nvSpPr>
        <p:spPr>
          <a:xfrm>
            <a:off x="4709160" y="868680"/>
            <a:ext cx="685800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Qué es</a:t>
            </a:r>
            <a:endParaRPr lang="en-US" sz="1250" dirty="0"/>
          </a:p>
        </p:txBody>
      </p:sp>
      <p:sp>
        <p:nvSpPr>
          <p:cNvPr id="13" name="Text 11"/>
          <p:cNvSpPr txBox="1"/>
          <p:nvPr/>
        </p:nvSpPr>
        <p:spPr>
          <a:xfrm>
            <a:off x="4709160" y="1179576"/>
            <a:ext cx="6858000" cy="731520"/>
          </a:xfrm>
          <a:prstGeom prst="rect">
            <a:avLst/>
          </a:prstGeom>
          <a:noFill/>
          <a:ln/>
        </p:spPr>
        <p:txBody>
          <a:bodyPr wrap="square" lIns="0" tIns="0" rIns="0" bIns="0" rtlCol="0" anchor="t"/>
          <a:lstStyle/>
          <a:p>
            <a:pPr indent="0" marL="0">
              <a:spcAft>
                <a:spcPts val="300"/>
              </a:spcAft>
              <a:buNone/>
            </a:pPr>
            <a:r>
              <a:rPr lang="en-US" sz="1050" dirty="0">
                <a:solidFill>
                  <a:srgbClr val="2B2B2B"/>
                </a:solidFill>
                <a:latin typeface="Verdana" pitchFamily="34" charset="0"/>
                <a:ea typeface="Verdana" pitchFamily="34" charset="-122"/>
                <a:cs typeface="Verdana" pitchFamily="34" charset="-120"/>
              </a:rPr>
              <a:t>Indicadores del marco en que se presta: cuánta información crediticia hay, qué derechos tiene el acreedor y cuánto se recupera, y en cuánto tiempo, cuando una empresa quiebra.</a:t>
            </a:r>
            <a:endParaRPr lang="en-US" sz="1050" dirty="0"/>
          </a:p>
        </p:txBody>
      </p:sp>
      <p:sp>
        <p:nvSpPr>
          <p:cNvPr id="14" name="Text 12"/>
          <p:cNvSpPr txBox="1"/>
          <p:nvPr/>
        </p:nvSpPr>
        <p:spPr>
          <a:xfrm>
            <a:off x="4709160" y="2011680"/>
            <a:ext cx="685800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Qué hemos obtenido</a:t>
            </a:r>
            <a:endParaRPr lang="en-US" sz="1250" dirty="0"/>
          </a:p>
        </p:txBody>
      </p:sp>
      <p:sp>
        <p:nvSpPr>
          <p:cNvPr id="15" name="Text 13"/>
          <p:cNvSpPr txBox="1"/>
          <p:nvPr/>
        </p:nvSpPr>
        <p:spPr>
          <a:xfrm>
            <a:off x="4709160" y="2322576"/>
            <a:ext cx="6858000" cy="141732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2B2B2B"/>
                </a:solidFill>
                <a:latin typeface="Verdana" pitchFamily="34" charset="0"/>
                <a:ea typeface="Verdana" pitchFamily="34" charset="-122"/>
                <a:cs typeface="Verdana" pitchFamily="34" charset="-120"/>
              </a:rPr>
              <a:t>Tasa de recuperación en concurso y tiempo que tarda</a:t>
            </a:r>
            <a:endParaRPr lang="en-US" sz="1050" dirty="0"/>
          </a:p>
          <a:p>
            <a:pPr marL="342900" indent="-342900">
              <a:spcAft>
                <a:spcPts val="300"/>
              </a:spcAft>
              <a:buSzPct val="100000"/>
              <a:buChar char="•"/>
            </a:pPr>
            <a:r>
              <a:rPr lang="en-US" sz="1050" dirty="0">
                <a:solidFill>
                  <a:srgbClr val="2B2B2B"/>
                </a:solidFill>
                <a:latin typeface="Verdana" pitchFamily="34" charset="0"/>
                <a:ea typeface="Verdana" pitchFamily="34" charset="-122"/>
                <a:cs typeface="Verdana" pitchFamily="34" charset="-120"/>
              </a:rPr>
              <a:t>Profundidad de la información crediticia y derechos del acreedor</a:t>
            </a:r>
            <a:endParaRPr lang="en-US" sz="1050" dirty="0"/>
          </a:p>
          <a:p>
            <a:pPr marL="342900" indent="-342900">
              <a:spcAft>
                <a:spcPts val="300"/>
              </a:spcAft>
              <a:buSzPct val="100000"/>
              <a:buChar char="•"/>
            </a:pPr>
            <a:r>
              <a:rPr lang="en-US" sz="1050" dirty="0">
                <a:solidFill>
                  <a:srgbClr val="2B2B2B"/>
                </a:solidFill>
                <a:latin typeface="Verdana" pitchFamily="34" charset="0"/>
                <a:ea typeface="Verdana" pitchFamily="34" charset="-122"/>
                <a:cs typeface="Verdana" pitchFamily="34" charset="-120"/>
              </a:rPr>
              <a:t>Base de los índices de información y de recobro de la presentación anterior</a:t>
            </a:r>
            <a:endParaRPr lang="en-US" sz="1050" dirty="0"/>
          </a:p>
        </p:txBody>
      </p:sp>
      <p:sp>
        <p:nvSpPr>
          <p:cNvPr id="16" name="Text 14"/>
          <p:cNvSpPr txBox="1"/>
          <p:nvPr/>
        </p:nvSpPr>
        <p:spPr>
          <a:xfrm>
            <a:off x="4709160" y="3886200"/>
            <a:ext cx="685800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Por qué aplica a PYME, y hasta dónde</a:t>
            </a:r>
            <a:endParaRPr lang="en-US" sz="1250" dirty="0"/>
          </a:p>
        </p:txBody>
      </p:sp>
      <p:sp>
        <p:nvSpPr>
          <p:cNvPr id="17" name="Text 15"/>
          <p:cNvSpPr txBox="1"/>
          <p:nvPr/>
        </p:nvSpPr>
        <p:spPr>
          <a:xfrm>
            <a:off x="4709160" y="4197096"/>
            <a:ext cx="6858000" cy="1234440"/>
          </a:xfrm>
          <a:prstGeom prst="rect">
            <a:avLst/>
          </a:prstGeom>
          <a:noFill/>
          <a:ln/>
        </p:spPr>
        <p:txBody>
          <a:bodyPr wrap="square" lIns="0" tIns="0" rIns="0" bIns="0" rtlCol="0" anchor="t"/>
          <a:lstStyle/>
          <a:p>
            <a:pPr indent="0" marL="0">
              <a:spcAft>
                <a:spcPts val="300"/>
              </a:spcAft>
              <a:buNone/>
            </a:pPr>
            <a:r>
              <a:rPr lang="en-US" sz="1050" dirty="0">
                <a:solidFill>
                  <a:srgbClr val="2B2B2B"/>
                </a:solidFill>
                <a:latin typeface="Verdana" pitchFamily="34" charset="0"/>
                <a:ea typeface="Verdana" pitchFamily="34" charset="-122"/>
                <a:cs typeface="Verdana" pitchFamily="34" charset="-120"/>
              </a:rPr>
              <a:t>No es un dato de PYME ni de ningún segmento: describe el país. Se incluye porque explica parte de la diferencia de riesgo entre mercados. Es de 2019: el programa se cerró en 2021 y su sucesor aún no cubre los siete países.</a:t>
            </a:r>
            <a:endParaRPr lang="en-US" sz="1050" dirty="0"/>
          </a:p>
        </p:txBody>
      </p:sp>
      <p:sp>
        <p:nvSpPr>
          <p:cNvPr id="18" name="Text 16"/>
          <p:cNvSpPr txBox="1"/>
          <p:nvPr/>
        </p:nvSpPr>
        <p:spPr>
          <a:xfrm>
            <a:off x="4709160" y="5806440"/>
            <a:ext cx="6858000" cy="384048"/>
          </a:xfrm>
          <a:prstGeom prst="rect">
            <a:avLst/>
          </a:prstGeom>
          <a:noFill/>
          <a:ln/>
        </p:spPr>
        <p:txBody>
          <a:bodyPr wrap="square" lIns="0" tIns="0" rIns="0" bIns="0" rtlCol="0" anchor="ctr"/>
          <a:lstStyle/>
          <a:p>
            <a:pPr indent="0" marL="0">
              <a:buNone/>
            </a:pPr>
            <a:r>
              <a:rPr lang="en-US" sz="850" i="1" dirty="0">
                <a:solidFill>
                  <a:srgbClr val="818181"/>
                </a:solidFill>
                <a:latin typeface="Verdana" pitchFamily="34" charset="0"/>
                <a:ea typeface="Verdana" pitchFamily="34" charset="-122"/>
                <a:cs typeface="Verdana" pitchFamily="34" charset="-120"/>
              </a:rPr>
              <a:t>Siete países · mayo de 2019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3" name="Text 1"/>
          <p:cNvSpPr txBox="1"/>
          <p:nvPr/>
        </p:nvSpPr>
        <p:spPr>
          <a:xfrm>
            <a:off x="621792" y="6583680"/>
            <a:ext cx="548640" cy="182880"/>
          </a:xfrm>
          <a:prstGeom prst="rect">
            <a:avLst/>
          </a:prstGeom>
          <a:noFill/>
          <a:ln/>
        </p:spPr>
        <p:txBody>
          <a:bodyPr wrap="square" lIns="0" tIns="0" rIns="0" bIns="0" rtlCol="0" anchor="ctr"/>
          <a:lstStyle/>
          <a:p>
            <a:pPr indent="0" marL="0">
              <a:buNone/>
            </a:pPr>
            <a:r>
              <a:rPr lang="en-US" sz="800" dirty="0">
                <a:solidFill>
                  <a:srgbClr val="CACACA"/>
                </a:solidFill>
                <a:latin typeface="Verdana" pitchFamily="34" charset="0"/>
                <a:ea typeface="Verdana" pitchFamily="34" charset="-122"/>
                <a:cs typeface="Verdana" pitchFamily="34" charset="-120"/>
              </a:rPr>
              <a:t>32</a:t>
            </a:r>
            <a:endParaRPr lang="en-US" sz="800" dirty="0"/>
          </a:p>
        </p:txBody>
      </p:sp>
      <p:sp>
        <p:nvSpPr>
          <p:cNvPr id="4" name="Text 2"/>
          <p:cNvSpPr txBox="1"/>
          <p:nvPr/>
        </p:nvSpPr>
        <p:spPr>
          <a:xfrm>
            <a:off x="621792" y="420624"/>
            <a:ext cx="8430768" cy="658368"/>
          </a:xfrm>
          <a:prstGeom prst="rect">
            <a:avLst/>
          </a:prstGeom>
          <a:noFill/>
          <a:ln/>
        </p:spPr>
        <p:txBody>
          <a:bodyPr wrap="square" lIns="0" tIns="0" rIns="0" bIns="0" rtlCol="0" anchor="t"/>
          <a:lstStyle/>
          <a:p>
            <a:pPr indent="0" marL="0">
              <a:buNone/>
            </a:pPr>
            <a:r>
              <a:rPr lang="en-US" sz="2100" b="1" dirty="0">
                <a:solidFill>
                  <a:srgbClr val="2B2B2B"/>
                </a:solidFill>
                <a:latin typeface="Verdana" pitchFamily="34" charset="0"/>
                <a:ea typeface="Verdana" pitchFamily="34" charset="-122"/>
                <a:cs typeface="Verdana" pitchFamily="34" charset="-120"/>
              </a:rPr>
              <a:t>Países Bajos e Irlanda recuperan más y antes en un concurso; Portugal, menos y más tarde</a:t>
            </a:r>
            <a:endParaRPr lang="en-US" sz="2100" dirty="0"/>
          </a:p>
        </p:txBody>
      </p:sp>
      <p:sp>
        <p:nvSpPr>
          <p:cNvPr id="5" name="Text 3"/>
          <p:cNvSpPr txBox="1"/>
          <p:nvPr/>
        </p:nvSpPr>
        <p:spPr>
          <a:xfrm>
            <a:off x="621792" y="1097280"/>
            <a:ext cx="10945368" cy="329184"/>
          </a:xfrm>
          <a:prstGeom prst="rect">
            <a:avLst/>
          </a:prstGeom>
          <a:noFill/>
          <a:ln/>
        </p:spPr>
        <p:txBody>
          <a:bodyPr wrap="square" lIns="0" tIns="0" rIns="0" bIns="0" rtlCol="0" anchor="ctr"/>
          <a:lstStyle/>
          <a:p>
            <a:pPr indent="0" marL="0">
              <a:buNone/>
            </a:pPr>
            <a:r>
              <a:rPr lang="en-US" sz="1000" dirty="0">
                <a:solidFill>
                  <a:srgbClr val="818181"/>
                </a:solidFill>
                <a:latin typeface="Verdana" pitchFamily="34" charset="0"/>
                <a:ea typeface="Verdana" pitchFamily="34" charset="-122"/>
                <a:cs typeface="Verdana" pitchFamily="34" charset="-120"/>
              </a:rPr>
              <a:t>Tasa de recuperación en concurso y tiempo de resolución · Doing Business 2020</a:t>
            </a:r>
            <a:endParaRPr lang="en-US" sz="1000" dirty="0"/>
          </a:p>
        </p:txBody>
      </p:sp>
      <p:sp>
        <p:nvSpPr>
          <p:cNvPr id="6" name="Shape 4"/>
          <p:cNvSpPr/>
          <p:nvPr/>
        </p:nvSpPr>
        <p:spPr>
          <a:xfrm>
            <a:off x="9235440" y="640080"/>
            <a:ext cx="2331720" cy="365760"/>
          </a:xfrm>
          <a:prstGeom prst="roundRect">
            <a:avLst>
              <a:gd name="adj" fmla="val 15000"/>
            </a:avLst>
          </a:prstGeom>
          <a:solidFill>
            <a:srgbClr val="E5E5E5"/>
          </a:solidFill>
          <a:ln w="12700">
            <a:solidFill>
              <a:srgbClr val="E5E5E5"/>
            </a:solidFill>
            <a:prstDash val="solid"/>
          </a:ln>
        </p:spPr>
      </p:sp>
      <p:sp>
        <p:nvSpPr>
          <p:cNvPr id="7" name="Text 5"/>
          <p:cNvSpPr txBox="1"/>
          <p:nvPr/>
        </p:nvSpPr>
        <p:spPr>
          <a:xfrm>
            <a:off x="9308592" y="658368"/>
            <a:ext cx="2185416" cy="329184"/>
          </a:xfrm>
          <a:prstGeom prst="rect">
            <a:avLst/>
          </a:prstGeom>
          <a:noFill/>
          <a:ln/>
        </p:spPr>
        <p:txBody>
          <a:bodyPr wrap="square" lIns="0" tIns="0" rIns="0" bIns="0" rtlCol="0" anchor="ctr"/>
          <a:lstStyle/>
          <a:p>
            <a:pPr indent="0" marL="0">
              <a:buNone/>
            </a:pPr>
            <a:r>
              <a:rPr lang="en-US" sz="750" b="1" dirty="0">
                <a:solidFill>
                  <a:srgbClr val="2B2B2B"/>
                </a:solidFill>
                <a:latin typeface="Verdana" pitchFamily="34" charset="0"/>
                <a:ea typeface="Verdana" pitchFamily="34" charset="-122"/>
                <a:cs typeface="Verdana" pitchFamily="34" charset="-120"/>
              </a:rPr>
              <a:t>CONTEXTO · marco del país, no de la PYME</a:t>
            </a:r>
            <a:endParaRPr lang="en-US" sz="750" dirty="0"/>
          </a:p>
        </p:txBody>
      </p:sp>
      <p:graphicFrame>
        <p:nvGraphicFramePr>
          <p:cNvPr id="8" name="Chart 0" descr=""/>
          <p:cNvGraphicFramePr/>
          <p:nvPr/>
        </p:nvGraphicFramePr>
        <p:xfrm>
          <a:off x="621792" y="1554480"/>
          <a:ext cx="5394960" cy="3657600"/>
        </p:xfrm>
        <a:graphic xmlns:a="http://schemas.openxmlformats.org/drawingml/2006/main">
          <a:graphicData uri="http://schemas.openxmlformats.org/drawingml/2006/chart">
            <c:chart xmlns:c="http://schemas.openxmlformats.org/drawingml/2006/chart" r:id="rId1"/>
          </a:graphicData>
        </a:graphic>
      </p:graphicFrame>
      <p:graphicFrame>
        <p:nvGraphicFramePr>
          <p:cNvPr id="9" name="Chart 1" descr=""/>
          <p:cNvGraphicFramePr/>
          <p:nvPr/>
        </p:nvGraphicFramePr>
        <p:xfrm>
          <a:off x="6172200" y="1554480"/>
          <a:ext cx="5394960" cy="3657600"/>
        </p:xfrm>
        <a:graphic xmlns:a="http://schemas.openxmlformats.org/drawingml/2006/main">
          <a:graphicData uri="http://schemas.openxmlformats.org/drawingml/2006/chart">
            <c:chart xmlns:c="http://schemas.openxmlformats.org/drawingml/2006/chart" r:id="rId2"/>
          </a:graphicData>
        </a:graphic>
      </p:graphicFrame>
      <p:sp>
        <p:nvSpPr>
          <p:cNvPr id="10" name="Shape 6"/>
          <p:cNvSpPr/>
          <p:nvPr/>
        </p:nvSpPr>
        <p:spPr>
          <a:xfrm>
            <a:off x="621792" y="5321808"/>
            <a:ext cx="10945368" cy="640080"/>
          </a:xfrm>
          <a:prstGeom prst="roundRect">
            <a:avLst>
              <a:gd name="adj" fmla="val 7143"/>
            </a:avLst>
          </a:prstGeom>
          <a:solidFill>
            <a:srgbClr val="F2F4F6"/>
          </a:solidFill>
          <a:ln w="12700">
            <a:solidFill>
              <a:srgbClr val="F2F4F6"/>
            </a:solidFill>
            <a:prstDash val="solid"/>
          </a:ln>
        </p:spPr>
      </p:sp>
      <p:sp>
        <p:nvSpPr>
          <p:cNvPr id="11" name="Text 7"/>
          <p:cNvSpPr txBox="1"/>
          <p:nvPr/>
        </p:nvSpPr>
        <p:spPr>
          <a:xfrm>
            <a:off x="822960" y="5376672"/>
            <a:ext cx="10543032" cy="530352"/>
          </a:xfrm>
          <a:prstGeom prst="rect">
            <a:avLst/>
          </a:prstGeom>
          <a:noFill/>
          <a:ln/>
        </p:spPr>
        <p:txBody>
          <a:bodyPr wrap="square" lIns="0" tIns="0" rIns="0" bIns="0" rtlCol="0" anchor="ctr"/>
          <a:lstStyle/>
          <a:p>
            <a:pPr indent="0" marL="0">
              <a:buNone/>
            </a:pPr>
            <a:r>
              <a:rPr lang="en-US" sz="900" b="1" dirty="0">
                <a:solidFill>
                  <a:srgbClr val="2B2B2B"/>
                </a:solidFill>
                <a:latin typeface="Verdana" pitchFamily="34" charset="0"/>
                <a:ea typeface="Verdana" pitchFamily="34" charset="-122"/>
                <a:cs typeface="Verdana" pitchFamily="34" charset="-120"/>
              </a:rPr>
              <a:t>Recobro frente a riesgo  </a:t>
            </a:r>
            <a:pPr indent="0" marL="0">
              <a:buNone/>
            </a:pPr>
            <a:r>
              <a:rPr lang="en-US" sz="900" dirty="0">
                <a:solidFill>
                  <a:srgbClr val="2B2B2B"/>
                </a:solidFill>
                <a:latin typeface="Verdana" pitchFamily="34" charset="0"/>
                <a:ea typeface="Verdana" pitchFamily="34" charset="-122"/>
                <a:cs typeface="Verdana" pitchFamily="34" charset="-120"/>
              </a:rPr>
              <a:t>Entre los siete países, el índice de recobro de la presentación anterior y el coste del riesgo de la PYME (PD × LGD, EBA) se mueven en sentido contrario: correlación de −0,72. La información crediticia, mucho menos (−0,41 con la PD).</a:t>
            </a:r>
            <a:endParaRPr lang="en-US" sz="900" dirty="0"/>
          </a:p>
        </p:txBody>
      </p:sp>
      <p:sp>
        <p:nvSpPr>
          <p:cNvPr id="12" name="Text 8"/>
          <p:cNvSpPr txBox="1"/>
          <p:nvPr/>
        </p:nvSpPr>
        <p:spPr>
          <a:xfrm>
            <a:off x="621792" y="6053328"/>
            <a:ext cx="10945368" cy="475488"/>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Banco Mundial, Doing Business 2020, dataset histórico, datos de mayo de 2019. Correlaciones sobre siete países: lectura descriptiva, no causal.</a:t>
            </a:r>
            <a:endParaRPr lang="en-US" sz="7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F56600"/>
          </a:solidFill>
          <a:ln w="12700">
            <a:solidFill>
              <a:srgbClr val="F56600"/>
            </a:solidFill>
            <a:prstDash val="solid"/>
          </a:ln>
        </p:spPr>
      </p:sp>
      <p:sp>
        <p:nvSpPr>
          <p:cNvPr id="3" name="Text 1"/>
          <p:cNvSpPr txBox="1"/>
          <p:nvPr/>
        </p:nvSpPr>
        <p:spPr>
          <a:xfrm>
            <a:off x="621792" y="868680"/>
            <a:ext cx="3200400" cy="292608"/>
          </a:xfrm>
          <a:prstGeom prst="rect">
            <a:avLst/>
          </a:prstGeom>
          <a:noFill/>
          <a:ln/>
        </p:spPr>
        <p:txBody>
          <a:bodyPr wrap="square" lIns="0" tIns="0" rIns="0" bIns="0" rtlCol="0" anchor="ctr"/>
          <a:lstStyle/>
          <a:p>
            <a:pPr indent="0" marL="0">
              <a:buNone/>
            </a:pPr>
            <a:r>
              <a:rPr lang="en-US" sz="1100" b="1" spc="200" kern="0" dirty="0">
                <a:solidFill>
                  <a:srgbClr val="FFFFFF"/>
                </a:solidFill>
                <a:latin typeface="Verdana" pitchFamily="34" charset="0"/>
                <a:ea typeface="Verdana" pitchFamily="34" charset="-122"/>
                <a:cs typeface="Verdana" pitchFamily="34" charset="-120"/>
              </a:rPr>
              <a:t>FUENTE 12</a:t>
            </a:r>
            <a:endParaRPr lang="en-US" sz="1100" dirty="0"/>
          </a:p>
        </p:txBody>
      </p:sp>
      <p:sp>
        <p:nvSpPr>
          <p:cNvPr id="4" name="Text 2"/>
          <p:cNvSpPr txBox="1"/>
          <p:nvPr/>
        </p:nvSpPr>
        <p:spPr>
          <a:xfrm>
            <a:off x="621792" y="1234440"/>
            <a:ext cx="3291840" cy="1417320"/>
          </a:xfrm>
          <a:prstGeom prst="rect">
            <a:avLst/>
          </a:prstGeom>
          <a:noFill/>
          <a:ln/>
        </p:spPr>
        <p:txBody>
          <a:bodyPr wrap="square" lIns="0" tIns="0" rIns="0" bIns="0" rtlCol="0" anchor="t"/>
          <a:lstStyle/>
          <a:p>
            <a:pPr indent="0" marL="0">
              <a:buNone/>
            </a:pPr>
            <a:r>
              <a:rPr lang="en-US" sz="2600" b="1" dirty="0">
                <a:solidFill>
                  <a:srgbClr val="FFFFFF"/>
                </a:solidFill>
                <a:latin typeface="Verdana" pitchFamily="34" charset="0"/>
                <a:ea typeface="Verdana" pitchFamily="34" charset="-122"/>
                <a:cs typeface="Verdana" pitchFamily="34" charset="-120"/>
              </a:rPr>
              <a:t>Cuentas de los bancos</a:t>
            </a:r>
            <a:endParaRPr lang="en-US" sz="2600" dirty="0"/>
          </a:p>
        </p:txBody>
      </p:sp>
      <p:sp>
        <p:nvSpPr>
          <p:cNvPr id="5" name="Text 3"/>
          <p:cNvSpPr txBox="1"/>
          <p:nvPr/>
        </p:nvSpPr>
        <p:spPr>
          <a:xfrm>
            <a:off x="621792" y="2697480"/>
            <a:ext cx="3200400" cy="566928"/>
          </a:xfrm>
          <a:prstGeom prst="rect">
            <a:avLst/>
          </a:prstGeom>
          <a:noFill/>
          <a:ln/>
        </p:spPr>
        <p:txBody>
          <a:bodyPr wrap="square" lIns="0" tIns="0" rIns="0" bIns="0" rtlCol="0" anchor="t"/>
          <a:lstStyle/>
          <a:p>
            <a:pPr indent="0" marL="0">
              <a:buNone/>
            </a:pPr>
            <a:r>
              <a:rPr lang="en-US" sz="1050" dirty="0">
                <a:solidFill>
                  <a:srgbClr val="FFFFFF"/>
                </a:solidFill>
                <a:latin typeface="Verdana" pitchFamily="34" charset="0"/>
                <a:ea typeface="Verdana" pitchFamily="34" charset="-122"/>
                <a:cs typeface="Verdana" pitchFamily="34" charset="-120"/>
              </a:rPr>
              <a:t>Informes de resultados de Commerzbank, ABN AMRO, Intesa Sanpaolo, CaixaBank y BPER · primer semestre de 2026</a:t>
            </a:r>
            <a:endParaRPr lang="en-US" sz="1050" dirty="0"/>
          </a:p>
        </p:txBody>
      </p:sp>
      <p:sp>
        <p:nvSpPr>
          <p:cNvPr id="6" name="Shape 4"/>
          <p:cNvSpPr/>
          <p:nvPr/>
        </p:nvSpPr>
        <p:spPr>
          <a:xfrm>
            <a:off x="621792" y="4160520"/>
            <a:ext cx="3154680" cy="1325880"/>
          </a:xfrm>
          <a:prstGeom prst="roundRect">
            <a:avLst>
              <a:gd name="adj" fmla="val 4138"/>
            </a:avLst>
          </a:prstGeom>
          <a:solidFill>
            <a:srgbClr val="FFFFFF"/>
          </a:solidFill>
          <a:ln w="12700">
            <a:solidFill>
              <a:srgbClr val="FFFFFF"/>
            </a:solidFill>
            <a:prstDash val="solid"/>
          </a:ln>
        </p:spPr>
      </p:sp>
      <p:sp>
        <p:nvSpPr>
          <p:cNvPr id="7" name="Text 5"/>
          <p:cNvSpPr txBox="1"/>
          <p:nvPr/>
        </p:nvSpPr>
        <p:spPr>
          <a:xfrm>
            <a:off x="804672" y="4270248"/>
            <a:ext cx="2834640" cy="219456"/>
          </a:xfrm>
          <a:prstGeom prst="rect">
            <a:avLst/>
          </a:prstGeom>
          <a:noFill/>
          <a:ln/>
        </p:spPr>
        <p:txBody>
          <a:bodyPr wrap="square" lIns="0" tIns="0" rIns="0" bIns="0" rtlCol="0" anchor="ctr"/>
          <a:lstStyle/>
          <a:p>
            <a:pPr indent="0" marL="0">
              <a:buNone/>
            </a:pPr>
            <a:r>
              <a:rPr lang="en-US" sz="800" b="1" spc="100" kern="0" dirty="0">
                <a:solidFill>
                  <a:srgbClr val="818181"/>
                </a:solidFill>
                <a:latin typeface="Verdana" pitchFamily="34" charset="0"/>
                <a:ea typeface="Verdana" pitchFamily="34" charset="-122"/>
                <a:cs typeface="Verdana" pitchFamily="34" charset="-120"/>
              </a:rPr>
              <a:t>QUÉ LLAMA PYME</a:t>
            </a:r>
            <a:endParaRPr lang="en-US" sz="800" dirty="0"/>
          </a:p>
        </p:txBody>
      </p:sp>
      <p:sp>
        <p:nvSpPr>
          <p:cNvPr id="8" name="Text 6"/>
          <p:cNvSpPr txBox="1"/>
          <p:nvPr/>
        </p:nvSpPr>
        <p:spPr>
          <a:xfrm>
            <a:off x="804672" y="4507992"/>
            <a:ext cx="2834640" cy="502920"/>
          </a:xfrm>
          <a:prstGeom prst="rect">
            <a:avLst/>
          </a:prstGeom>
          <a:noFill/>
          <a:ln/>
        </p:spPr>
        <p:txBody>
          <a:bodyPr wrap="square" lIns="0" tIns="0" rIns="0" bIns="0" rtlCol="0" anchor="t"/>
          <a:lstStyle/>
          <a:p>
            <a:pPr indent="0" marL="0">
              <a:buNone/>
            </a:pPr>
            <a:r>
              <a:rPr lang="en-US" sz="1200" b="1" dirty="0">
                <a:solidFill>
                  <a:srgbClr val="2B2B2B"/>
                </a:solidFill>
                <a:latin typeface="Verdana" pitchFamily="34" charset="0"/>
                <a:ea typeface="Verdana" pitchFamily="34" charset="-122"/>
                <a:cs typeface="Verdana" pitchFamily="34" charset="-120"/>
              </a:rPr>
              <a:t>segmento de gestión del banco</a:t>
            </a:r>
            <a:endParaRPr lang="en-US" sz="1200" dirty="0"/>
          </a:p>
        </p:txBody>
      </p:sp>
      <p:sp>
        <p:nvSpPr>
          <p:cNvPr id="9" name="Shape 7"/>
          <p:cNvSpPr/>
          <p:nvPr/>
        </p:nvSpPr>
        <p:spPr>
          <a:xfrm>
            <a:off x="804672" y="5074920"/>
            <a:ext cx="2788920" cy="274320"/>
          </a:xfrm>
          <a:prstGeom prst="roundRect">
            <a:avLst>
              <a:gd name="adj" fmla="val 26667"/>
            </a:avLst>
          </a:prstGeom>
          <a:solidFill>
            <a:srgbClr val="FFCCE8"/>
          </a:solidFill>
          <a:ln w="12700">
            <a:solidFill>
              <a:srgbClr val="FFCCE8"/>
            </a:solidFill>
            <a:prstDash val="solid"/>
          </a:ln>
        </p:spPr>
      </p:sp>
      <p:sp>
        <p:nvSpPr>
          <p:cNvPr id="10" name="Text 8"/>
          <p:cNvSpPr txBox="1"/>
          <p:nvPr/>
        </p:nvSpPr>
        <p:spPr>
          <a:xfrm>
            <a:off x="804672" y="5074920"/>
            <a:ext cx="2788920" cy="274320"/>
          </a:xfrm>
          <a:prstGeom prst="rect">
            <a:avLst/>
          </a:prstGeom>
          <a:noFill/>
          <a:ln/>
        </p:spPr>
        <p:txBody>
          <a:bodyPr wrap="square" lIns="0" tIns="0" rIns="0" bIns="0" rtlCol="0" anchor="ctr"/>
          <a:lstStyle/>
          <a:p>
            <a:pPr algn="ctr" indent="0" marL="0">
              <a:buNone/>
            </a:pPr>
            <a:r>
              <a:rPr lang="en-US" sz="850" b="1" dirty="0">
                <a:solidFill>
                  <a:srgbClr val="2B2B2B"/>
                </a:solidFill>
                <a:latin typeface="Verdana" pitchFamily="34" charset="0"/>
                <a:ea typeface="Verdana" pitchFamily="34" charset="-122"/>
                <a:cs typeface="Verdana" pitchFamily="34" charset="-120"/>
              </a:rPr>
              <a:t>Mezcla PYME y gran empresa</a:t>
            </a:r>
            <a:endParaRPr lang="en-US" sz="850" dirty="0"/>
          </a:p>
        </p:txBody>
      </p:sp>
      <p:sp>
        <p:nvSpPr>
          <p:cNvPr id="11" name="Text 9"/>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12" name="Text 10"/>
          <p:cNvSpPr txBox="1"/>
          <p:nvPr/>
        </p:nvSpPr>
        <p:spPr>
          <a:xfrm>
            <a:off x="4709160" y="868680"/>
            <a:ext cx="685800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Qué es</a:t>
            </a:r>
            <a:endParaRPr lang="en-US" sz="1250" dirty="0"/>
          </a:p>
        </p:txBody>
      </p:sp>
      <p:sp>
        <p:nvSpPr>
          <p:cNvPr id="13" name="Text 11"/>
          <p:cNvSpPr txBox="1"/>
          <p:nvPr/>
        </p:nvSpPr>
        <p:spPr>
          <a:xfrm>
            <a:off x="4709160" y="1179576"/>
            <a:ext cx="6858000" cy="731520"/>
          </a:xfrm>
          <a:prstGeom prst="rect">
            <a:avLst/>
          </a:prstGeom>
          <a:noFill/>
          <a:ln/>
        </p:spPr>
        <p:txBody>
          <a:bodyPr wrap="square" lIns="0" tIns="0" rIns="0" bIns="0" rtlCol="0" anchor="t"/>
          <a:lstStyle/>
          <a:p>
            <a:pPr indent="0" marL="0">
              <a:spcAft>
                <a:spcPts val="300"/>
              </a:spcAft>
              <a:buNone/>
            </a:pPr>
            <a:r>
              <a:rPr lang="en-US" sz="1050" dirty="0">
                <a:solidFill>
                  <a:srgbClr val="2B2B2B"/>
                </a:solidFill>
                <a:latin typeface="Verdana" pitchFamily="34" charset="0"/>
                <a:ea typeface="Verdana" pitchFamily="34" charset="-122"/>
                <a:cs typeface="Verdana" pitchFamily="34" charset="-120"/>
              </a:rPr>
              <a:t>La cuenta de resultados que cada banco publica de sus segmentos de negocio, junto con la inversión crediticia de cada segmento.</a:t>
            </a:r>
            <a:endParaRPr lang="en-US" sz="1050" dirty="0"/>
          </a:p>
        </p:txBody>
      </p:sp>
      <p:sp>
        <p:nvSpPr>
          <p:cNvPr id="14" name="Text 12"/>
          <p:cNvSpPr txBox="1"/>
          <p:nvPr/>
        </p:nvSpPr>
        <p:spPr>
          <a:xfrm>
            <a:off x="4709160" y="2011680"/>
            <a:ext cx="685800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Qué hemos obtenido</a:t>
            </a:r>
            <a:endParaRPr lang="en-US" sz="1250" dirty="0"/>
          </a:p>
        </p:txBody>
      </p:sp>
      <p:sp>
        <p:nvSpPr>
          <p:cNvPr id="15" name="Text 13"/>
          <p:cNvSpPr txBox="1"/>
          <p:nvPr/>
        </p:nvSpPr>
        <p:spPr>
          <a:xfrm>
            <a:off x="4709160" y="2322576"/>
            <a:ext cx="6858000" cy="141732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2B2B2B"/>
                </a:solidFill>
                <a:latin typeface="Verdana" pitchFamily="34" charset="0"/>
                <a:ea typeface="Verdana" pitchFamily="34" charset="-122"/>
                <a:cs typeface="Verdana" pitchFamily="34" charset="-120"/>
              </a:rPr>
              <a:t>Ingresos, margen de intereses, comisiones y costes por segmento</a:t>
            </a:r>
            <a:endParaRPr lang="en-US" sz="1050" dirty="0"/>
          </a:p>
          <a:p>
            <a:pPr marL="342900" indent="-342900">
              <a:spcAft>
                <a:spcPts val="300"/>
              </a:spcAft>
              <a:buSzPct val="100000"/>
              <a:buChar char="•"/>
            </a:pPr>
            <a:r>
              <a:rPr lang="en-US" sz="1050" dirty="0">
                <a:solidFill>
                  <a:srgbClr val="2B2B2B"/>
                </a:solidFill>
                <a:latin typeface="Verdana" pitchFamily="34" charset="0"/>
                <a:ea typeface="Verdana" pitchFamily="34" charset="-122"/>
                <a:cs typeface="Verdana" pitchFamily="34" charset="-120"/>
              </a:rPr>
              <a:t>Inversión crediticia del segmento, para expresarlo todo por euro prestado</a:t>
            </a:r>
            <a:endParaRPr lang="en-US" sz="1050" dirty="0"/>
          </a:p>
        </p:txBody>
      </p:sp>
      <p:sp>
        <p:nvSpPr>
          <p:cNvPr id="16" name="Text 14"/>
          <p:cNvSpPr txBox="1"/>
          <p:nvPr/>
        </p:nvSpPr>
        <p:spPr>
          <a:xfrm>
            <a:off x="4709160" y="3886200"/>
            <a:ext cx="6858000" cy="274320"/>
          </a:xfrm>
          <a:prstGeom prst="rect">
            <a:avLst/>
          </a:prstGeom>
          <a:noFill/>
          <a:ln/>
        </p:spPr>
        <p:txBody>
          <a:bodyPr wrap="square" lIns="0" tIns="0" rIns="0" bIns="0" rtlCol="0" anchor="ctr"/>
          <a:lstStyle/>
          <a:p>
            <a:pPr indent="0" marL="0">
              <a:buNone/>
            </a:pPr>
            <a:r>
              <a:rPr lang="en-US" sz="1250" b="1" dirty="0">
                <a:solidFill>
                  <a:srgbClr val="F56600"/>
                </a:solidFill>
                <a:latin typeface="Verdana" pitchFamily="34" charset="0"/>
                <a:ea typeface="Verdana" pitchFamily="34" charset="-122"/>
                <a:cs typeface="Verdana" pitchFamily="34" charset="-120"/>
              </a:rPr>
              <a:t>Por qué aplica a PYME, y hasta dónde</a:t>
            </a:r>
            <a:endParaRPr lang="en-US" sz="1250" dirty="0"/>
          </a:p>
        </p:txBody>
      </p:sp>
      <p:sp>
        <p:nvSpPr>
          <p:cNvPr id="17" name="Text 15"/>
          <p:cNvSpPr txBox="1"/>
          <p:nvPr/>
        </p:nvSpPr>
        <p:spPr>
          <a:xfrm>
            <a:off x="4709160" y="4197096"/>
            <a:ext cx="6858000" cy="1234440"/>
          </a:xfrm>
          <a:prstGeom prst="rect">
            <a:avLst/>
          </a:prstGeom>
          <a:noFill/>
          <a:ln/>
        </p:spPr>
        <p:txBody>
          <a:bodyPr wrap="square" lIns="0" tIns="0" rIns="0" bIns="0" rtlCol="0" anchor="t"/>
          <a:lstStyle/>
          <a:p>
            <a:pPr indent="0" marL="0">
              <a:spcAft>
                <a:spcPts val="300"/>
              </a:spcAft>
              <a:buNone/>
            </a:pPr>
            <a:r>
              <a:rPr lang="en-US" sz="1050" dirty="0">
                <a:solidFill>
                  <a:srgbClr val="2B2B2B"/>
                </a:solidFill>
                <a:latin typeface="Verdana" pitchFamily="34" charset="0"/>
                <a:ea typeface="Verdana" pitchFamily="34" charset="-122"/>
                <a:cs typeface="Verdana" pitchFamily="34" charset="-120"/>
              </a:rPr>
              <a:t>No es PYME: cada banco define sus segmentos para su propia gestión, y ninguno aísla la PYME. «Corporate Clients» o «Corporate Banking» mezclan gran empresa, PYME e institucionales; CaixaBank y BPER solo publican el grupo. Sirven como orden de magnitud, no como dato del segmento.</a:t>
            </a:r>
            <a:endParaRPr lang="en-US" sz="1050" dirty="0"/>
          </a:p>
        </p:txBody>
      </p:sp>
      <p:sp>
        <p:nvSpPr>
          <p:cNvPr id="18" name="Text 16"/>
          <p:cNvSpPr txBox="1"/>
          <p:nvPr/>
        </p:nvSpPr>
        <p:spPr>
          <a:xfrm>
            <a:off x="4709160" y="5806440"/>
            <a:ext cx="6858000" cy="384048"/>
          </a:xfrm>
          <a:prstGeom prst="rect">
            <a:avLst/>
          </a:prstGeom>
          <a:noFill/>
          <a:ln/>
        </p:spPr>
        <p:txBody>
          <a:bodyPr wrap="square" lIns="0" tIns="0" rIns="0" bIns="0" rtlCol="0" anchor="ctr"/>
          <a:lstStyle/>
          <a:p>
            <a:pPr indent="0" marL="0">
              <a:buNone/>
            </a:pPr>
            <a:r>
              <a:rPr lang="en-US" sz="850" i="1" dirty="0">
                <a:solidFill>
                  <a:srgbClr val="818181"/>
                </a:solidFill>
                <a:latin typeface="Verdana" pitchFamily="34" charset="0"/>
                <a:ea typeface="Verdana" pitchFamily="34" charset="-122"/>
                <a:cs typeface="Verdana" pitchFamily="34" charset="-120"/>
              </a:rPr>
              <a:t>Cinco bancos de cuatro países · primer semestre de 2026 · de nueve analizados, solo dos publican segmento de empresas con comisiones</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3" name="Text 1"/>
          <p:cNvSpPr txBox="1"/>
          <p:nvPr/>
        </p:nvSpPr>
        <p:spPr>
          <a:xfrm>
            <a:off x="621792" y="6583680"/>
            <a:ext cx="548640" cy="182880"/>
          </a:xfrm>
          <a:prstGeom prst="rect">
            <a:avLst/>
          </a:prstGeom>
          <a:noFill/>
          <a:ln/>
        </p:spPr>
        <p:txBody>
          <a:bodyPr wrap="square" lIns="0" tIns="0" rIns="0" bIns="0" rtlCol="0" anchor="ctr"/>
          <a:lstStyle/>
          <a:p>
            <a:pPr indent="0" marL="0">
              <a:buNone/>
            </a:pPr>
            <a:r>
              <a:rPr lang="en-US" sz="800" dirty="0">
                <a:solidFill>
                  <a:srgbClr val="CACACA"/>
                </a:solidFill>
                <a:latin typeface="Verdana" pitchFamily="34" charset="0"/>
                <a:ea typeface="Verdana" pitchFamily="34" charset="-122"/>
                <a:cs typeface="Verdana" pitchFamily="34" charset="-120"/>
              </a:rPr>
              <a:t>34</a:t>
            </a:r>
            <a:endParaRPr lang="en-US" sz="800" dirty="0"/>
          </a:p>
        </p:txBody>
      </p:sp>
      <p:sp>
        <p:nvSpPr>
          <p:cNvPr id="4" name="Text 2"/>
          <p:cNvSpPr txBox="1"/>
          <p:nvPr/>
        </p:nvSpPr>
        <p:spPr>
          <a:xfrm>
            <a:off x="621792" y="420624"/>
            <a:ext cx="8430768" cy="658368"/>
          </a:xfrm>
          <a:prstGeom prst="rect">
            <a:avLst/>
          </a:prstGeom>
          <a:noFill/>
          <a:ln/>
        </p:spPr>
        <p:txBody>
          <a:bodyPr wrap="square" lIns="0" tIns="0" rIns="0" bIns="0" rtlCol="0" anchor="t"/>
          <a:lstStyle/>
          <a:p>
            <a:pPr indent="0" marL="0">
              <a:buNone/>
            </a:pPr>
            <a:r>
              <a:rPr lang="en-US" sz="2100" b="1" dirty="0">
                <a:solidFill>
                  <a:srgbClr val="2B2B2B"/>
                </a:solidFill>
                <a:latin typeface="Verdana" pitchFamily="34" charset="0"/>
                <a:ea typeface="Verdana" pitchFamily="34" charset="-122"/>
                <a:cs typeface="Verdana" pitchFamily="34" charset="-120"/>
              </a:rPr>
              <a:t>La banca de empresas cobra en comisiones alrededor del 1 % de lo que presta</a:t>
            </a:r>
            <a:endParaRPr lang="en-US" sz="2100" dirty="0"/>
          </a:p>
        </p:txBody>
      </p:sp>
      <p:sp>
        <p:nvSpPr>
          <p:cNvPr id="5" name="Text 3"/>
          <p:cNvSpPr txBox="1"/>
          <p:nvPr/>
        </p:nvSpPr>
        <p:spPr>
          <a:xfrm>
            <a:off x="621792" y="1097280"/>
            <a:ext cx="10945368" cy="329184"/>
          </a:xfrm>
          <a:prstGeom prst="rect">
            <a:avLst/>
          </a:prstGeom>
          <a:noFill/>
          <a:ln/>
        </p:spPr>
        <p:txBody>
          <a:bodyPr wrap="square" lIns="0" tIns="0" rIns="0" bIns="0" rtlCol="0" anchor="ctr"/>
          <a:lstStyle/>
          <a:p>
            <a:pPr indent="0" marL="0">
              <a:buNone/>
            </a:pPr>
            <a:r>
              <a:rPr lang="en-US" sz="1000" dirty="0">
                <a:solidFill>
                  <a:srgbClr val="818181"/>
                </a:solidFill>
                <a:latin typeface="Verdana" pitchFamily="34" charset="0"/>
                <a:ea typeface="Verdana" pitchFamily="34" charset="-122"/>
                <a:cs typeface="Verdana" pitchFamily="34" charset="-120"/>
              </a:rPr>
              <a:t>Comisiones netas anualizadas sobre la inversión crediticia de cada perímetro · Primer semestre de 2026</a:t>
            </a:r>
            <a:endParaRPr lang="en-US" sz="1000" dirty="0"/>
          </a:p>
        </p:txBody>
      </p:sp>
      <p:sp>
        <p:nvSpPr>
          <p:cNvPr id="6" name="Shape 4"/>
          <p:cNvSpPr/>
          <p:nvPr/>
        </p:nvSpPr>
        <p:spPr>
          <a:xfrm>
            <a:off x="9235440" y="640080"/>
            <a:ext cx="2331720" cy="365760"/>
          </a:xfrm>
          <a:prstGeom prst="roundRect">
            <a:avLst>
              <a:gd name="adj" fmla="val 15000"/>
            </a:avLst>
          </a:prstGeom>
          <a:solidFill>
            <a:srgbClr val="FFCCE8"/>
          </a:solidFill>
          <a:ln w="12700">
            <a:solidFill>
              <a:srgbClr val="FFCCE8"/>
            </a:solidFill>
            <a:prstDash val="solid"/>
          </a:ln>
        </p:spPr>
      </p:sp>
      <p:sp>
        <p:nvSpPr>
          <p:cNvPr id="7" name="Text 5"/>
          <p:cNvSpPr txBox="1"/>
          <p:nvPr/>
        </p:nvSpPr>
        <p:spPr>
          <a:xfrm>
            <a:off x="9308592" y="658368"/>
            <a:ext cx="2185416" cy="329184"/>
          </a:xfrm>
          <a:prstGeom prst="rect">
            <a:avLst/>
          </a:prstGeom>
          <a:noFill/>
          <a:ln/>
        </p:spPr>
        <p:txBody>
          <a:bodyPr wrap="square" lIns="0" tIns="0" rIns="0" bIns="0" rtlCol="0" anchor="ctr"/>
          <a:lstStyle/>
          <a:p>
            <a:pPr indent="0" marL="0">
              <a:buNone/>
            </a:pPr>
            <a:r>
              <a:rPr lang="en-US" sz="750" b="1" dirty="0">
                <a:solidFill>
                  <a:srgbClr val="2B2B2B"/>
                </a:solidFill>
                <a:latin typeface="Verdana" pitchFamily="34" charset="0"/>
                <a:ea typeface="Verdana" pitchFamily="34" charset="-122"/>
                <a:cs typeface="Verdana" pitchFamily="34" charset="-120"/>
              </a:rPr>
              <a:t>PROXY · segmento de gestión del banco</a:t>
            </a:r>
            <a:endParaRPr lang="en-US" sz="750" dirty="0"/>
          </a:p>
        </p:txBody>
      </p:sp>
      <p:graphicFrame>
        <p:nvGraphicFramePr>
          <p:cNvPr id="8" name="Chart 0" descr=""/>
          <p:cNvGraphicFramePr/>
          <p:nvPr/>
        </p:nvGraphicFramePr>
        <p:xfrm>
          <a:off x="621792" y="1554480"/>
          <a:ext cx="6949440" cy="416052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713232" y="5797296"/>
            <a:ext cx="201168" cy="109728"/>
          </a:xfrm>
          <a:prstGeom prst="rect">
            <a:avLst/>
          </a:prstGeom>
          <a:solidFill>
            <a:srgbClr val="2A6FB0"/>
          </a:solidFill>
          <a:ln w="12700">
            <a:solidFill>
              <a:srgbClr val="2A6FB0"/>
            </a:solidFill>
            <a:prstDash val="solid"/>
          </a:ln>
        </p:spPr>
      </p:sp>
      <p:sp>
        <p:nvSpPr>
          <p:cNvPr id="10" name="Text 7"/>
          <p:cNvSpPr txBox="1"/>
          <p:nvPr/>
        </p:nvSpPr>
        <p:spPr>
          <a:xfrm>
            <a:off x="969264" y="5742432"/>
            <a:ext cx="2377440" cy="219456"/>
          </a:xfrm>
          <a:prstGeom prst="rect">
            <a:avLst/>
          </a:prstGeom>
          <a:noFill/>
          <a:ln/>
        </p:spPr>
        <p:txBody>
          <a:bodyPr wrap="square" lIns="0" tIns="0" rIns="0" bIns="0" rtlCol="0" anchor="ctr"/>
          <a:lstStyle/>
          <a:p>
            <a:pPr indent="0" marL="0">
              <a:buNone/>
            </a:pPr>
            <a:r>
              <a:rPr lang="en-US" sz="850" dirty="0">
                <a:solidFill>
                  <a:srgbClr val="2B2B2B"/>
                </a:solidFill>
                <a:latin typeface="Verdana" pitchFamily="34" charset="0"/>
                <a:ea typeface="Verdana" pitchFamily="34" charset="-122"/>
                <a:cs typeface="Verdana" pitchFamily="34" charset="-120"/>
              </a:rPr>
              <a:t>segmento de empresas publicado</a:t>
            </a:r>
            <a:endParaRPr lang="en-US" sz="850" dirty="0"/>
          </a:p>
        </p:txBody>
      </p:sp>
      <p:sp>
        <p:nvSpPr>
          <p:cNvPr id="11" name="Shape 8"/>
          <p:cNvSpPr/>
          <p:nvPr/>
        </p:nvSpPr>
        <p:spPr>
          <a:xfrm>
            <a:off x="3529584" y="5797296"/>
            <a:ext cx="201168" cy="109728"/>
          </a:xfrm>
          <a:prstGeom prst="rect">
            <a:avLst/>
          </a:prstGeom>
          <a:solidFill>
            <a:srgbClr val="B9B9B9"/>
          </a:solidFill>
          <a:ln w="12700">
            <a:solidFill>
              <a:srgbClr val="B9B9B9"/>
            </a:solidFill>
            <a:prstDash val="solid"/>
          </a:ln>
        </p:spPr>
      </p:sp>
      <p:sp>
        <p:nvSpPr>
          <p:cNvPr id="12" name="Text 9"/>
          <p:cNvSpPr txBox="1"/>
          <p:nvPr/>
        </p:nvSpPr>
        <p:spPr>
          <a:xfrm>
            <a:off x="3785616" y="5742432"/>
            <a:ext cx="1645920" cy="219456"/>
          </a:xfrm>
          <a:prstGeom prst="rect">
            <a:avLst/>
          </a:prstGeom>
          <a:noFill/>
          <a:ln/>
        </p:spPr>
        <p:txBody>
          <a:bodyPr wrap="square" lIns="0" tIns="0" rIns="0" bIns="0" rtlCol="0" anchor="ctr"/>
          <a:lstStyle/>
          <a:p>
            <a:pPr indent="0" marL="0">
              <a:buNone/>
            </a:pPr>
            <a:r>
              <a:rPr lang="en-US" sz="850" dirty="0">
                <a:solidFill>
                  <a:srgbClr val="2B2B2B"/>
                </a:solidFill>
                <a:latin typeface="Verdana" pitchFamily="34" charset="0"/>
                <a:ea typeface="Verdana" pitchFamily="34" charset="-122"/>
                <a:cs typeface="Verdana" pitchFamily="34" charset="-120"/>
              </a:rPr>
              <a:t>grupo, no segmento</a:t>
            </a:r>
            <a:endParaRPr lang="en-US" sz="850" dirty="0"/>
          </a:p>
        </p:txBody>
      </p:sp>
      <p:sp>
        <p:nvSpPr>
          <p:cNvPr id="13" name="Shape 10"/>
          <p:cNvSpPr/>
          <p:nvPr/>
        </p:nvSpPr>
        <p:spPr>
          <a:xfrm>
            <a:off x="7955280" y="1554480"/>
            <a:ext cx="3611880" cy="1965960"/>
          </a:xfrm>
          <a:prstGeom prst="roundRect">
            <a:avLst>
              <a:gd name="adj" fmla="val 2326"/>
            </a:avLst>
          </a:prstGeom>
          <a:solidFill>
            <a:srgbClr val="F2F4F6"/>
          </a:solidFill>
          <a:ln w="12700">
            <a:solidFill>
              <a:srgbClr val="F2F4F6"/>
            </a:solidFill>
            <a:prstDash val="solid"/>
          </a:ln>
        </p:spPr>
      </p:sp>
      <p:sp>
        <p:nvSpPr>
          <p:cNvPr id="14" name="Text 11"/>
          <p:cNvSpPr txBox="1"/>
          <p:nvPr/>
        </p:nvSpPr>
        <p:spPr>
          <a:xfrm>
            <a:off x="8156448" y="1682496"/>
            <a:ext cx="3209544" cy="27432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Los dos segmentos de empresas</a:t>
            </a:r>
            <a:endParaRPr lang="en-US" sz="1150" dirty="0"/>
          </a:p>
        </p:txBody>
      </p:sp>
      <p:sp>
        <p:nvSpPr>
          <p:cNvPr id="15" name="Text 12"/>
          <p:cNvSpPr txBox="1"/>
          <p:nvPr/>
        </p:nvSpPr>
        <p:spPr>
          <a:xfrm>
            <a:off x="8156448" y="1993392"/>
            <a:ext cx="3209544" cy="1417320"/>
          </a:xfrm>
          <a:prstGeom prst="rect">
            <a:avLst/>
          </a:prstGeom>
          <a:noFill/>
          <a:ln/>
        </p:spPr>
        <p:txBody>
          <a:bodyPr wrap="square" lIns="0" tIns="0" rIns="0" bIns="0" rtlCol="0" anchor="t"/>
          <a:lstStyle/>
          <a:p>
            <a:pPr indent="0" marL="0">
              <a:buNone/>
            </a:pPr>
            <a:r>
              <a:rPr lang="en-US" sz="950" dirty="0">
                <a:solidFill>
                  <a:srgbClr val="2B2B2B"/>
                </a:solidFill>
                <a:latin typeface="Verdana" pitchFamily="34" charset="0"/>
                <a:ea typeface="Verdana" pitchFamily="34" charset="-122"/>
                <a:cs typeface="Verdana" pitchFamily="34" charset="-120"/>
              </a:rPr>
              <a:t>Commerzbank 1,22 % y ABN AMRO 0,99 %. Son los únicos de nueve bancos que publican comisiones de un segmento de empresas.</a:t>
            </a:r>
            <a:endParaRPr lang="en-US" sz="950" dirty="0"/>
          </a:p>
        </p:txBody>
      </p:sp>
      <p:sp>
        <p:nvSpPr>
          <p:cNvPr id="16" name="Shape 13"/>
          <p:cNvSpPr/>
          <p:nvPr/>
        </p:nvSpPr>
        <p:spPr>
          <a:xfrm>
            <a:off x="7955280" y="3657600"/>
            <a:ext cx="3611880" cy="2057400"/>
          </a:xfrm>
          <a:prstGeom prst="roundRect">
            <a:avLst>
              <a:gd name="adj" fmla="val 2222"/>
            </a:avLst>
          </a:prstGeom>
          <a:solidFill>
            <a:srgbClr val="F2F4F6"/>
          </a:solidFill>
          <a:ln w="12700">
            <a:solidFill>
              <a:srgbClr val="F2F4F6"/>
            </a:solidFill>
            <a:prstDash val="solid"/>
          </a:ln>
        </p:spPr>
      </p:sp>
      <p:sp>
        <p:nvSpPr>
          <p:cNvPr id="17" name="Text 14"/>
          <p:cNvSpPr txBox="1"/>
          <p:nvPr/>
        </p:nvSpPr>
        <p:spPr>
          <a:xfrm>
            <a:off x="8156448" y="3785616"/>
            <a:ext cx="3209544" cy="27432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Por qué BPER dobla</a:t>
            </a:r>
            <a:endParaRPr lang="en-US" sz="1150" dirty="0"/>
          </a:p>
        </p:txBody>
      </p:sp>
      <p:sp>
        <p:nvSpPr>
          <p:cNvPr id="18" name="Text 15"/>
          <p:cNvSpPr txBox="1"/>
          <p:nvPr/>
        </p:nvSpPr>
        <p:spPr>
          <a:xfrm>
            <a:off x="8156448" y="4096512"/>
            <a:ext cx="3209544" cy="1508760"/>
          </a:xfrm>
          <a:prstGeom prst="rect">
            <a:avLst/>
          </a:prstGeom>
          <a:noFill/>
          <a:ln/>
        </p:spPr>
        <p:txBody>
          <a:bodyPr wrap="square" lIns="0" tIns="0" rIns="0" bIns="0" rtlCol="0" anchor="t"/>
          <a:lstStyle/>
          <a:p>
            <a:pPr indent="0" marL="0">
              <a:buNone/>
            </a:pPr>
            <a:r>
              <a:rPr lang="en-US" sz="950" dirty="0">
                <a:solidFill>
                  <a:srgbClr val="2B2B2B"/>
                </a:solidFill>
                <a:latin typeface="Verdana" pitchFamily="34" charset="0"/>
                <a:ea typeface="Verdana" pitchFamily="34" charset="-122"/>
                <a:cs typeface="Verdana" pitchFamily="34" charset="-120"/>
              </a:rPr>
              <a:t>BPER solo publica el grupo, que incluye comisiones de fondos y seguros de particulares. Por eso no es comparable con un segmento de empresas.</a:t>
            </a:r>
            <a:endParaRPr lang="en-US" sz="950" dirty="0"/>
          </a:p>
        </p:txBody>
      </p:sp>
      <p:sp>
        <p:nvSpPr>
          <p:cNvPr id="19" name="Text 16"/>
          <p:cNvSpPr txBox="1"/>
          <p:nvPr/>
        </p:nvSpPr>
        <p:spPr>
          <a:xfrm>
            <a:off x="621792" y="6053328"/>
            <a:ext cx="10945368" cy="475488"/>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Informes de resultados del primer semestre de 2026 e informes semestrales de Intesa y BPER para la inversión. Commerzbank publica trimestre (×4), el resto semestre (×2). Intesa no desglosa comisiones por división.</a:t>
            </a:r>
            <a:endParaRPr lang="en-US" sz="7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6675120" cy="6858000"/>
          </a:xfrm>
          <a:prstGeom prst="rect">
            <a:avLst/>
          </a:prstGeom>
          <a:solidFill>
            <a:srgbClr val="F56600"/>
          </a:solidFill>
          <a:ln w="12700">
            <a:solidFill>
              <a:srgbClr val="F56600"/>
            </a:solidFill>
            <a:prstDash val="solid"/>
          </a:ln>
        </p:spPr>
      </p:sp>
      <p:sp>
        <p:nvSpPr>
          <p:cNvPr id="3" name="Text 1"/>
          <p:cNvSpPr txBox="1"/>
          <p:nvPr/>
        </p:nvSpPr>
        <p:spPr>
          <a:xfrm>
            <a:off x="621792" y="1005840"/>
            <a:ext cx="2743200" cy="1188720"/>
          </a:xfrm>
          <a:prstGeom prst="rect">
            <a:avLst/>
          </a:prstGeom>
          <a:noFill/>
          <a:ln/>
        </p:spPr>
        <p:txBody>
          <a:bodyPr wrap="square" lIns="0" tIns="0" rIns="0" bIns="0" rtlCol="0" anchor="ctr"/>
          <a:lstStyle/>
          <a:p>
            <a:pPr indent="0" marL="0">
              <a:buNone/>
            </a:pPr>
            <a:endParaRPr lang="en-US" sz="5800" dirty="0"/>
          </a:p>
        </p:txBody>
      </p:sp>
      <p:sp>
        <p:nvSpPr>
          <p:cNvPr id="4" name="Text 2"/>
          <p:cNvSpPr txBox="1"/>
          <p:nvPr/>
        </p:nvSpPr>
        <p:spPr>
          <a:xfrm>
            <a:off x="621792" y="2331720"/>
            <a:ext cx="5486400" cy="1371600"/>
          </a:xfrm>
          <a:prstGeom prst="rect">
            <a:avLst/>
          </a:prstGeom>
          <a:noFill/>
          <a:ln/>
        </p:spPr>
        <p:txBody>
          <a:bodyPr wrap="square" lIns="0" tIns="0" rIns="0" bIns="0" rtlCol="0" anchor="ctr"/>
          <a:lstStyle/>
          <a:p>
            <a:pPr indent="0" marL="0">
              <a:buNone/>
            </a:pPr>
            <a:r>
              <a:rPr lang="en-US" sz="3100" b="1" dirty="0">
                <a:solidFill>
                  <a:srgbClr val="FFFFFF"/>
                </a:solidFill>
                <a:latin typeface="Verdana" pitchFamily="34" charset="0"/>
                <a:ea typeface="Verdana" pitchFamily="34" charset="-122"/>
                <a:cs typeface="Verdana" pitchFamily="34" charset="-120"/>
              </a:rPr>
              <a:t>El mercado PYME</a:t>
            </a:r>
            <a:endParaRPr lang="en-US" sz="3100" dirty="0"/>
          </a:p>
          <a:p>
            <a:pPr indent="0" marL="0">
              <a:buNone/>
            </a:pPr>
            <a:r>
              <a:rPr lang="en-US" sz="3100" b="1" dirty="0">
                <a:solidFill>
                  <a:srgbClr val="FFFFFF"/>
                </a:solidFill>
                <a:latin typeface="Verdana" pitchFamily="34" charset="0"/>
                <a:ea typeface="Verdana" pitchFamily="34" charset="-122"/>
                <a:cs typeface="Verdana" pitchFamily="34" charset="-120"/>
              </a:rPr>
              <a:t>europeo, en</a:t>
            </a:r>
            <a:endParaRPr lang="en-US" sz="3100" dirty="0"/>
          </a:p>
          <a:p>
            <a:pPr indent="0" marL="0">
              <a:buNone/>
            </a:pPr>
            <a:r>
              <a:rPr lang="en-US" sz="3100" b="1" dirty="0">
                <a:solidFill>
                  <a:srgbClr val="FFFFFF"/>
                </a:solidFill>
                <a:latin typeface="Verdana" pitchFamily="34" charset="0"/>
                <a:ea typeface="Verdana" pitchFamily="34" charset="-122"/>
                <a:cs typeface="Verdana" pitchFamily="34" charset="-120"/>
              </a:rPr>
              <a:t>descriptivo</a:t>
            </a:r>
            <a:endParaRPr lang="en-US" sz="3100" dirty="0"/>
          </a:p>
        </p:txBody>
      </p:sp>
      <p:sp>
        <p:nvSpPr>
          <p:cNvPr id="5" name="Text 3"/>
          <p:cNvSpPr txBox="1"/>
          <p:nvPr/>
        </p:nvSpPr>
        <p:spPr>
          <a:xfrm>
            <a:off x="621792" y="3794760"/>
            <a:ext cx="5212080" cy="1005840"/>
          </a:xfrm>
          <a:prstGeom prst="rect">
            <a:avLst/>
          </a:prstGeom>
          <a:noFill/>
          <a:ln/>
        </p:spPr>
        <p:txBody>
          <a:bodyPr wrap="square" lIns="0" tIns="0" rIns="0" bIns="0" rtlCol="0" anchor="ctr"/>
          <a:lstStyle/>
          <a:p>
            <a:pPr indent="0" marL="0">
              <a:buNone/>
            </a:pPr>
            <a:r>
              <a:rPr lang="en-US" sz="1250" dirty="0">
                <a:solidFill>
                  <a:srgbClr val="FFFFFF">
                    <a:alpha val="82000"/>
                  </a:srgbClr>
                </a:solidFill>
                <a:latin typeface="Verdana" pitchFamily="34" charset="0"/>
                <a:ea typeface="Verdana" pitchFamily="34" charset="-122"/>
                <a:cs typeface="Verdana" pitchFamily="34" charset="-120"/>
              </a:rPr>
              <a:t>Lo que dicen juntas las doce fuentes, sin calcular rentabilidades</a:t>
            </a:r>
            <a:endParaRPr lang="en-US" sz="1250" dirty="0"/>
          </a:p>
        </p:txBody>
      </p:sp>
      <p:sp>
        <p:nvSpPr>
          <p:cNvPr id="6" name="Shape 4"/>
          <p:cNvSpPr/>
          <p:nvPr/>
        </p:nvSpPr>
        <p:spPr>
          <a:xfrm>
            <a:off x="6053328" y="822960"/>
            <a:ext cx="1243584" cy="1243584"/>
          </a:xfrm>
          <a:prstGeom prst="rect">
            <a:avLst/>
          </a:prstGeom>
          <a:solidFill>
            <a:srgbClr val="FFD200"/>
          </a:solidFill>
          <a:ln w="12700">
            <a:solidFill>
              <a:srgbClr val="FFD200"/>
            </a:solidFill>
            <a:prstDash val="solid"/>
          </a:ln>
        </p:spPr>
      </p:sp>
      <p:sp>
        <p:nvSpPr>
          <p:cNvPr id="7" name="Shape 5"/>
          <p:cNvSpPr/>
          <p:nvPr/>
        </p:nvSpPr>
        <p:spPr>
          <a:xfrm>
            <a:off x="7589520" y="1188720"/>
            <a:ext cx="3977640" cy="4480560"/>
          </a:xfrm>
          <a:prstGeom prst="rect">
            <a:avLst/>
          </a:prstGeom>
          <a:solidFill>
            <a:srgbClr val="F56600"/>
          </a:solidFill>
          <a:ln w="12700">
            <a:solidFill>
              <a:srgbClr val="F56600"/>
            </a:solidFill>
            <a:prstDash val="solid"/>
          </a:ln>
        </p:spPr>
      </p:sp>
      <p:sp>
        <p:nvSpPr>
          <p:cNvPr id="8" name="Shape 6"/>
          <p:cNvSpPr/>
          <p:nvPr/>
        </p:nvSpPr>
        <p:spPr>
          <a:xfrm>
            <a:off x="9777222" y="1636776"/>
            <a:ext cx="1193292" cy="1344168"/>
          </a:xfrm>
          <a:prstGeom prst="rect">
            <a:avLst/>
          </a:prstGeom>
          <a:solidFill>
            <a:srgbClr val="FFD200"/>
          </a:solidFill>
          <a:ln w="12700">
            <a:solidFill>
              <a:srgbClr val="FFD200"/>
            </a:solidFill>
            <a:prstDash val="solid"/>
          </a:ln>
        </p:spPr>
      </p:sp>
      <p:sp>
        <p:nvSpPr>
          <p:cNvPr id="9" name="Shape 7"/>
          <p:cNvSpPr/>
          <p:nvPr/>
        </p:nvSpPr>
        <p:spPr>
          <a:xfrm>
            <a:off x="8066837" y="3787445"/>
            <a:ext cx="1034186" cy="1344168"/>
          </a:xfrm>
          <a:prstGeom prst="rect">
            <a:avLst/>
          </a:prstGeom>
          <a:solidFill>
            <a:srgbClr val="FFFFFF"/>
          </a:solidFill>
          <a:ln w="12700">
            <a:solidFill>
              <a:srgbClr val="FFFFFF"/>
            </a:solidFill>
            <a:prstDash val="solid"/>
          </a:ln>
        </p:spPr>
      </p:sp>
      <p:sp>
        <p:nvSpPr>
          <p:cNvPr id="10" name="Shape 8"/>
          <p:cNvSpPr/>
          <p:nvPr/>
        </p:nvSpPr>
        <p:spPr>
          <a:xfrm>
            <a:off x="10055657" y="3653028"/>
            <a:ext cx="875081" cy="985723"/>
          </a:xfrm>
          <a:prstGeom prst="rect">
            <a:avLst/>
          </a:prstGeom>
          <a:solidFill>
            <a:srgbClr val="FFAB70"/>
          </a:solidFill>
          <a:ln w="12700">
            <a:solidFill>
              <a:srgbClr val="FFAB70"/>
            </a:solidFill>
            <a:prstDash val="solid"/>
          </a:ln>
        </p:spPr>
      </p:sp>
      <p:sp>
        <p:nvSpPr>
          <p:cNvPr id="11" name="Text 9"/>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3" name="Text 1"/>
          <p:cNvSpPr txBox="1"/>
          <p:nvPr/>
        </p:nvSpPr>
        <p:spPr>
          <a:xfrm>
            <a:off x="621792" y="6583680"/>
            <a:ext cx="548640" cy="182880"/>
          </a:xfrm>
          <a:prstGeom prst="rect">
            <a:avLst/>
          </a:prstGeom>
          <a:noFill/>
          <a:ln/>
        </p:spPr>
        <p:txBody>
          <a:bodyPr wrap="square" lIns="0" tIns="0" rIns="0" bIns="0" rtlCol="0" anchor="ctr"/>
          <a:lstStyle/>
          <a:p>
            <a:pPr indent="0" marL="0">
              <a:buNone/>
            </a:pPr>
            <a:r>
              <a:rPr lang="en-US" sz="800" dirty="0">
                <a:solidFill>
                  <a:srgbClr val="CACACA"/>
                </a:solidFill>
                <a:latin typeface="Verdana" pitchFamily="34" charset="0"/>
                <a:ea typeface="Verdana" pitchFamily="34" charset="-122"/>
                <a:cs typeface="Verdana" pitchFamily="34" charset="-120"/>
              </a:rPr>
              <a:t>36</a:t>
            </a:r>
            <a:endParaRPr lang="en-US" sz="800" dirty="0"/>
          </a:p>
        </p:txBody>
      </p:sp>
      <p:sp>
        <p:nvSpPr>
          <p:cNvPr id="4" name="Text 2"/>
          <p:cNvSpPr txBox="1"/>
          <p:nvPr/>
        </p:nvSpPr>
        <p:spPr>
          <a:xfrm>
            <a:off x="621792" y="420624"/>
            <a:ext cx="9208008" cy="676656"/>
          </a:xfrm>
          <a:prstGeom prst="rect">
            <a:avLst/>
          </a:prstGeom>
          <a:noFill/>
          <a:ln/>
        </p:spPr>
        <p:txBody>
          <a:bodyPr wrap="square" lIns="0" tIns="0" rIns="0" bIns="0" rtlCol="0" anchor="ctr"/>
          <a:lstStyle/>
          <a:p>
            <a:pPr indent="0" marL="0">
              <a:buNone/>
            </a:pPr>
            <a:r>
              <a:rPr lang="en-US" sz="2200" b="1" dirty="0">
                <a:solidFill>
                  <a:srgbClr val="2B2B2B"/>
                </a:solidFill>
                <a:latin typeface="Verdana" pitchFamily="34" charset="0"/>
                <a:ea typeface="Verdana" pitchFamily="34" charset="-122"/>
                <a:cs typeface="Verdana" pitchFamily="34" charset="-120"/>
              </a:rPr>
              <a:t>Los siete mercados en nueve datos observados</a:t>
            </a:r>
            <a:endParaRPr lang="en-US" sz="2200" dirty="0"/>
          </a:p>
        </p:txBody>
      </p:sp>
      <p:sp>
        <p:nvSpPr>
          <p:cNvPr id="5" name="Text 3"/>
          <p:cNvSpPr txBox="1"/>
          <p:nvPr/>
        </p:nvSpPr>
        <p:spPr>
          <a:xfrm>
            <a:off x="621792" y="1060704"/>
            <a:ext cx="10945368" cy="365760"/>
          </a:xfrm>
          <a:prstGeom prst="rect">
            <a:avLst/>
          </a:prstGeom>
          <a:noFill/>
          <a:ln/>
        </p:spPr>
        <p:txBody>
          <a:bodyPr wrap="square" lIns="0" tIns="0" rIns="0" bIns="0" rtlCol="0" anchor="ctr"/>
          <a:lstStyle/>
          <a:p>
            <a:pPr indent="0" marL="0">
              <a:buNone/>
            </a:pPr>
            <a:r>
              <a:rPr lang="en-US" sz="1050" dirty="0">
                <a:solidFill>
                  <a:srgbClr val="818181"/>
                </a:solidFill>
                <a:latin typeface="Verdana" pitchFamily="34" charset="0"/>
                <a:ea typeface="Verdana" pitchFamily="34" charset="-122"/>
                <a:cs typeface="Verdana" pitchFamily="34" charset="-120"/>
              </a:rPr>
              <a:t>Cada columna, con su propia fuente y su propia definición de PYME · Sombreado: los dos valores más altos de cada fila, más intensos</a:t>
            </a:r>
            <a:endParaRPr lang="en-US" sz="105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621792" y="1572768"/>
          <a:ext cx="10945368" cy="914400"/>
        </p:xfrm>
        <a:graphic>
          <a:graphicData uri="http://schemas.openxmlformats.org/drawingml/2006/table">
            <a:tbl>
              <a:tblPr/>
              <a:tblGrid>
                <a:gridCol w="2606040"/>
                <a:gridCol w="1280160"/>
                <a:gridCol w="1005840"/>
                <a:gridCol w="1005840"/>
                <a:gridCol w="1005840"/>
                <a:gridCol w="1005840"/>
                <a:gridCol w="1005840"/>
                <a:gridCol w="1005840"/>
                <a:gridCol w="1005840"/>
              </a:tblGrid>
              <a:tr h="393192">
                <a:tc>
                  <a:txBody>
                    <a:bodyPr/>
                    <a:lstStyle/>
                    <a:p>
                      <a:pPr algn="l" indent="0" marL="0">
                        <a:buNone/>
                      </a:pPr>
                      <a:r>
                        <a:rPr lang="en-US" sz="850" b="1" dirty="0">
                          <a:solidFill>
                            <a:srgbClr val="FFFFFF"/>
                          </a:solidFill>
                          <a:latin typeface="Verdana" pitchFamily="34" charset="0"/>
                          <a:ea typeface="Verdana" pitchFamily="34" charset="-122"/>
                          <a:cs typeface="Verdana" pitchFamily="34" charset="-120"/>
                        </a:rPr>
                        <a:t>Indicador</a:t>
                      </a:r>
                      <a:endParaRPr lang="en-US" sz="85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B2B2B"/>
                    </a:solidFill>
                  </a:tcPr>
                </a:tc>
                <a:tc>
                  <a:txBody>
                    <a:bodyPr/>
                    <a:lstStyle/>
                    <a:p>
                      <a:pPr algn="l" indent="0" marL="0">
                        <a:buNone/>
                      </a:pPr>
                      <a:r>
                        <a:rPr lang="en-US" sz="850" b="1" dirty="0">
                          <a:solidFill>
                            <a:srgbClr val="FFFFFF"/>
                          </a:solidFill>
                          <a:latin typeface="Verdana" pitchFamily="34" charset="0"/>
                          <a:ea typeface="Verdana" pitchFamily="34" charset="-122"/>
                          <a:cs typeface="Verdana" pitchFamily="34" charset="-120"/>
                        </a:rPr>
                        <a:t>Fuente</a:t>
                      </a:r>
                      <a:endParaRPr lang="en-US" sz="85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B2B2B"/>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España</a:t>
                      </a:r>
                      <a:endParaRPr lang="en-US" sz="85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6600"/>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Alemania</a:t>
                      </a:r>
                      <a:endParaRPr lang="en-US" sz="85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B2B2B"/>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Francia</a:t>
                      </a:r>
                      <a:endParaRPr lang="en-US" sz="85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B2B2B"/>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Italia</a:t>
                      </a:r>
                      <a:endParaRPr lang="en-US" sz="85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B2B2B"/>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Portugal</a:t>
                      </a:r>
                      <a:endParaRPr lang="en-US" sz="85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B2B2B"/>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P. Bajos</a:t>
                      </a:r>
                      <a:endParaRPr lang="en-US" sz="85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B2B2B"/>
                    </a:solidFill>
                  </a:tcPr>
                </a:tc>
                <a:tc>
                  <a:txBody>
                    <a:bodyPr/>
                    <a:lstStyle/>
                    <a:p>
                      <a:pPr algn="ctr" indent="0" marL="0">
                        <a:buNone/>
                      </a:pPr>
                      <a:r>
                        <a:rPr lang="en-US" sz="850" b="1" dirty="0">
                          <a:solidFill>
                            <a:srgbClr val="FFFFFF"/>
                          </a:solidFill>
                          <a:latin typeface="Verdana" pitchFamily="34" charset="0"/>
                          <a:ea typeface="Verdana" pitchFamily="34" charset="-122"/>
                          <a:cs typeface="Verdana" pitchFamily="34" charset="-120"/>
                        </a:rPr>
                        <a:t>Irlanda</a:t>
                      </a:r>
                      <a:endParaRPr lang="en-US" sz="85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B2B2B"/>
                    </a:solidFill>
                  </a:tcPr>
                </a:tc>
              </a:tr>
              <a:tr h="393192">
                <a:tc>
                  <a:txBody>
                    <a:bodyPr/>
                    <a:lstStyle/>
                    <a:p>
                      <a:pPr algn="l" indent="0" marL="0">
                        <a:buNone/>
                      </a:pPr>
                      <a:r>
                        <a:rPr lang="en-US" sz="900" b="1" dirty="0">
                          <a:solidFill>
                            <a:srgbClr val="2B2B2B"/>
                          </a:solidFill>
                          <a:latin typeface="Verdana" pitchFamily="34" charset="0"/>
                          <a:ea typeface="Verdana" pitchFamily="34" charset="-122"/>
                          <a:cs typeface="Verdana" pitchFamily="34" charset="-120"/>
                        </a:rPr>
                        <a:t>Precio del préstamo ≤1 M€</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l" indent="0" marL="0">
                        <a:buNone/>
                      </a:pPr>
                      <a:r>
                        <a:rPr lang="en-US" sz="800" dirty="0">
                          <a:solidFill>
                            <a:srgbClr val="818181"/>
                          </a:solidFill>
                          <a:latin typeface="Verdana" pitchFamily="34" charset="0"/>
                          <a:ea typeface="Verdana" pitchFamily="34" charset="-122"/>
                          <a:cs typeface="Verdana" pitchFamily="34" charset="-120"/>
                        </a:rPr>
                        <a:t>MIR</a:t>
                      </a:r>
                      <a:endParaRPr lang="en-US" sz="8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3,41 %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4,39 %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D6BA"/>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3,77 %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4,25 %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D6BA"/>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3,94 %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D6BA"/>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4,50 %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AB70"/>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5,37 %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AB70"/>
                    </a:solidFill>
                  </a:tcPr>
                </a:tc>
              </a:tr>
              <a:tr h="393192">
                <a:tc>
                  <a:txBody>
                    <a:bodyPr/>
                    <a:lstStyle/>
                    <a:p>
                      <a:pPr algn="l" indent="0" marL="0">
                        <a:buNone/>
                      </a:pPr>
                      <a:r>
                        <a:rPr lang="en-US" sz="900" b="1" dirty="0">
                          <a:solidFill>
                            <a:srgbClr val="2B2B2B"/>
                          </a:solidFill>
                          <a:latin typeface="Verdana" pitchFamily="34" charset="0"/>
                          <a:ea typeface="Verdana" pitchFamily="34" charset="-122"/>
                          <a:cs typeface="Verdana" pitchFamily="34" charset="-120"/>
                        </a:rPr>
                        <a:t>Prima PYME, últimos 12 meses</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l" indent="0" marL="0">
                        <a:buNone/>
                      </a:pPr>
                      <a:r>
                        <a:rPr lang="en-US" sz="800" dirty="0">
                          <a:solidFill>
                            <a:srgbClr val="818181"/>
                          </a:solidFill>
                          <a:latin typeface="Verdana" pitchFamily="34" charset="0"/>
                          <a:ea typeface="Verdana" pitchFamily="34" charset="-122"/>
                          <a:cs typeface="Verdana" pitchFamily="34" charset="-120"/>
                        </a:rPr>
                        <a:t>MIR</a:t>
                      </a:r>
                      <a:endParaRPr lang="en-US" sz="8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−0,03</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+1,24</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AB70"/>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+0,51</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+1,39</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AB70"/>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+0,66</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D6BA"/>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+1,15</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D6BA"/>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+0,81</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D6BA"/>
                    </a:solidFill>
                  </a:tcPr>
                </a:tc>
              </a:tr>
              <a:tr h="393192">
                <a:tc>
                  <a:txBody>
                    <a:bodyPr/>
                    <a:lstStyle/>
                    <a:p>
                      <a:pPr algn="l" indent="0" marL="0">
                        <a:buNone/>
                      </a:pPr>
                      <a:r>
                        <a:rPr lang="en-US" sz="900" b="1" dirty="0">
                          <a:solidFill>
                            <a:srgbClr val="2B2B2B"/>
                          </a:solidFill>
                          <a:latin typeface="Verdana" pitchFamily="34" charset="0"/>
                          <a:ea typeface="Verdana" pitchFamily="34" charset="-122"/>
                          <a:cs typeface="Verdana" pitchFamily="34" charset="-120"/>
                        </a:rPr>
                        <a:t>Rechazo, media de 3 años</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l" indent="0" marL="0">
                        <a:buNone/>
                      </a:pPr>
                      <a:r>
                        <a:rPr lang="en-US" sz="800" dirty="0">
                          <a:solidFill>
                            <a:srgbClr val="818181"/>
                          </a:solidFill>
                          <a:latin typeface="Verdana" pitchFamily="34" charset="0"/>
                          <a:ea typeface="Verdana" pitchFamily="34" charset="-122"/>
                          <a:cs typeface="Verdana" pitchFamily="34" charset="-120"/>
                        </a:rPr>
                        <a:t>SAFE</a:t>
                      </a:r>
                      <a:endParaRPr lang="en-US" sz="8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8,5 %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D6BA"/>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5,6 %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9,5 %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D6BA"/>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3,0 %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11,7 %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AB70"/>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10,3 %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AB70"/>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9,4 %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D6BA"/>
                    </a:solidFill>
                  </a:tcPr>
                </a:tc>
              </a:tr>
              <a:tr h="393192">
                <a:tc>
                  <a:txBody>
                    <a:bodyPr/>
                    <a:lstStyle/>
                    <a:p>
                      <a:pPr algn="l" indent="0" marL="0">
                        <a:buNone/>
                      </a:pPr>
                      <a:r>
                        <a:rPr lang="en-US" sz="900" b="1" dirty="0">
                          <a:solidFill>
                            <a:srgbClr val="2B2B2B"/>
                          </a:solidFill>
                          <a:latin typeface="Verdana" pitchFamily="34" charset="0"/>
                          <a:ea typeface="Verdana" pitchFamily="34" charset="-122"/>
                          <a:cs typeface="Verdana" pitchFamily="34" charset="-120"/>
                        </a:rPr>
                        <a:t>Mora de la PYME</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l" indent="0" marL="0">
                        <a:buNone/>
                      </a:pPr>
                      <a:r>
                        <a:rPr lang="en-US" sz="800" dirty="0">
                          <a:solidFill>
                            <a:srgbClr val="818181"/>
                          </a:solidFill>
                          <a:latin typeface="Verdana" pitchFamily="34" charset="0"/>
                          <a:ea typeface="Verdana" pitchFamily="34" charset="-122"/>
                          <a:cs typeface="Verdana" pitchFamily="34" charset="-120"/>
                        </a:rPr>
                        <a:t>EBA · FINREP</a:t>
                      </a:r>
                      <a:endParaRPr lang="en-US" sz="8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5,38 %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AB70"/>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4,32 %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D6BA"/>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5,12 %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AB70"/>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4,90 %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D6BA"/>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4,22 %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D6BA"/>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3,13 %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3,77 %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4F5F7"/>
                    </a:solidFill>
                  </a:tcPr>
                </a:tc>
              </a:tr>
              <a:tr h="393192">
                <a:tc>
                  <a:txBody>
                    <a:bodyPr/>
                    <a:lstStyle/>
                    <a:p>
                      <a:pPr algn="l" indent="0" marL="0">
                        <a:buNone/>
                      </a:pPr>
                      <a:r>
                        <a:rPr lang="en-US" sz="900" b="1" dirty="0">
                          <a:solidFill>
                            <a:srgbClr val="2B2B2B"/>
                          </a:solidFill>
                          <a:latin typeface="Verdana" pitchFamily="34" charset="0"/>
                          <a:ea typeface="Verdana" pitchFamily="34" charset="-122"/>
                          <a:cs typeface="Verdana" pitchFamily="34" charset="-120"/>
                        </a:rPr>
                        <a:t>Probabilidad de impago</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l" indent="0" marL="0">
                        <a:buNone/>
                      </a:pPr>
                      <a:r>
                        <a:rPr lang="en-US" sz="800" dirty="0">
                          <a:solidFill>
                            <a:srgbClr val="818181"/>
                          </a:solidFill>
                          <a:latin typeface="Verdana" pitchFamily="34" charset="0"/>
                          <a:ea typeface="Verdana" pitchFamily="34" charset="-122"/>
                          <a:cs typeface="Verdana" pitchFamily="34" charset="-120"/>
                        </a:rPr>
                        <a:t>EBA · COREP</a:t>
                      </a:r>
                      <a:endParaRPr lang="en-US" sz="8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1,73 %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D6BA"/>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1,26 %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D6BA"/>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2,15 %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AB70"/>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2,26 %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AB70"/>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1,26 %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D6BA"/>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1,18 %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1,08 %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4F5F7"/>
                    </a:solidFill>
                  </a:tcPr>
                </a:tc>
              </a:tr>
              <a:tr h="393192">
                <a:tc>
                  <a:txBody>
                    <a:bodyPr/>
                    <a:lstStyle/>
                    <a:p>
                      <a:pPr algn="l" indent="0" marL="0">
                        <a:buNone/>
                      </a:pPr>
                      <a:r>
                        <a:rPr lang="en-US" sz="900" b="1" dirty="0">
                          <a:solidFill>
                            <a:srgbClr val="2B2B2B"/>
                          </a:solidFill>
                          <a:latin typeface="Verdana" pitchFamily="34" charset="0"/>
                          <a:ea typeface="Verdana" pitchFamily="34" charset="-122"/>
                          <a:cs typeface="Verdana" pitchFamily="34" charset="-120"/>
                        </a:rPr>
                        <a:t>Severidad de la pérdida</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l" indent="0" marL="0">
                        <a:buNone/>
                      </a:pPr>
                      <a:r>
                        <a:rPr lang="en-US" sz="800" dirty="0">
                          <a:solidFill>
                            <a:srgbClr val="818181"/>
                          </a:solidFill>
                          <a:latin typeface="Verdana" pitchFamily="34" charset="0"/>
                          <a:ea typeface="Verdana" pitchFamily="34" charset="-122"/>
                          <a:cs typeface="Verdana" pitchFamily="34" charset="-120"/>
                        </a:rPr>
                        <a:t>EBA · COREP</a:t>
                      </a:r>
                      <a:endParaRPr lang="en-US" sz="8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34,4 %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D6BA"/>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31,4 %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31,5 %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D6BA"/>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35,6 %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D6BA"/>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40,0 %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AB70"/>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29,7 %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37,3 %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AB70"/>
                    </a:solidFill>
                  </a:tcPr>
                </a:tc>
              </a:tr>
              <a:tr h="393192">
                <a:tc>
                  <a:txBody>
                    <a:bodyPr/>
                    <a:lstStyle/>
                    <a:p>
                      <a:pPr algn="l" indent="0" marL="0">
                        <a:buNone/>
                      </a:pPr>
                      <a:r>
                        <a:rPr lang="en-US" sz="900" b="1" dirty="0">
                          <a:solidFill>
                            <a:srgbClr val="2B2B2B"/>
                          </a:solidFill>
                          <a:latin typeface="Verdana" pitchFamily="34" charset="0"/>
                          <a:ea typeface="Verdana" pitchFamily="34" charset="-122"/>
                          <a:cs typeface="Verdana" pitchFamily="34" charset="-120"/>
                        </a:rPr>
                        <a:t>Densidad de RWA</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l" indent="0" marL="0">
                        <a:buNone/>
                      </a:pPr>
                      <a:r>
                        <a:rPr lang="en-US" sz="800" dirty="0">
                          <a:solidFill>
                            <a:srgbClr val="818181"/>
                          </a:solidFill>
                          <a:latin typeface="Verdana" pitchFamily="34" charset="0"/>
                          <a:ea typeface="Verdana" pitchFamily="34" charset="-122"/>
                          <a:cs typeface="Verdana" pitchFamily="34" charset="-120"/>
                        </a:rPr>
                        <a:t>EBA · TE</a:t>
                      </a:r>
                      <a:endParaRPr lang="en-US" sz="8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59,5 %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D6BA"/>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35,3 %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43,0 %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D6BA"/>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46,3 %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D6BA"/>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61,3 %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AB70"/>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37,2 %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70,0 %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AB70"/>
                    </a:solidFill>
                  </a:tcPr>
                </a:tc>
              </a:tr>
              <a:tr h="393192">
                <a:tc>
                  <a:txBody>
                    <a:bodyPr/>
                    <a:lstStyle/>
                    <a:p>
                      <a:pPr algn="l" indent="0" marL="0">
                        <a:buNone/>
                      </a:pPr>
                      <a:r>
                        <a:rPr lang="en-US" sz="900" b="1" dirty="0">
                          <a:solidFill>
                            <a:srgbClr val="2B2B2B"/>
                          </a:solidFill>
                          <a:latin typeface="Verdana" pitchFamily="34" charset="0"/>
                          <a:ea typeface="Verdana" pitchFamily="34" charset="-122"/>
                          <a:cs typeface="Verdana" pitchFamily="34" charset="-120"/>
                        </a:rPr>
                        <a:t>Factoring sobre PIB</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l" indent="0" marL="0">
                        <a:buNone/>
                      </a:pPr>
                      <a:r>
                        <a:rPr lang="en-US" sz="800" dirty="0">
                          <a:solidFill>
                            <a:srgbClr val="818181"/>
                          </a:solidFill>
                          <a:latin typeface="Verdana" pitchFamily="34" charset="0"/>
                          <a:ea typeface="Verdana" pitchFamily="34" charset="-122"/>
                          <a:cs typeface="Verdana" pitchFamily="34" charset="-120"/>
                        </a:rPr>
                        <a:t>EUF</a:t>
                      </a:r>
                      <a:endParaRPr lang="en-US" sz="8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16,5 %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AB70"/>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9,5 %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14,8 %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D6BA"/>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13,2 %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D6BA"/>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20,7 %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AB70"/>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14,0 %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D6BA"/>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4,5 %</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4F5F7"/>
                    </a:solidFill>
                  </a:tcPr>
                </a:tc>
              </a:tr>
              <a:tr h="393192">
                <a:tc>
                  <a:txBody>
                    <a:bodyPr/>
                    <a:lstStyle/>
                    <a:p>
                      <a:pPr algn="l" indent="0" marL="0">
                        <a:buNone/>
                      </a:pPr>
                      <a:r>
                        <a:rPr lang="en-US" sz="900" b="1" dirty="0">
                          <a:solidFill>
                            <a:srgbClr val="2B2B2B"/>
                          </a:solidFill>
                          <a:latin typeface="Verdana" pitchFamily="34" charset="0"/>
                          <a:ea typeface="Verdana" pitchFamily="34" charset="-122"/>
                          <a:cs typeface="Verdana" pitchFamily="34" charset="-120"/>
                        </a:rPr>
                        <a:t>Recuperación en concurso</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l" indent="0" marL="0">
                        <a:buNone/>
                      </a:pPr>
                      <a:r>
                        <a:rPr lang="en-US" sz="800" dirty="0">
                          <a:solidFill>
                            <a:srgbClr val="818181"/>
                          </a:solidFill>
                          <a:latin typeface="Verdana" pitchFamily="34" charset="0"/>
                          <a:ea typeface="Verdana" pitchFamily="34" charset="-122"/>
                          <a:cs typeface="Verdana" pitchFamily="34" charset="-120"/>
                        </a:rPr>
                        <a:t>Banco Mundial</a:t>
                      </a:r>
                      <a:endParaRPr lang="en-US" sz="8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indent="0" marL="0">
                        <a:buNone/>
                      </a:pPr>
                      <a:r>
                        <a:rPr lang="en-US" sz="900" b="1" dirty="0">
                          <a:solidFill>
                            <a:srgbClr val="2B2B2B"/>
                          </a:solidFill>
                          <a:latin typeface="Verdana" pitchFamily="34" charset="0"/>
                          <a:ea typeface="Verdana" pitchFamily="34" charset="-122"/>
                          <a:cs typeface="Verdana" pitchFamily="34" charset="-120"/>
                        </a:rPr>
                        <a:t>77,5</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D6BA"/>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79,8</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D6BA"/>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74,8</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D6BA"/>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65,6</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64,8</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90,1</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AB70"/>
                    </a:solidFill>
                  </a:tcPr>
                </a:tc>
                <a:tc>
                  <a:txBody>
                    <a:bodyPr/>
                    <a:lstStyle/>
                    <a:p>
                      <a:pPr algn="ctr" indent="0" marL="0">
                        <a:buNone/>
                      </a:pPr>
                      <a:r>
                        <a:rPr lang="en-US" sz="900" dirty="0">
                          <a:solidFill>
                            <a:srgbClr val="2B2B2B"/>
                          </a:solidFill>
                          <a:latin typeface="Verdana" pitchFamily="34" charset="0"/>
                          <a:ea typeface="Verdana" pitchFamily="34" charset="-122"/>
                          <a:cs typeface="Verdana" pitchFamily="34" charset="-120"/>
                        </a:rPr>
                        <a:t>86,1</a:t>
                      </a:r>
                      <a:endParaRPr lang="en-US" sz="900" dirty="0">
                        <a:latin typeface="Verdana" charset="0"/>
                        <a:ea typeface="Verdana" charset="0"/>
                        <a:cs typeface="Verdana" charset="0"/>
                      </a:endParaRPr>
                    </a:p>
                  </a:txBody>
                  <a:tcPr marL="63500" marR="635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AB70"/>
                    </a:solidFill>
                  </a:tcPr>
                </a:tc>
              </a:tr>
            </a:tbl>
          </a:graphicData>
        </a:graphic>
      </p:graphicFrame>
      <p:sp>
        <p:nvSpPr>
          <p:cNvPr id="7" name="Shape 4"/>
          <p:cNvSpPr/>
          <p:nvPr/>
        </p:nvSpPr>
        <p:spPr>
          <a:xfrm>
            <a:off x="621792" y="5724144"/>
            <a:ext cx="201168" cy="109728"/>
          </a:xfrm>
          <a:prstGeom prst="rect">
            <a:avLst/>
          </a:prstGeom>
          <a:solidFill>
            <a:srgbClr val="FFAB70"/>
          </a:solidFill>
          <a:ln w="12700">
            <a:solidFill>
              <a:srgbClr val="FFAB70"/>
            </a:solidFill>
            <a:prstDash val="solid"/>
          </a:ln>
        </p:spPr>
      </p:sp>
      <p:sp>
        <p:nvSpPr>
          <p:cNvPr id="8" name="Text 5"/>
          <p:cNvSpPr txBox="1"/>
          <p:nvPr/>
        </p:nvSpPr>
        <p:spPr>
          <a:xfrm>
            <a:off x="877824" y="5669280"/>
            <a:ext cx="2194560" cy="219456"/>
          </a:xfrm>
          <a:prstGeom prst="rect">
            <a:avLst/>
          </a:prstGeom>
          <a:noFill/>
          <a:ln/>
        </p:spPr>
        <p:txBody>
          <a:bodyPr wrap="square" lIns="0" tIns="0" rIns="0" bIns="0" rtlCol="0" anchor="ctr"/>
          <a:lstStyle/>
          <a:p>
            <a:pPr indent="0" marL="0">
              <a:buNone/>
            </a:pPr>
            <a:r>
              <a:rPr lang="en-US" sz="850" dirty="0">
                <a:solidFill>
                  <a:srgbClr val="2B2B2B"/>
                </a:solidFill>
                <a:latin typeface="Verdana" pitchFamily="34" charset="0"/>
                <a:ea typeface="Verdana" pitchFamily="34" charset="-122"/>
                <a:cs typeface="Verdana" pitchFamily="34" charset="-120"/>
              </a:rPr>
              <a:t>dos valores más altos de la fila</a:t>
            </a:r>
            <a:endParaRPr lang="en-US" sz="850" dirty="0"/>
          </a:p>
        </p:txBody>
      </p:sp>
      <p:sp>
        <p:nvSpPr>
          <p:cNvPr id="9" name="Shape 6"/>
          <p:cNvSpPr/>
          <p:nvPr/>
        </p:nvSpPr>
        <p:spPr>
          <a:xfrm>
            <a:off x="3255264" y="5724144"/>
            <a:ext cx="201168" cy="109728"/>
          </a:xfrm>
          <a:prstGeom prst="rect">
            <a:avLst/>
          </a:prstGeom>
          <a:solidFill>
            <a:srgbClr val="FFD6BA"/>
          </a:solidFill>
          <a:ln w="12700">
            <a:solidFill>
              <a:srgbClr val="FFD6BA"/>
            </a:solidFill>
            <a:prstDash val="solid"/>
          </a:ln>
        </p:spPr>
      </p:sp>
      <p:sp>
        <p:nvSpPr>
          <p:cNvPr id="10" name="Text 7"/>
          <p:cNvSpPr txBox="1"/>
          <p:nvPr/>
        </p:nvSpPr>
        <p:spPr>
          <a:xfrm>
            <a:off x="3511296" y="5669280"/>
            <a:ext cx="1280160" cy="219456"/>
          </a:xfrm>
          <a:prstGeom prst="rect">
            <a:avLst/>
          </a:prstGeom>
          <a:noFill/>
          <a:ln/>
        </p:spPr>
        <p:txBody>
          <a:bodyPr wrap="square" lIns="0" tIns="0" rIns="0" bIns="0" rtlCol="0" anchor="ctr"/>
          <a:lstStyle/>
          <a:p>
            <a:pPr indent="0" marL="0">
              <a:buNone/>
            </a:pPr>
            <a:r>
              <a:rPr lang="en-US" sz="850" dirty="0">
                <a:solidFill>
                  <a:srgbClr val="2B2B2B"/>
                </a:solidFill>
                <a:latin typeface="Verdana" pitchFamily="34" charset="0"/>
                <a:ea typeface="Verdana" pitchFamily="34" charset="-122"/>
                <a:cs typeface="Verdana" pitchFamily="34" charset="-120"/>
              </a:rPr>
              <a:t>siguientes tres</a:t>
            </a:r>
            <a:endParaRPr lang="en-US" sz="850" dirty="0"/>
          </a:p>
        </p:txBody>
      </p:sp>
      <p:sp>
        <p:nvSpPr>
          <p:cNvPr id="11" name="Shape 8"/>
          <p:cNvSpPr/>
          <p:nvPr/>
        </p:nvSpPr>
        <p:spPr>
          <a:xfrm>
            <a:off x="4974336" y="5724144"/>
            <a:ext cx="201168" cy="109728"/>
          </a:xfrm>
          <a:prstGeom prst="rect">
            <a:avLst/>
          </a:prstGeom>
          <a:solidFill>
            <a:srgbClr val="F4F5F7"/>
          </a:solidFill>
          <a:ln w="12700">
            <a:solidFill>
              <a:srgbClr val="F4F5F7"/>
            </a:solidFill>
            <a:prstDash val="solid"/>
          </a:ln>
        </p:spPr>
      </p:sp>
      <p:sp>
        <p:nvSpPr>
          <p:cNvPr id="12" name="Text 9"/>
          <p:cNvSpPr txBox="1"/>
          <p:nvPr/>
        </p:nvSpPr>
        <p:spPr>
          <a:xfrm>
            <a:off x="5230368" y="5669280"/>
            <a:ext cx="1188720" cy="219456"/>
          </a:xfrm>
          <a:prstGeom prst="rect">
            <a:avLst/>
          </a:prstGeom>
          <a:noFill/>
          <a:ln/>
        </p:spPr>
        <p:txBody>
          <a:bodyPr wrap="square" lIns="0" tIns="0" rIns="0" bIns="0" rtlCol="0" anchor="ctr"/>
          <a:lstStyle/>
          <a:p>
            <a:pPr indent="0" marL="0">
              <a:buNone/>
            </a:pPr>
            <a:r>
              <a:rPr lang="en-US" sz="850" dirty="0">
                <a:solidFill>
                  <a:srgbClr val="2B2B2B"/>
                </a:solidFill>
                <a:latin typeface="Verdana" pitchFamily="34" charset="0"/>
                <a:ea typeface="Verdana" pitchFamily="34" charset="-122"/>
                <a:cs typeface="Verdana" pitchFamily="34" charset="-120"/>
              </a:rPr>
              <a:t>dos más bajos</a:t>
            </a:r>
            <a:endParaRPr lang="en-US" sz="850" dirty="0"/>
          </a:p>
        </p:txBody>
      </p:sp>
      <p:sp>
        <p:nvSpPr>
          <p:cNvPr id="13" name="Text 10"/>
          <p:cNvSpPr txBox="1"/>
          <p:nvPr/>
        </p:nvSpPr>
        <p:spPr>
          <a:xfrm>
            <a:off x="621792" y="6053328"/>
            <a:ext cx="10945368" cy="475488"/>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MIR: 2026, préstamos a empresas ≤1 M€ (proxy de importe). SAFE: PYME &lt;250 empleados, 2023–2025. FINREP: Recomendación 2003/361/CE, 2026-Q1. COREP: IRB, definición interna, mediana, 2026-Q1. TE: estándar e IRB, junio 2025. EUF: sin segmento, 2025. Banco Mundial: 2019, céntimos por dólar. Sombreado por magnitud, no por mejor o peor.</a:t>
            </a:r>
            <a:endParaRPr lang="en-US" sz="7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3" name="Text 1"/>
          <p:cNvSpPr txBox="1"/>
          <p:nvPr/>
        </p:nvSpPr>
        <p:spPr>
          <a:xfrm>
            <a:off x="621792" y="6583680"/>
            <a:ext cx="548640" cy="182880"/>
          </a:xfrm>
          <a:prstGeom prst="rect">
            <a:avLst/>
          </a:prstGeom>
          <a:noFill/>
          <a:ln/>
        </p:spPr>
        <p:txBody>
          <a:bodyPr wrap="square" lIns="0" tIns="0" rIns="0" bIns="0" rtlCol="0" anchor="ctr"/>
          <a:lstStyle/>
          <a:p>
            <a:pPr indent="0" marL="0">
              <a:buNone/>
            </a:pPr>
            <a:r>
              <a:rPr lang="en-US" sz="800" dirty="0">
                <a:solidFill>
                  <a:srgbClr val="CACACA"/>
                </a:solidFill>
                <a:latin typeface="Verdana" pitchFamily="34" charset="0"/>
                <a:ea typeface="Verdana" pitchFamily="34" charset="-122"/>
                <a:cs typeface="Verdana" pitchFamily="34" charset="-120"/>
              </a:rPr>
              <a:t>37</a:t>
            </a:r>
            <a:endParaRPr lang="en-US" sz="800" dirty="0"/>
          </a:p>
        </p:txBody>
      </p:sp>
      <p:sp>
        <p:nvSpPr>
          <p:cNvPr id="4" name="Text 2"/>
          <p:cNvSpPr txBox="1"/>
          <p:nvPr/>
        </p:nvSpPr>
        <p:spPr>
          <a:xfrm>
            <a:off x="621792" y="420624"/>
            <a:ext cx="9208008" cy="676656"/>
          </a:xfrm>
          <a:prstGeom prst="rect">
            <a:avLst/>
          </a:prstGeom>
          <a:noFill/>
          <a:ln/>
        </p:spPr>
        <p:txBody>
          <a:bodyPr wrap="square" lIns="0" tIns="0" rIns="0" bIns="0" rtlCol="0" anchor="ctr"/>
          <a:lstStyle/>
          <a:p>
            <a:pPr indent="0" marL="0">
              <a:buNone/>
            </a:pPr>
            <a:r>
              <a:rPr lang="en-US" sz="2200" b="1" dirty="0">
                <a:solidFill>
                  <a:srgbClr val="2B2B2B"/>
                </a:solidFill>
                <a:latin typeface="Verdana" pitchFamily="34" charset="0"/>
                <a:ea typeface="Verdana" pitchFamily="34" charset="-122"/>
                <a:cs typeface="Verdana" pitchFamily="34" charset="-120"/>
              </a:rPr>
              <a:t>Dónde está España en cada dato</a:t>
            </a:r>
            <a:endParaRPr lang="en-US" sz="2200" dirty="0"/>
          </a:p>
        </p:txBody>
      </p:sp>
      <p:sp>
        <p:nvSpPr>
          <p:cNvPr id="5" name="Text 3"/>
          <p:cNvSpPr txBox="1"/>
          <p:nvPr/>
        </p:nvSpPr>
        <p:spPr>
          <a:xfrm>
            <a:off x="621792" y="1060704"/>
            <a:ext cx="10945368" cy="365760"/>
          </a:xfrm>
          <a:prstGeom prst="rect">
            <a:avLst/>
          </a:prstGeom>
          <a:noFill/>
          <a:ln/>
        </p:spPr>
        <p:txBody>
          <a:bodyPr wrap="square" lIns="0" tIns="0" rIns="0" bIns="0" rtlCol="0" anchor="ctr"/>
          <a:lstStyle/>
          <a:p>
            <a:pPr indent="0" marL="0">
              <a:buNone/>
            </a:pPr>
            <a:r>
              <a:rPr lang="en-US" sz="1050" dirty="0">
                <a:solidFill>
                  <a:srgbClr val="818181"/>
                </a:solidFill>
                <a:latin typeface="Verdana" pitchFamily="34" charset="0"/>
                <a:ea typeface="Verdana" pitchFamily="34" charset="-122"/>
                <a:cs typeface="Verdana" pitchFamily="34" charset="-120"/>
              </a:rPr>
              <a:t>Cada fila va del valor más bajo al más alto de los siete países · España en naranja, el resto en gris</a:t>
            </a:r>
            <a:endParaRPr lang="en-US" sz="1050" dirty="0"/>
          </a:p>
        </p:txBody>
      </p:sp>
      <p:sp>
        <p:nvSpPr>
          <p:cNvPr id="6" name="Text 4"/>
          <p:cNvSpPr txBox="1"/>
          <p:nvPr/>
        </p:nvSpPr>
        <p:spPr>
          <a:xfrm>
            <a:off x="621792" y="1664208"/>
            <a:ext cx="2331720" cy="237744"/>
          </a:xfrm>
          <a:prstGeom prst="rect">
            <a:avLst/>
          </a:prstGeom>
          <a:noFill/>
          <a:ln/>
        </p:spPr>
        <p:txBody>
          <a:bodyPr wrap="square" lIns="0" tIns="0" rIns="0" bIns="0" rtlCol="0" anchor="ctr"/>
          <a:lstStyle/>
          <a:p>
            <a:pPr indent="0" marL="0">
              <a:buNone/>
            </a:pPr>
            <a:r>
              <a:rPr lang="en-US" sz="950" b="1" dirty="0">
                <a:solidFill>
                  <a:srgbClr val="2B2B2B"/>
                </a:solidFill>
                <a:latin typeface="Verdana" pitchFamily="34" charset="0"/>
                <a:ea typeface="Verdana" pitchFamily="34" charset="-122"/>
                <a:cs typeface="Verdana" pitchFamily="34" charset="-120"/>
              </a:rPr>
              <a:t>Precio del préstamo ≤1 M€</a:t>
            </a:r>
            <a:endParaRPr lang="en-US" sz="950" dirty="0"/>
          </a:p>
        </p:txBody>
      </p:sp>
      <p:sp>
        <p:nvSpPr>
          <p:cNvPr id="7" name="Text 5"/>
          <p:cNvSpPr txBox="1"/>
          <p:nvPr/>
        </p:nvSpPr>
        <p:spPr>
          <a:xfrm>
            <a:off x="3017520" y="1673352"/>
            <a:ext cx="841248" cy="219456"/>
          </a:xfrm>
          <a:prstGeom prst="rect">
            <a:avLst/>
          </a:prstGeom>
          <a:noFill/>
          <a:ln/>
        </p:spPr>
        <p:txBody>
          <a:bodyPr wrap="square" lIns="0" tIns="0" rIns="0" bIns="0" rtlCol="0" anchor="ctr"/>
          <a:lstStyle/>
          <a:p>
            <a:pPr algn="r" indent="0" marL="0">
              <a:buNone/>
            </a:pPr>
            <a:r>
              <a:rPr lang="en-US" sz="800" dirty="0">
                <a:solidFill>
                  <a:srgbClr val="818181"/>
                </a:solidFill>
                <a:latin typeface="Verdana" pitchFamily="34" charset="0"/>
                <a:ea typeface="Verdana" pitchFamily="34" charset="-122"/>
                <a:cs typeface="Verdana" pitchFamily="34" charset="-120"/>
              </a:rPr>
              <a:t>3,41 %</a:t>
            </a:r>
            <a:endParaRPr lang="en-US" sz="800" dirty="0"/>
          </a:p>
        </p:txBody>
      </p:sp>
      <p:sp>
        <p:nvSpPr>
          <p:cNvPr id="8" name="Text 6"/>
          <p:cNvSpPr txBox="1"/>
          <p:nvPr/>
        </p:nvSpPr>
        <p:spPr>
          <a:xfrm>
            <a:off x="10497312" y="1673352"/>
            <a:ext cx="868680" cy="219456"/>
          </a:xfrm>
          <a:prstGeom prst="rect">
            <a:avLst/>
          </a:prstGeom>
          <a:noFill/>
          <a:ln/>
        </p:spPr>
        <p:txBody>
          <a:bodyPr wrap="square" lIns="0" tIns="0" rIns="0" bIns="0" rtlCol="0" anchor="ctr"/>
          <a:lstStyle/>
          <a:p>
            <a:pPr indent="0" marL="0">
              <a:buNone/>
            </a:pPr>
            <a:r>
              <a:rPr lang="en-US" sz="800" dirty="0">
                <a:solidFill>
                  <a:srgbClr val="818181"/>
                </a:solidFill>
                <a:latin typeface="Verdana" pitchFamily="34" charset="0"/>
                <a:ea typeface="Verdana" pitchFamily="34" charset="-122"/>
                <a:cs typeface="Verdana" pitchFamily="34" charset="-120"/>
              </a:rPr>
              <a:t>5,37 %</a:t>
            </a:r>
            <a:endParaRPr lang="en-US" sz="800" dirty="0"/>
          </a:p>
        </p:txBody>
      </p:sp>
      <p:sp>
        <p:nvSpPr>
          <p:cNvPr id="9" name="Shape 7"/>
          <p:cNvSpPr/>
          <p:nvPr/>
        </p:nvSpPr>
        <p:spPr>
          <a:xfrm>
            <a:off x="3977640" y="1777594"/>
            <a:ext cx="6400800" cy="10973"/>
          </a:xfrm>
          <a:prstGeom prst="rect">
            <a:avLst/>
          </a:prstGeom>
          <a:solidFill>
            <a:srgbClr val="CACACA"/>
          </a:solidFill>
          <a:ln w="12700">
            <a:solidFill>
              <a:srgbClr val="CACACA"/>
            </a:solidFill>
            <a:prstDash val="solid"/>
          </a:ln>
        </p:spPr>
      </p:sp>
      <p:sp>
        <p:nvSpPr>
          <p:cNvPr id="10" name="Shape 8"/>
          <p:cNvSpPr/>
          <p:nvPr/>
        </p:nvSpPr>
        <p:spPr>
          <a:xfrm>
            <a:off x="7114032" y="1719072"/>
            <a:ext cx="128016" cy="128016"/>
          </a:xfrm>
          <a:prstGeom prst="ellipse">
            <a:avLst/>
          </a:prstGeom>
          <a:solidFill>
            <a:srgbClr val="B9B9B9"/>
          </a:solidFill>
          <a:ln w="9525">
            <a:solidFill>
              <a:srgbClr val="FFFFFF"/>
            </a:solidFill>
            <a:prstDash val="solid"/>
          </a:ln>
        </p:spPr>
      </p:sp>
      <p:sp>
        <p:nvSpPr>
          <p:cNvPr id="11" name="Shape 9"/>
          <p:cNvSpPr/>
          <p:nvPr/>
        </p:nvSpPr>
        <p:spPr>
          <a:xfrm>
            <a:off x="5089289" y="1719072"/>
            <a:ext cx="128016" cy="128016"/>
          </a:xfrm>
          <a:prstGeom prst="ellipse">
            <a:avLst/>
          </a:prstGeom>
          <a:solidFill>
            <a:srgbClr val="B9B9B9"/>
          </a:solidFill>
          <a:ln w="9525">
            <a:solidFill>
              <a:srgbClr val="FFFFFF"/>
            </a:solidFill>
            <a:prstDash val="solid"/>
          </a:ln>
        </p:spPr>
      </p:sp>
      <p:sp>
        <p:nvSpPr>
          <p:cNvPr id="12" name="Shape 10"/>
          <p:cNvSpPr/>
          <p:nvPr/>
        </p:nvSpPr>
        <p:spPr>
          <a:xfrm>
            <a:off x="6656832" y="1719072"/>
            <a:ext cx="128016" cy="128016"/>
          </a:xfrm>
          <a:prstGeom prst="ellipse">
            <a:avLst/>
          </a:prstGeom>
          <a:solidFill>
            <a:srgbClr val="B9B9B9"/>
          </a:solidFill>
          <a:ln w="9525">
            <a:solidFill>
              <a:srgbClr val="FFFFFF"/>
            </a:solidFill>
            <a:prstDash val="solid"/>
          </a:ln>
        </p:spPr>
      </p:sp>
      <p:sp>
        <p:nvSpPr>
          <p:cNvPr id="13" name="Shape 11"/>
          <p:cNvSpPr/>
          <p:nvPr/>
        </p:nvSpPr>
        <p:spPr>
          <a:xfrm>
            <a:off x="5644461" y="1719072"/>
            <a:ext cx="128016" cy="128016"/>
          </a:xfrm>
          <a:prstGeom prst="ellipse">
            <a:avLst/>
          </a:prstGeom>
          <a:solidFill>
            <a:srgbClr val="B9B9B9"/>
          </a:solidFill>
          <a:ln w="9525">
            <a:solidFill>
              <a:srgbClr val="FFFFFF"/>
            </a:solidFill>
            <a:prstDash val="solid"/>
          </a:ln>
        </p:spPr>
      </p:sp>
      <p:sp>
        <p:nvSpPr>
          <p:cNvPr id="14" name="Shape 12"/>
          <p:cNvSpPr/>
          <p:nvPr/>
        </p:nvSpPr>
        <p:spPr>
          <a:xfrm>
            <a:off x="7473261" y="1719072"/>
            <a:ext cx="128016" cy="128016"/>
          </a:xfrm>
          <a:prstGeom prst="ellipse">
            <a:avLst/>
          </a:prstGeom>
          <a:solidFill>
            <a:srgbClr val="B9B9B9"/>
          </a:solidFill>
          <a:ln w="9525">
            <a:solidFill>
              <a:srgbClr val="FFFFFF"/>
            </a:solidFill>
            <a:prstDash val="solid"/>
          </a:ln>
        </p:spPr>
      </p:sp>
      <p:sp>
        <p:nvSpPr>
          <p:cNvPr id="15" name="Shape 13"/>
          <p:cNvSpPr/>
          <p:nvPr/>
        </p:nvSpPr>
        <p:spPr>
          <a:xfrm>
            <a:off x="10314432" y="1719072"/>
            <a:ext cx="128016" cy="128016"/>
          </a:xfrm>
          <a:prstGeom prst="ellipse">
            <a:avLst/>
          </a:prstGeom>
          <a:solidFill>
            <a:srgbClr val="B9B9B9"/>
          </a:solidFill>
          <a:ln w="9525">
            <a:solidFill>
              <a:srgbClr val="FFFFFF"/>
            </a:solidFill>
            <a:prstDash val="solid"/>
          </a:ln>
        </p:spPr>
      </p:sp>
      <p:sp>
        <p:nvSpPr>
          <p:cNvPr id="16" name="Shape 14"/>
          <p:cNvSpPr/>
          <p:nvPr/>
        </p:nvSpPr>
        <p:spPr>
          <a:xfrm>
            <a:off x="3877056" y="1682496"/>
            <a:ext cx="201168" cy="201168"/>
          </a:xfrm>
          <a:prstGeom prst="ellipse">
            <a:avLst/>
          </a:prstGeom>
          <a:solidFill>
            <a:srgbClr val="F56600"/>
          </a:solidFill>
          <a:ln w="12700">
            <a:solidFill>
              <a:srgbClr val="FFFFFF"/>
            </a:solidFill>
            <a:prstDash val="solid"/>
          </a:ln>
        </p:spPr>
      </p:sp>
      <p:sp>
        <p:nvSpPr>
          <p:cNvPr id="17" name="Text 15"/>
          <p:cNvSpPr txBox="1"/>
          <p:nvPr/>
        </p:nvSpPr>
        <p:spPr>
          <a:xfrm>
            <a:off x="3429000" y="1453896"/>
            <a:ext cx="1097280" cy="182880"/>
          </a:xfrm>
          <a:prstGeom prst="rect">
            <a:avLst/>
          </a:prstGeom>
          <a:noFill/>
          <a:ln/>
        </p:spPr>
        <p:txBody>
          <a:bodyPr wrap="square" lIns="0" tIns="0" rIns="0" bIns="0" rtlCol="0" anchor="ctr"/>
          <a:lstStyle/>
          <a:p>
            <a:pPr algn="ctr" indent="0" marL="0">
              <a:buNone/>
            </a:pPr>
            <a:r>
              <a:rPr lang="en-US" sz="800" b="1" dirty="0">
                <a:solidFill>
                  <a:srgbClr val="F56600"/>
                </a:solidFill>
                <a:latin typeface="Verdana" pitchFamily="34" charset="0"/>
                <a:ea typeface="Verdana" pitchFamily="34" charset="-122"/>
                <a:cs typeface="Verdana" pitchFamily="34" charset="-120"/>
              </a:rPr>
              <a:t>3,41 %</a:t>
            </a:r>
            <a:endParaRPr lang="en-US" sz="800" dirty="0"/>
          </a:p>
        </p:txBody>
      </p:sp>
      <p:sp>
        <p:nvSpPr>
          <p:cNvPr id="18" name="Text 16"/>
          <p:cNvSpPr txBox="1"/>
          <p:nvPr/>
        </p:nvSpPr>
        <p:spPr>
          <a:xfrm>
            <a:off x="621792" y="2121408"/>
            <a:ext cx="2331720" cy="237744"/>
          </a:xfrm>
          <a:prstGeom prst="rect">
            <a:avLst/>
          </a:prstGeom>
          <a:noFill/>
          <a:ln/>
        </p:spPr>
        <p:txBody>
          <a:bodyPr wrap="square" lIns="0" tIns="0" rIns="0" bIns="0" rtlCol="0" anchor="ctr"/>
          <a:lstStyle/>
          <a:p>
            <a:pPr indent="0" marL="0">
              <a:buNone/>
            </a:pPr>
            <a:r>
              <a:rPr lang="en-US" sz="950" b="1" dirty="0">
                <a:solidFill>
                  <a:srgbClr val="2B2B2B"/>
                </a:solidFill>
                <a:latin typeface="Verdana" pitchFamily="34" charset="0"/>
                <a:ea typeface="Verdana" pitchFamily="34" charset="-122"/>
                <a:cs typeface="Verdana" pitchFamily="34" charset="-120"/>
              </a:rPr>
              <a:t>Prima PYME, últimos 12 meses</a:t>
            </a:r>
            <a:endParaRPr lang="en-US" sz="950" dirty="0"/>
          </a:p>
        </p:txBody>
      </p:sp>
      <p:sp>
        <p:nvSpPr>
          <p:cNvPr id="19" name="Text 17"/>
          <p:cNvSpPr txBox="1"/>
          <p:nvPr/>
        </p:nvSpPr>
        <p:spPr>
          <a:xfrm>
            <a:off x="3017520" y="2130552"/>
            <a:ext cx="841248" cy="219456"/>
          </a:xfrm>
          <a:prstGeom prst="rect">
            <a:avLst/>
          </a:prstGeom>
          <a:noFill/>
          <a:ln/>
        </p:spPr>
        <p:txBody>
          <a:bodyPr wrap="square" lIns="0" tIns="0" rIns="0" bIns="0" rtlCol="0" anchor="ctr"/>
          <a:lstStyle/>
          <a:p>
            <a:pPr algn="r" indent="0" marL="0">
              <a:buNone/>
            </a:pPr>
            <a:r>
              <a:rPr lang="en-US" sz="800" dirty="0">
                <a:solidFill>
                  <a:srgbClr val="818181"/>
                </a:solidFill>
                <a:latin typeface="Verdana" pitchFamily="34" charset="0"/>
                <a:ea typeface="Verdana" pitchFamily="34" charset="-122"/>
                <a:cs typeface="Verdana" pitchFamily="34" charset="-120"/>
              </a:rPr>
              <a:t>−0,03 pp</a:t>
            </a:r>
            <a:endParaRPr lang="en-US" sz="800" dirty="0"/>
          </a:p>
        </p:txBody>
      </p:sp>
      <p:sp>
        <p:nvSpPr>
          <p:cNvPr id="20" name="Text 18"/>
          <p:cNvSpPr txBox="1"/>
          <p:nvPr/>
        </p:nvSpPr>
        <p:spPr>
          <a:xfrm>
            <a:off x="10497312" y="2130552"/>
            <a:ext cx="868680" cy="219456"/>
          </a:xfrm>
          <a:prstGeom prst="rect">
            <a:avLst/>
          </a:prstGeom>
          <a:noFill/>
          <a:ln/>
        </p:spPr>
        <p:txBody>
          <a:bodyPr wrap="square" lIns="0" tIns="0" rIns="0" bIns="0" rtlCol="0" anchor="ctr"/>
          <a:lstStyle/>
          <a:p>
            <a:pPr indent="0" marL="0">
              <a:buNone/>
            </a:pPr>
            <a:r>
              <a:rPr lang="en-US" sz="800" dirty="0">
                <a:solidFill>
                  <a:srgbClr val="818181"/>
                </a:solidFill>
                <a:latin typeface="Verdana" pitchFamily="34" charset="0"/>
                <a:ea typeface="Verdana" pitchFamily="34" charset="-122"/>
                <a:cs typeface="Verdana" pitchFamily="34" charset="-120"/>
              </a:rPr>
              <a:t>+1,39 pp</a:t>
            </a:r>
            <a:endParaRPr lang="en-US" sz="800" dirty="0"/>
          </a:p>
        </p:txBody>
      </p:sp>
      <p:sp>
        <p:nvSpPr>
          <p:cNvPr id="21" name="Shape 19"/>
          <p:cNvSpPr/>
          <p:nvPr/>
        </p:nvSpPr>
        <p:spPr>
          <a:xfrm>
            <a:off x="3977640" y="2234794"/>
            <a:ext cx="6400800" cy="10973"/>
          </a:xfrm>
          <a:prstGeom prst="rect">
            <a:avLst/>
          </a:prstGeom>
          <a:solidFill>
            <a:srgbClr val="CACACA"/>
          </a:solidFill>
          <a:ln w="12700">
            <a:solidFill>
              <a:srgbClr val="CACACA"/>
            </a:solidFill>
            <a:prstDash val="solid"/>
          </a:ln>
        </p:spPr>
      </p:sp>
      <p:sp>
        <p:nvSpPr>
          <p:cNvPr id="22" name="Shape 20"/>
          <p:cNvSpPr/>
          <p:nvPr/>
        </p:nvSpPr>
        <p:spPr>
          <a:xfrm>
            <a:off x="9638291" y="2176272"/>
            <a:ext cx="128016" cy="128016"/>
          </a:xfrm>
          <a:prstGeom prst="ellipse">
            <a:avLst/>
          </a:prstGeom>
          <a:solidFill>
            <a:srgbClr val="B9B9B9"/>
          </a:solidFill>
          <a:ln w="9525">
            <a:solidFill>
              <a:srgbClr val="FFFFFF"/>
            </a:solidFill>
            <a:prstDash val="solid"/>
          </a:ln>
        </p:spPr>
      </p:sp>
      <p:sp>
        <p:nvSpPr>
          <p:cNvPr id="23" name="Shape 21"/>
          <p:cNvSpPr/>
          <p:nvPr/>
        </p:nvSpPr>
        <p:spPr>
          <a:xfrm>
            <a:off x="6347739" y="2176272"/>
            <a:ext cx="128016" cy="128016"/>
          </a:xfrm>
          <a:prstGeom prst="ellipse">
            <a:avLst/>
          </a:prstGeom>
          <a:solidFill>
            <a:srgbClr val="B9B9B9"/>
          </a:solidFill>
          <a:ln w="9525">
            <a:solidFill>
              <a:srgbClr val="FFFFFF"/>
            </a:solidFill>
            <a:prstDash val="solid"/>
          </a:ln>
        </p:spPr>
      </p:sp>
      <p:sp>
        <p:nvSpPr>
          <p:cNvPr id="24" name="Shape 22"/>
          <p:cNvSpPr/>
          <p:nvPr/>
        </p:nvSpPr>
        <p:spPr>
          <a:xfrm>
            <a:off x="10314432" y="2176272"/>
            <a:ext cx="128016" cy="128016"/>
          </a:xfrm>
          <a:prstGeom prst="ellipse">
            <a:avLst/>
          </a:prstGeom>
          <a:solidFill>
            <a:srgbClr val="B9B9B9"/>
          </a:solidFill>
          <a:ln w="9525">
            <a:solidFill>
              <a:srgbClr val="FFFFFF"/>
            </a:solidFill>
            <a:prstDash val="solid"/>
          </a:ln>
        </p:spPr>
      </p:sp>
      <p:sp>
        <p:nvSpPr>
          <p:cNvPr id="25" name="Shape 23"/>
          <p:cNvSpPr/>
          <p:nvPr/>
        </p:nvSpPr>
        <p:spPr>
          <a:xfrm>
            <a:off x="7023880" y="2176272"/>
            <a:ext cx="128016" cy="128016"/>
          </a:xfrm>
          <a:prstGeom prst="ellipse">
            <a:avLst/>
          </a:prstGeom>
          <a:solidFill>
            <a:srgbClr val="B9B9B9"/>
          </a:solidFill>
          <a:ln w="9525">
            <a:solidFill>
              <a:srgbClr val="FFFFFF"/>
            </a:solidFill>
            <a:prstDash val="solid"/>
          </a:ln>
        </p:spPr>
      </p:sp>
      <p:sp>
        <p:nvSpPr>
          <p:cNvPr id="26" name="Shape 24"/>
          <p:cNvSpPr/>
          <p:nvPr/>
        </p:nvSpPr>
        <p:spPr>
          <a:xfrm>
            <a:off x="9232607" y="2176272"/>
            <a:ext cx="128016" cy="128016"/>
          </a:xfrm>
          <a:prstGeom prst="ellipse">
            <a:avLst/>
          </a:prstGeom>
          <a:solidFill>
            <a:srgbClr val="B9B9B9"/>
          </a:solidFill>
          <a:ln w="9525">
            <a:solidFill>
              <a:srgbClr val="FFFFFF"/>
            </a:solidFill>
            <a:prstDash val="solid"/>
          </a:ln>
        </p:spPr>
      </p:sp>
      <p:sp>
        <p:nvSpPr>
          <p:cNvPr id="27" name="Shape 25"/>
          <p:cNvSpPr/>
          <p:nvPr/>
        </p:nvSpPr>
        <p:spPr>
          <a:xfrm>
            <a:off x="7700021" y="2176272"/>
            <a:ext cx="128016" cy="128016"/>
          </a:xfrm>
          <a:prstGeom prst="ellipse">
            <a:avLst/>
          </a:prstGeom>
          <a:solidFill>
            <a:srgbClr val="B9B9B9"/>
          </a:solidFill>
          <a:ln w="9525">
            <a:solidFill>
              <a:srgbClr val="FFFFFF"/>
            </a:solidFill>
            <a:prstDash val="solid"/>
          </a:ln>
        </p:spPr>
      </p:sp>
      <p:sp>
        <p:nvSpPr>
          <p:cNvPr id="28" name="Shape 26"/>
          <p:cNvSpPr/>
          <p:nvPr/>
        </p:nvSpPr>
        <p:spPr>
          <a:xfrm>
            <a:off x="3877056" y="2139696"/>
            <a:ext cx="201168" cy="201168"/>
          </a:xfrm>
          <a:prstGeom prst="ellipse">
            <a:avLst/>
          </a:prstGeom>
          <a:solidFill>
            <a:srgbClr val="F56600"/>
          </a:solidFill>
          <a:ln w="12700">
            <a:solidFill>
              <a:srgbClr val="FFFFFF"/>
            </a:solidFill>
            <a:prstDash val="solid"/>
          </a:ln>
        </p:spPr>
      </p:sp>
      <p:sp>
        <p:nvSpPr>
          <p:cNvPr id="29" name="Text 27"/>
          <p:cNvSpPr txBox="1"/>
          <p:nvPr/>
        </p:nvSpPr>
        <p:spPr>
          <a:xfrm>
            <a:off x="3429000" y="1911096"/>
            <a:ext cx="1097280" cy="182880"/>
          </a:xfrm>
          <a:prstGeom prst="rect">
            <a:avLst/>
          </a:prstGeom>
          <a:noFill/>
          <a:ln/>
        </p:spPr>
        <p:txBody>
          <a:bodyPr wrap="square" lIns="0" tIns="0" rIns="0" bIns="0" rtlCol="0" anchor="ctr"/>
          <a:lstStyle/>
          <a:p>
            <a:pPr algn="ctr" indent="0" marL="0">
              <a:buNone/>
            </a:pPr>
            <a:r>
              <a:rPr lang="en-US" sz="800" b="1" dirty="0">
                <a:solidFill>
                  <a:srgbClr val="F56600"/>
                </a:solidFill>
                <a:latin typeface="Verdana" pitchFamily="34" charset="0"/>
                <a:ea typeface="Verdana" pitchFamily="34" charset="-122"/>
                <a:cs typeface="Verdana" pitchFamily="34" charset="-120"/>
              </a:rPr>
              <a:t>−0,03 pp</a:t>
            </a:r>
            <a:endParaRPr lang="en-US" sz="800" dirty="0"/>
          </a:p>
        </p:txBody>
      </p:sp>
      <p:sp>
        <p:nvSpPr>
          <p:cNvPr id="30" name="Text 28"/>
          <p:cNvSpPr txBox="1"/>
          <p:nvPr/>
        </p:nvSpPr>
        <p:spPr>
          <a:xfrm>
            <a:off x="621792" y="2578608"/>
            <a:ext cx="2331720" cy="237744"/>
          </a:xfrm>
          <a:prstGeom prst="rect">
            <a:avLst/>
          </a:prstGeom>
          <a:noFill/>
          <a:ln/>
        </p:spPr>
        <p:txBody>
          <a:bodyPr wrap="square" lIns="0" tIns="0" rIns="0" bIns="0" rtlCol="0" anchor="ctr"/>
          <a:lstStyle/>
          <a:p>
            <a:pPr indent="0" marL="0">
              <a:buNone/>
            </a:pPr>
            <a:r>
              <a:rPr lang="en-US" sz="950" b="1" dirty="0">
                <a:solidFill>
                  <a:srgbClr val="2B2B2B"/>
                </a:solidFill>
                <a:latin typeface="Verdana" pitchFamily="34" charset="0"/>
                <a:ea typeface="Verdana" pitchFamily="34" charset="-122"/>
                <a:cs typeface="Verdana" pitchFamily="34" charset="-120"/>
              </a:rPr>
              <a:t>Rechazo, media de 3 años</a:t>
            </a:r>
            <a:endParaRPr lang="en-US" sz="950" dirty="0"/>
          </a:p>
        </p:txBody>
      </p:sp>
      <p:sp>
        <p:nvSpPr>
          <p:cNvPr id="31" name="Text 29"/>
          <p:cNvSpPr txBox="1"/>
          <p:nvPr/>
        </p:nvSpPr>
        <p:spPr>
          <a:xfrm>
            <a:off x="3017520" y="2587752"/>
            <a:ext cx="841248" cy="219456"/>
          </a:xfrm>
          <a:prstGeom prst="rect">
            <a:avLst/>
          </a:prstGeom>
          <a:noFill/>
          <a:ln/>
        </p:spPr>
        <p:txBody>
          <a:bodyPr wrap="square" lIns="0" tIns="0" rIns="0" bIns="0" rtlCol="0" anchor="ctr"/>
          <a:lstStyle/>
          <a:p>
            <a:pPr algn="r" indent="0" marL="0">
              <a:buNone/>
            </a:pPr>
            <a:r>
              <a:rPr lang="en-US" sz="800" dirty="0">
                <a:solidFill>
                  <a:srgbClr val="818181"/>
                </a:solidFill>
                <a:latin typeface="Verdana" pitchFamily="34" charset="0"/>
                <a:ea typeface="Verdana" pitchFamily="34" charset="-122"/>
                <a:cs typeface="Verdana" pitchFamily="34" charset="-120"/>
              </a:rPr>
              <a:t>3,0 %</a:t>
            </a:r>
            <a:endParaRPr lang="en-US" sz="800" dirty="0"/>
          </a:p>
        </p:txBody>
      </p:sp>
      <p:sp>
        <p:nvSpPr>
          <p:cNvPr id="32" name="Text 30"/>
          <p:cNvSpPr txBox="1"/>
          <p:nvPr/>
        </p:nvSpPr>
        <p:spPr>
          <a:xfrm>
            <a:off x="10497312" y="2587752"/>
            <a:ext cx="868680" cy="219456"/>
          </a:xfrm>
          <a:prstGeom prst="rect">
            <a:avLst/>
          </a:prstGeom>
          <a:noFill/>
          <a:ln/>
        </p:spPr>
        <p:txBody>
          <a:bodyPr wrap="square" lIns="0" tIns="0" rIns="0" bIns="0" rtlCol="0" anchor="ctr"/>
          <a:lstStyle/>
          <a:p>
            <a:pPr indent="0" marL="0">
              <a:buNone/>
            </a:pPr>
            <a:r>
              <a:rPr lang="en-US" sz="800" dirty="0">
                <a:solidFill>
                  <a:srgbClr val="818181"/>
                </a:solidFill>
                <a:latin typeface="Verdana" pitchFamily="34" charset="0"/>
                <a:ea typeface="Verdana" pitchFamily="34" charset="-122"/>
                <a:cs typeface="Verdana" pitchFamily="34" charset="-120"/>
              </a:rPr>
              <a:t>11,7 %</a:t>
            </a:r>
            <a:endParaRPr lang="en-US" sz="800" dirty="0"/>
          </a:p>
        </p:txBody>
      </p:sp>
      <p:sp>
        <p:nvSpPr>
          <p:cNvPr id="33" name="Shape 31"/>
          <p:cNvSpPr/>
          <p:nvPr/>
        </p:nvSpPr>
        <p:spPr>
          <a:xfrm>
            <a:off x="3977640" y="2691994"/>
            <a:ext cx="6400800" cy="10973"/>
          </a:xfrm>
          <a:prstGeom prst="rect">
            <a:avLst/>
          </a:prstGeom>
          <a:solidFill>
            <a:srgbClr val="CACACA"/>
          </a:solidFill>
          <a:ln w="12700">
            <a:solidFill>
              <a:srgbClr val="CACACA"/>
            </a:solidFill>
            <a:prstDash val="solid"/>
          </a:ln>
        </p:spPr>
      </p:sp>
      <p:sp>
        <p:nvSpPr>
          <p:cNvPr id="34" name="Shape 32"/>
          <p:cNvSpPr/>
          <p:nvPr/>
        </p:nvSpPr>
        <p:spPr>
          <a:xfrm>
            <a:off x="5826515" y="2633472"/>
            <a:ext cx="128016" cy="128016"/>
          </a:xfrm>
          <a:prstGeom prst="ellipse">
            <a:avLst/>
          </a:prstGeom>
          <a:solidFill>
            <a:srgbClr val="B9B9B9"/>
          </a:solidFill>
          <a:ln w="9525">
            <a:solidFill>
              <a:srgbClr val="FFFFFF"/>
            </a:solidFill>
            <a:prstDash val="solid"/>
          </a:ln>
        </p:spPr>
      </p:sp>
      <p:sp>
        <p:nvSpPr>
          <p:cNvPr id="35" name="Shape 33"/>
          <p:cNvSpPr/>
          <p:nvPr/>
        </p:nvSpPr>
        <p:spPr>
          <a:xfrm>
            <a:off x="8695839" y="2633472"/>
            <a:ext cx="128016" cy="128016"/>
          </a:xfrm>
          <a:prstGeom prst="ellipse">
            <a:avLst/>
          </a:prstGeom>
          <a:solidFill>
            <a:srgbClr val="B9B9B9"/>
          </a:solidFill>
          <a:ln w="9525">
            <a:solidFill>
              <a:srgbClr val="FFFFFF"/>
            </a:solidFill>
            <a:prstDash val="solid"/>
          </a:ln>
        </p:spPr>
      </p:sp>
      <p:sp>
        <p:nvSpPr>
          <p:cNvPr id="36" name="Shape 34"/>
          <p:cNvSpPr/>
          <p:nvPr/>
        </p:nvSpPr>
        <p:spPr>
          <a:xfrm>
            <a:off x="3913632" y="2633472"/>
            <a:ext cx="128016" cy="128016"/>
          </a:xfrm>
          <a:prstGeom prst="ellipse">
            <a:avLst/>
          </a:prstGeom>
          <a:solidFill>
            <a:srgbClr val="B9B9B9"/>
          </a:solidFill>
          <a:ln w="9525">
            <a:solidFill>
              <a:srgbClr val="FFFFFF"/>
            </a:solidFill>
            <a:prstDash val="solid"/>
          </a:ln>
        </p:spPr>
      </p:sp>
      <p:sp>
        <p:nvSpPr>
          <p:cNvPr id="37" name="Shape 35"/>
          <p:cNvSpPr/>
          <p:nvPr/>
        </p:nvSpPr>
        <p:spPr>
          <a:xfrm>
            <a:off x="10314432" y="2633472"/>
            <a:ext cx="128016" cy="128016"/>
          </a:xfrm>
          <a:prstGeom prst="ellipse">
            <a:avLst/>
          </a:prstGeom>
          <a:solidFill>
            <a:srgbClr val="B9B9B9"/>
          </a:solidFill>
          <a:ln w="9525">
            <a:solidFill>
              <a:srgbClr val="FFFFFF"/>
            </a:solidFill>
            <a:prstDash val="solid"/>
          </a:ln>
        </p:spPr>
      </p:sp>
      <p:sp>
        <p:nvSpPr>
          <p:cNvPr id="38" name="Shape 36"/>
          <p:cNvSpPr/>
          <p:nvPr/>
        </p:nvSpPr>
        <p:spPr>
          <a:xfrm>
            <a:off x="9284418" y="2633472"/>
            <a:ext cx="128016" cy="128016"/>
          </a:xfrm>
          <a:prstGeom prst="ellipse">
            <a:avLst/>
          </a:prstGeom>
          <a:solidFill>
            <a:srgbClr val="B9B9B9"/>
          </a:solidFill>
          <a:ln w="9525">
            <a:solidFill>
              <a:srgbClr val="FFFFFF"/>
            </a:solidFill>
            <a:prstDash val="solid"/>
          </a:ln>
        </p:spPr>
      </p:sp>
      <p:sp>
        <p:nvSpPr>
          <p:cNvPr id="39" name="Shape 37"/>
          <p:cNvSpPr/>
          <p:nvPr/>
        </p:nvSpPr>
        <p:spPr>
          <a:xfrm>
            <a:off x="8622266" y="2633472"/>
            <a:ext cx="128016" cy="128016"/>
          </a:xfrm>
          <a:prstGeom prst="ellipse">
            <a:avLst/>
          </a:prstGeom>
          <a:solidFill>
            <a:srgbClr val="B9B9B9"/>
          </a:solidFill>
          <a:ln w="9525">
            <a:solidFill>
              <a:srgbClr val="FFFFFF"/>
            </a:solidFill>
            <a:prstDash val="solid"/>
          </a:ln>
        </p:spPr>
      </p:sp>
      <p:sp>
        <p:nvSpPr>
          <p:cNvPr id="40" name="Shape 38"/>
          <p:cNvSpPr/>
          <p:nvPr/>
        </p:nvSpPr>
        <p:spPr>
          <a:xfrm>
            <a:off x="7923539" y="2596896"/>
            <a:ext cx="201168" cy="201168"/>
          </a:xfrm>
          <a:prstGeom prst="ellipse">
            <a:avLst/>
          </a:prstGeom>
          <a:solidFill>
            <a:srgbClr val="F56600"/>
          </a:solidFill>
          <a:ln w="12700">
            <a:solidFill>
              <a:srgbClr val="FFFFFF"/>
            </a:solidFill>
            <a:prstDash val="solid"/>
          </a:ln>
        </p:spPr>
      </p:sp>
      <p:sp>
        <p:nvSpPr>
          <p:cNvPr id="41" name="Text 39"/>
          <p:cNvSpPr txBox="1"/>
          <p:nvPr/>
        </p:nvSpPr>
        <p:spPr>
          <a:xfrm>
            <a:off x="7475483" y="2368296"/>
            <a:ext cx="1097280" cy="182880"/>
          </a:xfrm>
          <a:prstGeom prst="rect">
            <a:avLst/>
          </a:prstGeom>
          <a:noFill/>
          <a:ln/>
        </p:spPr>
        <p:txBody>
          <a:bodyPr wrap="square" lIns="0" tIns="0" rIns="0" bIns="0" rtlCol="0" anchor="ctr"/>
          <a:lstStyle/>
          <a:p>
            <a:pPr algn="ctr" indent="0" marL="0">
              <a:buNone/>
            </a:pPr>
            <a:r>
              <a:rPr lang="en-US" sz="800" b="1" dirty="0">
                <a:solidFill>
                  <a:srgbClr val="F56600"/>
                </a:solidFill>
                <a:latin typeface="Verdana" pitchFamily="34" charset="0"/>
                <a:ea typeface="Verdana" pitchFamily="34" charset="-122"/>
                <a:cs typeface="Verdana" pitchFamily="34" charset="-120"/>
              </a:rPr>
              <a:t>8,5 %</a:t>
            </a:r>
            <a:endParaRPr lang="en-US" sz="800" dirty="0"/>
          </a:p>
        </p:txBody>
      </p:sp>
      <p:sp>
        <p:nvSpPr>
          <p:cNvPr id="42" name="Text 40"/>
          <p:cNvSpPr txBox="1"/>
          <p:nvPr/>
        </p:nvSpPr>
        <p:spPr>
          <a:xfrm>
            <a:off x="621792" y="3035808"/>
            <a:ext cx="2331720" cy="237744"/>
          </a:xfrm>
          <a:prstGeom prst="rect">
            <a:avLst/>
          </a:prstGeom>
          <a:noFill/>
          <a:ln/>
        </p:spPr>
        <p:txBody>
          <a:bodyPr wrap="square" lIns="0" tIns="0" rIns="0" bIns="0" rtlCol="0" anchor="ctr"/>
          <a:lstStyle/>
          <a:p>
            <a:pPr indent="0" marL="0">
              <a:buNone/>
            </a:pPr>
            <a:r>
              <a:rPr lang="en-US" sz="950" b="1" dirty="0">
                <a:solidFill>
                  <a:srgbClr val="2B2B2B"/>
                </a:solidFill>
                <a:latin typeface="Verdana" pitchFamily="34" charset="0"/>
                <a:ea typeface="Verdana" pitchFamily="34" charset="-122"/>
                <a:cs typeface="Verdana" pitchFamily="34" charset="-120"/>
              </a:rPr>
              <a:t>Mora de la PYME</a:t>
            </a:r>
            <a:endParaRPr lang="en-US" sz="950" dirty="0"/>
          </a:p>
        </p:txBody>
      </p:sp>
      <p:sp>
        <p:nvSpPr>
          <p:cNvPr id="43" name="Text 41"/>
          <p:cNvSpPr txBox="1"/>
          <p:nvPr/>
        </p:nvSpPr>
        <p:spPr>
          <a:xfrm>
            <a:off x="3017520" y="3044952"/>
            <a:ext cx="841248" cy="219456"/>
          </a:xfrm>
          <a:prstGeom prst="rect">
            <a:avLst/>
          </a:prstGeom>
          <a:noFill/>
          <a:ln/>
        </p:spPr>
        <p:txBody>
          <a:bodyPr wrap="square" lIns="0" tIns="0" rIns="0" bIns="0" rtlCol="0" anchor="ctr"/>
          <a:lstStyle/>
          <a:p>
            <a:pPr algn="r" indent="0" marL="0">
              <a:buNone/>
            </a:pPr>
            <a:r>
              <a:rPr lang="en-US" sz="800" dirty="0">
                <a:solidFill>
                  <a:srgbClr val="818181"/>
                </a:solidFill>
                <a:latin typeface="Verdana" pitchFamily="34" charset="0"/>
                <a:ea typeface="Verdana" pitchFamily="34" charset="-122"/>
                <a:cs typeface="Verdana" pitchFamily="34" charset="-120"/>
              </a:rPr>
              <a:t>3,13 %</a:t>
            </a:r>
            <a:endParaRPr lang="en-US" sz="800" dirty="0"/>
          </a:p>
        </p:txBody>
      </p:sp>
      <p:sp>
        <p:nvSpPr>
          <p:cNvPr id="44" name="Text 42"/>
          <p:cNvSpPr txBox="1"/>
          <p:nvPr/>
        </p:nvSpPr>
        <p:spPr>
          <a:xfrm>
            <a:off x="10497312" y="3044952"/>
            <a:ext cx="868680" cy="219456"/>
          </a:xfrm>
          <a:prstGeom prst="rect">
            <a:avLst/>
          </a:prstGeom>
          <a:noFill/>
          <a:ln/>
        </p:spPr>
        <p:txBody>
          <a:bodyPr wrap="square" lIns="0" tIns="0" rIns="0" bIns="0" rtlCol="0" anchor="ctr"/>
          <a:lstStyle/>
          <a:p>
            <a:pPr indent="0" marL="0">
              <a:buNone/>
            </a:pPr>
            <a:r>
              <a:rPr lang="en-US" sz="800" dirty="0">
                <a:solidFill>
                  <a:srgbClr val="818181"/>
                </a:solidFill>
                <a:latin typeface="Verdana" pitchFamily="34" charset="0"/>
                <a:ea typeface="Verdana" pitchFamily="34" charset="-122"/>
                <a:cs typeface="Verdana" pitchFamily="34" charset="-120"/>
              </a:rPr>
              <a:t>5,38 %</a:t>
            </a:r>
            <a:endParaRPr lang="en-US" sz="800" dirty="0"/>
          </a:p>
        </p:txBody>
      </p:sp>
      <p:sp>
        <p:nvSpPr>
          <p:cNvPr id="45" name="Shape 43"/>
          <p:cNvSpPr/>
          <p:nvPr/>
        </p:nvSpPr>
        <p:spPr>
          <a:xfrm>
            <a:off x="3977640" y="3149194"/>
            <a:ext cx="6400800" cy="10973"/>
          </a:xfrm>
          <a:prstGeom prst="rect">
            <a:avLst/>
          </a:prstGeom>
          <a:solidFill>
            <a:srgbClr val="CACACA"/>
          </a:solidFill>
          <a:ln w="12700">
            <a:solidFill>
              <a:srgbClr val="CACACA"/>
            </a:solidFill>
            <a:prstDash val="solid"/>
          </a:ln>
        </p:spPr>
      </p:sp>
      <p:sp>
        <p:nvSpPr>
          <p:cNvPr id="46" name="Shape 44"/>
          <p:cNvSpPr/>
          <p:nvPr/>
        </p:nvSpPr>
        <p:spPr>
          <a:xfrm>
            <a:off x="7287050" y="3090672"/>
            <a:ext cx="128016" cy="128016"/>
          </a:xfrm>
          <a:prstGeom prst="ellipse">
            <a:avLst/>
          </a:prstGeom>
          <a:solidFill>
            <a:srgbClr val="B9B9B9"/>
          </a:solidFill>
          <a:ln w="9525">
            <a:solidFill>
              <a:srgbClr val="FFFFFF"/>
            </a:solidFill>
            <a:prstDash val="solid"/>
          </a:ln>
        </p:spPr>
      </p:sp>
      <p:sp>
        <p:nvSpPr>
          <p:cNvPr id="47" name="Shape 45"/>
          <p:cNvSpPr/>
          <p:nvPr/>
        </p:nvSpPr>
        <p:spPr>
          <a:xfrm>
            <a:off x="9585997" y="3090672"/>
            <a:ext cx="128016" cy="128016"/>
          </a:xfrm>
          <a:prstGeom prst="ellipse">
            <a:avLst/>
          </a:prstGeom>
          <a:solidFill>
            <a:srgbClr val="B9B9B9"/>
          </a:solidFill>
          <a:ln w="9525">
            <a:solidFill>
              <a:srgbClr val="FFFFFF"/>
            </a:solidFill>
            <a:prstDash val="solid"/>
          </a:ln>
        </p:spPr>
      </p:sp>
      <p:sp>
        <p:nvSpPr>
          <p:cNvPr id="48" name="Shape 46"/>
          <p:cNvSpPr/>
          <p:nvPr/>
        </p:nvSpPr>
        <p:spPr>
          <a:xfrm>
            <a:off x="8953871" y="3090672"/>
            <a:ext cx="128016" cy="128016"/>
          </a:xfrm>
          <a:prstGeom prst="ellipse">
            <a:avLst/>
          </a:prstGeom>
          <a:solidFill>
            <a:srgbClr val="B9B9B9"/>
          </a:solidFill>
          <a:ln w="9525">
            <a:solidFill>
              <a:srgbClr val="FFFFFF"/>
            </a:solidFill>
            <a:prstDash val="solid"/>
          </a:ln>
        </p:spPr>
      </p:sp>
      <p:sp>
        <p:nvSpPr>
          <p:cNvPr id="49" name="Shape 47"/>
          <p:cNvSpPr/>
          <p:nvPr/>
        </p:nvSpPr>
        <p:spPr>
          <a:xfrm>
            <a:off x="7029370" y="3090672"/>
            <a:ext cx="128016" cy="128016"/>
          </a:xfrm>
          <a:prstGeom prst="ellipse">
            <a:avLst/>
          </a:prstGeom>
          <a:solidFill>
            <a:srgbClr val="B9B9B9"/>
          </a:solidFill>
          <a:ln w="9525">
            <a:solidFill>
              <a:srgbClr val="FFFFFF"/>
            </a:solidFill>
            <a:prstDash val="solid"/>
          </a:ln>
        </p:spPr>
      </p:sp>
      <p:sp>
        <p:nvSpPr>
          <p:cNvPr id="50" name="Shape 48"/>
          <p:cNvSpPr/>
          <p:nvPr/>
        </p:nvSpPr>
        <p:spPr>
          <a:xfrm>
            <a:off x="3913632" y="3090672"/>
            <a:ext cx="128016" cy="128016"/>
          </a:xfrm>
          <a:prstGeom prst="ellipse">
            <a:avLst/>
          </a:prstGeom>
          <a:solidFill>
            <a:srgbClr val="B9B9B9"/>
          </a:solidFill>
          <a:ln w="9525">
            <a:solidFill>
              <a:srgbClr val="FFFFFF"/>
            </a:solidFill>
            <a:prstDash val="solid"/>
          </a:ln>
        </p:spPr>
      </p:sp>
      <p:sp>
        <p:nvSpPr>
          <p:cNvPr id="51" name="Shape 49"/>
          <p:cNvSpPr/>
          <p:nvPr/>
        </p:nvSpPr>
        <p:spPr>
          <a:xfrm>
            <a:off x="5745517" y="3090672"/>
            <a:ext cx="128016" cy="128016"/>
          </a:xfrm>
          <a:prstGeom prst="ellipse">
            <a:avLst/>
          </a:prstGeom>
          <a:solidFill>
            <a:srgbClr val="B9B9B9"/>
          </a:solidFill>
          <a:ln w="9525">
            <a:solidFill>
              <a:srgbClr val="FFFFFF"/>
            </a:solidFill>
            <a:prstDash val="solid"/>
          </a:ln>
        </p:spPr>
      </p:sp>
      <p:sp>
        <p:nvSpPr>
          <p:cNvPr id="52" name="Shape 50"/>
          <p:cNvSpPr/>
          <p:nvPr/>
        </p:nvSpPr>
        <p:spPr>
          <a:xfrm>
            <a:off x="10277856" y="3054096"/>
            <a:ext cx="201168" cy="201168"/>
          </a:xfrm>
          <a:prstGeom prst="ellipse">
            <a:avLst/>
          </a:prstGeom>
          <a:solidFill>
            <a:srgbClr val="F56600"/>
          </a:solidFill>
          <a:ln w="12700">
            <a:solidFill>
              <a:srgbClr val="FFFFFF"/>
            </a:solidFill>
            <a:prstDash val="solid"/>
          </a:ln>
        </p:spPr>
      </p:sp>
      <p:sp>
        <p:nvSpPr>
          <p:cNvPr id="53" name="Text 51"/>
          <p:cNvSpPr txBox="1"/>
          <p:nvPr/>
        </p:nvSpPr>
        <p:spPr>
          <a:xfrm>
            <a:off x="9829800" y="2825496"/>
            <a:ext cx="1097280" cy="182880"/>
          </a:xfrm>
          <a:prstGeom prst="rect">
            <a:avLst/>
          </a:prstGeom>
          <a:noFill/>
          <a:ln/>
        </p:spPr>
        <p:txBody>
          <a:bodyPr wrap="square" lIns="0" tIns="0" rIns="0" bIns="0" rtlCol="0" anchor="ctr"/>
          <a:lstStyle/>
          <a:p>
            <a:pPr algn="ctr" indent="0" marL="0">
              <a:buNone/>
            </a:pPr>
            <a:r>
              <a:rPr lang="en-US" sz="800" b="1" dirty="0">
                <a:solidFill>
                  <a:srgbClr val="F56600"/>
                </a:solidFill>
                <a:latin typeface="Verdana" pitchFamily="34" charset="0"/>
                <a:ea typeface="Verdana" pitchFamily="34" charset="-122"/>
                <a:cs typeface="Verdana" pitchFamily="34" charset="-120"/>
              </a:rPr>
              <a:t>5,38 %</a:t>
            </a:r>
            <a:endParaRPr lang="en-US" sz="800" dirty="0"/>
          </a:p>
        </p:txBody>
      </p:sp>
      <p:sp>
        <p:nvSpPr>
          <p:cNvPr id="54" name="Text 52"/>
          <p:cNvSpPr txBox="1"/>
          <p:nvPr/>
        </p:nvSpPr>
        <p:spPr>
          <a:xfrm>
            <a:off x="621792" y="3493008"/>
            <a:ext cx="2331720" cy="237744"/>
          </a:xfrm>
          <a:prstGeom prst="rect">
            <a:avLst/>
          </a:prstGeom>
          <a:noFill/>
          <a:ln/>
        </p:spPr>
        <p:txBody>
          <a:bodyPr wrap="square" lIns="0" tIns="0" rIns="0" bIns="0" rtlCol="0" anchor="ctr"/>
          <a:lstStyle/>
          <a:p>
            <a:pPr indent="0" marL="0">
              <a:buNone/>
            </a:pPr>
            <a:r>
              <a:rPr lang="en-US" sz="950" b="1" dirty="0">
                <a:solidFill>
                  <a:srgbClr val="2B2B2B"/>
                </a:solidFill>
                <a:latin typeface="Verdana" pitchFamily="34" charset="0"/>
                <a:ea typeface="Verdana" pitchFamily="34" charset="-122"/>
                <a:cs typeface="Verdana" pitchFamily="34" charset="-120"/>
              </a:rPr>
              <a:t>Probabilidad de impago</a:t>
            </a:r>
            <a:endParaRPr lang="en-US" sz="950" dirty="0"/>
          </a:p>
        </p:txBody>
      </p:sp>
      <p:sp>
        <p:nvSpPr>
          <p:cNvPr id="55" name="Text 53"/>
          <p:cNvSpPr txBox="1"/>
          <p:nvPr/>
        </p:nvSpPr>
        <p:spPr>
          <a:xfrm>
            <a:off x="3017520" y="3502152"/>
            <a:ext cx="841248" cy="219456"/>
          </a:xfrm>
          <a:prstGeom prst="rect">
            <a:avLst/>
          </a:prstGeom>
          <a:noFill/>
          <a:ln/>
        </p:spPr>
        <p:txBody>
          <a:bodyPr wrap="square" lIns="0" tIns="0" rIns="0" bIns="0" rtlCol="0" anchor="ctr"/>
          <a:lstStyle/>
          <a:p>
            <a:pPr algn="r" indent="0" marL="0">
              <a:buNone/>
            </a:pPr>
            <a:r>
              <a:rPr lang="en-US" sz="800" dirty="0">
                <a:solidFill>
                  <a:srgbClr val="818181"/>
                </a:solidFill>
                <a:latin typeface="Verdana" pitchFamily="34" charset="0"/>
                <a:ea typeface="Verdana" pitchFamily="34" charset="-122"/>
                <a:cs typeface="Verdana" pitchFamily="34" charset="-120"/>
              </a:rPr>
              <a:t>1,08 %</a:t>
            </a:r>
            <a:endParaRPr lang="en-US" sz="800" dirty="0"/>
          </a:p>
        </p:txBody>
      </p:sp>
      <p:sp>
        <p:nvSpPr>
          <p:cNvPr id="56" name="Text 54"/>
          <p:cNvSpPr txBox="1"/>
          <p:nvPr/>
        </p:nvSpPr>
        <p:spPr>
          <a:xfrm>
            <a:off x="10497312" y="3502152"/>
            <a:ext cx="868680" cy="219456"/>
          </a:xfrm>
          <a:prstGeom prst="rect">
            <a:avLst/>
          </a:prstGeom>
          <a:noFill/>
          <a:ln/>
        </p:spPr>
        <p:txBody>
          <a:bodyPr wrap="square" lIns="0" tIns="0" rIns="0" bIns="0" rtlCol="0" anchor="ctr"/>
          <a:lstStyle/>
          <a:p>
            <a:pPr indent="0" marL="0">
              <a:buNone/>
            </a:pPr>
            <a:r>
              <a:rPr lang="en-US" sz="800" dirty="0">
                <a:solidFill>
                  <a:srgbClr val="818181"/>
                </a:solidFill>
                <a:latin typeface="Verdana" pitchFamily="34" charset="0"/>
                <a:ea typeface="Verdana" pitchFamily="34" charset="-122"/>
                <a:cs typeface="Verdana" pitchFamily="34" charset="-120"/>
              </a:rPr>
              <a:t>2,26 %</a:t>
            </a:r>
            <a:endParaRPr lang="en-US" sz="800" dirty="0"/>
          </a:p>
        </p:txBody>
      </p:sp>
      <p:sp>
        <p:nvSpPr>
          <p:cNvPr id="57" name="Shape 55"/>
          <p:cNvSpPr/>
          <p:nvPr/>
        </p:nvSpPr>
        <p:spPr>
          <a:xfrm>
            <a:off x="3977640" y="3606394"/>
            <a:ext cx="6400800" cy="10973"/>
          </a:xfrm>
          <a:prstGeom prst="rect">
            <a:avLst/>
          </a:prstGeom>
          <a:solidFill>
            <a:srgbClr val="CACACA"/>
          </a:solidFill>
          <a:ln w="12700">
            <a:solidFill>
              <a:srgbClr val="CACACA"/>
            </a:solidFill>
            <a:prstDash val="solid"/>
          </a:ln>
        </p:spPr>
      </p:sp>
      <p:sp>
        <p:nvSpPr>
          <p:cNvPr id="58" name="Shape 56"/>
          <p:cNvSpPr/>
          <p:nvPr/>
        </p:nvSpPr>
        <p:spPr>
          <a:xfrm>
            <a:off x="4890025" y="3547872"/>
            <a:ext cx="128016" cy="128016"/>
          </a:xfrm>
          <a:prstGeom prst="ellipse">
            <a:avLst/>
          </a:prstGeom>
          <a:solidFill>
            <a:srgbClr val="B9B9B9"/>
          </a:solidFill>
          <a:ln w="9525">
            <a:solidFill>
              <a:srgbClr val="FFFFFF"/>
            </a:solidFill>
            <a:prstDash val="solid"/>
          </a:ln>
        </p:spPr>
      </p:sp>
      <p:sp>
        <p:nvSpPr>
          <p:cNvPr id="59" name="Shape 57"/>
          <p:cNvSpPr/>
          <p:nvPr/>
        </p:nvSpPr>
        <p:spPr>
          <a:xfrm>
            <a:off x="9717747" y="3547872"/>
            <a:ext cx="128016" cy="128016"/>
          </a:xfrm>
          <a:prstGeom prst="ellipse">
            <a:avLst/>
          </a:prstGeom>
          <a:solidFill>
            <a:srgbClr val="B9B9B9"/>
          </a:solidFill>
          <a:ln w="9525">
            <a:solidFill>
              <a:srgbClr val="FFFFFF"/>
            </a:solidFill>
            <a:prstDash val="solid"/>
          </a:ln>
        </p:spPr>
      </p:sp>
      <p:sp>
        <p:nvSpPr>
          <p:cNvPr id="60" name="Shape 58"/>
          <p:cNvSpPr/>
          <p:nvPr/>
        </p:nvSpPr>
        <p:spPr>
          <a:xfrm>
            <a:off x="10314432" y="3547872"/>
            <a:ext cx="128016" cy="128016"/>
          </a:xfrm>
          <a:prstGeom prst="ellipse">
            <a:avLst/>
          </a:prstGeom>
          <a:solidFill>
            <a:srgbClr val="B9B9B9"/>
          </a:solidFill>
          <a:ln w="9525">
            <a:solidFill>
              <a:srgbClr val="FFFFFF"/>
            </a:solidFill>
            <a:prstDash val="solid"/>
          </a:ln>
        </p:spPr>
      </p:sp>
      <p:sp>
        <p:nvSpPr>
          <p:cNvPr id="61" name="Shape 59"/>
          <p:cNvSpPr/>
          <p:nvPr/>
        </p:nvSpPr>
        <p:spPr>
          <a:xfrm>
            <a:off x="4890025" y="3547872"/>
            <a:ext cx="128016" cy="128016"/>
          </a:xfrm>
          <a:prstGeom prst="ellipse">
            <a:avLst/>
          </a:prstGeom>
          <a:solidFill>
            <a:srgbClr val="B9B9B9"/>
          </a:solidFill>
          <a:ln w="9525">
            <a:solidFill>
              <a:srgbClr val="FFFFFF"/>
            </a:solidFill>
            <a:prstDash val="solid"/>
          </a:ln>
        </p:spPr>
      </p:sp>
      <p:sp>
        <p:nvSpPr>
          <p:cNvPr id="62" name="Shape 60"/>
          <p:cNvSpPr/>
          <p:nvPr/>
        </p:nvSpPr>
        <p:spPr>
          <a:xfrm>
            <a:off x="4456073" y="3547872"/>
            <a:ext cx="128016" cy="128016"/>
          </a:xfrm>
          <a:prstGeom prst="ellipse">
            <a:avLst/>
          </a:prstGeom>
          <a:solidFill>
            <a:srgbClr val="B9B9B9"/>
          </a:solidFill>
          <a:ln w="9525">
            <a:solidFill>
              <a:srgbClr val="FFFFFF"/>
            </a:solidFill>
            <a:prstDash val="solid"/>
          </a:ln>
        </p:spPr>
      </p:sp>
      <p:sp>
        <p:nvSpPr>
          <p:cNvPr id="63" name="Shape 61"/>
          <p:cNvSpPr/>
          <p:nvPr/>
        </p:nvSpPr>
        <p:spPr>
          <a:xfrm>
            <a:off x="3913632" y="3547872"/>
            <a:ext cx="128016" cy="128016"/>
          </a:xfrm>
          <a:prstGeom prst="ellipse">
            <a:avLst/>
          </a:prstGeom>
          <a:solidFill>
            <a:srgbClr val="B9B9B9"/>
          </a:solidFill>
          <a:ln w="9525">
            <a:solidFill>
              <a:srgbClr val="FFFFFF"/>
            </a:solidFill>
            <a:prstDash val="solid"/>
          </a:ln>
        </p:spPr>
      </p:sp>
      <p:sp>
        <p:nvSpPr>
          <p:cNvPr id="64" name="Shape 62"/>
          <p:cNvSpPr/>
          <p:nvPr/>
        </p:nvSpPr>
        <p:spPr>
          <a:xfrm>
            <a:off x="7402920" y="3511296"/>
            <a:ext cx="201168" cy="201168"/>
          </a:xfrm>
          <a:prstGeom prst="ellipse">
            <a:avLst/>
          </a:prstGeom>
          <a:solidFill>
            <a:srgbClr val="F56600"/>
          </a:solidFill>
          <a:ln w="12700">
            <a:solidFill>
              <a:srgbClr val="FFFFFF"/>
            </a:solidFill>
            <a:prstDash val="solid"/>
          </a:ln>
        </p:spPr>
      </p:sp>
      <p:sp>
        <p:nvSpPr>
          <p:cNvPr id="65" name="Text 63"/>
          <p:cNvSpPr txBox="1"/>
          <p:nvPr/>
        </p:nvSpPr>
        <p:spPr>
          <a:xfrm>
            <a:off x="6954864" y="3282696"/>
            <a:ext cx="1097280" cy="182880"/>
          </a:xfrm>
          <a:prstGeom prst="rect">
            <a:avLst/>
          </a:prstGeom>
          <a:noFill/>
          <a:ln/>
        </p:spPr>
        <p:txBody>
          <a:bodyPr wrap="square" lIns="0" tIns="0" rIns="0" bIns="0" rtlCol="0" anchor="ctr"/>
          <a:lstStyle/>
          <a:p>
            <a:pPr algn="ctr" indent="0" marL="0">
              <a:buNone/>
            </a:pPr>
            <a:r>
              <a:rPr lang="en-US" sz="800" b="1" dirty="0">
                <a:solidFill>
                  <a:srgbClr val="F56600"/>
                </a:solidFill>
                <a:latin typeface="Verdana" pitchFamily="34" charset="0"/>
                <a:ea typeface="Verdana" pitchFamily="34" charset="-122"/>
                <a:cs typeface="Verdana" pitchFamily="34" charset="-120"/>
              </a:rPr>
              <a:t>1,73 %</a:t>
            </a:r>
            <a:endParaRPr lang="en-US" sz="800" dirty="0"/>
          </a:p>
        </p:txBody>
      </p:sp>
      <p:sp>
        <p:nvSpPr>
          <p:cNvPr id="66" name="Text 64"/>
          <p:cNvSpPr txBox="1"/>
          <p:nvPr/>
        </p:nvSpPr>
        <p:spPr>
          <a:xfrm>
            <a:off x="621792" y="3950208"/>
            <a:ext cx="2331720" cy="237744"/>
          </a:xfrm>
          <a:prstGeom prst="rect">
            <a:avLst/>
          </a:prstGeom>
          <a:noFill/>
          <a:ln/>
        </p:spPr>
        <p:txBody>
          <a:bodyPr wrap="square" lIns="0" tIns="0" rIns="0" bIns="0" rtlCol="0" anchor="ctr"/>
          <a:lstStyle/>
          <a:p>
            <a:pPr indent="0" marL="0">
              <a:buNone/>
            </a:pPr>
            <a:r>
              <a:rPr lang="en-US" sz="950" b="1" dirty="0">
                <a:solidFill>
                  <a:srgbClr val="2B2B2B"/>
                </a:solidFill>
                <a:latin typeface="Verdana" pitchFamily="34" charset="0"/>
                <a:ea typeface="Verdana" pitchFamily="34" charset="-122"/>
                <a:cs typeface="Verdana" pitchFamily="34" charset="-120"/>
              </a:rPr>
              <a:t>Severidad de la pérdida</a:t>
            </a:r>
            <a:endParaRPr lang="en-US" sz="950" dirty="0"/>
          </a:p>
        </p:txBody>
      </p:sp>
      <p:sp>
        <p:nvSpPr>
          <p:cNvPr id="67" name="Text 65"/>
          <p:cNvSpPr txBox="1"/>
          <p:nvPr/>
        </p:nvSpPr>
        <p:spPr>
          <a:xfrm>
            <a:off x="3017520" y="3959352"/>
            <a:ext cx="841248" cy="219456"/>
          </a:xfrm>
          <a:prstGeom prst="rect">
            <a:avLst/>
          </a:prstGeom>
          <a:noFill/>
          <a:ln/>
        </p:spPr>
        <p:txBody>
          <a:bodyPr wrap="square" lIns="0" tIns="0" rIns="0" bIns="0" rtlCol="0" anchor="ctr"/>
          <a:lstStyle/>
          <a:p>
            <a:pPr algn="r" indent="0" marL="0">
              <a:buNone/>
            </a:pPr>
            <a:r>
              <a:rPr lang="en-US" sz="800" dirty="0">
                <a:solidFill>
                  <a:srgbClr val="818181"/>
                </a:solidFill>
                <a:latin typeface="Verdana" pitchFamily="34" charset="0"/>
                <a:ea typeface="Verdana" pitchFamily="34" charset="-122"/>
                <a:cs typeface="Verdana" pitchFamily="34" charset="-120"/>
              </a:rPr>
              <a:t>29,7 %</a:t>
            </a:r>
            <a:endParaRPr lang="en-US" sz="800" dirty="0"/>
          </a:p>
        </p:txBody>
      </p:sp>
      <p:sp>
        <p:nvSpPr>
          <p:cNvPr id="68" name="Text 66"/>
          <p:cNvSpPr txBox="1"/>
          <p:nvPr/>
        </p:nvSpPr>
        <p:spPr>
          <a:xfrm>
            <a:off x="10497312" y="3959352"/>
            <a:ext cx="868680" cy="219456"/>
          </a:xfrm>
          <a:prstGeom prst="rect">
            <a:avLst/>
          </a:prstGeom>
          <a:noFill/>
          <a:ln/>
        </p:spPr>
        <p:txBody>
          <a:bodyPr wrap="square" lIns="0" tIns="0" rIns="0" bIns="0" rtlCol="0" anchor="ctr"/>
          <a:lstStyle/>
          <a:p>
            <a:pPr indent="0" marL="0">
              <a:buNone/>
            </a:pPr>
            <a:r>
              <a:rPr lang="en-US" sz="800" dirty="0">
                <a:solidFill>
                  <a:srgbClr val="818181"/>
                </a:solidFill>
                <a:latin typeface="Verdana" pitchFamily="34" charset="0"/>
                <a:ea typeface="Verdana" pitchFamily="34" charset="-122"/>
                <a:cs typeface="Verdana" pitchFamily="34" charset="-120"/>
              </a:rPr>
              <a:t>40,0 %</a:t>
            </a:r>
            <a:endParaRPr lang="en-US" sz="800" dirty="0"/>
          </a:p>
        </p:txBody>
      </p:sp>
      <p:sp>
        <p:nvSpPr>
          <p:cNvPr id="69" name="Shape 67"/>
          <p:cNvSpPr/>
          <p:nvPr/>
        </p:nvSpPr>
        <p:spPr>
          <a:xfrm>
            <a:off x="3977640" y="4063594"/>
            <a:ext cx="6400800" cy="10973"/>
          </a:xfrm>
          <a:prstGeom prst="rect">
            <a:avLst/>
          </a:prstGeom>
          <a:solidFill>
            <a:srgbClr val="CACACA"/>
          </a:solidFill>
          <a:ln w="12700">
            <a:solidFill>
              <a:srgbClr val="CACACA"/>
            </a:solidFill>
            <a:prstDash val="solid"/>
          </a:ln>
        </p:spPr>
      </p:sp>
      <p:sp>
        <p:nvSpPr>
          <p:cNvPr id="70" name="Shape 68"/>
          <p:cNvSpPr/>
          <p:nvPr/>
        </p:nvSpPr>
        <p:spPr>
          <a:xfrm>
            <a:off x="4994932" y="4005072"/>
            <a:ext cx="128016" cy="128016"/>
          </a:xfrm>
          <a:prstGeom prst="ellipse">
            <a:avLst/>
          </a:prstGeom>
          <a:solidFill>
            <a:srgbClr val="B9B9B9"/>
          </a:solidFill>
          <a:ln w="9525">
            <a:solidFill>
              <a:srgbClr val="FFFFFF"/>
            </a:solidFill>
            <a:prstDash val="solid"/>
          </a:ln>
        </p:spPr>
      </p:sp>
      <p:sp>
        <p:nvSpPr>
          <p:cNvPr id="71" name="Shape 69"/>
          <p:cNvSpPr/>
          <p:nvPr/>
        </p:nvSpPr>
        <p:spPr>
          <a:xfrm>
            <a:off x="5038433" y="4005072"/>
            <a:ext cx="128016" cy="128016"/>
          </a:xfrm>
          <a:prstGeom prst="ellipse">
            <a:avLst/>
          </a:prstGeom>
          <a:solidFill>
            <a:srgbClr val="B9B9B9"/>
          </a:solidFill>
          <a:ln w="9525">
            <a:solidFill>
              <a:srgbClr val="FFFFFF"/>
            </a:solidFill>
            <a:prstDash val="solid"/>
          </a:ln>
        </p:spPr>
      </p:sp>
      <p:sp>
        <p:nvSpPr>
          <p:cNvPr id="72" name="Shape 70"/>
          <p:cNvSpPr/>
          <p:nvPr/>
        </p:nvSpPr>
        <p:spPr>
          <a:xfrm>
            <a:off x="7580110" y="4005072"/>
            <a:ext cx="128016" cy="128016"/>
          </a:xfrm>
          <a:prstGeom prst="ellipse">
            <a:avLst/>
          </a:prstGeom>
          <a:solidFill>
            <a:srgbClr val="B9B9B9"/>
          </a:solidFill>
          <a:ln w="9525">
            <a:solidFill>
              <a:srgbClr val="FFFFFF"/>
            </a:solidFill>
            <a:prstDash val="solid"/>
          </a:ln>
        </p:spPr>
      </p:sp>
      <p:sp>
        <p:nvSpPr>
          <p:cNvPr id="73" name="Shape 71"/>
          <p:cNvSpPr/>
          <p:nvPr/>
        </p:nvSpPr>
        <p:spPr>
          <a:xfrm>
            <a:off x="10314432" y="4005072"/>
            <a:ext cx="128016" cy="128016"/>
          </a:xfrm>
          <a:prstGeom prst="ellipse">
            <a:avLst/>
          </a:prstGeom>
          <a:solidFill>
            <a:srgbClr val="B9B9B9"/>
          </a:solidFill>
          <a:ln w="9525">
            <a:solidFill>
              <a:srgbClr val="FFFFFF"/>
            </a:solidFill>
            <a:prstDash val="solid"/>
          </a:ln>
        </p:spPr>
      </p:sp>
      <p:sp>
        <p:nvSpPr>
          <p:cNvPr id="74" name="Shape 72"/>
          <p:cNvSpPr/>
          <p:nvPr/>
        </p:nvSpPr>
        <p:spPr>
          <a:xfrm>
            <a:off x="3913632" y="4005072"/>
            <a:ext cx="128016" cy="128016"/>
          </a:xfrm>
          <a:prstGeom prst="ellipse">
            <a:avLst/>
          </a:prstGeom>
          <a:solidFill>
            <a:srgbClr val="B9B9B9"/>
          </a:solidFill>
          <a:ln w="9525">
            <a:solidFill>
              <a:srgbClr val="FFFFFF"/>
            </a:solidFill>
            <a:prstDash val="solid"/>
          </a:ln>
        </p:spPr>
      </p:sp>
      <p:sp>
        <p:nvSpPr>
          <p:cNvPr id="75" name="Shape 73"/>
          <p:cNvSpPr/>
          <p:nvPr/>
        </p:nvSpPr>
        <p:spPr>
          <a:xfrm>
            <a:off x="8661410" y="4005072"/>
            <a:ext cx="128016" cy="128016"/>
          </a:xfrm>
          <a:prstGeom prst="ellipse">
            <a:avLst/>
          </a:prstGeom>
          <a:solidFill>
            <a:srgbClr val="B9B9B9"/>
          </a:solidFill>
          <a:ln w="9525">
            <a:solidFill>
              <a:srgbClr val="FFFFFF"/>
            </a:solidFill>
            <a:prstDash val="solid"/>
          </a:ln>
        </p:spPr>
      </p:sp>
      <p:sp>
        <p:nvSpPr>
          <p:cNvPr id="76" name="Shape 74"/>
          <p:cNvSpPr/>
          <p:nvPr/>
        </p:nvSpPr>
        <p:spPr>
          <a:xfrm>
            <a:off x="6785381" y="3968496"/>
            <a:ext cx="201168" cy="201168"/>
          </a:xfrm>
          <a:prstGeom prst="ellipse">
            <a:avLst/>
          </a:prstGeom>
          <a:solidFill>
            <a:srgbClr val="F56600"/>
          </a:solidFill>
          <a:ln w="12700">
            <a:solidFill>
              <a:srgbClr val="FFFFFF"/>
            </a:solidFill>
            <a:prstDash val="solid"/>
          </a:ln>
        </p:spPr>
      </p:sp>
      <p:sp>
        <p:nvSpPr>
          <p:cNvPr id="77" name="Text 75"/>
          <p:cNvSpPr txBox="1"/>
          <p:nvPr/>
        </p:nvSpPr>
        <p:spPr>
          <a:xfrm>
            <a:off x="6337325" y="3739896"/>
            <a:ext cx="1097280" cy="182880"/>
          </a:xfrm>
          <a:prstGeom prst="rect">
            <a:avLst/>
          </a:prstGeom>
          <a:noFill/>
          <a:ln/>
        </p:spPr>
        <p:txBody>
          <a:bodyPr wrap="square" lIns="0" tIns="0" rIns="0" bIns="0" rtlCol="0" anchor="ctr"/>
          <a:lstStyle/>
          <a:p>
            <a:pPr algn="ctr" indent="0" marL="0">
              <a:buNone/>
            </a:pPr>
            <a:r>
              <a:rPr lang="en-US" sz="800" b="1" dirty="0">
                <a:solidFill>
                  <a:srgbClr val="F56600"/>
                </a:solidFill>
                <a:latin typeface="Verdana" pitchFamily="34" charset="0"/>
                <a:ea typeface="Verdana" pitchFamily="34" charset="-122"/>
                <a:cs typeface="Verdana" pitchFamily="34" charset="-120"/>
              </a:rPr>
              <a:t>34,4 %</a:t>
            </a:r>
            <a:endParaRPr lang="en-US" sz="800" dirty="0"/>
          </a:p>
        </p:txBody>
      </p:sp>
      <p:sp>
        <p:nvSpPr>
          <p:cNvPr id="78" name="Text 76"/>
          <p:cNvSpPr txBox="1"/>
          <p:nvPr/>
        </p:nvSpPr>
        <p:spPr>
          <a:xfrm>
            <a:off x="621792" y="4407408"/>
            <a:ext cx="2331720" cy="237744"/>
          </a:xfrm>
          <a:prstGeom prst="rect">
            <a:avLst/>
          </a:prstGeom>
          <a:noFill/>
          <a:ln/>
        </p:spPr>
        <p:txBody>
          <a:bodyPr wrap="square" lIns="0" tIns="0" rIns="0" bIns="0" rtlCol="0" anchor="ctr"/>
          <a:lstStyle/>
          <a:p>
            <a:pPr indent="0" marL="0">
              <a:buNone/>
            </a:pPr>
            <a:r>
              <a:rPr lang="en-US" sz="950" b="1" dirty="0">
                <a:solidFill>
                  <a:srgbClr val="2B2B2B"/>
                </a:solidFill>
                <a:latin typeface="Verdana" pitchFamily="34" charset="0"/>
                <a:ea typeface="Verdana" pitchFamily="34" charset="-122"/>
                <a:cs typeface="Verdana" pitchFamily="34" charset="-120"/>
              </a:rPr>
              <a:t>Densidad de RWA</a:t>
            </a:r>
            <a:endParaRPr lang="en-US" sz="950" dirty="0"/>
          </a:p>
        </p:txBody>
      </p:sp>
      <p:sp>
        <p:nvSpPr>
          <p:cNvPr id="79" name="Text 77"/>
          <p:cNvSpPr txBox="1"/>
          <p:nvPr/>
        </p:nvSpPr>
        <p:spPr>
          <a:xfrm>
            <a:off x="3017520" y="4416552"/>
            <a:ext cx="841248" cy="219456"/>
          </a:xfrm>
          <a:prstGeom prst="rect">
            <a:avLst/>
          </a:prstGeom>
          <a:noFill/>
          <a:ln/>
        </p:spPr>
        <p:txBody>
          <a:bodyPr wrap="square" lIns="0" tIns="0" rIns="0" bIns="0" rtlCol="0" anchor="ctr"/>
          <a:lstStyle/>
          <a:p>
            <a:pPr algn="r" indent="0" marL="0">
              <a:buNone/>
            </a:pPr>
            <a:r>
              <a:rPr lang="en-US" sz="800" dirty="0">
                <a:solidFill>
                  <a:srgbClr val="818181"/>
                </a:solidFill>
                <a:latin typeface="Verdana" pitchFamily="34" charset="0"/>
                <a:ea typeface="Verdana" pitchFamily="34" charset="-122"/>
                <a:cs typeface="Verdana" pitchFamily="34" charset="-120"/>
              </a:rPr>
              <a:t>35,3 %</a:t>
            </a:r>
            <a:endParaRPr lang="en-US" sz="800" dirty="0"/>
          </a:p>
        </p:txBody>
      </p:sp>
      <p:sp>
        <p:nvSpPr>
          <p:cNvPr id="80" name="Text 78"/>
          <p:cNvSpPr txBox="1"/>
          <p:nvPr/>
        </p:nvSpPr>
        <p:spPr>
          <a:xfrm>
            <a:off x="10497312" y="4416552"/>
            <a:ext cx="868680" cy="219456"/>
          </a:xfrm>
          <a:prstGeom prst="rect">
            <a:avLst/>
          </a:prstGeom>
          <a:noFill/>
          <a:ln/>
        </p:spPr>
        <p:txBody>
          <a:bodyPr wrap="square" lIns="0" tIns="0" rIns="0" bIns="0" rtlCol="0" anchor="ctr"/>
          <a:lstStyle/>
          <a:p>
            <a:pPr indent="0" marL="0">
              <a:buNone/>
            </a:pPr>
            <a:r>
              <a:rPr lang="en-US" sz="800" dirty="0">
                <a:solidFill>
                  <a:srgbClr val="818181"/>
                </a:solidFill>
                <a:latin typeface="Verdana" pitchFamily="34" charset="0"/>
                <a:ea typeface="Verdana" pitchFamily="34" charset="-122"/>
                <a:cs typeface="Verdana" pitchFamily="34" charset="-120"/>
              </a:rPr>
              <a:t>70,0 %</a:t>
            </a:r>
            <a:endParaRPr lang="en-US" sz="800" dirty="0"/>
          </a:p>
        </p:txBody>
      </p:sp>
      <p:sp>
        <p:nvSpPr>
          <p:cNvPr id="81" name="Shape 79"/>
          <p:cNvSpPr/>
          <p:nvPr/>
        </p:nvSpPr>
        <p:spPr>
          <a:xfrm>
            <a:off x="3977640" y="4520794"/>
            <a:ext cx="6400800" cy="10973"/>
          </a:xfrm>
          <a:prstGeom prst="rect">
            <a:avLst/>
          </a:prstGeom>
          <a:solidFill>
            <a:srgbClr val="CACACA"/>
          </a:solidFill>
          <a:ln w="12700">
            <a:solidFill>
              <a:srgbClr val="CACACA"/>
            </a:solidFill>
            <a:prstDash val="solid"/>
          </a:ln>
        </p:spPr>
      </p:sp>
      <p:sp>
        <p:nvSpPr>
          <p:cNvPr id="82" name="Shape 80"/>
          <p:cNvSpPr/>
          <p:nvPr/>
        </p:nvSpPr>
        <p:spPr>
          <a:xfrm>
            <a:off x="3913632" y="4462272"/>
            <a:ext cx="128016" cy="128016"/>
          </a:xfrm>
          <a:prstGeom prst="ellipse">
            <a:avLst/>
          </a:prstGeom>
          <a:solidFill>
            <a:srgbClr val="B9B9B9"/>
          </a:solidFill>
          <a:ln w="9525">
            <a:solidFill>
              <a:srgbClr val="FFFFFF"/>
            </a:solidFill>
            <a:prstDash val="solid"/>
          </a:ln>
        </p:spPr>
      </p:sp>
      <p:sp>
        <p:nvSpPr>
          <p:cNvPr id="83" name="Shape 81"/>
          <p:cNvSpPr/>
          <p:nvPr/>
        </p:nvSpPr>
        <p:spPr>
          <a:xfrm>
            <a:off x="5333982" y="4462272"/>
            <a:ext cx="128016" cy="128016"/>
          </a:xfrm>
          <a:prstGeom prst="ellipse">
            <a:avLst/>
          </a:prstGeom>
          <a:solidFill>
            <a:srgbClr val="B9B9B9"/>
          </a:solidFill>
          <a:ln w="9525">
            <a:solidFill>
              <a:srgbClr val="FFFFFF"/>
            </a:solidFill>
            <a:prstDash val="solid"/>
          </a:ln>
        </p:spPr>
      </p:sp>
      <p:sp>
        <p:nvSpPr>
          <p:cNvPr id="84" name="Shape 82"/>
          <p:cNvSpPr/>
          <p:nvPr/>
        </p:nvSpPr>
        <p:spPr>
          <a:xfrm>
            <a:off x="5942704" y="4462272"/>
            <a:ext cx="128016" cy="128016"/>
          </a:xfrm>
          <a:prstGeom prst="ellipse">
            <a:avLst/>
          </a:prstGeom>
          <a:solidFill>
            <a:srgbClr val="B9B9B9"/>
          </a:solidFill>
          <a:ln w="9525">
            <a:solidFill>
              <a:srgbClr val="FFFFFF"/>
            </a:solidFill>
            <a:prstDash val="solid"/>
          </a:ln>
        </p:spPr>
      </p:sp>
      <p:sp>
        <p:nvSpPr>
          <p:cNvPr id="85" name="Shape 83"/>
          <p:cNvSpPr/>
          <p:nvPr/>
        </p:nvSpPr>
        <p:spPr>
          <a:xfrm>
            <a:off x="8709620" y="4462272"/>
            <a:ext cx="128016" cy="128016"/>
          </a:xfrm>
          <a:prstGeom prst="ellipse">
            <a:avLst/>
          </a:prstGeom>
          <a:solidFill>
            <a:srgbClr val="B9B9B9"/>
          </a:solidFill>
          <a:ln w="9525">
            <a:solidFill>
              <a:srgbClr val="FFFFFF"/>
            </a:solidFill>
            <a:prstDash val="solid"/>
          </a:ln>
        </p:spPr>
      </p:sp>
      <p:sp>
        <p:nvSpPr>
          <p:cNvPr id="86" name="Shape 84"/>
          <p:cNvSpPr/>
          <p:nvPr/>
        </p:nvSpPr>
        <p:spPr>
          <a:xfrm>
            <a:off x="4264108" y="4462272"/>
            <a:ext cx="128016" cy="128016"/>
          </a:xfrm>
          <a:prstGeom prst="ellipse">
            <a:avLst/>
          </a:prstGeom>
          <a:solidFill>
            <a:srgbClr val="B9B9B9"/>
          </a:solidFill>
          <a:ln w="9525">
            <a:solidFill>
              <a:srgbClr val="FFFFFF"/>
            </a:solidFill>
            <a:prstDash val="solid"/>
          </a:ln>
        </p:spPr>
      </p:sp>
      <p:sp>
        <p:nvSpPr>
          <p:cNvPr id="87" name="Shape 85"/>
          <p:cNvSpPr/>
          <p:nvPr/>
        </p:nvSpPr>
        <p:spPr>
          <a:xfrm>
            <a:off x="10314432" y="4462272"/>
            <a:ext cx="128016" cy="128016"/>
          </a:xfrm>
          <a:prstGeom prst="ellipse">
            <a:avLst/>
          </a:prstGeom>
          <a:solidFill>
            <a:srgbClr val="B9B9B9"/>
          </a:solidFill>
          <a:ln w="9525">
            <a:solidFill>
              <a:srgbClr val="FFFFFF"/>
            </a:solidFill>
            <a:prstDash val="solid"/>
          </a:ln>
        </p:spPr>
      </p:sp>
      <p:sp>
        <p:nvSpPr>
          <p:cNvPr id="88" name="Shape 86"/>
          <p:cNvSpPr/>
          <p:nvPr/>
        </p:nvSpPr>
        <p:spPr>
          <a:xfrm>
            <a:off x="8341015" y="4425696"/>
            <a:ext cx="201168" cy="201168"/>
          </a:xfrm>
          <a:prstGeom prst="ellipse">
            <a:avLst/>
          </a:prstGeom>
          <a:solidFill>
            <a:srgbClr val="F56600"/>
          </a:solidFill>
          <a:ln w="12700">
            <a:solidFill>
              <a:srgbClr val="FFFFFF"/>
            </a:solidFill>
            <a:prstDash val="solid"/>
          </a:ln>
        </p:spPr>
      </p:sp>
      <p:sp>
        <p:nvSpPr>
          <p:cNvPr id="89" name="Text 87"/>
          <p:cNvSpPr txBox="1"/>
          <p:nvPr/>
        </p:nvSpPr>
        <p:spPr>
          <a:xfrm>
            <a:off x="7892959" y="4197096"/>
            <a:ext cx="1097280" cy="182880"/>
          </a:xfrm>
          <a:prstGeom prst="rect">
            <a:avLst/>
          </a:prstGeom>
          <a:noFill/>
          <a:ln/>
        </p:spPr>
        <p:txBody>
          <a:bodyPr wrap="square" lIns="0" tIns="0" rIns="0" bIns="0" rtlCol="0" anchor="ctr"/>
          <a:lstStyle/>
          <a:p>
            <a:pPr algn="ctr" indent="0" marL="0">
              <a:buNone/>
            </a:pPr>
            <a:r>
              <a:rPr lang="en-US" sz="800" b="1" dirty="0">
                <a:solidFill>
                  <a:srgbClr val="F56600"/>
                </a:solidFill>
                <a:latin typeface="Verdana" pitchFamily="34" charset="0"/>
                <a:ea typeface="Verdana" pitchFamily="34" charset="-122"/>
                <a:cs typeface="Verdana" pitchFamily="34" charset="-120"/>
              </a:rPr>
              <a:t>59,5 %</a:t>
            </a:r>
            <a:endParaRPr lang="en-US" sz="800" dirty="0"/>
          </a:p>
        </p:txBody>
      </p:sp>
      <p:sp>
        <p:nvSpPr>
          <p:cNvPr id="90" name="Text 88"/>
          <p:cNvSpPr txBox="1"/>
          <p:nvPr/>
        </p:nvSpPr>
        <p:spPr>
          <a:xfrm>
            <a:off x="621792" y="4864608"/>
            <a:ext cx="2331720" cy="237744"/>
          </a:xfrm>
          <a:prstGeom prst="rect">
            <a:avLst/>
          </a:prstGeom>
          <a:noFill/>
          <a:ln/>
        </p:spPr>
        <p:txBody>
          <a:bodyPr wrap="square" lIns="0" tIns="0" rIns="0" bIns="0" rtlCol="0" anchor="ctr"/>
          <a:lstStyle/>
          <a:p>
            <a:pPr indent="0" marL="0">
              <a:buNone/>
            </a:pPr>
            <a:r>
              <a:rPr lang="en-US" sz="950" b="1" dirty="0">
                <a:solidFill>
                  <a:srgbClr val="2B2B2B"/>
                </a:solidFill>
                <a:latin typeface="Verdana" pitchFamily="34" charset="0"/>
                <a:ea typeface="Verdana" pitchFamily="34" charset="-122"/>
                <a:cs typeface="Verdana" pitchFamily="34" charset="-120"/>
              </a:rPr>
              <a:t>Factoring sobre PIB</a:t>
            </a:r>
            <a:endParaRPr lang="en-US" sz="950" dirty="0"/>
          </a:p>
        </p:txBody>
      </p:sp>
      <p:sp>
        <p:nvSpPr>
          <p:cNvPr id="91" name="Text 89"/>
          <p:cNvSpPr txBox="1"/>
          <p:nvPr/>
        </p:nvSpPr>
        <p:spPr>
          <a:xfrm>
            <a:off x="3017520" y="4873752"/>
            <a:ext cx="841248" cy="219456"/>
          </a:xfrm>
          <a:prstGeom prst="rect">
            <a:avLst/>
          </a:prstGeom>
          <a:noFill/>
          <a:ln/>
        </p:spPr>
        <p:txBody>
          <a:bodyPr wrap="square" lIns="0" tIns="0" rIns="0" bIns="0" rtlCol="0" anchor="ctr"/>
          <a:lstStyle/>
          <a:p>
            <a:pPr algn="r" indent="0" marL="0">
              <a:buNone/>
            </a:pPr>
            <a:r>
              <a:rPr lang="en-US" sz="800" dirty="0">
                <a:solidFill>
                  <a:srgbClr val="818181"/>
                </a:solidFill>
                <a:latin typeface="Verdana" pitchFamily="34" charset="0"/>
                <a:ea typeface="Verdana" pitchFamily="34" charset="-122"/>
                <a:cs typeface="Verdana" pitchFamily="34" charset="-120"/>
              </a:rPr>
              <a:t>4,5 %</a:t>
            </a:r>
            <a:endParaRPr lang="en-US" sz="800" dirty="0"/>
          </a:p>
        </p:txBody>
      </p:sp>
      <p:sp>
        <p:nvSpPr>
          <p:cNvPr id="92" name="Text 90"/>
          <p:cNvSpPr txBox="1"/>
          <p:nvPr/>
        </p:nvSpPr>
        <p:spPr>
          <a:xfrm>
            <a:off x="10497312" y="4873752"/>
            <a:ext cx="868680" cy="219456"/>
          </a:xfrm>
          <a:prstGeom prst="rect">
            <a:avLst/>
          </a:prstGeom>
          <a:noFill/>
          <a:ln/>
        </p:spPr>
        <p:txBody>
          <a:bodyPr wrap="square" lIns="0" tIns="0" rIns="0" bIns="0" rtlCol="0" anchor="ctr"/>
          <a:lstStyle/>
          <a:p>
            <a:pPr indent="0" marL="0">
              <a:buNone/>
            </a:pPr>
            <a:r>
              <a:rPr lang="en-US" sz="800" dirty="0">
                <a:solidFill>
                  <a:srgbClr val="818181"/>
                </a:solidFill>
                <a:latin typeface="Verdana" pitchFamily="34" charset="0"/>
                <a:ea typeface="Verdana" pitchFamily="34" charset="-122"/>
                <a:cs typeface="Verdana" pitchFamily="34" charset="-120"/>
              </a:rPr>
              <a:t>20,7 %</a:t>
            </a:r>
            <a:endParaRPr lang="en-US" sz="800" dirty="0"/>
          </a:p>
        </p:txBody>
      </p:sp>
      <p:sp>
        <p:nvSpPr>
          <p:cNvPr id="93" name="Shape 91"/>
          <p:cNvSpPr/>
          <p:nvPr/>
        </p:nvSpPr>
        <p:spPr>
          <a:xfrm>
            <a:off x="3977640" y="4977994"/>
            <a:ext cx="6400800" cy="10973"/>
          </a:xfrm>
          <a:prstGeom prst="rect">
            <a:avLst/>
          </a:prstGeom>
          <a:solidFill>
            <a:srgbClr val="CACACA"/>
          </a:solidFill>
          <a:ln w="12700">
            <a:solidFill>
              <a:srgbClr val="CACACA"/>
            </a:solidFill>
            <a:prstDash val="solid"/>
          </a:ln>
        </p:spPr>
      </p:sp>
      <p:sp>
        <p:nvSpPr>
          <p:cNvPr id="94" name="Shape 92"/>
          <p:cNvSpPr/>
          <p:nvPr/>
        </p:nvSpPr>
        <p:spPr>
          <a:xfrm>
            <a:off x="5889188" y="4919472"/>
            <a:ext cx="128016" cy="128016"/>
          </a:xfrm>
          <a:prstGeom prst="ellipse">
            <a:avLst/>
          </a:prstGeom>
          <a:solidFill>
            <a:srgbClr val="B9B9B9"/>
          </a:solidFill>
          <a:ln w="9525">
            <a:solidFill>
              <a:srgbClr val="FFFFFF"/>
            </a:solidFill>
            <a:prstDash val="solid"/>
          </a:ln>
        </p:spPr>
      </p:sp>
      <p:sp>
        <p:nvSpPr>
          <p:cNvPr id="95" name="Shape 93"/>
          <p:cNvSpPr/>
          <p:nvPr/>
        </p:nvSpPr>
        <p:spPr>
          <a:xfrm>
            <a:off x="7983276" y="4919472"/>
            <a:ext cx="128016" cy="128016"/>
          </a:xfrm>
          <a:prstGeom prst="ellipse">
            <a:avLst/>
          </a:prstGeom>
          <a:solidFill>
            <a:srgbClr val="B9B9B9"/>
          </a:solidFill>
          <a:ln w="9525">
            <a:solidFill>
              <a:srgbClr val="FFFFFF"/>
            </a:solidFill>
            <a:prstDash val="solid"/>
          </a:ln>
        </p:spPr>
      </p:sp>
      <p:sp>
        <p:nvSpPr>
          <p:cNvPr id="96" name="Shape 94"/>
          <p:cNvSpPr/>
          <p:nvPr/>
        </p:nvSpPr>
        <p:spPr>
          <a:xfrm>
            <a:off x="7351099" y="4919472"/>
            <a:ext cx="128016" cy="128016"/>
          </a:xfrm>
          <a:prstGeom prst="ellipse">
            <a:avLst/>
          </a:prstGeom>
          <a:solidFill>
            <a:srgbClr val="B9B9B9"/>
          </a:solidFill>
          <a:ln w="9525">
            <a:solidFill>
              <a:srgbClr val="FFFFFF"/>
            </a:solidFill>
            <a:prstDash val="solid"/>
          </a:ln>
        </p:spPr>
      </p:sp>
      <p:sp>
        <p:nvSpPr>
          <p:cNvPr id="97" name="Shape 95"/>
          <p:cNvSpPr/>
          <p:nvPr/>
        </p:nvSpPr>
        <p:spPr>
          <a:xfrm>
            <a:off x="10314432" y="4919472"/>
            <a:ext cx="128016" cy="128016"/>
          </a:xfrm>
          <a:prstGeom prst="ellipse">
            <a:avLst/>
          </a:prstGeom>
          <a:solidFill>
            <a:srgbClr val="B9B9B9"/>
          </a:solidFill>
          <a:ln w="9525">
            <a:solidFill>
              <a:srgbClr val="FFFFFF"/>
            </a:solidFill>
            <a:prstDash val="solid"/>
          </a:ln>
        </p:spPr>
      </p:sp>
      <p:sp>
        <p:nvSpPr>
          <p:cNvPr id="98" name="Shape 96"/>
          <p:cNvSpPr/>
          <p:nvPr/>
        </p:nvSpPr>
        <p:spPr>
          <a:xfrm>
            <a:off x="7667188" y="4919472"/>
            <a:ext cx="128016" cy="128016"/>
          </a:xfrm>
          <a:prstGeom prst="ellipse">
            <a:avLst/>
          </a:prstGeom>
          <a:solidFill>
            <a:srgbClr val="B9B9B9"/>
          </a:solidFill>
          <a:ln w="9525">
            <a:solidFill>
              <a:srgbClr val="FFFFFF"/>
            </a:solidFill>
            <a:prstDash val="solid"/>
          </a:ln>
        </p:spPr>
      </p:sp>
      <p:sp>
        <p:nvSpPr>
          <p:cNvPr id="99" name="Shape 97"/>
          <p:cNvSpPr/>
          <p:nvPr/>
        </p:nvSpPr>
        <p:spPr>
          <a:xfrm>
            <a:off x="3913632" y="4919472"/>
            <a:ext cx="128016" cy="128016"/>
          </a:xfrm>
          <a:prstGeom prst="ellipse">
            <a:avLst/>
          </a:prstGeom>
          <a:solidFill>
            <a:srgbClr val="B9B9B9"/>
          </a:solidFill>
          <a:ln w="9525">
            <a:solidFill>
              <a:srgbClr val="FFFFFF"/>
            </a:solidFill>
            <a:prstDash val="solid"/>
          </a:ln>
        </p:spPr>
      </p:sp>
      <p:sp>
        <p:nvSpPr>
          <p:cNvPr id="100" name="Shape 98"/>
          <p:cNvSpPr/>
          <p:nvPr/>
        </p:nvSpPr>
        <p:spPr>
          <a:xfrm>
            <a:off x="8618389" y="4882896"/>
            <a:ext cx="201168" cy="201168"/>
          </a:xfrm>
          <a:prstGeom prst="ellipse">
            <a:avLst/>
          </a:prstGeom>
          <a:solidFill>
            <a:srgbClr val="F56600"/>
          </a:solidFill>
          <a:ln w="12700">
            <a:solidFill>
              <a:srgbClr val="FFFFFF"/>
            </a:solidFill>
            <a:prstDash val="solid"/>
          </a:ln>
        </p:spPr>
      </p:sp>
      <p:sp>
        <p:nvSpPr>
          <p:cNvPr id="101" name="Text 99"/>
          <p:cNvSpPr txBox="1"/>
          <p:nvPr/>
        </p:nvSpPr>
        <p:spPr>
          <a:xfrm>
            <a:off x="8170333" y="4654296"/>
            <a:ext cx="1097280" cy="182880"/>
          </a:xfrm>
          <a:prstGeom prst="rect">
            <a:avLst/>
          </a:prstGeom>
          <a:noFill/>
          <a:ln/>
        </p:spPr>
        <p:txBody>
          <a:bodyPr wrap="square" lIns="0" tIns="0" rIns="0" bIns="0" rtlCol="0" anchor="ctr"/>
          <a:lstStyle/>
          <a:p>
            <a:pPr algn="ctr" indent="0" marL="0">
              <a:buNone/>
            </a:pPr>
            <a:r>
              <a:rPr lang="en-US" sz="800" b="1" dirty="0">
                <a:solidFill>
                  <a:srgbClr val="F56600"/>
                </a:solidFill>
                <a:latin typeface="Verdana" pitchFamily="34" charset="0"/>
                <a:ea typeface="Verdana" pitchFamily="34" charset="-122"/>
                <a:cs typeface="Verdana" pitchFamily="34" charset="-120"/>
              </a:rPr>
              <a:t>16,5 %</a:t>
            </a:r>
            <a:endParaRPr lang="en-US" sz="800" dirty="0"/>
          </a:p>
        </p:txBody>
      </p:sp>
      <p:sp>
        <p:nvSpPr>
          <p:cNvPr id="102" name="Text 100"/>
          <p:cNvSpPr txBox="1"/>
          <p:nvPr/>
        </p:nvSpPr>
        <p:spPr>
          <a:xfrm>
            <a:off x="621792" y="5321808"/>
            <a:ext cx="2331720" cy="237744"/>
          </a:xfrm>
          <a:prstGeom prst="rect">
            <a:avLst/>
          </a:prstGeom>
          <a:noFill/>
          <a:ln/>
        </p:spPr>
        <p:txBody>
          <a:bodyPr wrap="square" lIns="0" tIns="0" rIns="0" bIns="0" rtlCol="0" anchor="ctr"/>
          <a:lstStyle/>
          <a:p>
            <a:pPr indent="0" marL="0">
              <a:buNone/>
            </a:pPr>
            <a:r>
              <a:rPr lang="en-US" sz="950" b="1" dirty="0">
                <a:solidFill>
                  <a:srgbClr val="2B2B2B"/>
                </a:solidFill>
                <a:latin typeface="Verdana" pitchFamily="34" charset="0"/>
                <a:ea typeface="Verdana" pitchFamily="34" charset="-122"/>
                <a:cs typeface="Verdana" pitchFamily="34" charset="-120"/>
              </a:rPr>
              <a:t>Recuperación en concurso</a:t>
            </a:r>
            <a:endParaRPr lang="en-US" sz="950" dirty="0"/>
          </a:p>
        </p:txBody>
      </p:sp>
      <p:sp>
        <p:nvSpPr>
          <p:cNvPr id="103" name="Text 101"/>
          <p:cNvSpPr txBox="1"/>
          <p:nvPr/>
        </p:nvSpPr>
        <p:spPr>
          <a:xfrm>
            <a:off x="3017520" y="5330952"/>
            <a:ext cx="841248" cy="219456"/>
          </a:xfrm>
          <a:prstGeom prst="rect">
            <a:avLst/>
          </a:prstGeom>
          <a:noFill/>
          <a:ln/>
        </p:spPr>
        <p:txBody>
          <a:bodyPr wrap="square" lIns="0" tIns="0" rIns="0" bIns="0" rtlCol="0" anchor="ctr"/>
          <a:lstStyle/>
          <a:p>
            <a:pPr algn="r" indent="0" marL="0">
              <a:buNone/>
            </a:pPr>
            <a:r>
              <a:rPr lang="en-US" sz="800" dirty="0">
                <a:solidFill>
                  <a:srgbClr val="818181"/>
                </a:solidFill>
                <a:latin typeface="Verdana" pitchFamily="34" charset="0"/>
                <a:ea typeface="Verdana" pitchFamily="34" charset="-122"/>
                <a:cs typeface="Verdana" pitchFamily="34" charset="-120"/>
              </a:rPr>
              <a:t>64,8</a:t>
            </a:r>
            <a:endParaRPr lang="en-US" sz="800" dirty="0"/>
          </a:p>
        </p:txBody>
      </p:sp>
      <p:sp>
        <p:nvSpPr>
          <p:cNvPr id="104" name="Text 102"/>
          <p:cNvSpPr txBox="1"/>
          <p:nvPr/>
        </p:nvSpPr>
        <p:spPr>
          <a:xfrm>
            <a:off x="10497312" y="5330952"/>
            <a:ext cx="868680" cy="219456"/>
          </a:xfrm>
          <a:prstGeom prst="rect">
            <a:avLst/>
          </a:prstGeom>
          <a:noFill/>
          <a:ln/>
        </p:spPr>
        <p:txBody>
          <a:bodyPr wrap="square" lIns="0" tIns="0" rIns="0" bIns="0" rtlCol="0" anchor="ctr"/>
          <a:lstStyle/>
          <a:p>
            <a:pPr indent="0" marL="0">
              <a:buNone/>
            </a:pPr>
            <a:r>
              <a:rPr lang="en-US" sz="800" dirty="0">
                <a:solidFill>
                  <a:srgbClr val="818181"/>
                </a:solidFill>
                <a:latin typeface="Verdana" pitchFamily="34" charset="0"/>
                <a:ea typeface="Verdana" pitchFamily="34" charset="-122"/>
                <a:cs typeface="Verdana" pitchFamily="34" charset="-120"/>
              </a:rPr>
              <a:t>90,1</a:t>
            </a:r>
            <a:endParaRPr lang="en-US" sz="800" dirty="0"/>
          </a:p>
        </p:txBody>
      </p:sp>
      <p:sp>
        <p:nvSpPr>
          <p:cNvPr id="105" name="Shape 103"/>
          <p:cNvSpPr/>
          <p:nvPr/>
        </p:nvSpPr>
        <p:spPr>
          <a:xfrm>
            <a:off x="3977640" y="5435194"/>
            <a:ext cx="6400800" cy="10973"/>
          </a:xfrm>
          <a:prstGeom prst="rect">
            <a:avLst/>
          </a:prstGeom>
          <a:solidFill>
            <a:srgbClr val="CACACA"/>
          </a:solidFill>
          <a:ln w="12700">
            <a:solidFill>
              <a:srgbClr val="CACACA"/>
            </a:solidFill>
            <a:prstDash val="solid"/>
          </a:ln>
        </p:spPr>
      </p:sp>
      <p:sp>
        <p:nvSpPr>
          <p:cNvPr id="106" name="Shape 104"/>
          <p:cNvSpPr/>
          <p:nvPr/>
        </p:nvSpPr>
        <p:spPr>
          <a:xfrm>
            <a:off x="7708573" y="5376672"/>
            <a:ext cx="128016" cy="128016"/>
          </a:xfrm>
          <a:prstGeom prst="ellipse">
            <a:avLst/>
          </a:prstGeom>
          <a:solidFill>
            <a:srgbClr val="B9B9B9"/>
          </a:solidFill>
          <a:ln w="9525">
            <a:solidFill>
              <a:srgbClr val="FFFFFF"/>
            </a:solidFill>
            <a:prstDash val="solid"/>
          </a:ln>
        </p:spPr>
      </p:sp>
      <p:sp>
        <p:nvSpPr>
          <p:cNvPr id="107" name="Shape 105"/>
          <p:cNvSpPr/>
          <p:nvPr/>
        </p:nvSpPr>
        <p:spPr>
          <a:xfrm>
            <a:off x="6443592" y="5376672"/>
            <a:ext cx="128016" cy="128016"/>
          </a:xfrm>
          <a:prstGeom prst="ellipse">
            <a:avLst/>
          </a:prstGeom>
          <a:solidFill>
            <a:srgbClr val="B9B9B9"/>
          </a:solidFill>
          <a:ln w="9525">
            <a:solidFill>
              <a:srgbClr val="FFFFFF"/>
            </a:solidFill>
            <a:prstDash val="solid"/>
          </a:ln>
        </p:spPr>
      </p:sp>
      <p:sp>
        <p:nvSpPr>
          <p:cNvPr id="108" name="Shape 106"/>
          <p:cNvSpPr/>
          <p:nvPr/>
        </p:nvSpPr>
        <p:spPr>
          <a:xfrm>
            <a:off x="4116029" y="5376672"/>
            <a:ext cx="128016" cy="128016"/>
          </a:xfrm>
          <a:prstGeom prst="ellipse">
            <a:avLst/>
          </a:prstGeom>
          <a:solidFill>
            <a:srgbClr val="B9B9B9"/>
          </a:solidFill>
          <a:ln w="9525">
            <a:solidFill>
              <a:srgbClr val="FFFFFF"/>
            </a:solidFill>
            <a:prstDash val="solid"/>
          </a:ln>
        </p:spPr>
      </p:sp>
      <p:sp>
        <p:nvSpPr>
          <p:cNvPr id="109" name="Shape 107"/>
          <p:cNvSpPr/>
          <p:nvPr/>
        </p:nvSpPr>
        <p:spPr>
          <a:xfrm>
            <a:off x="3913632" y="5376672"/>
            <a:ext cx="128016" cy="128016"/>
          </a:xfrm>
          <a:prstGeom prst="ellipse">
            <a:avLst/>
          </a:prstGeom>
          <a:solidFill>
            <a:srgbClr val="B9B9B9"/>
          </a:solidFill>
          <a:ln w="9525">
            <a:solidFill>
              <a:srgbClr val="FFFFFF"/>
            </a:solidFill>
            <a:prstDash val="solid"/>
          </a:ln>
        </p:spPr>
      </p:sp>
      <p:sp>
        <p:nvSpPr>
          <p:cNvPr id="110" name="Shape 108"/>
          <p:cNvSpPr/>
          <p:nvPr/>
        </p:nvSpPr>
        <p:spPr>
          <a:xfrm>
            <a:off x="10314432" y="5376672"/>
            <a:ext cx="128016" cy="128016"/>
          </a:xfrm>
          <a:prstGeom prst="ellipse">
            <a:avLst/>
          </a:prstGeom>
          <a:solidFill>
            <a:srgbClr val="B9B9B9"/>
          </a:solidFill>
          <a:ln w="9525">
            <a:solidFill>
              <a:srgbClr val="FFFFFF"/>
            </a:solidFill>
            <a:prstDash val="solid"/>
          </a:ln>
        </p:spPr>
      </p:sp>
      <p:sp>
        <p:nvSpPr>
          <p:cNvPr id="111" name="Shape 109"/>
          <p:cNvSpPr/>
          <p:nvPr/>
        </p:nvSpPr>
        <p:spPr>
          <a:xfrm>
            <a:off x="9302448" y="5376672"/>
            <a:ext cx="128016" cy="128016"/>
          </a:xfrm>
          <a:prstGeom prst="ellipse">
            <a:avLst/>
          </a:prstGeom>
          <a:solidFill>
            <a:srgbClr val="B9B9B9"/>
          </a:solidFill>
          <a:ln w="9525">
            <a:solidFill>
              <a:srgbClr val="FFFFFF"/>
            </a:solidFill>
            <a:prstDash val="solid"/>
          </a:ln>
        </p:spPr>
      </p:sp>
      <p:sp>
        <p:nvSpPr>
          <p:cNvPr id="112" name="Shape 110"/>
          <p:cNvSpPr/>
          <p:nvPr/>
        </p:nvSpPr>
        <p:spPr>
          <a:xfrm>
            <a:off x="7090106" y="5340096"/>
            <a:ext cx="201168" cy="201168"/>
          </a:xfrm>
          <a:prstGeom prst="ellipse">
            <a:avLst/>
          </a:prstGeom>
          <a:solidFill>
            <a:srgbClr val="F56600"/>
          </a:solidFill>
          <a:ln w="12700">
            <a:solidFill>
              <a:srgbClr val="FFFFFF"/>
            </a:solidFill>
            <a:prstDash val="solid"/>
          </a:ln>
        </p:spPr>
      </p:sp>
      <p:sp>
        <p:nvSpPr>
          <p:cNvPr id="113" name="Text 111"/>
          <p:cNvSpPr txBox="1"/>
          <p:nvPr/>
        </p:nvSpPr>
        <p:spPr>
          <a:xfrm>
            <a:off x="6642050" y="5111496"/>
            <a:ext cx="1097280" cy="182880"/>
          </a:xfrm>
          <a:prstGeom prst="rect">
            <a:avLst/>
          </a:prstGeom>
          <a:noFill/>
          <a:ln/>
        </p:spPr>
        <p:txBody>
          <a:bodyPr wrap="square" lIns="0" tIns="0" rIns="0" bIns="0" rtlCol="0" anchor="ctr"/>
          <a:lstStyle/>
          <a:p>
            <a:pPr algn="ctr" indent="0" marL="0">
              <a:buNone/>
            </a:pPr>
            <a:r>
              <a:rPr lang="en-US" sz="800" b="1" dirty="0">
                <a:solidFill>
                  <a:srgbClr val="F56600"/>
                </a:solidFill>
                <a:latin typeface="Verdana" pitchFamily="34" charset="0"/>
                <a:ea typeface="Verdana" pitchFamily="34" charset="-122"/>
                <a:cs typeface="Verdana" pitchFamily="34" charset="-120"/>
              </a:rPr>
              <a:t>77,5</a:t>
            </a:r>
            <a:endParaRPr lang="en-US" sz="800" dirty="0"/>
          </a:p>
        </p:txBody>
      </p:sp>
      <p:sp>
        <p:nvSpPr>
          <p:cNvPr id="114" name="Text 112"/>
          <p:cNvSpPr txBox="1"/>
          <p:nvPr/>
        </p:nvSpPr>
        <p:spPr>
          <a:xfrm>
            <a:off x="621792" y="5669280"/>
            <a:ext cx="10945368" cy="365760"/>
          </a:xfrm>
          <a:prstGeom prst="rect">
            <a:avLst/>
          </a:prstGeom>
          <a:noFill/>
          <a:ln/>
        </p:spPr>
        <p:txBody>
          <a:bodyPr wrap="square" lIns="0" tIns="0" rIns="0" bIns="0" rtlCol="0" anchor="ctr"/>
          <a:lstStyle/>
          <a:p>
            <a:pPr indent="0" marL="0">
              <a:buNone/>
            </a:pPr>
            <a:r>
              <a:rPr lang="en-US" sz="900" b="1" dirty="0">
                <a:solidFill>
                  <a:srgbClr val="2B2B2B"/>
                </a:solidFill>
                <a:latin typeface="Verdana" pitchFamily="34" charset="0"/>
                <a:ea typeface="Verdana" pitchFamily="34" charset="-122"/>
                <a:cs typeface="Verdana" pitchFamily="34" charset="-120"/>
              </a:rPr>
              <a:t>España está entre los dos valores más altos en: mora de la PYME; factoring sobre PIB. Tiene el más bajo de los siete en: precio del préstamo ≤1 M€; prima PYME, últimos 12 meses.</a:t>
            </a:r>
            <a:endParaRPr lang="en-US" sz="900" dirty="0"/>
          </a:p>
        </p:txBody>
      </p:sp>
      <p:sp>
        <p:nvSpPr>
          <p:cNvPr id="115" name="Text 113"/>
          <p:cNvSpPr txBox="1"/>
          <p:nvPr/>
        </p:nvSpPr>
        <p:spPr>
          <a:xfrm>
            <a:off x="621792" y="6053328"/>
            <a:ext cx="10945368" cy="475488"/>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Mismos nueve indicadores y fuentes que la lámina anterior. La posición es relativa a los siete países: el extremo derecho es el valor más alto, no el mejor.</a:t>
            </a:r>
            <a:endParaRPr lang="en-US" sz="7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3" name="Text 1"/>
          <p:cNvSpPr txBox="1"/>
          <p:nvPr/>
        </p:nvSpPr>
        <p:spPr>
          <a:xfrm>
            <a:off x="621792" y="6583680"/>
            <a:ext cx="548640" cy="182880"/>
          </a:xfrm>
          <a:prstGeom prst="rect">
            <a:avLst/>
          </a:prstGeom>
          <a:noFill/>
          <a:ln/>
        </p:spPr>
        <p:txBody>
          <a:bodyPr wrap="square" lIns="0" tIns="0" rIns="0" bIns="0" rtlCol="0" anchor="ctr"/>
          <a:lstStyle/>
          <a:p>
            <a:pPr indent="0" marL="0">
              <a:buNone/>
            </a:pPr>
            <a:r>
              <a:rPr lang="en-US" sz="800" dirty="0">
                <a:solidFill>
                  <a:srgbClr val="CACACA"/>
                </a:solidFill>
                <a:latin typeface="Verdana" pitchFamily="34" charset="0"/>
                <a:ea typeface="Verdana" pitchFamily="34" charset="-122"/>
                <a:cs typeface="Verdana" pitchFamily="34" charset="-120"/>
              </a:rPr>
              <a:t>38</a:t>
            </a:r>
            <a:endParaRPr lang="en-US" sz="800" dirty="0"/>
          </a:p>
        </p:txBody>
      </p:sp>
      <p:sp>
        <p:nvSpPr>
          <p:cNvPr id="4" name="Text 2"/>
          <p:cNvSpPr txBox="1"/>
          <p:nvPr/>
        </p:nvSpPr>
        <p:spPr>
          <a:xfrm>
            <a:off x="621792" y="420624"/>
            <a:ext cx="9208008" cy="676656"/>
          </a:xfrm>
          <a:prstGeom prst="rect">
            <a:avLst/>
          </a:prstGeom>
          <a:noFill/>
          <a:ln/>
        </p:spPr>
        <p:txBody>
          <a:bodyPr wrap="square" lIns="0" tIns="0" rIns="0" bIns="0" rtlCol="0" anchor="ctr"/>
          <a:lstStyle/>
          <a:p>
            <a:pPr indent="0" marL="0">
              <a:buNone/>
            </a:pPr>
            <a:r>
              <a:rPr lang="en-US" sz="2200" b="1" dirty="0">
                <a:solidFill>
                  <a:srgbClr val="2B2B2B"/>
                </a:solidFill>
                <a:latin typeface="Verdana" pitchFamily="34" charset="0"/>
                <a:ea typeface="Verdana" pitchFamily="34" charset="-122"/>
                <a:cs typeface="Verdana" pitchFamily="34" charset="-120"/>
              </a:rPr>
              <a:t>Precio y acceso: el crédito llega, pero no se paga igual en todas partes</a:t>
            </a:r>
            <a:endParaRPr lang="en-US" sz="2200" dirty="0"/>
          </a:p>
        </p:txBody>
      </p:sp>
      <p:sp>
        <p:nvSpPr>
          <p:cNvPr id="5" name="Text 3"/>
          <p:cNvSpPr txBox="1"/>
          <p:nvPr/>
        </p:nvSpPr>
        <p:spPr>
          <a:xfrm>
            <a:off x="621792" y="1060704"/>
            <a:ext cx="10945368" cy="365760"/>
          </a:xfrm>
          <a:prstGeom prst="rect">
            <a:avLst/>
          </a:prstGeom>
          <a:noFill/>
          <a:ln/>
        </p:spPr>
        <p:txBody>
          <a:bodyPr wrap="square" lIns="0" tIns="0" rIns="0" bIns="0" rtlCol="0" anchor="ctr"/>
          <a:lstStyle/>
          <a:p>
            <a:pPr indent="0" marL="0">
              <a:buNone/>
            </a:pPr>
            <a:r>
              <a:rPr lang="en-US" sz="1050" dirty="0">
                <a:solidFill>
                  <a:srgbClr val="818181"/>
                </a:solidFill>
                <a:latin typeface="Verdana" pitchFamily="34" charset="0"/>
                <a:ea typeface="Verdana" pitchFamily="34" charset="-122"/>
                <a:cs typeface="Verdana" pitchFamily="34" charset="-120"/>
              </a:rPr>
              <a:t>Tres observaciones sobre datos observados · Cada una con su fuente y su definición de PYME</a:t>
            </a:r>
            <a:endParaRPr lang="en-US" sz="1050" dirty="0"/>
          </a:p>
        </p:txBody>
      </p:sp>
      <p:sp>
        <p:nvSpPr>
          <p:cNvPr id="6" name="Shape 4"/>
          <p:cNvSpPr/>
          <p:nvPr/>
        </p:nvSpPr>
        <p:spPr>
          <a:xfrm>
            <a:off x="621792" y="1600200"/>
            <a:ext cx="3520440" cy="4160520"/>
          </a:xfrm>
          <a:prstGeom prst="roundRect">
            <a:avLst>
              <a:gd name="adj" fmla="val 1299"/>
            </a:avLst>
          </a:prstGeom>
          <a:solidFill>
            <a:srgbClr val="F2F4F6"/>
          </a:solidFill>
          <a:ln w="12700">
            <a:solidFill>
              <a:srgbClr val="F2F4F6"/>
            </a:solidFill>
            <a:prstDash val="solid"/>
          </a:ln>
        </p:spPr>
      </p:sp>
      <p:sp>
        <p:nvSpPr>
          <p:cNvPr id="7" name="Text 5"/>
          <p:cNvSpPr txBox="1"/>
          <p:nvPr/>
        </p:nvSpPr>
        <p:spPr>
          <a:xfrm>
            <a:off x="850392" y="1783080"/>
            <a:ext cx="3063240" cy="777240"/>
          </a:xfrm>
          <a:prstGeom prst="rect">
            <a:avLst/>
          </a:prstGeom>
          <a:noFill/>
          <a:ln/>
        </p:spPr>
        <p:txBody>
          <a:bodyPr wrap="square" lIns="0" tIns="0" rIns="0" bIns="0" rtlCol="0" anchor="ctr"/>
          <a:lstStyle/>
          <a:p>
            <a:pPr indent="0" marL="0">
              <a:buNone/>
            </a:pPr>
            <a:r>
              <a:rPr lang="en-US" sz="3400" b="1" dirty="0">
                <a:solidFill>
                  <a:srgbClr val="F56600"/>
                </a:solidFill>
                <a:latin typeface="Verdana" pitchFamily="34" charset="0"/>
                <a:ea typeface="Verdana" pitchFamily="34" charset="-122"/>
                <a:cs typeface="Verdana" pitchFamily="34" charset="-120"/>
              </a:rPr>
              <a:t>−0,03 pp</a:t>
            </a:r>
            <a:endParaRPr lang="en-US" sz="3400" dirty="0"/>
          </a:p>
        </p:txBody>
      </p:sp>
      <p:sp>
        <p:nvSpPr>
          <p:cNvPr id="8" name="Text 6"/>
          <p:cNvSpPr txBox="1"/>
          <p:nvPr/>
        </p:nvSpPr>
        <p:spPr>
          <a:xfrm>
            <a:off x="850392" y="2606040"/>
            <a:ext cx="3063240" cy="64008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Prima del préstamo pequeño en España</a:t>
            </a:r>
            <a:endParaRPr lang="en-US" sz="1150" dirty="0"/>
          </a:p>
        </p:txBody>
      </p:sp>
      <p:sp>
        <p:nvSpPr>
          <p:cNvPr id="9" name="Text 7"/>
          <p:cNvSpPr txBox="1"/>
          <p:nvPr/>
        </p:nvSpPr>
        <p:spPr>
          <a:xfrm>
            <a:off x="850392" y="3310128"/>
            <a:ext cx="3063240" cy="1783080"/>
          </a:xfrm>
          <a:prstGeom prst="rect">
            <a:avLst/>
          </a:prstGeom>
          <a:noFill/>
          <a:ln/>
        </p:spPr>
        <p:txBody>
          <a:bodyPr wrap="square" lIns="0" tIns="0" rIns="0" bIns="0" rtlCol="0" anchor="t"/>
          <a:lstStyle/>
          <a:p>
            <a:pPr indent="0" marL="0">
              <a:buNone/>
            </a:pPr>
            <a:r>
              <a:rPr lang="en-US" sz="1200" dirty="0">
                <a:solidFill>
                  <a:srgbClr val="2B2B2B"/>
                </a:solidFill>
                <a:latin typeface="Verdana" pitchFamily="34" charset="0"/>
                <a:ea typeface="Verdana" pitchFamily="34" charset="-122"/>
                <a:cs typeface="Verdana" pitchFamily="34" charset="-120"/>
              </a:rPr>
              <a:t>En los otros seis, de media, +0,96 pp. Dos fuentes con definiciones distintas —MIR y OCDE— muestran la misma compresión.</a:t>
            </a:r>
            <a:endParaRPr lang="en-US" sz="1200" dirty="0"/>
          </a:p>
        </p:txBody>
      </p:sp>
      <p:sp>
        <p:nvSpPr>
          <p:cNvPr id="10" name="Shape 8"/>
          <p:cNvSpPr/>
          <p:nvPr/>
        </p:nvSpPr>
        <p:spPr>
          <a:xfrm>
            <a:off x="850392" y="5212080"/>
            <a:ext cx="3063240" cy="365760"/>
          </a:xfrm>
          <a:prstGeom prst="roundRect">
            <a:avLst>
              <a:gd name="adj" fmla="val 15000"/>
            </a:avLst>
          </a:prstGeom>
          <a:solidFill>
            <a:srgbClr val="FFCCE8"/>
          </a:solidFill>
          <a:ln w="12700">
            <a:solidFill>
              <a:srgbClr val="FFCCE8"/>
            </a:solidFill>
            <a:prstDash val="solid"/>
          </a:ln>
        </p:spPr>
      </p:sp>
      <p:sp>
        <p:nvSpPr>
          <p:cNvPr id="11" name="Text 9"/>
          <p:cNvSpPr txBox="1"/>
          <p:nvPr/>
        </p:nvSpPr>
        <p:spPr>
          <a:xfrm>
            <a:off x="923544" y="5230368"/>
            <a:ext cx="2916936" cy="329184"/>
          </a:xfrm>
          <a:prstGeom prst="rect">
            <a:avLst/>
          </a:prstGeom>
          <a:noFill/>
          <a:ln/>
        </p:spPr>
        <p:txBody>
          <a:bodyPr wrap="square" lIns="0" tIns="0" rIns="0" bIns="0" rtlCol="0" anchor="ctr"/>
          <a:lstStyle/>
          <a:p>
            <a:pPr indent="0" marL="0">
              <a:buNone/>
            </a:pPr>
            <a:r>
              <a:rPr lang="en-US" sz="750" b="1" dirty="0">
                <a:solidFill>
                  <a:srgbClr val="2B2B2B"/>
                </a:solidFill>
                <a:latin typeface="Verdana" pitchFamily="34" charset="0"/>
                <a:ea typeface="Verdana" pitchFamily="34" charset="-122"/>
                <a:cs typeface="Verdana" pitchFamily="34" charset="-120"/>
              </a:rPr>
              <a:t>PROXY · importe del préstamo, no la empresa</a:t>
            </a:r>
            <a:endParaRPr lang="en-US" sz="750" dirty="0"/>
          </a:p>
        </p:txBody>
      </p:sp>
      <p:sp>
        <p:nvSpPr>
          <p:cNvPr id="12" name="Shape 10"/>
          <p:cNvSpPr/>
          <p:nvPr/>
        </p:nvSpPr>
        <p:spPr>
          <a:xfrm>
            <a:off x="4352544" y="1600200"/>
            <a:ext cx="3520440" cy="4160520"/>
          </a:xfrm>
          <a:prstGeom prst="roundRect">
            <a:avLst>
              <a:gd name="adj" fmla="val 1299"/>
            </a:avLst>
          </a:prstGeom>
          <a:solidFill>
            <a:srgbClr val="F2F4F6"/>
          </a:solidFill>
          <a:ln w="12700">
            <a:solidFill>
              <a:srgbClr val="F2F4F6"/>
            </a:solidFill>
            <a:prstDash val="solid"/>
          </a:ln>
        </p:spPr>
      </p:sp>
      <p:sp>
        <p:nvSpPr>
          <p:cNvPr id="13" name="Text 11"/>
          <p:cNvSpPr txBox="1"/>
          <p:nvPr/>
        </p:nvSpPr>
        <p:spPr>
          <a:xfrm>
            <a:off x="4581144" y="1783080"/>
            <a:ext cx="3063240" cy="777240"/>
          </a:xfrm>
          <a:prstGeom prst="rect">
            <a:avLst/>
          </a:prstGeom>
          <a:noFill/>
          <a:ln/>
        </p:spPr>
        <p:txBody>
          <a:bodyPr wrap="square" lIns="0" tIns="0" rIns="0" bIns="0" rtlCol="0" anchor="ctr"/>
          <a:lstStyle/>
          <a:p>
            <a:pPr indent="0" marL="0">
              <a:buNone/>
            </a:pPr>
            <a:r>
              <a:rPr lang="en-US" sz="3400" b="1" dirty="0">
                <a:solidFill>
                  <a:srgbClr val="F56600"/>
                </a:solidFill>
                <a:latin typeface="Verdana" pitchFamily="34" charset="0"/>
                <a:ea typeface="Verdana" pitchFamily="34" charset="-122"/>
                <a:cs typeface="Verdana" pitchFamily="34" charset="-120"/>
              </a:rPr>
              <a:t>92,8 %</a:t>
            </a:r>
            <a:endParaRPr lang="en-US" sz="3400" dirty="0"/>
          </a:p>
        </p:txBody>
      </p:sp>
      <p:sp>
        <p:nvSpPr>
          <p:cNvPr id="14" name="Text 12"/>
          <p:cNvSpPr txBox="1"/>
          <p:nvPr/>
        </p:nvSpPr>
        <p:spPr>
          <a:xfrm>
            <a:off x="4581144" y="2606040"/>
            <a:ext cx="3063240" cy="64008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de las pymes españolas que pidieron financiación bancaria la obtuvieron</a:t>
            </a:r>
            <a:endParaRPr lang="en-US" sz="1150" dirty="0"/>
          </a:p>
        </p:txBody>
      </p:sp>
      <p:sp>
        <p:nvSpPr>
          <p:cNvPr id="15" name="Text 13"/>
          <p:cNvSpPr txBox="1"/>
          <p:nvPr/>
        </p:nvSpPr>
        <p:spPr>
          <a:xfrm>
            <a:off x="4581144" y="3310128"/>
            <a:ext cx="3063240" cy="1783080"/>
          </a:xfrm>
          <a:prstGeom prst="rect">
            <a:avLst/>
          </a:prstGeom>
          <a:noFill/>
          <a:ln/>
        </p:spPr>
        <p:txBody>
          <a:bodyPr wrap="square" lIns="0" tIns="0" rIns="0" bIns="0" rtlCol="0" anchor="t"/>
          <a:lstStyle/>
          <a:p>
            <a:pPr indent="0" marL="0">
              <a:buNone/>
            </a:pPr>
            <a:r>
              <a:rPr lang="en-US" sz="1200" dirty="0">
                <a:solidFill>
                  <a:srgbClr val="2B2B2B"/>
                </a:solidFill>
                <a:latin typeface="Verdana" pitchFamily="34" charset="0"/>
                <a:ea typeface="Verdana" pitchFamily="34" charset="-122"/>
                <a:cs typeface="Verdana" pitchFamily="34" charset="-120"/>
              </a:rPr>
              <a:t>En la SAFE, el rechazo del segundo semestre de 2025 va del 0,7 % de Italia al 13,6 % de Países Bajos. Alemania raciona por cantidad y precio, no rechazando.</a:t>
            </a:r>
            <a:endParaRPr lang="en-US" sz="1200" dirty="0"/>
          </a:p>
        </p:txBody>
      </p:sp>
      <p:sp>
        <p:nvSpPr>
          <p:cNvPr id="16" name="Shape 14"/>
          <p:cNvSpPr/>
          <p:nvPr/>
        </p:nvSpPr>
        <p:spPr>
          <a:xfrm>
            <a:off x="4581144" y="5212080"/>
            <a:ext cx="3063240" cy="365760"/>
          </a:xfrm>
          <a:prstGeom prst="roundRect">
            <a:avLst>
              <a:gd name="adj" fmla="val 15000"/>
            </a:avLst>
          </a:prstGeom>
          <a:solidFill>
            <a:srgbClr val="FFD6BA"/>
          </a:solidFill>
          <a:ln w="12700">
            <a:solidFill>
              <a:srgbClr val="FFD6BA"/>
            </a:solidFill>
            <a:prstDash val="solid"/>
          </a:ln>
        </p:spPr>
      </p:sp>
      <p:sp>
        <p:nvSpPr>
          <p:cNvPr id="17" name="Text 15"/>
          <p:cNvSpPr txBox="1"/>
          <p:nvPr/>
        </p:nvSpPr>
        <p:spPr>
          <a:xfrm>
            <a:off x="4654296" y="5230368"/>
            <a:ext cx="2916936" cy="329184"/>
          </a:xfrm>
          <a:prstGeom prst="rect">
            <a:avLst/>
          </a:prstGeom>
          <a:noFill/>
          <a:ln/>
        </p:spPr>
        <p:txBody>
          <a:bodyPr wrap="square" lIns="0" tIns="0" rIns="0" bIns="0" rtlCol="0" anchor="ctr"/>
          <a:lstStyle/>
          <a:p>
            <a:pPr indent="0" marL="0">
              <a:buNone/>
            </a:pPr>
            <a:r>
              <a:rPr lang="en-US" sz="750" b="1" dirty="0">
                <a:solidFill>
                  <a:srgbClr val="2B2B2B"/>
                </a:solidFill>
                <a:latin typeface="Verdana" pitchFamily="34" charset="0"/>
                <a:ea typeface="Verdana" pitchFamily="34" charset="-122"/>
                <a:cs typeface="Verdana" pitchFamily="34" charset="-120"/>
              </a:rPr>
              <a:t>PYME · &lt;250 empleados, con autónomos</a:t>
            </a:r>
            <a:endParaRPr lang="en-US" sz="750" dirty="0"/>
          </a:p>
        </p:txBody>
      </p:sp>
      <p:sp>
        <p:nvSpPr>
          <p:cNvPr id="18" name="Shape 16"/>
          <p:cNvSpPr/>
          <p:nvPr/>
        </p:nvSpPr>
        <p:spPr>
          <a:xfrm>
            <a:off x="8083296" y="1600200"/>
            <a:ext cx="3520440" cy="4160520"/>
          </a:xfrm>
          <a:prstGeom prst="roundRect">
            <a:avLst>
              <a:gd name="adj" fmla="val 1299"/>
            </a:avLst>
          </a:prstGeom>
          <a:solidFill>
            <a:srgbClr val="F2F4F6"/>
          </a:solidFill>
          <a:ln w="12700">
            <a:solidFill>
              <a:srgbClr val="F2F4F6"/>
            </a:solidFill>
            <a:prstDash val="solid"/>
          </a:ln>
        </p:spPr>
      </p:sp>
      <p:sp>
        <p:nvSpPr>
          <p:cNvPr id="19" name="Text 17"/>
          <p:cNvSpPr txBox="1"/>
          <p:nvPr/>
        </p:nvSpPr>
        <p:spPr>
          <a:xfrm>
            <a:off x="8311896" y="1783080"/>
            <a:ext cx="3063240" cy="777240"/>
          </a:xfrm>
          <a:prstGeom prst="rect">
            <a:avLst/>
          </a:prstGeom>
          <a:noFill/>
          <a:ln/>
        </p:spPr>
        <p:txBody>
          <a:bodyPr wrap="square" lIns="0" tIns="0" rIns="0" bIns="0" rtlCol="0" anchor="ctr"/>
          <a:lstStyle/>
          <a:p>
            <a:pPr indent="0" marL="0">
              <a:buNone/>
            </a:pPr>
            <a:r>
              <a:rPr lang="en-US" sz="3400" b="1" dirty="0">
                <a:solidFill>
                  <a:srgbClr val="F56600"/>
                </a:solidFill>
                <a:latin typeface="Verdana" pitchFamily="34" charset="0"/>
                <a:ea typeface="Verdana" pitchFamily="34" charset="-122"/>
                <a:cs typeface="Verdana" pitchFamily="34" charset="-120"/>
              </a:rPr>
              <a:t>−0,55</a:t>
            </a:r>
            <a:endParaRPr lang="en-US" sz="3400" dirty="0"/>
          </a:p>
        </p:txBody>
      </p:sp>
      <p:sp>
        <p:nvSpPr>
          <p:cNvPr id="20" name="Text 18"/>
          <p:cNvSpPr txBox="1"/>
          <p:nvPr/>
        </p:nvSpPr>
        <p:spPr>
          <a:xfrm>
            <a:off x="8311896" y="2606040"/>
            <a:ext cx="3063240" cy="64008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correlación entre el precio del préstamo de hasta 1 M€ y la PD de la PYME</a:t>
            </a:r>
            <a:endParaRPr lang="en-US" sz="1150" dirty="0"/>
          </a:p>
        </p:txBody>
      </p:sp>
      <p:sp>
        <p:nvSpPr>
          <p:cNvPr id="21" name="Text 19"/>
          <p:cNvSpPr txBox="1"/>
          <p:nvPr/>
        </p:nvSpPr>
        <p:spPr>
          <a:xfrm>
            <a:off x="8311896" y="3310128"/>
            <a:ext cx="3063240" cy="1783080"/>
          </a:xfrm>
          <a:prstGeom prst="rect">
            <a:avLst/>
          </a:prstGeom>
          <a:noFill/>
          <a:ln/>
        </p:spPr>
        <p:txBody>
          <a:bodyPr wrap="square" lIns="0" tIns="0" rIns="0" bIns="0" rtlCol="0" anchor="t"/>
          <a:lstStyle/>
          <a:p>
            <a:pPr indent="0" marL="0">
              <a:buNone/>
            </a:pPr>
            <a:r>
              <a:rPr lang="en-US" sz="1200" dirty="0">
                <a:solidFill>
                  <a:srgbClr val="2B2B2B"/>
                </a:solidFill>
                <a:latin typeface="Verdana" pitchFamily="34" charset="0"/>
                <a:ea typeface="Verdana" pitchFamily="34" charset="-122"/>
                <a:cs typeface="Verdana" pitchFamily="34" charset="-120"/>
              </a:rPr>
              <a:t>Entre los siete países, el precio no sube con el riesgo: los mercados con PD más alta no cobran más.</a:t>
            </a:r>
            <a:endParaRPr lang="en-US" sz="1200" dirty="0"/>
          </a:p>
        </p:txBody>
      </p:sp>
      <p:sp>
        <p:nvSpPr>
          <p:cNvPr id="22" name="Shape 20"/>
          <p:cNvSpPr/>
          <p:nvPr/>
        </p:nvSpPr>
        <p:spPr>
          <a:xfrm>
            <a:off x="8311896" y="5212080"/>
            <a:ext cx="3063240" cy="365760"/>
          </a:xfrm>
          <a:prstGeom prst="roundRect">
            <a:avLst>
              <a:gd name="adj" fmla="val 15000"/>
            </a:avLst>
          </a:prstGeom>
          <a:solidFill>
            <a:srgbClr val="FFCCE8"/>
          </a:solidFill>
          <a:ln w="12700">
            <a:solidFill>
              <a:srgbClr val="FFCCE8"/>
            </a:solidFill>
            <a:prstDash val="solid"/>
          </a:ln>
        </p:spPr>
      </p:sp>
      <p:sp>
        <p:nvSpPr>
          <p:cNvPr id="23" name="Text 21"/>
          <p:cNvSpPr txBox="1"/>
          <p:nvPr/>
        </p:nvSpPr>
        <p:spPr>
          <a:xfrm>
            <a:off x="8385048" y="5230368"/>
            <a:ext cx="2916936" cy="329184"/>
          </a:xfrm>
          <a:prstGeom prst="rect">
            <a:avLst/>
          </a:prstGeom>
          <a:noFill/>
          <a:ln/>
        </p:spPr>
        <p:txBody>
          <a:bodyPr wrap="square" lIns="0" tIns="0" rIns="0" bIns="0" rtlCol="0" anchor="ctr"/>
          <a:lstStyle/>
          <a:p>
            <a:pPr indent="0" marL="0">
              <a:buNone/>
            </a:pPr>
            <a:r>
              <a:rPr lang="en-US" sz="750" b="1" dirty="0">
                <a:solidFill>
                  <a:srgbClr val="2B2B2B"/>
                </a:solidFill>
                <a:latin typeface="Verdana" pitchFamily="34" charset="0"/>
                <a:ea typeface="Verdana" pitchFamily="34" charset="-122"/>
                <a:cs typeface="Verdana" pitchFamily="34" charset="-120"/>
              </a:rPr>
              <a:t>PYME · definición interna de cada banco</a:t>
            </a:r>
            <a:endParaRPr lang="en-US" sz="750" dirty="0"/>
          </a:p>
        </p:txBody>
      </p:sp>
      <p:sp>
        <p:nvSpPr>
          <p:cNvPr id="24" name="Text 22"/>
          <p:cNvSpPr txBox="1"/>
          <p:nvPr/>
        </p:nvSpPr>
        <p:spPr>
          <a:xfrm>
            <a:off x="621792" y="6053328"/>
            <a:ext cx="10945368" cy="475488"/>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Prima: BCE MIR, ≤0,25 M€ frente a &gt;1 M€. Concesión: CESGAR 2025. Rechazo: BCE SAFE, 2025-S2. Correlación: precio MIR del tramo ≤1 M€ (2026) frente a PD de COREP (2026-Q1), siete países: descriptiva, no causal.</a:t>
            </a:r>
            <a:endParaRPr lang="en-US" sz="7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3" name="Text 1"/>
          <p:cNvSpPr txBox="1"/>
          <p:nvPr/>
        </p:nvSpPr>
        <p:spPr>
          <a:xfrm>
            <a:off x="621792" y="6583680"/>
            <a:ext cx="548640" cy="182880"/>
          </a:xfrm>
          <a:prstGeom prst="rect">
            <a:avLst/>
          </a:prstGeom>
          <a:noFill/>
          <a:ln/>
        </p:spPr>
        <p:txBody>
          <a:bodyPr wrap="square" lIns="0" tIns="0" rIns="0" bIns="0" rtlCol="0" anchor="ctr"/>
          <a:lstStyle/>
          <a:p>
            <a:pPr indent="0" marL="0">
              <a:buNone/>
            </a:pPr>
            <a:r>
              <a:rPr lang="en-US" sz="800" dirty="0">
                <a:solidFill>
                  <a:srgbClr val="CACACA"/>
                </a:solidFill>
                <a:latin typeface="Verdana" pitchFamily="34" charset="0"/>
                <a:ea typeface="Verdana" pitchFamily="34" charset="-122"/>
                <a:cs typeface="Verdana" pitchFamily="34" charset="-120"/>
              </a:rPr>
              <a:t>39</a:t>
            </a:r>
            <a:endParaRPr lang="en-US" sz="800" dirty="0"/>
          </a:p>
        </p:txBody>
      </p:sp>
      <p:sp>
        <p:nvSpPr>
          <p:cNvPr id="4" name="Text 2"/>
          <p:cNvSpPr txBox="1"/>
          <p:nvPr/>
        </p:nvSpPr>
        <p:spPr>
          <a:xfrm>
            <a:off x="621792" y="420624"/>
            <a:ext cx="9208008" cy="676656"/>
          </a:xfrm>
          <a:prstGeom prst="rect">
            <a:avLst/>
          </a:prstGeom>
          <a:noFill/>
          <a:ln/>
        </p:spPr>
        <p:txBody>
          <a:bodyPr wrap="square" lIns="0" tIns="0" rIns="0" bIns="0" rtlCol="0" anchor="ctr"/>
          <a:lstStyle/>
          <a:p>
            <a:pPr indent="0" marL="0">
              <a:buNone/>
            </a:pPr>
            <a:r>
              <a:rPr lang="en-US" sz="2200" b="1" dirty="0">
                <a:solidFill>
                  <a:srgbClr val="2B2B2B"/>
                </a:solidFill>
                <a:latin typeface="Verdana" pitchFamily="34" charset="0"/>
                <a:ea typeface="Verdana" pitchFamily="34" charset="-122"/>
                <a:cs typeface="Verdana" pitchFamily="34" charset="-120"/>
              </a:rPr>
              <a:t>Riesgo, capital y producto: lo que distingue a cada mercado</a:t>
            </a:r>
            <a:endParaRPr lang="en-US" sz="2200" dirty="0"/>
          </a:p>
        </p:txBody>
      </p:sp>
      <p:sp>
        <p:nvSpPr>
          <p:cNvPr id="5" name="Text 3"/>
          <p:cNvSpPr txBox="1"/>
          <p:nvPr/>
        </p:nvSpPr>
        <p:spPr>
          <a:xfrm>
            <a:off x="621792" y="1060704"/>
            <a:ext cx="10945368" cy="365760"/>
          </a:xfrm>
          <a:prstGeom prst="rect">
            <a:avLst/>
          </a:prstGeom>
          <a:noFill/>
          <a:ln/>
        </p:spPr>
        <p:txBody>
          <a:bodyPr wrap="square" lIns="0" tIns="0" rIns="0" bIns="0" rtlCol="0" anchor="ctr"/>
          <a:lstStyle/>
          <a:p>
            <a:pPr indent="0" marL="0">
              <a:buNone/>
            </a:pPr>
            <a:r>
              <a:rPr lang="en-US" sz="1050" dirty="0">
                <a:solidFill>
                  <a:srgbClr val="818181"/>
                </a:solidFill>
                <a:latin typeface="Verdana" pitchFamily="34" charset="0"/>
                <a:ea typeface="Verdana" pitchFamily="34" charset="-122"/>
                <a:cs typeface="Verdana" pitchFamily="34" charset="-120"/>
              </a:rPr>
              <a:t>Tres observaciones sobre datos observados · Cada una con su fuente y su definición de PYME</a:t>
            </a:r>
            <a:endParaRPr lang="en-US" sz="1050" dirty="0"/>
          </a:p>
        </p:txBody>
      </p:sp>
      <p:sp>
        <p:nvSpPr>
          <p:cNvPr id="6" name="Shape 4"/>
          <p:cNvSpPr/>
          <p:nvPr/>
        </p:nvSpPr>
        <p:spPr>
          <a:xfrm>
            <a:off x="621792" y="1600200"/>
            <a:ext cx="3520440" cy="4160520"/>
          </a:xfrm>
          <a:prstGeom prst="roundRect">
            <a:avLst>
              <a:gd name="adj" fmla="val 1299"/>
            </a:avLst>
          </a:prstGeom>
          <a:solidFill>
            <a:srgbClr val="F2F4F6"/>
          </a:solidFill>
          <a:ln w="12700">
            <a:solidFill>
              <a:srgbClr val="F2F4F6"/>
            </a:solidFill>
            <a:prstDash val="solid"/>
          </a:ln>
        </p:spPr>
      </p:sp>
      <p:sp>
        <p:nvSpPr>
          <p:cNvPr id="7" name="Text 5"/>
          <p:cNvSpPr txBox="1"/>
          <p:nvPr/>
        </p:nvSpPr>
        <p:spPr>
          <a:xfrm>
            <a:off x="850392" y="1783080"/>
            <a:ext cx="3063240" cy="777240"/>
          </a:xfrm>
          <a:prstGeom prst="rect">
            <a:avLst/>
          </a:prstGeom>
          <a:noFill/>
          <a:ln/>
        </p:spPr>
        <p:txBody>
          <a:bodyPr wrap="square" lIns="0" tIns="0" rIns="0" bIns="0" rtlCol="0" anchor="ctr"/>
          <a:lstStyle/>
          <a:p>
            <a:pPr indent="0" marL="0">
              <a:buNone/>
            </a:pPr>
            <a:r>
              <a:rPr lang="en-US" sz="3400" b="1" dirty="0">
                <a:solidFill>
                  <a:srgbClr val="F56600"/>
                </a:solidFill>
                <a:latin typeface="Verdana" pitchFamily="34" charset="0"/>
                <a:ea typeface="Verdana" pitchFamily="34" charset="-122"/>
                <a:cs typeface="Verdana" pitchFamily="34" charset="-120"/>
              </a:rPr>
              <a:t>5,38 %</a:t>
            </a:r>
            <a:endParaRPr lang="en-US" sz="3400" dirty="0"/>
          </a:p>
        </p:txBody>
      </p:sp>
      <p:sp>
        <p:nvSpPr>
          <p:cNvPr id="8" name="Text 6"/>
          <p:cNvSpPr txBox="1"/>
          <p:nvPr/>
        </p:nvSpPr>
        <p:spPr>
          <a:xfrm>
            <a:off x="850392" y="2606040"/>
            <a:ext cx="3063240" cy="64008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mora de la PYME española, la más alta de los siete</a:t>
            </a:r>
            <a:endParaRPr lang="en-US" sz="1150" dirty="0"/>
          </a:p>
        </p:txBody>
      </p:sp>
      <p:sp>
        <p:nvSpPr>
          <p:cNvPr id="9" name="Text 7"/>
          <p:cNvSpPr txBox="1"/>
          <p:nvPr/>
        </p:nvSpPr>
        <p:spPr>
          <a:xfrm>
            <a:off x="850392" y="3310128"/>
            <a:ext cx="3063240" cy="1783080"/>
          </a:xfrm>
          <a:prstGeom prst="rect">
            <a:avLst/>
          </a:prstGeom>
          <a:noFill/>
          <a:ln/>
        </p:spPr>
        <p:txBody>
          <a:bodyPr wrap="square" lIns="0" tIns="0" rIns="0" bIns="0" rtlCol="0" anchor="t"/>
          <a:lstStyle/>
          <a:p>
            <a:pPr indent="0" marL="0">
              <a:buNone/>
            </a:pPr>
            <a:r>
              <a:rPr lang="en-US" sz="1200" dirty="0">
                <a:solidFill>
                  <a:srgbClr val="2B2B2B"/>
                </a:solidFill>
                <a:latin typeface="Verdana" pitchFamily="34" charset="0"/>
                <a:ea typeface="Verdana" pitchFamily="34" charset="-122"/>
                <a:cs typeface="Verdana" pitchFamily="34" charset="-120"/>
              </a:rPr>
              <a:t>La PYME es el segmento con más mora en los siete países. Pero la española baja desde 2024 y la alemana y la francesa suben: convergen.</a:t>
            </a:r>
            <a:endParaRPr lang="en-US" sz="1200" dirty="0"/>
          </a:p>
        </p:txBody>
      </p:sp>
      <p:sp>
        <p:nvSpPr>
          <p:cNvPr id="10" name="Shape 8"/>
          <p:cNvSpPr/>
          <p:nvPr/>
        </p:nvSpPr>
        <p:spPr>
          <a:xfrm>
            <a:off x="850392" y="5212080"/>
            <a:ext cx="3063240" cy="365760"/>
          </a:xfrm>
          <a:prstGeom prst="roundRect">
            <a:avLst>
              <a:gd name="adj" fmla="val 15000"/>
            </a:avLst>
          </a:prstGeom>
          <a:solidFill>
            <a:srgbClr val="C7E3F9"/>
          </a:solidFill>
          <a:ln w="12700">
            <a:solidFill>
              <a:srgbClr val="C7E3F9"/>
            </a:solidFill>
            <a:prstDash val="solid"/>
          </a:ln>
        </p:spPr>
      </p:sp>
      <p:sp>
        <p:nvSpPr>
          <p:cNvPr id="11" name="Text 9"/>
          <p:cNvSpPr txBox="1"/>
          <p:nvPr/>
        </p:nvSpPr>
        <p:spPr>
          <a:xfrm>
            <a:off x="923544" y="5230368"/>
            <a:ext cx="2916936" cy="329184"/>
          </a:xfrm>
          <a:prstGeom prst="rect">
            <a:avLst/>
          </a:prstGeom>
          <a:noFill/>
          <a:ln/>
        </p:spPr>
        <p:txBody>
          <a:bodyPr wrap="square" lIns="0" tIns="0" rIns="0" bIns="0" rtlCol="0" anchor="ctr"/>
          <a:lstStyle/>
          <a:p>
            <a:pPr indent="0" marL="0">
              <a:buNone/>
            </a:pPr>
            <a:r>
              <a:rPr lang="en-US" sz="750" b="1" dirty="0">
                <a:solidFill>
                  <a:srgbClr val="2B2B2B"/>
                </a:solidFill>
                <a:latin typeface="Verdana" pitchFamily="34" charset="0"/>
                <a:ea typeface="Verdana" pitchFamily="34" charset="-122"/>
                <a:cs typeface="Verdana" pitchFamily="34" charset="-120"/>
              </a:rPr>
              <a:t>PYME · Recomendación 2003/361/CE completa</a:t>
            </a:r>
            <a:endParaRPr lang="en-US" sz="750" dirty="0"/>
          </a:p>
        </p:txBody>
      </p:sp>
      <p:sp>
        <p:nvSpPr>
          <p:cNvPr id="12" name="Shape 10"/>
          <p:cNvSpPr/>
          <p:nvPr/>
        </p:nvSpPr>
        <p:spPr>
          <a:xfrm>
            <a:off x="4352544" y="1600200"/>
            <a:ext cx="3520440" cy="4160520"/>
          </a:xfrm>
          <a:prstGeom prst="roundRect">
            <a:avLst>
              <a:gd name="adj" fmla="val 1299"/>
            </a:avLst>
          </a:prstGeom>
          <a:solidFill>
            <a:srgbClr val="F2F4F6"/>
          </a:solidFill>
          <a:ln w="12700">
            <a:solidFill>
              <a:srgbClr val="F2F4F6"/>
            </a:solidFill>
            <a:prstDash val="solid"/>
          </a:ln>
        </p:spPr>
      </p:sp>
      <p:sp>
        <p:nvSpPr>
          <p:cNvPr id="13" name="Text 11"/>
          <p:cNvSpPr txBox="1"/>
          <p:nvPr/>
        </p:nvSpPr>
        <p:spPr>
          <a:xfrm>
            <a:off x="4581144" y="1783080"/>
            <a:ext cx="3063240" cy="777240"/>
          </a:xfrm>
          <a:prstGeom prst="rect">
            <a:avLst/>
          </a:prstGeom>
          <a:noFill/>
          <a:ln/>
        </p:spPr>
        <p:txBody>
          <a:bodyPr wrap="square" lIns="0" tIns="0" rIns="0" bIns="0" rtlCol="0" anchor="ctr"/>
          <a:lstStyle/>
          <a:p>
            <a:pPr indent="0" marL="0">
              <a:buNone/>
            </a:pPr>
            <a:r>
              <a:rPr lang="en-US" sz="3400" b="1" dirty="0">
                <a:solidFill>
                  <a:srgbClr val="F56600"/>
                </a:solidFill>
                <a:latin typeface="Verdana" pitchFamily="34" charset="0"/>
                <a:ea typeface="Verdana" pitchFamily="34" charset="-122"/>
                <a:cs typeface="Verdana" pitchFamily="34" charset="-120"/>
              </a:rPr>
              <a:t>7,6 pp</a:t>
            </a:r>
            <a:endParaRPr lang="en-US" sz="3400" dirty="0"/>
          </a:p>
        </p:txBody>
      </p:sp>
      <p:sp>
        <p:nvSpPr>
          <p:cNvPr id="14" name="Text 12"/>
          <p:cNvSpPr txBox="1"/>
          <p:nvPr/>
        </p:nvSpPr>
        <p:spPr>
          <a:xfrm>
            <a:off x="4581144" y="2606040"/>
            <a:ext cx="3063240" cy="64008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rebaja el IRB la densidad de RWA en España</a:t>
            </a:r>
            <a:endParaRPr lang="en-US" sz="1150" dirty="0"/>
          </a:p>
        </p:txBody>
      </p:sp>
      <p:sp>
        <p:nvSpPr>
          <p:cNvPr id="15" name="Text 13"/>
          <p:cNvSpPr txBox="1"/>
          <p:nvPr/>
        </p:nvSpPr>
        <p:spPr>
          <a:xfrm>
            <a:off x="4581144" y="3310128"/>
            <a:ext cx="3063240" cy="1783080"/>
          </a:xfrm>
          <a:prstGeom prst="rect">
            <a:avLst/>
          </a:prstGeom>
          <a:noFill/>
          <a:ln/>
        </p:spPr>
        <p:txBody>
          <a:bodyPr wrap="square" lIns="0" tIns="0" rIns="0" bIns="0" rtlCol="0" anchor="t"/>
          <a:lstStyle/>
          <a:p>
            <a:pPr indent="0" marL="0">
              <a:buNone/>
            </a:pPr>
            <a:r>
              <a:rPr lang="en-US" sz="1200" dirty="0">
                <a:solidFill>
                  <a:srgbClr val="2B2B2B"/>
                </a:solidFill>
                <a:latin typeface="Verdana" pitchFamily="34" charset="0"/>
                <a:ea typeface="Verdana" pitchFamily="34" charset="-122"/>
                <a:cs typeface="Verdana" pitchFamily="34" charset="-120"/>
              </a:rPr>
              <a:t>En Alemania, 35,9 pp. Por método estándar los siete van del 63 al 77 %; por IRB, del 30 al 65 %. El modelo separa más que el país.</a:t>
            </a:r>
            <a:endParaRPr lang="en-US" sz="1200" dirty="0"/>
          </a:p>
        </p:txBody>
      </p:sp>
      <p:sp>
        <p:nvSpPr>
          <p:cNvPr id="16" name="Shape 14"/>
          <p:cNvSpPr/>
          <p:nvPr/>
        </p:nvSpPr>
        <p:spPr>
          <a:xfrm>
            <a:off x="4581144" y="5212080"/>
            <a:ext cx="3063240" cy="365760"/>
          </a:xfrm>
          <a:prstGeom prst="roundRect">
            <a:avLst>
              <a:gd name="adj" fmla="val 15000"/>
            </a:avLst>
          </a:prstGeom>
          <a:solidFill>
            <a:srgbClr val="FFCCE8"/>
          </a:solidFill>
          <a:ln w="12700">
            <a:solidFill>
              <a:srgbClr val="FFCCE8"/>
            </a:solidFill>
            <a:prstDash val="solid"/>
          </a:ln>
        </p:spPr>
      </p:sp>
      <p:sp>
        <p:nvSpPr>
          <p:cNvPr id="17" name="Text 15"/>
          <p:cNvSpPr txBox="1"/>
          <p:nvPr/>
        </p:nvSpPr>
        <p:spPr>
          <a:xfrm>
            <a:off x="4654296" y="5230368"/>
            <a:ext cx="2916936" cy="329184"/>
          </a:xfrm>
          <a:prstGeom prst="rect">
            <a:avLst/>
          </a:prstGeom>
          <a:noFill/>
          <a:ln/>
        </p:spPr>
        <p:txBody>
          <a:bodyPr wrap="square" lIns="0" tIns="0" rIns="0" bIns="0" rtlCol="0" anchor="ctr"/>
          <a:lstStyle/>
          <a:p>
            <a:pPr indent="0" marL="0">
              <a:buNone/>
            </a:pPr>
            <a:r>
              <a:rPr lang="en-US" sz="750" b="1" dirty="0">
                <a:solidFill>
                  <a:srgbClr val="2B2B2B"/>
                </a:solidFill>
                <a:latin typeface="Verdana" pitchFamily="34" charset="0"/>
                <a:ea typeface="Verdana" pitchFamily="34" charset="-122"/>
                <a:cs typeface="Verdana" pitchFamily="34" charset="-120"/>
              </a:rPr>
              <a:t>PYME · estándar por facturación, IRB interna</a:t>
            </a:r>
            <a:endParaRPr lang="en-US" sz="750" dirty="0"/>
          </a:p>
        </p:txBody>
      </p:sp>
      <p:sp>
        <p:nvSpPr>
          <p:cNvPr id="18" name="Shape 16"/>
          <p:cNvSpPr/>
          <p:nvPr/>
        </p:nvSpPr>
        <p:spPr>
          <a:xfrm>
            <a:off x="8083296" y="1600200"/>
            <a:ext cx="3520440" cy="4160520"/>
          </a:xfrm>
          <a:prstGeom prst="roundRect">
            <a:avLst>
              <a:gd name="adj" fmla="val 1299"/>
            </a:avLst>
          </a:prstGeom>
          <a:solidFill>
            <a:srgbClr val="F2F4F6"/>
          </a:solidFill>
          <a:ln w="12700">
            <a:solidFill>
              <a:srgbClr val="F2F4F6"/>
            </a:solidFill>
            <a:prstDash val="solid"/>
          </a:ln>
        </p:spPr>
      </p:sp>
      <p:sp>
        <p:nvSpPr>
          <p:cNvPr id="19" name="Text 17"/>
          <p:cNvSpPr txBox="1"/>
          <p:nvPr/>
        </p:nvSpPr>
        <p:spPr>
          <a:xfrm>
            <a:off x="8311896" y="1783080"/>
            <a:ext cx="3063240" cy="777240"/>
          </a:xfrm>
          <a:prstGeom prst="rect">
            <a:avLst/>
          </a:prstGeom>
          <a:noFill/>
          <a:ln/>
        </p:spPr>
        <p:txBody>
          <a:bodyPr wrap="square" lIns="0" tIns="0" rIns="0" bIns="0" rtlCol="0" anchor="ctr"/>
          <a:lstStyle/>
          <a:p>
            <a:pPr indent="0" marL="0">
              <a:buNone/>
            </a:pPr>
            <a:r>
              <a:rPr lang="en-US" sz="3400" b="1" dirty="0">
                <a:solidFill>
                  <a:srgbClr val="F56600"/>
                </a:solidFill>
                <a:latin typeface="Verdana" pitchFamily="34" charset="0"/>
                <a:ea typeface="Verdana" pitchFamily="34" charset="-122"/>
                <a:cs typeface="Verdana" pitchFamily="34" charset="-120"/>
              </a:rPr>
              <a:t>52,6 %</a:t>
            </a:r>
            <a:endParaRPr lang="en-US" sz="3400" dirty="0"/>
          </a:p>
        </p:txBody>
      </p:sp>
      <p:sp>
        <p:nvSpPr>
          <p:cNvPr id="20" name="Text 18"/>
          <p:cNvSpPr txBox="1"/>
          <p:nvPr/>
        </p:nvSpPr>
        <p:spPr>
          <a:xfrm>
            <a:off x="8311896" y="2606040"/>
            <a:ext cx="3063240" cy="64008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de las cesiones de factoring en España son confirming</a:t>
            </a:r>
            <a:endParaRPr lang="en-US" sz="1150" dirty="0"/>
          </a:p>
        </p:txBody>
      </p:sp>
      <p:sp>
        <p:nvSpPr>
          <p:cNvPr id="21" name="Text 19"/>
          <p:cNvSpPr txBox="1"/>
          <p:nvPr/>
        </p:nvSpPr>
        <p:spPr>
          <a:xfrm>
            <a:off x="8311896" y="3310128"/>
            <a:ext cx="3063240" cy="1783080"/>
          </a:xfrm>
          <a:prstGeom prst="rect">
            <a:avLst/>
          </a:prstGeom>
          <a:noFill/>
          <a:ln/>
        </p:spPr>
        <p:txBody>
          <a:bodyPr wrap="square" lIns="0" tIns="0" rIns="0" bIns="0" rtlCol="0" anchor="t"/>
          <a:lstStyle/>
          <a:p>
            <a:pPr indent="0" marL="0">
              <a:buNone/>
            </a:pPr>
            <a:r>
              <a:rPr lang="en-US" sz="1200" dirty="0">
                <a:solidFill>
                  <a:srgbClr val="2B2B2B"/>
                </a:solidFill>
                <a:latin typeface="Verdana" pitchFamily="34" charset="0"/>
                <a:ea typeface="Verdana" pitchFamily="34" charset="-122"/>
                <a:cs typeface="Verdana" pitchFamily="34" charset="-120"/>
              </a:rPr>
              <a:t>En Italia, 1,9 %. Portugal y España son donde el factoring pesa más sobre el PIB.</a:t>
            </a:r>
            <a:endParaRPr lang="en-US" sz="1200" dirty="0"/>
          </a:p>
        </p:txBody>
      </p:sp>
      <p:sp>
        <p:nvSpPr>
          <p:cNvPr id="22" name="Shape 20"/>
          <p:cNvSpPr/>
          <p:nvPr/>
        </p:nvSpPr>
        <p:spPr>
          <a:xfrm>
            <a:off x="8311896" y="5212080"/>
            <a:ext cx="3063240" cy="365760"/>
          </a:xfrm>
          <a:prstGeom prst="roundRect">
            <a:avLst>
              <a:gd name="adj" fmla="val 15000"/>
            </a:avLst>
          </a:prstGeom>
          <a:solidFill>
            <a:srgbClr val="E5E5E5"/>
          </a:solidFill>
          <a:ln w="12700">
            <a:solidFill>
              <a:srgbClr val="E5E5E5"/>
            </a:solidFill>
            <a:prstDash val="solid"/>
          </a:ln>
        </p:spPr>
      </p:sp>
      <p:sp>
        <p:nvSpPr>
          <p:cNvPr id="23" name="Text 21"/>
          <p:cNvSpPr txBox="1"/>
          <p:nvPr/>
        </p:nvSpPr>
        <p:spPr>
          <a:xfrm>
            <a:off x="8385048" y="5230368"/>
            <a:ext cx="2916936" cy="329184"/>
          </a:xfrm>
          <a:prstGeom prst="rect">
            <a:avLst/>
          </a:prstGeom>
          <a:noFill/>
          <a:ln/>
        </p:spPr>
        <p:txBody>
          <a:bodyPr wrap="square" lIns="0" tIns="0" rIns="0" bIns="0" rtlCol="0" anchor="ctr"/>
          <a:lstStyle/>
          <a:p>
            <a:pPr indent="0" marL="0">
              <a:buNone/>
            </a:pPr>
            <a:r>
              <a:rPr lang="en-US" sz="750" b="1" dirty="0">
                <a:solidFill>
                  <a:srgbClr val="2B2B2B"/>
                </a:solidFill>
                <a:latin typeface="Verdana" pitchFamily="34" charset="0"/>
                <a:ea typeface="Verdana" pitchFamily="34" charset="-122"/>
                <a:cs typeface="Verdana" pitchFamily="34" charset="-120"/>
              </a:rPr>
              <a:t>SIN SEGMENTO · todas las empresas</a:t>
            </a:r>
            <a:endParaRPr lang="en-US" sz="750" dirty="0"/>
          </a:p>
        </p:txBody>
      </p:sp>
      <p:sp>
        <p:nvSpPr>
          <p:cNvPr id="24" name="Text 22"/>
          <p:cNvSpPr txBox="1"/>
          <p:nvPr/>
        </p:nvSpPr>
        <p:spPr>
          <a:xfrm>
            <a:off x="621792" y="6053328"/>
            <a:ext cx="10945368" cy="475488"/>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Mora: EBA Risk Dashboard (FINREP), 2026-Q1. Densidad: EBA Transparency Exercise, junio 2025. Confirming: AEF y Assifact, 2025; factoring sobre PIB: EUF, 2025.</a:t>
            </a:r>
            <a:endParaRPr lang="en-US" sz="7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10040112" y="274320"/>
            <a:ext cx="1600200" cy="256032"/>
          </a:xfrm>
          <a:prstGeom prst="rect">
            <a:avLst/>
          </a:prstGeom>
          <a:noFill/>
          <a:ln/>
        </p:spPr>
        <p:txBody>
          <a:bodyPr wrap="square" lIns="0" tIns="0" rIns="0" bIns="0" rtlCol="0" anchor="ctr"/>
          <a:lstStyle/>
          <a:p>
            <a:pPr algn="r" indent="0" marL="0">
              <a:buNone/>
            </a:pPr>
            <a:r>
              <a:rPr lang="en-US" sz="1300" b="1" dirty="0">
                <a:solidFill>
                  <a:srgbClr val="2B2B2B"/>
                </a:solidFill>
                <a:latin typeface="Verdana" pitchFamily="34" charset="0"/>
                <a:ea typeface="Verdana" pitchFamily="34" charset="-122"/>
                <a:cs typeface="Verdana" pitchFamily="34" charset="-120"/>
              </a:rPr>
              <a:t>bankinter</a:t>
            </a:r>
            <a:pPr algn="r" indent="0" marL="0">
              <a:buNone/>
            </a:pPr>
            <a:r>
              <a:rPr lang="en-US" sz="1300" b="1" dirty="0">
                <a:solidFill>
                  <a:srgbClr val="F56600"/>
                </a:solidFill>
                <a:latin typeface="Verdana" pitchFamily="34" charset="0"/>
                <a:ea typeface="Verdana" pitchFamily="34" charset="-122"/>
                <a:cs typeface="Verdana" pitchFamily="34" charset="-120"/>
              </a:rPr>
              <a:t>.</a:t>
            </a:r>
            <a:endParaRPr lang="en-US" sz="1300" dirty="0"/>
          </a:p>
        </p:txBody>
      </p:sp>
      <p:sp>
        <p:nvSpPr>
          <p:cNvPr id="3" name="Text 1"/>
          <p:cNvSpPr txBox="1"/>
          <p:nvPr/>
        </p:nvSpPr>
        <p:spPr>
          <a:xfrm>
            <a:off x="621792" y="6583680"/>
            <a:ext cx="548640" cy="182880"/>
          </a:xfrm>
          <a:prstGeom prst="rect">
            <a:avLst/>
          </a:prstGeom>
          <a:noFill/>
          <a:ln/>
        </p:spPr>
        <p:txBody>
          <a:bodyPr wrap="square" lIns="0" tIns="0" rIns="0" bIns="0" rtlCol="0" anchor="ctr"/>
          <a:lstStyle/>
          <a:p>
            <a:pPr indent="0" marL="0">
              <a:buNone/>
            </a:pPr>
            <a:r>
              <a:rPr lang="en-US" sz="800" dirty="0">
                <a:solidFill>
                  <a:srgbClr val="CACACA"/>
                </a:solidFill>
                <a:latin typeface="Verdana" pitchFamily="34" charset="0"/>
                <a:ea typeface="Verdana" pitchFamily="34" charset="-122"/>
                <a:cs typeface="Verdana" pitchFamily="34" charset="-120"/>
              </a:rPr>
              <a:t>40</a:t>
            </a:r>
            <a:endParaRPr lang="en-US" sz="800" dirty="0"/>
          </a:p>
        </p:txBody>
      </p:sp>
      <p:sp>
        <p:nvSpPr>
          <p:cNvPr id="4" name="Text 2"/>
          <p:cNvSpPr txBox="1"/>
          <p:nvPr/>
        </p:nvSpPr>
        <p:spPr>
          <a:xfrm>
            <a:off x="621792" y="420624"/>
            <a:ext cx="9208008" cy="676656"/>
          </a:xfrm>
          <a:prstGeom prst="rect">
            <a:avLst/>
          </a:prstGeom>
          <a:noFill/>
          <a:ln/>
        </p:spPr>
        <p:txBody>
          <a:bodyPr wrap="square" lIns="0" tIns="0" rIns="0" bIns="0" rtlCol="0" anchor="ctr"/>
          <a:lstStyle/>
          <a:p>
            <a:pPr indent="0" marL="0">
              <a:buNone/>
            </a:pPr>
            <a:r>
              <a:rPr lang="en-US" sz="2200" b="1" dirty="0">
                <a:solidFill>
                  <a:srgbClr val="2B2B2B"/>
                </a:solidFill>
                <a:latin typeface="Verdana" pitchFamily="34" charset="0"/>
                <a:ea typeface="Verdana" pitchFamily="34" charset="-122"/>
                <a:cs typeface="Verdana" pitchFamily="34" charset="-120"/>
              </a:rPr>
              <a:t>Lo que estos datos no permiten decir</a:t>
            </a:r>
            <a:endParaRPr lang="en-US" sz="2200" dirty="0"/>
          </a:p>
        </p:txBody>
      </p:sp>
      <p:sp>
        <p:nvSpPr>
          <p:cNvPr id="5" name="Text 3"/>
          <p:cNvSpPr txBox="1"/>
          <p:nvPr/>
        </p:nvSpPr>
        <p:spPr>
          <a:xfrm>
            <a:off x="621792" y="1060704"/>
            <a:ext cx="10945368" cy="365760"/>
          </a:xfrm>
          <a:prstGeom prst="rect">
            <a:avLst/>
          </a:prstGeom>
          <a:noFill/>
          <a:ln/>
        </p:spPr>
        <p:txBody>
          <a:bodyPr wrap="square" lIns="0" tIns="0" rIns="0" bIns="0" rtlCol="0" anchor="ctr"/>
          <a:lstStyle/>
          <a:p>
            <a:pPr indent="0" marL="0">
              <a:buNone/>
            </a:pPr>
            <a:r>
              <a:rPr lang="en-US" sz="1050" dirty="0">
                <a:solidFill>
                  <a:srgbClr val="818181"/>
                </a:solidFill>
                <a:latin typeface="Verdana" pitchFamily="34" charset="0"/>
                <a:ea typeface="Verdana" pitchFamily="34" charset="-122"/>
                <a:cs typeface="Verdana" pitchFamily="34" charset="-120"/>
              </a:rPr>
              <a:t>Por qué esta presentación describe el mercado y no calcula su rentabilidad</a:t>
            </a:r>
            <a:endParaRPr lang="en-US" sz="1050" dirty="0"/>
          </a:p>
        </p:txBody>
      </p:sp>
      <p:sp>
        <p:nvSpPr>
          <p:cNvPr id="6" name="Shape 4"/>
          <p:cNvSpPr/>
          <p:nvPr/>
        </p:nvSpPr>
        <p:spPr>
          <a:xfrm>
            <a:off x="621792" y="1600200"/>
            <a:ext cx="3520440" cy="1965960"/>
          </a:xfrm>
          <a:prstGeom prst="roundRect">
            <a:avLst>
              <a:gd name="adj" fmla="val 2326"/>
            </a:avLst>
          </a:prstGeom>
          <a:solidFill>
            <a:srgbClr val="F2F4F6"/>
          </a:solidFill>
          <a:ln w="12700">
            <a:solidFill>
              <a:srgbClr val="F2F4F6"/>
            </a:solidFill>
            <a:prstDash val="solid"/>
          </a:ln>
        </p:spPr>
      </p:sp>
      <p:sp>
        <p:nvSpPr>
          <p:cNvPr id="7" name="Text 5"/>
          <p:cNvSpPr txBox="1"/>
          <p:nvPr/>
        </p:nvSpPr>
        <p:spPr>
          <a:xfrm>
            <a:off x="822960" y="1728216"/>
            <a:ext cx="3118104" cy="27432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No hay una PYME común</a:t>
            </a:r>
            <a:endParaRPr lang="en-US" sz="1150" dirty="0"/>
          </a:p>
        </p:txBody>
      </p:sp>
      <p:sp>
        <p:nvSpPr>
          <p:cNvPr id="8" name="Text 6"/>
          <p:cNvSpPr txBox="1"/>
          <p:nvPr/>
        </p:nvSpPr>
        <p:spPr>
          <a:xfrm>
            <a:off x="822960" y="2039112"/>
            <a:ext cx="3118104" cy="1417320"/>
          </a:xfrm>
          <a:prstGeom prst="rect">
            <a:avLst/>
          </a:prstGeom>
          <a:noFill/>
          <a:ln/>
        </p:spPr>
        <p:txBody>
          <a:bodyPr wrap="square" lIns="0" tIns="0" rIns="0" bIns="0" rtlCol="0" anchor="t"/>
          <a:lstStyle/>
          <a:p>
            <a:pPr indent="0" marL="0">
              <a:buNone/>
            </a:pPr>
            <a:r>
              <a:rPr lang="en-US" sz="1150" dirty="0">
                <a:solidFill>
                  <a:srgbClr val="2B2B2B"/>
                </a:solidFill>
                <a:latin typeface="Verdana" pitchFamily="34" charset="0"/>
                <a:ea typeface="Verdana" pitchFamily="34" charset="-122"/>
                <a:cs typeface="Verdana" pitchFamily="34" charset="-120"/>
              </a:rPr>
              <a:t>Cada fuente mide un colectivo distinto: empleados, facturación, importe del préstamo o la definición de cada banco. Los niveles de dos fuentes no se suman ni se restan.</a:t>
            </a:r>
            <a:endParaRPr lang="en-US" sz="1150" dirty="0"/>
          </a:p>
        </p:txBody>
      </p:sp>
      <p:sp>
        <p:nvSpPr>
          <p:cNvPr id="9" name="Shape 7"/>
          <p:cNvSpPr/>
          <p:nvPr/>
        </p:nvSpPr>
        <p:spPr>
          <a:xfrm>
            <a:off x="4352544" y="1600200"/>
            <a:ext cx="3520440" cy="1965960"/>
          </a:xfrm>
          <a:prstGeom prst="roundRect">
            <a:avLst>
              <a:gd name="adj" fmla="val 2326"/>
            </a:avLst>
          </a:prstGeom>
          <a:solidFill>
            <a:srgbClr val="F2F4F6"/>
          </a:solidFill>
          <a:ln w="12700">
            <a:solidFill>
              <a:srgbClr val="F2F4F6"/>
            </a:solidFill>
            <a:prstDash val="solid"/>
          </a:ln>
        </p:spPr>
      </p:sp>
      <p:sp>
        <p:nvSpPr>
          <p:cNvPr id="10" name="Text 8"/>
          <p:cNvSpPr txBox="1"/>
          <p:nvPr/>
        </p:nvSpPr>
        <p:spPr>
          <a:xfrm>
            <a:off x="4553712" y="1728216"/>
            <a:ext cx="3118104" cy="27432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El riesgo no está armonizado</a:t>
            </a:r>
            <a:endParaRPr lang="en-US" sz="1150" dirty="0"/>
          </a:p>
        </p:txBody>
      </p:sp>
      <p:sp>
        <p:nvSpPr>
          <p:cNvPr id="11" name="Text 9"/>
          <p:cNvSpPr txBox="1"/>
          <p:nvPr/>
        </p:nvSpPr>
        <p:spPr>
          <a:xfrm>
            <a:off x="4553712" y="2039112"/>
            <a:ext cx="3118104" cy="1417320"/>
          </a:xfrm>
          <a:prstGeom prst="rect">
            <a:avLst/>
          </a:prstGeom>
          <a:noFill/>
          <a:ln/>
        </p:spPr>
        <p:txBody>
          <a:bodyPr wrap="square" lIns="0" tIns="0" rIns="0" bIns="0" rtlCol="0" anchor="t"/>
          <a:lstStyle/>
          <a:p>
            <a:pPr indent="0" marL="0">
              <a:buNone/>
            </a:pPr>
            <a:r>
              <a:rPr lang="en-US" sz="1150" dirty="0">
                <a:solidFill>
                  <a:srgbClr val="2B2B2B"/>
                </a:solidFill>
                <a:latin typeface="Verdana" pitchFamily="34" charset="0"/>
                <a:ea typeface="Verdana" pitchFamily="34" charset="-122"/>
                <a:cs typeface="Verdana" pitchFamily="34" charset="-120"/>
              </a:rPr>
              <a:t>La PD y la LGD usan la definición interna de cada banco, solo de la cartera IRB, y son medianas, no medias ponderadas.</a:t>
            </a:r>
            <a:endParaRPr lang="en-US" sz="1150" dirty="0"/>
          </a:p>
        </p:txBody>
      </p:sp>
      <p:sp>
        <p:nvSpPr>
          <p:cNvPr id="12" name="Shape 10"/>
          <p:cNvSpPr/>
          <p:nvPr/>
        </p:nvSpPr>
        <p:spPr>
          <a:xfrm>
            <a:off x="8083296" y="1600200"/>
            <a:ext cx="3520440" cy="1965960"/>
          </a:xfrm>
          <a:prstGeom prst="roundRect">
            <a:avLst>
              <a:gd name="adj" fmla="val 2326"/>
            </a:avLst>
          </a:prstGeom>
          <a:solidFill>
            <a:srgbClr val="F2F4F6"/>
          </a:solidFill>
          <a:ln w="12700">
            <a:solidFill>
              <a:srgbClr val="F2F4F6"/>
            </a:solidFill>
            <a:prstDash val="solid"/>
          </a:ln>
        </p:spPr>
      </p:sp>
      <p:sp>
        <p:nvSpPr>
          <p:cNvPr id="13" name="Text 11"/>
          <p:cNvSpPr txBox="1"/>
          <p:nvPr/>
        </p:nvSpPr>
        <p:spPr>
          <a:xfrm>
            <a:off x="8284464" y="1728216"/>
            <a:ext cx="3118104" cy="27432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Falta la comisión</a:t>
            </a:r>
            <a:endParaRPr lang="en-US" sz="1150" dirty="0"/>
          </a:p>
        </p:txBody>
      </p:sp>
      <p:sp>
        <p:nvSpPr>
          <p:cNvPr id="14" name="Text 12"/>
          <p:cNvSpPr txBox="1"/>
          <p:nvPr/>
        </p:nvSpPr>
        <p:spPr>
          <a:xfrm>
            <a:off x="8284464" y="2039112"/>
            <a:ext cx="3118104" cy="1417320"/>
          </a:xfrm>
          <a:prstGeom prst="rect">
            <a:avLst/>
          </a:prstGeom>
          <a:noFill/>
          <a:ln/>
        </p:spPr>
        <p:txBody>
          <a:bodyPr wrap="square" lIns="0" tIns="0" rIns="0" bIns="0" rtlCol="0" anchor="t"/>
          <a:lstStyle/>
          <a:p>
            <a:pPr indent="0" marL="0">
              <a:buNone/>
            </a:pPr>
            <a:r>
              <a:rPr lang="en-US" sz="1150" dirty="0">
                <a:solidFill>
                  <a:srgbClr val="2B2B2B"/>
                </a:solidFill>
                <a:latin typeface="Verdana" pitchFamily="34" charset="0"/>
                <a:ea typeface="Verdana" pitchFamily="34" charset="-122"/>
                <a:cs typeface="Verdana" pitchFamily="34" charset="-120"/>
              </a:rPr>
              <a:t>Solo España publica el tipo con comisiones del crédito a empresas. Sin ella no se puede comparar el coste total del crédito entre países.</a:t>
            </a:r>
            <a:endParaRPr lang="en-US" sz="1150" dirty="0"/>
          </a:p>
        </p:txBody>
      </p:sp>
      <p:sp>
        <p:nvSpPr>
          <p:cNvPr id="15" name="Shape 13"/>
          <p:cNvSpPr/>
          <p:nvPr/>
        </p:nvSpPr>
        <p:spPr>
          <a:xfrm>
            <a:off x="621792" y="3749040"/>
            <a:ext cx="3520440" cy="1965960"/>
          </a:xfrm>
          <a:prstGeom prst="roundRect">
            <a:avLst>
              <a:gd name="adj" fmla="val 2326"/>
            </a:avLst>
          </a:prstGeom>
          <a:solidFill>
            <a:srgbClr val="FFF4C2"/>
          </a:solidFill>
          <a:ln w="12700">
            <a:solidFill>
              <a:srgbClr val="FFF4C2"/>
            </a:solidFill>
            <a:prstDash val="solid"/>
          </a:ln>
        </p:spPr>
      </p:sp>
      <p:sp>
        <p:nvSpPr>
          <p:cNvPr id="16" name="Text 14"/>
          <p:cNvSpPr txBox="1"/>
          <p:nvPr/>
        </p:nvSpPr>
        <p:spPr>
          <a:xfrm>
            <a:off x="822960" y="3877056"/>
            <a:ext cx="3118104" cy="27432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Por eso no hay ROE</a:t>
            </a:r>
            <a:endParaRPr lang="en-US" sz="1150" dirty="0"/>
          </a:p>
        </p:txBody>
      </p:sp>
      <p:sp>
        <p:nvSpPr>
          <p:cNvPr id="17" name="Text 15"/>
          <p:cNvSpPr txBox="1"/>
          <p:nvPr/>
        </p:nvSpPr>
        <p:spPr>
          <a:xfrm>
            <a:off x="822960" y="4187952"/>
            <a:ext cx="3118104" cy="1417320"/>
          </a:xfrm>
          <a:prstGeom prst="rect">
            <a:avLst/>
          </a:prstGeom>
          <a:noFill/>
          <a:ln/>
        </p:spPr>
        <p:txBody>
          <a:bodyPr wrap="square" lIns="0" tIns="0" rIns="0" bIns="0" rtlCol="0" anchor="t"/>
          <a:lstStyle/>
          <a:p>
            <a:pPr indent="0" marL="0">
              <a:buNone/>
            </a:pPr>
            <a:r>
              <a:rPr lang="en-US" sz="1150" dirty="0">
                <a:solidFill>
                  <a:srgbClr val="2B2B2B"/>
                </a:solidFill>
                <a:latin typeface="Verdana" pitchFamily="34" charset="0"/>
                <a:ea typeface="Verdana" pitchFamily="34" charset="-122"/>
                <a:cs typeface="Verdana" pitchFamily="34" charset="-120"/>
              </a:rPr>
              <a:t>Un ROE exigiría suponer comisiones, costes y capital del segmento que ninguna fuente publica. Sería un supuesto con apariencia de dato.</a:t>
            </a:r>
            <a:endParaRPr lang="en-US" sz="1150" dirty="0"/>
          </a:p>
        </p:txBody>
      </p:sp>
      <p:sp>
        <p:nvSpPr>
          <p:cNvPr id="18" name="Shape 16"/>
          <p:cNvSpPr/>
          <p:nvPr/>
        </p:nvSpPr>
        <p:spPr>
          <a:xfrm>
            <a:off x="4352544" y="3749040"/>
            <a:ext cx="3520440" cy="1965960"/>
          </a:xfrm>
          <a:prstGeom prst="roundRect">
            <a:avLst>
              <a:gd name="adj" fmla="val 2326"/>
            </a:avLst>
          </a:prstGeom>
          <a:solidFill>
            <a:srgbClr val="F2F4F6"/>
          </a:solidFill>
          <a:ln w="12700">
            <a:solidFill>
              <a:srgbClr val="F2F4F6"/>
            </a:solidFill>
            <a:prstDash val="solid"/>
          </a:ln>
        </p:spPr>
      </p:sp>
      <p:sp>
        <p:nvSpPr>
          <p:cNvPr id="19" name="Text 17"/>
          <p:cNvSpPr txBox="1"/>
          <p:nvPr/>
        </p:nvSpPr>
        <p:spPr>
          <a:xfrm>
            <a:off x="4553712" y="3877056"/>
            <a:ext cx="3118104" cy="27432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Producto sin precio</a:t>
            </a:r>
            <a:endParaRPr lang="en-US" sz="1150" dirty="0"/>
          </a:p>
        </p:txBody>
      </p:sp>
      <p:sp>
        <p:nvSpPr>
          <p:cNvPr id="20" name="Text 18"/>
          <p:cNvSpPr txBox="1"/>
          <p:nvPr/>
        </p:nvSpPr>
        <p:spPr>
          <a:xfrm>
            <a:off x="4553712" y="4187952"/>
            <a:ext cx="3118104" cy="1417320"/>
          </a:xfrm>
          <a:prstGeom prst="rect">
            <a:avLst/>
          </a:prstGeom>
          <a:noFill/>
          <a:ln/>
        </p:spPr>
        <p:txBody>
          <a:bodyPr wrap="square" lIns="0" tIns="0" rIns="0" bIns="0" rtlCol="0" anchor="t"/>
          <a:lstStyle/>
          <a:p>
            <a:pPr indent="0" marL="0">
              <a:buNone/>
            </a:pPr>
            <a:r>
              <a:rPr lang="en-US" sz="1150" dirty="0">
                <a:solidFill>
                  <a:srgbClr val="2B2B2B"/>
                </a:solidFill>
                <a:latin typeface="Verdana" pitchFamily="34" charset="0"/>
                <a:ea typeface="Verdana" pitchFamily="34" charset="-122"/>
                <a:cs typeface="Verdana" pitchFamily="34" charset="-120"/>
              </a:rPr>
              <a:t>No hay precio público del factoring ni del confirming en ninguno de los siete países, y ninguna asociación separa lo que cede la PYME.</a:t>
            </a:r>
            <a:endParaRPr lang="en-US" sz="1150" dirty="0"/>
          </a:p>
        </p:txBody>
      </p:sp>
      <p:sp>
        <p:nvSpPr>
          <p:cNvPr id="21" name="Shape 19"/>
          <p:cNvSpPr/>
          <p:nvPr/>
        </p:nvSpPr>
        <p:spPr>
          <a:xfrm>
            <a:off x="8083296" y="3749040"/>
            <a:ext cx="3520440" cy="1965960"/>
          </a:xfrm>
          <a:prstGeom prst="roundRect">
            <a:avLst>
              <a:gd name="adj" fmla="val 2326"/>
            </a:avLst>
          </a:prstGeom>
          <a:solidFill>
            <a:srgbClr val="F2F4F6"/>
          </a:solidFill>
          <a:ln w="12700">
            <a:solidFill>
              <a:srgbClr val="F2F4F6"/>
            </a:solidFill>
            <a:prstDash val="solid"/>
          </a:ln>
        </p:spPr>
      </p:sp>
      <p:sp>
        <p:nvSpPr>
          <p:cNvPr id="22" name="Text 20"/>
          <p:cNvSpPr txBox="1"/>
          <p:nvPr/>
        </p:nvSpPr>
        <p:spPr>
          <a:xfrm>
            <a:off x="8284464" y="3877056"/>
            <a:ext cx="3118104" cy="274320"/>
          </a:xfrm>
          <a:prstGeom prst="rect">
            <a:avLst/>
          </a:prstGeom>
          <a:noFill/>
          <a:ln/>
        </p:spPr>
        <p:txBody>
          <a:bodyPr wrap="square" lIns="0" tIns="0" rIns="0" bIns="0" rtlCol="0" anchor="t"/>
          <a:lstStyle/>
          <a:p>
            <a:pPr indent="0" marL="0">
              <a:buNone/>
            </a:pPr>
            <a:r>
              <a:rPr lang="en-US" sz="1150" b="1" dirty="0">
                <a:solidFill>
                  <a:srgbClr val="2B2B2B"/>
                </a:solidFill>
                <a:latin typeface="Verdana" pitchFamily="34" charset="0"/>
                <a:ea typeface="Verdana" pitchFamily="34" charset="-122"/>
                <a:cs typeface="Verdana" pitchFamily="34" charset="-120"/>
              </a:rPr>
              <a:t>Datos que envejecen</a:t>
            </a:r>
            <a:endParaRPr lang="en-US" sz="1150" dirty="0"/>
          </a:p>
        </p:txBody>
      </p:sp>
      <p:sp>
        <p:nvSpPr>
          <p:cNvPr id="23" name="Text 21"/>
          <p:cNvSpPr txBox="1"/>
          <p:nvPr/>
        </p:nvSpPr>
        <p:spPr>
          <a:xfrm>
            <a:off x="8284464" y="4187952"/>
            <a:ext cx="3118104" cy="1417320"/>
          </a:xfrm>
          <a:prstGeom prst="rect">
            <a:avLst/>
          </a:prstGeom>
          <a:noFill/>
          <a:ln/>
        </p:spPr>
        <p:txBody>
          <a:bodyPr wrap="square" lIns="0" tIns="0" rIns="0" bIns="0" rtlCol="0" anchor="t"/>
          <a:lstStyle/>
          <a:p>
            <a:pPr indent="0" marL="0">
              <a:buNone/>
            </a:pPr>
            <a:r>
              <a:rPr lang="en-US" sz="1150" dirty="0">
                <a:solidFill>
                  <a:srgbClr val="2B2B2B"/>
                </a:solidFill>
                <a:latin typeface="Verdana" pitchFamily="34" charset="0"/>
                <a:ea typeface="Verdana" pitchFamily="34" charset="-122"/>
                <a:cs typeface="Verdana" pitchFamily="34" charset="-120"/>
              </a:rPr>
              <a:t>La OCDE llega a 2022 y Doing Business a 2019. El volumen irlandés de factoring no cambia desde 2021.</a:t>
            </a:r>
            <a:endParaRPr lang="en-US" sz="1150" dirty="0"/>
          </a:p>
        </p:txBody>
      </p:sp>
      <p:sp>
        <p:nvSpPr>
          <p:cNvPr id="24" name="Text 22"/>
          <p:cNvSpPr txBox="1"/>
          <p:nvPr/>
        </p:nvSpPr>
        <p:spPr>
          <a:xfrm>
            <a:off x="621792" y="6053328"/>
            <a:ext cx="10945368" cy="475488"/>
          </a:xfrm>
          <a:prstGeom prst="rect">
            <a:avLst/>
          </a:prstGeom>
          <a:noFill/>
          <a:ln/>
        </p:spPr>
        <p:txBody>
          <a:bodyPr wrap="square" lIns="0" tIns="0" rIns="0" bIns="0" rtlCol="0" anchor="ctr"/>
          <a:lstStyle/>
          <a:p>
            <a:pPr indent="0" marL="0">
              <a:buNone/>
            </a:pPr>
            <a:r>
              <a:rPr lang="en-US" sz="750" i="1" dirty="0">
                <a:solidFill>
                  <a:srgbClr val="818181"/>
                </a:solidFill>
                <a:latin typeface="Verdana" pitchFamily="34" charset="0"/>
                <a:ea typeface="Verdana" pitchFamily="34" charset="-122"/>
                <a:cs typeface="Verdana" pitchFamily="34" charset="-120"/>
              </a:rPr>
              <a:t>Detalle de cada límite, con la cita de la normativa correspondiente, en notas.md del repositorio del proyecto.</a:t>
            </a:r>
            <a:endParaRPr lang="en-US" sz="7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7589520" y="1554480"/>
            <a:ext cx="3977640" cy="3749040"/>
          </a:xfrm>
          <a:prstGeom prst="rect">
            <a:avLst/>
          </a:prstGeom>
          <a:solidFill>
            <a:srgbClr val="F56600"/>
          </a:solidFill>
          <a:ln w="12700">
            <a:solidFill>
              <a:srgbClr val="F56600"/>
            </a:solidFill>
            <a:prstDash val="solid"/>
          </a:ln>
        </p:spPr>
      </p:sp>
      <p:sp>
        <p:nvSpPr>
          <p:cNvPr id="3" name="Shape 1"/>
          <p:cNvSpPr/>
          <p:nvPr/>
        </p:nvSpPr>
        <p:spPr>
          <a:xfrm>
            <a:off x="9777222" y="1929384"/>
            <a:ext cx="1193292" cy="1124712"/>
          </a:xfrm>
          <a:prstGeom prst="rect">
            <a:avLst/>
          </a:prstGeom>
          <a:solidFill>
            <a:srgbClr val="FFD200"/>
          </a:solidFill>
          <a:ln w="12700">
            <a:solidFill>
              <a:srgbClr val="FFD200"/>
            </a:solidFill>
            <a:prstDash val="solid"/>
          </a:ln>
        </p:spPr>
      </p:sp>
      <p:sp>
        <p:nvSpPr>
          <p:cNvPr id="4" name="Shape 2"/>
          <p:cNvSpPr/>
          <p:nvPr/>
        </p:nvSpPr>
        <p:spPr>
          <a:xfrm>
            <a:off x="8066837" y="3728923"/>
            <a:ext cx="1034186" cy="1124712"/>
          </a:xfrm>
          <a:prstGeom prst="rect">
            <a:avLst/>
          </a:prstGeom>
          <a:solidFill>
            <a:srgbClr val="FFFFFF"/>
          </a:solidFill>
          <a:ln w="12700">
            <a:solidFill>
              <a:srgbClr val="FFFFFF"/>
            </a:solidFill>
            <a:prstDash val="solid"/>
          </a:ln>
        </p:spPr>
      </p:sp>
      <p:sp>
        <p:nvSpPr>
          <p:cNvPr id="5" name="Shape 3"/>
          <p:cNvSpPr/>
          <p:nvPr/>
        </p:nvSpPr>
        <p:spPr>
          <a:xfrm>
            <a:off x="10055657" y="3616452"/>
            <a:ext cx="875081" cy="824789"/>
          </a:xfrm>
          <a:prstGeom prst="rect">
            <a:avLst/>
          </a:prstGeom>
          <a:solidFill>
            <a:srgbClr val="FFAB70"/>
          </a:solidFill>
          <a:ln w="12700">
            <a:solidFill>
              <a:srgbClr val="FFAB70"/>
            </a:solidFill>
            <a:prstDash val="solid"/>
          </a:ln>
        </p:spPr>
      </p:sp>
      <p:sp>
        <p:nvSpPr>
          <p:cNvPr id="6" name="Text 4"/>
          <p:cNvSpPr txBox="1"/>
          <p:nvPr/>
        </p:nvSpPr>
        <p:spPr>
          <a:xfrm>
            <a:off x="1005840" y="2697480"/>
            <a:ext cx="5486400" cy="640080"/>
          </a:xfrm>
          <a:prstGeom prst="rect">
            <a:avLst/>
          </a:prstGeom>
          <a:noFill/>
          <a:ln/>
        </p:spPr>
        <p:txBody>
          <a:bodyPr wrap="square" lIns="0" tIns="0" rIns="0" bIns="0" rtlCol="0" anchor="ctr"/>
          <a:lstStyle/>
          <a:p>
            <a:pPr indent="0" marL="0">
              <a:buNone/>
            </a:pPr>
            <a:r>
              <a:rPr lang="en-US" sz="3800" b="1" dirty="0">
                <a:solidFill>
                  <a:srgbClr val="2B2B2B"/>
                </a:solidFill>
                <a:latin typeface="Verdana" pitchFamily="34" charset="0"/>
                <a:ea typeface="Verdana" pitchFamily="34" charset="-122"/>
                <a:cs typeface="Verdana" pitchFamily="34" charset="-120"/>
              </a:rPr>
              <a:t>bankinter</a:t>
            </a:r>
            <a:pPr indent="0" marL="0">
              <a:buNone/>
            </a:pPr>
            <a:r>
              <a:rPr lang="en-US" sz="3800" b="1" dirty="0">
                <a:solidFill>
                  <a:srgbClr val="F56600"/>
                </a:solidFill>
                <a:latin typeface="Verdana" pitchFamily="34" charset="0"/>
                <a:ea typeface="Verdana" pitchFamily="34" charset="-122"/>
                <a:cs typeface="Verdana" pitchFamily="34" charset="-120"/>
              </a:rPr>
              <a:t>.</a:t>
            </a:r>
            <a:endParaRPr lang="en-US" sz="3800" dirty="0"/>
          </a:p>
        </p:txBody>
      </p:sp>
      <p:sp>
        <p:nvSpPr>
          <p:cNvPr id="7" name="Text 5"/>
          <p:cNvSpPr txBox="1"/>
          <p:nvPr/>
        </p:nvSpPr>
        <p:spPr>
          <a:xfrm>
            <a:off x="1005840" y="3383280"/>
            <a:ext cx="5486400" cy="640080"/>
          </a:xfrm>
          <a:prstGeom prst="rect">
            <a:avLst/>
          </a:prstGeom>
          <a:noFill/>
          <a:ln/>
        </p:spPr>
        <p:txBody>
          <a:bodyPr wrap="square" lIns="0" tIns="0" rIns="0" bIns="0" rtlCol="0" anchor="ctr"/>
          <a:lstStyle/>
          <a:p>
            <a:pPr indent="0" marL="0">
              <a:buNone/>
            </a:pPr>
            <a:r>
              <a:rPr lang="en-US" sz="3100" b="1" dirty="0">
                <a:solidFill>
                  <a:srgbClr val="F56600"/>
                </a:solidFill>
                <a:latin typeface="Verdana" pitchFamily="34" charset="0"/>
                <a:ea typeface="Verdana" pitchFamily="34" charset="-122"/>
                <a:cs typeface="Verdana" pitchFamily="34" charset="-120"/>
              </a:rPr>
              <a:t>Gracias</a:t>
            </a:r>
            <a:endParaRPr lang="en-US" sz="3100" dirty="0"/>
          </a:p>
        </p:txBody>
      </p:sp>
      <p:sp>
        <p:nvSpPr>
          <p:cNvPr id="8" name="Text 6"/>
          <p:cNvSpPr txBox="1"/>
          <p:nvPr/>
        </p:nvSpPr>
        <p:spPr>
          <a:xfrm>
            <a:off x="1005840" y="4297680"/>
            <a:ext cx="5486400" cy="548640"/>
          </a:xfrm>
          <a:prstGeom prst="rect">
            <a:avLst/>
          </a:prstGeom>
          <a:noFill/>
          <a:ln/>
        </p:spPr>
        <p:txBody>
          <a:bodyPr wrap="square" lIns="0" tIns="0" rIns="0" bIns="0" rtlCol="0" anchor="ctr"/>
          <a:lstStyle/>
          <a:p>
            <a:pPr indent="0" marL="0">
              <a:buNone/>
            </a:pPr>
            <a:r>
              <a:rPr lang="en-US" sz="1000" dirty="0">
                <a:solidFill>
                  <a:srgbClr val="818181"/>
                </a:solidFill>
                <a:latin typeface="Verdana" pitchFamily="34" charset="0"/>
                <a:ea typeface="Verdana" pitchFamily="34" charset="-122"/>
                <a:cs typeface="Verdana" pitchFamily="34" charset="-120"/>
              </a:rPr>
              <a:t>Los datos, los extractores y el inventario de fuentes con su definición de PYME están en el repositorio del proyecto.</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 mercado PYME en Europa: lo que dicen los datos</dc:title>
  <dc:subject>PptxGenJS Presentation</dc:subject>
  <dc:creator>Analisis PYME Europa</dc:creator>
  <cp:lastModifiedBy>Analisis PYME Europa</cp:lastModifiedBy>
  <cp:revision>1</cp:revision>
  <dcterms:created xsi:type="dcterms:W3CDTF">2026-09-23T19:25:49Z</dcterms:created>
  <dcterms:modified xsi:type="dcterms:W3CDTF">2026-09-23T19:25:49Z</dcterms:modified>
</cp:coreProperties>
</file>