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España</c:v>
                </c:pt>
              </c:strCache>
            </c:strRef>
          </c:tx>
          <c:spPr>
            <a:solidFill>
              <a:srgbClr val="F56600"/>
            </a:solidFill>
            <a:ln w="30480" cap="flat">
              <a:solidFill>
                <a:srgbClr val="F566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F56600"/>
              </a:solidFill>
              <a:ln w="9525" cap="flat">
                <a:solidFill>
                  <a:srgbClr val="F566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0.59</c:v>
                </c:pt>
                <c:pt idx="1">
                  <c:v>0.34</c:v>
                </c:pt>
                <c:pt idx="2">
                  <c:v>0.27</c:v>
                </c:pt>
                <c:pt idx="3">
                  <c:v>0.05</c:v>
                </c:pt>
                <c:pt idx="4">
                  <c:v>-0.03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Alemania</c:v>
                </c:pt>
              </c:strCache>
            </c:strRef>
          </c:tx>
          <c:spPr>
            <a:solidFill>
              <a:srgbClr val="A1A1A1"/>
            </a:solidFill>
            <a:ln w="30480" cap="flat">
              <a:solidFill>
                <a:srgbClr val="A1A1A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1A1A1"/>
              </a:solidFill>
              <a:ln w="9525" cap="flat">
                <a:solidFill>
                  <a:srgbClr val="A1A1A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0.53</c:v>
                </c:pt>
                <c:pt idx="1">
                  <c:v>1.4</c:v>
                </c:pt>
                <c:pt idx="2">
                  <c:v>1.03</c:v>
                </c:pt>
                <c:pt idx="3">
                  <c:v>1.22</c:v>
                </c:pt>
                <c:pt idx="4">
                  <c:v>1.16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Francia</c:v>
                </c:pt>
              </c:strCache>
            </c:strRef>
          </c:tx>
          <c:spPr>
            <a:solidFill>
              <a:srgbClr val="77BFEE"/>
            </a:solidFill>
            <a:ln w="30480" cap="flat">
              <a:solidFill>
                <a:srgbClr val="77BFE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77BFEE"/>
              </a:solidFill>
              <a:ln w="9525" cap="flat">
                <a:solidFill>
                  <a:srgbClr val="77BFE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0.33</c:v>
                </c:pt>
                <c:pt idx="1">
                  <c:v>-0.02</c:v>
                </c:pt>
                <c:pt idx="2">
                  <c:v>-0.01</c:v>
                </c:pt>
                <c:pt idx="3">
                  <c:v>0.46</c:v>
                </c:pt>
                <c:pt idx="4">
                  <c:v>0.5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Italia</c:v>
                </c:pt>
              </c:strCache>
            </c:strRef>
          </c:tx>
          <c:spPr>
            <a:solidFill>
              <a:srgbClr val="FF8AC2"/>
            </a:solidFill>
            <a:ln w="30480" cap="flat">
              <a:solidFill>
                <a:srgbClr val="FF8A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FF8AC2"/>
              </a:solidFill>
              <a:ln w="9525" cap="flat">
                <a:solidFill>
                  <a:srgbClr val="FF8A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1.23</c:v>
                </c:pt>
                <c:pt idx="1">
                  <c:v>0.94</c:v>
                </c:pt>
                <c:pt idx="2">
                  <c:v>0.93</c:v>
                </c:pt>
                <c:pt idx="3">
                  <c:v>1.25</c:v>
                </c:pt>
                <c:pt idx="4">
                  <c:v>1.44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Portugal</c:v>
                </c:pt>
              </c:strCache>
            </c:strRef>
          </c:tx>
          <c:spPr>
            <a:solidFill>
              <a:srgbClr val="FFAB70"/>
            </a:solidFill>
            <a:ln w="30480" cap="flat">
              <a:solidFill>
                <a:srgbClr val="FFAB7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FFAB70"/>
              </a:solidFill>
              <a:ln w="9525" cap="flat">
                <a:solidFill>
                  <a:srgbClr val="FFAB7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0.76</c:v>
                </c:pt>
                <c:pt idx="1">
                  <c:v>0.62</c:v>
                </c:pt>
                <c:pt idx="2">
                  <c:v>0.57</c:v>
                </c:pt>
                <c:pt idx="3">
                  <c:v>0.66</c:v>
                </c:pt>
                <c:pt idx="4">
                  <c:v>0.67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P. Bajos</c:v>
                </c:pt>
              </c:strCache>
            </c:strRef>
          </c:tx>
          <c:spPr>
            <a:solidFill>
              <a:srgbClr val="6FBF9B"/>
            </a:solidFill>
            <a:ln w="30480" cap="flat">
              <a:solidFill>
                <a:srgbClr val="6FBF9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6FBF9B"/>
              </a:solidFill>
              <a:ln w="9525" cap="flat">
                <a:solidFill>
                  <a:srgbClr val="6FBF9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1.61</c:v>
                </c:pt>
                <c:pt idx="1">
                  <c:v>1.56</c:v>
                </c:pt>
                <c:pt idx="2">
                  <c:v>0.87</c:v>
                </c:pt>
                <c:pt idx="3">
                  <c:v>1.01</c:v>
                </c:pt>
                <c:pt idx="4">
                  <c:v>1.2</c:v>
                </c:pt>
              </c:numCache>
            </c:numRef>
          </c: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Irlanda</c:v>
                </c:pt>
              </c:strCache>
            </c:strRef>
          </c:tx>
          <c:spPr>
            <a:solidFill>
              <a:srgbClr val="CACACA"/>
            </a:solidFill>
            <a:ln w="30480" cap="flat">
              <a:solidFill>
                <a:srgbClr val="CACAC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ACACA"/>
              </a:solidFill>
              <a:ln w="9525" cap="flat">
                <a:solidFill>
                  <a:srgbClr val="CACAC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1.64</c:v>
                </c:pt>
                <c:pt idx="1">
                  <c:v>0.7</c:v>
                </c:pt>
                <c:pt idx="2">
                  <c:v>0.29</c:v>
                </c:pt>
                <c:pt idx="3">
                  <c:v>0.68</c:v>
                </c:pt>
                <c:pt idx="4">
                  <c:v>0.62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"/>
          <c:min val="-0.4"/>
        </c:scaling>
        <c:delete val="0"/>
        <c:axPos val="l"/>
        <c:majorGridlines>
          <c:spPr>
            <a:ln w="12700" cap="flat">
              <a:solidFill>
                <a:srgbClr val="E3E9EB"/>
              </a:solidFill>
              <a:prstDash val="solid"/>
              <a:round/>
            </a:ln>
          </c:spPr>
        </c:majorGridlines>
        <c:numFmt formatCode="0.0&quot; pp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1818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Tasa de rechazo</c:v>
                </c:pt>
              </c:strCache>
            </c:strRef>
          </c:tx>
          <c:spPr>
            <a:solidFill>
              <a:srgbClr val="F5660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5660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1A1A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1A1A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1A1A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1A1A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1A1A1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A1A1A1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ACACA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España</c:v>
                  </c:pt>
                  <c:pt idx="1">
                    <c:v>Alemania</c:v>
                  </c:pt>
                  <c:pt idx="2">
                    <c:v>Francia</c:v>
                  </c:pt>
                  <c:pt idx="3">
                    <c:v>Italia</c:v>
                  </c:pt>
                  <c:pt idx="4">
                    <c:v>Portugal</c:v>
                  </c:pt>
                  <c:pt idx="5">
                    <c:v>P. Bajos</c:v>
                  </c:pt>
                  <c:pt idx="6">
                    <c:v>Irlanda</c:v>
                  </c:pt>
                  <c:pt idx="7">
                    <c:v>Zona euro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9.7</c:v>
                </c:pt>
                <c:pt idx="1">
                  <c:v>5.5</c:v>
                </c:pt>
                <c:pt idx="2">
                  <c:v>8.2</c:v>
                </c:pt>
                <c:pt idx="3">
                  <c:v>0.7</c:v>
                </c:pt>
                <c:pt idx="4">
                  <c:v>4.1</c:v>
                </c:pt>
                <c:pt idx="5">
                  <c:v>13.6</c:v>
                </c:pt>
                <c:pt idx="6">
                  <c:v>9.2</c:v>
                </c:pt>
                <c:pt idx="7">
                  <c:v>9.6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2B2B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</c:scaling>
        <c:delete val="0"/>
        <c:axPos val="l"/>
        <c:majorGridlines>
          <c:spPr>
            <a:ln w="12700" cap="flat">
              <a:solidFill>
                <a:srgbClr val="E3E9E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1818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Método estándar</c:v>
                </c:pt>
              </c:strCache>
            </c:strRef>
          </c:tx>
          <c:spPr>
            <a:solidFill>
              <a:srgbClr val="A1A1A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España</c:v>
                  </c:pt>
                  <c:pt idx="1">
                    <c:v>Alemania</c:v>
                  </c:pt>
                  <c:pt idx="2">
                    <c:v>Francia</c:v>
                  </c:pt>
                  <c:pt idx="3">
                    <c:v>Italia</c:v>
                  </c:pt>
                  <c:pt idx="4">
                    <c:v>Portugal</c:v>
                  </c:pt>
                  <c:pt idx="5">
                    <c:v>P. Bajos</c:v>
                  </c:pt>
                  <c:pt idx="6">
                    <c:v>Irlanda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63</c:v>
                </c:pt>
                <c:pt idx="1">
                  <c:v>66</c:v>
                </c:pt>
                <c:pt idx="2">
                  <c:v>67.3</c:v>
                </c:pt>
                <c:pt idx="3">
                  <c:v>66.3</c:v>
                </c:pt>
                <c:pt idx="4">
                  <c:v>72.7</c:v>
                </c:pt>
                <c:pt idx="5">
                  <c:v>69.9</c:v>
                </c:pt>
                <c:pt idx="6">
                  <c:v>77.3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Modelos internos (IRB)</c:v>
                </c:pt>
              </c:strCache>
            </c:strRef>
          </c:tx>
          <c:spPr>
            <a:solidFill>
              <a:srgbClr val="F5660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España</c:v>
                  </c:pt>
                  <c:pt idx="1">
                    <c:v>Alemania</c:v>
                  </c:pt>
                  <c:pt idx="2">
                    <c:v>Francia</c:v>
                  </c:pt>
                  <c:pt idx="3">
                    <c:v>Italia</c:v>
                  </c:pt>
                  <c:pt idx="4">
                    <c:v>Portugal</c:v>
                  </c:pt>
                  <c:pt idx="5">
                    <c:v>P. Bajos</c:v>
                  </c:pt>
                  <c:pt idx="6">
                    <c:v>Irlanda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55.4</c:v>
                </c:pt>
                <c:pt idx="1">
                  <c:v>30.1</c:v>
                </c:pt>
                <c:pt idx="2">
                  <c:v>35.3</c:v>
                </c:pt>
                <c:pt idx="3">
                  <c:v>37.7</c:v>
                </c:pt>
                <c:pt idx="4">
                  <c:v>47.5</c:v>
                </c:pt>
                <c:pt idx="5">
                  <c:v>34.9</c:v>
                </c:pt>
                <c:pt idx="6">
                  <c:v>64.7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800" u="none">
                  <a:solidFill>
                    <a:srgbClr val="2B2B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</c:scaling>
        <c:delete val="0"/>
        <c:axPos val="l"/>
        <c:majorGridlines>
          <c:spPr>
            <a:ln w="12700" cap="flat">
              <a:solidFill>
                <a:srgbClr val="E3E9E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1818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Irlanda</c:v>
                </c:pt>
              </c:strCache>
            </c:strRef>
          </c:tx>
          <c:spPr>
            <a:solidFill>
              <a:srgbClr val="F56600"/>
            </a:solidFill>
            <a:ln w="33020" cap="flat">
              <a:solidFill>
                <a:srgbClr val="F566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56600"/>
              </a:solidFill>
              <a:ln w="9525" cap="flat">
                <a:solidFill>
                  <a:srgbClr val="F566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25978</c:v>
                </c:pt>
                <c:pt idx="1">
                  <c:v>23952</c:v>
                </c:pt>
                <c:pt idx="2">
                  <c:v>26294</c:v>
                </c:pt>
                <c:pt idx="3">
                  <c:v>26294</c:v>
                </c:pt>
                <c:pt idx="4">
                  <c:v>28423.8</c:v>
                </c:pt>
                <c:pt idx="5">
                  <c:v>28423.8</c:v>
                </c:pt>
                <c:pt idx="6">
                  <c:v>28617</c:v>
                </c:pt>
                <c:pt idx="7">
                  <c:v>28617</c:v>
                </c:pt>
                <c:pt idx="8">
                  <c:v>28617</c:v>
                </c:pt>
                <c:pt idx="9">
                  <c:v>28617</c:v>
                </c:pt>
                <c:pt idx="10">
                  <c:v>28617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2B2B2B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00"/>
          <c:min val="18000"/>
        </c:scaling>
        <c:delete val="0"/>
        <c:axPos val="l"/>
        <c:majorGridlines>
          <c:spPr>
            <a:ln w="12700" cap="flat">
              <a:solidFill>
                <a:srgbClr val="E3E9EB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1818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40112" y="2743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bankinter</a:t>
            </a:r>
            <a:pPr algn="r" indent="0" marL="0">
              <a:buNone/>
            </a:pPr>
            <a:r>
              <a:rPr lang="en-US" sz="13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420624"/>
            <a:ext cx="92080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prima PYME española se ha evaporado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060704"/>
            <a:ext cx="10945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Diferencial de tipo entre el préstamo pequeño y el grande, préstamos a sociedades no financieras · Media anual ponderada por volumen de nueva producción · Fijación inicial total · Sin comisiones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21792" y="1664208"/>
          <a:ext cx="6903720" cy="34015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99248" y="1664208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5E5E5"/>
          </a:solidFill>
          <a:ln w="12700">
            <a:solidFill>
              <a:srgbClr val="CACAC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82128" y="17647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Dos definiciones, misma conclusión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882128" y="2029968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 de los últimos 12 meses, en pp</a:t>
            </a:r>
            <a:endParaRPr lang="en-US" sz="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82128" y="2249424"/>
          <a:ext cx="35204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051560"/>
                <a:gridCol w="1051560"/>
              </a:tblGrid>
              <a:tr h="21762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≤0,25 M€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vs &gt;1 M€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≤1 M€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vs &gt;1 M€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España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−0,03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−0,05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Alemania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+1,24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+1,05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Francia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+0,51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+0,29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Italia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+1,39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+1,00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Portugal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+0,66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+0,25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P. Bajos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+1,15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+1,07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Irlanda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+0,81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+0,47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699248" y="4261104"/>
            <a:ext cx="3867912" cy="1645920"/>
          </a:xfrm>
          <a:prstGeom prst="roundRect">
            <a:avLst>
              <a:gd name="adj" fmla="val 2222"/>
            </a:avLst>
          </a:prstGeom>
          <a:solidFill>
            <a:srgbClr val="FFF4C2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699248" y="4261104"/>
            <a:ext cx="64008" cy="1645920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918704" y="4352544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Dejamos de cobrar por el tamaño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7918704" y="4590288"/>
            <a:ext cx="348386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España es el único de los siete donde la prima llega a cero: de +0,59 pp en 2022 a −0,03 pp en los últimos 12 meses. 8 de los 55 meses de la serie tienen prima NEGATIVA: el préstamo pequeño sale más barato que el grande. Italia va en sentido contrario (+1,23 → +1,39 pp).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21792" y="5138928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Es una prima de tamaño de OPERACIÓN, no de tamaño de empresa: el MIR segmenta por importe del préstamo. Un préstamo de 800.000 € a una empresa grande cuenta como «pequeño».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621792" y="6053328"/>
            <a:ext cx="10945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BCE, MIR (ECB Data Portal), enero 2022 a julio 2026. Media anual del diferencial mensual, ponderada por el volumen de nueva producción de los dos tramos. Serie completa en prestamos_personales/prima_pyme.csv.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40112" y="2743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bankinter</a:t>
            </a:r>
            <a:pPr algn="r" indent="0" marL="0">
              <a:buNone/>
            </a:pPr>
            <a:r>
              <a:rPr lang="en-US" sz="13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420624"/>
            <a:ext cx="92080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Cuánto crédito se deniega: la tasa de rechazo de la SAFE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060704"/>
            <a:ext cx="10945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Empresas de menos de 250 empleados que solicitaron un préstamo bancario y fueron rechazadas, en % de las que solicitaron · Segunda mitad de 2025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21792" y="1645920"/>
          <a:ext cx="690372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1792" y="3877056"/>
            <a:ext cx="6903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 que la tasa de rechazo no ve: el resultado completo de la solicitud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4169664"/>
          <a:ext cx="6903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69848"/>
                <a:gridCol w="1069848"/>
                <a:gridCol w="1069848"/>
                <a:gridCol w="1069848"/>
                <a:gridCol w="1069848"/>
              </a:tblGrid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Obtuvo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todo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Obtuvo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solo parte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Rechazó por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coste alto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Fue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rechazada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No obtuvo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todo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España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72,5 %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8,3 %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9,7 %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18,0 %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Alemania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47,1 %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20,4 %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7,7 %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5,5 %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33,6 %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E8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Francia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71,3 %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5,1 %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8,2 %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16,3 %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Italia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80,2 %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0,7 %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11,3 %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Portugal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65,9 %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9,8 %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4,1 %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16,2 %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P. Bajos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62,3 %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9,5 %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13,6 %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23,1 %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6BA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Irlanda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56,2 %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7,9 %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17,1 %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99248" y="1645920"/>
            <a:ext cx="3867912" cy="2148840"/>
          </a:xfrm>
          <a:prstGeom prst="roundRect">
            <a:avLst>
              <a:gd name="adj" fmla="val 1702"/>
            </a:avLst>
          </a:prstGeom>
          <a:solidFill>
            <a:srgbClr val="FFF4C2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699248" y="1645920"/>
            <a:ext cx="64008" cy="2148840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918704" y="1737360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Rechazar y encarecer son sustitutos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7918704" y="1975104"/>
            <a:ext cx="3483864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Alemania es la que menos rechaza (5,5 %) y la que más raciona: 20,4 % recibe solo una parte y 7,7 % renuncia porque el precio le parece alto. Entre las dos, un 33,6 % no obtiene todo lo que pidió, casi el doble que en España. Italia casi no rechaza (0,7 %) y es la que más prima de precio cobra.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7699248" y="3877056"/>
            <a:ext cx="3867912" cy="1920240"/>
          </a:xfrm>
          <a:prstGeom prst="roundRect">
            <a:avLst>
              <a:gd name="adj" fmla="val 1905"/>
            </a:avLst>
          </a:prstGeom>
          <a:solidFill>
            <a:srgbClr val="FFD6BA"/>
          </a:solidFill>
          <a:ln w="12700">
            <a:solidFill>
              <a:srgbClr val="FFD6B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699248" y="3877056"/>
            <a:ext cx="64008" cy="1920240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918704" y="3968496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Un semestre no es una tendencia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918704" y="4206240"/>
            <a:ext cx="348386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serie es muy volátil: Irlanda ha ido de 2,1 % a 20,1 % desde 2022 y Francia de 4,6 % a 17,3 %. La media de los tres últimos años deja a España en 8,5 %, en línea con la zona euro. Leer un dato suelto como señal estructural es un error.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621792" y="6053328"/>
            <a:ext cx="10945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BCE, encuesta SAFE, preguntas Q7B (resultado de la solicitud) y Q7A. Denominador: empresas que SOLICITARON ese instrumento, no el total de empresas; media ponderada. Las filas no suman 100 %: se omiten la solicitud aún pendiente y la respuesta «no sabe», que en Portugal y Francia pesan varios puntos. La SAFE segmenta por número de empleados (&lt;250), no por importe del préstamo como el MIR: no son filas promediables. Datos en transversal/safe_rechazo.csv.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40112" y="2743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bankinter</a:t>
            </a:r>
            <a:pPr algn="r" indent="0" marL="0">
              <a:buNone/>
            </a:pPr>
            <a:r>
              <a:rPr lang="en-US" sz="13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420624"/>
            <a:ext cx="92080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Reconciliación: el ROE de PYME frente a la rentabilidad de grupo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060704"/>
            <a:ext cx="10945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Por qué el ROE modelizado del segmento PYME España no es comparable sin más con el RoTE que titula cada banco · Datos a junio de 2025, beneficio anualizado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1664208"/>
          <a:ext cx="10945368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691640"/>
                <a:gridCol w="1536192"/>
                <a:gridCol w="1600200"/>
                <a:gridCol w="1490472"/>
                <a:gridCol w="1581912"/>
                <a:gridCol w="135331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Banco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ROE PYME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España (modelo)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ROE de grupo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sobre CET1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RoTE de grupo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(patr. tangible)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Cuña por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denominador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Brecha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PYME − grupo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Peso de la RWA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PYME en el grupo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Bankinter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20,7 %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19,6 %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18,2 %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1,4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+1,1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17,6 %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Sabadell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20,2 %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18,8 %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15,9 %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3,0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+1,4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10,5 %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CaixaBank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17,7 %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19,9 %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17,4 %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2,5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−2,2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6B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9,9 %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BBVA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13,2 %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21,0 %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18,4 %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2,7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−7,8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4,5 %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Santander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14,2 %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16,8 %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14,6 %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2,2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−2,6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6B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3,2 %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21792" y="3950208"/>
            <a:ext cx="10945368" cy="566928"/>
          </a:xfrm>
          <a:prstGeom prst="roundRect">
            <a:avLst>
              <a:gd name="adj" fmla="val 8065"/>
            </a:avLst>
          </a:prstGeom>
          <a:solidFill>
            <a:srgbClr val="E5E5E5"/>
          </a:solidFill>
          <a:ln w="12700">
            <a:solidFill>
              <a:srgbClr val="CACAC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21792" y="3950208"/>
            <a:ext cx="54864" cy="566928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401421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Perímetro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2999232" y="4005072"/>
            <a:ext cx="8339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ROE modelizado es de la cartera PYME ESPAÑOLA. El RoTE de grupo incluye México, Brasil, Reino Unido y Turquía. Por eso la brecha de BBVA es de 7,8 pp: su grupo rinde más que su negocio PYME en España, no menos.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21792" y="4590288"/>
            <a:ext cx="10945368" cy="566928"/>
          </a:xfrm>
          <a:prstGeom prst="roundRect">
            <a:avLst>
              <a:gd name="adj" fmla="val 8065"/>
            </a:avLst>
          </a:prstGeom>
          <a:solidFill>
            <a:srgbClr val="E5E5E5"/>
          </a:solidFill>
          <a:ln w="12700">
            <a:solidFill>
              <a:srgbClr val="CACAC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21792" y="4590288"/>
            <a:ext cx="54864" cy="566928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465429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Denominador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999232" y="4645152"/>
            <a:ext cx="8339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modelo divide por capital regulatorio asignado (CET1 % × RWA PYME). El RoTE divide por patrimonio neto tangible, que es mayor. A igual beneficio, dividir por CET1 sube el ratio entre 1,4 y 3,0 pp.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21792" y="5230368"/>
            <a:ext cx="10945368" cy="566928"/>
          </a:xfrm>
          <a:prstGeom prst="roundRect">
            <a:avLst>
              <a:gd name="adj" fmla="val 8065"/>
            </a:avLst>
          </a:prstGeom>
          <a:solidFill>
            <a:srgbClr val="E5E5E5"/>
          </a:solidFill>
          <a:ln w="12700">
            <a:solidFill>
              <a:srgbClr val="CACAC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21792" y="5230368"/>
            <a:ext cx="54864" cy="566928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529437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de la cuenta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99232" y="5285232"/>
            <a:ext cx="8339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modelo recoge margen, comisiones, gastos y coste del riesgo de la cartera. El resultado de grupo añade ROF, puesta en equivalencia, saneamientos extraordinarios y el gravamen a la banca.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21792" y="5852160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Para los tres bancos domésticos la brecha cabe en ±1,5 pp: el segmento PYME español rinde como el grupo. La lectura correcta de la tabla es esa, no el ranking.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621792" y="6053328"/>
            <a:ext cx="10945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EBA, EU-wide Transparency Exercise 2025 (tr_oth.csv), periodo 202506: resultado atribuido (2520336), CET1 (2520102), patrimonio total (2521216), intangibles (2520110), RWA (2520138). El RoTE de la tabla es CÁLCULO PROPIO sobre el EBA, no la cifra titulada por cada banco: las páginas de relación con inversores no son accesibles desde este entorno (ver notas.md). ROE PYME: modelo propio, comparables_bancos/reconciliacion_rote.csv.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40112" y="2743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bankinter</a:t>
            </a:r>
            <a:pPr algn="r" indent="0" marL="0">
              <a:buNone/>
            </a:pPr>
            <a:r>
              <a:rPr lang="en-US" sz="13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420624"/>
            <a:ext cx="92080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capital de la PYME no lo fija el riesgo, lo fija el modelo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060704"/>
            <a:ext cx="10945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Densidad de RWA de la cartera PYME separando método estándar de IRB · Sistemas bancarios supervisados por cada país · Junio de 2025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21792" y="1664208"/>
          <a:ext cx="69037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1792" y="4297680"/>
            <a:ext cx="6903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Cuánto ahorra el IRB frente al estándar, y cuánta cartera lo usa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4590288"/>
          <a:ext cx="6903720" cy="914400"/>
        </p:xfrm>
        <a:graphic>
          <a:graphicData uri="http://schemas.openxmlformats.org/drawingml/2006/table">
            <a:tbl>
              <a:tblPr/>
              <a:tblGrid>
                <a:gridCol w="1929384"/>
                <a:gridCol w="1664208"/>
                <a:gridCol w="1664208"/>
                <a:gridCol w="1645920"/>
              </a:tblGrid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Ahorro del IRB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Cartera en IRB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Densidad total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España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7,6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46,2 %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59,5 %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Alemania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35,9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85,5 %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35,3 %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Francia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31,9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76,0 %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43,0 %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Italia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28,6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69,7 %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46,3 %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Portugal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25,2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6B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45,3 %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61,3 %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P. Bajos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34,9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93,5 %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37,2 %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Irlanda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12,5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58,2 %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70,0 %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99248" y="1664208"/>
            <a:ext cx="3867912" cy="2148840"/>
          </a:xfrm>
          <a:prstGeom prst="roundRect">
            <a:avLst>
              <a:gd name="adj" fmla="val 1702"/>
            </a:avLst>
          </a:prstGeom>
          <a:solidFill>
            <a:srgbClr val="FFF4C2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699248" y="1664208"/>
            <a:ext cx="64008" cy="2148840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918704" y="1755648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IRB español apenas ahorra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7918704" y="1993392"/>
            <a:ext cx="3483864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 España el modelo interno rebaja la densidad solo 7,6 pp (63,0 % → 55,4 %). En Alemania la rebaja 35,9 pp. La densidad IRB española (55,4 %) es la segunda más alta de los siete, solo por detrás de Irlanda, y está por encima de la densidad TOTAL de Alemania (35,3 %), Francia (43,0 %) o Italia (46,3 %): el banco español con modelo aprobado consume más capital que el alemán medio.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7699248" y="3931920"/>
            <a:ext cx="3867912" cy="1865376"/>
          </a:xfrm>
          <a:prstGeom prst="roundRect">
            <a:avLst>
              <a:gd name="adj" fmla="val 1961"/>
            </a:avLst>
          </a:prstGeom>
          <a:solidFill>
            <a:srgbClr val="FFD6BA"/>
          </a:solidFill>
          <a:ln w="12700">
            <a:solidFill>
              <a:srgbClr val="FFD6B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699248" y="3931920"/>
            <a:ext cx="64008" cy="1865376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918704" y="4023360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Los 24,2 pp frente a Alemania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918704" y="4261104"/>
            <a:ext cx="348386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Solo 3,0 pp vienen de tener menos cartera en IRB (46,2 % frente a 85,5 %). 11,7 pp vienen de la CALIBRACIÓN de los modelos y 9,5 pp de la interacción de las dos cosas. No es un problema de volumen modelizado: es un problema de qué devuelve el modelo.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621792" y="6053328"/>
            <a:ext cx="10945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EBA, EU-wide Transparency Exercise 2025 (tr_cre.csv), junio 2025, dimensión Portfolio (1 = estándar, 2 = IRB), partidas 2520523 (valor de exposición PYME) y 2520533 (RWA PYME), contraparte total. Densidad = RWA / valor de exposición. Descomposición propia. Datos en transversal/eba_te_pyme_sa_irb.csv.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40112" y="2743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bankinter</a:t>
            </a:r>
            <a:pPr algn="r" indent="0" marL="0">
              <a:buNone/>
            </a:pPr>
            <a:r>
              <a:rPr lang="en-US" sz="13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420624"/>
            <a:ext cx="92080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Irlanda en factoring: el dato está congelado, no es un mercado plano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060704"/>
            <a:ext cx="10945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Volumen cedido anual publicado por la EU Federation for Factoring · La serie irlandesa repite el mismo importe desde 2021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21792" y="1664208"/>
          <a:ext cx="690372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1792" y="429768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Volumen cedido, millones de euros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21792" y="4590288"/>
            <a:ext cx="6903720" cy="1188720"/>
          </a:xfrm>
          <a:prstGeom prst="roundRect">
            <a:avLst>
              <a:gd name="adj" fmla="val 3846"/>
            </a:avLst>
          </a:prstGeom>
          <a:solidFill>
            <a:srgbClr val="FFF4C2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1792" y="4590288"/>
            <a:ext cx="64008" cy="1188720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4681728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Desde 2017 la EUF solo ha publicado 3 importes distintos para Irlanda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4974336"/>
            <a:ext cx="6492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26.294 en 2017 y 2018 · 28.424 en 2019 y 2020 · 28.617 en 2021, 2022, 2023, 2024 y 2025. 5 años consecutivos con el mismo número. La variación anual que publica la tabla es 0,0 % por construcción, no por comportamiento del mercado.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699248" y="1664208"/>
            <a:ext cx="3867912" cy="2029968"/>
          </a:xfrm>
          <a:prstGeom prst="roundRect">
            <a:avLst>
              <a:gd name="adj" fmla="val 1802"/>
            </a:avLst>
          </a:prstGeom>
          <a:solidFill>
            <a:srgbClr val="FFF4C2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99248" y="1664208"/>
            <a:ext cx="64008" cy="2029968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18704" y="1755648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propia EUF lo advierte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918704" y="1993392"/>
            <a:ext cx="348386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tabla marca a Irlanda con la nota (3): «Estimates of the turnover — the previous year's turnover implemented». Es decir, se arrastra el importe del año anterior. Y la serie histórica la etiqueta como «EUF member till 2018»: desde 2019 no hay asociación nacional que reporte el dato irlandés.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7699248" y="3767328"/>
            <a:ext cx="3867912" cy="2011680"/>
          </a:xfrm>
          <a:prstGeom prst="roundRect">
            <a:avLst>
              <a:gd name="adj" fmla="val 1818"/>
            </a:avLst>
          </a:prstGeom>
          <a:solidFill>
            <a:srgbClr val="FFD6BA"/>
          </a:solidFill>
          <a:ln w="12700">
            <a:solidFill>
              <a:srgbClr val="FFD6B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99248" y="3767328"/>
            <a:ext cx="64008" cy="2011680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918704" y="3858768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Qué no se puede decir con este dato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918704" y="4096512"/>
            <a:ext cx="348386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 se puede leer el nivel irlandés como medida del mercado, ni su crecimiento (es cero por construcción), ni su cuota europea (1,1 %), ni su penetración sobre el PIB (4,5 %, la menor de los siete), porque el numerador está congelado y el denominador no. Irlanda debe salir de cualquier ranking de factoring o llevar la marca del arrastre.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621792" y="6053328"/>
            <a:ext cx="10945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EUF, EU Federation for Factoring: tabla anual a 31 de diciembre de 2025 y fichero «EU Turnover per country since 2007». Mismo arrastre, con menos años, en Estonia, Finlandia, Luxemburgo, Malta y Suecia. Serie completa en factoring_confirming/euf_historico.csv.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40112" y="2743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bankinter</a:t>
            </a:r>
            <a:pPr algn="r" indent="0" marL="0">
              <a:buNone/>
            </a:pPr>
            <a:r>
              <a:rPr lang="en-US" sz="13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420624"/>
            <a:ext cx="92080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 que publican los bancos, en % de la inversión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060704"/>
            <a:ext cx="10945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Las mismas cuentas de la lámina anterior divididas por la inversión crediticia de su propio perímetro y anualizadas · Commerzbank publica trimestre (×4), el resto semestre (×2)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1664208"/>
          <a:ext cx="10945368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914400"/>
                <a:gridCol w="1874520"/>
                <a:gridCol w="1143000"/>
                <a:gridCol w="960120"/>
                <a:gridCol w="960120"/>
                <a:gridCol w="1051560"/>
                <a:gridCol w="914400"/>
                <a:gridCol w="841248"/>
                <a:gridCol w="8686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Banco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País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Perímetro publicado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Inversión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M€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Ingresos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M. intereses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Comisiones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Costes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Coste riesgo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BAI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Commerzbank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Alemania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Corporate Clients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123.000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4,01 %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2,15 %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1,22 %</a:t>
                      </a:r>
                      <a:endParaRPr lang="en-US" sz="10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n/d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n/d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n/d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ABN AMRO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P. Bajos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Corporate Banking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86.900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3,90 %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2,52 %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0,99 %</a:t>
                      </a:r>
                      <a:endParaRPr lang="en-US" sz="10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2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1,93 %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15 pb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1,82 %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Intesa Sanpaolo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Italia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Banca dei Territori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219.966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5,64 %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n/d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n/d</a:t>
                      </a:r>
                      <a:endParaRPr lang="en-US" sz="10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2,63 %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48 pb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2,53 %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CaixaBank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España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Grupo consolidado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406.233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4,11 %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2,65 %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1,02 %</a:t>
                      </a:r>
                      <a:endParaRPr lang="en-US" sz="10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1,63 %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24 pb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2,24 %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BPER Banca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Italia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Grupo consolidado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129.216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6,00 %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3,42 %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2,09 %</a:t>
                      </a:r>
                      <a:endParaRPr lang="en-US" sz="10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2,48 %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27 pb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3,24 %</a:t>
                      </a:r>
                      <a:endParaRPr lang="en-US" sz="9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21792" y="3675888"/>
            <a:ext cx="146304" cy="146304"/>
          </a:xfrm>
          <a:prstGeom prst="rect">
            <a:avLst/>
          </a:prstGeom>
          <a:solidFill>
            <a:srgbClr val="FFD200"/>
          </a:solidFill>
          <a:ln w="12700">
            <a:solidFill>
              <a:srgbClr val="CACAC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36210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perímetro = segmento de empresas publicado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4782312" y="3675888"/>
            <a:ext cx="146304" cy="146304"/>
          </a:xfrm>
          <a:prstGeom prst="rect">
            <a:avLst/>
          </a:prstGeom>
          <a:solidFill>
            <a:srgbClr val="FFF4C2"/>
          </a:solidFill>
          <a:ln w="12700">
            <a:solidFill>
              <a:srgbClr val="CACAC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01768" y="36210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perímetro = grupo, no segmento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21792" y="3986784"/>
            <a:ext cx="5321808" cy="1755648"/>
          </a:xfrm>
          <a:prstGeom prst="roundRect">
            <a:avLst>
              <a:gd name="adj" fmla="val 2083"/>
            </a:avLst>
          </a:prstGeom>
          <a:solidFill>
            <a:srgbClr val="FFF4C2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21792" y="3986784"/>
            <a:ext cx="64008" cy="1755648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40782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supuesto de 87 pb no infla el modelo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4315968"/>
            <a:ext cx="49377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cuenta de la lámina 7 supone 0,87 % de comisiones sobre el saldo medio. Los dos únicos segmentos de empresas publicados ganan MÁS: Commerzbank 1,22 % y ABN AMRO 0,99 %. El supuesto está en el extremo bajo de lo que una franquicia de banca de empresas cobra por euro prestado, así que no está regalando ROE al modelo.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245352" y="3986784"/>
            <a:ext cx="5321808" cy="1755648"/>
          </a:xfrm>
          <a:prstGeom prst="roundRect">
            <a:avLst>
              <a:gd name="adj" fmla="val 2083"/>
            </a:avLst>
          </a:prstGeom>
          <a:solidFill>
            <a:srgbClr val="FFD6BA"/>
          </a:solidFill>
          <a:ln w="12700">
            <a:solidFill>
              <a:srgbClr val="FFD6B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245352" y="3986784"/>
            <a:ext cx="64008" cy="1755648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64808" y="40782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«Ingresos / inversión» NO es un margen de préstamo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464808" y="4315968"/>
            <a:ext cx="49377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numerador es el ingreso de TODO el segmento -margen de depósitos y transaccional incluidos- y el denominador solo los préstamos. Banca dei Territori lo enseña en caricatura: 5,64 % sobre préstamos, porque lleva dentro gestión de activos y seguros. Por eso BPER, que es grupo, dobla en comisiones (2,09 %) a los segmentos de empresas.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621792" y="6053328"/>
            <a:ext cx="10945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Comunicado Q2 2026 de Commerzbank; informe intermedio Q2 2026 de ABN AMRO; resultados 1S26 de Intesa Sanpaolo e informe semestral a 30-jun-2026 (p. 72) para los préstamos de Banca dei Territori; Actividad y Resultados 1S26 de CaixaBank; resultados 1S26 de BPER e informe intermedio consolidado a 30-jun-2026 (p. 34) para los préstamos. Denominador: cartera media en Commerzbank; media de los dos cierres en Intesa y BPER; saldo final en ABN AMRO y CaixaBank. CaixaBank lo publica BRUTO y el resto NETO: con su mora del 1,78 %, el neto subiría sus ratios uno o dos puntos básicos. Datos en comparables_bancos/comparables_ratios.csv.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40112" y="2743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bankinter</a:t>
            </a:r>
            <a:pPr algn="r" indent="0" marL="0">
              <a:buNone/>
            </a:pPr>
            <a:r>
              <a:rPr lang="en-US" sz="13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420624"/>
            <a:ext cx="92080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Información, margen y riesgo de los siete mercados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060704"/>
            <a:ext cx="10945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Cada burbuja es un país · Eje horizontal: cuánto se puede saber del cliente antes de conceder · Eje vertical: margen bruto del préstamo PYME · Tamaño y color: coste del riesgo PD × LGD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481328" y="1755648"/>
            <a:ext cx="630936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CACAC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81328" y="4882896"/>
            <a:ext cx="6309360" cy="7315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478231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3,5 %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481328" y="4303776"/>
            <a:ext cx="6309360" cy="7315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76656" y="420319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4,0 %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481328" y="3724656"/>
            <a:ext cx="6309360" cy="7315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6656" y="362407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4,5 %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481328" y="3145536"/>
            <a:ext cx="6309360" cy="7315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" y="304495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5,0 %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481328" y="2566416"/>
            <a:ext cx="6309360" cy="7315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6656" y="246583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5,5 %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481328" y="1987296"/>
            <a:ext cx="6309360" cy="7315"/>
          </a:xfrm>
          <a:prstGeom prst="rect">
            <a:avLst/>
          </a:prstGeom>
          <a:solidFill>
            <a:srgbClr val="E5E5E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" y="188671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6,0 %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2067375" y="5285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20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3501321" y="5285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40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935266" y="5285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60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6369212" y="5285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80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424678" y="1755648"/>
            <a:ext cx="10973" cy="3474720"/>
          </a:xfrm>
          <a:prstGeom prst="rect">
            <a:avLst/>
          </a:prstGeom>
          <a:solidFill>
            <a:srgbClr val="A1A1A1"/>
          </a:solidFill>
          <a:ln w="12700">
            <a:solidFill>
              <a:srgbClr val="A1A1A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81328" y="4002634"/>
            <a:ext cx="6309360" cy="10973"/>
          </a:xfrm>
          <a:prstGeom prst="rect">
            <a:avLst/>
          </a:prstGeom>
          <a:solidFill>
            <a:srgbClr val="A1A1A1"/>
          </a:solidFill>
          <a:ln w="12700">
            <a:solidFill>
              <a:srgbClr val="A1A1A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79542" y="5010912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1A1A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media 63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1536192" y="3801466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1A1A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media 4,26 %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6373368" y="47548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mucha información</a:t>
            </a:r>
            <a:endParaRPr lang="en-US" sz="7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75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poco margen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347051" y="4681728"/>
            <a:ext cx="356006" cy="356006"/>
          </a:xfrm>
          <a:prstGeom prst="ellipse">
            <a:avLst/>
          </a:prstGeom>
          <a:solidFill>
            <a:srgbClr val="FFAB70"/>
          </a:solidFill>
          <a:ln w="22225">
            <a:solidFill>
              <a:srgbClr val="2B2B2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487515" y="4759147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España</a:t>
            </a:r>
            <a:pPr algn="r" indent="0" marL="0">
              <a:lnSpc>
                <a:spcPct val="95000"/>
              </a:lnSpc>
              <a:buNone/>
            </a:pPr>
            <a:endParaRPr lang="en-US" sz="900" dirty="0"/>
          </a:p>
          <a:p>
            <a:pPr algn="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0,59 %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61093" y="3982923"/>
            <a:ext cx="247904" cy="247904"/>
          </a:xfrm>
          <a:prstGeom prst="ellipse">
            <a:avLst/>
          </a:prstGeom>
          <a:solidFill>
            <a:srgbClr val="77BFEE"/>
          </a:solidFill>
          <a:ln w="6350">
            <a:solidFill>
              <a:srgbClr val="77BFE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91293" y="4125163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Alemania</a:t>
            </a:r>
            <a:pPr algn="l" indent="0" marL="0">
              <a:lnSpc>
                <a:spcPct val="95000"/>
              </a:lnSpc>
              <a:buNone/>
            </a:pPr>
            <a:endParaRPr lang="en-US" sz="9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0,40 %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901488" y="4760366"/>
            <a:ext cx="407213" cy="407213"/>
          </a:xfrm>
          <a:prstGeom prst="ellipse">
            <a:avLst/>
          </a:prstGeom>
          <a:solidFill>
            <a:srgbClr val="FF8AC2"/>
          </a:solidFill>
          <a:ln w="6350">
            <a:solidFill>
              <a:srgbClr val="FF8AC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390997" y="4781093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Francia</a:t>
            </a:r>
            <a:pPr algn="l" indent="0" marL="0">
              <a:lnSpc>
                <a:spcPct val="95000"/>
              </a:lnSpc>
              <a:buNone/>
            </a:pPr>
            <a:endParaRPr lang="en-US" sz="9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0,68 %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348430" y="3614318"/>
            <a:ext cx="475488" cy="475488"/>
          </a:xfrm>
          <a:prstGeom prst="ellipse">
            <a:avLst/>
          </a:prstGeom>
          <a:solidFill>
            <a:srgbClr val="FF8AC2"/>
          </a:solidFill>
          <a:ln w="6350">
            <a:solidFill>
              <a:srgbClr val="FF8AC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906214" y="3632606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Italia</a:t>
            </a:r>
            <a:pPr algn="l" indent="0" marL="0">
              <a:lnSpc>
                <a:spcPct val="95000"/>
              </a:lnSpc>
              <a:buNone/>
            </a:pPr>
            <a:endParaRPr lang="en-US" sz="9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0,80 %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379824" y="4070299"/>
            <a:ext cx="304800" cy="304800"/>
          </a:xfrm>
          <a:prstGeom prst="ellipse">
            <a:avLst/>
          </a:prstGeom>
          <a:solidFill>
            <a:srgbClr val="FFAB70"/>
          </a:solidFill>
          <a:ln w="6350">
            <a:solidFill>
              <a:srgbClr val="FFAB7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20288" y="4103827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Portugal</a:t>
            </a:r>
            <a:pPr algn="r" indent="0" marL="0">
              <a:lnSpc>
                <a:spcPct val="95000"/>
              </a:lnSpc>
              <a:buNone/>
            </a:pPr>
            <a:endParaRPr lang="en-US" sz="900" dirty="0"/>
          </a:p>
          <a:p>
            <a:pPr algn="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0,50 %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55335" y="3800246"/>
            <a:ext cx="219456" cy="219456"/>
          </a:xfrm>
          <a:prstGeom prst="ellipse">
            <a:avLst/>
          </a:prstGeom>
          <a:solidFill>
            <a:srgbClr val="77BFEE"/>
          </a:solidFill>
          <a:ln w="6350">
            <a:solidFill>
              <a:srgbClr val="77BFE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95799" y="349849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P. Bajos</a:t>
            </a:r>
            <a:pPr algn="r" indent="0" marL="0">
              <a:lnSpc>
                <a:spcPct val="95000"/>
              </a:lnSpc>
              <a:buNone/>
            </a:pPr>
            <a:endParaRPr lang="en-US" sz="900" dirty="0"/>
          </a:p>
          <a:p>
            <a:pPr algn="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0,35 %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57309" y="2013915"/>
            <a:ext cx="247904" cy="247904"/>
          </a:xfrm>
          <a:prstGeom prst="ellipse">
            <a:avLst/>
          </a:prstGeom>
          <a:solidFill>
            <a:srgbClr val="77BFEE"/>
          </a:solidFill>
          <a:ln w="6350">
            <a:solidFill>
              <a:srgbClr val="77BFE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197773" y="1954987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Irlanda</a:t>
            </a:r>
            <a:pPr algn="r" indent="0" marL="0">
              <a:lnSpc>
                <a:spcPct val="95000"/>
              </a:lnSpc>
              <a:buNone/>
            </a:pPr>
            <a:endParaRPr lang="en-US" sz="900" dirty="0"/>
          </a:p>
          <a:p>
            <a:pPr algn="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0,40 %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481328" y="5486400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Índice de información para la selección (0–100)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148132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Margen bruto, % del saldo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1481328" y="5797296"/>
            <a:ext cx="164592" cy="164592"/>
          </a:xfrm>
          <a:prstGeom prst="ellipse">
            <a:avLst/>
          </a:prstGeom>
          <a:solidFill>
            <a:srgbClr val="77BFEE"/>
          </a:solidFill>
          <a:ln w="12700">
            <a:solidFill>
              <a:srgbClr val="77BFE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719072" y="576072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coste del riesgo &lt; 0,45 %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630168" y="5797296"/>
            <a:ext cx="164592" cy="164592"/>
          </a:xfrm>
          <a:prstGeom prst="ellipse">
            <a:avLst/>
          </a:prstGeom>
          <a:solidFill>
            <a:srgbClr val="FFAB70"/>
          </a:solidFill>
          <a:ln w="12700">
            <a:solidFill>
              <a:srgbClr val="FFAB7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867912" y="576072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0,45 a 0,65 %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779008" y="5797296"/>
            <a:ext cx="164592" cy="164592"/>
          </a:xfrm>
          <a:prstGeom prst="ellipse">
            <a:avLst/>
          </a:prstGeom>
          <a:solidFill>
            <a:srgbClr val="FF8AC2"/>
          </a:solidFill>
          <a:ln w="12700">
            <a:solidFill>
              <a:srgbClr val="FF8AC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016752" y="576072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&gt; 0,65 %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065008" y="1755648"/>
            <a:ext cx="3502152" cy="2176272"/>
          </a:xfrm>
          <a:prstGeom prst="roundRect">
            <a:avLst>
              <a:gd name="adj" fmla="val 1681"/>
            </a:avLst>
          </a:prstGeom>
          <a:solidFill>
            <a:srgbClr val="FFF4C2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065008" y="1755648"/>
            <a:ext cx="64008" cy="2176272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284464" y="1847088"/>
            <a:ext cx="3118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España está en el cuadrante malo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8284464" y="2084832"/>
            <a:ext cx="31181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Tiene información por encima de la media (64,4 frente a 63) y el segundo margen más bajo de los siete (3,52 %). Gana 0,77 pp menos de margen del que le correspondería por su nivel de información: la mayor brecha de los siete. Tiene con qué seleccionar y no lo cobra.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8065008" y="4005072"/>
            <a:ext cx="3502152" cy="1810512"/>
          </a:xfrm>
          <a:prstGeom prst="roundRect">
            <a:avLst>
              <a:gd name="adj" fmla="val 2020"/>
            </a:avLst>
          </a:prstGeom>
          <a:solidFill>
            <a:srgbClr val="FFD6BA"/>
          </a:solidFill>
          <a:ln w="12700">
            <a:solidFill>
              <a:srgbClr val="FFD6B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065008" y="4005072"/>
            <a:ext cx="64008" cy="1810512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284464" y="4096512"/>
            <a:ext cx="3118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 que el mapa NO dice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4334256"/>
            <a:ext cx="31181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Que más información dé más margen. La correlación de los siete es 0,68, pero descansa en los dos extremos: quitando Irlanda y Francia a la vez baja a 0,18. Por eso hay cuadrantes y no recta de ajuste. Tampoco compra riesgo: información contra coste del riesgo es -0,24; el eje que sí lo explica es el de recobro (-0,72).</a:t>
            </a:r>
            <a:endParaRPr lang="en-US" sz="850" dirty="0"/>
          </a:p>
        </p:txBody>
      </p:sp>
      <p:sp>
        <p:nvSpPr>
          <p:cNvPr id="57" name="Text 55"/>
          <p:cNvSpPr txBox="1"/>
          <p:nvPr/>
        </p:nvSpPr>
        <p:spPr>
          <a:xfrm>
            <a:off x="621792" y="6053328"/>
            <a:ext cx="10945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Información: índice propio 0–100 de cuatro componentes (profundidad de información crediticia y cobertura del bureau, Banco Mundial Doing Business 2020; utilidad del registro público para PYME y disponibilidad de cuentas depositadas, ordinales propios sobre normativa vigente). Margen bruto: ingreso total menos coste de los recursos, lámina 7. Coste del riesgo: PD × LGD de la clase IRB de PYME, EBA COREP C 9.02 2026-Q1 — es pérdida esperada anual, no el stock de dudosos. El residuo de España es negativo en las 22 especificaciones probadas (de −0,92 a −0,11 pp). Siete puntos: lectura descriptiva, no causal. Datos en transversal/mapa_info_margen.csv.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Analisis PYME Europa</dc:creator>
  <cp:lastModifiedBy>Analisis PYME Europa</cp:lastModifiedBy>
  <cp:revision>1</cp:revision>
  <dcterms:created xsi:type="dcterms:W3CDTF">2026-09-22T13:15:54Z</dcterms:created>
  <dcterms:modified xsi:type="dcterms:W3CDTF">2026-09-22T13:15:54Z</dcterms:modified>
</cp:coreProperties>
</file>