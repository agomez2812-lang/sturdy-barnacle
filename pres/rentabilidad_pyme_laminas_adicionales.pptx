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3048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0.59</c:v>
                </c:pt>
                <c:pt idx="1">
                  <c:v>0.34</c:v>
                </c:pt>
                <c:pt idx="2">
                  <c:v>0.27</c:v>
                </c:pt>
                <c:pt idx="3">
                  <c:v>0.05</c:v>
                </c:pt>
                <c:pt idx="4">
                  <c:v>-0.03</c:v>
                </c:pt>
              </c:numCache>
            </c:numRef>
          </c:val>
          <c:smooth val="0"/>
        </c:ser>
        <c:ser>
          <c:idx val="1"/>
          <c:order val="1"/>
          <c:tx>
            <c:strRef>
              <c:f>Sheet1!$C$1</c:f>
              <c:strCache>
                <c:ptCount val="1"/>
                <c:pt idx="0">
                  <c:v>Alemania</c:v>
                </c:pt>
              </c:strCache>
            </c:strRef>
          </c:tx>
          <c:spPr>
            <a:solidFill>
              <a:srgbClr val="A1A1A1"/>
            </a:solidFill>
            <a:ln w="3048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A1A1A1"/>
              </a:solidFill>
              <a:ln w="9525" cap="flat">
                <a:solidFill>
                  <a:srgbClr val="A1A1A1"/>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0.53</c:v>
                </c:pt>
                <c:pt idx="1">
                  <c:v>1.4</c:v>
                </c:pt>
                <c:pt idx="2">
                  <c:v>1.03</c:v>
                </c:pt>
                <c:pt idx="3">
                  <c:v>1.22</c:v>
                </c:pt>
                <c:pt idx="4">
                  <c:v>1.16</c:v>
                </c:pt>
              </c:numCache>
            </c:numRef>
          </c:val>
          <c:smooth val="0"/>
        </c:ser>
        <c:ser>
          <c:idx val="2"/>
          <c:order val="2"/>
          <c:tx>
            <c:strRef>
              <c:f>Sheet1!$D$1</c:f>
              <c:strCache>
                <c:ptCount val="1"/>
                <c:pt idx="0">
                  <c:v>Francia</c:v>
                </c:pt>
              </c:strCache>
            </c:strRef>
          </c:tx>
          <c:spPr>
            <a:solidFill>
              <a:srgbClr val="77BFEE"/>
            </a:solidFill>
            <a:ln w="3048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77BFEE"/>
              </a:solidFill>
              <a:ln w="9525" cap="flat">
                <a:solidFill>
                  <a:srgbClr val="77BFEE"/>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0.33</c:v>
                </c:pt>
                <c:pt idx="1">
                  <c:v>-0.02</c:v>
                </c:pt>
                <c:pt idx="2">
                  <c:v>-0.01</c:v>
                </c:pt>
                <c:pt idx="3">
                  <c:v>0.46</c:v>
                </c:pt>
                <c:pt idx="4">
                  <c:v>0.5</c:v>
                </c:pt>
              </c:numCache>
            </c:numRef>
          </c:val>
          <c:smooth val="0"/>
        </c:ser>
        <c:ser>
          <c:idx val="3"/>
          <c:order val="3"/>
          <c:tx>
            <c:strRef>
              <c:f>Sheet1!$E$1</c:f>
              <c:strCache>
                <c:ptCount val="1"/>
                <c:pt idx="0">
                  <c:v>Italia</c:v>
                </c:pt>
              </c:strCache>
            </c:strRef>
          </c:tx>
          <c:spPr>
            <a:solidFill>
              <a:srgbClr val="FF8AC2"/>
            </a:solidFill>
            <a:ln w="3048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8AC2"/>
              </a:solidFill>
              <a:ln w="9525" cap="flat">
                <a:solidFill>
                  <a:srgbClr val="FF8AC2"/>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1.23</c:v>
                </c:pt>
                <c:pt idx="1">
                  <c:v>0.94</c:v>
                </c:pt>
                <c:pt idx="2">
                  <c:v>0.93</c:v>
                </c:pt>
                <c:pt idx="3">
                  <c:v>1.25</c:v>
                </c:pt>
                <c:pt idx="4">
                  <c:v>1.44</c:v>
                </c:pt>
              </c:numCache>
            </c:numRef>
          </c:val>
          <c:smooth val="0"/>
        </c:ser>
        <c:ser>
          <c:idx val="4"/>
          <c:order val="4"/>
          <c:tx>
            <c:strRef>
              <c:f>Sheet1!$F$1</c:f>
              <c:strCache>
                <c:ptCount val="1"/>
                <c:pt idx="0">
                  <c:v>Portugal</c:v>
                </c:pt>
              </c:strCache>
            </c:strRef>
          </c:tx>
          <c:spPr>
            <a:solidFill>
              <a:srgbClr val="FFAB70"/>
            </a:solidFill>
            <a:ln w="3048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AB70"/>
              </a:solidFill>
              <a:ln w="9525" cap="flat">
                <a:solidFill>
                  <a:srgbClr val="FFAB7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0.76</c:v>
                </c:pt>
                <c:pt idx="1">
                  <c:v>0.62</c:v>
                </c:pt>
                <c:pt idx="2">
                  <c:v>0.57</c:v>
                </c:pt>
                <c:pt idx="3">
                  <c:v>0.66</c:v>
                </c:pt>
                <c:pt idx="4">
                  <c:v>0.67</c:v>
                </c:pt>
              </c:numCache>
            </c:numRef>
          </c:val>
          <c:smooth val="0"/>
        </c:ser>
        <c:ser>
          <c:idx val="5"/>
          <c:order val="5"/>
          <c:tx>
            <c:strRef>
              <c:f>Sheet1!$G$1</c:f>
              <c:strCache>
                <c:ptCount val="1"/>
                <c:pt idx="0">
                  <c:v>P. Bajos</c:v>
                </c:pt>
              </c:strCache>
            </c:strRef>
          </c:tx>
          <c:spPr>
            <a:solidFill>
              <a:srgbClr val="6FBF9B"/>
            </a:solidFill>
            <a:ln w="30480" cap="flat">
              <a:solidFill>
                <a:srgbClr val="6FBF9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FBF9B"/>
              </a:solidFill>
              <a:ln w="9525" cap="flat">
                <a:solidFill>
                  <a:srgbClr val="6FBF9B"/>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1.61</c:v>
                </c:pt>
                <c:pt idx="1">
                  <c:v>1.56</c:v>
                </c:pt>
                <c:pt idx="2">
                  <c:v>0.87</c:v>
                </c:pt>
                <c:pt idx="3">
                  <c:v>1.01</c:v>
                </c:pt>
                <c:pt idx="4">
                  <c:v>1.2</c:v>
                </c:pt>
              </c:numCache>
            </c:numRef>
          </c:val>
          <c:smooth val="0"/>
        </c:ser>
        <c:ser>
          <c:idx val="6"/>
          <c:order val="6"/>
          <c:tx>
            <c:strRef>
              <c:f>Sheet1!$H$1</c:f>
              <c:strCache>
                <c:ptCount val="1"/>
                <c:pt idx="0">
                  <c:v>Irlanda</c:v>
                </c:pt>
              </c:strCache>
            </c:strRef>
          </c:tx>
          <c:spPr>
            <a:solidFill>
              <a:srgbClr val="CACACA"/>
            </a:solidFill>
            <a:ln w="30480" cap="flat">
              <a:solidFill>
                <a:srgbClr val="CACA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ACACA"/>
              </a:solidFill>
              <a:ln w="9525" cap="flat">
                <a:solidFill>
                  <a:srgbClr val="CACACA"/>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8"/>
          <c:min val="-0.4"/>
        </c:scaling>
        <c:delete val="0"/>
        <c:axPos val="l"/>
        <c:majorGridlines>
          <c:spPr>
            <a:ln w="12700" cap="flat">
              <a:solidFill>
                <a:srgbClr val="E3E9EB"/>
              </a:solidFill>
              <a:prstDash val="solid"/>
              <a:round/>
            </a:ln>
          </c:spPr>
        </c:majorGridlines>
        <c:numFmt formatCode="0.0&quot; pp&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rechazo</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A1A1A1"/>
              </a:solidFill>
              <a:effectLst/>
            </c:spPr>
          </c:dPt>
          <c:dPt>
            <c:idx val="2"/>
            <c:invertIfNegative val="0"/>
            <c:bubble3D val="0"/>
            <c:spPr>
              <a:solidFill>
                <a:srgbClr val="A1A1A1"/>
              </a:solidFill>
              <a:effectLst/>
            </c:spPr>
          </c:dPt>
          <c:dPt>
            <c:idx val="3"/>
            <c:invertIfNegative val="0"/>
            <c:bubble3D val="0"/>
            <c:spPr>
              <a:solidFill>
                <a:srgbClr val="A1A1A1"/>
              </a:solidFill>
              <a:effectLst/>
            </c:spPr>
          </c:dPt>
          <c:dPt>
            <c:idx val="4"/>
            <c:invertIfNegative val="0"/>
            <c:bubble3D val="0"/>
            <c:spPr>
              <a:solidFill>
                <a:srgbClr val="A1A1A1"/>
              </a:solidFill>
              <a:effectLst/>
            </c:spPr>
          </c:dPt>
          <c:dPt>
            <c:idx val="5"/>
            <c:invertIfNegative val="0"/>
            <c:bubble3D val="0"/>
            <c:spPr>
              <a:solidFill>
                <a:srgbClr val="A1A1A1"/>
              </a:solidFill>
              <a:effectLst/>
            </c:spPr>
          </c:dPt>
          <c:dPt>
            <c:idx val="6"/>
            <c:invertIfNegative val="0"/>
            <c:bubble3D val="0"/>
            <c:spPr>
              <a:solidFill>
                <a:srgbClr val="A1A1A1"/>
              </a:solidFill>
              <a:effectLst/>
            </c:spPr>
          </c:dPt>
          <c:dPt>
            <c:idx val="7"/>
            <c:invertIfNegative val="0"/>
            <c:bubble3D val="0"/>
            <c:spPr>
              <a:solidFill>
                <a:srgbClr val="CACACA"/>
              </a:solidFill>
              <a:effectLst/>
            </c:spPr>
          </c:dPt>
          <c:cat>
            <c:multiLvlStrRef>
              <c:f>Sheet1!$A$2:$A$9</c:f>
              <c:multiLvlStrCache>
                <c:ptCount val="8"/>
                <c:lvl>
                  <c:pt idx="0">
                    <c:v>España</c:v>
                  </c:pt>
                  <c:pt idx="1">
                    <c:v>Alemania</c:v>
                  </c:pt>
                  <c:pt idx="2">
                    <c:v>Francia</c:v>
                  </c:pt>
                  <c:pt idx="3">
                    <c:v>Italia</c:v>
                  </c:pt>
                  <c:pt idx="4">
                    <c:v>Portugal</c:v>
                  </c:pt>
                  <c:pt idx="5">
                    <c:v>P. Bajos</c:v>
                  </c:pt>
                  <c:pt idx="6">
                    <c:v>Irlanda</c:v>
                  </c:pt>
                  <c:pt idx="7">
                    <c:v>Zona euro</c:v>
                  </c:pt>
                </c:lvl>
              </c:multiLvlStrCache>
            </c:multiLvlStrRef>
          </c:cat>
          <c:val>
            <c:numRef>
              <c:f>Sheet1!$B$2:$B$9</c:f>
              <c:numCache>
                <c:formatCode>General</c:formatCode>
                <c:ptCount val="8"/>
                <c:pt idx="0">
                  <c:v>9.7</c:v>
                </c:pt>
                <c:pt idx="1">
                  <c:v>5.5</c:v>
                </c:pt>
                <c:pt idx="2">
                  <c:v>8.2</c:v>
                </c:pt>
                <c:pt idx="3">
                  <c:v>0.7</c:v>
                </c:pt>
                <c:pt idx="4">
                  <c:v>4.1</c:v>
                </c:pt>
                <c:pt idx="5">
                  <c:v>13.6</c:v>
                </c:pt>
                <c:pt idx="6">
                  <c:v>9.2</c:v>
                </c:pt>
                <c:pt idx="7">
                  <c:v>9.6</c:v>
                </c:pt>
              </c:numCache>
            </c:numRef>
          </c:val>
        </c:ser>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A1A1A1"/>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Irlanda</c:v>
                </c:pt>
              </c:strCache>
            </c:strRef>
          </c:tx>
          <c:spPr>
            <a:solidFill>
              <a:srgbClr val="F56600"/>
            </a:solidFill>
            <a:ln w="33020" cap="flat">
              <a:solidFill>
                <a:srgbClr val="F56600"/>
              </a:solidFill>
              <a:prstDash val="solid"/>
              <a:round/>
            </a:ln>
            <a:effectLst/>
          </c:spPr>
          <c:invertIfNegative val="0"/>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c:symbol val="circle"/>
            <c:size val="7"/>
            <c:spPr>
              <a:solidFill>
                <a:srgbClr val="F56600"/>
              </a:solidFill>
              <a:ln w="9525" cap="flat">
                <a:solidFill>
                  <a:srgbClr val="F56600"/>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25978</c:v>
                </c:pt>
                <c:pt idx="1">
                  <c:v>23952</c:v>
                </c:pt>
                <c:pt idx="2">
                  <c:v>26294</c:v>
                </c:pt>
                <c:pt idx="3">
                  <c:v>26294</c:v>
                </c:pt>
                <c:pt idx="4">
                  <c:v>28423.8</c:v>
                </c:pt>
                <c:pt idx="5">
                  <c:v>28423.8</c:v>
                </c:pt>
                <c:pt idx="6">
                  <c:v>28617</c:v>
                </c:pt>
                <c:pt idx="7">
                  <c:v>28617</c:v>
                </c:pt>
                <c:pt idx="8">
                  <c:v>28617</c:v>
                </c:pt>
                <c:pt idx="9">
                  <c:v>28617</c:v>
                </c:pt>
                <c:pt idx="10">
                  <c:v>28617</c:v>
                </c:pt>
              </c:numCache>
            </c:numRef>
          </c:val>
          <c:smooth val="0"/>
        </c:ser>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32000"/>
          <c:min val="18000"/>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 prima PYME española se ha evaporado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Diferencial de tipo entre el préstamo pequeño y el grande, préstamos a sociedades no financieras · Media anual ponderada por volumen de nueva producción · Fijación inicial total · Sin comisiones</a:t>
            </a:r>
            <a:endParaRPr lang="en-US" sz="1050" dirty="0"/>
          </a:p>
        </p:txBody>
      </p:sp>
      <p:graphicFrame>
        <p:nvGraphicFramePr>
          <p:cNvPr id="5" name="Chart 0" descr=""/>
          <p:cNvGraphicFramePr/>
          <p:nvPr/>
        </p:nvGraphicFramePr>
        <p:xfrm>
          <a:off x="621792" y="1664208"/>
          <a:ext cx="6903720" cy="340156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99248" y="1664208"/>
            <a:ext cx="3867912" cy="2487168"/>
          </a:xfrm>
          <a:prstGeom prst="roundRect">
            <a:avLst>
              <a:gd name="adj" fmla="val 2206"/>
            </a:avLst>
          </a:prstGeom>
          <a:solidFill>
            <a:srgbClr val="E5E5E5"/>
          </a:solidFill>
          <a:ln w="12700">
            <a:solidFill>
              <a:srgbClr val="CACACA"/>
            </a:solidFill>
            <a:prstDash val="solid"/>
          </a:ln>
        </p:spPr>
      </p:sp>
      <p:sp>
        <p:nvSpPr>
          <p:cNvPr id="7" name="Text 4"/>
          <p:cNvSpPr txBox="1"/>
          <p:nvPr/>
        </p:nvSpPr>
        <p:spPr>
          <a:xfrm>
            <a:off x="7882128" y="1764792"/>
            <a:ext cx="352044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Dos definiciones, misma conclusión</a:t>
            </a:r>
            <a:endParaRPr lang="en-US" sz="1250" dirty="0"/>
          </a:p>
        </p:txBody>
      </p:sp>
      <p:sp>
        <p:nvSpPr>
          <p:cNvPr id="8" name="Text 5"/>
          <p:cNvSpPr txBox="1"/>
          <p:nvPr/>
        </p:nvSpPr>
        <p:spPr>
          <a:xfrm>
            <a:off x="7882128" y="2029968"/>
            <a:ext cx="3520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Prima de los últimos 12 meses, en pp</a:t>
            </a:r>
            <a:endParaRPr lang="en-US" sz="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882128" y="2249424"/>
          <a:ext cx="3520440" cy="914400"/>
        </p:xfrm>
        <a:graphic>
          <a:graphicData uri="http://schemas.openxmlformats.org/drawingml/2006/table">
            <a:tbl>
              <a:tblPr/>
              <a:tblGrid>
                <a:gridCol w="1417320"/>
                <a:gridCol w="1051560"/>
                <a:gridCol w="1051560"/>
              </a:tblGrid>
              <a:tr h="217627">
                <a:tc>
                  <a:txBody>
                    <a:bodyPr/>
                    <a:lstStyle/>
                    <a:p>
                      <a:pPr algn="ctr"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≤0,25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≤1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7627">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7699248" y="4261104"/>
            <a:ext cx="3867912" cy="1645920"/>
          </a:xfrm>
          <a:prstGeom prst="roundRect">
            <a:avLst>
              <a:gd name="adj" fmla="val 2222"/>
            </a:avLst>
          </a:prstGeom>
          <a:solidFill>
            <a:srgbClr val="FFF4C2"/>
          </a:solidFill>
          <a:ln w="12700">
            <a:solidFill>
              <a:srgbClr val="FFE066"/>
            </a:solidFill>
            <a:prstDash val="solid"/>
          </a:ln>
        </p:spPr>
      </p:sp>
      <p:sp>
        <p:nvSpPr>
          <p:cNvPr id="11" name="Shape 7"/>
          <p:cNvSpPr/>
          <p:nvPr/>
        </p:nvSpPr>
        <p:spPr>
          <a:xfrm>
            <a:off x="7699248" y="4261104"/>
            <a:ext cx="64008" cy="1645920"/>
          </a:xfrm>
          <a:prstGeom prst="rect">
            <a:avLst/>
          </a:prstGeom>
          <a:solidFill>
            <a:srgbClr val="F56600"/>
          </a:solidFill>
          <a:ln w="12700">
            <a:solidFill>
              <a:srgbClr val="F56600"/>
            </a:solidFill>
            <a:prstDash val="solid"/>
          </a:ln>
        </p:spPr>
      </p:sp>
      <p:sp>
        <p:nvSpPr>
          <p:cNvPr id="12" name="Text 8"/>
          <p:cNvSpPr txBox="1"/>
          <p:nvPr/>
        </p:nvSpPr>
        <p:spPr>
          <a:xfrm>
            <a:off x="7918704" y="4352544"/>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Dejamos de cobrar por el tamaño</a:t>
            </a:r>
            <a:endParaRPr lang="en-US" sz="1100" dirty="0"/>
          </a:p>
        </p:txBody>
      </p:sp>
      <p:sp>
        <p:nvSpPr>
          <p:cNvPr id="13" name="Text 9"/>
          <p:cNvSpPr txBox="1"/>
          <p:nvPr/>
        </p:nvSpPr>
        <p:spPr>
          <a:xfrm>
            <a:off x="7918704" y="4590288"/>
            <a:ext cx="3483864" cy="120700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de los siete donde la prima llega a cero: de +0,59 pp en 2022 a −0,03 pp en los últimos 12 meses. 8 de los 55 meses de la serie tienen prima NEGATIVA: el préstamo pequeño sale más barato que el grande. Italia va en sentido contrario (+1,23 → +1,39 pp).</a:t>
            </a:r>
            <a:endParaRPr lang="en-US" sz="850" dirty="0"/>
          </a:p>
        </p:txBody>
      </p:sp>
      <p:sp>
        <p:nvSpPr>
          <p:cNvPr id="14" name="Text 10"/>
          <p:cNvSpPr txBox="1"/>
          <p:nvPr/>
        </p:nvSpPr>
        <p:spPr>
          <a:xfrm>
            <a:off x="621792" y="5138928"/>
            <a:ext cx="6903720" cy="6400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Es una prima de tamaño de OPERACIÓN, no de tamaño de empresa: el MIR segmenta por importe del préstamo. Un préstamo de 800.000 € a una empresa grande cuenta como «pequeño».</a:t>
            </a:r>
            <a:endParaRPr lang="en-US" sz="95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(ECB Data Portal), enero 2022 a julio 2026. Media anual del diferencial mensual, ponderada por el volumen de nueva producción de los dos tramos. Serie completa en prestamos_personales/prima_pyme.csv.</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crédito se deniega: la tasa de rechazo de la SAFE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Empresas de menos de 250 empleados que solicitaron un préstamo bancario y fueron rechazadas, en % de las que solicitaron · Segunda mitad de 2025</a:t>
            </a:r>
            <a:endParaRPr lang="en-US" sz="1050" dirty="0"/>
          </a:p>
        </p:txBody>
      </p:sp>
      <p:graphicFrame>
        <p:nvGraphicFramePr>
          <p:cNvPr id="5" name="Chart 0" descr=""/>
          <p:cNvGraphicFramePr/>
          <p:nvPr/>
        </p:nvGraphicFramePr>
        <p:xfrm>
          <a:off x="621792" y="1645920"/>
          <a:ext cx="6903720" cy="2148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3877056"/>
            <a:ext cx="6903720" cy="256032"/>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Lo que la tasa de rechazo no ve: el resultado completo de la solicitud</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1792" y="4169664"/>
          <a:ext cx="6903720" cy="914400"/>
        </p:xfrm>
        <a:graphic>
          <a:graphicData uri="http://schemas.openxmlformats.org/drawingml/2006/table">
            <a:tbl>
              <a:tblPr/>
              <a:tblGrid>
                <a:gridCol w="1554480"/>
                <a:gridCol w="1069848"/>
                <a:gridCol w="1069848"/>
                <a:gridCol w="1069848"/>
                <a:gridCol w="1069848"/>
                <a:gridCol w="1069848"/>
              </a:tblGrid>
              <a:tr h="20574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solo parte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Rechazó por</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coste alto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Fue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rechazada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No 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0574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80,2 %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4,1 %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23,1 %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bl>
          </a:graphicData>
        </a:graphic>
      </p:graphicFrame>
      <p:sp>
        <p:nvSpPr>
          <p:cNvPr id="8" name="Shape 4"/>
          <p:cNvSpPr/>
          <p:nvPr/>
        </p:nvSpPr>
        <p:spPr>
          <a:xfrm>
            <a:off x="7699248" y="1645920"/>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45920"/>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37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Rechazar y encarecer son sustitutos</a:t>
            </a:r>
            <a:endParaRPr lang="en-US" sz="1100" dirty="0"/>
          </a:p>
        </p:txBody>
      </p:sp>
      <p:sp>
        <p:nvSpPr>
          <p:cNvPr id="11" name="Text 7"/>
          <p:cNvSpPr txBox="1"/>
          <p:nvPr/>
        </p:nvSpPr>
        <p:spPr>
          <a:xfrm>
            <a:off x="7918704" y="1975104"/>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Alemania es la que menos rechaza (5,5 %) y la que más raciona: 20,4 % recibe solo una parte y 7,7 % renuncia porque el precio le parece alto. Entre las dos, un 33,6 % no obtiene todo lo que pidió, casi el doble que en España. Italia casi no rechaza (0,7 %) y es la que más prima de precio cobra.</a:t>
            </a:r>
            <a:endParaRPr lang="en-US" sz="850" dirty="0"/>
          </a:p>
        </p:txBody>
      </p:sp>
      <p:sp>
        <p:nvSpPr>
          <p:cNvPr id="12" name="Shape 8"/>
          <p:cNvSpPr/>
          <p:nvPr/>
        </p:nvSpPr>
        <p:spPr>
          <a:xfrm>
            <a:off x="7699248" y="3877056"/>
            <a:ext cx="3867912" cy="1920240"/>
          </a:xfrm>
          <a:prstGeom prst="roundRect">
            <a:avLst>
              <a:gd name="adj" fmla="val 1905"/>
            </a:avLst>
          </a:prstGeom>
          <a:solidFill>
            <a:srgbClr val="FFD6BA"/>
          </a:solidFill>
          <a:ln w="12700">
            <a:solidFill>
              <a:srgbClr val="FFD6BA"/>
            </a:solidFill>
            <a:prstDash val="solid"/>
          </a:ln>
        </p:spPr>
      </p:sp>
      <p:sp>
        <p:nvSpPr>
          <p:cNvPr id="13" name="Shape 9"/>
          <p:cNvSpPr/>
          <p:nvPr/>
        </p:nvSpPr>
        <p:spPr>
          <a:xfrm>
            <a:off x="7699248" y="3877056"/>
            <a:ext cx="64008" cy="1920240"/>
          </a:xfrm>
          <a:prstGeom prst="rect">
            <a:avLst/>
          </a:prstGeom>
          <a:solidFill>
            <a:srgbClr val="F56600"/>
          </a:solidFill>
          <a:ln w="12700">
            <a:solidFill>
              <a:srgbClr val="F56600"/>
            </a:solidFill>
            <a:prstDash val="solid"/>
          </a:ln>
        </p:spPr>
      </p:sp>
      <p:sp>
        <p:nvSpPr>
          <p:cNvPr id="14" name="Text 10"/>
          <p:cNvSpPr txBox="1"/>
          <p:nvPr/>
        </p:nvSpPr>
        <p:spPr>
          <a:xfrm>
            <a:off x="7918704" y="3968496"/>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Un semestre no es una tendencia</a:t>
            </a:r>
            <a:endParaRPr lang="en-US" sz="1100" dirty="0"/>
          </a:p>
        </p:txBody>
      </p:sp>
      <p:sp>
        <p:nvSpPr>
          <p:cNvPr id="15" name="Text 11"/>
          <p:cNvSpPr txBox="1"/>
          <p:nvPr/>
        </p:nvSpPr>
        <p:spPr>
          <a:xfrm>
            <a:off x="7918704" y="4206240"/>
            <a:ext cx="3483864" cy="14813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serie es muy volátil: Irlanda ha ido de 2,1 % a 20,1 % desde 2022 y Francia de 4,6 % a 17,3 %. La media de los tres últimos años deja a España en 8,5 %, en línea con la zona euro. Leer un dato suelto como señal estructural es un error.</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encuesta SAFE, preguntas Q7B (resultado de la solicitud) y Q7A. Denominador: empresas que SOLICITARON ese instrumento, no el total de empresas; media ponderada. Las filas no suman 100 %: se omiten la solicitud aún pendiente y la respuesta «no sabe», que en Portugal y Francia pesan varios puntos. La SAFE segmenta por número de empleados (&lt;250), no por importe del préstamo como el MIR: no son filas promediables. Datos en transversal/safe_rechazo.csv.</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Reconciliación: el ROE de PYME frente a la rentabilidad de grupo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el ROE modelizado del segmento PYME España no es comparable sin más con el RoTE que titula cada banco · Datos a junio de 2025, beneficio anualizado</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691640"/>
                <a:gridCol w="1691640"/>
                <a:gridCol w="1536192"/>
                <a:gridCol w="1600200"/>
                <a:gridCol w="1490472"/>
                <a:gridCol w="1581912"/>
                <a:gridCol w="1353312"/>
              </a:tblGrid>
              <a:tr h="36576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PYME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España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sobre CET1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RoTE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(patr. tangible)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Cuña por</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denominador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Brecha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Peso de la RWA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en el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Bankinter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Sabadell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18,8 %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CaixaBank</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17,4 %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2,5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BBVA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2,7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−7,8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Santander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−2,6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950208"/>
            <a:ext cx="10945368" cy="566928"/>
          </a:xfrm>
          <a:prstGeom prst="roundRect">
            <a:avLst>
              <a:gd name="adj" fmla="val 8065"/>
            </a:avLst>
          </a:prstGeom>
          <a:solidFill>
            <a:srgbClr val="E5E5E5"/>
          </a:solidFill>
          <a:ln w="12700">
            <a:solidFill>
              <a:srgbClr val="CACACA"/>
            </a:solidFill>
            <a:prstDash val="solid"/>
          </a:ln>
        </p:spPr>
      </p:sp>
      <p:sp>
        <p:nvSpPr>
          <p:cNvPr id="7" name="Shape 4"/>
          <p:cNvSpPr/>
          <p:nvPr/>
        </p:nvSpPr>
        <p:spPr>
          <a:xfrm>
            <a:off x="621792" y="3950208"/>
            <a:ext cx="54864" cy="566928"/>
          </a:xfrm>
          <a:prstGeom prst="rect">
            <a:avLst/>
          </a:prstGeom>
          <a:solidFill>
            <a:srgbClr val="F56600"/>
          </a:solidFill>
          <a:ln w="12700">
            <a:solidFill>
              <a:srgbClr val="F56600"/>
            </a:solidFill>
            <a:prstDash val="solid"/>
          </a:ln>
        </p:spPr>
      </p:sp>
      <p:sp>
        <p:nvSpPr>
          <p:cNvPr id="8" name="Text 5"/>
          <p:cNvSpPr txBox="1"/>
          <p:nvPr/>
        </p:nvSpPr>
        <p:spPr>
          <a:xfrm>
            <a:off x="822960" y="401421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Perímetro</a:t>
            </a:r>
            <a:endParaRPr lang="en-US" sz="1100" dirty="0"/>
          </a:p>
        </p:txBody>
      </p:sp>
      <p:sp>
        <p:nvSpPr>
          <p:cNvPr id="9" name="Text 6"/>
          <p:cNvSpPr txBox="1"/>
          <p:nvPr/>
        </p:nvSpPr>
        <p:spPr>
          <a:xfrm>
            <a:off x="2999232" y="400507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ROE modelizado es de la cartera PYME ESPAÑOLA. El RoTE de grupo incluye México, Brasil, Reino Unido y Turquía. Por eso la brecha de BBVA es de 7,8 pp: su grupo rinde más que su negocio PYME en España, no menos.</a:t>
            </a:r>
            <a:endParaRPr lang="en-US" sz="900" dirty="0"/>
          </a:p>
        </p:txBody>
      </p:sp>
      <p:sp>
        <p:nvSpPr>
          <p:cNvPr id="10" name="Shape 7"/>
          <p:cNvSpPr/>
          <p:nvPr/>
        </p:nvSpPr>
        <p:spPr>
          <a:xfrm>
            <a:off x="621792" y="4590288"/>
            <a:ext cx="10945368" cy="566928"/>
          </a:xfrm>
          <a:prstGeom prst="roundRect">
            <a:avLst>
              <a:gd name="adj" fmla="val 8065"/>
            </a:avLst>
          </a:prstGeom>
          <a:solidFill>
            <a:srgbClr val="E5E5E5"/>
          </a:solidFill>
          <a:ln w="12700">
            <a:solidFill>
              <a:srgbClr val="CACACA"/>
            </a:solidFill>
            <a:prstDash val="solid"/>
          </a:ln>
        </p:spPr>
      </p:sp>
      <p:sp>
        <p:nvSpPr>
          <p:cNvPr id="11" name="Shape 8"/>
          <p:cNvSpPr/>
          <p:nvPr/>
        </p:nvSpPr>
        <p:spPr>
          <a:xfrm>
            <a:off x="621792" y="4590288"/>
            <a:ext cx="54864" cy="566928"/>
          </a:xfrm>
          <a:prstGeom prst="rect">
            <a:avLst/>
          </a:prstGeom>
          <a:solidFill>
            <a:srgbClr val="F56600"/>
          </a:solidFill>
          <a:ln w="12700">
            <a:solidFill>
              <a:srgbClr val="F56600"/>
            </a:solidFill>
            <a:prstDash val="solid"/>
          </a:ln>
        </p:spPr>
      </p:sp>
      <p:sp>
        <p:nvSpPr>
          <p:cNvPr id="12" name="Text 9"/>
          <p:cNvSpPr txBox="1"/>
          <p:nvPr/>
        </p:nvSpPr>
        <p:spPr>
          <a:xfrm>
            <a:off x="822960" y="465429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Denominador</a:t>
            </a:r>
            <a:endParaRPr lang="en-US" sz="1100" dirty="0"/>
          </a:p>
        </p:txBody>
      </p:sp>
      <p:sp>
        <p:nvSpPr>
          <p:cNvPr id="13" name="Text 10"/>
          <p:cNvSpPr txBox="1"/>
          <p:nvPr/>
        </p:nvSpPr>
        <p:spPr>
          <a:xfrm>
            <a:off x="2999232" y="464515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divide por capital regulatorio asignado (CET1 % × RWA PYME). El RoTE divide por patrimonio neto tangible, que es mayor. A igual beneficio, dividir por CET1 sube el ratio entre 1,4 y 3,0 pp.</a:t>
            </a:r>
            <a:endParaRPr lang="en-US" sz="900" dirty="0"/>
          </a:p>
        </p:txBody>
      </p:sp>
      <p:sp>
        <p:nvSpPr>
          <p:cNvPr id="14" name="Shape 11"/>
          <p:cNvSpPr/>
          <p:nvPr/>
        </p:nvSpPr>
        <p:spPr>
          <a:xfrm>
            <a:off x="621792" y="5230368"/>
            <a:ext cx="10945368" cy="566928"/>
          </a:xfrm>
          <a:prstGeom prst="roundRect">
            <a:avLst>
              <a:gd name="adj" fmla="val 8065"/>
            </a:avLst>
          </a:prstGeom>
          <a:solidFill>
            <a:srgbClr val="E5E5E5"/>
          </a:solidFill>
          <a:ln w="12700">
            <a:solidFill>
              <a:srgbClr val="CACACA"/>
            </a:solidFill>
            <a:prstDash val="solid"/>
          </a:ln>
        </p:spPr>
      </p:sp>
      <p:sp>
        <p:nvSpPr>
          <p:cNvPr id="15" name="Shape 12"/>
          <p:cNvSpPr/>
          <p:nvPr/>
        </p:nvSpPr>
        <p:spPr>
          <a:xfrm>
            <a:off x="621792" y="5230368"/>
            <a:ext cx="54864" cy="566928"/>
          </a:xfrm>
          <a:prstGeom prst="rect">
            <a:avLst/>
          </a:prstGeom>
          <a:solidFill>
            <a:srgbClr val="F56600"/>
          </a:solidFill>
          <a:ln w="12700">
            <a:solidFill>
              <a:srgbClr val="F56600"/>
            </a:solidFill>
            <a:prstDash val="solid"/>
          </a:ln>
        </p:spPr>
      </p:sp>
      <p:sp>
        <p:nvSpPr>
          <p:cNvPr id="16" name="Text 13"/>
          <p:cNvSpPr txBox="1"/>
          <p:nvPr/>
        </p:nvSpPr>
        <p:spPr>
          <a:xfrm>
            <a:off x="822960" y="529437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de la cuenta</a:t>
            </a:r>
            <a:endParaRPr lang="en-US" sz="1100" dirty="0"/>
          </a:p>
        </p:txBody>
      </p:sp>
      <p:sp>
        <p:nvSpPr>
          <p:cNvPr id="17" name="Text 14"/>
          <p:cNvSpPr txBox="1"/>
          <p:nvPr/>
        </p:nvSpPr>
        <p:spPr>
          <a:xfrm>
            <a:off x="2999232" y="528523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recoge margen, comisiones, gastos y coste del riesgo de la cartera. El resultado de grupo añade ROF, puesta en equivalencia, saneamientos extraordinarios y el gravamen a la banca.</a:t>
            </a:r>
            <a:endParaRPr lang="en-US" sz="900" dirty="0"/>
          </a:p>
        </p:txBody>
      </p:sp>
      <p:sp>
        <p:nvSpPr>
          <p:cNvPr id="18" name="Text 15"/>
          <p:cNvSpPr txBox="1"/>
          <p:nvPr/>
        </p:nvSpPr>
        <p:spPr>
          <a:xfrm>
            <a:off x="621792" y="5852160"/>
            <a:ext cx="10945368" cy="201168"/>
          </a:xfrm>
          <a:prstGeom prst="rect">
            <a:avLst/>
          </a:prstGeom>
          <a:noFill/>
          <a:ln/>
        </p:spPr>
        <p:txBody>
          <a:bodyPr wrap="square" lIns="0" tIns="0" rIns="0" bIns="0" rtlCol="0" anchor="ctr"/>
          <a:lstStyle/>
          <a:p>
            <a:pPr indent="0" marL="0">
              <a:buNone/>
            </a:pPr>
            <a:r>
              <a:rPr lang="en-US" sz="900" b="1" dirty="0">
                <a:solidFill>
                  <a:srgbClr val="F56600"/>
                </a:solidFill>
                <a:latin typeface="Verdana" pitchFamily="34" charset="0"/>
                <a:ea typeface="Verdana" pitchFamily="34" charset="-122"/>
                <a:cs typeface="Verdana" pitchFamily="34" charset="-120"/>
              </a:rPr>
              <a:t>Para los tres bancos domésticos la brecha cabe en ±1,5 pp: el segmento PYME español rinde como el grupo. La lectura correcta de la tabla es esa, no el ranking.</a:t>
            </a:r>
            <a:endParaRPr lang="en-US" sz="90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EBA, EU-wide Transparency Exercise 2025 (tr_oth.csv), periodo 202506: resultado atribuido (2520336), CET1 (2520102), patrimonio total (2521216), intangibles (2520110), RWA (2520138). El RoTE de la tabla es CÁLCULO PROPIO sobre el EBA, no la cifra titulada por cada banco: las páginas de relación con inversores no son accesibles desde este entorno (ver notas.md). ROE PYME: modelo propio, comparables_bancos/reconciliacion_rote.csv.</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capital de la PYME no lo fija el riesgo, lo fija el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Densidad de RWA de la cartera PYME separando método estándar de IRB · Sistemas bancarios supervisados por cada país · Junio de 2025</a:t>
            </a:r>
            <a:endParaRPr lang="en-US" sz="1050" dirty="0"/>
          </a:p>
        </p:txBody>
      </p:sp>
      <p:graphicFrame>
        <p:nvGraphicFramePr>
          <p:cNvPr id="5" name="Chart 0" descr=""/>
          <p:cNvGraphicFramePr/>
          <p:nvPr/>
        </p:nvGraphicFramePr>
        <p:xfrm>
          <a:off x="621792" y="1664208"/>
          <a:ext cx="6903720" cy="25603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6903720" cy="237744"/>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Cuánto ahorra el IRB frente al estándar, y cuánta cartera lo usa</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 y="4590288"/>
          <a:ext cx="6903720" cy="914400"/>
        </p:xfrm>
        <a:graphic>
          <a:graphicData uri="http://schemas.openxmlformats.org/drawingml/2006/table">
            <a:tbl>
              <a:tblPr/>
              <a:tblGrid>
                <a:gridCol w="1929384"/>
                <a:gridCol w="1664208"/>
                <a:gridCol w="1664208"/>
                <a:gridCol w="1645920"/>
              </a:tblGrid>
              <a:tr h="164592">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Ahorro del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Cartera en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total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4592">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35,9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31,9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76,0 %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28,6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25,2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12,5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8" name="Shape 4"/>
          <p:cNvSpPr/>
          <p:nvPr/>
        </p:nvSpPr>
        <p:spPr>
          <a:xfrm>
            <a:off x="7699248" y="1664208"/>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64208"/>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IRB español apenas ahorra</a:t>
            </a:r>
            <a:endParaRPr lang="en-US" sz="1100" dirty="0"/>
          </a:p>
        </p:txBody>
      </p:sp>
      <p:sp>
        <p:nvSpPr>
          <p:cNvPr id="11" name="Text 7"/>
          <p:cNvSpPr txBox="1"/>
          <p:nvPr/>
        </p:nvSpPr>
        <p:spPr>
          <a:xfrm>
            <a:off x="7918704" y="1993392"/>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En España el modelo interno rebaja la densidad solo 7,6 pp (63,0 % → 55,4 %). En Alemania la rebaja 35,9 pp. La densidad IRB española (55,4 %) es la segunda más alta de los siete, solo por detrás de Irlanda, y está por encima de la densidad TOTAL de Alemania (35,3 %), Francia (43,0 %) o Italia (46,3 %): el banco español con modelo aprobado consume más capital que el alemán medio.</a:t>
            </a:r>
            <a:endParaRPr lang="en-US" sz="850" dirty="0"/>
          </a:p>
        </p:txBody>
      </p:sp>
      <p:sp>
        <p:nvSpPr>
          <p:cNvPr id="12" name="Shape 8"/>
          <p:cNvSpPr/>
          <p:nvPr/>
        </p:nvSpPr>
        <p:spPr>
          <a:xfrm>
            <a:off x="7699248" y="3931920"/>
            <a:ext cx="3867912" cy="1865376"/>
          </a:xfrm>
          <a:prstGeom prst="roundRect">
            <a:avLst>
              <a:gd name="adj" fmla="val 1961"/>
            </a:avLst>
          </a:prstGeom>
          <a:solidFill>
            <a:srgbClr val="FFD6BA"/>
          </a:solidFill>
          <a:ln w="12700">
            <a:solidFill>
              <a:srgbClr val="FFD6BA"/>
            </a:solidFill>
            <a:prstDash val="solid"/>
          </a:ln>
        </p:spPr>
      </p:sp>
      <p:sp>
        <p:nvSpPr>
          <p:cNvPr id="13" name="Shape 9"/>
          <p:cNvSpPr/>
          <p:nvPr/>
        </p:nvSpPr>
        <p:spPr>
          <a:xfrm>
            <a:off x="7699248" y="3931920"/>
            <a:ext cx="64008" cy="1865376"/>
          </a:xfrm>
          <a:prstGeom prst="rect">
            <a:avLst/>
          </a:prstGeom>
          <a:solidFill>
            <a:srgbClr val="F56600"/>
          </a:solidFill>
          <a:ln w="12700">
            <a:solidFill>
              <a:srgbClr val="F56600"/>
            </a:solidFill>
            <a:prstDash val="solid"/>
          </a:ln>
        </p:spPr>
      </p:sp>
      <p:sp>
        <p:nvSpPr>
          <p:cNvPr id="14" name="Text 10"/>
          <p:cNvSpPr txBox="1"/>
          <p:nvPr/>
        </p:nvSpPr>
        <p:spPr>
          <a:xfrm>
            <a:off x="7918704" y="4023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Los 24,2 pp frente a Alemania</a:t>
            </a:r>
            <a:endParaRPr lang="en-US" sz="1100" dirty="0"/>
          </a:p>
        </p:txBody>
      </p:sp>
      <p:sp>
        <p:nvSpPr>
          <p:cNvPr id="15" name="Text 11"/>
          <p:cNvSpPr txBox="1"/>
          <p:nvPr/>
        </p:nvSpPr>
        <p:spPr>
          <a:xfrm>
            <a:off x="7918704" y="4261104"/>
            <a:ext cx="3483864" cy="142646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Solo 3,0 pp vienen de tener menos cartera en IRB (46,2 % frente a 85,5 %). 11,7 pp vienen de la CALIBRACIÓN de los modelos y 9,5 pp de la interacción de las dos cosas. No es un problema de volumen modelizado: es un problema de qué devuelve el modelo.</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dimensión Portfolio (1 = estándar, 2 = IRB), partidas 2520523 (valor de exposición PYME) y 2520533 (RWA PYME), contraparte total. Densidad = RWA / valor de exposición. Descomposición propia. Datos en transversal/eba_te_pyme_sa_irb.csv.</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Irlanda en factoring: el dato está congelado, no es un mercado plano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cedido anual publicado por la EU Federation for Factoring · La serie irlandesa repite el mismo importe desde 2021</a:t>
            </a:r>
            <a:endParaRPr lang="en-US" sz="1050" dirty="0"/>
          </a:p>
        </p:txBody>
      </p:sp>
      <p:graphicFrame>
        <p:nvGraphicFramePr>
          <p:cNvPr id="5" name="Chart 0" descr=""/>
          <p:cNvGraphicFramePr/>
          <p:nvPr/>
        </p:nvGraphicFramePr>
        <p:xfrm>
          <a:off x="621792" y="1664208"/>
          <a:ext cx="6903720" cy="2606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3657600" cy="21945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Volumen cedido, millones de euros</a:t>
            </a:r>
            <a:endParaRPr lang="en-US" sz="850" dirty="0"/>
          </a:p>
        </p:txBody>
      </p:sp>
      <p:sp>
        <p:nvSpPr>
          <p:cNvPr id="7" name="Shape 4"/>
          <p:cNvSpPr/>
          <p:nvPr/>
        </p:nvSpPr>
        <p:spPr>
          <a:xfrm>
            <a:off x="621792" y="4590288"/>
            <a:ext cx="6903720" cy="1188720"/>
          </a:xfrm>
          <a:prstGeom prst="roundRect">
            <a:avLst>
              <a:gd name="adj" fmla="val 3846"/>
            </a:avLst>
          </a:prstGeom>
          <a:solidFill>
            <a:srgbClr val="FFF4C2"/>
          </a:solidFill>
          <a:ln w="12700">
            <a:solidFill>
              <a:srgbClr val="FFE066"/>
            </a:solidFill>
            <a:prstDash val="solid"/>
          </a:ln>
        </p:spPr>
      </p:sp>
      <p:sp>
        <p:nvSpPr>
          <p:cNvPr id="8" name="Shape 5"/>
          <p:cNvSpPr/>
          <p:nvPr/>
        </p:nvSpPr>
        <p:spPr>
          <a:xfrm>
            <a:off x="621792" y="4590288"/>
            <a:ext cx="64008" cy="1188720"/>
          </a:xfrm>
          <a:prstGeom prst="rect">
            <a:avLst/>
          </a:prstGeom>
          <a:solidFill>
            <a:srgbClr val="F56600"/>
          </a:solidFill>
          <a:ln w="12700">
            <a:solidFill>
              <a:srgbClr val="F56600"/>
            </a:solidFill>
            <a:prstDash val="solid"/>
          </a:ln>
        </p:spPr>
      </p:sp>
      <p:sp>
        <p:nvSpPr>
          <p:cNvPr id="9" name="Text 6"/>
          <p:cNvSpPr txBox="1"/>
          <p:nvPr/>
        </p:nvSpPr>
        <p:spPr>
          <a:xfrm>
            <a:off x="841248" y="4681728"/>
            <a:ext cx="6492240" cy="256032"/>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Desde 2017 la EUF solo ha publicado 3 importes distintos para Irlanda</a:t>
            </a:r>
            <a:endParaRPr lang="en-US" sz="1200" dirty="0"/>
          </a:p>
        </p:txBody>
      </p:sp>
      <p:sp>
        <p:nvSpPr>
          <p:cNvPr id="10" name="Text 7"/>
          <p:cNvSpPr txBox="1"/>
          <p:nvPr/>
        </p:nvSpPr>
        <p:spPr>
          <a:xfrm>
            <a:off x="841248" y="4974336"/>
            <a:ext cx="6492240" cy="7132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26.294 en 2017 y 2018 · 28.424 en 2019 y 2020 · 28.617 en 2021, 2022, 2023, 2024 y 2025. 5 años consecutivos con el mismo número. La variación anual que publica la tabla es 0,0 % por construcción, no por comportamiento del mercado.</a:t>
            </a:r>
            <a:endParaRPr lang="en-US" sz="950" dirty="0"/>
          </a:p>
        </p:txBody>
      </p:sp>
      <p:sp>
        <p:nvSpPr>
          <p:cNvPr id="11" name="Shape 8"/>
          <p:cNvSpPr/>
          <p:nvPr/>
        </p:nvSpPr>
        <p:spPr>
          <a:xfrm>
            <a:off x="7699248" y="1664208"/>
            <a:ext cx="3867912" cy="2029968"/>
          </a:xfrm>
          <a:prstGeom prst="roundRect">
            <a:avLst>
              <a:gd name="adj" fmla="val 1802"/>
            </a:avLst>
          </a:prstGeom>
          <a:solidFill>
            <a:srgbClr val="FFF4C2"/>
          </a:solidFill>
          <a:ln w="12700">
            <a:solidFill>
              <a:srgbClr val="FFE066"/>
            </a:solidFill>
            <a:prstDash val="solid"/>
          </a:ln>
        </p:spPr>
      </p:sp>
      <p:sp>
        <p:nvSpPr>
          <p:cNvPr id="12" name="Shape 9"/>
          <p:cNvSpPr/>
          <p:nvPr/>
        </p:nvSpPr>
        <p:spPr>
          <a:xfrm>
            <a:off x="7699248" y="1664208"/>
            <a:ext cx="64008" cy="2029968"/>
          </a:xfrm>
          <a:prstGeom prst="rect">
            <a:avLst/>
          </a:prstGeom>
          <a:solidFill>
            <a:srgbClr val="F56600"/>
          </a:solidFill>
          <a:ln w="12700">
            <a:solidFill>
              <a:srgbClr val="F56600"/>
            </a:solidFill>
            <a:prstDash val="solid"/>
          </a:ln>
        </p:spPr>
      </p:sp>
      <p:sp>
        <p:nvSpPr>
          <p:cNvPr id="13" name="Text 10"/>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propia EUF lo advierte</a:t>
            </a:r>
            <a:endParaRPr lang="en-US" sz="1100" dirty="0"/>
          </a:p>
        </p:txBody>
      </p:sp>
      <p:sp>
        <p:nvSpPr>
          <p:cNvPr id="14" name="Text 11"/>
          <p:cNvSpPr txBox="1"/>
          <p:nvPr/>
        </p:nvSpPr>
        <p:spPr>
          <a:xfrm>
            <a:off x="7918704" y="1993392"/>
            <a:ext cx="3483864" cy="15910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tabla marca a Irlanda con la nota (3): «Estimates of the turnover — the previous year's turnover implemented». Es decir, se arrastra el importe del año anterior. Y la serie histórica la etiqueta como «EUF member till 2018»: desde 2019 no hay asociación nacional que reporte el dato irlandés.</a:t>
            </a:r>
            <a:endParaRPr lang="en-US" sz="850" dirty="0"/>
          </a:p>
        </p:txBody>
      </p:sp>
      <p:sp>
        <p:nvSpPr>
          <p:cNvPr id="15" name="Shape 12"/>
          <p:cNvSpPr/>
          <p:nvPr/>
        </p:nvSpPr>
        <p:spPr>
          <a:xfrm>
            <a:off x="7699248" y="3767328"/>
            <a:ext cx="3867912" cy="2011680"/>
          </a:xfrm>
          <a:prstGeom prst="roundRect">
            <a:avLst>
              <a:gd name="adj" fmla="val 1818"/>
            </a:avLst>
          </a:prstGeom>
          <a:solidFill>
            <a:srgbClr val="FFD6BA"/>
          </a:solidFill>
          <a:ln w="12700">
            <a:solidFill>
              <a:srgbClr val="FFD6BA"/>
            </a:solidFill>
            <a:prstDash val="solid"/>
          </a:ln>
        </p:spPr>
      </p:sp>
      <p:sp>
        <p:nvSpPr>
          <p:cNvPr id="16" name="Shape 13"/>
          <p:cNvSpPr/>
          <p:nvPr/>
        </p:nvSpPr>
        <p:spPr>
          <a:xfrm>
            <a:off x="7699248" y="3767328"/>
            <a:ext cx="64008" cy="2011680"/>
          </a:xfrm>
          <a:prstGeom prst="rect">
            <a:avLst/>
          </a:prstGeom>
          <a:solidFill>
            <a:srgbClr val="F56600"/>
          </a:solidFill>
          <a:ln w="12700">
            <a:solidFill>
              <a:srgbClr val="F56600"/>
            </a:solidFill>
            <a:prstDash val="solid"/>
          </a:ln>
        </p:spPr>
      </p:sp>
      <p:sp>
        <p:nvSpPr>
          <p:cNvPr id="17" name="Text 14"/>
          <p:cNvSpPr txBox="1"/>
          <p:nvPr/>
        </p:nvSpPr>
        <p:spPr>
          <a:xfrm>
            <a:off x="7918704" y="385876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no se puede decir con este dato</a:t>
            </a:r>
            <a:endParaRPr lang="en-US" sz="1100" dirty="0"/>
          </a:p>
        </p:txBody>
      </p:sp>
      <p:sp>
        <p:nvSpPr>
          <p:cNvPr id="18" name="Text 15"/>
          <p:cNvSpPr txBox="1"/>
          <p:nvPr/>
        </p:nvSpPr>
        <p:spPr>
          <a:xfrm>
            <a:off x="7918704" y="4096512"/>
            <a:ext cx="3483864" cy="15727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No se puede leer el nivel irlandés como medida del mercado, ni su crecimiento (es cero por construcción), ni su cuota europea (1,1 %), ni su penetración sobre el PIB (4,5 %, la menor de los siete), porque el numerador está congelado y el denominador no. Irlanda debe salir de cualquier ranking de factoring o llevar la marca del arrastre.</a:t>
            </a:r>
            <a:endParaRPr lang="en-US" sz="8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EU Federation for Factoring: tabla anual a 31 de diciembre de 2025 y fichero «EU Turnover per country since 2007». Mismo arrastre, con menos años, en Estonia, Finlandia, Luxemburgo, Malta y Suecia. Serie completa en factoring_confirming/euf_historico.csv.</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publican los bancos, en % de la inversión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Las mismas cuentas de la lámina anterior divididas por la inversión crediticia de su propio perímetro y anualizadas · Commerzbank publica trimestre (×4), el resto semestre (×2)</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17320"/>
                <a:gridCol w="914400"/>
                <a:gridCol w="1874520"/>
                <a:gridCol w="1143000"/>
                <a:gridCol w="960120"/>
                <a:gridCol w="960120"/>
                <a:gridCol w="1051560"/>
                <a:gridCol w="914400"/>
                <a:gridCol w="841248"/>
                <a:gridCol w="86868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Perímetro publicado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Inversión</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M€</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Ingresos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 intereses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Comisiones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 riesgo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BAI</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Commerzbank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Clients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123.000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4,01 %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2,15 %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ABN AMRO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Banking</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86.900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3,90 %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Intesa Sanpaolo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Banca dei Territori</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219.966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n/d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48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CaixaBank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406.233</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4,11 %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BPER Banca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129.216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3,42 %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2,09 %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27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675888"/>
            <a:ext cx="146304" cy="146304"/>
          </a:xfrm>
          <a:prstGeom prst="rect">
            <a:avLst/>
          </a:prstGeom>
          <a:solidFill>
            <a:srgbClr val="FFD200"/>
          </a:solidFill>
          <a:ln w="12700">
            <a:solidFill>
              <a:srgbClr val="CACACA"/>
            </a:solidFill>
            <a:prstDash val="solid"/>
          </a:ln>
        </p:spPr>
      </p:sp>
      <p:sp>
        <p:nvSpPr>
          <p:cNvPr id="7" name="Text 4"/>
          <p:cNvSpPr txBox="1"/>
          <p:nvPr/>
        </p:nvSpPr>
        <p:spPr>
          <a:xfrm>
            <a:off x="84124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segmento de empresas publicado</a:t>
            </a:r>
            <a:endParaRPr lang="en-US" sz="850" dirty="0"/>
          </a:p>
        </p:txBody>
      </p:sp>
      <p:sp>
        <p:nvSpPr>
          <p:cNvPr id="8" name="Shape 5"/>
          <p:cNvSpPr/>
          <p:nvPr/>
        </p:nvSpPr>
        <p:spPr>
          <a:xfrm>
            <a:off x="4782312" y="3675888"/>
            <a:ext cx="146304" cy="146304"/>
          </a:xfrm>
          <a:prstGeom prst="rect">
            <a:avLst/>
          </a:prstGeom>
          <a:solidFill>
            <a:srgbClr val="FFF4C2"/>
          </a:solidFill>
          <a:ln w="12700">
            <a:solidFill>
              <a:srgbClr val="CACACA"/>
            </a:solidFill>
            <a:prstDash val="solid"/>
          </a:ln>
        </p:spPr>
      </p:sp>
      <p:sp>
        <p:nvSpPr>
          <p:cNvPr id="9" name="Text 6"/>
          <p:cNvSpPr txBox="1"/>
          <p:nvPr/>
        </p:nvSpPr>
        <p:spPr>
          <a:xfrm>
            <a:off x="500176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grupo, no segmento</a:t>
            </a:r>
            <a:endParaRPr lang="en-US" sz="850" dirty="0"/>
          </a:p>
        </p:txBody>
      </p:sp>
      <p:sp>
        <p:nvSpPr>
          <p:cNvPr id="10" name="Shape 7"/>
          <p:cNvSpPr/>
          <p:nvPr/>
        </p:nvSpPr>
        <p:spPr>
          <a:xfrm>
            <a:off x="621792" y="3986784"/>
            <a:ext cx="5321808" cy="1755648"/>
          </a:xfrm>
          <a:prstGeom prst="roundRect">
            <a:avLst>
              <a:gd name="adj" fmla="val 2083"/>
            </a:avLst>
          </a:prstGeom>
          <a:solidFill>
            <a:srgbClr val="FFF4C2"/>
          </a:solidFill>
          <a:ln w="12700">
            <a:solidFill>
              <a:srgbClr val="FFE066"/>
            </a:solidFill>
            <a:prstDash val="solid"/>
          </a:ln>
        </p:spPr>
      </p:sp>
      <p:sp>
        <p:nvSpPr>
          <p:cNvPr id="11" name="Shape 8"/>
          <p:cNvSpPr/>
          <p:nvPr/>
        </p:nvSpPr>
        <p:spPr>
          <a:xfrm>
            <a:off x="621792" y="3986784"/>
            <a:ext cx="64008" cy="1755648"/>
          </a:xfrm>
          <a:prstGeom prst="rect">
            <a:avLst/>
          </a:prstGeom>
          <a:solidFill>
            <a:srgbClr val="F56600"/>
          </a:solidFill>
          <a:ln w="12700">
            <a:solidFill>
              <a:srgbClr val="F56600"/>
            </a:solidFill>
            <a:prstDash val="solid"/>
          </a:ln>
        </p:spPr>
      </p:sp>
      <p:sp>
        <p:nvSpPr>
          <p:cNvPr id="12" name="Text 9"/>
          <p:cNvSpPr txBox="1"/>
          <p:nvPr/>
        </p:nvSpPr>
        <p:spPr>
          <a:xfrm>
            <a:off x="84124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supuesto de 87 pb no infla el modelo</a:t>
            </a:r>
            <a:endParaRPr lang="en-US" sz="1100" dirty="0"/>
          </a:p>
        </p:txBody>
      </p:sp>
      <p:sp>
        <p:nvSpPr>
          <p:cNvPr id="13" name="Text 10"/>
          <p:cNvSpPr txBox="1"/>
          <p:nvPr/>
        </p:nvSpPr>
        <p:spPr>
          <a:xfrm>
            <a:off x="84124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cuenta de la lámina 7 supone 0,87 % de comisiones sobre el saldo medio. Los dos únicos segmentos de empresas publicados ganan MÁS: Commerzbank 1,22 % y ABN AMRO 0,99 %. El supuesto está en el extremo bajo de lo que una franquicia de banca de empresas cobra por euro prestado, así que no está regalando ROE al modelo.</a:t>
            </a:r>
            <a:endParaRPr lang="en-US" sz="850" dirty="0"/>
          </a:p>
        </p:txBody>
      </p:sp>
      <p:sp>
        <p:nvSpPr>
          <p:cNvPr id="14" name="Shape 11"/>
          <p:cNvSpPr/>
          <p:nvPr/>
        </p:nvSpPr>
        <p:spPr>
          <a:xfrm>
            <a:off x="6245352" y="3986784"/>
            <a:ext cx="5321808" cy="1755648"/>
          </a:xfrm>
          <a:prstGeom prst="roundRect">
            <a:avLst>
              <a:gd name="adj" fmla="val 2083"/>
            </a:avLst>
          </a:prstGeom>
          <a:solidFill>
            <a:srgbClr val="FFD6BA"/>
          </a:solidFill>
          <a:ln w="12700">
            <a:solidFill>
              <a:srgbClr val="FFD6BA"/>
            </a:solidFill>
            <a:prstDash val="solid"/>
          </a:ln>
        </p:spPr>
      </p:sp>
      <p:sp>
        <p:nvSpPr>
          <p:cNvPr id="15" name="Shape 12"/>
          <p:cNvSpPr/>
          <p:nvPr/>
        </p:nvSpPr>
        <p:spPr>
          <a:xfrm>
            <a:off x="6245352" y="3986784"/>
            <a:ext cx="64008" cy="1755648"/>
          </a:xfrm>
          <a:prstGeom prst="rect">
            <a:avLst/>
          </a:prstGeom>
          <a:solidFill>
            <a:srgbClr val="F56600"/>
          </a:solidFill>
          <a:ln w="12700">
            <a:solidFill>
              <a:srgbClr val="F56600"/>
            </a:solidFill>
            <a:prstDash val="solid"/>
          </a:ln>
        </p:spPr>
      </p:sp>
      <p:sp>
        <p:nvSpPr>
          <p:cNvPr id="16" name="Text 13"/>
          <p:cNvSpPr txBox="1"/>
          <p:nvPr/>
        </p:nvSpPr>
        <p:spPr>
          <a:xfrm>
            <a:off x="646480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«Ingresos / inversión» NO es un margen de préstamo</a:t>
            </a:r>
            <a:endParaRPr lang="en-US" sz="1100" dirty="0"/>
          </a:p>
        </p:txBody>
      </p:sp>
      <p:sp>
        <p:nvSpPr>
          <p:cNvPr id="17" name="Text 14"/>
          <p:cNvSpPr txBox="1"/>
          <p:nvPr/>
        </p:nvSpPr>
        <p:spPr>
          <a:xfrm>
            <a:off x="646480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numerador es el ingreso de TODO el segmento -margen de depósitos y transaccional incluidos- y el denominador solo los préstamos. Banca dei Territori lo enseña en caricatura: 5,64 % sobre préstamos, porque lleva dentro gestión de activos y seguros. Por eso BPER, que es grupo, dobla en comisiones (2,09 %) a los segmentos de empresas.</a:t>
            </a:r>
            <a:endParaRPr lang="en-US" sz="8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Comunicado Q2 2026 de Commerzbank; informe intermedio Q2 2026 de ABN AMRO; resultados 1S26 de Intesa Sanpaolo e informe semestral a 30-jun-2026 (p. 72) para los préstamos de Banca dei Territori; Actividad y Resultados 1S26 de CaixaBank; resultados 1S26 de BPER e informe intermedio consolidado a 30-jun-2026 (p. 34) para los préstamos. Denominador: cartera media en Commerzbank; media de los dos cierres en Intesa y BPER; saldo final en ABN AMRO y CaixaBank. CaixaBank lo publica BRUTO y el resto NETO: con su mora del 1,78 %, el neto subiría sus ratios uno o dos puntos básicos. Datos en comparables_bancos/comparables_ratios.csv.</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¿Lo compra la información?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Coste del riesgo PD × LGD de la cartera PYME contra el margen bruto y contra la información disponible · Un punto por país · 2026</a:t>
            </a:r>
            <a:endParaRPr lang="en-US" sz="1050" dirty="0"/>
          </a:p>
        </p:txBody>
      </p:sp>
      <p:sp>
        <p:nvSpPr>
          <p:cNvPr id="5" name="Text 3"/>
          <p:cNvSpPr txBox="1"/>
          <p:nvPr/>
        </p:nvSpPr>
        <p:spPr>
          <a:xfrm>
            <a:off x="658368"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1 · ¿Cobra más quien más riesgo tiene?</a:t>
            </a:r>
            <a:endParaRPr lang="en-US" sz="1250" dirty="0"/>
          </a:p>
        </p:txBody>
      </p:sp>
      <p:sp>
        <p:nvSpPr>
          <p:cNvPr id="6" name="Shape 4"/>
          <p:cNvSpPr/>
          <p:nvPr/>
        </p:nvSpPr>
        <p:spPr>
          <a:xfrm>
            <a:off x="1316736" y="2212848"/>
            <a:ext cx="4389120" cy="2359152"/>
          </a:xfrm>
          <a:prstGeom prst="rect">
            <a:avLst/>
          </a:prstGeom>
          <a:solidFill>
            <a:srgbClr val="FFFFFF"/>
          </a:solidFill>
          <a:ln w="9525">
            <a:solidFill>
              <a:srgbClr val="CACACA"/>
            </a:solidFill>
            <a:prstDash val="solid"/>
          </a:ln>
        </p:spPr>
      </p:sp>
      <p:sp>
        <p:nvSpPr>
          <p:cNvPr id="7" name="Shape 5"/>
          <p:cNvSpPr/>
          <p:nvPr/>
        </p:nvSpPr>
        <p:spPr>
          <a:xfrm>
            <a:off x="1316736" y="4375404"/>
            <a:ext cx="4389120" cy="7315"/>
          </a:xfrm>
          <a:prstGeom prst="rect">
            <a:avLst/>
          </a:prstGeom>
          <a:solidFill>
            <a:srgbClr val="E5E5E5"/>
          </a:solidFill>
          <a:ln w="12700">
            <a:solidFill>
              <a:srgbClr val="E5E5E5"/>
            </a:solidFill>
            <a:prstDash val="solid"/>
          </a:ln>
        </p:spPr>
      </p:sp>
      <p:sp>
        <p:nvSpPr>
          <p:cNvPr id="8" name="Text 6"/>
          <p:cNvSpPr txBox="1"/>
          <p:nvPr/>
        </p:nvSpPr>
        <p:spPr>
          <a:xfrm>
            <a:off x="621792"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9" name="Shape 7"/>
          <p:cNvSpPr/>
          <p:nvPr/>
        </p:nvSpPr>
        <p:spPr>
          <a:xfrm>
            <a:off x="1316736" y="3982212"/>
            <a:ext cx="4389120" cy="7315"/>
          </a:xfrm>
          <a:prstGeom prst="rect">
            <a:avLst/>
          </a:prstGeom>
          <a:solidFill>
            <a:srgbClr val="E5E5E5"/>
          </a:solidFill>
          <a:ln w="12700">
            <a:solidFill>
              <a:srgbClr val="E5E5E5"/>
            </a:solidFill>
            <a:prstDash val="solid"/>
          </a:ln>
        </p:spPr>
      </p:sp>
      <p:sp>
        <p:nvSpPr>
          <p:cNvPr id="10" name="Text 8"/>
          <p:cNvSpPr txBox="1"/>
          <p:nvPr/>
        </p:nvSpPr>
        <p:spPr>
          <a:xfrm>
            <a:off x="621792"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11" name="Shape 9"/>
          <p:cNvSpPr/>
          <p:nvPr/>
        </p:nvSpPr>
        <p:spPr>
          <a:xfrm>
            <a:off x="1316736" y="3589020"/>
            <a:ext cx="4389120" cy="7315"/>
          </a:xfrm>
          <a:prstGeom prst="rect">
            <a:avLst/>
          </a:prstGeom>
          <a:solidFill>
            <a:srgbClr val="E5E5E5"/>
          </a:solidFill>
          <a:ln w="12700">
            <a:solidFill>
              <a:srgbClr val="E5E5E5"/>
            </a:solidFill>
            <a:prstDash val="solid"/>
          </a:ln>
        </p:spPr>
      </p:sp>
      <p:sp>
        <p:nvSpPr>
          <p:cNvPr id="12" name="Text 10"/>
          <p:cNvSpPr txBox="1"/>
          <p:nvPr/>
        </p:nvSpPr>
        <p:spPr>
          <a:xfrm>
            <a:off x="621792"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13" name="Shape 11"/>
          <p:cNvSpPr/>
          <p:nvPr/>
        </p:nvSpPr>
        <p:spPr>
          <a:xfrm>
            <a:off x="1316736" y="3195828"/>
            <a:ext cx="4389120" cy="7315"/>
          </a:xfrm>
          <a:prstGeom prst="rect">
            <a:avLst/>
          </a:prstGeom>
          <a:solidFill>
            <a:srgbClr val="E5E5E5"/>
          </a:solidFill>
          <a:ln w="12700">
            <a:solidFill>
              <a:srgbClr val="E5E5E5"/>
            </a:solidFill>
            <a:prstDash val="solid"/>
          </a:ln>
        </p:spPr>
      </p:sp>
      <p:sp>
        <p:nvSpPr>
          <p:cNvPr id="14" name="Text 12"/>
          <p:cNvSpPr txBox="1"/>
          <p:nvPr/>
        </p:nvSpPr>
        <p:spPr>
          <a:xfrm>
            <a:off x="621792"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15" name="Shape 13"/>
          <p:cNvSpPr/>
          <p:nvPr/>
        </p:nvSpPr>
        <p:spPr>
          <a:xfrm>
            <a:off x="1316736" y="2802636"/>
            <a:ext cx="4389120" cy="7315"/>
          </a:xfrm>
          <a:prstGeom prst="rect">
            <a:avLst/>
          </a:prstGeom>
          <a:solidFill>
            <a:srgbClr val="E5E5E5"/>
          </a:solidFill>
          <a:ln w="12700">
            <a:solidFill>
              <a:srgbClr val="E5E5E5"/>
            </a:solidFill>
            <a:prstDash val="solid"/>
          </a:ln>
        </p:spPr>
      </p:sp>
      <p:sp>
        <p:nvSpPr>
          <p:cNvPr id="16" name="Text 14"/>
          <p:cNvSpPr txBox="1"/>
          <p:nvPr/>
        </p:nvSpPr>
        <p:spPr>
          <a:xfrm>
            <a:off x="621792"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17" name="Shape 15"/>
          <p:cNvSpPr/>
          <p:nvPr/>
        </p:nvSpPr>
        <p:spPr>
          <a:xfrm>
            <a:off x="1316736" y="2409444"/>
            <a:ext cx="4389120" cy="7315"/>
          </a:xfrm>
          <a:prstGeom prst="rect">
            <a:avLst/>
          </a:prstGeom>
          <a:solidFill>
            <a:srgbClr val="E5E5E5"/>
          </a:solidFill>
          <a:ln w="12700">
            <a:solidFill>
              <a:srgbClr val="E5E5E5"/>
            </a:solidFill>
            <a:prstDash val="solid"/>
          </a:ln>
        </p:spPr>
      </p:sp>
      <p:sp>
        <p:nvSpPr>
          <p:cNvPr id="18" name="Text 16"/>
          <p:cNvSpPr txBox="1"/>
          <p:nvPr/>
        </p:nvSpPr>
        <p:spPr>
          <a:xfrm>
            <a:off x="621792"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19" name="Text 17"/>
          <p:cNvSpPr txBox="1"/>
          <p:nvPr/>
        </p:nvSpPr>
        <p:spPr>
          <a:xfrm>
            <a:off x="14356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3,5 %</a:t>
            </a:r>
            <a:endParaRPr lang="en-US" sz="800" dirty="0"/>
          </a:p>
        </p:txBody>
      </p:sp>
      <p:sp>
        <p:nvSpPr>
          <p:cNvPr id="20" name="Text 18"/>
          <p:cNvSpPr txBox="1"/>
          <p:nvPr/>
        </p:nvSpPr>
        <p:spPr>
          <a:xfrm>
            <a:off x="216712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4,0 %</a:t>
            </a:r>
            <a:endParaRPr lang="en-US" sz="800" dirty="0"/>
          </a:p>
        </p:txBody>
      </p:sp>
      <p:sp>
        <p:nvSpPr>
          <p:cNvPr id="21" name="Text 19"/>
          <p:cNvSpPr txBox="1"/>
          <p:nvPr/>
        </p:nvSpPr>
        <p:spPr>
          <a:xfrm>
            <a:off x="289864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22" name="Text 20"/>
          <p:cNvSpPr txBox="1"/>
          <p:nvPr/>
        </p:nvSpPr>
        <p:spPr>
          <a:xfrm>
            <a:off x="363016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5,0 %</a:t>
            </a:r>
            <a:endParaRPr lang="en-US" sz="800" dirty="0"/>
          </a:p>
        </p:txBody>
      </p:sp>
      <p:sp>
        <p:nvSpPr>
          <p:cNvPr id="23" name="Text 21"/>
          <p:cNvSpPr txBox="1"/>
          <p:nvPr/>
        </p:nvSpPr>
        <p:spPr>
          <a:xfrm>
            <a:off x="436168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5,5 %</a:t>
            </a:r>
            <a:endParaRPr lang="en-US" sz="800" dirty="0"/>
          </a:p>
        </p:txBody>
      </p:sp>
      <p:sp>
        <p:nvSpPr>
          <p:cNvPr id="24" name="Text 22"/>
          <p:cNvSpPr txBox="1"/>
          <p:nvPr/>
        </p:nvSpPr>
        <p:spPr>
          <a:xfrm>
            <a:off x="50932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6,0 %</a:t>
            </a:r>
            <a:endParaRPr lang="en-US" sz="800" dirty="0"/>
          </a:p>
        </p:txBody>
      </p:sp>
      <p:sp>
        <p:nvSpPr>
          <p:cNvPr id="25" name="Text 23"/>
          <p:cNvSpPr txBox="1"/>
          <p:nvPr/>
        </p:nvSpPr>
        <p:spPr>
          <a:xfrm>
            <a:off x="1316736"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Margen bruto del préstamo PYME, % del saldo</a:t>
            </a:r>
            <a:endParaRPr lang="en-US" sz="850" dirty="0"/>
          </a:p>
        </p:txBody>
      </p:sp>
      <p:sp>
        <p:nvSpPr>
          <p:cNvPr id="26" name="Shape 24"/>
          <p:cNvSpPr/>
          <p:nvPr/>
        </p:nvSpPr>
        <p:spPr>
          <a:xfrm>
            <a:off x="1675181" y="3125419"/>
            <a:ext cx="219456" cy="219456"/>
          </a:xfrm>
          <a:prstGeom prst="ellipse">
            <a:avLst/>
          </a:prstGeom>
          <a:solidFill>
            <a:srgbClr val="F56600"/>
          </a:solidFill>
          <a:ln w="19050">
            <a:solidFill>
              <a:srgbClr val="2B2B2B"/>
            </a:solidFill>
            <a:prstDash val="solid"/>
          </a:ln>
        </p:spPr>
      </p:sp>
      <p:sp>
        <p:nvSpPr>
          <p:cNvPr id="27" name="Text 25"/>
          <p:cNvSpPr txBox="1"/>
          <p:nvPr/>
        </p:nvSpPr>
        <p:spPr>
          <a:xfrm>
            <a:off x="1967789"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28" name="Shape 26"/>
          <p:cNvSpPr/>
          <p:nvPr/>
        </p:nvSpPr>
        <p:spPr>
          <a:xfrm>
            <a:off x="2649017" y="3895344"/>
            <a:ext cx="173736" cy="173736"/>
          </a:xfrm>
          <a:prstGeom prst="ellipse">
            <a:avLst/>
          </a:prstGeom>
          <a:solidFill>
            <a:srgbClr val="A1A1A1"/>
          </a:solidFill>
          <a:ln w="6350">
            <a:solidFill>
              <a:srgbClr val="A1A1A1"/>
            </a:solidFill>
            <a:prstDash val="solid"/>
          </a:ln>
        </p:spPr>
      </p:sp>
      <p:sp>
        <p:nvSpPr>
          <p:cNvPr id="29" name="Text 27"/>
          <p:cNvSpPr txBox="1"/>
          <p:nvPr/>
        </p:nvSpPr>
        <p:spPr>
          <a:xfrm>
            <a:off x="1826057"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30" name="Shape 28"/>
          <p:cNvSpPr/>
          <p:nvPr/>
        </p:nvSpPr>
        <p:spPr>
          <a:xfrm>
            <a:off x="1566367" y="2794406"/>
            <a:ext cx="173736" cy="173736"/>
          </a:xfrm>
          <a:prstGeom prst="ellipse">
            <a:avLst/>
          </a:prstGeom>
          <a:solidFill>
            <a:srgbClr val="A1A1A1"/>
          </a:solidFill>
          <a:ln w="6350">
            <a:solidFill>
              <a:srgbClr val="A1A1A1"/>
            </a:solidFill>
            <a:prstDash val="solid"/>
          </a:ln>
        </p:spPr>
      </p:sp>
      <p:sp>
        <p:nvSpPr>
          <p:cNvPr id="31" name="Text 29"/>
          <p:cNvSpPr txBox="1"/>
          <p:nvPr/>
        </p:nvSpPr>
        <p:spPr>
          <a:xfrm>
            <a:off x="1813255"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32" name="Shape 30"/>
          <p:cNvSpPr/>
          <p:nvPr/>
        </p:nvSpPr>
        <p:spPr>
          <a:xfrm>
            <a:off x="2970886" y="2322576"/>
            <a:ext cx="173736" cy="173736"/>
          </a:xfrm>
          <a:prstGeom prst="ellipse">
            <a:avLst/>
          </a:prstGeom>
          <a:solidFill>
            <a:srgbClr val="A1A1A1"/>
          </a:solidFill>
          <a:ln w="6350">
            <a:solidFill>
              <a:srgbClr val="A1A1A1"/>
            </a:solidFill>
            <a:prstDash val="solid"/>
          </a:ln>
        </p:spPr>
      </p:sp>
      <p:sp>
        <p:nvSpPr>
          <p:cNvPr id="33" name="Text 31"/>
          <p:cNvSpPr txBox="1"/>
          <p:nvPr/>
        </p:nvSpPr>
        <p:spPr>
          <a:xfrm>
            <a:off x="3217774" y="230886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34" name="Shape 32"/>
          <p:cNvSpPr/>
          <p:nvPr/>
        </p:nvSpPr>
        <p:spPr>
          <a:xfrm>
            <a:off x="2502713" y="3502152"/>
            <a:ext cx="173736" cy="173736"/>
          </a:xfrm>
          <a:prstGeom prst="ellipse">
            <a:avLst/>
          </a:prstGeom>
          <a:solidFill>
            <a:srgbClr val="A1A1A1"/>
          </a:solidFill>
          <a:ln w="6350">
            <a:solidFill>
              <a:srgbClr val="A1A1A1"/>
            </a:solidFill>
            <a:prstDash val="solid"/>
          </a:ln>
        </p:spPr>
      </p:sp>
      <p:sp>
        <p:nvSpPr>
          <p:cNvPr id="35" name="Text 33"/>
          <p:cNvSpPr txBox="1"/>
          <p:nvPr/>
        </p:nvSpPr>
        <p:spPr>
          <a:xfrm>
            <a:off x="2749601" y="3488436"/>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36" name="Shape 34"/>
          <p:cNvSpPr/>
          <p:nvPr/>
        </p:nvSpPr>
        <p:spPr>
          <a:xfrm>
            <a:off x="2897734" y="4091940"/>
            <a:ext cx="173736" cy="173736"/>
          </a:xfrm>
          <a:prstGeom prst="ellipse">
            <a:avLst/>
          </a:prstGeom>
          <a:solidFill>
            <a:srgbClr val="A1A1A1"/>
          </a:solidFill>
          <a:ln w="6350">
            <a:solidFill>
              <a:srgbClr val="A1A1A1"/>
            </a:solidFill>
            <a:prstDash val="solid"/>
          </a:ln>
        </p:spPr>
      </p:sp>
      <p:sp>
        <p:nvSpPr>
          <p:cNvPr id="37" name="Text 35"/>
          <p:cNvSpPr txBox="1"/>
          <p:nvPr/>
        </p:nvSpPr>
        <p:spPr>
          <a:xfrm>
            <a:off x="3144622" y="4078224"/>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38" name="Shape 36"/>
          <p:cNvSpPr/>
          <p:nvPr/>
        </p:nvSpPr>
        <p:spPr>
          <a:xfrm>
            <a:off x="5136185" y="3895344"/>
            <a:ext cx="173736" cy="173736"/>
          </a:xfrm>
          <a:prstGeom prst="ellipse">
            <a:avLst/>
          </a:prstGeom>
          <a:solidFill>
            <a:srgbClr val="A1A1A1"/>
          </a:solidFill>
          <a:ln w="6350">
            <a:solidFill>
              <a:srgbClr val="A1A1A1"/>
            </a:solidFill>
            <a:prstDash val="solid"/>
          </a:ln>
        </p:spPr>
      </p:sp>
      <p:sp>
        <p:nvSpPr>
          <p:cNvPr id="39" name="Text 37"/>
          <p:cNvSpPr txBox="1"/>
          <p:nvPr/>
        </p:nvSpPr>
        <p:spPr>
          <a:xfrm>
            <a:off x="4313225"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40" name="Text 38"/>
          <p:cNvSpPr txBox="1"/>
          <p:nvPr/>
        </p:nvSpPr>
        <p:spPr>
          <a:xfrm>
            <a:off x="6519672"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2 · ¿Baja el riesgo donde hay más información?</a:t>
            </a:r>
            <a:endParaRPr lang="en-US" sz="1250" dirty="0"/>
          </a:p>
        </p:txBody>
      </p:sp>
      <p:sp>
        <p:nvSpPr>
          <p:cNvPr id="41" name="Shape 39"/>
          <p:cNvSpPr/>
          <p:nvPr/>
        </p:nvSpPr>
        <p:spPr>
          <a:xfrm>
            <a:off x="7178040" y="2212848"/>
            <a:ext cx="4389120" cy="2359152"/>
          </a:xfrm>
          <a:prstGeom prst="rect">
            <a:avLst/>
          </a:prstGeom>
          <a:solidFill>
            <a:srgbClr val="FFFFFF"/>
          </a:solidFill>
          <a:ln w="9525">
            <a:solidFill>
              <a:srgbClr val="CACACA"/>
            </a:solidFill>
            <a:prstDash val="solid"/>
          </a:ln>
        </p:spPr>
      </p:sp>
      <p:sp>
        <p:nvSpPr>
          <p:cNvPr id="42" name="Shape 40"/>
          <p:cNvSpPr/>
          <p:nvPr/>
        </p:nvSpPr>
        <p:spPr>
          <a:xfrm>
            <a:off x="7178040" y="4375404"/>
            <a:ext cx="4389120" cy="7315"/>
          </a:xfrm>
          <a:prstGeom prst="rect">
            <a:avLst/>
          </a:prstGeom>
          <a:solidFill>
            <a:srgbClr val="E5E5E5"/>
          </a:solidFill>
          <a:ln w="12700">
            <a:solidFill>
              <a:srgbClr val="E5E5E5"/>
            </a:solidFill>
            <a:prstDash val="solid"/>
          </a:ln>
        </p:spPr>
      </p:sp>
      <p:sp>
        <p:nvSpPr>
          <p:cNvPr id="43" name="Text 41"/>
          <p:cNvSpPr txBox="1"/>
          <p:nvPr/>
        </p:nvSpPr>
        <p:spPr>
          <a:xfrm>
            <a:off x="6483096"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44" name="Shape 42"/>
          <p:cNvSpPr/>
          <p:nvPr/>
        </p:nvSpPr>
        <p:spPr>
          <a:xfrm>
            <a:off x="7178040" y="3982212"/>
            <a:ext cx="4389120" cy="7315"/>
          </a:xfrm>
          <a:prstGeom prst="rect">
            <a:avLst/>
          </a:prstGeom>
          <a:solidFill>
            <a:srgbClr val="E5E5E5"/>
          </a:solidFill>
          <a:ln w="12700">
            <a:solidFill>
              <a:srgbClr val="E5E5E5"/>
            </a:solidFill>
            <a:prstDash val="solid"/>
          </a:ln>
        </p:spPr>
      </p:sp>
      <p:sp>
        <p:nvSpPr>
          <p:cNvPr id="45" name="Text 43"/>
          <p:cNvSpPr txBox="1"/>
          <p:nvPr/>
        </p:nvSpPr>
        <p:spPr>
          <a:xfrm>
            <a:off x="6483096"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46" name="Shape 44"/>
          <p:cNvSpPr/>
          <p:nvPr/>
        </p:nvSpPr>
        <p:spPr>
          <a:xfrm>
            <a:off x="7178040" y="3589020"/>
            <a:ext cx="4389120" cy="7315"/>
          </a:xfrm>
          <a:prstGeom prst="rect">
            <a:avLst/>
          </a:prstGeom>
          <a:solidFill>
            <a:srgbClr val="E5E5E5"/>
          </a:solidFill>
          <a:ln w="12700">
            <a:solidFill>
              <a:srgbClr val="E5E5E5"/>
            </a:solidFill>
            <a:prstDash val="solid"/>
          </a:ln>
        </p:spPr>
      </p:sp>
      <p:sp>
        <p:nvSpPr>
          <p:cNvPr id="47" name="Text 45"/>
          <p:cNvSpPr txBox="1"/>
          <p:nvPr/>
        </p:nvSpPr>
        <p:spPr>
          <a:xfrm>
            <a:off x="6483096"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48" name="Shape 46"/>
          <p:cNvSpPr/>
          <p:nvPr/>
        </p:nvSpPr>
        <p:spPr>
          <a:xfrm>
            <a:off x="7178040" y="3195828"/>
            <a:ext cx="4389120" cy="7315"/>
          </a:xfrm>
          <a:prstGeom prst="rect">
            <a:avLst/>
          </a:prstGeom>
          <a:solidFill>
            <a:srgbClr val="E5E5E5"/>
          </a:solidFill>
          <a:ln w="12700">
            <a:solidFill>
              <a:srgbClr val="E5E5E5"/>
            </a:solidFill>
            <a:prstDash val="solid"/>
          </a:ln>
        </p:spPr>
      </p:sp>
      <p:sp>
        <p:nvSpPr>
          <p:cNvPr id="49" name="Text 47"/>
          <p:cNvSpPr txBox="1"/>
          <p:nvPr/>
        </p:nvSpPr>
        <p:spPr>
          <a:xfrm>
            <a:off x="6483096"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50" name="Shape 48"/>
          <p:cNvSpPr/>
          <p:nvPr/>
        </p:nvSpPr>
        <p:spPr>
          <a:xfrm>
            <a:off x="7178040" y="2802636"/>
            <a:ext cx="4389120" cy="7315"/>
          </a:xfrm>
          <a:prstGeom prst="rect">
            <a:avLst/>
          </a:prstGeom>
          <a:solidFill>
            <a:srgbClr val="E5E5E5"/>
          </a:solidFill>
          <a:ln w="12700">
            <a:solidFill>
              <a:srgbClr val="E5E5E5"/>
            </a:solidFill>
            <a:prstDash val="solid"/>
          </a:ln>
        </p:spPr>
      </p:sp>
      <p:sp>
        <p:nvSpPr>
          <p:cNvPr id="51" name="Text 49"/>
          <p:cNvSpPr txBox="1"/>
          <p:nvPr/>
        </p:nvSpPr>
        <p:spPr>
          <a:xfrm>
            <a:off x="6483096"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52" name="Shape 50"/>
          <p:cNvSpPr/>
          <p:nvPr/>
        </p:nvSpPr>
        <p:spPr>
          <a:xfrm>
            <a:off x="7178040" y="2409444"/>
            <a:ext cx="4389120" cy="7315"/>
          </a:xfrm>
          <a:prstGeom prst="rect">
            <a:avLst/>
          </a:prstGeom>
          <a:solidFill>
            <a:srgbClr val="E5E5E5"/>
          </a:solidFill>
          <a:ln w="12700">
            <a:solidFill>
              <a:srgbClr val="E5E5E5"/>
            </a:solidFill>
            <a:prstDash val="solid"/>
          </a:ln>
        </p:spPr>
      </p:sp>
      <p:sp>
        <p:nvSpPr>
          <p:cNvPr id="53" name="Text 51"/>
          <p:cNvSpPr txBox="1"/>
          <p:nvPr/>
        </p:nvSpPr>
        <p:spPr>
          <a:xfrm>
            <a:off x="6483096"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54" name="Text 52"/>
          <p:cNvSpPr txBox="1"/>
          <p:nvPr/>
        </p:nvSpPr>
        <p:spPr>
          <a:xfrm>
            <a:off x="7456516"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20</a:t>
            </a:r>
            <a:endParaRPr lang="en-US" sz="800" dirty="0"/>
          </a:p>
        </p:txBody>
      </p:sp>
      <p:sp>
        <p:nvSpPr>
          <p:cNvPr id="55" name="Text 53"/>
          <p:cNvSpPr txBox="1"/>
          <p:nvPr/>
        </p:nvSpPr>
        <p:spPr>
          <a:xfrm>
            <a:off x="8454044"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a:t>
            </a:r>
            <a:endParaRPr lang="en-US" sz="800" dirty="0"/>
          </a:p>
        </p:txBody>
      </p:sp>
      <p:sp>
        <p:nvSpPr>
          <p:cNvPr id="56" name="Text 54"/>
          <p:cNvSpPr txBox="1"/>
          <p:nvPr/>
        </p:nvSpPr>
        <p:spPr>
          <a:xfrm>
            <a:off x="9451571"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a:t>
            </a:r>
            <a:endParaRPr lang="en-US" sz="800" dirty="0"/>
          </a:p>
        </p:txBody>
      </p:sp>
      <p:sp>
        <p:nvSpPr>
          <p:cNvPr id="57" name="Text 55"/>
          <p:cNvSpPr txBox="1"/>
          <p:nvPr/>
        </p:nvSpPr>
        <p:spPr>
          <a:xfrm>
            <a:off x="1044909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80</a:t>
            </a:r>
            <a:endParaRPr lang="en-US" sz="800" dirty="0"/>
          </a:p>
        </p:txBody>
      </p:sp>
      <p:sp>
        <p:nvSpPr>
          <p:cNvPr id="58" name="Text 56"/>
          <p:cNvSpPr txBox="1"/>
          <p:nvPr/>
        </p:nvSpPr>
        <p:spPr>
          <a:xfrm>
            <a:off x="7178040"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Índice de información para la selección (0–100)</a:t>
            </a:r>
            <a:endParaRPr lang="en-US" sz="850" dirty="0"/>
          </a:p>
        </p:txBody>
      </p:sp>
      <p:sp>
        <p:nvSpPr>
          <p:cNvPr id="59" name="Shape 57"/>
          <p:cNvSpPr/>
          <p:nvPr/>
        </p:nvSpPr>
        <p:spPr>
          <a:xfrm>
            <a:off x="9881339" y="3125419"/>
            <a:ext cx="219456" cy="219456"/>
          </a:xfrm>
          <a:prstGeom prst="ellipse">
            <a:avLst/>
          </a:prstGeom>
          <a:solidFill>
            <a:srgbClr val="F56600"/>
          </a:solidFill>
          <a:ln w="19050">
            <a:solidFill>
              <a:srgbClr val="2B2B2B"/>
            </a:solidFill>
            <a:prstDash val="solid"/>
          </a:ln>
        </p:spPr>
      </p:sp>
      <p:sp>
        <p:nvSpPr>
          <p:cNvPr id="60" name="Text 58"/>
          <p:cNvSpPr txBox="1"/>
          <p:nvPr/>
        </p:nvSpPr>
        <p:spPr>
          <a:xfrm>
            <a:off x="10173947"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61" name="Shape 59"/>
          <p:cNvSpPr/>
          <p:nvPr/>
        </p:nvSpPr>
        <p:spPr>
          <a:xfrm>
            <a:off x="10432888" y="3895344"/>
            <a:ext cx="173736" cy="173736"/>
          </a:xfrm>
          <a:prstGeom prst="ellipse">
            <a:avLst/>
          </a:prstGeom>
          <a:solidFill>
            <a:srgbClr val="A1A1A1"/>
          </a:solidFill>
          <a:ln w="6350">
            <a:solidFill>
              <a:srgbClr val="A1A1A1"/>
            </a:solidFill>
            <a:prstDash val="solid"/>
          </a:ln>
        </p:spPr>
      </p:sp>
      <p:sp>
        <p:nvSpPr>
          <p:cNvPr id="62" name="Text 60"/>
          <p:cNvSpPr txBox="1"/>
          <p:nvPr/>
        </p:nvSpPr>
        <p:spPr>
          <a:xfrm>
            <a:off x="10679776" y="4110228"/>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63" name="Shape 61"/>
          <p:cNvSpPr/>
          <p:nvPr/>
        </p:nvSpPr>
        <p:spPr>
          <a:xfrm>
            <a:off x="7525096" y="2794406"/>
            <a:ext cx="173736" cy="173736"/>
          </a:xfrm>
          <a:prstGeom prst="ellipse">
            <a:avLst/>
          </a:prstGeom>
          <a:solidFill>
            <a:srgbClr val="A1A1A1"/>
          </a:solidFill>
          <a:ln w="6350">
            <a:solidFill>
              <a:srgbClr val="A1A1A1"/>
            </a:solidFill>
            <a:prstDash val="solid"/>
          </a:ln>
        </p:spPr>
      </p:sp>
      <p:sp>
        <p:nvSpPr>
          <p:cNvPr id="64" name="Text 62"/>
          <p:cNvSpPr txBox="1"/>
          <p:nvPr/>
        </p:nvSpPr>
        <p:spPr>
          <a:xfrm>
            <a:off x="7771984"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65" name="Shape 63"/>
          <p:cNvSpPr/>
          <p:nvPr/>
        </p:nvSpPr>
        <p:spPr>
          <a:xfrm>
            <a:off x="10642369" y="2322576"/>
            <a:ext cx="173736" cy="173736"/>
          </a:xfrm>
          <a:prstGeom prst="ellipse">
            <a:avLst/>
          </a:prstGeom>
          <a:solidFill>
            <a:srgbClr val="A1A1A1"/>
          </a:solidFill>
          <a:ln w="6350">
            <a:solidFill>
              <a:srgbClr val="A1A1A1"/>
            </a:solidFill>
            <a:prstDash val="solid"/>
          </a:ln>
        </p:spPr>
      </p:sp>
      <p:sp>
        <p:nvSpPr>
          <p:cNvPr id="66" name="Text 64"/>
          <p:cNvSpPr txBox="1"/>
          <p:nvPr/>
        </p:nvSpPr>
        <p:spPr>
          <a:xfrm>
            <a:off x="9819409" y="2308860"/>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67" name="Shape 65"/>
          <p:cNvSpPr/>
          <p:nvPr/>
        </p:nvSpPr>
        <p:spPr>
          <a:xfrm>
            <a:off x="9909187" y="3502152"/>
            <a:ext cx="173736" cy="173736"/>
          </a:xfrm>
          <a:prstGeom prst="ellipse">
            <a:avLst/>
          </a:prstGeom>
          <a:solidFill>
            <a:srgbClr val="A1A1A1"/>
          </a:solidFill>
          <a:ln w="6350">
            <a:solidFill>
              <a:srgbClr val="A1A1A1"/>
            </a:solidFill>
            <a:prstDash val="solid"/>
          </a:ln>
        </p:spPr>
      </p:sp>
      <p:sp>
        <p:nvSpPr>
          <p:cNvPr id="68" name="Text 66"/>
          <p:cNvSpPr txBox="1"/>
          <p:nvPr/>
        </p:nvSpPr>
        <p:spPr>
          <a:xfrm>
            <a:off x="9086227" y="3488436"/>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69" name="Shape 67"/>
          <p:cNvSpPr/>
          <p:nvPr/>
        </p:nvSpPr>
        <p:spPr>
          <a:xfrm>
            <a:off x="9375509" y="4091940"/>
            <a:ext cx="173736" cy="173736"/>
          </a:xfrm>
          <a:prstGeom prst="ellipse">
            <a:avLst/>
          </a:prstGeom>
          <a:solidFill>
            <a:srgbClr val="A1A1A1"/>
          </a:solidFill>
          <a:ln w="6350">
            <a:solidFill>
              <a:srgbClr val="A1A1A1"/>
            </a:solidFill>
            <a:prstDash val="solid"/>
          </a:ln>
        </p:spPr>
      </p:sp>
      <p:sp>
        <p:nvSpPr>
          <p:cNvPr id="70" name="Text 68"/>
          <p:cNvSpPr txBox="1"/>
          <p:nvPr/>
        </p:nvSpPr>
        <p:spPr>
          <a:xfrm>
            <a:off x="8552549" y="4078224"/>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71" name="Shape 69"/>
          <p:cNvSpPr/>
          <p:nvPr/>
        </p:nvSpPr>
        <p:spPr>
          <a:xfrm>
            <a:off x="11056343" y="3895344"/>
            <a:ext cx="173736" cy="173736"/>
          </a:xfrm>
          <a:prstGeom prst="ellipse">
            <a:avLst/>
          </a:prstGeom>
          <a:solidFill>
            <a:srgbClr val="A1A1A1"/>
          </a:solidFill>
          <a:ln w="6350">
            <a:solidFill>
              <a:srgbClr val="A1A1A1"/>
            </a:solidFill>
            <a:prstDash val="solid"/>
          </a:ln>
        </p:spPr>
      </p:sp>
      <p:sp>
        <p:nvSpPr>
          <p:cNvPr id="72" name="Text 70"/>
          <p:cNvSpPr txBox="1"/>
          <p:nvPr/>
        </p:nvSpPr>
        <p:spPr>
          <a:xfrm>
            <a:off x="10768307" y="3653028"/>
            <a:ext cx="749808"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73" name="Text 71"/>
          <p:cNvSpPr txBox="1"/>
          <p:nvPr/>
        </p:nvSpPr>
        <p:spPr>
          <a:xfrm>
            <a:off x="621792" y="1938528"/>
            <a:ext cx="2377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Coste del riesgo, % del saldo</a:t>
            </a:r>
            <a:endParaRPr lang="en-US" sz="800" dirty="0"/>
          </a:p>
        </p:txBody>
      </p:sp>
      <p:sp>
        <p:nvSpPr>
          <p:cNvPr id="74" name="Shape 72"/>
          <p:cNvSpPr/>
          <p:nvPr/>
        </p:nvSpPr>
        <p:spPr>
          <a:xfrm>
            <a:off x="621792" y="5138928"/>
            <a:ext cx="5084064" cy="859536"/>
          </a:xfrm>
          <a:prstGeom prst="roundRect">
            <a:avLst>
              <a:gd name="adj" fmla="val 4255"/>
            </a:avLst>
          </a:prstGeom>
          <a:solidFill>
            <a:srgbClr val="FFF4C2"/>
          </a:solidFill>
          <a:ln w="12700">
            <a:solidFill>
              <a:srgbClr val="FFE066"/>
            </a:solidFill>
            <a:prstDash val="solid"/>
          </a:ln>
        </p:spPr>
      </p:sp>
      <p:sp>
        <p:nvSpPr>
          <p:cNvPr id="75" name="Shape 73"/>
          <p:cNvSpPr/>
          <p:nvPr/>
        </p:nvSpPr>
        <p:spPr>
          <a:xfrm>
            <a:off x="621792" y="5138928"/>
            <a:ext cx="64008" cy="859536"/>
          </a:xfrm>
          <a:prstGeom prst="rect">
            <a:avLst/>
          </a:prstGeom>
          <a:solidFill>
            <a:srgbClr val="F56600"/>
          </a:solidFill>
          <a:ln w="12700">
            <a:solidFill>
              <a:srgbClr val="F56600"/>
            </a:solidFill>
            <a:prstDash val="solid"/>
          </a:ln>
        </p:spPr>
      </p:sp>
      <p:sp>
        <p:nvSpPr>
          <p:cNvPr id="76" name="Text 74"/>
          <p:cNvSpPr txBox="1"/>
          <p:nvPr/>
        </p:nvSpPr>
        <p:spPr>
          <a:xfrm>
            <a:off x="841248"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El riesgo NO se paga</a:t>
            </a:r>
            <a:endParaRPr lang="en-US" sz="1100" dirty="0"/>
          </a:p>
        </p:txBody>
      </p:sp>
      <p:sp>
        <p:nvSpPr>
          <p:cNvPr id="77" name="Text 75"/>
          <p:cNvSpPr txBox="1"/>
          <p:nvPr/>
        </p:nvSpPr>
        <p:spPr>
          <a:xfrm>
            <a:off x="841248"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−0,42: quien más riesgo tiene, menos margen cobra, y en los 28 recortes probados ni uno da signo positivo. Italia es la excepción —mayor riesgo, segundo mayor margen—; España y Francia hacen lo contrario.</a:t>
            </a:r>
            <a:endParaRPr lang="en-US" sz="850" dirty="0"/>
          </a:p>
        </p:txBody>
      </p:sp>
      <p:sp>
        <p:nvSpPr>
          <p:cNvPr id="78" name="Shape 76"/>
          <p:cNvSpPr/>
          <p:nvPr/>
        </p:nvSpPr>
        <p:spPr>
          <a:xfrm>
            <a:off x="6483096" y="5138928"/>
            <a:ext cx="5084064" cy="859536"/>
          </a:xfrm>
          <a:prstGeom prst="roundRect">
            <a:avLst>
              <a:gd name="adj" fmla="val 4255"/>
            </a:avLst>
          </a:prstGeom>
          <a:solidFill>
            <a:srgbClr val="FFD6BA"/>
          </a:solidFill>
          <a:ln w="12700">
            <a:solidFill>
              <a:srgbClr val="FFD6BA"/>
            </a:solidFill>
            <a:prstDash val="solid"/>
          </a:ln>
        </p:spPr>
      </p:sp>
      <p:sp>
        <p:nvSpPr>
          <p:cNvPr id="79" name="Shape 77"/>
          <p:cNvSpPr/>
          <p:nvPr/>
        </p:nvSpPr>
        <p:spPr>
          <a:xfrm>
            <a:off x="6483096" y="5138928"/>
            <a:ext cx="64008" cy="859536"/>
          </a:xfrm>
          <a:prstGeom prst="rect">
            <a:avLst/>
          </a:prstGeom>
          <a:solidFill>
            <a:srgbClr val="F56600"/>
          </a:solidFill>
          <a:ln w="12700">
            <a:solidFill>
              <a:srgbClr val="F56600"/>
            </a:solidFill>
            <a:prstDash val="solid"/>
          </a:ln>
        </p:spPr>
      </p:sp>
      <p:sp>
        <p:nvSpPr>
          <p:cNvPr id="80" name="Text 78"/>
          <p:cNvSpPr txBox="1"/>
          <p:nvPr/>
        </p:nvSpPr>
        <p:spPr>
          <a:xfrm>
            <a:off x="6702552"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Tampoco. La información no compra riesgo</a:t>
            </a:r>
            <a:endParaRPr lang="en-US" sz="1100" dirty="0"/>
          </a:p>
        </p:txBody>
      </p:sp>
      <p:sp>
        <p:nvSpPr>
          <p:cNvPr id="81" name="Text 79"/>
          <p:cNvSpPr txBox="1"/>
          <p:nvPr/>
        </p:nvSpPr>
        <p:spPr>
          <a:xfrm>
            <a:off x="6702552"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−0,24, y el signo ni siquiera aguanta: va de −0,90 a ++0,64 según qué país se quite, y sale positivo en 6 de los 28. No hay relación: Italia tiene la segunda mayor información y el peor riesgo.</a:t>
            </a:r>
            <a:endParaRPr lang="en-US" sz="850" dirty="0"/>
          </a:p>
        </p:txBody>
      </p:sp>
      <p:sp>
        <p:nvSpPr>
          <p:cNvPr id="82" name="Text 8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Coste del riesgo: PD × LGD de la clase IRB «Corporates – of which SME», EBA COREP C 9.02 2026-Q1 — pérdida esperada anual, NO el stock de dudosos. Margen bruto: ingreso total menos coste de los recursos, lámina 7. Información: índice propio 0–100 (Banco Mundial Doing Business 2020 más dos ordinales propios sobre normativa vigente). Robustez: se recalcula cada correlación quitando uno y dos países, 28 casos. El eje que sí explica el coste del riesgo es el de recobro (ρ = −0,72), en la lámina de los dos ejes. Siete puntos: lectura descriptiva, no causal. Datos en transversal/mapa_info_margen.csv.</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5" name="Shape 3"/>
          <p:cNvSpPr/>
          <p:nvPr/>
        </p:nvSpPr>
        <p:spPr>
          <a:xfrm>
            <a:off x="621792" y="1554480"/>
            <a:ext cx="329184" cy="329184"/>
          </a:xfrm>
          <a:prstGeom prst="ellipse">
            <a:avLst/>
          </a:prstGeom>
          <a:solidFill>
            <a:srgbClr val="77BFEE"/>
          </a:solidFill>
          <a:ln w="12700">
            <a:solidFill>
              <a:srgbClr val="77BFEE"/>
            </a:solidFill>
            <a:prstDash val="solid"/>
          </a:ln>
        </p:spPr>
      </p:sp>
      <p:sp>
        <p:nvSpPr>
          <p:cNvPr id="6" name="Text 4"/>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7" name="Text 5"/>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8" name="Text 6"/>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9" name="Shape 7"/>
          <p:cNvSpPr/>
          <p:nvPr/>
        </p:nvSpPr>
        <p:spPr>
          <a:xfrm>
            <a:off x="621792" y="2327148"/>
            <a:ext cx="329184" cy="329184"/>
          </a:xfrm>
          <a:prstGeom prst="ellipse">
            <a:avLst/>
          </a:prstGeom>
          <a:solidFill>
            <a:srgbClr val="77BFEE"/>
          </a:solidFill>
          <a:ln w="12700">
            <a:solidFill>
              <a:srgbClr val="77BFEE"/>
            </a:solidFill>
            <a:prstDash val="solid"/>
          </a:ln>
        </p:spPr>
      </p:sp>
      <p:sp>
        <p:nvSpPr>
          <p:cNvPr id="10" name="Text 8"/>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1" name="Text 9"/>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2" name="Text 10"/>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3" name="Shape 11"/>
          <p:cNvSpPr/>
          <p:nvPr/>
        </p:nvSpPr>
        <p:spPr>
          <a:xfrm>
            <a:off x="621792" y="3099816"/>
            <a:ext cx="329184" cy="329184"/>
          </a:xfrm>
          <a:prstGeom prst="ellipse">
            <a:avLst/>
          </a:prstGeom>
          <a:solidFill>
            <a:srgbClr val="77BFEE"/>
          </a:solidFill>
          <a:ln w="12700">
            <a:solidFill>
              <a:srgbClr val="77BFEE"/>
            </a:solidFill>
            <a:prstDash val="solid"/>
          </a:ln>
        </p:spPr>
      </p:sp>
      <p:sp>
        <p:nvSpPr>
          <p:cNvPr id="14" name="Text 12"/>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5" name="Text 13"/>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6" name="Text 14"/>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7" name="Shape 15"/>
          <p:cNvSpPr/>
          <p:nvPr/>
        </p:nvSpPr>
        <p:spPr>
          <a:xfrm>
            <a:off x="621792" y="3872484"/>
            <a:ext cx="329184" cy="329184"/>
          </a:xfrm>
          <a:prstGeom prst="ellipse">
            <a:avLst/>
          </a:prstGeom>
          <a:solidFill>
            <a:srgbClr val="77BFEE"/>
          </a:solidFill>
          <a:ln w="12700">
            <a:solidFill>
              <a:srgbClr val="77BFEE"/>
            </a:solidFill>
            <a:prstDash val="solid"/>
          </a:ln>
        </p:spPr>
      </p:sp>
      <p:sp>
        <p:nvSpPr>
          <p:cNvPr id="18" name="Text 16"/>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9" name="Text 17"/>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0" name="Text 18"/>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1" name="Shape 19"/>
          <p:cNvSpPr/>
          <p:nvPr/>
        </p:nvSpPr>
        <p:spPr>
          <a:xfrm>
            <a:off x="621792" y="4645152"/>
            <a:ext cx="329184" cy="329184"/>
          </a:xfrm>
          <a:prstGeom prst="ellipse">
            <a:avLst/>
          </a:prstGeom>
          <a:solidFill>
            <a:srgbClr val="77BFEE"/>
          </a:solidFill>
          <a:ln w="12700">
            <a:solidFill>
              <a:srgbClr val="77BFEE"/>
            </a:solidFill>
            <a:prstDash val="solid"/>
          </a:ln>
        </p:spPr>
      </p:sp>
      <p:sp>
        <p:nvSpPr>
          <p:cNvPr id="22" name="Text 20"/>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3" name="Text 21"/>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4" name="Text 22"/>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5" name="Shape 23"/>
          <p:cNvSpPr/>
          <p:nvPr/>
        </p:nvSpPr>
        <p:spPr>
          <a:xfrm>
            <a:off x="621792" y="5417820"/>
            <a:ext cx="329184" cy="329184"/>
          </a:xfrm>
          <a:prstGeom prst="ellipse">
            <a:avLst/>
          </a:prstGeom>
          <a:solidFill>
            <a:srgbClr val="77BFEE"/>
          </a:solidFill>
          <a:ln w="12700">
            <a:solidFill>
              <a:srgbClr val="77BFEE"/>
            </a:solidFill>
            <a:prstDash val="solid"/>
          </a:ln>
        </p:spPr>
      </p:sp>
      <p:sp>
        <p:nvSpPr>
          <p:cNvPr id="26" name="Text 24"/>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7" name="Text 25"/>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8" name="Text 26"/>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29"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De dónde sale el capital: selección, garantía y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Ponderación que predice la fórmula IRB del art. 153 CRR con la PD y la LGD observadas de cada país, frente a la densidad IRB que realmente se observa · Junio 2025</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81328"/>
                <a:gridCol w="1005840"/>
                <a:gridCol w="1051560"/>
                <a:gridCol w="1536192"/>
                <a:gridCol w="1536192"/>
                <a:gridCol w="1280160"/>
                <a:gridCol w="1481328"/>
                <a:gridCol w="1572768"/>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LGD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RW que da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la fórmula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IRB</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observada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Residuo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Tasa de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recuperación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NPL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55,4 %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46,6 %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−16,5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79,8 %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54,5 %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−19,2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5,12 %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62,3 %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−24,6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4,90 %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40,0 %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59,3 %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47,5 %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−11,8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−8,2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90,1 %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3,13 %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+12,0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86,1 %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4297680"/>
            <a:ext cx="5321808" cy="1664208"/>
          </a:xfrm>
          <a:prstGeom prst="roundRect">
            <a:avLst>
              <a:gd name="adj" fmla="val 2198"/>
            </a:avLst>
          </a:prstGeom>
          <a:solidFill>
            <a:srgbClr val="FFF4C2"/>
          </a:solidFill>
          <a:ln w="12700">
            <a:solidFill>
              <a:srgbClr val="FFE066"/>
            </a:solidFill>
            <a:prstDash val="solid"/>
          </a:ln>
        </p:spPr>
      </p:sp>
      <p:sp>
        <p:nvSpPr>
          <p:cNvPr id="7" name="Shape 4"/>
          <p:cNvSpPr/>
          <p:nvPr/>
        </p:nvSpPr>
        <p:spPr>
          <a:xfrm>
            <a:off x="621792" y="4297680"/>
            <a:ext cx="64008" cy="1664208"/>
          </a:xfrm>
          <a:prstGeom prst="rect">
            <a:avLst/>
          </a:prstGeom>
          <a:solidFill>
            <a:srgbClr val="F56600"/>
          </a:solidFill>
          <a:ln w="12700">
            <a:solidFill>
              <a:srgbClr val="F56600"/>
            </a:solidFill>
            <a:prstDash val="solid"/>
          </a:ln>
        </p:spPr>
      </p:sp>
      <p:sp>
        <p:nvSpPr>
          <p:cNvPr id="8" name="Text 5"/>
          <p:cNvSpPr txBox="1"/>
          <p:nvPr/>
        </p:nvSpPr>
        <p:spPr>
          <a:xfrm>
            <a:off x="84124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Países Bajos: mitad garantía, mitad selección</a:t>
            </a:r>
            <a:endParaRPr lang="en-US" sz="1100" dirty="0"/>
          </a:p>
        </p:txBody>
      </p:sp>
      <p:sp>
        <p:nvSpPr>
          <p:cNvPr id="9" name="Text 6"/>
          <p:cNvSpPr txBox="1"/>
          <p:nvPr/>
        </p:nvSpPr>
        <p:spPr>
          <a:xfrm>
            <a:off x="84124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Consume 12,9 pp menos que España: 53 % por la LGD y 41 % por la PD. El reparto aguanta el tamaño de empresa (52 a 54 % la LGD) y solo se mueve con el vencimiento (47 % a un año, 60 % a cinco). Los dos inputs están corroborados fuera del modelo: tasa de recuperación concursal del 90,1 %, la más alta de los siete, y el NPL de PYME más bajo (3,13 %). Bajo IRB la garantía no compite con el modelo: entra dentro, por la LGD.</a:t>
            </a:r>
            <a:endParaRPr lang="en-US" sz="850" dirty="0"/>
          </a:p>
        </p:txBody>
      </p:sp>
      <p:sp>
        <p:nvSpPr>
          <p:cNvPr id="10" name="Shape 7"/>
          <p:cNvSpPr/>
          <p:nvPr/>
        </p:nvSpPr>
        <p:spPr>
          <a:xfrm>
            <a:off x="6245352" y="4297680"/>
            <a:ext cx="5321808" cy="1664208"/>
          </a:xfrm>
          <a:prstGeom prst="roundRect">
            <a:avLst>
              <a:gd name="adj" fmla="val 2198"/>
            </a:avLst>
          </a:prstGeom>
          <a:solidFill>
            <a:srgbClr val="FFD6BA"/>
          </a:solidFill>
          <a:ln w="12700">
            <a:solidFill>
              <a:srgbClr val="FFD6BA"/>
            </a:solidFill>
            <a:prstDash val="solid"/>
          </a:ln>
        </p:spPr>
      </p:sp>
      <p:sp>
        <p:nvSpPr>
          <p:cNvPr id="11" name="Shape 8"/>
          <p:cNvSpPr/>
          <p:nvPr/>
        </p:nvSpPr>
        <p:spPr>
          <a:xfrm>
            <a:off x="6245352" y="4297680"/>
            <a:ext cx="64008" cy="1664208"/>
          </a:xfrm>
          <a:prstGeom prst="rect">
            <a:avLst/>
          </a:prstGeom>
          <a:solidFill>
            <a:srgbClr val="F56600"/>
          </a:solidFill>
          <a:ln w="12700">
            <a:solidFill>
              <a:srgbClr val="F56600"/>
            </a:solidFill>
            <a:prstDash val="solid"/>
          </a:ln>
        </p:spPr>
      </p:sp>
      <p:sp>
        <p:nvSpPr>
          <p:cNvPr id="12" name="Text 9"/>
          <p:cNvSpPr txBox="1"/>
          <p:nvPr/>
        </p:nvSpPr>
        <p:spPr>
          <a:xfrm>
            <a:off x="646480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la fórmula no explica</a:t>
            </a:r>
            <a:endParaRPr lang="en-US" sz="1100" dirty="0"/>
          </a:p>
        </p:txBody>
      </p:sp>
      <p:sp>
        <p:nvSpPr>
          <p:cNvPr id="13" name="Text 10"/>
          <p:cNvSpPr txBox="1"/>
          <p:nvPr/>
        </p:nvSpPr>
        <p:spPr>
          <a:xfrm>
            <a:off x="646480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país donde la densidad observada coincide con la que da la fórmula (55,4 % frente a 56,0 %). En los demás el agregado pondera hasta 25 pp por debajo. Cuidado al leerlo: la PD y la LGD son MEDIANAS de entidades y la densidad es media ponderada por volumen, así que parte del residuo es esa asimetría y no comportamiento del modelo. No se puede separar con lo publicado.</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PD y LGD: EBA, COREP C 9.02, clase «Corporates – of which SME», mediana de entidades declarantes, 2026-Q1. Densidad IRB observada: EBA, EU-wide Transparency Exercise, junio 2025, Portfolio = 2. Fórmula del art. 153 CRR con ajuste PYME del 153.4 y factor de apoyo del art. 501 (0,7619); SUPUESTOS declarados y no observados: facturación 25 M€ y vencimiento efectivo 2,5 años — la sensibilidad a los dos está en el CSV. Tasa de recuperación: Banco Mundial, Doing Business 2020 — céntimos por dólar que recupera el acreedor garantizado en un concurso, no un tipo de interés. NPL PYME: EBA Risk Dashboard 2026-Q1. (*) LGD de exactamente 40,00 %: es el valor supervisor del IRB BÁSICO (art. 161 CRR), donde el banco no estima su propia severidad. Datos en transversal/descomposicion_rwa.csv.</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ROE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 dónde sale cada línea de la cuenta del préstamo PYME, y si el dato es de verdad de PYME o un proxy</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1517904"/>
          <a:ext cx="10945368" cy="914400"/>
        </p:xfrm>
        <a:graphic>
          <a:graphicData uri="http://schemas.openxmlformats.org/drawingml/2006/table">
            <a:tbl>
              <a:tblPr/>
              <a:tblGrid>
                <a:gridCol w="1481328"/>
                <a:gridCol w="2788920"/>
                <a:gridCol w="4416552"/>
                <a:gridCol w="1024128"/>
                <a:gridCol w="1234440"/>
              </a:tblGrid>
              <a:tr h="292608">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Partida</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Fuente</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Qué se usa y por qué es, o no, de PYME</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Tipo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Último dato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Precio del préstamo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tipo de nueva producción a sociedades no financieras, tramo ≤1 M€, fijación total, sin comisiones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Segmenta por IMPORTE DEL PRÉSTAMO, no por tamaño de empresa: una gran empresa que pide 800.000 € entra, y una mediana que pide 3 M€ no. Deja fuera al autónomo, que está en hogares.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PROXY</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Comisiones</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Banco de España, Boletín Estadístico, cap. 19: cuña TAE − tipo sin comisiones, tramo ≤1 M€</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Solo España publica un tipo con comisiones para empresas; su cuña de 87 pb se aplica a los siete. Fuera de España no es un dato. Contraste: los segmentos de empresas que se publican cobran de 99 a 122 pb.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SUPUESTO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Coste de los recursos</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depósitos a la vista y a plazo del sector 2240, ponderados por los saldos del BSI</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Depósito de SOCIEDADES NO FINANCIERAS, no de PYME: incluye la tesorería de la gran empresa. Supone además que el préstamo se financia con depósito de empresa y no en mercado.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PROXY</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Coste del riesgo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COREP C 9.02: PD × LGD de la clase IRB «Corporates – of which SME»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 PYME, pero con la definición INTERNA de cada banco: en IRB el reporting no impone una común. Además, solo cartera IRB, mediana de entidades y pérdida esperada, no dotación contable.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PYME</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Densidad de RWA</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Transparency Exercise: RWA sobre valor de exposición de la cartera PYME, estándar más IRB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 PYME, con dos definiciones: estándar, facturación hasta 50 M€; IRB, la interna de cada banco. Incluye PYME extranjera (46 % en España): sin ella la densidad baja de 1,7 a 4,4 pp en seis de los siete, sin cambiar el orden.</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PYME</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2025-06</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Gastos de explotación</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de eficiencia (cost-to-income),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Eficiencia del banco entero aplicada al margen del préstamo. Supone que la PYME cuesta lo mismo por euro de margen que el resto del negocio.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CET1</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CET1,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Solvencia del banco: el capital que se exige a cada euro de RWA, venga del segmento que venga.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Tipo impositivo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Legislación de cada país: España 30 % (art. 29 LIS, entidades de crédito), Irlanda 15 % (mínimo de Pilar Dos)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Tipo NOMINAL aplicable a bancos, no el efectivo. El resto de países, tipo combinado estatal más local.</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bl>
          </a:graphicData>
        </a:graphic>
      </p:graphicFrame>
      <p:sp>
        <p:nvSpPr>
          <p:cNvPr id="6" name="Shape 3"/>
          <p:cNvSpPr/>
          <p:nvPr/>
        </p:nvSpPr>
        <p:spPr>
          <a:xfrm>
            <a:off x="621792" y="5614416"/>
            <a:ext cx="868680" cy="201168"/>
          </a:xfrm>
          <a:prstGeom prst="roundRect">
            <a:avLst>
              <a:gd name="adj" fmla="val 36364"/>
            </a:avLst>
          </a:prstGeom>
          <a:solidFill>
            <a:srgbClr val="77BFEE"/>
          </a:solidFill>
          <a:ln w="12700">
            <a:solidFill>
              <a:srgbClr val="77BFEE"/>
            </a:solidFill>
            <a:prstDash val="solid"/>
          </a:ln>
        </p:spPr>
      </p:sp>
      <p:sp>
        <p:nvSpPr>
          <p:cNvPr id="7" name="Text 4"/>
          <p:cNvSpPr txBox="1"/>
          <p:nvPr/>
        </p:nvSpPr>
        <p:spPr>
          <a:xfrm>
            <a:off x="6217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PYME</a:t>
            </a:r>
            <a:endParaRPr lang="en-US" sz="700" dirty="0"/>
          </a:p>
        </p:txBody>
      </p:sp>
      <p:sp>
        <p:nvSpPr>
          <p:cNvPr id="8" name="Text 5"/>
          <p:cNvSpPr txBox="1"/>
          <p:nvPr/>
        </p:nvSpPr>
        <p:spPr>
          <a:xfrm>
            <a:off x="15544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el dato es del segmento</a:t>
            </a:r>
            <a:endParaRPr lang="en-US" sz="750" dirty="0"/>
          </a:p>
        </p:txBody>
      </p:sp>
      <p:sp>
        <p:nvSpPr>
          <p:cNvPr id="9" name="Shape 6"/>
          <p:cNvSpPr/>
          <p:nvPr/>
        </p:nvSpPr>
        <p:spPr>
          <a:xfrm>
            <a:off x="3364992" y="5614416"/>
            <a:ext cx="868680" cy="201168"/>
          </a:xfrm>
          <a:prstGeom prst="roundRect">
            <a:avLst>
              <a:gd name="adj" fmla="val 36364"/>
            </a:avLst>
          </a:prstGeom>
          <a:solidFill>
            <a:srgbClr val="FFAB70"/>
          </a:solidFill>
          <a:ln w="12700">
            <a:solidFill>
              <a:srgbClr val="FFAB70"/>
            </a:solidFill>
            <a:prstDash val="solid"/>
          </a:ln>
        </p:spPr>
      </p:sp>
      <p:sp>
        <p:nvSpPr>
          <p:cNvPr id="10" name="Text 7"/>
          <p:cNvSpPr txBox="1"/>
          <p:nvPr/>
        </p:nvSpPr>
        <p:spPr>
          <a:xfrm>
            <a:off x="33649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PROXY</a:t>
            </a:r>
            <a:endParaRPr lang="en-US" sz="700" dirty="0"/>
          </a:p>
        </p:txBody>
      </p:sp>
      <p:sp>
        <p:nvSpPr>
          <p:cNvPr id="11" name="Text 8"/>
          <p:cNvSpPr txBox="1"/>
          <p:nvPr/>
        </p:nvSpPr>
        <p:spPr>
          <a:xfrm>
            <a:off x="42976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otro perímetro en su lugar</a:t>
            </a:r>
            <a:endParaRPr lang="en-US" sz="750" dirty="0"/>
          </a:p>
        </p:txBody>
      </p:sp>
      <p:sp>
        <p:nvSpPr>
          <p:cNvPr id="12" name="Shape 9"/>
          <p:cNvSpPr/>
          <p:nvPr/>
        </p:nvSpPr>
        <p:spPr>
          <a:xfrm>
            <a:off x="6108192" y="5614416"/>
            <a:ext cx="868680" cy="201168"/>
          </a:xfrm>
          <a:prstGeom prst="roundRect">
            <a:avLst>
              <a:gd name="adj" fmla="val 36364"/>
            </a:avLst>
          </a:prstGeom>
          <a:solidFill>
            <a:srgbClr val="FF8AC2"/>
          </a:solidFill>
          <a:ln w="12700">
            <a:solidFill>
              <a:srgbClr val="FF8AC2"/>
            </a:solidFill>
            <a:prstDash val="solid"/>
          </a:ln>
        </p:spPr>
      </p:sp>
      <p:sp>
        <p:nvSpPr>
          <p:cNvPr id="13" name="Text 10"/>
          <p:cNvSpPr txBox="1"/>
          <p:nvPr/>
        </p:nvSpPr>
        <p:spPr>
          <a:xfrm>
            <a:off x="61081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SUPUESTO</a:t>
            </a:r>
            <a:endParaRPr lang="en-US" sz="700" dirty="0"/>
          </a:p>
        </p:txBody>
      </p:sp>
      <p:sp>
        <p:nvSpPr>
          <p:cNvPr id="14" name="Text 11"/>
          <p:cNvSpPr txBox="1"/>
          <p:nvPr/>
        </p:nvSpPr>
        <p:spPr>
          <a:xfrm>
            <a:off x="70408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no hay dato: se importa</a:t>
            </a:r>
            <a:endParaRPr lang="en-US" sz="750" dirty="0"/>
          </a:p>
        </p:txBody>
      </p:sp>
      <p:sp>
        <p:nvSpPr>
          <p:cNvPr id="15" name="Shape 12"/>
          <p:cNvSpPr/>
          <p:nvPr/>
        </p:nvSpPr>
        <p:spPr>
          <a:xfrm>
            <a:off x="8851392" y="5614416"/>
            <a:ext cx="868680" cy="201168"/>
          </a:xfrm>
          <a:prstGeom prst="roundRect">
            <a:avLst>
              <a:gd name="adj" fmla="val 36364"/>
            </a:avLst>
          </a:prstGeom>
          <a:solidFill>
            <a:srgbClr val="CACACA"/>
          </a:solidFill>
          <a:ln w="12700">
            <a:solidFill>
              <a:srgbClr val="CACACA"/>
            </a:solidFill>
            <a:prstDash val="solid"/>
          </a:ln>
        </p:spPr>
      </p:sp>
      <p:sp>
        <p:nvSpPr>
          <p:cNvPr id="16" name="Text 13"/>
          <p:cNvSpPr txBox="1"/>
          <p:nvPr/>
        </p:nvSpPr>
        <p:spPr>
          <a:xfrm>
            <a:off x="88513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DEL BANCO</a:t>
            </a:r>
            <a:endParaRPr lang="en-US" sz="700" dirty="0"/>
          </a:p>
        </p:txBody>
      </p:sp>
      <p:sp>
        <p:nvSpPr>
          <p:cNvPr id="17" name="Text 14"/>
          <p:cNvSpPr txBox="1"/>
          <p:nvPr/>
        </p:nvSpPr>
        <p:spPr>
          <a:xfrm>
            <a:off x="97840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del banco entero, por diseño</a:t>
            </a:r>
            <a:endParaRPr lang="en-US" sz="7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No hay UNA definición de PYME en los datos del EBA. Mora (FINREP): Recomendación 2003/361/CE completa, menos de 250 empleados y hasta 50 M€ de facturación o 43 M€ de balance. Capital por método estándar: el CRR solo define PYME en el art. 501, por facturación hasta 50 M€. Todo lo IRB —PD, LGD y la parte IRB de la densidad—: la definición interna de cada banco. Ninguna coincide con los tramos de importe del MIR. Detalle en notas.md.</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2026-09-23T15:53:10Z</dcterms:created>
  <dcterms:modified xsi:type="dcterms:W3CDTF">2026-09-23T15:53:10Z</dcterms:modified>
</cp:coreProperties>
</file>