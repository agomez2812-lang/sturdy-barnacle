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España</c:v>
                </c:pt>
              </c:strCache>
            </c:strRef>
          </c:tx>
          <c:spPr>
            <a:solidFill>
              <a:srgbClr val="F56600"/>
            </a:solidFill>
            <a:ln w="3048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0.59</c:v>
                </c:pt>
                <c:pt idx="1">
                  <c:v>0.34</c:v>
                </c:pt>
                <c:pt idx="2">
                  <c:v>0.27</c:v>
                </c:pt>
                <c:pt idx="3">
                  <c:v>0.05</c:v>
                </c:pt>
                <c:pt idx="4">
                  <c:v>-0.03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Alemania</c:v>
                </c:pt>
              </c:strCache>
            </c:strRef>
          </c:tx>
          <c:spPr>
            <a:solidFill>
              <a:srgbClr val="A1A1A1"/>
            </a:solidFill>
            <a:ln w="30480" cap="flat">
              <a:solidFill>
                <a:srgbClr val="A1A1A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A1A1A1"/>
              </a:solidFill>
              <a:ln w="9525" cap="flat">
                <a:solidFill>
                  <a:srgbClr val="A1A1A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0.53</c:v>
                </c:pt>
                <c:pt idx="1">
                  <c:v>1.4</c:v>
                </c:pt>
                <c:pt idx="2">
                  <c:v>1.03</c:v>
                </c:pt>
                <c:pt idx="3">
                  <c:v>1.22</c:v>
                </c:pt>
                <c:pt idx="4">
                  <c:v>1.16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Francia</c:v>
                </c:pt>
              </c:strCache>
            </c:strRef>
          </c:tx>
          <c:spPr>
            <a:solidFill>
              <a:srgbClr val="77BFEE"/>
            </a:solidFill>
            <a:ln w="30480" cap="flat">
              <a:solidFill>
                <a:srgbClr val="77BFE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77BFEE"/>
              </a:solidFill>
              <a:ln w="9525" cap="flat">
                <a:solidFill>
                  <a:srgbClr val="77BFE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0.33</c:v>
                </c:pt>
                <c:pt idx="1">
                  <c:v>-0.02</c:v>
                </c:pt>
                <c:pt idx="2">
                  <c:v>-0.01</c:v>
                </c:pt>
                <c:pt idx="3">
                  <c:v>0.46</c:v>
                </c:pt>
                <c:pt idx="4">
                  <c:v>0.5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Italia</c:v>
                </c:pt>
              </c:strCache>
            </c:strRef>
          </c:tx>
          <c:spPr>
            <a:solidFill>
              <a:srgbClr val="FF8AC2"/>
            </a:solidFill>
            <a:ln w="30480" cap="flat">
              <a:solidFill>
                <a:srgbClr val="FF8AC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8AC2"/>
              </a:solidFill>
              <a:ln w="9525" cap="flat">
                <a:solidFill>
                  <a:srgbClr val="FF8AC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1.23</c:v>
                </c:pt>
                <c:pt idx="1">
                  <c:v>0.94</c:v>
                </c:pt>
                <c:pt idx="2">
                  <c:v>0.93</c:v>
                </c:pt>
                <c:pt idx="3">
                  <c:v>1.25</c:v>
                </c:pt>
                <c:pt idx="4">
                  <c:v>1.44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Portugal</c:v>
                </c:pt>
              </c:strCache>
            </c:strRef>
          </c:tx>
          <c:spPr>
            <a:solidFill>
              <a:srgbClr val="FFAB70"/>
            </a:solidFill>
            <a:ln w="30480" cap="flat">
              <a:solidFill>
                <a:srgbClr val="FFAB7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FAB70"/>
              </a:solidFill>
              <a:ln w="9525" cap="flat">
                <a:solidFill>
                  <a:srgbClr val="FFAB7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0.76</c:v>
                </c:pt>
                <c:pt idx="1">
                  <c:v>0.62</c:v>
                </c:pt>
                <c:pt idx="2">
                  <c:v>0.57</c:v>
                </c:pt>
                <c:pt idx="3">
                  <c:v>0.66</c:v>
                </c:pt>
                <c:pt idx="4">
                  <c:v>0.67</c:v>
                </c:pt>
              </c:numCache>
            </c:numRef>
          </c:val>
          <c:smooth val="0"/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P. Bajos</c:v>
                </c:pt>
              </c:strCache>
            </c:strRef>
          </c:tx>
          <c:spPr>
            <a:solidFill>
              <a:srgbClr val="6FBF9B"/>
            </a:solidFill>
            <a:ln w="30480" cap="flat">
              <a:solidFill>
                <a:srgbClr val="6FBF9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6FBF9B"/>
              </a:solidFill>
              <a:ln w="9525" cap="flat">
                <a:solidFill>
                  <a:srgbClr val="6FBF9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1.61</c:v>
                </c:pt>
                <c:pt idx="1">
                  <c:v>1.56</c:v>
                </c:pt>
                <c:pt idx="2">
                  <c:v>0.87</c:v>
                </c:pt>
                <c:pt idx="3">
                  <c:v>1.01</c:v>
                </c:pt>
                <c:pt idx="4">
                  <c:v>1.2</c:v>
                </c:pt>
              </c:numCache>
            </c:numRef>
          </c:val>
          <c:smooth val="0"/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CACACA"/>
            </a:solidFill>
            <a:ln w="30480" cap="flat">
              <a:solidFill>
                <a:srgbClr val="CACAC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ACACA"/>
              </a:solidFill>
              <a:ln w="9525" cap="flat">
                <a:solidFill>
                  <a:srgbClr val="CACAC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2022</c:v>
                  </c:pt>
                  <c:pt idx="1">
                    <c:v>2023</c:v>
                  </c:pt>
                  <c:pt idx="2">
                    <c:v>2024</c:v>
                  </c:pt>
                  <c:pt idx="3">
                    <c:v>2025</c:v>
                  </c:pt>
                  <c:pt idx="4">
                    <c:v>2026</c:v>
                  </c:pt>
                </c:lvl>
              </c:multiLvlStrCache>
            </c:multiLvlStrRef>
          </c:cat>
          <c:val>
            <c:numRef>
              <c:f>Sheet1!$H$2:$H$6</c:f>
              <c:numCache>
                <c:formatCode>General</c:formatCode>
                <c:ptCount val="5"/>
                <c:pt idx="0">
                  <c:v>1.64</c:v>
                </c:pt>
                <c:pt idx="1">
                  <c:v>0.7</c:v>
                </c:pt>
                <c:pt idx="2">
                  <c:v>0.29</c:v>
                </c:pt>
                <c:pt idx="3">
                  <c:v>0.68</c:v>
                </c:pt>
                <c:pt idx="4">
                  <c:v>0.62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"/>
          <c:min val="-0.4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.0&quot; pp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Tasa de rechazo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5660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A1A1A1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ACACA"/>
              </a:solidFill>
              <a:effectLst/>
            </c:spPr>
          </c:dPt>
          <c:cat>
            <c:multiLvlStrRef>
              <c:f>Sheet1!$A$2:$A$9</c:f>
              <c:multiLvlStrCache>
                <c:ptCount val="8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  <c:pt idx="7">
                    <c:v>Zona euro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9.7</c:v>
                </c:pt>
                <c:pt idx="1">
                  <c:v>5.5</c:v>
                </c:pt>
                <c:pt idx="2">
                  <c:v>8.2</c:v>
                </c:pt>
                <c:pt idx="3">
                  <c:v>0.7</c:v>
                </c:pt>
                <c:pt idx="4">
                  <c:v>4.1</c:v>
                </c:pt>
                <c:pt idx="5">
                  <c:v>13.6</c:v>
                </c:pt>
                <c:pt idx="6">
                  <c:v>9.2</c:v>
                </c:pt>
                <c:pt idx="7">
                  <c:v>9.6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Método estándar</c:v>
                </c:pt>
              </c:strCache>
            </c:strRef>
          </c:tx>
          <c:spPr>
            <a:solidFill>
              <a:srgbClr val="A1A1A1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63</c:v>
                </c:pt>
                <c:pt idx="1">
                  <c:v>66</c:v>
                </c:pt>
                <c:pt idx="2">
                  <c:v>67.3</c:v>
                </c:pt>
                <c:pt idx="3">
                  <c:v>66.3</c:v>
                </c:pt>
                <c:pt idx="4">
                  <c:v>72.7</c:v>
                </c:pt>
                <c:pt idx="5">
                  <c:v>69.9</c:v>
                </c:pt>
                <c:pt idx="6">
                  <c:v>77.3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Modelos internos (IRB)</c:v>
                </c:pt>
              </c:strCache>
            </c:strRef>
          </c:tx>
          <c:spPr>
            <a:solidFill>
              <a:srgbClr val="F56600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España</c:v>
                  </c:pt>
                  <c:pt idx="1">
                    <c:v>Alemania</c:v>
                  </c:pt>
                  <c:pt idx="2">
                    <c:v>Francia</c:v>
                  </c:pt>
                  <c:pt idx="3">
                    <c:v>Italia</c:v>
                  </c:pt>
                  <c:pt idx="4">
                    <c:v>Portugal</c:v>
                  </c:pt>
                  <c:pt idx="5">
                    <c:v>P. Bajos</c:v>
                  </c:pt>
                  <c:pt idx="6">
                    <c:v>Irlanda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55.4</c:v>
                </c:pt>
                <c:pt idx="1">
                  <c:v>30.1</c:v>
                </c:pt>
                <c:pt idx="2">
                  <c:v>35.3</c:v>
                </c:pt>
                <c:pt idx="3">
                  <c:v>37.7</c:v>
                </c:pt>
                <c:pt idx="4">
                  <c:v>47.5</c:v>
                </c:pt>
                <c:pt idx="5">
                  <c:v>34.9</c:v>
                </c:pt>
                <c:pt idx="6">
                  <c:v>64.7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Irlanda</c:v>
                </c:pt>
              </c:strCache>
            </c:strRef>
          </c:tx>
          <c:spPr>
            <a:solidFill>
              <a:srgbClr val="F56600"/>
            </a:solidFill>
            <a:ln w="33020" cap="flat">
              <a:solidFill>
                <a:srgbClr val="F566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2B2B2B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F56600"/>
              </a:solidFill>
              <a:ln w="9525" cap="flat">
                <a:solidFill>
                  <a:srgbClr val="F566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2015</c:v>
                  </c:pt>
                  <c:pt idx="1">
                    <c:v>2016</c:v>
                  </c:pt>
                  <c:pt idx="2">
                    <c:v>2017</c:v>
                  </c:pt>
                  <c:pt idx="3">
                    <c:v>2018</c:v>
                  </c:pt>
                  <c:pt idx="4">
                    <c:v>2019</c:v>
                  </c:pt>
                  <c:pt idx="5">
                    <c:v>2020</c:v>
                  </c:pt>
                  <c:pt idx="6">
                    <c:v>2021</c:v>
                  </c:pt>
                  <c:pt idx="7">
                    <c:v>2022</c:v>
                  </c:pt>
                  <c:pt idx="8">
                    <c:v>2023</c:v>
                  </c:pt>
                  <c:pt idx="9">
                    <c:v>2024</c:v>
                  </c:pt>
                  <c:pt idx="10">
                    <c:v>2025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25978</c:v>
                </c:pt>
                <c:pt idx="1">
                  <c:v>23952</c:v>
                </c:pt>
                <c:pt idx="2">
                  <c:v>26294</c:v>
                </c:pt>
                <c:pt idx="3">
                  <c:v>26294</c:v>
                </c:pt>
                <c:pt idx="4">
                  <c:v>28423.8</c:v>
                </c:pt>
                <c:pt idx="5">
                  <c:v>28423.8</c:v>
                </c:pt>
                <c:pt idx="6">
                  <c:v>28617</c:v>
                </c:pt>
                <c:pt idx="7">
                  <c:v>28617</c:v>
                </c:pt>
                <c:pt idx="8">
                  <c:v>28617</c:v>
                </c:pt>
                <c:pt idx="9">
                  <c:v>28617</c:v>
                </c:pt>
                <c:pt idx="10">
                  <c:v>28617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2B2B2B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B2B2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000"/>
          <c:min val="18000"/>
        </c:scaling>
        <c:delete val="0"/>
        <c:axPos val="l"/>
        <c:majorGridlines>
          <c:spPr>
            <a:ln w="12700" cap="flat">
              <a:solidFill>
                <a:srgbClr val="E3E9EB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818181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prima PYME española se ha evaporado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Diferencial de tipo entre el préstamo pequeño y el grande, préstamos a sociedades no financieras · Media anual ponderada por volumen de nueva producción · Fijación inicial total · Sin comisiones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340156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99248" y="1664208"/>
            <a:ext cx="3867912" cy="2487168"/>
          </a:xfrm>
          <a:prstGeom prst="roundRect">
            <a:avLst>
              <a:gd name="adj" fmla="val 2206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82128" y="1764792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Dos definiciones, misma conclusión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882128" y="2029968"/>
            <a:ext cx="3520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 de los últimos 12 meses, en pp</a:t>
            </a:r>
            <a:endParaRPr lang="en-US" sz="8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82128" y="2249424"/>
          <a:ext cx="3520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051560"/>
              </a:tblGrid>
              <a:tr h="21762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≤0,25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≤1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vs &gt;1 M€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−0,03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−0,05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+1,24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+0,51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+1,39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+1,00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+0,66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+0,25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+1,15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+1,07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762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+0,81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+0,47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699248" y="4261104"/>
            <a:ext cx="3867912" cy="1645920"/>
          </a:xfrm>
          <a:prstGeom prst="roundRect">
            <a:avLst>
              <a:gd name="adj" fmla="val 222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699248" y="4261104"/>
            <a:ext cx="64008" cy="16459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918704" y="4352544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Dejamos de cobrar por el tamaño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918704" y="4590288"/>
            <a:ext cx="348386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España es el único de los siete donde la prima llega a cero: de +0,59 pp en 2022 a −0,03 pp en los últimos 12 meses. 8 de los 55 meses de la serie tienen prima NEGATIVA: el préstamo pequeño sale más barato que el grande. Italia va en sentido contrario (+1,23 → +1,39 pp).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621792" y="5138928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Es una prima de tamaño de OPERACIÓN, no de tamaño de empresa: el MIR segmenta por importe del préstamo. Un préstamo de 800.000 € a una empresa grande cuenta como «pequeño».</a:t>
            </a:r>
            <a:endParaRPr lang="en-US" sz="950" dirty="0"/>
          </a:p>
        </p:txBody>
      </p:sp>
      <p:sp>
        <p:nvSpPr>
          <p:cNvPr id="15" name="Text 11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MIR (ECB Data Portal), enero 2022 a julio 2026. Media anual del diferencial mensual, ponderada por el volumen de nueva producción de los dos tramos. Serie completa en prestamos_personales/prima_pyme.csv.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crédito se deniega: la tasa de rechazo de la SAFE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Empresas de menos de 250 empleados que solicitaron un préstamo bancario y fueron rechazadas, en % de las que solicitaron · Segunda mitad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45920"/>
          <a:ext cx="6903720" cy="2148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3877056"/>
            <a:ext cx="6903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 que la tasa de rechazo no ve: el resultado completo de la solicitud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169664"/>
          <a:ext cx="69037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069848"/>
                <a:gridCol w="1069848"/>
                <a:gridCol w="1069848"/>
                <a:gridCol w="1069848"/>
                <a:gridCol w="1069848"/>
              </a:tblGrid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solo parte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Rechazó por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coste alto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Fue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rechazada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No obtuvo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todo</a:t>
                      </a:r>
                      <a:endParaRPr lang="en-US" sz="8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72,5 %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20,4 %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80,2 %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65,9 %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9,8 %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62,3 %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13,6 %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23,1 %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7,9 %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17,1 %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45920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45920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37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Rechazar y encarecer son sustitutos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75104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Alemania es la que menos rechaza (5,5 %) y la que más raciona: 20,4 % recibe solo una parte y 7,7 % renuncia porque el precio le parece alto. Entre las dos, un 33,6 % no obtiene todo lo que pidió, casi el doble que en España. Italia casi no rechaza (0,7 %) y es la que más prima de precio cobra.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877056"/>
            <a:ext cx="3867912" cy="1920240"/>
          </a:xfrm>
          <a:prstGeom prst="roundRect">
            <a:avLst>
              <a:gd name="adj" fmla="val 1905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877056"/>
            <a:ext cx="64008" cy="19202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3968496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Un semestre no es una tendencia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06240"/>
            <a:ext cx="3483864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serie es muy volátil: Irlanda ha ido de 2,1 % a 20,1 % desde 2022 y Francia de 4,6 % a 17,3 %. La media de los tres últimos años deja a España en 8,5 %, en línea con la zona euro. Leer un dato suelto como señal estructural es un error.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BCE, encuesta SAFE, preguntas Q7B (resultado de la solicitud) y Q7A. Denominador: empresas que SOLICITARON ese instrumento, no el total de empresas; media ponderada. Las filas no suman 100 %: se omiten la solicitud aún pendiente y la respuesta «no sabe», que en Portugal y Francia pesan varios puntos. La SAFE segmenta por número de empleados (&lt;250), no por importe del préstamo como el MIR: no son filas promediables. Datos en transversal/safe_rechazo.csv.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Reconciliación: el ROE de PYME frente a la rentabilidad de grupo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Por qué el ROE modelizado del segmento PYME España no es comparable sin más con el RoTE que titula cada banco · Datos a junio de 2025, beneficio anualizado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1664208"/>
          <a:ext cx="10945368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536192"/>
                <a:gridCol w="1600200"/>
                <a:gridCol w="1490472"/>
                <a:gridCol w="1581912"/>
                <a:gridCol w="135331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Banco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PYME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 (modelo)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sobre CET1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RoTE de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(patr. tangible)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Cuña por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denominador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Brecha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−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Peso de la RWA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PYME en el grupo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Bankinter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+1,1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Sabadell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20,2 %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15,9 %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3,0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+1,4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10,5 %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CaixaBank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17,7 %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17,4 %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2,5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9,9 %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BBVA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21,0 %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18,4 %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2,7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−7,8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4,5 %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Santander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16,8 %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14,6 %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18181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2,2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−2,6 pp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3,2 %</a:t>
                      </a:r>
                      <a:endParaRPr lang="en-US" sz="10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21792" y="395020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21792" y="395020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401421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Perímetro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2999232" y="400507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ROE modelizado es de la cartera PYME ESPAÑOLA. El RoTE de grupo incluye México, Brasil, Reino Unido y Turquía. Por eso la brecha de BBVA es de 7,8 pp: su grupo rinde más que su negocio PYME en España, no menos.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621792" y="459028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21792" y="459028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46542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Denominador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999232" y="464515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divide por capital regulatorio asignado (CET1 % × RWA PYME). El RoTE divide por patrimonio neto tangible, que es mayor. A igual beneficio, dividir por CET1 sube el ratio entre 1,4 y 3,0 pp.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21792" y="5230368"/>
            <a:ext cx="10945368" cy="566928"/>
          </a:xfrm>
          <a:prstGeom prst="roundRect">
            <a:avLst>
              <a:gd name="adj" fmla="val 8065"/>
            </a:avLst>
          </a:prstGeom>
          <a:solidFill>
            <a:srgbClr val="E5E5E5"/>
          </a:solidFill>
          <a:ln w="12700">
            <a:solidFill>
              <a:srgbClr val="CACAC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21792" y="5230368"/>
            <a:ext cx="54864" cy="56692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529437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Cobertura de la cuenta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2999232" y="5285232"/>
            <a:ext cx="8339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modelo recoge margen, comisiones, gastos y coste del riesgo de la cartera. El resultado de grupo añade ROF, puesta en equivalencia, saneamientos extraordinarios y el gravamen a la banca.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5852160"/>
            <a:ext cx="10945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Para los tres bancos domésticos la brecha cabe en ±1,5 pp: el segmento PYME español rinde como el grupo. La lectura correcta de la tabla es esa, no el ranking.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(tr_oth.csv), periodo 202506: resultado atribuido (2520336), CET1 (2520102), patrimonio total (2521216), intangibles (2520110), RWA (2520138). El RoTE de la tabla es CÁLCULO PROPIO sobre el EBA, no la cifra titulada por cada banco: las páginas de relación con inversores no son accesibles desde este entorno (ver notas.md). ROE PYME: modelo propio, comparables_bancos/reconciliacion_rote.csv.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capital de la PYME no lo fija el riesgo, lo fija el modelo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Densidad de RWA de la cartera PYME separando método estándar de IRB · Sistemas bancarios supervisados por cada país · Junio de 2025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6903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Cuánto ahorra el IRB frente al estándar, y cuánta cartera lo usa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" y="4590288"/>
          <a:ext cx="6903720" cy="914400"/>
        </p:xfrm>
        <a:graphic>
          <a:graphicData uri="http://schemas.openxmlformats.org/drawingml/2006/table">
            <a:tbl>
              <a:tblPr/>
              <a:tblGrid>
                <a:gridCol w="1929384"/>
                <a:gridCol w="1664208"/>
                <a:gridCol w="1664208"/>
                <a:gridCol w="1645920"/>
              </a:tblGrid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Ahorro del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Cartera en IRB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Densidad total</a:t>
                      </a:r>
                      <a:endParaRPr lang="en-US" sz="85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6600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56600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España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59,5 %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C2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Alemania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85,5 %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Francia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31,9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76,0 %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43,0 %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Italia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28,6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69,7 %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46,3 %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Portugal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25,2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6B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45,3 %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61,3 %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P. Bajos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34,9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3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93,5 %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37,2 %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645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Irlanda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12,5 pp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CE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58,2 %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Verdana" pitchFamily="34" charset="0"/>
                          <a:ea typeface="Verdana" pitchFamily="34" charset="-122"/>
                          <a:cs typeface="Verdana" pitchFamily="34" charset="-120"/>
                        </a:rPr>
                        <a:t>70,0 %</a:t>
                      </a:r>
                      <a:endParaRPr lang="en-US" sz="900" dirty="0">
                        <a:latin typeface="Verdana" charset="0"/>
                        <a:ea typeface="Verdana" charset="0"/>
                        <a:cs typeface="Verdana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ACAC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699248" y="1664208"/>
            <a:ext cx="3867912" cy="2148840"/>
          </a:xfrm>
          <a:prstGeom prst="roundRect">
            <a:avLst>
              <a:gd name="adj" fmla="val 17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99248" y="1664208"/>
            <a:ext cx="64008" cy="214884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El IRB español apenas ahorra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7918704" y="1993392"/>
            <a:ext cx="3483864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 España el modelo interno rebaja la densidad solo 7,6 pp (63,0 % → 55,4 %). En Alemania la rebaja 35,9 pp. La densidad IRB española (55,4 %) es la segunda más alta de los siete, solo por detrás de Irlanda, y está por encima de la densidad TOTAL de Alemania (35,3 %), Francia (43,0 %) o Italia (46,3 %): el banco español con modelo aprobado consume más capital que el alemán medio.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7699248" y="3931920"/>
            <a:ext cx="3867912" cy="1865376"/>
          </a:xfrm>
          <a:prstGeom prst="roundRect">
            <a:avLst>
              <a:gd name="adj" fmla="val 1961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99248" y="3931920"/>
            <a:ext cx="64008" cy="1865376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918704" y="4023360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Los 24,2 pp frente a Alemania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7918704" y="4261104"/>
            <a:ext cx="34838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Solo 3,0 pp vienen de tener menos cartera en IRB (46,2 % frente a 85,5 %). 11,7 pp vienen de la CALIBRACIÓN de los modelos y 9,5 pp de la interacción de las dos cosas. No es un problema de volumen modelizado: es un problema de qué devuelve el modelo.</a:t>
            </a:r>
            <a:endParaRPr lang="en-US" sz="850" dirty="0"/>
          </a:p>
        </p:txBody>
      </p:sp>
      <p:sp>
        <p:nvSpPr>
          <p:cNvPr id="16" name="Text 12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EBA, EU-wide Transparency Exercise 2025 (tr_cre.csv), junio 2025, dimensión Portfolio (1 = estándar, 2 = IRB), partidas 2520523 (valor de exposición PYME) y 2520533 (RWA PYME), contraparte total. Densidad = RWA / valor de exposición. Descomposición propia. Datos en transversal/eba_te_pyme_sa_irb.csv.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40112" y="27432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bankinter</a:t>
            </a:r>
            <a:pPr algn="r" indent="0" marL="0">
              <a:buNone/>
            </a:pPr>
            <a:r>
              <a:rPr lang="en-US" sz="1300" b="1" dirty="0">
                <a:solidFill>
                  <a:srgbClr val="F56600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21792" y="420624"/>
            <a:ext cx="920800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Irlanda en factoring: el dato está congelado, no es un mercado plano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621792" y="1060704"/>
            <a:ext cx="10945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 anual publicado por la EU Federation for Factoring · La serie irlandesa repite el mismo importe desde 2021</a:t>
            </a:r>
            <a:endParaRPr lang="en-US" sz="105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21792" y="1664208"/>
          <a:ext cx="69037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1792" y="429768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Volumen cedido, millones de euros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1792" y="4590288"/>
            <a:ext cx="6903720" cy="1188720"/>
          </a:xfrm>
          <a:prstGeom prst="roundRect">
            <a:avLst>
              <a:gd name="adj" fmla="val 3846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" y="4590288"/>
            <a:ext cx="64008" cy="118872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468172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Desde 2017 la EUF solo ha publicado 3 importes distintos para Irlanda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4974336"/>
            <a:ext cx="6492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26.294 en 2017 y 2018 · 28.424 en 2019 y 2020 · 28.617 en 2021, 2022, 2023, 2024 y 2025. 5 años consecutivos con el mismo número. La variación anual que publica la tabla es 0,0 % por construcción, no por comportamiento del mercado.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699248" y="1664208"/>
            <a:ext cx="3867912" cy="2029968"/>
          </a:xfrm>
          <a:prstGeom prst="roundRect">
            <a:avLst>
              <a:gd name="adj" fmla="val 1802"/>
            </a:avLst>
          </a:prstGeom>
          <a:solidFill>
            <a:srgbClr val="FFF4C2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99248" y="1664208"/>
            <a:ext cx="64008" cy="2029968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175564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propia EUF lo advierte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1993392"/>
            <a:ext cx="348386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La tabla marca a Irlanda con la nota (3): «Estimates of the turnover — the previous year's turnover implemented». Es decir, se arrastra el importe del año anterior. Y la serie histórica la etiqueta como «EUF member till 2018»: desde 2019 no hay asociación nacional que reporte el dato irlandés.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7699248" y="3767328"/>
            <a:ext cx="3867912" cy="2011680"/>
          </a:xfrm>
          <a:prstGeom prst="roundRect">
            <a:avLst>
              <a:gd name="adj" fmla="val 1818"/>
            </a:avLst>
          </a:prstGeom>
          <a:solidFill>
            <a:srgbClr val="FFD6BA"/>
          </a:solidFill>
          <a:ln w="12700">
            <a:solidFill>
              <a:srgbClr val="FFD6B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699248" y="3767328"/>
            <a:ext cx="64008" cy="2011680"/>
          </a:xfrm>
          <a:prstGeom prst="rect">
            <a:avLst/>
          </a:prstGeom>
          <a:solidFill>
            <a:srgbClr val="F56600"/>
          </a:solidFill>
          <a:ln w="12700">
            <a:solidFill>
              <a:srgbClr val="F5660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18704" y="3858768"/>
            <a:ext cx="3483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Qué no se puede decir con este dato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918704" y="4096512"/>
            <a:ext cx="3483864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2B2B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 se puede leer el nivel irlandés como medida del mercado, ni su crecimiento (es cero por construcción), ni su cuota europea (1,1 %), ni su penetración sobre el PIB (4,5 %, la menor de los siete), porque el numerador está congelado y el denominador no. Irlanda debe salir de cualquier ranking de factoring o llevar la marca del arrastre.</a:t>
            </a:r>
            <a:endParaRPr lang="en-US" sz="850" dirty="0"/>
          </a:p>
        </p:txBody>
      </p:sp>
      <p:sp>
        <p:nvSpPr>
          <p:cNvPr id="19" name="Text 16"/>
          <p:cNvSpPr txBox="1"/>
          <p:nvPr/>
        </p:nvSpPr>
        <p:spPr>
          <a:xfrm>
            <a:off x="621792" y="6053328"/>
            <a:ext cx="109453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818181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EUF, EU Federation for Factoring: tabla anual a 31 de diciembre de 2025 y fichero «EU Turnover per country since 2007». Mismo arrastre, con menos años, en Estonia, Finlandia, Luxemburgo, Malta y Suecia. Serie completa en factoring_confirming/euf_historico.csv.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Analisis PYME Europa</dc:creator>
  <cp:lastModifiedBy>Analisis PYME Europa</cp:lastModifiedBy>
  <cp:revision>1</cp:revision>
  <dcterms:created xsi:type="dcterms:W3CDTF">2026-09-21T16:13:04Z</dcterms:created>
  <dcterms:modified xsi:type="dcterms:W3CDTF">2026-09-21T16:13:04Z</dcterms:modified>
</cp:coreProperties>
</file>