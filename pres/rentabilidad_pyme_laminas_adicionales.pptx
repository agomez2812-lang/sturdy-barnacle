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España</c:v>
                </c:pt>
              </c:strCache>
            </c:strRef>
          </c:tx>
          <c:spPr>
            <a:solidFill>
              <a:srgbClr val="F56600"/>
            </a:solidFill>
            <a:ln w="30480" cap="flat">
              <a:solidFill>
                <a:srgbClr val="F566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56600"/>
              </a:solidFill>
              <a:ln w="9525" cap="flat">
                <a:solidFill>
                  <a:srgbClr val="F566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</c:v>
                </c:pt>
                <c:pt idx="1">
                  <c:v>0.34</c:v>
                </c:pt>
                <c:pt idx="2">
                  <c:v>0.27</c:v>
                </c:pt>
                <c:pt idx="3">
                  <c:v>0.05</c:v>
                </c:pt>
                <c:pt idx="4">
                  <c:v>-0.03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Alemania</c:v>
                </c:pt>
              </c:strCache>
            </c:strRef>
          </c:tx>
          <c:spPr>
            <a:solidFill>
              <a:srgbClr val="A1A1A1"/>
            </a:solidFill>
            <a:ln w="30480" cap="flat">
              <a:solidFill>
                <a:srgbClr val="A1A1A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1A1A1"/>
              </a:solidFill>
              <a:ln w="9525" cap="flat">
                <a:solidFill>
                  <a:srgbClr val="A1A1A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0.53</c:v>
                </c:pt>
                <c:pt idx="1">
                  <c:v>1.4</c:v>
                </c:pt>
                <c:pt idx="2">
                  <c:v>1.03</c:v>
                </c:pt>
                <c:pt idx="3">
                  <c:v>1.22</c:v>
                </c:pt>
                <c:pt idx="4">
                  <c:v>1.16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Francia</c:v>
                </c:pt>
              </c:strCache>
            </c:strRef>
          </c:tx>
          <c:spPr>
            <a:solidFill>
              <a:srgbClr val="77BFEE"/>
            </a:solidFill>
            <a:ln w="30480" cap="flat">
              <a:solidFill>
                <a:srgbClr val="77BF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7BFEE"/>
              </a:solidFill>
              <a:ln w="9525" cap="flat">
                <a:solidFill>
                  <a:srgbClr val="77BF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0.33</c:v>
                </c:pt>
                <c:pt idx="1">
                  <c:v>-0.02</c:v>
                </c:pt>
                <c:pt idx="2">
                  <c:v>-0.01</c:v>
                </c:pt>
                <c:pt idx="3">
                  <c:v>0.46</c:v>
                </c:pt>
                <c:pt idx="4">
                  <c:v>0.5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Italia</c:v>
                </c:pt>
              </c:strCache>
            </c:strRef>
          </c:tx>
          <c:spPr>
            <a:solidFill>
              <a:srgbClr val="FF8AC2"/>
            </a:solidFill>
            <a:ln w="30480" cap="flat">
              <a:solidFill>
                <a:srgbClr val="FF8A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F8AC2"/>
              </a:solidFill>
              <a:ln w="9525" cap="flat">
                <a:solidFill>
                  <a:srgbClr val="FF8A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1.23</c:v>
                </c:pt>
                <c:pt idx="1">
                  <c:v>0.94</c:v>
                </c:pt>
                <c:pt idx="2">
                  <c:v>0.93</c:v>
                </c:pt>
                <c:pt idx="3">
                  <c:v>1.25</c:v>
                </c:pt>
                <c:pt idx="4">
                  <c:v>1.44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Portugal</c:v>
                </c:pt>
              </c:strCache>
            </c:strRef>
          </c:tx>
          <c:spPr>
            <a:solidFill>
              <a:srgbClr val="FFAB70"/>
            </a:solidFill>
            <a:ln w="30480" cap="flat">
              <a:solidFill>
                <a:srgbClr val="FFAB7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FAB70"/>
              </a:solidFill>
              <a:ln w="9525" cap="flat">
                <a:solidFill>
                  <a:srgbClr val="FFAB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0.76</c:v>
                </c:pt>
                <c:pt idx="1">
                  <c:v>0.62</c:v>
                </c:pt>
                <c:pt idx="2">
                  <c:v>0.57</c:v>
                </c:pt>
                <c:pt idx="3">
                  <c:v>0.66</c:v>
                </c:pt>
                <c:pt idx="4">
                  <c:v>0.67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P. Bajos</c:v>
                </c:pt>
              </c:strCache>
            </c:strRef>
          </c:tx>
          <c:spPr>
            <a:solidFill>
              <a:srgbClr val="6FBF9B"/>
            </a:solidFill>
            <a:ln w="30480" cap="flat">
              <a:solidFill>
                <a:srgbClr val="6FBF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6FBF9B"/>
              </a:solidFill>
              <a:ln w="9525" cap="flat">
                <a:solidFill>
                  <a:srgbClr val="6FBF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1.61</c:v>
                </c:pt>
                <c:pt idx="1">
                  <c:v>1.56</c:v>
                </c:pt>
                <c:pt idx="2">
                  <c:v>0.87</c:v>
                </c:pt>
                <c:pt idx="3">
                  <c:v>1.01</c:v>
                </c:pt>
                <c:pt idx="4">
                  <c:v>1.2</c:v>
                </c:pt>
              </c:numCache>
            </c:numRef>
          </c: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Irlanda</c:v>
                </c:pt>
              </c:strCache>
            </c:strRef>
          </c:tx>
          <c:spPr>
            <a:solidFill>
              <a:srgbClr val="CACACA"/>
            </a:solidFill>
            <a:ln w="30480" cap="flat">
              <a:solidFill>
                <a:srgbClr val="CACAC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ACACA"/>
              </a:solidFill>
              <a:ln w="9525" cap="flat">
                <a:solidFill>
                  <a:srgbClr val="CACAC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1.64</c:v>
                </c:pt>
                <c:pt idx="1">
                  <c:v>0.7</c:v>
                </c:pt>
                <c:pt idx="2">
                  <c:v>0.29</c:v>
                </c:pt>
                <c:pt idx="3">
                  <c:v>0.68</c:v>
                </c:pt>
                <c:pt idx="4">
                  <c:v>0.62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-0.4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.0&quot; pp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rechazo</c:v>
                </c:pt>
              </c:strCache>
            </c:strRef>
          </c:tx>
          <c:spPr>
            <a:solidFill>
              <a:srgbClr val="F566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66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ACAC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  <c:pt idx="7">
                    <c:v>Zona euro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9.7</c:v>
                </c:pt>
                <c:pt idx="1">
                  <c:v>5.5</c:v>
                </c:pt>
                <c:pt idx="2">
                  <c:v>8.2</c:v>
                </c:pt>
                <c:pt idx="3">
                  <c:v>0.7</c:v>
                </c:pt>
                <c:pt idx="4">
                  <c:v>4.1</c:v>
                </c:pt>
                <c:pt idx="5">
                  <c:v>13.6</c:v>
                </c:pt>
                <c:pt idx="6">
                  <c:v>9.2</c:v>
                </c:pt>
                <c:pt idx="7">
                  <c:v>9.6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Método estándar</c:v>
                </c:pt>
              </c:strCache>
            </c:strRef>
          </c:tx>
          <c:spPr>
            <a:solidFill>
              <a:srgbClr val="A1A1A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63</c:v>
                </c:pt>
                <c:pt idx="1">
                  <c:v>66</c:v>
                </c:pt>
                <c:pt idx="2">
                  <c:v>67.3</c:v>
                </c:pt>
                <c:pt idx="3">
                  <c:v>66.3</c:v>
                </c:pt>
                <c:pt idx="4">
                  <c:v>72.7</c:v>
                </c:pt>
                <c:pt idx="5">
                  <c:v>69.9</c:v>
                </c:pt>
                <c:pt idx="6">
                  <c:v>77.3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Modelos internos (IRB)</c:v>
                </c:pt>
              </c:strCache>
            </c:strRef>
          </c:tx>
          <c:spPr>
            <a:solidFill>
              <a:srgbClr val="F566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55.4</c:v>
                </c:pt>
                <c:pt idx="1">
                  <c:v>30.1</c:v>
                </c:pt>
                <c:pt idx="2">
                  <c:v>35.3</c:v>
                </c:pt>
                <c:pt idx="3">
                  <c:v>37.7</c:v>
                </c:pt>
                <c:pt idx="4">
                  <c:v>47.5</c:v>
                </c:pt>
                <c:pt idx="5">
                  <c:v>34.9</c:v>
                </c:pt>
                <c:pt idx="6">
                  <c:v>64.7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Irlanda</c:v>
                </c:pt>
              </c:strCache>
            </c:strRef>
          </c:tx>
          <c:spPr>
            <a:solidFill>
              <a:srgbClr val="F56600"/>
            </a:solidFill>
            <a:ln w="33020" cap="flat">
              <a:solidFill>
                <a:srgbClr val="F566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56600"/>
              </a:solidFill>
              <a:ln w="9525" cap="flat">
                <a:solidFill>
                  <a:srgbClr val="F566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25978</c:v>
                </c:pt>
                <c:pt idx="1">
                  <c:v>23952</c:v>
                </c:pt>
                <c:pt idx="2">
                  <c:v>26294</c:v>
                </c:pt>
                <c:pt idx="3">
                  <c:v>26294</c:v>
                </c:pt>
                <c:pt idx="4">
                  <c:v>28423.8</c:v>
                </c:pt>
                <c:pt idx="5">
                  <c:v>28423.8</c:v>
                </c:pt>
                <c:pt idx="6">
                  <c:v>28617</c:v>
                </c:pt>
                <c:pt idx="7">
                  <c:v>28617</c:v>
                </c:pt>
                <c:pt idx="8">
                  <c:v>28617</c:v>
                </c:pt>
                <c:pt idx="9">
                  <c:v>28617</c:v>
                </c:pt>
                <c:pt idx="10">
                  <c:v>28617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B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"/>
          <c:min val="18000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prima PYME española se ha evaporado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Diferencial de tipo entre el préstamo pequeño y el grande, préstamos a sociedades no financieras · Media anual ponderada por volumen de nueva producción · Fijación inicial total · Sin comisiones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34015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99248" y="1664208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82128" y="1764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Dos definiciones, misma conclusión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882128" y="20299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 de los últimos 12 meses, en pp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82128" y="2249424"/>
          <a:ext cx="3520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051560"/>
              </a:tblGrid>
              <a:tr h="21762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≤0,25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vs &gt;1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≤1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vs &gt;1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−0,03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−0,05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+1,24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+0,51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+0,29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+1,39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+1,00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+0,66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+0,25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+1,15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+1,07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+0,81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+0,47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699248" y="4261104"/>
            <a:ext cx="3867912" cy="1645920"/>
          </a:xfrm>
          <a:prstGeom prst="roundRect">
            <a:avLst>
              <a:gd name="adj" fmla="val 222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699248" y="4261104"/>
            <a:ext cx="64008" cy="164592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918704" y="4352544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Dejamos de cobrar por el tamaño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918704" y="4590288"/>
            <a:ext cx="34838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España es el único de los siete donde la prima llega a cero: de +0,59 pp en 2022 a −0,03 pp en los últimos 12 meses. 8 de los 55 meses de la serie tienen prima NEGATIVA: el préstamo pequeño sale más barato que el grande. Italia va en sentido contrario (+1,23 → +1,39 pp).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5138928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 una prima de tamaño de OPERACIÓN, no de tamaño de empresa: el MIR segmenta por importe del préstamo. Un préstamo de 800.000 € a una empresa grande cuenta como «pequeño».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BCE, MIR (ECB Data Portal), enero 2022 a julio 2026. Media anual del diferencial mensual, ponderada por el volumen de nueva producción de los dos tramos. Serie completa en prestamos_personales/prima_pyme.csv.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Cuánto crédito se deniega: la tasa de rechazo de la SAFE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Empresas de menos de 250 empleados que solicitaron un préstamo bancario y fueron rechazadas, en % de las que solicitaron · Segunda mitad de 2025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45920"/>
          <a:ext cx="69037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3877056"/>
            <a:ext cx="6903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la tasa de rechazo no ve: el resultado completo de la solicitud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169664"/>
          <a:ext cx="6903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69848"/>
                <a:gridCol w="1069848"/>
                <a:gridCol w="1069848"/>
                <a:gridCol w="1069848"/>
                <a:gridCol w="1069848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todo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solo parte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Rechazó por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 alto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Fue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rechazada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 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todo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72,5 %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47,1 %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20,4 %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33,6 %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80,2 %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65,9 %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9,8 %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62,3 %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13,6 %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23,1 %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7,9 %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99248" y="1645920"/>
            <a:ext cx="3867912" cy="2148840"/>
          </a:xfrm>
          <a:prstGeom prst="roundRect">
            <a:avLst>
              <a:gd name="adj" fmla="val 17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99248" y="1645920"/>
            <a:ext cx="64008" cy="21488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18704" y="1737360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Rechazar y encarecer son sustitutos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918704" y="1975104"/>
            <a:ext cx="348386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Alemania es la que menos rechaza (5,5 %) y la que más raciona: 20,4 % recibe solo una parte y 7,7 % renuncia porque el precio le parece alto. Entre las dos, un 33,6 % no obtiene todo lo que pidió, casi el doble que en España. Italia casi no rechaza (0,7 %) y es la que más prima de precio cobra.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7699248" y="3877056"/>
            <a:ext cx="3867912" cy="1920240"/>
          </a:xfrm>
          <a:prstGeom prst="roundRect">
            <a:avLst>
              <a:gd name="adj" fmla="val 1905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99248" y="3877056"/>
            <a:ext cx="64008" cy="19202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18704" y="3968496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 semestre no es una tendencia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918704" y="4206240"/>
            <a:ext cx="348386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serie es muy volátil: Irlanda ha ido de 2,1 % a 20,1 % desde 2022 y Francia de 4,6 % a 17,3 %. La media de los tres últimos años deja a España en 8,5 %, en línea con la zona euro. Leer un dato suelto como señal estructural es un error.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BCE, encuesta SAFE, preguntas Q7B (resultado de la solicitud) y Q7A. Denominador: empresas que SOLICITARON ese instrumento, no el total de empresas; media ponderada. Las filas no suman 100 %: se omiten la solicitud aún pendiente y la respuesta «no sabe», que en Portugal y Francia pesan varios puntos. La SAFE segmenta por número de empleados (&lt;250), no por importe del préstamo como el MIR: no son filas promediables. Datos en transversal/safe_rechazo.csv.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Reconciliación: el ROE de PYME frente a la rentabilidad de grupo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Por qué el ROE modelizado del segmento PYME España no es comparable sin más con el RoTE que titula cada banco · Datos a junio de 2025, beneficio anualizado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664208"/>
          <a:ext cx="10945368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536192"/>
                <a:gridCol w="1600200"/>
                <a:gridCol w="1490472"/>
                <a:gridCol w="1581912"/>
                <a:gridCol w="13533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ROE PYME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 (modelo)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ROE de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sobre CET1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RoTE de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(patr. tangible)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Cuña por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denominador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Brecha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PYME −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Peso de la RWA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PYME en el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Bankinter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20,7 %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19,6 %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1,4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+1,1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Sabadell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18,8 %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15,9 %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3,0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+1,4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10,5 %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CaixaBank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17,7 %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19,9 %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17,4 %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−2,2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BBVA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13,2 %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21,0 %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18,4 %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2,7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−7,8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4,5 %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Santander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14,2 %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16,8 %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14,6 %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2,2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−2,6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21792" y="395020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1792" y="395020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0142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999232" y="400507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ROE modelizado es de la cartera PYME ESPAÑOLA. El RoTE de grupo incluye México, Brasil, Reino Unido y Turquía. Por eso la brecha de BBVA es de 7,8 pp: su grupo rinde más que su negocio PYME en España, no menos.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21792" y="459028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" y="459028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6542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Denominador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99232" y="464515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modelo divide por capital regulatorio asignado (CET1 % × RWA PYME). El RoTE divide por patrimonio neto tangible, que es mayor. A igual beneficio, dividir por CET1 sube el ratio entre 1,4 y 3,0 pp.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" y="523036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1792" y="523036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2943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de la cuenta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99232" y="528523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modelo recoge margen, comisiones, gastos y coste del riesgo de la cartera. El resultado de grupo añade ROF, puesta en equivalencia, saneamientos extraordinarios y el gravamen a la banca.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5852160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Para los tres bancos domésticos la brecha cabe en ±1,5 pp: el segmento PYME español rinde como el grupo. La lectura correcta de la tabla es esa, no el ranking.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EBA, EU-wide Transparency Exercise 2025 (tr_oth.csv), periodo 202506: resultado atribuido (2520336), CET1 (2520102), patrimonio total (2521216), intangibles (2520110), RWA (2520138). El RoTE de la tabla es CÁLCULO PROPIO sobre el EBA, no la cifra titulada por cada banco: las páginas de relación con inversores no son accesibles desde este entorno (ver notas.md). ROE PYME: modelo propio, comparables_bancos/reconciliacion_rote.csv.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capital de la PYME no lo fija el riesgo, lo fija el modelo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Densidad de RWA de la cartera PYME separando método estándar de IRB · Sistemas bancarios supervisados por cada país · Junio de 2025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4297680"/>
            <a:ext cx="6903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Cuánto ahorra el IRB frente al estándar, y cuánta cartera lo usa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590288"/>
          <a:ext cx="6903720" cy="914400"/>
        </p:xfrm>
        <a:graphic>
          <a:graphicData uri="http://schemas.openxmlformats.org/drawingml/2006/table">
            <a:tbl>
              <a:tblPr/>
              <a:tblGrid>
                <a:gridCol w="1929384"/>
                <a:gridCol w="1664208"/>
                <a:gridCol w="1664208"/>
                <a:gridCol w="164592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Ahorro del IRB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Cartera en IRB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Densidad total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7,6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59,5 %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35,9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85,5 %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35,3 %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31,9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76,0 %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43,0 %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28,6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69,7 %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46,3 %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25,2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45,3 %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93,5 %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37,2 %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12,5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58,2 %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99248" y="1664208"/>
            <a:ext cx="3867912" cy="2148840"/>
          </a:xfrm>
          <a:prstGeom prst="roundRect">
            <a:avLst>
              <a:gd name="adj" fmla="val 17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99248" y="1664208"/>
            <a:ext cx="64008" cy="21488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18704" y="175564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IRB español apenas ahorra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918704" y="1993392"/>
            <a:ext cx="348386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 España el modelo interno rebaja la densidad solo 7,6 pp (63,0 % → 55,4 %). En Alemania la rebaja 35,9 pp. La densidad IRB española (55,4 %) es la segunda más alta de los siete, solo por detrás de Irlanda, y está por encima de la densidad TOTAL de Alemania (35,3 %), Francia (43,0 %) o Italia (46,3 %): el banco español con modelo aprobado consume más capital que el alemán medio.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7699248" y="3931920"/>
            <a:ext cx="3867912" cy="1865376"/>
          </a:xfrm>
          <a:prstGeom prst="roundRect">
            <a:avLst>
              <a:gd name="adj" fmla="val 1961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99248" y="3931920"/>
            <a:ext cx="64008" cy="1865376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18704" y="4023360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Los 24,2 pp frente a Alemania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918704" y="4261104"/>
            <a:ext cx="34838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Solo 3,0 pp vienen de tener menos cartera en IRB (46,2 % frente a 85,5 %). 11,7 pp vienen de la CALIBRACIÓN de los modelos y 9,5 pp de la interacción de las dos cosas. No es un problema de volumen modelizado: es un problema de qué devuelve el modelo.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EBA, EU-wide Transparency Exercise 2025 (tr_cre.csv), junio 2025, dimensión Portfolio (1 = estándar, 2 = IRB), partidas 2520523 (valor de exposición PYME) y 2520533 (RWA PYME), contraparte total. Densidad = RWA / valor de exposición. Descomposición propia. Datos en transversal/eba_te_pyme_sa_irb.csv.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Irlanda en factoring: el dato está congelado, no es un mercado plano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Volumen cedido anual publicado por la EU Federation for Factoring · La serie irlandesa repite el mismo importe desde 2021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42976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Volumen cedido, millones de euros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1792" y="4590288"/>
            <a:ext cx="6903720" cy="1188720"/>
          </a:xfrm>
          <a:prstGeom prst="roundRect">
            <a:avLst>
              <a:gd name="adj" fmla="val 3846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4590288"/>
            <a:ext cx="64008" cy="118872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468172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Desde 2017 la EUF solo ha publicado 3 importes distintos para Irlanda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4974336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26.294 en 2017 y 2018 · 28.424 en 2019 y 2020 · 28.617 en 2021, 2022, 2023, 2024 y 2025. 5 años consecutivos con el mismo número. La variación anual que publica la tabla es 0,0 % por construcción, no por comportamiento del mercado.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699248" y="1664208"/>
            <a:ext cx="3867912" cy="2029968"/>
          </a:xfrm>
          <a:prstGeom prst="roundRect">
            <a:avLst>
              <a:gd name="adj" fmla="val 18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99248" y="1664208"/>
            <a:ext cx="64008" cy="202996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175564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propia EUF lo advierte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1993392"/>
            <a:ext cx="34838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tabla marca a Irlanda con la nota (3): «Estimates of the turnover — the previous year's turnover implemented». Es decir, se arrastra el importe del año anterior. Y la serie histórica la etiqueta como «EUF member till 2018»: desde 2019 no hay asociación nacional que reporte el dato irlandés.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7699248" y="3767328"/>
            <a:ext cx="3867912" cy="2011680"/>
          </a:xfrm>
          <a:prstGeom prst="roundRect">
            <a:avLst>
              <a:gd name="adj" fmla="val 1818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99248" y="3767328"/>
            <a:ext cx="64008" cy="201168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18704" y="385876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Qué no se puede decir con este dato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918704" y="4096512"/>
            <a:ext cx="34838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se puede leer el nivel irlandés como medida del mercado, ni su crecimiento (es cero por construcción), ni su cuota europea (1,1 %), ni su penetración sobre el PIB (4,5 %, la menor de los siete), porque el numerador está congelado y el denominador no. Irlanda debe salir de cualquier ranking de factoring o llevar la marca del arrastre.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EUF, EU Federation for Factoring: tabla anual a 31 de diciembre de 2025 y fichero «EU Turnover per country since 2007». Mismo arrastre, con menos años, en Estonia, Finlandia, Luxemburgo, Malta y Suecia. Serie completa en factoring_confirming/euf_historico.csv.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publican los bancos, en % de la inversión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 mismas cuentas de la lámina anterior divididas por la inversión crediticia de su propio perímetro y anualizadas · Commerzbank publica trimestre (×4), el resto semestre (×2)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664208"/>
          <a:ext cx="10945368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14400"/>
                <a:gridCol w="1874520"/>
                <a:gridCol w="1143000"/>
                <a:gridCol w="960120"/>
                <a:gridCol w="960120"/>
                <a:gridCol w="1051560"/>
                <a:gridCol w="914400"/>
                <a:gridCol w="841248"/>
                <a:gridCol w="868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País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Perímetro publicado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Inversión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M€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Ingresos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M. intereses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Comisiones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 riesgo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BAI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Commerzbank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Corporate Clients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123.000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4,01 %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2,15 %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1,22 %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ABN AMRO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Corporate Banking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86.900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3,90 %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2,52 %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0,99 %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1,93 %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15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1,82 %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Intesa Sanpaolo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Banca dei Territori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219.966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5,64 %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2,63 %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48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CaixaBank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Grupo consolidado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406.233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4,11 %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2,65 %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1,02 %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1,63 %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24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2,24 %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BPER Banca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Grupo consolidado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129.216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6,00 %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3,42 %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2,09 %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2,48 %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27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3,24 %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21792" y="3675888"/>
            <a:ext cx="146304" cy="146304"/>
          </a:xfrm>
          <a:prstGeom prst="rect">
            <a:avLst/>
          </a:prstGeom>
          <a:solidFill>
            <a:srgbClr val="FFD200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210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 = segmento de empresas publicado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782312" y="3675888"/>
            <a:ext cx="146304" cy="146304"/>
          </a:xfrm>
          <a:prstGeom prst="rect">
            <a:avLst/>
          </a:prstGeom>
          <a:solidFill>
            <a:srgbClr val="FFF4C2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01768" y="36210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 = grupo, no segmento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21792" y="3986784"/>
            <a:ext cx="5321808" cy="1755648"/>
          </a:xfrm>
          <a:prstGeom prst="roundRect">
            <a:avLst>
              <a:gd name="adj" fmla="val 2083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" y="3986784"/>
            <a:ext cx="64008" cy="175564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4078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supuesto de 87 pb no infla el modelo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315968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cuenta de la lámina 7 supone 0,87 % de comisiones sobre el saldo medio. Los dos únicos segmentos de empresas publicados ganan MÁS: Commerzbank 1,22 % y ABN AMRO 0,99 %. El supuesto está en el extremo bajo de lo que una franquicia de banca de empresas cobra por euro prestado, así que no está regalando ROE al modelo.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245352" y="3986784"/>
            <a:ext cx="5321808" cy="1755648"/>
          </a:xfrm>
          <a:prstGeom prst="roundRect">
            <a:avLst>
              <a:gd name="adj" fmla="val 2083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45352" y="3986784"/>
            <a:ext cx="64008" cy="175564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4808" y="4078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«Ingresos / inversión» NO es un margen de préstamo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464808" y="4315968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numerador es el ingreso de TODO el segmento -margen de depósitos y transaccional incluidos- y el denominador solo los préstamos. Banca dei Territori lo enseña en caricatura: 5,64 % sobre préstamos, porque lleva dentro gestión de activos y seguros. Por eso BPER, que es grupo, dobla en comisiones (2,09 %) a los segmentos de empresas.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Comunicado Q2 2026 de Commerzbank; informe intermedio Q2 2026 de ABN AMRO; resultados 1S26 de Intesa Sanpaolo e informe semestral a 30-jun-2026 (p. 72) para los préstamos de Banca dei Territori; Actividad y Resultados 1S26 de CaixaBank; resultados 1S26 de BPER e informe intermedio consolidado a 30-jun-2026 (p. 34) para los préstamos. Denominador: cartera media en Commerzbank; media de los dos cierres en Intesa y BPER; saldo final en ABN AMRO y CaixaBank. CaixaBank lo publica BRUTO y el resto NETO: con su mora del 1,78 %, el neto subiría sus ratios uno o dos puntos básicos. Datos en comparables_bancos/comparables_ratios.csv.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Analisis PYME Europa</dc:creator>
  <cp:lastModifiedBy>Analisis PYME Europa</cp:lastModifiedBy>
  <cp:revision>1</cp:revision>
  <dcterms:created xsi:type="dcterms:W3CDTF">2026-09-22T11:16:00Z</dcterms:created>
  <dcterms:modified xsi:type="dcterms:W3CDTF">2026-09-22T11:16:00Z</dcterms:modified>
</cp:coreProperties>
</file>