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España</c:v>
                </c:pt>
              </c:strCache>
            </c:strRef>
          </c:tx>
          <c:spPr>
            <a:solidFill>
              <a:srgbClr val="F56600"/>
            </a:solidFill>
            <a:ln w="30480"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56600"/>
              </a:solidFill>
              <a:ln w="9525" cap="flat">
                <a:solidFill>
                  <a:srgbClr val="F56600"/>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Sheet1!$B$2:$B$6</c:f>
              <c:numCache>
                <c:formatCode>General</c:formatCode>
                <c:ptCount val="5"/>
                <c:pt idx="0">
                  <c:v>0.59</c:v>
                </c:pt>
                <c:pt idx="1">
                  <c:v>0.34</c:v>
                </c:pt>
                <c:pt idx="2">
                  <c:v>0.27</c:v>
                </c:pt>
                <c:pt idx="3">
                  <c:v>0.05</c:v>
                </c:pt>
                <c:pt idx="4">
                  <c:v>-0.03</c:v>
                </c:pt>
              </c:numCache>
            </c:numRef>
          </c:val>
          <c:smooth val="0"/>
        </c:ser>
        <c:ser>
          <c:idx val="1"/>
          <c:order val="1"/>
          <c:tx>
            <c:strRef>
              <c:f>Sheet1!$C$1</c:f>
              <c:strCache>
                <c:ptCount val="1"/>
                <c:pt idx="0">
                  <c:v>Alemania</c:v>
                </c:pt>
              </c:strCache>
            </c:strRef>
          </c:tx>
          <c:spPr>
            <a:solidFill>
              <a:srgbClr val="A1A1A1"/>
            </a:solidFill>
            <a:ln w="30480" cap="flat">
              <a:solidFill>
                <a:srgbClr val="A1A1A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A1A1A1"/>
              </a:solidFill>
              <a:ln w="9525" cap="flat">
                <a:solidFill>
                  <a:srgbClr val="A1A1A1"/>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Sheet1!$C$2:$C$6</c:f>
              <c:numCache>
                <c:formatCode>General</c:formatCode>
                <c:ptCount val="5"/>
                <c:pt idx="0">
                  <c:v>0.53</c:v>
                </c:pt>
                <c:pt idx="1">
                  <c:v>1.4</c:v>
                </c:pt>
                <c:pt idx="2">
                  <c:v>1.03</c:v>
                </c:pt>
                <c:pt idx="3">
                  <c:v>1.22</c:v>
                </c:pt>
                <c:pt idx="4">
                  <c:v>1.16</c:v>
                </c:pt>
              </c:numCache>
            </c:numRef>
          </c:val>
          <c:smooth val="0"/>
        </c:ser>
        <c:ser>
          <c:idx val="2"/>
          <c:order val="2"/>
          <c:tx>
            <c:strRef>
              <c:f>Sheet1!$D$1</c:f>
              <c:strCache>
                <c:ptCount val="1"/>
                <c:pt idx="0">
                  <c:v>Francia</c:v>
                </c:pt>
              </c:strCache>
            </c:strRef>
          </c:tx>
          <c:spPr>
            <a:solidFill>
              <a:srgbClr val="77BFEE"/>
            </a:solidFill>
            <a:ln w="30480" cap="flat">
              <a:solidFill>
                <a:srgbClr val="77BFE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77BFEE"/>
              </a:solidFill>
              <a:ln w="9525" cap="flat">
                <a:solidFill>
                  <a:srgbClr val="77BFEE"/>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Sheet1!$D$2:$D$6</c:f>
              <c:numCache>
                <c:formatCode>General</c:formatCode>
                <c:ptCount val="5"/>
                <c:pt idx="0">
                  <c:v>0.33</c:v>
                </c:pt>
                <c:pt idx="1">
                  <c:v>-0.02</c:v>
                </c:pt>
                <c:pt idx="2">
                  <c:v>-0.01</c:v>
                </c:pt>
                <c:pt idx="3">
                  <c:v>0.46</c:v>
                </c:pt>
                <c:pt idx="4">
                  <c:v>0.5</c:v>
                </c:pt>
              </c:numCache>
            </c:numRef>
          </c:val>
          <c:smooth val="0"/>
        </c:ser>
        <c:ser>
          <c:idx val="3"/>
          <c:order val="3"/>
          <c:tx>
            <c:strRef>
              <c:f>Sheet1!$E$1</c:f>
              <c:strCache>
                <c:ptCount val="1"/>
                <c:pt idx="0">
                  <c:v>Italia</c:v>
                </c:pt>
              </c:strCache>
            </c:strRef>
          </c:tx>
          <c:spPr>
            <a:solidFill>
              <a:srgbClr val="FF8AC2"/>
            </a:solidFill>
            <a:ln w="30480" cap="flat">
              <a:solidFill>
                <a:srgbClr val="FF8AC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8AC2"/>
              </a:solidFill>
              <a:ln w="9525" cap="flat">
                <a:solidFill>
                  <a:srgbClr val="FF8AC2"/>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Sheet1!$E$2:$E$6</c:f>
              <c:numCache>
                <c:formatCode>General</c:formatCode>
                <c:ptCount val="5"/>
                <c:pt idx="0">
                  <c:v>1.23</c:v>
                </c:pt>
                <c:pt idx="1">
                  <c:v>0.94</c:v>
                </c:pt>
                <c:pt idx="2">
                  <c:v>0.93</c:v>
                </c:pt>
                <c:pt idx="3">
                  <c:v>1.25</c:v>
                </c:pt>
                <c:pt idx="4">
                  <c:v>1.44</c:v>
                </c:pt>
              </c:numCache>
            </c:numRef>
          </c:val>
          <c:smooth val="0"/>
        </c:ser>
        <c:ser>
          <c:idx val="4"/>
          <c:order val="4"/>
          <c:tx>
            <c:strRef>
              <c:f>Sheet1!$F$1</c:f>
              <c:strCache>
                <c:ptCount val="1"/>
                <c:pt idx="0">
                  <c:v>Portugal</c:v>
                </c:pt>
              </c:strCache>
            </c:strRef>
          </c:tx>
          <c:spPr>
            <a:solidFill>
              <a:srgbClr val="FFAB70"/>
            </a:solidFill>
            <a:ln w="30480" cap="flat">
              <a:solidFill>
                <a:srgbClr val="FFAB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AB70"/>
              </a:solidFill>
              <a:ln w="9525" cap="flat">
                <a:solidFill>
                  <a:srgbClr val="FFAB70"/>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Sheet1!$F$2:$F$6</c:f>
              <c:numCache>
                <c:formatCode>General</c:formatCode>
                <c:ptCount val="5"/>
                <c:pt idx="0">
                  <c:v>0.76</c:v>
                </c:pt>
                <c:pt idx="1">
                  <c:v>0.62</c:v>
                </c:pt>
                <c:pt idx="2">
                  <c:v>0.57</c:v>
                </c:pt>
                <c:pt idx="3">
                  <c:v>0.66</c:v>
                </c:pt>
                <c:pt idx="4">
                  <c:v>0.67</c:v>
                </c:pt>
              </c:numCache>
            </c:numRef>
          </c:val>
          <c:smooth val="0"/>
        </c:ser>
        <c:ser>
          <c:idx val="5"/>
          <c:order val="5"/>
          <c:tx>
            <c:strRef>
              <c:f>Sheet1!$G$1</c:f>
              <c:strCache>
                <c:ptCount val="1"/>
                <c:pt idx="0">
                  <c:v>P. Bajos</c:v>
                </c:pt>
              </c:strCache>
            </c:strRef>
          </c:tx>
          <c:spPr>
            <a:solidFill>
              <a:srgbClr val="6FBF9B"/>
            </a:solidFill>
            <a:ln w="30480" cap="flat">
              <a:solidFill>
                <a:srgbClr val="6FBF9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FBF9B"/>
              </a:solidFill>
              <a:ln w="9525" cap="flat">
                <a:solidFill>
                  <a:srgbClr val="6FBF9B"/>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Sheet1!$G$2:$G$6</c:f>
              <c:numCache>
                <c:formatCode>General</c:formatCode>
                <c:ptCount val="5"/>
                <c:pt idx="0">
                  <c:v>1.61</c:v>
                </c:pt>
                <c:pt idx="1">
                  <c:v>1.56</c:v>
                </c:pt>
                <c:pt idx="2">
                  <c:v>0.87</c:v>
                </c:pt>
                <c:pt idx="3">
                  <c:v>1.01</c:v>
                </c:pt>
                <c:pt idx="4">
                  <c:v>1.2</c:v>
                </c:pt>
              </c:numCache>
            </c:numRef>
          </c:val>
          <c:smooth val="0"/>
        </c:ser>
        <c:ser>
          <c:idx val="6"/>
          <c:order val="6"/>
          <c:tx>
            <c:strRef>
              <c:f>Sheet1!$H$1</c:f>
              <c:strCache>
                <c:ptCount val="1"/>
                <c:pt idx="0">
                  <c:v>Irlanda</c:v>
                </c:pt>
              </c:strCache>
            </c:strRef>
          </c:tx>
          <c:spPr>
            <a:solidFill>
              <a:srgbClr val="CACACA"/>
            </a:solidFill>
            <a:ln w="30480" cap="flat">
              <a:solidFill>
                <a:srgbClr val="CACA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ACACA"/>
              </a:solidFill>
              <a:ln w="9525" cap="flat">
                <a:solidFill>
                  <a:srgbClr val="CACACA"/>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Sheet1!$H$2:$H$6</c:f>
              <c:numCache>
                <c:formatCode>General</c:formatCode>
                <c:ptCount val="5"/>
                <c:pt idx="0">
                  <c:v>1.64</c:v>
                </c:pt>
                <c:pt idx="1">
                  <c:v>0.7</c:v>
                </c:pt>
                <c:pt idx="2">
                  <c:v>0.29</c:v>
                </c:pt>
                <c:pt idx="3">
                  <c:v>0.68</c:v>
                </c:pt>
                <c:pt idx="4">
                  <c:v>0.62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8"/>
          <c:min val="-0.4"/>
        </c:scaling>
        <c:delete val="0"/>
        <c:axPos val="l"/>
        <c:majorGridlines>
          <c:spPr>
            <a:ln w="12700" cap="flat">
              <a:solidFill>
                <a:srgbClr val="E3E9EB"/>
              </a:solidFill>
              <a:prstDash val="solid"/>
              <a:round/>
            </a:ln>
          </c:spPr>
        </c:majorGridlines>
        <c:numFmt formatCode="0.0&quot; pp&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Tasa de rechazo</c:v>
                </c:pt>
              </c:strCache>
            </c:strRef>
          </c:tx>
          <c:spPr>
            <a:solidFill>
              <a:srgbClr val="F56600"/>
            </a:solidFill>
            <a:effectLst/>
          </c:spPr>
          <c:invertIfNegative val="0"/>
          <c:dLbls>
            <c:numFmt formatCode="0.0&quot;%&quot;" sourceLinked="0"/>
            <c:txPr>
              <a:bodyPr/>
              <a:lstStyle/>
              <a:p>
                <a:pPr>
                  <a:defRPr b="0" i="0" strike="noStrike" sz="900" u="none">
                    <a:solidFill>
                      <a:srgbClr val="2B2B2B"/>
                    </a:solidFill>
                    <a:latin typeface="Arial"/>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A1A1A1"/>
              </a:solidFill>
              <a:effectLst/>
            </c:spPr>
          </c:dPt>
          <c:dPt>
            <c:idx val="2"/>
            <c:invertIfNegative val="0"/>
            <c:bubble3D val="0"/>
            <c:spPr>
              <a:solidFill>
                <a:srgbClr val="A1A1A1"/>
              </a:solidFill>
              <a:effectLst/>
            </c:spPr>
          </c:dPt>
          <c:dPt>
            <c:idx val="3"/>
            <c:invertIfNegative val="0"/>
            <c:bubble3D val="0"/>
            <c:spPr>
              <a:solidFill>
                <a:srgbClr val="A1A1A1"/>
              </a:solidFill>
              <a:effectLst/>
            </c:spPr>
          </c:dPt>
          <c:dPt>
            <c:idx val="4"/>
            <c:invertIfNegative val="0"/>
            <c:bubble3D val="0"/>
            <c:spPr>
              <a:solidFill>
                <a:srgbClr val="A1A1A1"/>
              </a:solidFill>
              <a:effectLst/>
            </c:spPr>
          </c:dPt>
          <c:dPt>
            <c:idx val="5"/>
            <c:invertIfNegative val="0"/>
            <c:bubble3D val="0"/>
            <c:spPr>
              <a:solidFill>
                <a:srgbClr val="A1A1A1"/>
              </a:solidFill>
              <a:effectLst/>
            </c:spPr>
          </c:dPt>
          <c:dPt>
            <c:idx val="6"/>
            <c:invertIfNegative val="0"/>
            <c:bubble3D val="0"/>
            <c:spPr>
              <a:solidFill>
                <a:srgbClr val="A1A1A1"/>
              </a:solidFill>
              <a:effectLst/>
            </c:spPr>
          </c:dPt>
          <c:dPt>
            <c:idx val="7"/>
            <c:invertIfNegative val="0"/>
            <c:bubble3D val="0"/>
            <c:spPr>
              <a:solidFill>
                <a:srgbClr val="CACACA"/>
              </a:solidFill>
              <a:effectLst/>
            </c:spPr>
          </c:dPt>
          <c:cat>
            <c:multiLvlStrRef>
              <c:f>Sheet1!$A$2:$A$9</c:f>
              <c:multiLvlStrCache>
                <c:ptCount val="8"/>
                <c:lvl>
                  <c:pt idx="0">
                    <c:v>España</c:v>
                  </c:pt>
                  <c:pt idx="1">
                    <c:v>Alemania</c:v>
                  </c:pt>
                  <c:pt idx="2">
                    <c:v>Francia</c:v>
                  </c:pt>
                  <c:pt idx="3">
                    <c:v>Italia</c:v>
                  </c:pt>
                  <c:pt idx="4">
                    <c:v>Portugal</c:v>
                  </c:pt>
                  <c:pt idx="5">
                    <c:v>P. Bajos</c:v>
                  </c:pt>
                  <c:pt idx="6">
                    <c:v>Irlanda</c:v>
                  </c:pt>
                  <c:pt idx="7">
                    <c:v>Zona euro</c:v>
                  </c:pt>
                </c:lvl>
              </c:multiLvlStrCache>
            </c:multiLvlStrRef>
          </c:cat>
          <c:val>
            <c:numRef>
              <c:f>Sheet1!$B$2:$B$9</c:f>
              <c:numCache>
                <c:formatCode>General</c:formatCode>
                <c:ptCount val="8"/>
                <c:pt idx="0">
                  <c:v>9.7</c:v>
                </c:pt>
                <c:pt idx="1">
                  <c:v>5.5</c:v>
                </c:pt>
                <c:pt idx="2">
                  <c:v>8.2</c:v>
                </c:pt>
                <c:pt idx="3">
                  <c:v>0.7</c:v>
                </c:pt>
                <c:pt idx="4">
                  <c:v>4.1</c:v>
                </c:pt>
                <c:pt idx="5">
                  <c:v>13.6</c:v>
                </c:pt>
                <c:pt idx="6">
                  <c:v>9.2</c:v>
                </c:pt>
                <c:pt idx="7">
                  <c:v>9.6</c:v>
                </c:pt>
              </c:numCache>
            </c:numRef>
          </c:val>
        </c:ser>
        <c:dLbls>
          <c:numFmt formatCode="0.0&quot;%&quot;" sourceLinked="0"/>
          <c:txPr>
            <a:bodyPr/>
            <a:lstStyle/>
            <a:p>
              <a:pPr>
                <a:defRPr b="0" i="0" strike="noStrike" sz="9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Método estándar</c:v>
                </c:pt>
              </c:strCache>
            </c:strRef>
          </c:tx>
          <c:spPr>
            <a:solidFill>
              <a:srgbClr val="A1A1A1"/>
            </a:solidFill>
            <a:effectLst/>
          </c:spPr>
          <c:invertIfNegative val="0"/>
          <c:dLbls>
            <c:numFmt formatCode="0.0&quot;%&quot;"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63</c:v>
                </c:pt>
                <c:pt idx="1">
                  <c:v>66</c:v>
                </c:pt>
                <c:pt idx="2">
                  <c:v>67.3</c:v>
                </c:pt>
                <c:pt idx="3">
                  <c:v>66.3</c:v>
                </c:pt>
                <c:pt idx="4">
                  <c:v>72.7</c:v>
                </c:pt>
                <c:pt idx="5">
                  <c:v>69.9</c:v>
                </c:pt>
                <c:pt idx="6">
                  <c:v>77.3</c:v>
                </c:pt>
              </c:numCache>
            </c:numRef>
          </c:val>
        </c:ser>
        <c:ser>
          <c:idx val="1"/>
          <c:order val="1"/>
          <c:tx>
            <c:strRef>
              <c:f>Sheet1!$C$1</c:f>
              <c:strCache>
                <c:ptCount val="1"/>
                <c:pt idx="0">
                  <c:v>Modelos internos (IRB)</c:v>
                </c:pt>
              </c:strCache>
            </c:strRef>
          </c:tx>
          <c:spPr>
            <a:solidFill>
              <a:srgbClr val="F56600"/>
            </a:solidFill>
            <a:effectLst/>
          </c:spPr>
          <c:invertIfNegative val="0"/>
          <c:dLbls>
            <c:numFmt formatCode="0.0&quot;%&quot;"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55.4</c:v>
                </c:pt>
                <c:pt idx="1">
                  <c:v>30.1</c:v>
                </c:pt>
                <c:pt idx="2">
                  <c:v>35.3</c:v>
                </c:pt>
                <c:pt idx="3">
                  <c:v>37.7</c:v>
                </c:pt>
                <c:pt idx="4">
                  <c:v>47.5</c:v>
                </c:pt>
                <c:pt idx="5">
                  <c:v>34.9</c:v>
                </c:pt>
                <c:pt idx="6">
                  <c:v>64.7</c:v>
                </c:pt>
              </c:numCache>
            </c:numRef>
          </c:val>
        </c:ser>
        <c:dLbls>
          <c:numFmt formatCode="0.0&quot;%&quot;"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Irlanda</c:v>
                </c:pt>
              </c:strCache>
            </c:strRef>
          </c:tx>
          <c:spPr>
            <a:solidFill>
              <a:srgbClr val="F56600"/>
            </a:solidFill>
            <a:ln w="33020" cap="flat">
              <a:solidFill>
                <a:srgbClr val="F56600"/>
              </a:solidFill>
              <a:prstDash val="solid"/>
              <a:round/>
            </a:ln>
            <a:effectLst/>
          </c:spPr>
          <c:invertIfNegative val="0"/>
          <c:dLbls>
            <c:numFmt formatCode="#,##0" sourceLinked="0"/>
            <c:txPr>
              <a:bodyPr/>
              <a:lstStyle/>
              <a:p>
                <a:pPr>
                  <a:defRPr b="0" i="0" strike="noStrike" sz="800" u="none">
                    <a:solidFill>
                      <a:srgbClr val="2B2B2B"/>
                    </a:solidFill>
                    <a:latin typeface="Arial"/>
                  </a:defRPr>
                </a:pPr>
              </a:p>
            </c:txPr>
            <c:dLblPos val="t"/>
            <c:showLegendKey val="0"/>
            <c:showVal val="1"/>
            <c:showCatName val="0"/>
            <c:showSerName val="0"/>
            <c:showPercent val="0"/>
            <c:showBubbleSize val="0"/>
            <c:showLeaderLines val="0"/>
          </c:dLbls>
          <c:marker>
            <c:symbol val="circle"/>
            <c:size val="7"/>
            <c:spPr>
              <a:solidFill>
                <a:srgbClr val="F56600"/>
              </a:solidFill>
              <a:ln w="9525" cap="flat">
                <a:solidFill>
                  <a:srgbClr val="F56600"/>
                </a:solidFill>
                <a:prstDash val="solid"/>
                <a:round/>
              </a:ln>
              <a:effectLst/>
            </c:spPr>
          </c:marker>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Sheet1!$B$2:$B$12</c:f>
              <c:numCache>
                <c:formatCode>General</c:formatCode>
                <c:ptCount val="11"/>
                <c:pt idx="0">
                  <c:v>25978</c:v>
                </c:pt>
                <c:pt idx="1">
                  <c:v>23952</c:v>
                </c:pt>
                <c:pt idx="2">
                  <c:v>26294</c:v>
                </c:pt>
                <c:pt idx="3">
                  <c:v>26294</c:v>
                </c:pt>
                <c:pt idx="4">
                  <c:v>28423.8</c:v>
                </c:pt>
                <c:pt idx="5">
                  <c:v>28423.8</c:v>
                </c:pt>
                <c:pt idx="6">
                  <c:v>28617</c:v>
                </c:pt>
                <c:pt idx="7">
                  <c:v>28617</c:v>
                </c:pt>
                <c:pt idx="8">
                  <c:v>28617</c:v>
                </c:pt>
                <c:pt idx="9">
                  <c:v>28617</c:v>
                </c:pt>
                <c:pt idx="10">
                  <c:v>28617</c:v>
                </c:pt>
              </c:numCache>
            </c:numRef>
          </c:val>
          <c:smooth val="0"/>
        </c:ser>
        <c:dLbls>
          <c:numFmt formatCode="#,##0" sourceLinked="0"/>
          <c:txPr>
            <a:bodyPr/>
            <a:lstStyle/>
            <a:p>
              <a:pPr>
                <a:defRPr b="0" i="0" strike="noStrike" sz="800" u="none">
                  <a:solidFill>
                    <a:srgbClr val="2B2B2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32000"/>
          <c:min val="18000"/>
        </c:scaling>
        <c:delete val="0"/>
        <c:axPos val="l"/>
        <c:majorGridlines>
          <c:spPr>
            <a:ln w="12700" cap="flat">
              <a:solidFill>
                <a:srgbClr val="E3E9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La prima PYME española se ha evaporado</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Diferencial de tipo entre el préstamo pequeño y el grande, préstamos a sociedades no financieras · Media anual ponderada por volumen de nueva producción · Fijación inicial total · Sin comisiones</a:t>
            </a:r>
            <a:endParaRPr lang="en-US" sz="1050" dirty="0"/>
          </a:p>
        </p:txBody>
      </p:sp>
      <p:graphicFrame>
        <p:nvGraphicFramePr>
          <p:cNvPr id="5" name="Chart 0" descr=""/>
          <p:cNvGraphicFramePr/>
          <p:nvPr/>
        </p:nvGraphicFramePr>
        <p:xfrm>
          <a:off x="621792" y="1664208"/>
          <a:ext cx="6903720" cy="3401568"/>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99248" y="1664208"/>
            <a:ext cx="3867912" cy="2487168"/>
          </a:xfrm>
          <a:prstGeom prst="roundRect">
            <a:avLst>
              <a:gd name="adj" fmla="val 2206"/>
            </a:avLst>
          </a:prstGeom>
          <a:solidFill>
            <a:srgbClr val="E5E5E5"/>
          </a:solidFill>
          <a:ln w="12700">
            <a:solidFill>
              <a:srgbClr val="CACACA"/>
            </a:solidFill>
            <a:prstDash val="solid"/>
          </a:ln>
        </p:spPr>
      </p:sp>
      <p:sp>
        <p:nvSpPr>
          <p:cNvPr id="7" name="Text 4"/>
          <p:cNvSpPr txBox="1"/>
          <p:nvPr/>
        </p:nvSpPr>
        <p:spPr>
          <a:xfrm>
            <a:off x="7882128" y="1764792"/>
            <a:ext cx="352044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Dos definiciones, misma conclusión</a:t>
            </a:r>
            <a:endParaRPr lang="en-US" sz="1250" dirty="0"/>
          </a:p>
        </p:txBody>
      </p:sp>
      <p:sp>
        <p:nvSpPr>
          <p:cNvPr id="8" name="Text 5"/>
          <p:cNvSpPr txBox="1"/>
          <p:nvPr/>
        </p:nvSpPr>
        <p:spPr>
          <a:xfrm>
            <a:off x="7882128" y="2029968"/>
            <a:ext cx="3520440" cy="201168"/>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Prima de los últimos 12 meses, en pp</a:t>
            </a:r>
            <a:endParaRPr lang="en-US" sz="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882128" y="2249424"/>
          <a:ext cx="3520440" cy="914400"/>
        </p:xfrm>
        <a:graphic>
          <a:graphicData uri="http://schemas.openxmlformats.org/drawingml/2006/table">
            <a:tbl>
              <a:tblPr/>
              <a:tblGrid>
                <a:gridCol w="1417320"/>
                <a:gridCol w="1051560"/>
                <a:gridCol w="1051560"/>
              </a:tblGrid>
              <a:tr h="217627">
                <a:tc>
                  <a:txBody>
                    <a:bodyPr/>
                    <a:lstStyle/>
                    <a:p>
                      <a:pPr algn="ctr" indent="0" marL="0">
                        <a:buNone/>
                      </a:pP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≤0,25 M€</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vs &gt;1 M€</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≤1 M€</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vs &gt;1 M€</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17627">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−0,03</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−0,05</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Alemania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+1,24</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+1,05</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+0,51</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+0,29</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+1,39</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+1,00</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+0,66</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+0,25</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+1,15</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+1,07</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+0,81</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+0,47</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0" name="Shape 6"/>
          <p:cNvSpPr/>
          <p:nvPr/>
        </p:nvSpPr>
        <p:spPr>
          <a:xfrm>
            <a:off x="7699248" y="4261104"/>
            <a:ext cx="3867912" cy="1645920"/>
          </a:xfrm>
          <a:prstGeom prst="roundRect">
            <a:avLst>
              <a:gd name="adj" fmla="val 2222"/>
            </a:avLst>
          </a:prstGeom>
          <a:solidFill>
            <a:srgbClr val="FFF4C2"/>
          </a:solidFill>
          <a:ln w="12700">
            <a:solidFill>
              <a:srgbClr val="FFE066"/>
            </a:solidFill>
            <a:prstDash val="solid"/>
          </a:ln>
        </p:spPr>
      </p:sp>
      <p:sp>
        <p:nvSpPr>
          <p:cNvPr id="11" name="Shape 7"/>
          <p:cNvSpPr/>
          <p:nvPr/>
        </p:nvSpPr>
        <p:spPr>
          <a:xfrm>
            <a:off x="7699248" y="4261104"/>
            <a:ext cx="64008" cy="1645920"/>
          </a:xfrm>
          <a:prstGeom prst="rect">
            <a:avLst/>
          </a:prstGeom>
          <a:solidFill>
            <a:srgbClr val="F56600"/>
          </a:solidFill>
          <a:ln w="12700">
            <a:solidFill>
              <a:srgbClr val="F56600"/>
            </a:solidFill>
            <a:prstDash val="solid"/>
          </a:ln>
        </p:spPr>
      </p:sp>
      <p:sp>
        <p:nvSpPr>
          <p:cNvPr id="12" name="Text 8"/>
          <p:cNvSpPr txBox="1"/>
          <p:nvPr/>
        </p:nvSpPr>
        <p:spPr>
          <a:xfrm>
            <a:off x="7918704" y="4352544"/>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Dejamos de cobrar por el tamaño</a:t>
            </a:r>
            <a:endParaRPr lang="en-US" sz="1100" dirty="0"/>
          </a:p>
        </p:txBody>
      </p:sp>
      <p:sp>
        <p:nvSpPr>
          <p:cNvPr id="13" name="Text 9"/>
          <p:cNvSpPr txBox="1"/>
          <p:nvPr/>
        </p:nvSpPr>
        <p:spPr>
          <a:xfrm>
            <a:off x="7918704" y="4590288"/>
            <a:ext cx="3483864" cy="120700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España es el único de los siete donde la prima llega a cero: de +0,59 pp en 2022 a −0,03 pp en los últimos 12 meses. 8 de los 55 meses de la serie tienen prima NEGATIVA: el préstamo pequeño sale más barato que el grande. Italia va en sentido contrario (+1,23 → +1,39 pp).</a:t>
            </a:r>
            <a:endParaRPr lang="en-US" sz="850" dirty="0"/>
          </a:p>
        </p:txBody>
      </p:sp>
      <p:sp>
        <p:nvSpPr>
          <p:cNvPr id="14" name="Text 10"/>
          <p:cNvSpPr txBox="1"/>
          <p:nvPr/>
        </p:nvSpPr>
        <p:spPr>
          <a:xfrm>
            <a:off x="621792" y="5138928"/>
            <a:ext cx="6903720" cy="640080"/>
          </a:xfrm>
          <a:prstGeom prst="rect">
            <a:avLst/>
          </a:prstGeom>
          <a:noFill/>
          <a:ln/>
        </p:spPr>
        <p:txBody>
          <a:bodyPr wrap="square" lIns="0" tIns="0" rIns="0" bIns="0" rtlCol="0" anchor="ctr"/>
          <a:lstStyle/>
          <a:p>
            <a:pPr indent="0" marL="0">
              <a:buNone/>
            </a:pPr>
            <a:r>
              <a:rPr lang="en-US" sz="950" dirty="0">
                <a:solidFill>
                  <a:srgbClr val="2B2B2B"/>
                </a:solidFill>
                <a:latin typeface="Verdana" pitchFamily="34" charset="0"/>
                <a:ea typeface="Verdana" pitchFamily="34" charset="-122"/>
                <a:cs typeface="Verdana" pitchFamily="34" charset="-120"/>
              </a:rPr>
              <a:t>Es una prima de tamaño de OPERACIÓN, no de tamaño de empresa: el MIR segmenta por importe del préstamo. Un préstamo de 800.000 € a una empresa grande cuenta como «pequeño».</a:t>
            </a:r>
            <a:endParaRPr lang="en-US" sz="950" dirty="0"/>
          </a:p>
        </p:txBody>
      </p:sp>
      <p:sp>
        <p:nvSpPr>
          <p:cNvPr id="15" name="Text 11"/>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MIR (ECB Data Portal), enero 2022 a julio 2026. Media anual del diferencial mensual, ponderada por el volumen de nueva producción de los dos tramos. Serie completa en prestamos_personales/prima_pyme.csv.</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Cuánto crédito se deniega: la tasa de rechazo de la SAFE</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Empresas de menos de 250 empleados que solicitaron un préstamo bancario y fueron rechazadas, en % de las que solicitaron · Segunda mitad de 2025</a:t>
            </a:r>
            <a:endParaRPr lang="en-US" sz="1050" dirty="0"/>
          </a:p>
        </p:txBody>
      </p:sp>
      <p:graphicFrame>
        <p:nvGraphicFramePr>
          <p:cNvPr id="5" name="Chart 0" descr=""/>
          <p:cNvGraphicFramePr/>
          <p:nvPr/>
        </p:nvGraphicFramePr>
        <p:xfrm>
          <a:off x="621792" y="1645920"/>
          <a:ext cx="6903720" cy="2148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1792" y="3877056"/>
            <a:ext cx="6903720" cy="256032"/>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Lo que la tasa de rechazo no ve: el resultado completo de la solicitud</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1792" y="4169664"/>
          <a:ext cx="6903720" cy="914400"/>
        </p:xfrm>
        <a:graphic>
          <a:graphicData uri="http://schemas.openxmlformats.org/drawingml/2006/table">
            <a:tbl>
              <a:tblPr/>
              <a:tblGrid>
                <a:gridCol w="1554480"/>
                <a:gridCol w="1069848"/>
                <a:gridCol w="1069848"/>
                <a:gridCol w="1069848"/>
                <a:gridCol w="1069848"/>
                <a:gridCol w="1069848"/>
              </a:tblGrid>
              <a:tr h="205740">
                <a:tc>
                  <a:txBody>
                    <a:bodyPr/>
                    <a:lstStyle/>
                    <a:p>
                      <a:pPr algn="l" indent="0" marL="0">
                        <a:buNone/>
                      </a:pP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Obtuvo</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todo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Obtuvo</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solo parte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Rechazó por</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coste alto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Fue</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rechazada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No obtuvo</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todo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05740">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72,5 %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8,3 %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9,7 %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18,0 %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Alemania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47,1 %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20,4 %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7,7 %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5,5 %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33,6 %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71,3 %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8,2 %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16,3 %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80,2 %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0,7 %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11,3 %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65,9 %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9,8 %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4,1 %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16,2 %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62,3 %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13,6 %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23,1 %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0574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56,2 %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7,9 %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9,2 %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17,1 %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bl>
          </a:graphicData>
        </a:graphic>
      </p:graphicFrame>
      <p:sp>
        <p:nvSpPr>
          <p:cNvPr id="8" name="Shape 4"/>
          <p:cNvSpPr/>
          <p:nvPr/>
        </p:nvSpPr>
        <p:spPr>
          <a:xfrm>
            <a:off x="7699248" y="1645920"/>
            <a:ext cx="3867912" cy="2148840"/>
          </a:xfrm>
          <a:prstGeom prst="roundRect">
            <a:avLst>
              <a:gd name="adj" fmla="val 1702"/>
            </a:avLst>
          </a:prstGeom>
          <a:solidFill>
            <a:srgbClr val="FFF4C2"/>
          </a:solidFill>
          <a:ln w="12700">
            <a:solidFill>
              <a:srgbClr val="FFE066"/>
            </a:solidFill>
            <a:prstDash val="solid"/>
          </a:ln>
        </p:spPr>
      </p:sp>
      <p:sp>
        <p:nvSpPr>
          <p:cNvPr id="9" name="Shape 5"/>
          <p:cNvSpPr/>
          <p:nvPr/>
        </p:nvSpPr>
        <p:spPr>
          <a:xfrm>
            <a:off x="7699248" y="1645920"/>
            <a:ext cx="64008" cy="2148840"/>
          </a:xfrm>
          <a:prstGeom prst="rect">
            <a:avLst/>
          </a:prstGeom>
          <a:solidFill>
            <a:srgbClr val="F56600"/>
          </a:solidFill>
          <a:ln w="12700">
            <a:solidFill>
              <a:srgbClr val="F56600"/>
            </a:solidFill>
            <a:prstDash val="solid"/>
          </a:ln>
        </p:spPr>
      </p:sp>
      <p:sp>
        <p:nvSpPr>
          <p:cNvPr id="10" name="Text 6"/>
          <p:cNvSpPr txBox="1"/>
          <p:nvPr/>
        </p:nvSpPr>
        <p:spPr>
          <a:xfrm>
            <a:off x="7918704" y="1737360"/>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Rechazar y encarecer son sustitutos</a:t>
            </a:r>
            <a:endParaRPr lang="en-US" sz="1100" dirty="0"/>
          </a:p>
        </p:txBody>
      </p:sp>
      <p:sp>
        <p:nvSpPr>
          <p:cNvPr id="11" name="Text 7"/>
          <p:cNvSpPr txBox="1"/>
          <p:nvPr/>
        </p:nvSpPr>
        <p:spPr>
          <a:xfrm>
            <a:off x="7918704" y="1975104"/>
            <a:ext cx="3483864" cy="170992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Alemania es la que menos rechaza (5,5 %) y la que más raciona: 20,4 % recibe solo una parte y 7,7 % renuncia porque el precio le parece alto. Entre las dos, un 33,6 % no obtiene todo lo que pidió, casi el doble que en España. Italia casi no rechaza (0,7 %) y es la que más prima de precio cobra.</a:t>
            </a:r>
            <a:endParaRPr lang="en-US" sz="850" dirty="0"/>
          </a:p>
        </p:txBody>
      </p:sp>
      <p:sp>
        <p:nvSpPr>
          <p:cNvPr id="12" name="Shape 8"/>
          <p:cNvSpPr/>
          <p:nvPr/>
        </p:nvSpPr>
        <p:spPr>
          <a:xfrm>
            <a:off x="7699248" y="3877056"/>
            <a:ext cx="3867912" cy="1920240"/>
          </a:xfrm>
          <a:prstGeom prst="roundRect">
            <a:avLst>
              <a:gd name="adj" fmla="val 1905"/>
            </a:avLst>
          </a:prstGeom>
          <a:solidFill>
            <a:srgbClr val="FFD6BA"/>
          </a:solidFill>
          <a:ln w="12700">
            <a:solidFill>
              <a:srgbClr val="FFD6BA"/>
            </a:solidFill>
            <a:prstDash val="solid"/>
          </a:ln>
        </p:spPr>
      </p:sp>
      <p:sp>
        <p:nvSpPr>
          <p:cNvPr id="13" name="Shape 9"/>
          <p:cNvSpPr/>
          <p:nvPr/>
        </p:nvSpPr>
        <p:spPr>
          <a:xfrm>
            <a:off x="7699248" y="3877056"/>
            <a:ext cx="64008" cy="1920240"/>
          </a:xfrm>
          <a:prstGeom prst="rect">
            <a:avLst/>
          </a:prstGeom>
          <a:solidFill>
            <a:srgbClr val="F56600"/>
          </a:solidFill>
          <a:ln w="12700">
            <a:solidFill>
              <a:srgbClr val="F56600"/>
            </a:solidFill>
            <a:prstDash val="solid"/>
          </a:ln>
        </p:spPr>
      </p:sp>
      <p:sp>
        <p:nvSpPr>
          <p:cNvPr id="14" name="Text 10"/>
          <p:cNvSpPr txBox="1"/>
          <p:nvPr/>
        </p:nvSpPr>
        <p:spPr>
          <a:xfrm>
            <a:off x="7918704" y="3968496"/>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Un semestre no es una tendencia</a:t>
            </a:r>
            <a:endParaRPr lang="en-US" sz="1100" dirty="0"/>
          </a:p>
        </p:txBody>
      </p:sp>
      <p:sp>
        <p:nvSpPr>
          <p:cNvPr id="15" name="Text 11"/>
          <p:cNvSpPr txBox="1"/>
          <p:nvPr/>
        </p:nvSpPr>
        <p:spPr>
          <a:xfrm>
            <a:off x="7918704" y="4206240"/>
            <a:ext cx="3483864" cy="148132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La serie es muy volátil: Irlanda ha ido de 2,1 % a 20,1 % desde 2022 y Francia de 4,6 % a 17,3 %. La media de los tres últimos años deja a España en 8,5 %, en línea con la zona euro. Leer un dato suelto como señal estructural es un error.</a:t>
            </a:r>
            <a:endParaRPr lang="en-US" sz="850" dirty="0"/>
          </a:p>
        </p:txBody>
      </p:sp>
      <p:sp>
        <p:nvSpPr>
          <p:cNvPr id="16"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encuesta SAFE, preguntas Q7B (resultado de la solicitud) y Q7A. Denominador: empresas que SOLICITARON ese instrumento, no el total de empresas; media ponderada. Las filas no suman 100 %: se omiten la solicitud aún pendiente y la respuesta «no sabe», que en Portugal y Francia pesan varios puntos. La SAFE segmenta por número de empleados (&lt;250), no por importe del préstamo como el MIR: no son filas promediables. Datos en transversal/safe_rechazo.csv.</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Reconciliación: el ROE de PYME frente a la rentabilidad de grupo</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Por qué el ROE modelizado del segmento PYME España no es comparable sin más con el RoTE que titula cada banco · Datos a junio de 2025, beneficio anualizado</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 y="1664208"/>
          <a:ext cx="10945368" cy="914400"/>
        </p:xfrm>
        <a:graphic>
          <a:graphicData uri="http://schemas.openxmlformats.org/drawingml/2006/table">
            <a:tbl>
              <a:tblPr/>
              <a:tblGrid>
                <a:gridCol w="1691640"/>
                <a:gridCol w="1691640"/>
                <a:gridCol w="1536192"/>
                <a:gridCol w="1600200"/>
                <a:gridCol w="1490472"/>
                <a:gridCol w="1581912"/>
                <a:gridCol w="1353312"/>
              </a:tblGrid>
              <a:tr h="365760">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Banco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ROE PYME</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España (modelo)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ROE de grupo</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sobre CET1</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RoTE de grupo</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(patr. tangible)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Cuña por</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denominador</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Brecha</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PYME − grupo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Peso de la RWA</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PYME en el grupo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65760">
                <a:tc>
                  <a:txBody>
                    <a:bodyPr/>
                    <a:lstStyle/>
                    <a:p>
                      <a:pPr algn="l" indent="0" marL="0">
                        <a:buNone/>
                      </a:pPr>
                      <a:r>
                        <a:rPr lang="en-US" sz="1050" b="1" dirty="0">
                          <a:solidFill>
                            <a:srgbClr val="F56600"/>
                          </a:solidFill>
                          <a:latin typeface="Verdana" pitchFamily="34" charset="0"/>
                          <a:ea typeface="Verdana" pitchFamily="34" charset="-122"/>
                          <a:cs typeface="Verdana" pitchFamily="34" charset="-120"/>
                        </a:rPr>
                        <a:t>Bankinter</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20,7 %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19,6 %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18,2 %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1,4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+1,1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17,6 %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Sabadell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20,2 %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18,8 %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15,9 %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3,0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+1,4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10,5 %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CaixaBank</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17,7 %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19,9 %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17,4 %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2,5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−2,2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9,9 %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BBVA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13,2 %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21,0 %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18,4 %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2,7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−7,8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4,5 %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Santander</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14,2 %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16,8 %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14,6 %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818181"/>
                          </a:solidFill>
                          <a:latin typeface="Verdana" pitchFamily="34" charset="0"/>
                          <a:ea typeface="Verdana" pitchFamily="34" charset="-122"/>
                          <a:cs typeface="Verdana" pitchFamily="34" charset="-120"/>
                        </a:rPr>
                        <a:t>2,2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−2,6 pp</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3,2 %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6" name="Shape 3"/>
          <p:cNvSpPr/>
          <p:nvPr/>
        </p:nvSpPr>
        <p:spPr>
          <a:xfrm>
            <a:off x="621792" y="3950208"/>
            <a:ext cx="10945368" cy="566928"/>
          </a:xfrm>
          <a:prstGeom prst="roundRect">
            <a:avLst>
              <a:gd name="adj" fmla="val 8065"/>
            </a:avLst>
          </a:prstGeom>
          <a:solidFill>
            <a:srgbClr val="E5E5E5"/>
          </a:solidFill>
          <a:ln w="12700">
            <a:solidFill>
              <a:srgbClr val="CACACA"/>
            </a:solidFill>
            <a:prstDash val="solid"/>
          </a:ln>
        </p:spPr>
      </p:sp>
      <p:sp>
        <p:nvSpPr>
          <p:cNvPr id="7" name="Shape 4"/>
          <p:cNvSpPr/>
          <p:nvPr/>
        </p:nvSpPr>
        <p:spPr>
          <a:xfrm>
            <a:off x="621792" y="3950208"/>
            <a:ext cx="54864" cy="566928"/>
          </a:xfrm>
          <a:prstGeom prst="rect">
            <a:avLst/>
          </a:prstGeom>
          <a:solidFill>
            <a:srgbClr val="F56600"/>
          </a:solidFill>
          <a:ln w="12700">
            <a:solidFill>
              <a:srgbClr val="F56600"/>
            </a:solidFill>
            <a:prstDash val="solid"/>
          </a:ln>
        </p:spPr>
      </p:sp>
      <p:sp>
        <p:nvSpPr>
          <p:cNvPr id="8" name="Text 5"/>
          <p:cNvSpPr txBox="1"/>
          <p:nvPr/>
        </p:nvSpPr>
        <p:spPr>
          <a:xfrm>
            <a:off x="822960" y="4014216"/>
            <a:ext cx="2103120" cy="256032"/>
          </a:xfrm>
          <a:prstGeom prst="rect">
            <a:avLst/>
          </a:prstGeom>
          <a:noFill/>
          <a:ln/>
        </p:spPr>
        <p:txBody>
          <a:bodyPr wrap="square" lIns="0" tIns="0" rIns="0" bIns="0" rtlCol="0" anchor="ctr"/>
          <a:lstStyle/>
          <a:p>
            <a:pPr indent="0" marL="0">
              <a:buNone/>
            </a:pPr>
            <a:r>
              <a:rPr lang="en-US" sz="1100" b="1" dirty="0">
                <a:solidFill>
                  <a:srgbClr val="F56600"/>
                </a:solidFill>
                <a:latin typeface="Verdana" pitchFamily="34" charset="0"/>
                <a:ea typeface="Verdana" pitchFamily="34" charset="-122"/>
                <a:cs typeface="Verdana" pitchFamily="34" charset="-120"/>
              </a:rPr>
              <a:t>Perímetro</a:t>
            </a:r>
            <a:endParaRPr lang="en-US" sz="1100" dirty="0"/>
          </a:p>
        </p:txBody>
      </p:sp>
      <p:sp>
        <p:nvSpPr>
          <p:cNvPr id="9" name="Text 6"/>
          <p:cNvSpPr txBox="1"/>
          <p:nvPr/>
        </p:nvSpPr>
        <p:spPr>
          <a:xfrm>
            <a:off x="2999232" y="4005072"/>
            <a:ext cx="8339328" cy="457200"/>
          </a:xfrm>
          <a:prstGeom prst="rect">
            <a:avLst/>
          </a:prstGeom>
          <a:noFill/>
          <a:ln/>
        </p:spPr>
        <p:txBody>
          <a:bodyPr wrap="square" lIns="0" tIns="0" rIns="0" bIns="0" rtlCol="0" anchor="ctr"/>
          <a:lstStyle/>
          <a:p>
            <a:pPr indent="0" marL="0">
              <a:buNone/>
            </a:pPr>
            <a:r>
              <a:rPr lang="en-US" sz="900" dirty="0">
                <a:solidFill>
                  <a:srgbClr val="2B2B2B"/>
                </a:solidFill>
                <a:latin typeface="Verdana" pitchFamily="34" charset="0"/>
                <a:ea typeface="Verdana" pitchFamily="34" charset="-122"/>
                <a:cs typeface="Verdana" pitchFamily="34" charset="-120"/>
              </a:rPr>
              <a:t>El ROE modelizado es de la cartera PYME ESPAÑOLA. El RoTE de grupo incluye México, Brasil, Reino Unido y Turquía. Por eso la brecha de BBVA es de 7,8 pp: su grupo rinde más que su negocio PYME en España, no menos.</a:t>
            </a:r>
            <a:endParaRPr lang="en-US" sz="900" dirty="0"/>
          </a:p>
        </p:txBody>
      </p:sp>
      <p:sp>
        <p:nvSpPr>
          <p:cNvPr id="10" name="Shape 7"/>
          <p:cNvSpPr/>
          <p:nvPr/>
        </p:nvSpPr>
        <p:spPr>
          <a:xfrm>
            <a:off x="621792" y="4590288"/>
            <a:ext cx="10945368" cy="566928"/>
          </a:xfrm>
          <a:prstGeom prst="roundRect">
            <a:avLst>
              <a:gd name="adj" fmla="val 8065"/>
            </a:avLst>
          </a:prstGeom>
          <a:solidFill>
            <a:srgbClr val="E5E5E5"/>
          </a:solidFill>
          <a:ln w="12700">
            <a:solidFill>
              <a:srgbClr val="CACACA"/>
            </a:solidFill>
            <a:prstDash val="solid"/>
          </a:ln>
        </p:spPr>
      </p:sp>
      <p:sp>
        <p:nvSpPr>
          <p:cNvPr id="11" name="Shape 8"/>
          <p:cNvSpPr/>
          <p:nvPr/>
        </p:nvSpPr>
        <p:spPr>
          <a:xfrm>
            <a:off x="621792" y="4590288"/>
            <a:ext cx="54864" cy="566928"/>
          </a:xfrm>
          <a:prstGeom prst="rect">
            <a:avLst/>
          </a:prstGeom>
          <a:solidFill>
            <a:srgbClr val="F56600"/>
          </a:solidFill>
          <a:ln w="12700">
            <a:solidFill>
              <a:srgbClr val="F56600"/>
            </a:solidFill>
            <a:prstDash val="solid"/>
          </a:ln>
        </p:spPr>
      </p:sp>
      <p:sp>
        <p:nvSpPr>
          <p:cNvPr id="12" name="Text 9"/>
          <p:cNvSpPr txBox="1"/>
          <p:nvPr/>
        </p:nvSpPr>
        <p:spPr>
          <a:xfrm>
            <a:off x="822960" y="4654296"/>
            <a:ext cx="2103120" cy="256032"/>
          </a:xfrm>
          <a:prstGeom prst="rect">
            <a:avLst/>
          </a:prstGeom>
          <a:noFill/>
          <a:ln/>
        </p:spPr>
        <p:txBody>
          <a:bodyPr wrap="square" lIns="0" tIns="0" rIns="0" bIns="0" rtlCol="0" anchor="ctr"/>
          <a:lstStyle/>
          <a:p>
            <a:pPr indent="0" marL="0">
              <a:buNone/>
            </a:pPr>
            <a:r>
              <a:rPr lang="en-US" sz="1100" b="1" dirty="0">
                <a:solidFill>
                  <a:srgbClr val="F56600"/>
                </a:solidFill>
                <a:latin typeface="Verdana" pitchFamily="34" charset="0"/>
                <a:ea typeface="Verdana" pitchFamily="34" charset="-122"/>
                <a:cs typeface="Verdana" pitchFamily="34" charset="-120"/>
              </a:rPr>
              <a:t>Denominador</a:t>
            </a:r>
            <a:endParaRPr lang="en-US" sz="1100" dirty="0"/>
          </a:p>
        </p:txBody>
      </p:sp>
      <p:sp>
        <p:nvSpPr>
          <p:cNvPr id="13" name="Text 10"/>
          <p:cNvSpPr txBox="1"/>
          <p:nvPr/>
        </p:nvSpPr>
        <p:spPr>
          <a:xfrm>
            <a:off x="2999232" y="4645152"/>
            <a:ext cx="8339328" cy="457200"/>
          </a:xfrm>
          <a:prstGeom prst="rect">
            <a:avLst/>
          </a:prstGeom>
          <a:noFill/>
          <a:ln/>
        </p:spPr>
        <p:txBody>
          <a:bodyPr wrap="square" lIns="0" tIns="0" rIns="0" bIns="0" rtlCol="0" anchor="ctr"/>
          <a:lstStyle/>
          <a:p>
            <a:pPr indent="0" marL="0">
              <a:buNone/>
            </a:pPr>
            <a:r>
              <a:rPr lang="en-US" sz="900" dirty="0">
                <a:solidFill>
                  <a:srgbClr val="2B2B2B"/>
                </a:solidFill>
                <a:latin typeface="Verdana" pitchFamily="34" charset="0"/>
                <a:ea typeface="Verdana" pitchFamily="34" charset="-122"/>
                <a:cs typeface="Verdana" pitchFamily="34" charset="-120"/>
              </a:rPr>
              <a:t>El modelo divide por capital regulatorio asignado (CET1 % × RWA PYME). El RoTE divide por patrimonio neto tangible, que es mayor. A igual beneficio, dividir por CET1 sube el ratio entre 1,4 y 3,0 pp.</a:t>
            </a:r>
            <a:endParaRPr lang="en-US" sz="900" dirty="0"/>
          </a:p>
        </p:txBody>
      </p:sp>
      <p:sp>
        <p:nvSpPr>
          <p:cNvPr id="14" name="Shape 11"/>
          <p:cNvSpPr/>
          <p:nvPr/>
        </p:nvSpPr>
        <p:spPr>
          <a:xfrm>
            <a:off x="621792" y="5230368"/>
            <a:ext cx="10945368" cy="566928"/>
          </a:xfrm>
          <a:prstGeom prst="roundRect">
            <a:avLst>
              <a:gd name="adj" fmla="val 8065"/>
            </a:avLst>
          </a:prstGeom>
          <a:solidFill>
            <a:srgbClr val="E5E5E5"/>
          </a:solidFill>
          <a:ln w="12700">
            <a:solidFill>
              <a:srgbClr val="CACACA"/>
            </a:solidFill>
            <a:prstDash val="solid"/>
          </a:ln>
        </p:spPr>
      </p:sp>
      <p:sp>
        <p:nvSpPr>
          <p:cNvPr id="15" name="Shape 12"/>
          <p:cNvSpPr/>
          <p:nvPr/>
        </p:nvSpPr>
        <p:spPr>
          <a:xfrm>
            <a:off x="621792" y="5230368"/>
            <a:ext cx="54864" cy="566928"/>
          </a:xfrm>
          <a:prstGeom prst="rect">
            <a:avLst/>
          </a:prstGeom>
          <a:solidFill>
            <a:srgbClr val="F56600"/>
          </a:solidFill>
          <a:ln w="12700">
            <a:solidFill>
              <a:srgbClr val="F56600"/>
            </a:solidFill>
            <a:prstDash val="solid"/>
          </a:ln>
        </p:spPr>
      </p:sp>
      <p:sp>
        <p:nvSpPr>
          <p:cNvPr id="16" name="Text 13"/>
          <p:cNvSpPr txBox="1"/>
          <p:nvPr/>
        </p:nvSpPr>
        <p:spPr>
          <a:xfrm>
            <a:off x="822960" y="5294376"/>
            <a:ext cx="2103120" cy="256032"/>
          </a:xfrm>
          <a:prstGeom prst="rect">
            <a:avLst/>
          </a:prstGeom>
          <a:noFill/>
          <a:ln/>
        </p:spPr>
        <p:txBody>
          <a:bodyPr wrap="square" lIns="0" tIns="0" rIns="0" bIns="0" rtlCol="0" anchor="ctr"/>
          <a:lstStyle/>
          <a:p>
            <a:pPr indent="0" marL="0">
              <a:buNone/>
            </a:pPr>
            <a:r>
              <a:rPr lang="en-US" sz="1100" b="1" dirty="0">
                <a:solidFill>
                  <a:srgbClr val="F56600"/>
                </a:solidFill>
                <a:latin typeface="Verdana" pitchFamily="34" charset="0"/>
                <a:ea typeface="Verdana" pitchFamily="34" charset="-122"/>
                <a:cs typeface="Verdana" pitchFamily="34" charset="-120"/>
              </a:rPr>
              <a:t>Cobertura de la cuenta</a:t>
            </a:r>
            <a:endParaRPr lang="en-US" sz="1100" dirty="0"/>
          </a:p>
        </p:txBody>
      </p:sp>
      <p:sp>
        <p:nvSpPr>
          <p:cNvPr id="17" name="Text 14"/>
          <p:cNvSpPr txBox="1"/>
          <p:nvPr/>
        </p:nvSpPr>
        <p:spPr>
          <a:xfrm>
            <a:off x="2999232" y="5285232"/>
            <a:ext cx="8339328" cy="457200"/>
          </a:xfrm>
          <a:prstGeom prst="rect">
            <a:avLst/>
          </a:prstGeom>
          <a:noFill/>
          <a:ln/>
        </p:spPr>
        <p:txBody>
          <a:bodyPr wrap="square" lIns="0" tIns="0" rIns="0" bIns="0" rtlCol="0" anchor="ctr"/>
          <a:lstStyle/>
          <a:p>
            <a:pPr indent="0" marL="0">
              <a:buNone/>
            </a:pPr>
            <a:r>
              <a:rPr lang="en-US" sz="900" dirty="0">
                <a:solidFill>
                  <a:srgbClr val="2B2B2B"/>
                </a:solidFill>
                <a:latin typeface="Verdana" pitchFamily="34" charset="0"/>
                <a:ea typeface="Verdana" pitchFamily="34" charset="-122"/>
                <a:cs typeface="Verdana" pitchFamily="34" charset="-120"/>
              </a:rPr>
              <a:t>El modelo recoge margen, comisiones, gastos y coste del riesgo de la cartera. El resultado de grupo añade ROF, puesta en equivalencia, saneamientos extraordinarios y el gravamen a la banca.</a:t>
            </a:r>
            <a:endParaRPr lang="en-US" sz="900" dirty="0"/>
          </a:p>
        </p:txBody>
      </p:sp>
      <p:sp>
        <p:nvSpPr>
          <p:cNvPr id="18" name="Text 15"/>
          <p:cNvSpPr txBox="1"/>
          <p:nvPr/>
        </p:nvSpPr>
        <p:spPr>
          <a:xfrm>
            <a:off x="621792" y="5852160"/>
            <a:ext cx="10945368" cy="201168"/>
          </a:xfrm>
          <a:prstGeom prst="rect">
            <a:avLst/>
          </a:prstGeom>
          <a:noFill/>
          <a:ln/>
        </p:spPr>
        <p:txBody>
          <a:bodyPr wrap="square" lIns="0" tIns="0" rIns="0" bIns="0" rtlCol="0" anchor="ctr"/>
          <a:lstStyle/>
          <a:p>
            <a:pPr indent="0" marL="0">
              <a:buNone/>
            </a:pPr>
            <a:r>
              <a:rPr lang="en-US" sz="900" b="1" dirty="0">
                <a:solidFill>
                  <a:srgbClr val="F56600"/>
                </a:solidFill>
                <a:latin typeface="Verdana" pitchFamily="34" charset="0"/>
                <a:ea typeface="Verdana" pitchFamily="34" charset="-122"/>
                <a:cs typeface="Verdana" pitchFamily="34" charset="-120"/>
              </a:rPr>
              <a:t>Para los tres bancos domésticos la brecha cabe en ±1,5 pp: el segmento PYME español rinde como el grupo. La lectura correcta de la tabla es esa, no el ranking.</a:t>
            </a:r>
            <a:endParaRPr lang="en-US" sz="900" dirty="0"/>
          </a:p>
        </p:txBody>
      </p:sp>
      <p:sp>
        <p:nvSpPr>
          <p:cNvPr id="19" name="Text 16"/>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00" i="1" dirty="0">
                <a:solidFill>
                  <a:srgbClr val="818181"/>
                </a:solidFill>
                <a:latin typeface="Verdana" pitchFamily="34" charset="0"/>
                <a:ea typeface="Verdana" pitchFamily="34" charset="-122"/>
                <a:cs typeface="Verdana" pitchFamily="34" charset="-120"/>
              </a:rPr>
              <a:t>EBA, EU-wide Transparency Exercise 2025 (tr_oth.csv), periodo 202506: resultado atribuido (2520336), CET1 (2520102), patrimonio total (2521216), intangibles (2520110), RWA (2520138). El RoTE de la tabla es CÁLCULO PROPIO sobre el EBA, no la cifra titulada por cada banco: las páginas de relación con inversores no son accesibles desde este entorno (ver notas.md). ROE PYME: modelo propio, comparables_bancos/reconciliacion_rote.csv.</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El capital de la PYME no lo fija el riesgo, lo fija el modelo</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Densidad de RWA de la cartera PYME separando método estándar de IRB · Sistemas bancarios supervisados por cada país · Junio de 2025</a:t>
            </a:r>
            <a:endParaRPr lang="en-US" sz="1050" dirty="0"/>
          </a:p>
        </p:txBody>
      </p:sp>
      <p:graphicFrame>
        <p:nvGraphicFramePr>
          <p:cNvPr id="5" name="Chart 0" descr=""/>
          <p:cNvGraphicFramePr/>
          <p:nvPr/>
        </p:nvGraphicFramePr>
        <p:xfrm>
          <a:off x="621792" y="1664208"/>
          <a:ext cx="6903720" cy="25603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1792" y="4297680"/>
            <a:ext cx="6903720" cy="237744"/>
          </a:xfrm>
          <a:prstGeom prst="rect">
            <a:avLst/>
          </a:prstGeom>
          <a:noFill/>
          <a:ln/>
        </p:spPr>
        <p:txBody>
          <a:bodyPr wrap="square" lIns="0" tIns="0" rIns="0" bIns="0" rtlCol="0" anchor="ctr"/>
          <a:lstStyle/>
          <a:p>
            <a:pPr indent="0" marL="0">
              <a:buNone/>
            </a:pPr>
            <a:r>
              <a:rPr lang="en-US" sz="1200" b="1" dirty="0">
                <a:solidFill>
                  <a:srgbClr val="F56600"/>
                </a:solidFill>
                <a:latin typeface="Verdana" pitchFamily="34" charset="0"/>
                <a:ea typeface="Verdana" pitchFamily="34" charset="-122"/>
                <a:cs typeface="Verdana" pitchFamily="34" charset="-120"/>
              </a:rPr>
              <a:t>Cuánto ahorra el IRB frente al estándar, y cuánta cartera lo usa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1792" y="4590288"/>
          <a:ext cx="6903720" cy="914400"/>
        </p:xfrm>
        <a:graphic>
          <a:graphicData uri="http://schemas.openxmlformats.org/drawingml/2006/table">
            <a:tbl>
              <a:tblPr/>
              <a:tblGrid>
                <a:gridCol w="1929384"/>
                <a:gridCol w="1664208"/>
                <a:gridCol w="1664208"/>
                <a:gridCol w="1645920"/>
              </a:tblGrid>
              <a:tr h="164592">
                <a:tc>
                  <a:txBody>
                    <a:bodyPr/>
                    <a:lstStyle/>
                    <a:p>
                      <a:pPr algn="l" indent="0" marL="0">
                        <a:buNone/>
                      </a:pP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Ahorro del IRB</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Cartera en IRB</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Densidad total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164592">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7,6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46,2 %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59,5 %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Alemania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35,9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85,5 %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35,3 %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31,9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76,0 %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43,0 %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28,6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69,7 %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46,3 %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25,2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45,3 %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61,3 %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34,9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93,5 %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164592">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12,5 pp</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58,2 %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70,0 %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8" name="Shape 4"/>
          <p:cNvSpPr/>
          <p:nvPr/>
        </p:nvSpPr>
        <p:spPr>
          <a:xfrm>
            <a:off x="7699248" y="1664208"/>
            <a:ext cx="3867912" cy="2148840"/>
          </a:xfrm>
          <a:prstGeom prst="roundRect">
            <a:avLst>
              <a:gd name="adj" fmla="val 1702"/>
            </a:avLst>
          </a:prstGeom>
          <a:solidFill>
            <a:srgbClr val="FFF4C2"/>
          </a:solidFill>
          <a:ln w="12700">
            <a:solidFill>
              <a:srgbClr val="FFE066"/>
            </a:solidFill>
            <a:prstDash val="solid"/>
          </a:ln>
        </p:spPr>
      </p:sp>
      <p:sp>
        <p:nvSpPr>
          <p:cNvPr id="9" name="Shape 5"/>
          <p:cNvSpPr/>
          <p:nvPr/>
        </p:nvSpPr>
        <p:spPr>
          <a:xfrm>
            <a:off x="7699248" y="1664208"/>
            <a:ext cx="64008" cy="2148840"/>
          </a:xfrm>
          <a:prstGeom prst="rect">
            <a:avLst/>
          </a:prstGeom>
          <a:solidFill>
            <a:srgbClr val="F56600"/>
          </a:solidFill>
          <a:ln w="12700">
            <a:solidFill>
              <a:srgbClr val="F56600"/>
            </a:solidFill>
            <a:prstDash val="solid"/>
          </a:ln>
        </p:spPr>
      </p:sp>
      <p:sp>
        <p:nvSpPr>
          <p:cNvPr id="10" name="Text 6"/>
          <p:cNvSpPr txBox="1"/>
          <p:nvPr/>
        </p:nvSpPr>
        <p:spPr>
          <a:xfrm>
            <a:off x="7918704" y="1755648"/>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El IRB español apenas ahorra</a:t>
            </a:r>
            <a:endParaRPr lang="en-US" sz="1100" dirty="0"/>
          </a:p>
        </p:txBody>
      </p:sp>
      <p:sp>
        <p:nvSpPr>
          <p:cNvPr id="11" name="Text 7"/>
          <p:cNvSpPr txBox="1"/>
          <p:nvPr/>
        </p:nvSpPr>
        <p:spPr>
          <a:xfrm>
            <a:off x="7918704" y="1993392"/>
            <a:ext cx="3483864" cy="170992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En España el modelo interno rebaja la densidad solo 7,6 pp (63,0 % → 55,4 %). En Alemania la rebaja 35,9 pp. La densidad IRB española (55,4 %) es la segunda más alta de los siete, solo por detrás de Irlanda, y está por encima de la densidad TOTAL de Alemania (35,3 %), Francia (43,0 %) o Italia (46,3 %): el banco español con modelo aprobado consume más capital que el alemán medio.</a:t>
            </a:r>
            <a:endParaRPr lang="en-US" sz="850" dirty="0"/>
          </a:p>
        </p:txBody>
      </p:sp>
      <p:sp>
        <p:nvSpPr>
          <p:cNvPr id="12" name="Shape 8"/>
          <p:cNvSpPr/>
          <p:nvPr/>
        </p:nvSpPr>
        <p:spPr>
          <a:xfrm>
            <a:off x="7699248" y="3931920"/>
            <a:ext cx="3867912" cy="1865376"/>
          </a:xfrm>
          <a:prstGeom prst="roundRect">
            <a:avLst>
              <a:gd name="adj" fmla="val 1961"/>
            </a:avLst>
          </a:prstGeom>
          <a:solidFill>
            <a:srgbClr val="FFD6BA"/>
          </a:solidFill>
          <a:ln w="12700">
            <a:solidFill>
              <a:srgbClr val="FFD6BA"/>
            </a:solidFill>
            <a:prstDash val="solid"/>
          </a:ln>
        </p:spPr>
      </p:sp>
      <p:sp>
        <p:nvSpPr>
          <p:cNvPr id="13" name="Shape 9"/>
          <p:cNvSpPr/>
          <p:nvPr/>
        </p:nvSpPr>
        <p:spPr>
          <a:xfrm>
            <a:off x="7699248" y="3931920"/>
            <a:ext cx="64008" cy="1865376"/>
          </a:xfrm>
          <a:prstGeom prst="rect">
            <a:avLst/>
          </a:prstGeom>
          <a:solidFill>
            <a:srgbClr val="F56600"/>
          </a:solidFill>
          <a:ln w="12700">
            <a:solidFill>
              <a:srgbClr val="F56600"/>
            </a:solidFill>
            <a:prstDash val="solid"/>
          </a:ln>
        </p:spPr>
      </p:sp>
      <p:sp>
        <p:nvSpPr>
          <p:cNvPr id="14" name="Text 10"/>
          <p:cNvSpPr txBox="1"/>
          <p:nvPr/>
        </p:nvSpPr>
        <p:spPr>
          <a:xfrm>
            <a:off x="7918704" y="4023360"/>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Los 24,2 pp frente a Alemania</a:t>
            </a:r>
            <a:endParaRPr lang="en-US" sz="1100" dirty="0"/>
          </a:p>
        </p:txBody>
      </p:sp>
      <p:sp>
        <p:nvSpPr>
          <p:cNvPr id="15" name="Text 11"/>
          <p:cNvSpPr txBox="1"/>
          <p:nvPr/>
        </p:nvSpPr>
        <p:spPr>
          <a:xfrm>
            <a:off x="7918704" y="4261104"/>
            <a:ext cx="3483864" cy="142646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Solo 3,0 pp vienen de tener menos cartera en IRB (46,2 % frente a 85,5 %). 11,7 pp vienen de la CALIBRACIÓN de los modelos y 9,5 pp de la interacción de las dos cosas. No es un problema de volumen modelizado: es un problema de qué devuelve el modelo.</a:t>
            </a:r>
            <a:endParaRPr lang="en-US" sz="850" dirty="0"/>
          </a:p>
        </p:txBody>
      </p:sp>
      <p:sp>
        <p:nvSpPr>
          <p:cNvPr id="16"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EU-wide Transparency Exercise 2025 (tr_cre.csv), junio 2025, dimensión Portfolio (1 = estándar, 2 = IRB), partidas 2520523 (valor de exposición PYME) y 2520533 (RWA PYME), contraparte total. Densidad = RWA / valor de exposición. Descomposición propia. Datos en transversal/eba_te_pyme_sa_irb.csv.</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Irlanda en factoring: el dato está congelado, no es un mercado plano</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Volumen cedido anual publicado por la EU Federation for Factoring · La serie irlandesa repite el mismo importe desde 2021</a:t>
            </a:r>
            <a:endParaRPr lang="en-US" sz="1050" dirty="0"/>
          </a:p>
        </p:txBody>
      </p:sp>
      <p:graphicFrame>
        <p:nvGraphicFramePr>
          <p:cNvPr id="5" name="Chart 0" descr=""/>
          <p:cNvGraphicFramePr/>
          <p:nvPr/>
        </p:nvGraphicFramePr>
        <p:xfrm>
          <a:off x="621792" y="1664208"/>
          <a:ext cx="6903720" cy="2606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1792" y="4297680"/>
            <a:ext cx="3657600" cy="219456"/>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Volumen cedido, millones de euros</a:t>
            </a:r>
            <a:endParaRPr lang="en-US" sz="850" dirty="0"/>
          </a:p>
        </p:txBody>
      </p:sp>
      <p:sp>
        <p:nvSpPr>
          <p:cNvPr id="7" name="Shape 4"/>
          <p:cNvSpPr/>
          <p:nvPr/>
        </p:nvSpPr>
        <p:spPr>
          <a:xfrm>
            <a:off x="621792" y="4590288"/>
            <a:ext cx="6903720" cy="1188720"/>
          </a:xfrm>
          <a:prstGeom prst="roundRect">
            <a:avLst>
              <a:gd name="adj" fmla="val 3846"/>
            </a:avLst>
          </a:prstGeom>
          <a:solidFill>
            <a:srgbClr val="FFF4C2"/>
          </a:solidFill>
          <a:ln w="12700">
            <a:solidFill>
              <a:srgbClr val="FFE066"/>
            </a:solidFill>
            <a:prstDash val="solid"/>
          </a:ln>
        </p:spPr>
      </p:sp>
      <p:sp>
        <p:nvSpPr>
          <p:cNvPr id="8" name="Shape 5"/>
          <p:cNvSpPr/>
          <p:nvPr/>
        </p:nvSpPr>
        <p:spPr>
          <a:xfrm>
            <a:off x="621792" y="4590288"/>
            <a:ext cx="64008" cy="1188720"/>
          </a:xfrm>
          <a:prstGeom prst="rect">
            <a:avLst/>
          </a:prstGeom>
          <a:solidFill>
            <a:srgbClr val="F56600"/>
          </a:solidFill>
          <a:ln w="12700">
            <a:solidFill>
              <a:srgbClr val="F56600"/>
            </a:solidFill>
            <a:prstDash val="solid"/>
          </a:ln>
        </p:spPr>
      </p:sp>
      <p:sp>
        <p:nvSpPr>
          <p:cNvPr id="9" name="Text 6"/>
          <p:cNvSpPr txBox="1"/>
          <p:nvPr/>
        </p:nvSpPr>
        <p:spPr>
          <a:xfrm>
            <a:off x="841248" y="4681728"/>
            <a:ext cx="6492240" cy="256032"/>
          </a:xfrm>
          <a:prstGeom prst="rect">
            <a:avLst/>
          </a:prstGeom>
          <a:noFill/>
          <a:ln/>
        </p:spPr>
        <p:txBody>
          <a:bodyPr wrap="square" lIns="0" tIns="0" rIns="0" bIns="0" rtlCol="0" anchor="ctr"/>
          <a:lstStyle/>
          <a:p>
            <a:pPr indent="0" marL="0">
              <a:buNone/>
            </a:pPr>
            <a:r>
              <a:rPr lang="en-US" sz="1200" b="1" dirty="0">
                <a:solidFill>
                  <a:srgbClr val="2B2B2B"/>
                </a:solidFill>
                <a:latin typeface="Verdana" pitchFamily="34" charset="0"/>
                <a:ea typeface="Verdana" pitchFamily="34" charset="-122"/>
                <a:cs typeface="Verdana" pitchFamily="34" charset="-120"/>
              </a:rPr>
              <a:t>Desde 2017 la EUF solo ha publicado 3 importes distintos para Irlanda</a:t>
            </a:r>
            <a:endParaRPr lang="en-US" sz="1200" dirty="0"/>
          </a:p>
        </p:txBody>
      </p:sp>
      <p:sp>
        <p:nvSpPr>
          <p:cNvPr id="10" name="Text 7"/>
          <p:cNvSpPr txBox="1"/>
          <p:nvPr/>
        </p:nvSpPr>
        <p:spPr>
          <a:xfrm>
            <a:off x="841248" y="4974336"/>
            <a:ext cx="6492240" cy="713232"/>
          </a:xfrm>
          <a:prstGeom prst="rect">
            <a:avLst/>
          </a:prstGeom>
          <a:noFill/>
          <a:ln/>
        </p:spPr>
        <p:txBody>
          <a:bodyPr wrap="square" lIns="0" tIns="0" rIns="0" bIns="0" rtlCol="0" anchor="ctr"/>
          <a:lstStyle/>
          <a:p>
            <a:pPr indent="0" marL="0">
              <a:buNone/>
            </a:pPr>
            <a:r>
              <a:rPr lang="en-US" sz="950" dirty="0">
                <a:solidFill>
                  <a:srgbClr val="2B2B2B"/>
                </a:solidFill>
                <a:latin typeface="Verdana" pitchFamily="34" charset="0"/>
                <a:ea typeface="Verdana" pitchFamily="34" charset="-122"/>
                <a:cs typeface="Verdana" pitchFamily="34" charset="-120"/>
              </a:rPr>
              <a:t>26.294 en 2017 y 2018 · 28.424 en 2019 y 2020 · 28.617 en 2021, 2022, 2023, 2024 y 2025. 5 años consecutivos con el mismo número. La variación anual que publica la tabla es 0,0 % por construcción, no por comportamiento del mercado.</a:t>
            </a:r>
            <a:endParaRPr lang="en-US" sz="950" dirty="0"/>
          </a:p>
        </p:txBody>
      </p:sp>
      <p:sp>
        <p:nvSpPr>
          <p:cNvPr id="11" name="Shape 8"/>
          <p:cNvSpPr/>
          <p:nvPr/>
        </p:nvSpPr>
        <p:spPr>
          <a:xfrm>
            <a:off x="7699248" y="1664208"/>
            <a:ext cx="3867912" cy="2029968"/>
          </a:xfrm>
          <a:prstGeom prst="roundRect">
            <a:avLst>
              <a:gd name="adj" fmla="val 1802"/>
            </a:avLst>
          </a:prstGeom>
          <a:solidFill>
            <a:srgbClr val="FFF4C2"/>
          </a:solidFill>
          <a:ln w="12700">
            <a:solidFill>
              <a:srgbClr val="FFE066"/>
            </a:solidFill>
            <a:prstDash val="solid"/>
          </a:ln>
        </p:spPr>
      </p:sp>
      <p:sp>
        <p:nvSpPr>
          <p:cNvPr id="12" name="Shape 9"/>
          <p:cNvSpPr/>
          <p:nvPr/>
        </p:nvSpPr>
        <p:spPr>
          <a:xfrm>
            <a:off x="7699248" y="1664208"/>
            <a:ext cx="64008" cy="2029968"/>
          </a:xfrm>
          <a:prstGeom prst="rect">
            <a:avLst/>
          </a:prstGeom>
          <a:solidFill>
            <a:srgbClr val="F56600"/>
          </a:solidFill>
          <a:ln w="12700">
            <a:solidFill>
              <a:srgbClr val="F56600"/>
            </a:solidFill>
            <a:prstDash val="solid"/>
          </a:ln>
        </p:spPr>
      </p:sp>
      <p:sp>
        <p:nvSpPr>
          <p:cNvPr id="13" name="Text 10"/>
          <p:cNvSpPr txBox="1"/>
          <p:nvPr/>
        </p:nvSpPr>
        <p:spPr>
          <a:xfrm>
            <a:off x="7918704" y="1755648"/>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La propia EUF lo advierte</a:t>
            </a:r>
            <a:endParaRPr lang="en-US" sz="1100" dirty="0"/>
          </a:p>
        </p:txBody>
      </p:sp>
      <p:sp>
        <p:nvSpPr>
          <p:cNvPr id="14" name="Text 11"/>
          <p:cNvSpPr txBox="1"/>
          <p:nvPr/>
        </p:nvSpPr>
        <p:spPr>
          <a:xfrm>
            <a:off x="7918704" y="1993392"/>
            <a:ext cx="3483864" cy="15910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La tabla marca a Irlanda con la nota (3): «Estimates of the turnover — the previous year's turnover implemented». Es decir, se arrastra el importe del año anterior. Y la serie histórica la etiqueta como «EUF member till 2018»: desde 2019 no hay asociación nacional que reporte el dato irlandés.</a:t>
            </a:r>
            <a:endParaRPr lang="en-US" sz="850" dirty="0"/>
          </a:p>
        </p:txBody>
      </p:sp>
      <p:sp>
        <p:nvSpPr>
          <p:cNvPr id="15" name="Shape 12"/>
          <p:cNvSpPr/>
          <p:nvPr/>
        </p:nvSpPr>
        <p:spPr>
          <a:xfrm>
            <a:off x="7699248" y="3767328"/>
            <a:ext cx="3867912" cy="2011680"/>
          </a:xfrm>
          <a:prstGeom prst="roundRect">
            <a:avLst>
              <a:gd name="adj" fmla="val 1818"/>
            </a:avLst>
          </a:prstGeom>
          <a:solidFill>
            <a:srgbClr val="FFD6BA"/>
          </a:solidFill>
          <a:ln w="12700">
            <a:solidFill>
              <a:srgbClr val="FFD6BA"/>
            </a:solidFill>
            <a:prstDash val="solid"/>
          </a:ln>
        </p:spPr>
      </p:sp>
      <p:sp>
        <p:nvSpPr>
          <p:cNvPr id="16" name="Shape 13"/>
          <p:cNvSpPr/>
          <p:nvPr/>
        </p:nvSpPr>
        <p:spPr>
          <a:xfrm>
            <a:off x="7699248" y="3767328"/>
            <a:ext cx="64008" cy="2011680"/>
          </a:xfrm>
          <a:prstGeom prst="rect">
            <a:avLst/>
          </a:prstGeom>
          <a:solidFill>
            <a:srgbClr val="F56600"/>
          </a:solidFill>
          <a:ln w="12700">
            <a:solidFill>
              <a:srgbClr val="F56600"/>
            </a:solidFill>
            <a:prstDash val="solid"/>
          </a:ln>
        </p:spPr>
      </p:sp>
      <p:sp>
        <p:nvSpPr>
          <p:cNvPr id="17" name="Text 14"/>
          <p:cNvSpPr txBox="1"/>
          <p:nvPr/>
        </p:nvSpPr>
        <p:spPr>
          <a:xfrm>
            <a:off x="7918704" y="3858768"/>
            <a:ext cx="348386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Qué no se puede decir con este dato</a:t>
            </a:r>
            <a:endParaRPr lang="en-US" sz="1100" dirty="0"/>
          </a:p>
        </p:txBody>
      </p:sp>
      <p:sp>
        <p:nvSpPr>
          <p:cNvPr id="18" name="Text 15"/>
          <p:cNvSpPr txBox="1"/>
          <p:nvPr/>
        </p:nvSpPr>
        <p:spPr>
          <a:xfrm>
            <a:off x="7918704" y="4096512"/>
            <a:ext cx="3483864" cy="157276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No se puede leer el nivel irlandés como medida del mercado, ni su crecimiento (es cero por construcción), ni su cuota europea (1,1 %), ni su penetración sobre el PIB (4,5 %, la menor de los siete), porque el numerador está congelado y el denominador no. Irlanda debe salir de cualquier ranking de factoring o llevar la marca del arrastre.</a:t>
            </a:r>
            <a:endParaRPr lang="en-US" sz="850" dirty="0"/>
          </a:p>
        </p:txBody>
      </p:sp>
      <p:sp>
        <p:nvSpPr>
          <p:cNvPr id="19" name="Text 16"/>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EUF, EU Federation for Factoring: tabla anual a 31 de diciembre de 2025 y fichero «EU Turnover per country since 2007». Mismo arrastre, con menos años, en Estonia, Finlandia, Luxemburgo, Malta y Suecia. Serie completa en factoring_confirming/euf_historico.csv.</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Lo que publican los bancos, en % de la inversión</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Las mismas cuentas de la lámina anterior divididas por la inversión crediticia de su propio perímetro y anualizadas · Commerzbank publica trimestre (×4), el resto semestre (×2)</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1792" y="1664208"/>
          <a:ext cx="10945368" cy="914400"/>
        </p:xfrm>
        <a:graphic>
          <a:graphicData uri="http://schemas.openxmlformats.org/drawingml/2006/table">
            <a:tbl>
              <a:tblPr/>
              <a:tblGrid>
                <a:gridCol w="1417320"/>
                <a:gridCol w="914400"/>
                <a:gridCol w="1874520"/>
                <a:gridCol w="1143000"/>
                <a:gridCol w="960120"/>
                <a:gridCol w="960120"/>
                <a:gridCol w="1051560"/>
                <a:gridCol w="914400"/>
                <a:gridCol w="841248"/>
                <a:gridCol w="868680"/>
              </a:tblGrid>
              <a:tr h="310896">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Banco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País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Perímetro publicado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Inversión</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M€</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Ingresos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M. intereses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Comisiones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Costes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Coste riesgo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BAI</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10896">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Commerzbank</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50" dirty="0">
                          <a:solidFill>
                            <a:srgbClr val="818181"/>
                          </a:solidFill>
                          <a:latin typeface="Verdana" pitchFamily="34" charset="0"/>
                          <a:ea typeface="Verdana" pitchFamily="34" charset="-122"/>
                          <a:cs typeface="Verdana" pitchFamily="34" charset="-120"/>
                        </a:rPr>
                        <a:t>Alemania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dirty="0">
                          <a:solidFill>
                            <a:srgbClr val="F56600"/>
                          </a:solidFill>
                          <a:latin typeface="Verdana" pitchFamily="34" charset="0"/>
                          <a:ea typeface="Verdana" pitchFamily="34" charset="-122"/>
                          <a:cs typeface="Verdana" pitchFamily="34" charset="-120"/>
                        </a:rPr>
                        <a:t>Corporate Clients</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818181"/>
                          </a:solidFill>
                          <a:latin typeface="Verdana" pitchFamily="34" charset="0"/>
                          <a:ea typeface="Verdana" pitchFamily="34" charset="-122"/>
                          <a:cs typeface="Verdana" pitchFamily="34" charset="-120"/>
                        </a:rPr>
                        <a:t>123.000</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4,01 %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2,15 %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1,22 %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200"/>
                    </a:solidFill>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n/d</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n/d</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n/d</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ABN AMRO</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50" dirty="0">
                          <a:solidFill>
                            <a:srgbClr val="818181"/>
                          </a:solidFill>
                          <a:latin typeface="Verdana" pitchFamily="34" charset="0"/>
                          <a:ea typeface="Verdana" pitchFamily="34" charset="-122"/>
                          <a:cs typeface="Verdana" pitchFamily="34" charset="-120"/>
                        </a:rPr>
                        <a:t>P. Bajos</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dirty="0">
                          <a:solidFill>
                            <a:srgbClr val="F56600"/>
                          </a:solidFill>
                          <a:latin typeface="Verdana" pitchFamily="34" charset="0"/>
                          <a:ea typeface="Verdana" pitchFamily="34" charset="-122"/>
                          <a:cs typeface="Verdana" pitchFamily="34" charset="-120"/>
                        </a:rPr>
                        <a:t>Corporate Banking</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818181"/>
                          </a:solidFill>
                          <a:latin typeface="Verdana" pitchFamily="34" charset="0"/>
                          <a:ea typeface="Verdana" pitchFamily="34" charset="-122"/>
                          <a:cs typeface="Verdana" pitchFamily="34" charset="-120"/>
                        </a:rPr>
                        <a:t>86.900</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3,90 %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2,52 %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0,99 %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200"/>
                    </a:solidFill>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1,93 %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15 pb</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1,82 %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Intesa Sanpaolo</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50" dirty="0">
                          <a:solidFill>
                            <a:srgbClr val="818181"/>
                          </a:solidFill>
                          <a:latin typeface="Verdana" pitchFamily="34" charset="0"/>
                          <a:ea typeface="Verdana" pitchFamily="34" charset="-122"/>
                          <a:cs typeface="Verdana" pitchFamily="34" charset="-120"/>
                        </a:rPr>
                        <a:t>Italia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dirty="0">
                          <a:solidFill>
                            <a:srgbClr val="F56600"/>
                          </a:solidFill>
                          <a:latin typeface="Verdana" pitchFamily="34" charset="0"/>
                          <a:ea typeface="Verdana" pitchFamily="34" charset="-122"/>
                          <a:cs typeface="Verdana" pitchFamily="34" charset="-120"/>
                        </a:rPr>
                        <a:t>Banca dei Territori</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818181"/>
                          </a:solidFill>
                          <a:latin typeface="Verdana" pitchFamily="34" charset="0"/>
                          <a:ea typeface="Verdana" pitchFamily="34" charset="-122"/>
                          <a:cs typeface="Verdana" pitchFamily="34" charset="-120"/>
                        </a:rPr>
                        <a:t>219.966</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5,64 %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n/d</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n/d</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2,63 %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48 pb</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2,53 %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CaixaBank</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50" dirty="0">
                          <a:solidFill>
                            <a:srgbClr val="818181"/>
                          </a:solidFill>
                          <a:latin typeface="Verdana" pitchFamily="34" charset="0"/>
                          <a:ea typeface="Verdana" pitchFamily="34" charset="-122"/>
                          <a:cs typeface="Verdana" pitchFamily="34" charset="-120"/>
                        </a:rPr>
                        <a:t>España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i="1" dirty="0">
                          <a:solidFill>
                            <a:srgbClr val="818181"/>
                          </a:solidFill>
                          <a:latin typeface="Verdana" pitchFamily="34" charset="0"/>
                          <a:ea typeface="Verdana" pitchFamily="34" charset="-122"/>
                          <a:cs typeface="Verdana" pitchFamily="34" charset="-120"/>
                        </a:rPr>
                        <a:t>Grupo consolidado</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818181"/>
                          </a:solidFill>
                          <a:latin typeface="Verdana" pitchFamily="34" charset="0"/>
                          <a:ea typeface="Verdana" pitchFamily="34" charset="-122"/>
                          <a:cs typeface="Verdana" pitchFamily="34" charset="-120"/>
                        </a:rPr>
                        <a:t>406.233</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4,11 %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2,65 %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1,02 %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1,63 %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24 pb</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2,24 %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BPER Banca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50" dirty="0">
                          <a:solidFill>
                            <a:srgbClr val="818181"/>
                          </a:solidFill>
                          <a:latin typeface="Verdana" pitchFamily="34" charset="0"/>
                          <a:ea typeface="Verdana" pitchFamily="34" charset="-122"/>
                          <a:cs typeface="Verdana" pitchFamily="34" charset="-120"/>
                        </a:rPr>
                        <a:t>Italia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i="1" dirty="0">
                          <a:solidFill>
                            <a:srgbClr val="818181"/>
                          </a:solidFill>
                          <a:latin typeface="Verdana" pitchFamily="34" charset="0"/>
                          <a:ea typeface="Verdana" pitchFamily="34" charset="-122"/>
                          <a:cs typeface="Verdana" pitchFamily="34" charset="-120"/>
                        </a:rPr>
                        <a:t>Grupo consolidado</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818181"/>
                          </a:solidFill>
                          <a:latin typeface="Verdana" pitchFamily="34" charset="0"/>
                          <a:ea typeface="Verdana" pitchFamily="34" charset="-122"/>
                          <a:cs typeface="Verdana" pitchFamily="34" charset="-120"/>
                        </a:rPr>
                        <a:t>129.216</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6,00 %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3,42 %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2,09 %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2,48 %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27 pb</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3,24 %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6" name="Shape 3"/>
          <p:cNvSpPr/>
          <p:nvPr/>
        </p:nvSpPr>
        <p:spPr>
          <a:xfrm>
            <a:off x="621792" y="3675888"/>
            <a:ext cx="146304" cy="146304"/>
          </a:xfrm>
          <a:prstGeom prst="rect">
            <a:avLst/>
          </a:prstGeom>
          <a:solidFill>
            <a:srgbClr val="FFD200"/>
          </a:solidFill>
          <a:ln w="12700">
            <a:solidFill>
              <a:srgbClr val="CACACA"/>
            </a:solidFill>
            <a:prstDash val="solid"/>
          </a:ln>
        </p:spPr>
      </p:sp>
      <p:sp>
        <p:nvSpPr>
          <p:cNvPr id="7" name="Text 4"/>
          <p:cNvSpPr txBox="1"/>
          <p:nvPr/>
        </p:nvSpPr>
        <p:spPr>
          <a:xfrm>
            <a:off x="841248" y="3621024"/>
            <a:ext cx="3840480" cy="23774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perímetro = segmento de empresas publicado</a:t>
            </a:r>
            <a:endParaRPr lang="en-US" sz="850" dirty="0"/>
          </a:p>
        </p:txBody>
      </p:sp>
      <p:sp>
        <p:nvSpPr>
          <p:cNvPr id="8" name="Shape 5"/>
          <p:cNvSpPr/>
          <p:nvPr/>
        </p:nvSpPr>
        <p:spPr>
          <a:xfrm>
            <a:off x="4782312" y="3675888"/>
            <a:ext cx="146304" cy="146304"/>
          </a:xfrm>
          <a:prstGeom prst="rect">
            <a:avLst/>
          </a:prstGeom>
          <a:solidFill>
            <a:srgbClr val="FFF4C2"/>
          </a:solidFill>
          <a:ln w="12700">
            <a:solidFill>
              <a:srgbClr val="CACACA"/>
            </a:solidFill>
            <a:prstDash val="solid"/>
          </a:ln>
        </p:spPr>
      </p:sp>
      <p:sp>
        <p:nvSpPr>
          <p:cNvPr id="9" name="Text 6"/>
          <p:cNvSpPr txBox="1"/>
          <p:nvPr/>
        </p:nvSpPr>
        <p:spPr>
          <a:xfrm>
            <a:off x="5001768" y="3621024"/>
            <a:ext cx="3840480" cy="23774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perímetro = grupo, no segmento</a:t>
            </a:r>
            <a:endParaRPr lang="en-US" sz="850" dirty="0"/>
          </a:p>
        </p:txBody>
      </p:sp>
      <p:sp>
        <p:nvSpPr>
          <p:cNvPr id="10" name="Shape 7"/>
          <p:cNvSpPr/>
          <p:nvPr/>
        </p:nvSpPr>
        <p:spPr>
          <a:xfrm>
            <a:off x="621792" y="3986784"/>
            <a:ext cx="5321808" cy="1755648"/>
          </a:xfrm>
          <a:prstGeom prst="roundRect">
            <a:avLst>
              <a:gd name="adj" fmla="val 2083"/>
            </a:avLst>
          </a:prstGeom>
          <a:solidFill>
            <a:srgbClr val="FFF4C2"/>
          </a:solidFill>
          <a:ln w="12700">
            <a:solidFill>
              <a:srgbClr val="FFE066"/>
            </a:solidFill>
            <a:prstDash val="solid"/>
          </a:ln>
        </p:spPr>
      </p:sp>
      <p:sp>
        <p:nvSpPr>
          <p:cNvPr id="11" name="Shape 8"/>
          <p:cNvSpPr/>
          <p:nvPr/>
        </p:nvSpPr>
        <p:spPr>
          <a:xfrm>
            <a:off x="621792" y="3986784"/>
            <a:ext cx="64008" cy="1755648"/>
          </a:xfrm>
          <a:prstGeom prst="rect">
            <a:avLst/>
          </a:prstGeom>
          <a:solidFill>
            <a:srgbClr val="F56600"/>
          </a:solidFill>
          <a:ln w="12700">
            <a:solidFill>
              <a:srgbClr val="F56600"/>
            </a:solidFill>
            <a:prstDash val="solid"/>
          </a:ln>
        </p:spPr>
      </p:sp>
      <p:sp>
        <p:nvSpPr>
          <p:cNvPr id="12" name="Text 9"/>
          <p:cNvSpPr txBox="1"/>
          <p:nvPr/>
        </p:nvSpPr>
        <p:spPr>
          <a:xfrm>
            <a:off x="841248" y="4078224"/>
            <a:ext cx="4937760"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El supuesto de 87 pb no infla el modelo</a:t>
            </a:r>
            <a:endParaRPr lang="en-US" sz="1100" dirty="0"/>
          </a:p>
        </p:txBody>
      </p:sp>
      <p:sp>
        <p:nvSpPr>
          <p:cNvPr id="13" name="Text 10"/>
          <p:cNvSpPr txBox="1"/>
          <p:nvPr/>
        </p:nvSpPr>
        <p:spPr>
          <a:xfrm>
            <a:off x="841248" y="4315968"/>
            <a:ext cx="4937760" cy="131673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La cuenta de la lámina 7 supone 0,87 % de comisiones sobre el saldo medio. Los dos únicos segmentos de empresas publicados ganan MÁS: Commerzbank 1,22 % y ABN AMRO 0,99 %. El supuesto está en el extremo bajo de lo que una franquicia de banca de empresas cobra por euro prestado, así que no está regalando ROE al modelo.</a:t>
            </a:r>
            <a:endParaRPr lang="en-US" sz="850" dirty="0"/>
          </a:p>
        </p:txBody>
      </p:sp>
      <p:sp>
        <p:nvSpPr>
          <p:cNvPr id="14" name="Shape 11"/>
          <p:cNvSpPr/>
          <p:nvPr/>
        </p:nvSpPr>
        <p:spPr>
          <a:xfrm>
            <a:off x="6245352" y="3986784"/>
            <a:ext cx="5321808" cy="1755648"/>
          </a:xfrm>
          <a:prstGeom prst="roundRect">
            <a:avLst>
              <a:gd name="adj" fmla="val 2083"/>
            </a:avLst>
          </a:prstGeom>
          <a:solidFill>
            <a:srgbClr val="FFD6BA"/>
          </a:solidFill>
          <a:ln w="12700">
            <a:solidFill>
              <a:srgbClr val="FFD6BA"/>
            </a:solidFill>
            <a:prstDash val="solid"/>
          </a:ln>
        </p:spPr>
      </p:sp>
      <p:sp>
        <p:nvSpPr>
          <p:cNvPr id="15" name="Shape 12"/>
          <p:cNvSpPr/>
          <p:nvPr/>
        </p:nvSpPr>
        <p:spPr>
          <a:xfrm>
            <a:off x="6245352" y="3986784"/>
            <a:ext cx="64008" cy="1755648"/>
          </a:xfrm>
          <a:prstGeom prst="rect">
            <a:avLst/>
          </a:prstGeom>
          <a:solidFill>
            <a:srgbClr val="F56600"/>
          </a:solidFill>
          <a:ln w="12700">
            <a:solidFill>
              <a:srgbClr val="F56600"/>
            </a:solidFill>
            <a:prstDash val="solid"/>
          </a:ln>
        </p:spPr>
      </p:sp>
      <p:sp>
        <p:nvSpPr>
          <p:cNvPr id="16" name="Text 13"/>
          <p:cNvSpPr txBox="1"/>
          <p:nvPr/>
        </p:nvSpPr>
        <p:spPr>
          <a:xfrm>
            <a:off x="6464808" y="4078224"/>
            <a:ext cx="4937760"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«Ingresos / inversión» NO es un margen de préstamo</a:t>
            </a:r>
            <a:endParaRPr lang="en-US" sz="1100" dirty="0"/>
          </a:p>
        </p:txBody>
      </p:sp>
      <p:sp>
        <p:nvSpPr>
          <p:cNvPr id="17" name="Text 14"/>
          <p:cNvSpPr txBox="1"/>
          <p:nvPr/>
        </p:nvSpPr>
        <p:spPr>
          <a:xfrm>
            <a:off x="6464808" y="4315968"/>
            <a:ext cx="4937760" cy="131673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El numerador es el ingreso de TODO el segmento -margen de depósitos y transaccional incluidos- y el denominador solo los préstamos. Banca dei Territori lo enseña en caricatura: 5,64 % sobre préstamos, porque lleva dentro gestión de activos y seguros. Por eso BPER, que es grupo, dobla en comisiones (2,09 %) a los segmentos de empresas.</a:t>
            </a:r>
            <a:endParaRPr lang="en-US" sz="850" dirty="0"/>
          </a:p>
        </p:txBody>
      </p:sp>
      <p:sp>
        <p:nvSpPr>
          <p:cNvPr id="18" name="Text 15"/>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00" i="1" dirty="0">
                <a:solidFill>
                  <a:srgbClr val="818181"/>
                </a:solidFill>
                <a:latin typeface="Verdana" pitchFamily="34" charset="0"/>
                <a:ea typeface="Verdana" pitchFamily="34" charset="-122"/>
                <a:cs typeface="Verdana" pitchFamily="34" charset="-120"/>
              </a:rPr>
              <a:t>Comunicado Q2 2026 de Commerzbank; informe intermedio Q2 2026 de ABN AMRO; resultados 1S26 de Intesa Sanpaolo e informe semestral a 30-jun-2026 (p. 72) para los préstamos de Banca dei Territori; Actividad y Resultados 1S26 de CaixaBank; resultados 1S26 de BPER e informe intermedio consolidado a 30-jun-2026 (p. 34) para los préstamos. Denominador: cartera media en Commerzbank; media de los dos cierres en Intesa y BPER; saldo final en ABN AMRO y CaixaBank. CaixaBank lo publica BRUTO y el resto NETO: con su mora del 1,78 %, el neto subiría sus ratios uno o dos puntos básicos. Datos en comparables_bancos/comparables_ratios.csv.</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¿Se paga el riesgo? ¿Lo compra la información?</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Coste del riesgo PD × LGD de la cartera PYME contra el margen bruto y contra la información disponible · Un punto por país · 2026</a:t>
            </a:r>
            <a:endParaRPr lang="en-US" sz="1050" dirty="0"/>
          </a:p>
        </p:txBody>
      </p:sp>
      <p:sp>
        <p:nvSpPr>
          <p:cNvPr id="5" name="Text 3"/>
          <p:cNvSpPr txBox="1"/>
          <p:nvPr/>
        </p:nvSpPr>
        <p:spPr>
          <a:xfrm>
            <a:off x="658368" y="1591056"/>
            <a:ext cx="5047488" cy="237744"/>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1 · ¿Cobra más quien más riesgo tiene?</a:t>
            </a:r>
            <a:endParaRPr lang="en-US" sz="1250" dirty="0"/>
          </a:p>
        </p:txBody>
      </p:sp>
      <p:sp>
        <p:nvSpPr>
          <p:cNvPr id="6" name="Shape 4"/>
          <p:cNvSpPr/>
          <p:nvPr/>
        </p:nvSpPr>
        <p:spPr>
          <a:xfrm>
            <a:off x="1316736" y="2212848"/>
            <a:ext cx="4389120" cy="2359152"/>
          </a:xfrm>
          <a:prstGeom prst="rect">
            <a:avLst/>
          </a:prstGeom>
          <a:solidFill>
            <a:srgbClr val="FFFFFF"/>
          </a:solidFill>
          <a:ln w="9525">
            <a:solidFill>
              <a:srgbClr val="CACACA"/>
            </a:solidFill>
            <a:prstDash val="solid"/>
          </a:ln>
        </p:spPr>
      </p:sp>
      <p:sp>
        <p:nvSpPr>
          <p:cNvPr id="7" name="Shape 5"/>
          <p:cNvSpPr/>
          <p:nvPr/>
        </p:nvSpPr>
        <p:spPr>
          <a:xfrm>
            <a:off x="1316736" y="4375404"/>
            <a:ext cx="4389120" cy="7315"/>
          </a:xfrm>
          <a:prstGeom prst="rect">
            <a:avLst/>
          </a:prstGeom>
          <a:solidFill>
            <a:srgbClr val="E5E5E5"/>
          </a:solidFill>
          <a:ln w="12700">
            <a:solidFill>
              <a:srgbClr val="E5E5E5"/>
            </a:solidFill>
            <a:prstDash val="solid"/>
          </a:ln>
        </p:spPr>
      </p:sp>
      <p:sp>
        <p:nvSpPr>
          <p:cNvPr id="8" name="Text 6"/>
          <p:cNvSpPr txBox="1"/>
          <p:nvPr/>
        </p:nvSpPr>
        <p:spPr>
          <a:xfrm>
            <a:off x="621792" y="4274820"/>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0,3 %</a:t>
            </a:r>
            <a:endParaRPr lang="en-US" sz="800" dirty="0"/>
          </a:p>
        </p:txBody>
      </p:sp>
      <p:sp>
        <p:nvSpPr>
          <p:cNvPr id="9" name="Shape 7"/>
          <p:cNvSpPr/>
          <p:nvPr/>
        </p:nvSpPr>
        <p:spPr>
          <a:xfrm>
            <a:off x="1316736" y="3982212"/>
            <a:ext cx="4389120" cy="7315"/>
          </a:xfrm>
          <a:prstGeom prst="rect">
            <a:avLst/>
          </a:prstGeom>
          <a:solidFill>
            <a:srgbClr val="E5E5E5"/>
          </a:solidFill>
          <a:ln w="12700">
            <a:solidFill>
              <a:srgbClr val="E5E5E5"/>
            </a:solidFill>
            <a:prstDash val="solid"/>
          </a:ln>
        </p:spPr>
      </p:sp>
      <p:sp>
        <p:nvSpPr>
          <p:cNvPr id="10" name="Text 8"/>
          <p:cNvSpPr txBox="1"/>
          <p:nvPr/>
        </p:nvSpPr>
        <p:spPr>
          <a:xfrm>
            <a:off x="621792" y="3881628"/>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0,4 %</a:t>
            </a:r>
            <a:endParaRPr lang="en-US" sz="800" dirty="0"/>
          </a:p>
        </p:txBody>
      </p:sp>
      <p:sp>
        <p:nvSpPr>
          <p:cNvPr id="11" name="Shape 9"/>
          <p:cNvSpPr/>
          <p:nvPr/>
        </p:nvSpPr>
        <p:spPr>
          <a:xfrm>
            <a:off x="1316736" y="3589020"/>
            <a:ext cx="4389120" cy="7315"/>
          </a:xfrm>
          <a:prstGeom prst="rect">
            <a:avLst/>
          </a:prstGeom>
          <a:solidFill>
            <a:srgbClr val="E5E5E5"/>
          </a:solidFill>
          <a:ln w="12700">
            <a:solidFill>
              <a:srgbClr val="E5E5E5"/>
            </a:solidFill>
            <a:prstDash val="solid"/>
          </a:ln>
        </p:spPr>
      </p:sp>
      <p:sp>
        <p:nvSpPr>
          <p:cNvPr id="12" name="Text 10"/>
          <p:cNvSpPr txBox="1"/>
          <p:nvPr/>
        </p:nvSpPr>
        <p:spPr>
          <a:xfrm>
            <a:off x="621792" y="3488436"/>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0,5 %</a:t>
            </a:r>
            <a:endParaRPr lang="en-US" sz="800" dirty="0"/>
          </a:p>
        </p:txBody>
      </p:sp>
      <p:sp>
        <p:nvSpPr>
          <p:cNvPr id="13" name="Shape 11"/>
          <p:cNvSpPr/>
          <p:nvPr/>
        </p:nvSpPr>
        <p:spPr>
          <a:xfrm>
            <a:off x="1316736" y="3195828"/>
            <a:ext cx="4389120" cy="7315"/>
          </a:xfrm>
          <a:prstGeom prst="rect">
            <a:avLst/>
          </a:prstGeom>
          <a:solidFill>
            <a:srgbClr val="E5E5E5"/>
          </a:solidFill>
          <a:ln w="12700">
            <a:solidFill>
              <a:srgbClr val="E5E5E5"/>
            </a:solidFill>
            <a:prstDash val="solid"/>
          </a:ln>
        </p:spPr>
      </p:sp>
      <p:sp>
        <p:nvSpPr>
          <p:cNvPr id="14" name="Text 12"/>
          <p:cNvSpPr txBox="1"/>
          <p:nvPr/>
        </p:nvSpPr>
        <p:spPr>
          <a:xfrm>
            <a:off x="621792" y="3095244"/>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0,6 %</a:t>
            </a:r>
            <a:endParaRPr lang="en-US" sz="800" dirty="0"/>
          </a:p>
        </p:txBody>
      </p:sp>
      <p:sp>
        <p:nvSpPr>
          <p:cNvPr id="15" name="Shape 13"/>
          <p:cNvSpPr/>
          <p:nvPr/>
        </p:nvSpPr>
        <p:spPr>
          <a:xfrm>
            <a:off x="1316736" y="2802636"/>
            <a:ext cx="4389120" cy="7315"/>
          </a:xfrm>
          <a:prstGeom prst="rect">
            <a:avLst/>
          </a:prstGeom>
          <a:solidFill>
            <a:srgbClr val="E5E5E5"/>
          </a:solidFill>
          <a:ln w="12700">
            <a:solidFill>
              <a:srgbClr val="E5E5E5"/>
            </a:solidFill>
            <a:prstDash val="solid"/>
          </a:ln>
        </p:spPr>
      </p:sp>
      <p:sp>
        <p:nvSpPr>
          <p:cNvPr id="16" name="Text 14"/>
          <p:cNvSpPr txBox="1"/>
          <p:nvPr/>
        </p:nvSpPr>
        <p:spPr>
          <a:xfrm>
            <a:off x="621792" y="2702052"/>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0,7 %</a:t>
            </a:r>
            <a:endParaRPr lang="en-US" sz="800" dirty="0"/>
          </a:p>
        </p:txBody>
      </p:sp>
      <p:sp>
        <p:nvSpPr>
          <p:cNvPr id="17" name="Shape 15"/>
          <p:cNvSpPr/>
          <p:nvPr/>
        </p:nvSpPr>
        <p:spPr>
          <a:xfrm>
            <a:off x="1316736" y="2409444"/>
            <a:ext cx="4389120" cy="7315"/>
          </a:xfrm>
          <a:prstGeom prst="rect">
            <a:avLst/>
          </a:prstGeom>
          <a:solidFill>
            <a:srgbClr val="E5E5E5"/>
          </a:solidFill>
          <a:ln w="12700">
            <a:solidFill>
              <a:srgbClr val="E5E5E5"/>
            </a:solidFill>
            <a:prstDash val="solid"/>
          </a:ln>
        </p:spPr>
      </p:sp>
      <p:sp>
        <p:nvSpPr>
          <p:cNvPr id="18" name="Text 16"/>
          <p:cNvSpPr txBox="1"/>
          <p:nvPr/>
        </p:nvSpPr>
        <p:spPr>
          <a:xfrm>
            <a:off x="621792" y="2308860"/>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0,8 %</a:t>
            </a:r>
            <a:endParaRPr lang="en-US" sz="800" dirty="0"/>
          </a:p>
        </p:txBody>
      </p:sp>
      <p:sp>
        <p:nvSpPr>
          <p:cNvPr id="19" name="Text 17"/>
          <p:cNvSpPr txBox="1"/>
          <p:nvPr/>
        </p:nvSpPr>
        <p:spPr>
          <a:xfrm>
            <a:off x="143560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3,5 %</a:t>
            </a:r>
            <a:endParaRPr lang="en-US" sz="800" dirty="0"/>
          </a:p>
        </p:txBody>
      </p:sp>
      <p:sp>
        <p:nvSpPr>
          <p:cNvPr id="20" name="Text 18"/>
          <p:cNvSpPr txBox="1"/>
          <p:nvPr/>
        </p:nvSpPr>
        <p:spPr>
          <a:xfrm>
            <a:off x="216712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4,0 %</a:t>
            </a:r>
            <a:endParaRPr lang="en-US" sz="800" dirty="0"/>
          </a:p>
        </p:txBody>
      </p:sp>
      <p:sp>
        <p:nvSpPr>
          <p:cNvPr id="21" name="Text 19"/>
          <p:cNvSpPr txBox="1"/>
          <p:nvPr/>
        </p:nvSpPr>
        <p:spPr>
          <a:xfrm>
            <a:off x="289864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4,5 %</a:t>
            </a:r>
            <a:endParaRPr lang="en-US" sz="800" dirty="0"/>
          </a:p>
        </p:txBody>
      </p:sp>
      <p:sp>
        <p:nvSpPr>
          <p:cNvPr id="22" name="Text 20"/>
          <p:cNvSpPr txBox="1"/>
          <p:nvPr/>
        </p:nvSpPr>
        <p:spPr>
          <a:xfrm>
            <a:off x="363016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5,0 %</a:t>
            </a:r>
            <a:endParaRPr lang="en-US" sz="800" dirty="0"/>
          </a:p>
        </p:txBody>
      </p:sp>
      <p:sp>
        <p:nvSpPr>
          <p:cNvPr id="23" name="Text 21"/>
          <p:cNvSpPr txBox="1"/>
          <p:nvPr/>
        </p:nvSpPr>
        <p:spPr>
          <a:xfrm>
            <a:off x="436168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5,5 %</a:t>
            </a:r>
            <a:endParaRPr lang="en-US" sz="800" dirty="0"/>
          </a:p>
        </p:txBody>
      </p:sp>
      <p:sp>
        <p:nvSpPr>
          <p:cNvPr id="24" name="Text 22"/>
          <p:cNvSpPr txBox="1"/>
          <p:nvPr/>
        </p:nvSpPr>
        <p:spPr>
          <a:xfrm>
            <a:off x="509320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6,0 %</a:t>
            </a:r>
            <a:endParaRPr lang="en-US" sz="800" dirty="0"/>
          </a:p>
        </p:txBody>
      </p:sp>
      <p:sp>
        <p:nvSpPr>
          <p:cNvPr id="25" name="Text 23"/>
          <p:cNvSpPr txBox="1"/>
          <p:nvPr/>
        </p:nvSpPr>
        <p:spPr>
          <a:xfrm>
            <a:off x="1316736" y="4846320"/>
            <a:ext cx="4389120" cy="201168"/>
          </a:xfrm>
          <a:prstGeom prst="rect">
            <a:avLst/>
          </a:prstGeom>
          <a:noFill/>
          <a:ln/>
        </p:spPr>
        <p:txBody>
          <a:bodyPr wrap="square" lIns="0" tIns="0" rIns="0" bIns="0" rtlCol="0" anchor="ctr"/>
          <a:lstStyle/>
          <a:p>
            <a:pPr algn="ctr" indent="0" marL="0">
              <a:buNone/>
            </a:pPr>
            <a:r>
              <a:rPr lang="en-US" sz="850" dirty="0">
                <a:solidFill>
                  <a:srgbClr val="2B2B2B"/>
                </a:solidFill>
                <a:latin typeface="Verdana" pitchFamily="34" charset="0"/>
                <a:ea typeface="Verdana" pitchFamily="34" charset="-122"/>
                <a:cs typeface="Verdana" pitchFamily="34" charset="-120"/>
              </a:rPr>
              <a:t>Margen bruto del préstamo PYME, % del saldo</a:t>
            </a:r>
            <a:endParaRPr lang="en-US" sz="850" dirty="0"/>
          </a:p>
        </p:txBody>
      </p:sp>
      <p:sp>
        <p:nvSpPr>
          <p:cNvPr id="26" name="Shape 24"/>
          <p:cNvSpPr/>
          <p:nvPr/>
        </p:nvSpPr>
        <p:spPr>
          <a:xfrm>
            <a:off x="1675181" y="3125419"/>
            <a:ext cx="219456" cy="219456"/>
          </a:xfrm>
          <a:prstGeom prst="ellipse">
            <a:avLst/>
          </a:prstGeom>
          <a:solidFill>
            <a:srgbClr val="F56600"/>
          </a:solidFill>
          <a:ln w="19050">
            <a:solidFill>
              <a:srgbClr val="2B2B2B"/>
            </a:solidFill>
            <a:prstDash val="solid"/>
          </a:ln>
        </p:spPr>
      </p:sp>
      <p:sp>
        <p:nvSpPr>
          <p:cNvPr id="27" name="Text 25"/>
          <p:cNvSpPr txBox="1"/>
          <p:nvPr/>
        </p:nvSpPr>
        <p:spPr>
          <a:xfrm>
            <a:off x="1967789" y="3134563"/>
            <a:ext cx="749808" cy="201168"/>
          </a:xfrm>
          <a:prstGeom prst="rect">
            <a:avLst/>
          </a:prstGeom>
          <a:noFill/>
          <a:ln/>
        </p:spPr>
        <p:txBody>
          <a:bodyPr wrap="square" lIns="0" tIns="0" rIns="0" bIns="0" rtlCol="0" anchor="ctr"/>
          <a:lstStyle/>
          <a:p>
            <a:pPr algn="l" indent="0" marL="0">
              <a:buNone/>
            </a:pPr>
            <a:r>
              <a:rPr lang="en-US" sz="850" b="1" dirty="0">
                <a:solidFill>
                  <a:srgbClr val="F56600"/>
                </a:solidFill>
                <a:latin typeface="Verdana" pitchFamily="34" charset="0"/>
                <a:ea typeface="Verdana" pitchFamily="34" charset="-122"/>
                <a:cs typeface="Verdana" pitchFamily="34" charset="-120"/>
              </a:rPr>
              <a:t>España</a:t>
            </a:r>
            <a:endParaRPr lang="en-US" sz="850" dirty="0"/>
          </a:p>
        </p:txBody>
      </p:sp>
      <p:sp>
        <p:nvSpPr>
          <p:cNvPr id="28" name="Shape 26"/>
          <p:cNvSpPr/>
          <p:nvPr/>
        </p:nvSpPr>
        <p:spPr>
          <a:xfrm>
            <a:off x="2649017" y="3895344"/>
            <a:ext cx="173736" cy="173736"/>
          </a:xfrm>
          <a:prstGeom prst="ellipse">
            <a:avLst/>
          </a:prstGeom>
          <a:solidFill>
            <a:srgbClr val="A1A1A1"/>
          </a:solidFill>
          <a:ln w="6350">
            <a:solidFill>
              <a:srgbClr val="A1A1A1"/>
            </a:solidFill>
            <a:prstDash val="solid"/>
          </a:ln>
        </p:spPr>
      </p:sp>
      <p:sp>
        <p:nvSpPr>
          <p:cNvPr id="29" name="Text 27"/>
          <p:cNvSpPr txBox="1"/>
          <p:nvPr/>
        </p:nvSpPr>
        <p:spPr>
          <a:xfrm>
            <a:off x="1826057" y="3881628"/>
            <a:ext cx="749808" cy="201168"/>
          </a:xfrm>
          <a:prstGeom prst="rect">
            <a:avLst/>
          </a:prstGeom>
          <a:noFill/>
          <a:ln/>
        </p:spPr>
        <p:txBody>
          <a:bodyPr wrap="square" lIns="0" tIns="0" rIns="0" bIns="0" rtlCol="0" anchor="ctr"/>
          <a:lstStyle/>
          <a:p>
            <a:pPr algn="r" indent="0" marL="0">
              <a:buNone/>
            </a:pPr>
            <a:r>
              <a:rPr lang="en-US" sz="850" dirty="0">
                <a:solidFill>
                  <a:srgbClr val="2B2B2B"/>
                </a:solidFill>
                <a:latin typeface="Verdana" pitchFamily="34" charset="0"/>
                <a:ea typeface="Verdana" pitchFamily="34" charset="-122"/>
                <a:cs typeface="Verdana" pitchFamily="34" charset="-120"/>
              </a:rPr>
              <a:t>Alemania</a:t>
            </a:r>
            <a:endParaRPr lang="en-US" sz="850" dirty="0"/>
          </a:p>
        </p:txBody>
      </p:sp>
      <p:sp>
        <p:nvSpPr>
          <p:cNvPr id="30" name="Shape 28"/>
          <p:cNvSpPr/>
          <p:nvPr/>
        </p:nvSpPr>
        <p:spPr>
          <a:xfrm>
            <a:off x="1566367" y="2794406"/>
            <a:ext cx="173736" cy="173736"/>
          </a:xfrm>
          <a:prstGeom prst="ellipse">
            <a:avLst/>
          </a:prstGeom>
          <a:solidFill>
            <a:srgbClr val="A1A1A1"/>
          </a:solidFill>
          <a:ln w="6350">
            <a:solidFill>
              <a:srgbClr val="A1A1A1"/>
            </a:solidFill>
            <a:prstDash val="solid"/>
          </a:ln>
        </p:spPr>
      </p:sp>
      <p:sp>
        <p:nvSpPr>
          <p:cNvPr id="31" name="Text 29"/>
          <p:cNvSpPr txBox="1"/>
          <p:nvPr/>
        </p:nvSpPr>
        <p:spPr>
          <a:xfrm>
            <a:off x="1813255" y="2780690"/>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Francia</a:t>
            </a:r>
            <a:endParaRPr lang="en-US" sz="850" dirty="0"/>
          </a:p>
        </p:txBody>
      </p:sp>
      <p:sp>
        <p:nvSpPr>
          <p:cNvPr id="32" name="Shape 30"/>
          <p:cNvSpPr/>
          <p:nvPr/>
        </p:nvSpPr>
        <p:spPr>
          <a:xfrm>
            <a:off x="2970886" y="2322576"/>
            <a:ext cx="173736" cy="173736"/>
          </a:xfrm>
          <a:prstGeom prst="ellipse">
            <a:avLst/>
          </a:prstGeom>
          <a:solidFill>
            <a:srgbClr val="A1A1A1"/>
          </a:solidFill>
          <a:ln w="6350">
            <a:solidFill>
              <a:srgbClr val="A1A1A1"/>
            </a:solidFill>
            <a:prstDash val="solid"/>
          </a:ln>
        </p:spPr>
      </p:sp>
      <p:sp>
        <p:nvSpPr>
          <p:cNvPr id="33" name="Text 31"/>
          <p:cNvSpPr txBox="1"/>
          <p:nvPr/>
        </p:nvSpPr>
        <p:spPr>
          <a:xfrm>
            <a:off x="3217774" y="2308860"/>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Italia</a:t>
            </a:r>
            <a:endParaRPr lang="en-US" sz="850" dirty="0"/>
          </a:p>
        </p:txBody>
      </p:sp>
      <p:sp>
        <p:nvSpPr>
          <p:cNvPr id="34" name="Shape 32"/>
          <p:cNvSpPr/>
          <p:nvPr/>
        </p:nvSpPr>
        <p:spPr>
          <a:xfrm>
            <a:off x="2502713" y="3502152"/>
            <a:ext cx="173736" cy="173736"/>
          </a:xfrm>
          <a:prstGeom prst="ellipse">
            <a:avLst/>
          </a:prstGeom>
          <a:solidFill>
            <a:srgbClr val="A1A1A1"/>
          </a:solidFill>
          <a:ln w="6350">
            <a:solidFill>
              <a:srgbClr val="A1A1A1"/>
            </a:solidFill>
            <a:prstDash val="solid"/>
          </a:ln>
        </p:spPr>
      </p:sp>
      <p:sp>
        <p:nvSpPr>
          <p:cNvPr id="35" name="Text 33"/>
          <p:cNvSpPr txBox="1"/>
          <p:nvPr/>
        </p:nvSpPr>
        <p:spPr>
          <a:xfrm>
            <a:off x="2749601" y="3488436"/>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Portugal</a:t>
            </a:r>
            <a:endParaRPr lang="en-US" sz="850" dirty="0"/>
          </a:p>
        </p:txBody>
      </p:sp>
      <p:sp>
        <p:nvSpPr>
          <p:cNvPr id="36" name="Shape 34"/>
          <p:cNvSpPr/>
          <p:nvPr/>
        </p:nvSpPr>
        <p:spPr>
          <a:xfrm>
            <a:off x="2897734" y="4091940"/>
            <a:ext cx="173736" cy="173736"/>
          </a:xfrm>
          <a:prstGeom prst="ellipse">
            <a:avLst/>
          </a:prstGeom>
          <a:solidFill>
            <a:srgbClr val="A1A1A1"/>
          </a:solidFill>
          <a:ln w="6350">
            <a:solidFill>
              <a:srgbClr val="A1A1A1"/>
            </a:solidFill>
            <a:prstDash val="solid"/>
          </a:ln>
        </p:spPr>
      </p:sp>
      <p:sp>
        <p:nvSpPr>
          <p:cNvPr id="37" name="Text 35"/>
          <p:cNvSpPr txBox="1"/>
          <p:nvPr/>
        </p:nvSpPr>
        <p:spPr>
          <a:xfrm>
            <a:off x="3144622" y="4078224"/>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P. Bajos</a:t>
            </a:r>
            <a:endParaRPr lang="en-US" sz="850" dirty="0"/>
          </a:p>
        </p:txBody>
      </p:sp>
      <p:sp>
        <p:nvSpPr>
          <p:cNvPr id="38" name="Shape 36"/>
          <p:cNvSpPr/>
          <p:nvPr/>
        </p:nvSpPr>
        <p:spPr>
          <a:xfrm>
            <a:off x="5136185" y="3895344"/>
            <a:ext cx="173736" cy="173736"/>
          </a:xfrm>
          <a:prstGeom prst="ellipse">
            <a:avLst/>
          </a:prstGeom>
          <a:solidFill>
            <a:srgbClr val="A1A1A1"/>
          </a:solidFill>
          <a:ln w="6350">
            <a:solidFill>
              <a:srgbClr val="A1A1A1"/>
            </a:solidFill>
            <a:prstDash val="solid"/>
          </a:ln>
        </p:spPr>
      </p:sp>
      <p:sp>
        <p:nvSpPr>
          <p:cNvPr id="39" name="Text 37"/>
          <p:cNvSpPr txBox="1"/>
          <p:nvPr/>
        </p:nvSpPr>
        <p:spPr>
          <a:xfrm>
            <a:off x="4313225" y="3881628"/>
            <a:ext cx="749808" cy="201168"/>
          </a:xfrm>
          <a:prstGeom prst="rect">
            <a:avLst/>
          </a:prstGeom>
          <a:noFill/>
          <a:ln/>
        </p:spPr>
        <p:txBody>
          <a:bodyPr wrap="square" lIns="0" tIns="0" rIns="0" bIns="0" rtlCol="0" anchor="ctr"/>
          <a:lstStyle/>
          <a:p>
            <a:pPr algn="r" indent="0" marL="0">
              <a:buNone/>
            </a:pPr>
            <a:r>
              <a:rPr lang="en-US" sz="850" dirty="0">
                <a:solidFill>
                  <a:srgbClr val="2B2B2B"/>
                </a:solidFill>
                <a:latin typeface="Verdana" pitchFamily="34" charset="0"/>
                <a:ea typeface="Verdana" pitchFamily="34" charset="-122"/>
                <a:cs typeface="Verdana" pitchFamily="34" charset="-120"/>
              </a:rPr>
              <a:t>Irlanda</a:t>
            </a:r>
            <a:endParaRPr lang="en-US" sz="850" dirty="0"/>
          </a:p>
        </p:txBody>
      </p:sp>
      <p:sp>
        <p:nvSpPr>
          <p:cNvPr id="40" name="Text 38"/>
          <p:cNvSpPr txBox="1"/>
          <p:nvPr/>
        </p:nvSpPr>
        <p:spPr>
          <a:xfrm>
            <a:off x="6519672" y="1591056"/>
            <a:ext cx="5047488" cy="237744"/>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2 · ¿Baja el riesgo donde hay más información?</a:t>
            </a:r>
            <a:endParaRPr lang="en-US" sz="1250" dirty="0"/>
          </a:p>
        </p:txBody>
      </p:sp>
      <p:sp>
        <p:nvSpPr>
          <p:cNvPr id="41" name="Shape 39"/>
          <p:cNvSpPr/>
          <p:nvPr/>
        </p:nvSpPr>
        <p:spPr>
          <a:xfrm>
            <a:off x="7178040" y="2212848"/>
            <a:ext cx="4389120" cy="2359152"/>
          </a:xfrm>
          <a:prstGeom prst="rect">
            <a:avLst/>
          </a:prstGeom>
          <a:solidFill>
            <a:srgbClr val="FFFFFF"/>
          </a:solidFill>
          <a:ln w="9525">
            <a:solidFill>
              <a:srgbClr val="CACACA"/>
            </a:solidFill>
            <a:prstDash val="solid"/>
          </a:ln>
        </p:spPr>
      </p:sp>
      <p:sp>
        <p:nvSpPr>
          <p:cNvPr id="42" name="Shape 40"/>
          <p:cNvSpPr/>
          <p:nvPr/>
        </p:nvSpPr>
        <p:spPr>
          <a:xfrm>
            <a:off x="7178040" y="4375404"/>
            <a:ext cx="4389120" cy="7315"/>
          </a:xfrm>
          <a:prstGeom prst="rect">
            <a:avLst/>
          </a:prstGeom>
          <a:solidFill>
            <a:srgbClr val="E5E5E5"/>
          </a:solidFill>
          <a:ln w="12700">
            <a:solidFill>
              <a:srgbClr val="E5E5E5"/>
            </a:solidFill>
            <a:prstDash val="solid"/>
          </a:ln>
        </p:spPr>
      </p:sp>
      <p:sp>
        <p:nvSpPr>
          <p:cNvPr id="43" name="Text 41"/>
          <p:cNvSpPr txBox="1"/>
          <p:nvPr/>
        </p:nvSpPr>
        <p:spPr>
          <a:xfrm>
            <a:off x="6483096" y="4274820"/>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0,3 %</a:t>
            </a:r>
            <a:endParaRPr lang="en-US" sz="800" dirty="0"/>
          </a:p>
        </p:txBody>
      </p:sp>
      <p:sp>
        <p:nvSpPr>
          <p:cNvPr id="44" name="Shape 42"/>
          <p:cNvSpPr/>
          <p:nvPr/>
        </p:nvSpPr>
        <p:spPr>
          <a:xfrm>
            <a:off x="7178040" y="3982212"/>
            <a:ext cx="4389120" cy="7315"/>
          </a:xfrm>
          <a:prstGeom prst="rect">
            <a:avLst/>
          </a:prstGeom>
          <a:solidFill>
            <a:srgbClr val="E5E5E5"/>
          </a:solidFill>
          <a:ln w="12700">
            <a:solidFill>
              <a:srgbClr val="E5E5E5"/>
            </a:solidFill>
            <a:prstDash val="solid"/>
          </a:ln>
        </p:spPr>
      </p:sp>
      <p:sp>
        <p:nvSpPr>
          <p:cNvPr id="45" name="Text 43"/>
          <p:cNvSpPr txBox="1"/>
          <p:nvPr/>
        </p:nvSpPr>
        <p:spPr>
          <a:xfrm>
            <a:off x="6483096" y="3881628"/>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0,4 %</a:t>
            </a:r>
            <a:endParaRPr lang="en-US" sz="800" dirty="0"/>
          </a:p>
        </p:txBody>
      </p:sp>
      <p:sp>
        <p:nvSpPr>
          <p:cNvPr id="46" name="Shape 44"/>
          <p:cNvSpPr/>
          <p:nvPr/>
        </p:nvSpPr>
        <p:spPr>
          <a:xfrm>
            <a:off x="7178040" y="3589020"/>
            <a:ext cx="4389120" cy="7315"/>
          </a:xfrm>
          <a:prstGeom prst="rect">
            <a:avLst/>
          </a:prstGeom>
          <a:solidFill>
            <a:srgbClr val="E5E5E5"/>
          </a:solidFill>
          <a:ln w="12700">
            <a:solidFill>
              <a:srgbClr val="E5E5E5"/>
            </a:solidFill>
            <a:prstDash val="solid"/>
          </a:ln>
        </p:spPr>
      </p:sp>
      <p:sp>
        <p:nvSpPr>
          <p:cNvPr id="47" name="Text 45"/>
          <p:cNvSpPr txBox="1"/>
          <p:nvPr/>
        </p:nvSpPr>
        <p:spPr>
          <a:xfrm>
            <a:off x="6483096" y="3488436"/>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0,5 %</a:t>
            </a:r>
            <a:endParaRPr lang="en-US" sz="800" dirty="0"/>
          </a:p>
        </p:txBody>
      </p:sp>
      <p:sp>
        <p:nvSpPr>
          <p:cNvPr id="48" name="Shape 46"/>
          <p:cNvSpPr/>
          <p:nvPr/>
        </p:nvSpPr>
        <p:spPr>
          <a:xfrm>
            <a:off x="7178040" y="3195828"/>
            <a:ext cx="4389120" cy="7315"/>
          </a:xfrm>
          <a:prstGeom prst="rect">
            <a:avLst/>
          </a:prstGeom>
          <a:solidFill>
            <a:srgbClr val="E5E5E5"/>
          </a:solidFill>
          <a:ln w="12700">
            <a:solidFill>
              <a:srgbClr val="E5E5E5"/>
            </a:solidFill>
            <a:prstDash val="solid"/>
          </a:ln>
        </p:spPr>
      </p:sp>
      <p:sp>
        <p:nvSpPr>
          <p:cNvPr id="49" name="Text 47"/>
          <p:cNvSpPr txBox="1"/>
          <p:nvPr/>
        </p:nvSpPr>
        <p:spPr>
          <a:xfrm>
            <a:off x="6483096" y="3095244"/>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0,6 %</a:t>
            </a:r>
            <a:endParaRPr lang="en-US" sz="800" dirty="0"/>
          </a:p>
        </p:txBody>
      </p:sp>
      <p:sp>
        <p:nvSpPr>
          <p:cNvPr id="50" name="Shape 48"/>
          <p:cNvSpPr/>
          <p:nvPr/>
        </p:nvSpPr>
        <p:spPr>
          <a:xfrm>
            <a:off x="7178040" y="2802636"/>
            <a:ext cx="4389120" cy="7315"/>
          </a:xfrm>
          <a:prstGeom prst="rect">
            <a:avLst/>
          </a:prstGeom>
          <a:solidFill>
            <a:srgbClr val="E5E5E5"/>
          </a:solidFill>
          <a:ln w="12700">
            <a:solidFill>
              <a:srgbClr val="E5E5E5"/>
            </a:solidFill>
            <a:prstDash val="solid"/>
          </a:ln>
        </p:spPr>
      </p:sp>
      <p:sp>
        <p:nvSpPr>
          <p:cNvPr id="51" name="Text 49"/>
          <p:cNvSpPr txBox="1"/>
          <p:nvPr/>
        </p:nvSpPr>
        <p:spPr>
          <a:xfrm>
            <a:off x="6483096" y="2702052"/>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0,7 %</a:t>
            </a:r>
            <a:endParaRPr lang="en-US" sz="800" dirty="0"/>
          </a:p>
        </p:txBody>
      </p:sp>
      <p:sp>
        <p:nvSpPr>
          <p:cNvPr id="52" name="Shape 50"/>
          <p:cNvSpPr/>
          <p:nvPr/>
        </p:nvSpPr>
        <p:spPr>
          <a:xfrm>
            <a:off x="7178040" y="2409444"/>
            <a:ext cx="4389120" cy="7315"/>
          </a:xfrm>
          <a:prstGeom prst="rect">
            <a:avLst/>
          </a:prstGeom>
          <a:solidFill>
            <a:srgbClr val="E5E5E5"/>
          </a:solidFill>
          <a:ln w="12700">
            <a:solidFill>
              <a:srgbClr val="E5E5E5"/>
            </a:solidFill>
            <a:prstDash val="solid"/>
          </a:ln>
        </p:spPr>
      </p:sp>
      <p:sp>
        <p:nvSpPr>
          <p:cNvPr id="53" name="Text 51"/>
          <p:cNvSpPr txBox="1"/>
          <p:nvPr/>
        </p:nvSpPr>
        <p:spPr>
          <a:xfrm>
            <a:off x="6483096" y="2308860"/>
            <a:ext cx="621792" cy="201168"/>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0,8 %</a:t>
            </a:r>
            <a:endParaRPr lang="en-US" sz="800" dirty="0"/>
          </a:p>
        </p:txBody>
      </p:sp>
      <p:sp>
        <p:nvSpPr>
          <p:cNvPr id="54" name="Text 52"/>
          <p:cNvSpPr txBox="1"/>
          <p:nvPr/>
        </p:nvSpPr>
        <p:spPr>
          <a:xfrm>
            <a:off x="7456516"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20</a:t>
            </a:r>
            <a:endParaRPr lang="en-US" sz="800" dirty="0"/>
          </a:p>
        </p:txBody>
      </p:sp>
      <p:sp>
        <p:nvSpPr>
          <p:cNvPr id="55" name="Text 53"/>
          <p:cNvSpPr txBox="1"/>
          <p:nvPr/>
        </p:nvSpPr>
        <p:spPr>
          <a:xfrm>
            <a:off x="8454044"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40</a:t>
            </a:r>
            <a:endParaRPr lang="en-US" sz="800" dirty="0"/>
          </a:p>
        </p:txBody>
      </p:sp>
      <p:sp>
        <p:nvSpPr>
          <p:cNvPr id="56" name="Text 54"/>
          <p:cNvSpPr txBox="1"/>
          <p:nvPr/>
        </p:nvSpPr>
        <p:spPr>
          <a:xfrm>
            <a:off x="9451571"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60</a:t>
            </a:r>
            <a:endParaRPr lang="en-US" sz="800" dirty="0"/>
          </a:p>
        </p:txBody>
      </p:sp>
      <p:sp>
        <p:nvSpPr>
          <p:cNvPr id="57" name="Text 55"/>
          <p:cNvSpPr txBox="1"/>
          <p:nvPr/>
        </p:nvSpPr>
        <p:spPr>
          <a:xfrm>
            <a:off x="10449098" y="4626864"/>
            <a:ext cx="640080" cy="201168"/>
          </a:xfrm>
          <a:prstGeom prst="rect">
            <a:avLst/>
          </a:prstGeom>
          <a:noFill/>
          <a:ln/>
        </p:spPr>
        <p:txBody>
          <a:bodyPr wrap="square" lIns="0" tIns="0" rIns="0" bIns="0" rtlCol="0" anchor="ctr"/>
          <a:lstStyle/>
          <a:p>
            <a:pPr algn="ctr" indent="0" marL="0">
              <a:buNone/>
            </a:pPr>
            <a:r>
              <a:rPr lang="en-US" sz="800" dirty="0">
                <a:solidFill>
                  <a:srgbClr val="818181"/>
                </a:solidFill>
                <a:latin typeface="Verdana" pitchFamily="34" charset="0"/>
                <a:ea typeface="Verdana" pitchFamily="34" charset="-122"/>
                <a:cs typeface="Verdana" pitchFamily="34" charset="-120"/>
              </a:rPr>
              <a:t>80</a:t>
            </a:r>
            <a:endParaRPr lang="en-US" sz="800" dirty="0"/>
          </a:p>
        </p:txBody>
      </p:sp>
      <p:sp>
        <p:nvSpPr>
          <p:cNvPr id="58" name="Text 56"/>
          <p:cNvSpPr txBox="1"/>
          <p:nvPr/>
        </p:nvSpPr>
        <p:spPr>
          <a:xfrm>
            <a:off x="7178040" y="4846320"/>
            <a:ext cx="4389120" cy="201168"/>
          </a:xfrm>
          <a:prstGeom prst="rect">
            <a:avLst/>
          </a:prstGeom>
          <a:noFill/>
          <a:ln/>
        </p:spPr>
        <p:txBody>
          <a:bodyPr wrap="square" lIns="0" tIns="0" rIns="0" bIns="0" rtlCol="0" anchor="ctr"/>
          <a:lstStyle/>
          <a:p>
            <a:pPr algn="ctr" indent="0" marL="0">
              <a:buNone/>
            </a:pPr>
            <a:r>
              <a:rPr lang="en-US" sz="850" dirty="0">
                <a:solidFill>
                  <a:srgbClr val="2B2B2B"/>
                </a:solidFill>
                <a:latin typeface="Verdana" pitchFamily="34" charset="0"/>
                <a:ea typeface="Verdana" pitchFamily="34" charset="-122"/>
                <a:cs typeface="Verdana" pitchFamily="34" charset="-120"/>
              </a:rPr>
              <a:t>Índice de información para la selección (0–100)</a:t>
            </a:r>
            <a:endParaRPr lang="en-US" sz="850" dirty="0"/>
          </a:p>
        </p:txBody>
      </p:sp>
      <p:sp>
        <p:nvSpPr>
          <p:cNvPr id="59" name="Shape 57"/>
          <p:cNvSpPr/>
          <p:nvPr/>
        </p:nvSpPr>
        <p:spPr>
          <a:xfrm>
            <a:off x="9881339" y="3125419"/>
            <a:ext cx="219456" cy="219456"/>
          </a:xfrm>
          <a:prstGeom prst="ellipse">
            <a:avLst/>
          </a:prstGeom>
          <a:solidFill>
            <a:srgbClr val="F56600"/>
          </a:solidFill>
          <a:ln w="19050">
            <a:solidFill>
              <a:srgbClr val="2B2B2B"/>
            </a:solidFill>
            <a:prstDash val="solid"/>
          </a:ln>
        </p:spPr>
      </p:sp>
      <p:sp>
        <p:nvSpPr>
          <p:cNvPr id="60" name="Text 58"/>
          <p:cNvSpPr txBox="1"/>
          <p:nvPr/>
        </p:nvSpPr>
        <p:spPr>
          <a:xfrm>
            <a:off x="10173947" y="3134563"/>
            <a:ext cx="749808" cy="201168"/>
          </a:xfrm>
          <a:prstGeom prst="rect">
            <a:avLst/>
          </a:prstGeom>
          <a:noFill/>
          <a:ln/>
        </p:spPr>
        <p:txBody>
          <a:bodyPr wrap="square" lIns="0" tIns="0" rIns="0" bIns="0" rtlCol="0" anchor="ctr"/>
          <a:lstStyle/>
          <a:p>
            <a:pPr algn="l" indent="0" marL="0">
              <a:buNone/>
            </a:pPr>
            <a:r>
              <a:rPr lang="en-US" sz="850" b="1" dirty="0">
                <a:solidFill>
                  <a:srgbClr val="F56600"/>
                </a:solidFill>
                <a:latin typeface="Verdana" pitchFamily="34" charset="0"/>
                <a:ea typeface="Verdana" pitchFamily="34" charset="-122"/>
                <a:cs typeface="Verdana" pitchFamily="34" charset="-120"/>
              </a:rPr>
              <a:t>España</a:t>
            </a:r>
            <a:endParaRPr lang="en-US" sz="850" dirty="0"/>
          </a:p>
        </p:txBody>
      </p:sp>
      <p:sp>
        <p:nvSpPr>
          <p:cNvPr id="61" name="Shape 59"/>
          <p:cNvSpPr/>
          <p:nvPr/>
        </p:nvSpPr>
        <p:spPr>
          <a:xfrm>
            <a:off x="10432888" y="3895344"/>
            <a:ext cx="173736" cy="173736"/>
          </a:xfrm>
          <a:prstGeom prst="ellipse">
            <a:avLst/>
          </a:prstGeom>
          <a:solidFill>
            <a:srgbClr val="A1A1A1"/>
          </a:solidFill>
          <a:ln w="6350">
            <a:solidFill>
              <a:srgbClr val="A1A1A1"/>
            </a:solidFill>
            <a:prstDash val="solid"/>
          </a:ln>
        </p:spPr>
      </p:sp>
      <p:sp>
        <p:nvSpPr>
          <p:cNvPr id="62" name="Text 60"/>
          <p:cNvSpPr txBox="1"/>
          <p:nvPr/>
        </p:nvSpPr>
        <p:spPr>
          <a:xfrm>
            <a:off x="10679776" y="4110228"/>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Alemania</a:t>
            </a:r>
            <a:endParaRPr lang="en-US" sz="850" dirty="0"/>
          </a:p>
        </p:txBody>
      </p:sp>
      <p:sp>
        <p:nvSpPr>
          <p:cNvPr id="63" name="Shape 61"/>
          <p:cNvSpPr/>
          <p:nvPr/>
        </p:nvSpPr>
        <p:spPr>
          <a:xfrm>
            <a:off x="7525096" y="2794406"/>
            <a:ext cx="173736" cy="173736"/>
          </a:xfrm>
          <a:prstGeom prst="ellipse">
            <a:avLst/>
          </a:prstGeom>
          <a:solidFill>
            <a:srgbClr val="A1A1A1"/>
          </a:solidFill>
          <a:ln w="6350">
            <a:solidFill>
              <a:srgbClr val="A1A1A1"/>
            </a:solidFill>
            <a:prstDash val="solid"/>
          </a:ln>
        </p:spPr>
      </p:sp>
      <p:sp>
        <p:nvSpPr>
          <p:cNvPr id="64" name="Text 62"/>
          <p:cNvSpPr txBox="1"/>
          <p:nvPr/>
        </p:nvSpPr>
        <p:spPr>
          <a:xfrm>
            <a:off x="7771984" y="2780690"/>
            <a:ext cx="749808" cy="201168"/>
          </a:xfrm>
          <a:prstGeom prst="rect">
            <a:avLst/>
          </a:prstGeom>
          <a:noFill/>
          <a:ln/>
        </p:spPr>
        <p:txBody>
          <a:bodyPr wrap="square" lIns="0" tIns="0" rIns="0" bIns="0" rtlCol="0" anchor="ctr"/>
          <a:lstStyle/>
          <a:p>
            <a:pPr algn="l" indent="0" marL="0">
              <a:buNone/>
            </a:pPr>
            <a:r>
              <a:rPr lang="en-US" sz="850" dirty="0">
                <a:solidFill>
                  <a:srgbClr val="2B2B2B"/>
                </a:solidFill>
                <a:latin typeface="Verdana" pitchFamily="34" charset="0"/>
                <a:ea typeface="Verdana" pitchFamily="34" charset="-122"/>
                <a:cs typeface="Verdana" pitchFamily="34" charset="-120"/>
              </a:rPr>
              <a:t>Francia</a:t>
            </a:r>
            <a:endParaRPr lang="en-US" sz="850" dirty="0"/>
          </a:p>
        </p:txBody>
      </p:sp>
      <p:sp>
        <p:nvSpPr>
          <p:cNvPr id="65" name="Shape 63"/>
          <p:cNvSpPr/>
          <p:nvPr/>
        </p:nvSpPr>
        <p:spPr>
          <a:xfrm>
            <a:off x="10642369" y="2322576"/>
            <a:ext cx="173736" cy="173736"/>
          </a:xfrm>
          <a:prstGeom prst="ellipse">
            <a:avLst/>
          </a:prstGeom>
          <a:solidFill>
            <a:srgbClr val="A1A1A1"/>
          </a:solidFill>
          <a:ln w="6350">
            <a:solidFill>
              <a:srgbClr val="A1A1A1"/>
            </a:solidFill>
            <a:prstDash val="solid"/>
          </a:ln>
        </p:spPr>
      </p:sp>
      <p:sp>
        <p:nvSpPr>
          <p:cNvPr id="66" name="Text 64"/>
          <p:cNvSpPr txBox="1"/>
          <p:nvPr/>
        </p:nvSpPr>
        <p:spPr>
          <a:xfrm>
            <a:off x="9819409" y="2308860"/>
            <a:ext cx="749808" cy="201168"/>
          </a:xfrm>
          <a:prstGeom prst="rect">
            <a:avLst/>
          </a:prstGeom>
          <a:noFill/>
          <a:ln/>
        </p:spPr>
        <p:txBody>
          <a:bodyPr wrap="square" lIns="0" tIns="0" rIns="0" bIns="0" rtlCol="0" anchor="ctr"/>
          <a:lstStyle/>
          <a:p>
            <a:pPr algn="r" indent="0" marL="0">
              <a:buNone/>
            </a:pPr>
            <a:r>
              <a:rPr lang="en-US" sz="850" dirty="0">
                <a:solidFill>
                  <a:srgbClr val="2B2B2B"/>
                </a:solidFill>
                <a:latin typeface="Verdana" pitchFamily="34" charset="0"/>
                <a:ea typeface="Verdana" pitchFamily="34" charset="-122"/>
                <a:cs typeface="Verdana" pitchFamily="34" charset="-120"/>
              </a:rPr>
              <a:t>Italia</a:t>
            </a:r>
            <a:endParaRPr lang="en-US" sz="850" dirty="0"/>
          </a:p>
        </p:txBody>
      </p:sp>
      <p:sp>
        <p:nvSpPr>
          <p:cNvPr id="67" name="Shape 65"/>
          <p:cNvSpPr/>
          <p:nvPr/>
        </p:nvSpPr>
        <p:spPr>
          <a:xfrm>
            <a:off x="9909187" y="3502152"/>
            <a:ext cx="173736" cy="173736"/>
          </a:xfrm>
          <a:prstGeom prst="ellipse">
            <a:avLst/>
          </a:prstGeom>
          <a:solidFill>
            <a:srgbClr val="A1A1A1"/>
          </a:solidFill>
          <a:ln w="6350">
            <a:solidFill>
              <a:srgbClr val="A1A1A1"/>
            </a:solidFill>
            <a:prstDash val="solid"/>
          </a:ln>
        </p:spPr>
      </p:sp>
      <p:sp>
        <p:nvSpPr>
          <p:cNvPr id="68" name="Text 66"/>
          <p:cNvSpPr txBox="1"/>
          <p:nvPr/>
        </p:nvSpPr>
        <p:spPr>
          <a:xfrm>
            <a:off x="9086227" y="3488436"/>
            <a:ext cx="749808" cy="201168"/>
          </a:xfrm>
          <a:prstGeom prst="rect">
            <a:avLst/>
          </a:prstGeom>
          <a:noFill/>
          <a:ln/>
        </p:spPr>
        <p:txBody>
          <a:bodyPr wrap="square" lIns="0" tIns="0" rIns="0" bIns="0" rtlCol="0" anchor="ctr"/>
          <a:lstStyle/>
          <a:p>
            <a:pPr algn="r" indent="0" marL="0">
              <a:buNone/>
            </a:pPr>
            <a:r>
              <a:rPr lang="en-US" sz="850" dirty="0">
                <a:solidFill>
                  <a:srgbClr val="2B2B2B"/>
                </a:solidFill>
                <a:latin typeface="Verdana" pitchFamily="34" charset="0"/>
                <a:ea typeface="Verdana" pitchFamily="34" charset="-122"/>
                <a:cs typeface="Verdana" pitchFamily="34" charset="-120"/>
              </a:rPr>
              <a:t>Portugal</a:t>
            </a:r>
            <a:endParaRPr lang="en-US" sz="850" dirty="0"/>
          </a:p>
        </p:txBody>
      </p:sp>
      <p:sp>
        <p:nvSpPr>
          <p:cNvPr id="69" name="Shape 67"/>
          <p:cNvSpPr/>
          <p:nvPr/>
        </p:nvSpPr>
        <p:spPr>
          <a:xfrm>
            <a:off x="9375509" y="4091940"/>
            <a:ext cx="173736" cy="173736"/>
          </a:xfrm>
          <a:prstGeom prst="ellipse">
            <a:avLst/>
          </a:prstGeom>
          <a:solidFill>
            <a:srgbClr val="A1A1A1"/>
          </a:solidFill>
          <a:ln w="6350">
            <a:solidFill>
              <a:srgbClr val="A1A1A1"/>
            </a:solidFill>
            <a:prstDash val="solid"/>
          </a:ln>
        </p:spPr>
      </p:sp>
      <p:sp>
        <p:nvSpPr>
          <p:cNvPr id="70" name="Text 68"/>
          <p:cNvSpPr txBox="1"/>
          <p:nvPr/>
        </p:nvSpPr>
        <p:spPr>
          <a:xfrm>
            <a:off x="8552549" y="4078224"/>
            <a:ext cx="749808" cy="201168"/>
          </a:xfrm>
          <a:prstGeom prst="rect">
            <a:avLst/>
          </a:prstGeom>
          <a:noFill/>
          <a:ln/>
        </p:spPr>
        <p:txBody>
          <a:bodyPr wrap="square" lIns="0" tIns="0" rIns="0" bIns="0" rtlCol="0" anchor="ctr"/>
          <a:lstStyle/>
          <a:p>
            <a:pPr algn="r" indent="0" marL="0">
              <a:buNone/>
            </a:pPr>
            <a:r>
              <a:rPr lang="en-US" sz="850" dirty="0">
                <a:solidFill>
                  <a:srgbClr val="2B2B2B"/>
                </a:solidFill>
                <a:latin typeface="Verdana" pitchFamily="34" charset="0"/>
                <a:ea typeface="Verdana" pitchFamily="34" charset="-122"/>
                <a:cs typeface="Verdana" pitchFamily="34" charset="-120"/>
              </a:rPr>
              <a:t>P. Bajos</a:t>
            </a:r>
            <a:endParaRPr lang="en-US" sz="850" dirty="0"/>
          </a:p>
        </p:txBody>
      </p:sp>
      <p:sp>
        <p:nvSpPr>
          <p:cNvPr id="71" name="Shape 69"/>
          <p:cNvSpPr/>
          <p:nvPr/>
        </p:nvSpPr>
        <p:spPr>
          <a:xfrm>
            <a:off x="11056343" y="3895344"/>
            <a:ext cx="173736" cy="173736"/>
          </a:xfrm>
          <a:prstGeom prst="ellipse">
            <a:avLst/>
          </a:prstGeom>
          <a:solidFill>
            <a:srgbClr val="A1A1A1"/>
          </a:solidFill>
          <a:ln w="6350">
            <a:solidFill>
              <a:srgbClr val="A1A1A1"/>
            </a:solidFill>
            <a:prstDash val="solid"/>
          </a:ln>
        </p:spPr>
      </p:sp>
      <p:sp>
        <p:nvSpPr>
          <p:cNvPr id="72" name="Text 70"/>
          <p:cNvSpPr txBox="1"/>
          <p:nvPr/>
        </p:nvSpPr>
        <p:spPr>
          <a:xfrm>
            <a:off x="10768307" y="3653028"/>
            <a:ext cx="749808" cy="201168"/>
          </a:xfrm>
          <a:prstGeom prst="rect">
            <a:avLst/>
          </a:prstGeom>
          <a:noFill/>
          <a:ln/>
        </p:spPr>
        <p:txBody>
          <a:bodyPr wrap="square" lIns="0" tIns="0" rIns="0" bIns="0" rtlCol="0" anchor="ctr"/>
          <a:lstStyle/>
          <a:p>
            <a:pPr algn="ctr" indent="0" marL="0">
              <a:buNone/>
            </a:pPr>
            <a:r>
              <a:rPr lang="en-US" sz="850" dirty="0">
                <a:solidFill>
                  <a:srgbClr val="2B2B2B"/>
                </a:solidFill>
                <a:latin typeface="Verdana" pitchFamily="34" charset="0"/>
                <a:ea typeface="Verdana" pitchFamily="34" charset="-122"/>
                <a:cs typeface="Verdana" pitchFamily="34" charset="-120"/>
              </a:rPr>
              <a:t>Irlanda</a:t>
            </a:r>
            <a:endParaRPr lang="en-US" sz="850" dirty="0"/>
          </a:p>
        </p:txBody>
      </p:sp>
      <p:sp>
        <p:nvSpPr>
          <p:cNvPr id="73" name="Text 71"/>
          <p:cNvSpPr txBox="1"/>
          <p:nvPr/>
        </p:nvSpPr>
        <p:spPr>
          <a:xfrm>
            <a:off x="621792" y="1938528"/>
            <a:ext cx="2377440" cy="201168"/>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Coste del riesgo, % del saldo</a:t>
            </a:r>
            <a:endParaRPr lang="en-US" sz="800" dirty="0"/>
          </a:p>
        </p:txBody>
      </p:sp>
      <p:sp>
        <p:nvSpPr>
          <p:cNvPr id="74" name="Shape 72"/>
          <p:cNvSpPr/>
          <p:nvPr/>
        </p:nvSpPr>
        <p:spPr>
          <a:xfrm>
            <a:off x="621792" y="5138928"/>
            <a:ext cx="5084064" cy="859536"/>
          </a:xfrm>
          <a:prstGeom prst="roundRect">
            <a:avLst>
              <a:gd name="adj" fmla="val 4255"/>
            </a:avLst>
          </a:prstGeom>
          <a:solidFill>
            <a:srgbClr val="FFF4C2"/>
          </a:solidFill>
          <a:ln w="12700">
            <a:solidFill>
              <a:srgbClr val="FFE066"/>
            </a:solidFill>
            <a:prstDash val="solid"/>
          </a:ln>
        </p:spPr>
      </p:sp>
      <p:sp>
        <p:nvSpPr>
          <p:cNvPr id="75" name="Shape 73"/>
          <p:cNvSpPr/>
          <p:nvPr/>
        </p:nvSpPr>
        <p:spPr>
          <a:xfrm>
            <a:off x="621792" y="5138928"/>
            <a:ext cx="64008" cy="859536"/>
          </a:xfrm>
          <a:prstGeom prst="rect">
            <a:avLst/>
          </a:prstGeom>
          <a:solidFill>
            <a:srgbClr val="F56600"/>
          </a:solidFill>
          <a:ln w="12700">
            <a:solidFill>
              <a:srgbClr val="F56600"/>
            </a:solidFill>
            <a:prstDash val="solid"/>
          </a:ln>
        </p:spPr>
      </p:sp>
      <p:sp>
        <p:nvSpPr>
          <p:cNvPr id="76" name="Text 74"/>
          <p:cNvSpPr txBox="1"/>
          <p:nvPr/>
        </p:nvSpPr>
        <p:spPr>
          <a:xfrm>
            <a:off x="841248" y="5230368"/>
            <a:ext cx="4700016"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No. El riesgo NO se paga</a:t>
            </a:r>
            <a:endParaRPr lang="en-US" sz="1100" dirty="0"/>
          </a:p>
        </p:txBody>
      </p:sp>
      <p:sp>
        <p:nvSpPr>
          <p:cNvPr id="77" name="Text 75"/>
          <p:cNvSpPr txBox="1"/>
          <p:nvPr/>
        </p:nvSpPr>
        <p:spPr>
          <a:xfrm>
            <a:off x="841248" y="5468112"/>
            <a:ext cx="4700016" cy="42062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ρ = −0,42: quien más riesgo tiene, menos margen cobra, y en los 28 recortes probados ni uno da signo positivo. Italia es la excepción —mayor riesgo, segundo mayor margen—; España y Francia hacen lo contrario.</a:t>
            </a:r>
            <a:endParaRPr lang="en-US" sz="850" dirty="0"/>
          </a:p>
        </p:txBody>
      </p:sp>
      <p:sp>
        <p:nvSpPr>
          <p:cNvPr id="78" name="Shape 76"/>
          <p:cNvSpPr/>
          <p:nvPr/>
        </p:nvSpPr>
        <p:spPr>
          <a:xfrm>
            <a:off x="6483096" y="5138928"/>
            <a:ext cx="5084064" cy="859536"/>
          </a:xfrm>
          <a:prstGeom prst="roundRect">
            <a:avLst>
              <a:gd name="adj" fmla="val 4255"/>
            </a:avLst>
          </a:prstGeom>
          <a:solidFill>
            <a:srgbClr val="FFD6BA"/>
          </a:solidFill>
          <a:ln w="12700">
            <a:solidFill>
              <a:srgbClr val="FFD6BA"/>
            </a:solidFill>
            <a:prstDash val="solid"/>
          </a:ln>
        </p:spPr>
      </p:sp>
      <p:sp>
        <p:nvSpPr>
          <p:cNvPr id="79" name="Shape 77"/>
          <p:cNvSpPr/>
          <p:nvPr/>
        </p:nvSpPr>
        <p:spPr>
          <a:xfrm>
            <a:off x="6483096" y="5138928"/>
            <a:ext cx="64008" cy="859536"/>
          </a:xfrm>
          <a:prstGeom prst="rect">
            <a:avLst/>
          </a:prstGeom>
          <a:solidFill>
            <a:srgbClr val="F56600"/>
          </a:solidFill>
          <a:ln w="12700">
            <a:solidFill>
              <a:srgbClr val="F56600"/>
            </a:solidFill>
            <a:prstDash val="solid"/>
          </a:ln>
        </p:spPr>
      </p:sp>
      <p:sp>
        <p:nvSpPr>
          <p:cNvPr id="80" name="Text 78"/>
          <p:cNvSpPr txBox="1"/>
          <p:nvPr/>
        </p:nvSpPr>
        <p:spPr>
          <a:xfrm>
            <a:off x="6702552" y="5230368"/>
            <a:ext cx="4700016"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Tampoco. La información no compra riesgo</a:t>
            </a:r>
            <a:endParaRPr lang="en-US" sz="1100" dirty="0"/>
          </a:p>
        </p:txBody>
      </p:sp>
      <p:sp>
        <p:nvSpPr>
          <p:cNvPr id="81" name="Text 79"/>
          <p:cNvSpPr txBox="1"/>
          <p:nvPr/>
        </p:nvSpPr>
        <p:spPr>
          <a:xfrm>
            <a:off x="6702552" y="5468112"/>
            <a:ext cx="4700016" cy="42062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ρ = −0,24, y el signo ni siquiera aguanta: va de −0,90 a ++0,64 según qué país se quite, y sale positivo en 6 de los 28. No hay relación: Italia tiene la segunda mayor información y el peor riesgo.</a:t>
            </a:r>
            <a:endParaRPr lang="en-US" sz="850" dirty="0"/>
          </a:p>
        </p:txBody>
      </p:sp>
      <p:sp>
        <p:nvSpPr>
          <p:cNvPr id="82" name="Text 80"/>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00" i="1" dirty="0">
                <a:solidFill>
                  <a:srgbClr val="818181"/>
                </a:solidFill>
                <a:latin typeface="Verdana" pitchFamily="34" charset="0"/>
                <a:ea typeface="Verdana" pitchFamily="34" charset="-122"/>
                <a:cs typeface="Verdana" pitchFamily="34" charset="-120"/>
              </a:rPr>
              <a:t>Coste del riesgo: PD × LGD de la clase IRB «Corporates – of which SME», EBA COREP C 9.02 2026-Q1 — pérdida esperada anual, NO el stock de dudosos. Margen bruto: ingreso total menos coste de los recursos, lámina 7. Información: índice propio 0–100 (Banco Mundial Doing Business 2020 más dos ordinales propios sobre normativa vigente). Robustez: se recalcula cada correlación quitando uno y dos países, 28 casos. El eje que sí explica el coste del riesgo es el de recobro (ρ = −0,72), en la lámina de los dos ejes. Siete puntos: lectura descriptiva, no causal. Datos en transversal/mapa_info_margen.csv.</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Observaciones: España</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Lo que se observa en el bloque español y no se ve en el agregado europeo · Hechos medidos; lo que se deriva de ellos va en la lámina de recomendaciones</a:t>
            </a:r>
            <a:endParaRPr lang="en-US" sz="1050" dirty="0"/>
          </a:p>
        </p:txBody>
      </p:sp>
      <p:sp>
        <p:nvSpPr>
          <p:cNvPr id="5" name="Shape 3"/>
          <p:cNvSpPr/>
          <p:nvPr/>
        </p:nvSpPr>
        <p:spPr>
          <a:xfrm>
            <a:off x="621792" y="1554480"/>
            <a:ext cx="329184" cy="329184"/>
          </a:xfrm>
          <a:prstGeom prst="ellipse">
            <a:avLst/>
          </a:prstGeom>
          <a:solidFill>
            <a:srgbClr val="77BFEE"/>
          </a:solidFill>
          <a:ln w="12700">
            <a:solidFill>
              <a:srgbClr val="77BFEE"/>
            </a:solidFill>
            <a:prstDash val="solid"/>
          </a:ln>
        </p:spPr>
      </p:sp>
      <p:sp>
        <p:nvSpPr>
          <p:cNvPr id="6" name="Text 4"/>
          <p:cNvSpPr txBox="1"/>
          <p:nvPr/>
        </p:nvSpPr>
        <p:spPr>
          <a:xfrm>
            <a:off x="621792" y="1554480"/>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1</a:t>
            </a:r>
            <a:endParaRPr lang="en-US" sz="1300" dirty="0"/>
          </a:p>
        </p:txBody>
      </p:sp>
      <p:sp>
        <p:nvSpPr>
          <p:cNvPr id="7" name="Text 5"/>
          <p:cNvSpPr txBox="1"/>
          <p:nvPr/>
        </p:nvSpPr>
        <p:spPr>
          <a:xfrm>
            <a:off x="1124712" y="1517904"/>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crédito se concede; lo que las pymes señalan es el precio</a:t>
            </a:r>
            <a:endParaRPr lang="en-US" sz="1250" dirty="0"/>
          </a:p>
        </p:txBody>
      </p:sp>
      <p:sp>
        <p:nvSpPr>
          <p:cNvPr id="8" name="Text 6"/>
          <p:cNvSpPr txBox="1"/>
          <p:nvPr/>
        </p:nvSpPr>
        <p:spPr>
          <a:xfrm>
            <a:off x="1124712" y="1792224"/>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El 92,8 % de las pymes que pide financiación la obtiene y la acepta, y solo al 3,2 % no se le concede. Preguntadas por obstáculos, el 49,2 % no señala ninguno y el 21,6 % señala el precio, que es el más citado. Ese 21,6 % es el porcentaje de empresas que lo menciona sobre el total encuestado, NO un tipo de interés.</a:t>
            </a:r>
            <a:endParaRPr lang="en-US" sz="900" dirty="0"/>
          </a:p>
        </p:txBody>
      </p:sp>
      <p:sp>
        <p:nvSpPr>
          <p:cNvPr id="9" name="Shape 7"/>
          <p:cNvSpPr/>
          <p:nvPr/>
        </p:nvSpPr>
        <p:spPr>
          <a:xfrm>
            <a:off x="621792" y="2327148"/>
            <a:ext cx="329184" cy="329184"/>
          </a:xfrm>
          <a:prstGeom prst="ellipse">
            <a:avLst/>
          </a:prstGeom>
          <a:solidFill>
            <a:srgbClr val="77BFEE"/>
          </a:solidFill>
          <a:ln w="12700">
            <a:solidFill>
              <a:srgbClr val="77BFEE"/>
            </a:solidFill>
            <a:prstDash val="solid"/>
          </a:ln>
        </p:spPr>
      </p:sp>
      <p:sp>
        <p:nvSpPr>
          <p:cNvPr id="10" name="Text 8"/>
          <p:cNvSpPr txBox="1"/>
          <p:nvPr/>
        </p:nvSpPr>
        <p:spPr>
          <a:xfrm>
            <a:off x="621792" y="2327148"/>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2</a:t>
            </a:r>
            <a:endParaRPr lang="en-US" sz="1300" dirty="0"/>
          </a:p>
        </p:txBody>
      </p:sp>
      <p:sp>
        <p:nvSpPr>
          <p:cNvPr id="11" name="Text 9"/>
          <p:cNvSpPr txBox="1"/>
          <p:nvPr/>
        </p:nvSpPr>
        <p:spPr>
          <a:xfrm>
            <a:off x="1124712" y="2290572"/>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La pyme pequeña tiene 2,1 puntos entre lo que gana y lo que paga</a:t>
            </a:r>
            <a:endParaRPr lang="en-US" sz="1250" dirty="0"/>
          </a:p>
        </p:txBody>
      </p:sp>
      <p:sp>
        <p:nvSpPr>
          <p:cNvPr id="12" name="Text 10"/>
          <p:cNvSpPr txBox="1"/>
          <p:nvPr/>
        </p:nvSpPr>
        <p:spPr>
          <a:xfrm>
            <a:off x="1124712" y="2564892"/>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Gana un 5,4 % con su activo y paga un 3,3 % por su deuda: 2,1 puntos de diferencia. La mediana tiene 6,1 puntos, casi el triple, con un ROA del 10,4 %. En la serie de la Central de Balances esa diferencia lleva en 2,1 puntos desde 2023.</a:t>
            </a:r>
            <a:endParaRPr lang="en-US" sz="900" dirty="0"/>
          </a:p>
        </p:txBody>
      </p:sp>
      <p:sp>
        <p:nvSpPr>
          <p:cNvPr id="13" name="Shape 11"/>
          <p:cNvSpPr/>
          <p:nvPr/>
        </p:nvSpPr>
        <p:spPr>
          <a:xfrm>
            <a:off x="621792" y="3099816"/>
            <a:ext cx="329184" cy="329184"/>
          </a:xfrm>
          <a:prstGeom prst="ellipse">
            <a:avLst/>
          </a:prstGeom>
          <a:solidFill>
            <a:srgbClr val="77BFEE"/>
          </a:solidFill>
          <a:ln w="12700">
            <a:solidFill>
              <a:srgbClr val="77BFEE"/>
            </a:solidFill>
            <a:prstDash val="solid"/>
          </a:ln>
        </p:spPr>
      </p:sp>
      <p:sp>
        <p:nvSpPr>
          <p:cNvPr id="14" name="Text 12"/>
          <p:cNvSpPr txBox="1"/>
          <p:nvPr/>
        </p:nvSpPr>
        <p:spPr>
          <a:xfrm>
            <a:off x="621792" y="3099816"/>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3</a:t>
            </a:r>
            <a:endParaRPr lang="en-US" sz="1300" dirty="0"/>
          </a:p>
        </p:txBody>
      </p:sp>
      <p:sp>
        <p:nvSpPr>
          <p:cNvPr id="15" name="Text 13"/>
          <p:cNvSpPr txBox="1"/>
          <p:nvPr/>
        </p:nvSpPr>
        <p:spPr>
          <a:xfrm>
            <a:off x="1124712" y="3063240"/>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destino declarado es el circulante, el producto con menos estadística</a:t>
            </a:r>
            <a:endParaRPr lang="en-US" sz="1250" dirty="0"/>
          </a:p>
        </p:txBody>
      </p:sp>
      <p:sp>
        <p:nvSpPr>
          <p:cNvPr id="16" name="Text 14"/>
          <p:cNvSpPr txBox="1"/>
          <p:nvPr/>
        </p:nvSpPr>
        <p:spPr>
          <a:xfrm>
            <a:off x="1124712" y="3337560"/>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El 73,0 % de las pymes con necesidades lo quiere para circulante, frente al 64,6 % de 2024. De ese producto no existe comisión de disponibilidad ni tasa de disposición en ninguna estadística, y el tipo del BCE ni siquiera tiene tramo de importe.</a:t>
            </a:r>
            <a:endParaRPr lang="en-US" sz="900" dirty="0"/>
          </a:p>
        </p:txBody>
      </p:sp>
      <p:sp>
        <p:nvSpPr>
          <p:cNvPr id="17" name="Shape 15"/>
          <p:cNvSpPr/>
          <p:nvPr/>
        </p:nvSpPr>
        <p:spPr>
          <a:xfrm>
            <a:off x="621792" y="3872484"/>
            <a:ext cx="329184" cy="329184"/>
          </a:xfrm>
          <a:prstGeom prst="ellipse">
            <a:avLst/>
          </a:prstGeom>
          <a:solidFill>
            <a:srgbClr val="77BFEE"/>
          </a:solidFill>
          <a:ln w="12700">
            <a:solidFill>
              <a:srgbClr val="77BFEE"/>
            </a:solidFill>
            <a:prstDash val="solid"/>
          </a:ln>
        </p:spPr>
      </p:sp>
      <p:sp>
        <p:nvSpPr>
          <p:cNvPr id="18" name="Text 16"/>
          <p:cNvSpPr txBox="1"/>
          <p:nvPr/>
        </p:nvSpPr>
        <p:spPr>
          <a:xfrm>
            <a:off x="621792" y="3872484"/>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4</a:t>
            </a:r>
            <a:endParaRPr lang="en-US" sz="1300" dirty="0"/>
          </a:p>
        </p:txBody>
      </p:sp>
      <p:sp>
        <p:nvSpPr>
          <p:cNvPr id="19" name="Text 17"/>
          <p:cNvSpPr txBox="1"/>
          <p:nvPr/>
        </p:nvSpPr>
        <p:spPr>
          <a:xfrm>
            <a:off x="1124712" y="3835908"/>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Entre los cinco bancos españoles el orden lo marca el capital, no la eficiencia</a:t>
            </a:r>
            <a:endParaRPr lang="en-US" sz="1250" dirty="0"/>
          </a:p>
        </p:txBody>
      </p:sp>
      <p:sp>
        <p:nvSpPr>
          <p:cNvPr id="20" name="Text 18"/>
          <p:cNvSpPr txBox="1"/>
          <p:nvPr/>
        </p:nvSpPr>
        <p:spPr>
          <a:xfrm>
            <a:off x="1124712" y="4110228"/>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Sabadell tiene la peor eficiencia de los cinco (41,0 %) y queda segundo en ROE, con una densidad de RWA del 37,3 %. BBVA tiene la segunda mejor eficiencia (34,3 %) y queda cuarto, con una densidad del 71,0 %. Es el mismo patrón del agregado europeo, y aquí los cinco operan en el mismo mercado.</a:t>
            </a:r>
            <a:endParaRPr lang="en-US" sz="900" dirty="0"/>
          </a:p>
        </p:txBody>
      </p:sp>
      <p:sp>
        <p:nvSpPr>
          <p:cNvPr id="21" name="Shape 19"/>
          <p:cNvSpPr/>
          <p:nvPr/>
        </p:nvSpPr>
        <p:spPr>
          <a:xfrm>
            <a:off x="621792" y="4645152"/>
            <a:ext cx="329184" cy="329184"/>
          </a:xfrm>
          <a:prstGeom prst="ellipse">
            <a:avLst/>
          </a:prstGeom>
          <a:solidFill>
            <a:srgbClr val="77BFEE"/>
          </a:solidFill>
          <a:ln w="12700">
            <a:solidFill>
              <a:srgbClr val="77BFEE"/>
            </a:solidFill>
            <a:prstDash val="solid"/>
          </a:ln>
        </p:spPr>
      </p:sp>
      <p:sp>
        <p:nvSpPr>
          <p:cNvPr id="22" name="Text 20"/>
          <p:cNvSpPr txBox="1"/>
          <p:nvPr/>
        </p:nvSpPr>
        <p:spPr>
          <a:xfrm>
            <a:off x="621792" y="4645152"/>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5</a:t>
            </a:r>
            <a:endParaRPr lang="en-US" sz="1300" dirty="0"/>
          </a:p>
        </p:txBody>
      </p:sp>
      <p:sp>
        <p:nvSpPr>
          <p:cNvPr id="23" name="Text 21"/>
          <p:cNvSpPr txBox="1"/>
          <p:nvPr/>
        </p:nvSpPr>
        <p:spPr>
          <a:xfrm>
            <a:off x="1124712" y="4608576"/>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Entre el primero y el último hay 119 pb de precio de equilibrio</a:t>
            </a:r>
            <a:endParaRPr lang="en-US" sz="1250" dirty="0"/>
          </a:p>
        </p:txBody>
      </p:sp>
      <p:sp>
        <p:nvSpPr>
          <p:cNvPr id="24" name="Text 22"/>
          <p:cNvSpPr txBox="1"/>
          <p:nvPr/>
        </p:nvSpPr>
        <p:spPr>
          <a:xfrm>
            <a:off x="1124712" y="4882896"/>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Con su propio riesgo, capital y gastos, Bankinter necesita un 2,58 % para un ROE del 15 % y BBVA un 3,77 %: 119 pb de diferencia. El precio y las comisiones del modelo son comunes a los cinco, así que la distancia es de estructura, no de política comercial.</a:t>
            </a:r>
            <a:endParaRPr lang="en-US" sz="900" dirty="0"/>
          </a:p>
        </p:txBody>
      </p:sp>
      <p:sp>
        <p:nvSpPr>
          <p:cNvPr id="25" name="Shape 23"/>
          <p:cNvSpPr/>
          <p:nvPr/>
        </p:nvSpPr>
        <p:spPr>
          <a:xfrm>
            <a:off x="621792" y="5417820"/>
            <a:ext cx="329184" cy="329184"/>
          </a:xfrm>
          <a:prstGeom prst="ellipse">
            <a:avLst/>
          </a:prstGeom>
          <a:solidFill>
            <a:srgbClr val="77BFEE"/>
          </a:solidFill>
          <a:ln w="12700">
            <a:solidFill>
              <a:srgbClr val="77BFEE"/>
            </a:solidFill>
            <a:prstDash val="solid"/>
          </a:ln>
        </p:spPr>
      </p:sp>
      <p:sp>
        <p:nvSpPr>
          <p:cNvPr id="26" name="Text 24"/>
          <p:cNvSpPr txBox="1"/>
          <p:nvPr/>
        </p:nvSpPr>
        <p:spPr>
          <a:xfrm>
            <a:off x="621792" y="5417820"/>
            <a:ext cx="329184" cy="329184"/>
          </a:xfrm>
          <a:prstGeom prst="rect">
            <a:avLst/>
          </a:prstGeom>
          <a:noFill/>
          <a:ln/>
        </p:spPr>
        <p:txBody>
          <a:bodyPr wrap="square" lIns="0" tIns="0" rIns="0" bIns="0" rtlCol="0" anchor="ctr"/>
          <a:lstStyle/>
          <a:p>
            <a:pPr algn="ctr" indent="0" marL="0">
              <a:buNone/>
            </a:pPr>
            <a:r>
              <a:rPr lang="en-US" sz="1300" b="1" dirty="0">
                <a:solidFill>
                  <a:srgbClr val="2B2B2B"/>
                </a:solidFill>
                <a:latin typeface="Verdana" pitchFamily="34" charset="0"/>
                <a:ea typeface="Verdana" pitchFamily="34" charset="-122"/>
                <a:cs typeface="Verdana" pitchFamily="34" charset="-120"/>
              </a:rPr>
              <a:t>6</a:t>
            </a:r>
            <a:endParaRPr lang="en-US" sz="1300" dirty="0"/>
          </a:p>
        </p:txBody>
      </p:sp>
      <p:sp>
        <p:nvSpPr>
          <p:cNvPr id="27" name="Text 25"/>
          <p:cNvSpPr txBox="1"/>
          <p:nvPr/>
        </p:nvSpPr>
        <p:spPr>
          <a:xfrm>
            <a:off x="1124712" y="5381244"/>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autónomo paga 115 pb más y está fuera de las series de empresas</a:t>
            </a:r>
            <a:endParaRPr lang="en-US" sz="1250" dirty="0"/>
          </a:p>
        </p:txBody>
      </p:sp>
      <p:sp>
        <p:nvSpPr>
          <p:cNvPr id="28" name="Text 26"/>
          <p:cNvSpPr txBox="1"/>
          <p:nvPr/>
        </p:nvSpPr>
        <p:spPr>
          <a:xfrm>
            <a:off x="1124712" y="5655564"/>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Paga un 4,57 %, 115 pb más que la sociedad del tramo ≤0,25 M€. El SEC 2010 lo clasifica en hogares, así que no aparece en ninguna serie de sociedades no financieras. Son 840 M€ al mes de nueva producción.</a:t>
            </a:r>
            <a:endParaRPr lang="en-US" sz="900" dirty="0"/>
          </a:p>
        </p:txBody>
      </p:sp>
      <p:sp>
        <p:nvSpPr>
          <p:cNvPr id="29" name="Text 27"/>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Las observaciones 1 y 3 salen de la encuesta CESGAR: son PORCENTAJES DE EMPRESAS sobre el total encuestado, no niveles de tipo de interés ni saldos netos de respuesta. En la pregunta de obstáculos las categorías se miden sobre esa misma base, la de «ninguno» incluida; sobre las pymes que sí señalan alguno, el precio sería el 42,5 %. La 2 sale de la Central de Balances Integrada del Banco de España, ejercicio 2024, ratios por tamaño según la Recomendación 2003/361/CE. Las 4 y 5 salen del modelo por banco, cuyo precio y comisiones son comunes a los cinco porque ninguno los publica por segmento: comparan estructura de riesgo, capital y coste, no habilidad comercial.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De dónde sale el capital: selección, garantía y modelo</a:t>
            </a:r>
            <a:endParaRPr lang="en-US" sz="2200" dirty="0"/>
          </a:p>
        </p:txBody>
      </p:sp>
      <p:sp>
        <p:nvSpPr>
          <p:cNvPr id="4" name="Text 2"/>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Ponderación que predice la fórmula IRB del art. 153 CRR con la PD y la LGD observadas de cada país, frente a la densidad IRB que realmente se observa · Junio 2025</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1792" y="1664208"/>
          <a:ext cx="10945368" cy="914400"/>
        </p:xfrm>
        <a:graphic>
          <a:graphicData uri="http://schemas.openxmlformats.org/drawingml/2006/table">
            <a:tbl>
              <a:tblPr/>
              <a:tblGrid>
                <a:gridCol w="1481328"/>
                <a:gridCol w="1005840"/>
                <a:gridCol w="1051560"/>
                <a:gridCol w="1536192"/>
                <a:gridCol w="1536192"/>
                <a:gridCol w="1280160"/>
                <a:gridCol w="1481328"/>
                <a:gridCol w="1572768"/>
              </a:tblGrid>
              <a:tr h="310896">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País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PD</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LGD</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RW que da</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la fórmula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Densidad IRB</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observada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Residuo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Tasa de</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recuperación</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NPL PYME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10896">
                <a:tc>
                  <a:txBody>
                    <a:bodyPr/>
                    <a:lstStyle/>
                    <a:p>
                      <a:pPr algn="l" indent="0" marL="0">
                        <a:buNone/>
                      </a:pPr>
                      <a:r>
                        <a:rPr lang="en-US" sz="1000" b="1" dirty="0">
                          <a:solidFill>
                            <a:srgbClr val="F56600"/>
                          </a:solidFill>
                          <a:latin typeface="Verdana" pitchFamily="34" charset="0"/>
                          <a:ea typeface="Verdana" pitchFamily="34" charset="-122"/>
                          <a:cs typeface="Verdana" pitchFamily="34" charset="-120"/>
                        </a:rPr>
                        <a:t>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1,73 %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34,4 %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56,0 %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55,4 %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−0,6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77,5 %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5,38 %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Alemania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1,26 %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31,4 %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46,6 %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30,1 %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−16,5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79,8 %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4,32 %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Francia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2,15 %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31,5 %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54,5 %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35,3 %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−19,2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74,8 %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5,12 %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2,26 %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35,6 %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62,3 %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37,7 %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−24,6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65,6 %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4,90 %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Portugal</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1,26 %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40,0 %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59,3 %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47,5 %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−11,8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64,8 %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4,22 %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P. Bajos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200"/>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1,18 %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29,7 %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43,1 %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34,9 %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200"/>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−8,2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90,1 %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3,13 %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0896">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Irlanda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1,08 %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37,3 %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52,7 %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64,7 %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+12,0 pp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86,1 %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818181"/>
                          </a:solidFill>
                          <a:latin typeface="Verdana" pitchFamily="34" charset="0"/>
                          <a:ea typeface="Verdana" pitchFamily="34" charset="-122"/>
                          <a:cs typeface="Verdana" pitchFamily="34" charset="-120"/>
                        </a:rPr>
                        <a:t>3,77 %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6" name="Shape 3"/>
          <p:cNvSpPr/>
          <p:nvPr/>
        </p:nvSpPr>
        <p:spPr>
          <a:xfrm>
            <a:off x="621792" y="4297680"/>
            <a:ext cx="5321808" cy="1664208"/>
          </a:xfrm>
          <a:prstGeom prst="roundRect">
            <a:avLst>
              <a:gd name="adj" fmla="val 2198"/>
            </a:avLst>
          </a:prstGeom>
          <a:solidFill>
            <a:srgbClr val="FFF4C2"/>
          </a:solidFill>
          <a:ln w="12700">
            <a:solidFill>
              <a:srgbClr val="FFE066"/>
            </a:solidFill>
            <a:prstDash val="solid"/>
          </a:ln>
        </p:spPr>
      </p:sp>
      <p:sp>
        <p:nvSpPr>
          <p:cNvPr id="7" name="Shape 4"/>
          <p:cNvSpPr/>
          <p:nvPr/>
        </p:nvSpPr>
        <p:spPr>
          <a:xfrm>
            <a:off x="621792" y="4297680"/>
            <a:ext cx="64008" cy="1664208"/>
          </a:xfrm>
          <a:prstGeom prst="rect">
            <a:avLst/>
          </a:prstGeom>
          <a:solidFill>
            <a:srgbClr val="F56600"/>
          </a:solidFill>
          <a:ln w="12700">
            <a:solidFill>
              <a:srgbClr val="F56600"/>
            </a:solidFill>
            <a:prstDash val="solid"/>
          </a:ln>
        </p:spPr>
      </p:sp>
      <p:sp>
        <p:nvSpPr>
          <p:cNvPr id="8" name="Text 5"/>
          <p:cNvSpPr txBox="1"/>
          <p:nvPr/>
        </p:nvSpPr>
        <p:spPr>
          <a:xfrm>
            <a:off x="841248" y="4389120"/>
            <a:ext cx="4937760"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Países Bajos: mitad garantía, mitad selección</a:t>
            </a:r>
            <a:endParaRPr lang="en-US" sz="1100" dirty="0"/>
          </a:p>
        </p:txBody>
      </p:sp>
      <p:sp>
        <p:nvSpPr>
          <p:cNvPr id="9" name="Text 6"/>
          <p:cNvSpPr txBox="1"/>
          <p:nvPr/>
        </p:nvSpPr>
        <p:spPr>
          <a:xfrm>
            <a:off x="841248" y="4626864"/>
            <a:ext cx="4937760" cy="122529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Consume 12,9 pp menos que España: 53 % por la LGD y 41 % por la PD. El reparto aguanta el tamaño de empresa (52 a 54 % la LGD) y solo se mueve con el vencimiento (47 % a un año, 60 % a cinco). Los dos inputs están corroborados fuera del modelo: tasa de recuperación concursal del 90,1 %, la más alta de los siete, y el NPL de PYME más bajo (3,13 %). Bajo IRB la garantía no compite con el modelo: entra dentro, por la LGD.</a:t>
            </a:r>
            <a:endParaRPr lang="en-US" sz="850" dirty="0"/>
          </a:p>
        </p:txBody>
      </p:sp>
      <p:sp>
        <p:nvSpPr>
          <p:cNvPr id="10" name="Shape 7"/>
          <p:cNvSpPr/>
          <p:nvPr/>
        </p:nvSpPr>
        <p:spPr>
          <a:xfrm>
            <a:off x="6245352" y="4297680"/>
            <a:ext cx="5321808" cy="1664208"/>
          </a:xfrm>
          <a:prstGeom prst="roundRect">
            <a:avLst>
              <a:gd name="adj" fmla="val 2198"/>
            </a:avLst>
          </a:prstGeom>
          <a:solidFill>
            <a:srgbClr val="FFD6BA"/>
          </a:solidFill>
          <a:ln w="12700">
            <a:solidFill>
              <a:srgbClr val="FFD6BA"/>
            </a:solidFill>
            <a:prstDash val="solid"/>
          </a:ln>
        </p:spPr>
      </p:sp>
      <p:sp>
        <p:nvSpPr>
          <p:cNvPr id="11" name="Shape 8"/>
          <p:cNvSpPr/>
          <p:nvPr/>
        </p:nvSpPr>
        <p:spPr>
          <a:xfrm>
            <a:off x="6245352" y="4297680"/>
            <a:ext cx="64008" cy="1664208"/>
          </a:xfrm>
          <a:prstGeom prst="rect">
            <a:avLst/>
          </a:prstGeom>
          <a:solidFill>
            <a:srgbClr val="F56600"/>
          </a:solidFill>
          <a:ln w="12700">
            <a:solidFill>
              <a:srgbClr val="F56600"/>
            </a:solidFill>
            <a:prstDash val="solid"/>
          </a:ln>
        </p:spPr>
      </p:sp>
      <p:sp>
        <p:nvSpPr>
          <p:cNvPr id="12" name="Text 9"/>
          <p:cNvSpPr txBox="1"/>
          <p:nvPr/>
        </p:nvSpPr>
        <p:spPr>
          <a:xfrm>
            <a:off x="6464808" y="4389120"/>
            <a:ext cx="4937760"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Lo que la fórmula no explica</a:t>
            </a:r>
            <a:endParaRPr lang="en-US" sz="1100" dirty="0"/>
          </a:p>
        </p:txBody>
      </p:sp>
      <p:sp>
        <p:nvSpPr>
          <p:cNvPr id="13" name="Text 10"/>
          <p:cNvSpPr txBox="1"/>
          <p:nvPr/>
        </p:nvSpPr>
        <p:spPr>
          <a:xfrm>
            <a:off x="6464808" y="4626864"/>
            <a:ext cx="4937760" cy="122529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España es el único país donde la densidad observada coincide con la que da la fórmula (55,4 % frente a 56,0 %). En los demás el agregado pondera hasta 25 pp por debajo. Cuidado al leerlo: la PD y la LGD son MEDIANAS de entidades y la densidad es media ponderada por volumen, así que parte del residuo es esa asimetría y no comportamiento del modelo. No se puede separar con lo publicado.</a:t>
            </a:r>
            <a:endParaRPr lang="en-US" sz="850" dirty="0"/>
          </a:p>
        </p:txBody>
      </p:sp>
      <p:sp>
        <p:nvSpPr>
          <p:cNvPr id="14" name="Text 11"/>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00" i="1" dirty="0">
                <a:solidFill>
                  <a:srgbClr val="818181"/>
                </a:solidFill>
                <a:latin typeface="Verdana" pitchFamily="34" charset="0"/>
                <a:ea typeface="Verdana" pitchFamily="34" charset="-122"/>
                <a:cs typeface="Verdana" pitchFamily="34" charset="-120"/>
              </a:rPr>
              <a:t>PD y LGD: EBA, COREP C 9.02, clase «Corporates – of which SME», mediana de entidades declarantes, 2026-Q1. Densidad IRB observada: EBA, EU-wide Transparency Exercise, junio 2025, Portfolio = 2. Fórmula del art. 153 CRR con ajuste PYME del 153.4 y factor de apoyo del art. 501 (0,7619); SUPUESTOS declarados y no observados: facturación 25 M€ y vencimiento efectivo 2,5 años — la sensibilidad a los dos está en el CSV. Tasa de recuperación: Banco Mundial, Doing Business 2020 — céntimos por dólar que recupera el acreedor garantizado en un concurso, no un tipo de interés. NPL PYME: EBA Risk Dashboard 2026-Q1. (*) LGD de exactamente 40,00 %: es el valor supervisor del IRB BÁSICO (art. 161 CRR), donde el banco no estima su propia severidad. Datos en transversal/descomposicion_rwa.csv.</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Analisis PYME Europa</dc:creator>
  <cp:lastModifiedBy>Analisis PYME Europa</cp:lastModifiedBy>
  <cp:revision>1</cp:revision>
  <dcterms:created xsi:type="dcterms:W3CDTF">2026-09-23T07:44:47Z</dcterms:created>
  <dcterms:modified xsi:type="dcterms:W3CDTF">2026-09-23T07:44:47Z</dcterms:modified>
</cp:coreProperties>
</file>