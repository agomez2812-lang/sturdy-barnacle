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50" b="0" i="0" u="none" strike="noStrike">
                <a:solidFill>
                  <a:srgbClr val="2B2B2B"/>
                </a:solidFill>
                <a:latin typeface="Verdana"/>
              </a:defRPr>
            </a:pPr>
            <a:r>
              <a:rPr sz="1050" b="0" i="0" u="none" strike="noStrike">
                <a:solidFill>
                  <a:srgbClr val="2B2B2B"/>
                </a:solidFill>
                <a:latin typeface="Verdana"/>
              </a:rPr>
              <a:t>Ratio de eficiencia 2025: cuanto más bajo, más eficiente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F566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B2B"/>
                    </a:solidFill>
                    <a:latin typeface="Verdan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66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B9B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B9B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9B9B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9B9B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9B9B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9B9B9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España</c:v>
                  </c:pt>
                  <c:pt idx="1">
                    <c:v>Alemania</c:v>
                  </c:pt>
                  <c:pt idx="2">
                    <c:v>Francia</c:v>
                  </c:pt>
                  <c:pt idx="3">
                    <c:v>Italia</c:v>
                  </c:pt>
                  <c:pt idx="4">
                    <c:v>Portugal</c:v>
                  </c:pt>
                  <c:pt idx="5">
                    <c:v>P. Bajos</c:v>
                  </c:pt>
                  <c:pt idx="6">
                    <c:v>Irlanda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42.5</c:v>
                </c:pt>
                <c:pt idx="1">
                  <c:v>58.7</c:v>
                </c:pt>
                <c:pt idx="2">
                  <c:v>66.3</c:v>
                </c:pt>
                <c:pt idx="3">
                  <c:v>50.1</c:v>
                </c:pt>
                <c:pt idx="4">
                  <c:v>33.1</c:v>
                </c:pt>
                <c:pt idx="5">
                  <c:v>55.2</c:v>
                </c:pt>
                <c:pt idx="6">
                  <c:v>51.5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2B2B2B"/>
                  </a:solidFill>
                  <a:latin typeface="Verdan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CACA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B2B"/>
                </a:solidFill>
                <a:latin typeface="Verdan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6E9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18181"/>
                </a:solidFill>
                <a:latin typeface="Verdan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Registro público (banco central)</c:v>
                </c:pt>
              </c:strCache>
            </c:strRef>
          </c:tx>
          <c:spPr>
            <a:solidFill>
              <a:srgbClr val="2A6FB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B2B2B"/>
                    </a:solidFill>
                    <a:latin typeface="Verdan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España</c:v>
                  </c:pt>
                  <c:pt idx="1">
                    <c:v>Alemania</c:v>
                  </c:pt>
                  <c:pt idx="2">
                    <c:v>Francia</c:v>
                  </c:pt>
                  <c:pt idx="3">
                    <c:v>Italia</c:v>
                  </c:pt>
                  <c:pt idx="4">
                    <c:v>Portugal</c:v>
                  </c:pt>
                  <c:pt idx="5">
                    <c:v>P. Bajos</c:v>
                  </c:pt>
                  <c:pt idx="6">
                    <c:v>Irlanda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68.6</c:v>
                </c:pt>
                <c:pt idx="1">
                  <c:v>1.8</c:v>
                </c:pt>
                <c:pt idx="2">
                  <c:v>47</c:v>
                </c:pt>
                <c:pt idx="3">
                  <c:v>31.1</c:v>
                </c:pt>
                <c:pt idx="4">
                  <c:v>100</c:v>
                </c:pt>
                <c:pt idx="5">
                  <c:v>0</c:v>
                </c:pt>
                <c:pt idx="6">
                  <c:v>94.4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Bureau privado</c:v>
                </c:pt>
              </c:strCache>
            </c:strRef>
          </c:tx>
          <c:spPr>
            <a:solidFill>
              <a:srgbClr val="B8336A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B2B2B"/>
                    </a:solidFill>
                    <a:latin typeface="Verdana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España</c:v>
                  </c:pt>
                  <c:pt idx="1">
                    <c:v>Alemania</c:v>
                  </c:pt>
                  <c:pt idx="2">
                    <c:v>Francia</c:v>
                  </c:pt>
                  <c:pt idx="3">
                    <c:v>Italia</c:v>
                  </c:pt>
                  <c:pt idx="4">
                    <c:v>Portugal</c:v>
                  </c:pt>
                  <c:pt idx="5">
                    <c:v>P. Bajos</c:v>
                  </c:pt>
                  <c:pt idx="6">
                    <c:v>Irlanda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7.5</c:v>
                </c:pt>
                <c:pt idx="1">
                  <c:v>100</c:v>
                </c:pt>
                <c:pt idx="2">
                  <c:v>0</c:v>
                </c:pt>
                <c:pt idx="3">
                  <c:v>100</c:v>
                </c:pt>
                <c:pt idx="4">
                  <c:v>7.9</c:v>
                </c:pt>
                <c:pt idx="5">
                  <c:v>98.7</c:v>
                </c:pt>
                <c:pt idx="6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2B2B2B"/>
                  </a:solidFill>
                  <a:latin typeface="Verdana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ACACA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2B2B2B"/>
                </a:solidFill>
                <a:latin typeface="Verdan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9525" cap="flat">
              <a:solidFill>
                <a:srgbClr val="E6E9EC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818181"/>
                </a:solidFill>
                <a:latin typeface="Verdana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B2B2B"/>
              </a:solidFill>
              <a:latin typeface="Verdana"/>
              <a:cs typeface="Verdana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40112" y="2743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bankinter</a:t>
            </a:r>
            <a:pPr algn="r" indent="0" marL="0">
              <a:buNone/>
            </a:pPr>
            <a:r>
              <a:rPr lang="en-US" sz="1300" b="1" dirty="0">
                <a:solidFill>
                  <a:srgbClr val="F566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583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CAC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420624"/>
            <a:ext cx="8430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Portugal y España, los sistemas más eficientes; Francia, el que más gasta por euro de ingreso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097280"/>
            <a:ext cx="10945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1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Ratio de eficiencia (gastos de explotación sobre ingresos) de los bancos de la muestra de la EBA · Año 2025 completo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235440" y="64008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08592" y="658368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 SEGMENTO · todas las empresas</a:t>
            </a:r>
            <a:endParaRPr lang="en-US" sz="7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21792" y="1554480"/>
          <a:ext cx="60350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1554480"/>
          <a:ext cx="46634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18872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País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2024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2025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Cambio, pp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66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España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66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42,6 %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66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42,5 %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66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−0,1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Alemania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60,9 %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58,7 %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−2,2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Francia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67,3 %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66,3 %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−1,0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Italia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49,9 %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50,1 %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+0,2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Portugal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32,2 %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33,1 %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+0,9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P. Bajos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53,7 %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55,2 %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+1,5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Irlanda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46,2 %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51,5 %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+5,3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UE, muestra EBA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52,8 %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53,2 %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+0,4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903720" y="4114800"/>
            <a:ext cx="4663440" cy="1600200"/>
          </a:xfrm>
          <a:prstGeom prst="roundRect">
            <a:avLst>
              <a:gd name="adj" fmla="val 2857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04888" y="4242816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 el banco entero, no la banca PYME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7104888" y="4553712"/>
            <a:ext cx="4261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Grupo consolidado, todos los negocios. Ni la EBA ni el BCE la publican por segmento. El único dato de un segmento de empresas es el de ABN AMRO Corporate Banking: 49,5 % en el primer semestre de 2026.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621792" y="6053328"/>
            <a:ext cx="10945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181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EBA, Risk Dashboard, indicador PFT_23 (cost-to-income), acumulado del año al cuarto trimestre, muestra de bancos del EBA, base consolidada. Se usa el año completo porque el primer trimestre suele cargar contribuciones anuales (Irlanda pasa del 51,5 % en 2025 al 57,4 % en 2026-Q1).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40112" y="2743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bankinter</a:t>
            </a:r>
            <a:pPr algn="r" indent="0" marL="0">
              <a:buNone/>
            </a:pPr>
            <a:r>
              <a:rPr lang="en-US" sz="1300" b="1" dirty="0">
                <a:solidFill>
                  <a:srgbClr val="F566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583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CAC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420624"/>
            <a:ext cx="8430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Cada país se informa por un canal distinto: registro público o bureau privado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097280"/>
            <a:ext cx="10945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1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Cobertura de los sistemas de información crediticia, personas y empresas registradas en % de la población adulta · Doing Business 2020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235440" y="64008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08592" y="658368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CONTEXTO · marco del país, no de la PYME</a:t>
            </a:r>
            <a:endParaRPr lang="en-US" sz="7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21792" y="155448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1554480"/>
          <a:ext cx="178308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2296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País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Índice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0-8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566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España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66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Alemania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Francia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Italia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Portugal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P. Bajos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Irlanda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</a:t>
                      </a:r>
                      <a:endParaRPr lang="en-US" sz="9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9921240" y="1554480"/>
            <a:ext cx="1645920" cy="2121408"/>
          </a:xfrm>
          <a:prstGeom prst="roundRect">
            <a:avLst>
              <a:gd name="adj" fmla="val 2778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122408" y="1682496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Profundidad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10122408" y="1993392"/>
            <a:ext cx="1243584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Índice de 0 a 8 sobre qué datos circulan: positivos y negativos, de empresas y personas, historial de 2 años.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7955280" y="3840480"/>
            <a:ext cx="3611880" cy="1874520"/>
          </a:xfrm>
          <a:prstGeom prst="roundRect">
            <a:avLst>
              <a:gd name="adj" fmla="val 2439"/>
            </a:avLst>
          </a:prstGeom>
          <a:solidFill>
            <a:srgbClr val="FFF4C2"/>
          </a:solidFill>
          <a:ln w="12700">
            <a:solidFill>
              <a:srgbClr val="FFF4C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156448" y="3968496"/>
            <a:ext cx="3209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España: sobre todo, registro público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8156448" y="4279392"/>
            <a:ext cx="32095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CIRBE cubre al 68,6 % y el bureau privado, al 7,5 %. Portugal tiene el mismo patrón y Francia no tiene bureau. Alemania, Italia y Países Bajos se apoyan en el bureau privado, que cubre a casi todos.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21792" y="6053328"/>
            <a:ext cx="10945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181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Banco Mundial, Doing Business 2020 (datos de mayo de 2019), indicadores «Getting Credit»: cobertura del registro público y del bureau privado, e índice de profundidad de la información crediticia (0-8). No distingue PYME: es el marco del país.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40112" y="2743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bankinter</a:t>
            </a:r>
            <a:pPr algn="r" indent="0" marL="0">
              <a:buNone/>
            </a:pPr>
            <a:r>
              <a:rPr lang="en-US" sz="1300" b="1" dirty="0">
                <a:solidFill>
                  <a:srgbClr val="F566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583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CACA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420624"/>
            <a:ext cx="8430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que el banco puede saber de una PYME cambia mucho de un país a otro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1097280"/>
            <a:ext cx="10945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181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Registro público de crédito y cuentas anuales depositadas, según la normativa vigente de cada país · Puntuación de 0 a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235440" y="640080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08592" y="658368"/>
            <a:ext cx="2185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CONTEXTO · marco del país, no de la PYME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54480"/>
          <a:ext cx="1094536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3749040"/>
                <a:gridCol w="502920"/>
                <a:gridCol w="3931920"/>
                <a:gridCol w="502920"/>
                <a:gridCol w="1207008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País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Registro público de crédito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0-3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Cuentas anuales de la PYME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0-3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Índice de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información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66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España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CIRBE (Banco de España) · desde 1.000 €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Registro Mercantil: depósito obligatorio y completo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6600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64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C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Alemania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Millionenkredite · desde 1 M€: no ve la PYME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Bundesanzeiger: depósito obligatorio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75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Francia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FIBEN y cotation (Banque de France) · sin umbral, requiere adhesión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Las micro pueden declarar confidenciales sus cuentas; las pequeñas, la cuenta de resultados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17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Italia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Centrale dei Rischi · desde 30.000 € (250 € si está deteriorada)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Registro Imprese: depósito obligatorio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79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Portugal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CRC (Banco de Portugal) · desde 50 €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IES: depósito obligatorio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65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P. Bajos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 hay registro público de crédito a empresas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KvK: las pequeñas depositan cuentas abreviadas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54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Irlanda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Central Credit Register · desde 500 €; consulta obligatoria desde 2.000 €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Companies Registration Office: depósito obligatorio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88</a:t>
                      </a:r>
                      <a:endParaRPr lang="en-US" sz="8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3500" marR="63500" marT="12700" marB="12700" anchor="ctr">
                    <a:lnL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1792" y="4709160"/>
            <a:ext cx="3520440" cy="1005840"/>
          </a:xfrm>
          <a:prstGeom prst="roundRect">
            <a:avLst>
              <a:gd name="adj" fmla="val 4545"/>
            </a:avLst>
          </a:prstGeom>
          <a:solidFill>
            <a:srgbClr val="FFD9E6"/>
          </a:solidFill>
          <a:ln w="12700">
            <a:solidFill>
              <a:srgbClr val="FFD9E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483717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Alemania y Países Bajos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14807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 registro público útil para la PYME: el banco depende del bureau privado.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52544" y="4709160"/>
            <a:ext cx="3520440" cy="1005840"/>
          </a:xfrm>
          <a:prstGeom prst="roundRect">
            <a:avLst>
              <a:gd name="adj" fmla="val 4545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53712" y="483717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Francia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4553712" y="514807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Registro sin umbral, pero la pequeña empresa puede ocultar su cuenta de resultados.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083296" y="4709160"/>
            <a:ext cx="3520440" cy="1005840"/>
          </a:xfrm>
          <a:prstGeom prst="roundRect">
            <a:avLst>
              <a:gd name="adj" fmla="val 4545"/>
            </a:avLst>
          </a:prstGeom>
          <a:solidFill>
            <a:srgbClr val="FFF4C2"/>
          </a:solidFill>
          <a:ln w="12700">
            <a:solidFill>
              <a:srgbClr val="FFF4C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84464" y="483717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 índice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284464" y="5148072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Media de profundidad, bureau, registro y cuentas, de 0 a 100 entre los siete. Correlación con la PD de la PYME: −0,41.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" y="6053328"/>
            <a:ext cx="10945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18181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Elaboración propia sobre la normativa vigente de cada registro y registro mercantil (2026): 3 = cubre a la PYME sin restricciones; 0 = no la cubre. Índice: media simple normalizada de profundidad (Doing Business), cobertura del bureau, registro y cuentas; 100 = el mejor de los siete, no un óptimo.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mercado PYME en Europa: lo que dicen los datos</dc:title>
  <dc:subject>PptxGenJS Presentation</dc:subject>
  <dc:creator>Analisis PYME Europa</dc:creator>
  <cp:lastModifiedBy>Analisis PYME Europa</cp:lastModifiedBy>
  <cp:revision>1</cp:revision>
  <dcterms:created xsi:type="dcterms:W3CDTF">2026-09-24T09:00:28Z</dcterms:created>
  <dcterms:modified xsi:type="dcterms:W3CDTF">2026-09-24T09:00:28Z</dcterms:modified>
</cp:coreProperties>
</file>